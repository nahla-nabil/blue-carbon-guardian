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CF9E-4BA6-BEC1-4388B89D52DB}"/>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CF9E-4BA6-BEC1-4388B89D52D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8AD7-43B7-A8FA-C12C16990D2B}"/>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8AD7-43B7-A8FA-C12C16990D2B}"/>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2178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"Before the problem — who is behind this. A team of one. I held every role on this slide — satellite pipeline, statistics, product and business case.
I'm finishing a BSc in Artificial Intelligence at the Arab Open University in Bahrain, with First-Class Honours standing; I have two IEEE papers in machine learning,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what the user experiences.
Every five days a new scene runs through the model. If an alert fires, we first check the flagged cells on sub-metre imagery, then send the alert with the cell map and the carbon at stake — and the inspector visits only those cells.
If nothing changes, the user still gets a monthly report. No dashboards to watch: the system comes to them."
DO: press →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(point at the right card at the bottom)
"And we tested the textbook recipe — NDVI alone, no tide model — on the same stands with the same alert rule: 1.61 false alarms per stand per year. Ours: 0.96. Forty percent fewer wasted site visits, and the tide model is most of that gain.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6.png"/><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5.png"/><Relationship Id="rId7"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slideLayout" Target="../slideLayouts/slideLayout3.xml"/><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24.png"/><Relationship Id="rId5" Type="http://schemas.openxmlformats.org/officeDocument/2006/relationships/image" Target="../media/image5.png"/><Relationship Id="rId10" Type="http://schemas.openxmlformats.org/officeDocument/2006/relationships/image" Target="../media/image23.png"/><Relationship Id="rId4" Type="http://schemas.openxmlformats.org/officeDocument/2006/relationships/notesSlide" Target="../notesSlides/notesSlide4.xml"/><Relationship Id="rId9" Type="http://schemas.openxmlformats.org/officeDocument/2006/relationships/image" Target="../media/image22.png"/></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5.png"/><Relationship Id="rId7" Type="http://schemas.openxmlformats.org/officeDocument/2006/relationships/image" Target="../media/image27.png"/><Relationship Id="rId12"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28.png"/><Relationship Id="rId5" Type="http://schemas.openxmlformats.org/officeDocument/2006/relationships/image" Target="../media/image13.png"/><Relationship Id="rId10" Type="http://schemas.openxmlformats.org/officeDocument/2006/relationships/image" Target="../media/image22.png"/><Relationship Id="rId4" Type="http://schemas.openxmlformats.org/officeDocument/2006/relationships/image" Target="../media/image6.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29.png"/><Relationship Id="rId10" Type="http://schemas.openxmlformats.org/officeDocument/2006/relationships/image" Target="../media/image28.png"/><Relationship Id="rId4" Type="http://schemas.openxmlformats.org/officeDocument/2006/relationships/image" Target="../media/image6.png"/><Relationship Id="rId9"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33.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chart" Target="../charts/char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7.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5.png"/><Relationship Id="rId7"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5.png"/><Relationship Id="rId7" Type="http://schemas.openxmlformats.org/officeDocument/2006/relationships/image" Target="../media/image13.png"/><Relationship Id="rId12"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3.png"/><Relationship Id="rId11" Type="http://schemas.openxmlformats.org/officeDocument/2006/relationships/image" Target="../media/image46.png"/><Relationship Id="rId5" Type="http://schemas.openxmlformats.org/officeDocument/2006/relationships/image" Target="../media/image42.png"/><Relationship Id="rId10" Type="http://schemas.openxmlformats.org/officeDocument/2006/relationships/image" Target="../media/image45.png"/><Relationship Id="rId4" Type="http://schemas.openxmlformats.org/officeDocument/2006/relationships/image" Target="../media/image6.png"/><Relationship Id="rId9" Type="http://schemas.openxmlformats.org/officeDocument/2006/relationships/image" Target="../media/image44.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8.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B91585EE-B4A1-D436-9F1D-0E3AB745D2BB}"/>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Team lead · AI engineer · IEEE researcher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 Bahrain · final semester · First-Class Honours standing</a:t>
            </a:r>
            <a:endParaRPr lang="en-US" sz="1150" dirty="0"/>
          </a:p>
        </p:txBody>
      </p:sp>
      <p:sp>
        <p:nvSpPr>
          <p:cNvPr id="15" name="a2fade_l1"/>
          <p:cNvSpPr txBox="1"/>
          <p:nvPr/>
        </p:nvSpPr>
        <p:spPr>
          <a:xfrm>
            <a:off x="804672" y="3877056"/>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6" name="a2fade_skills"/>
          <p:cNvSpPr txBox="1"/>
          <p:nvPr/>
        </p:nvSpPr>
        <p:spPr>
          <a:xfrm>
            <a:off x="804672" y="4114800"/>
            <a:ext cx="3794760" cy="128016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2 IEEE papers (ICCA 2025, ICAISET 2026): federated learning for industrial IoT; random-forest audit of GCC sustainability</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AI &amp; LLM product engineering (Doo Bahrain; FlyRank backend AI)</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Machine learning, computer vision (deepfake detection), Python geospatial stack</a:t>
            </a:r>
            <a:endParaRPr lang="en-US" sz="1050" dirty="0"/>
          </a:p>
        </p:txBody>
      </p:sp>
      <p:sp>
        <p:nvSpPr>
          <p:cNvPr id="17" name="a3fade_l2"/>
          <p:cNvSpPr txBox="1"/>
          <p:nvPr/>
        </p:nvSpPr>
        <p:spPr>
          <a:xfrm>
            <a:off x="804672" y="54864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687568"/>
            <a:ext cx="3794760" cy="411480"/>
          </a:xfrm>
          <a:prstGeom prst="rect">
            <a:avLst/>
          </a:prstGeom>
          <a:noFill/>
          <a:ln/>
        </p:spPr>
        <p:txBody>
          <a:bodyPr wrap="square" lIns="0" tIns="0" rIns="0" bIns="0" rtlCol="0" anchor="t"/>
          <a:lstStyle/>
          <a:p>
            <a:pPr marL="0" indent="0" algn="l">
              <a:lnSpc>
                <a:spcPct val="105000"/>
              </a:lnSpc>
              <a:buNone/>
            </a:pPr>
            <a:r>
              <a:rPr lang="en-US" sz="1000" dirty="0">
                <a:solidFill>
                  <a:srgbClr val="1B2B40"/>
                </a:solidFill>
                <a:latin typeface="Segoe UI" pitchFamily="34" charset="0"/>
                <a:ea typeface="Segoe UI" pitchFamily="34" charset="-122"/>
                <a:cs typeface="Segoe UI" pitchFamily="34" charset="-120"/>
              </a:rPr>
              <a:t>NASA Space Apps Challenge local lead (Manama): organising and mentoring space-data teams</a:t>
            </a:r>
            <a:endParaRPr lang="en-US" sz="1000" dirty="0"/>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10" presetClass="entr" presetSubtype="0" decel="100000" fill="hold" grpId="0" nodeType="withEffect">
                                  <p:stCondLst>
                                    <p:cond delay="47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600"/>
                                        <p:tgtEl>
                                          <p:spTgt spid="19"/>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00"/>
                                        <p:tgtEl>
                                          <p:spTgt spid="16"/>
                                        </p:tgtEl>
                                      </p:cBhvr>
                                    </p:animEffect>
                                  </p:childTnLst>
                                </p:cTn>
                              </p:par>
                              <p:par>
                                <p:cTn id="51" presetID="42" presetClass="entr" presetSubtype="0" decel="100000" fill="hold" grpId="0" nodeType="withEffect">
                                  <p:stCondLst>
                                    <p:cond delay="69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700"/>
                                        <p:tgtEl>
                                          <p:spTgt spid="20"/>
                                        </p:tgtEl>
                                      </p:cBhvr>
                                    </p:animEffect>
                                    <p:anim calcmode="lin" valueType="num">
                                      <p:cBhvr additive="base">
                                        <p:cTn id="54" dur="700" fill="hold"/>
                                        <p:tgtEl>
                                          <p:spTgt spid="20"/>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69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700"/>
                                        <p:tgtEl>
                                          <p:spTgt spid="21"/>
                                        </p:tgtEl>
                                      </p:cBhvr>
                                    </p:animEffect>
                                    <p:anim calcmode="lin" valueType="num">
                                      <p:cBhvr additive="base">
                                        <p:cTn id="58" dur="7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69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700"/>
                                        <p:tgtEl>
                                          <p:spTgt spid="22"/>
                                        </p:tgtEl>
                                      </p:cBhvr>
                                    </p:animEffect>
                                    <p:anim calcmode="lin" valueType="num">
                                      <p:cBhvr additive="base">
                                        <p:cTn id="62" dur="700" fill="hold"/>
                                        <p:tgtEl>
                                          <p:spTgt spid="22"/>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69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700"/>
                                        <p:tgtEl>
                                          <p:spTgt spid="23"/>
                                        </p:tgtEl>
                                      </p:cBhvr>
                                    </p:animEffect>
                                    <p:anim calcmode="lin" valueType="num">
                                      <p:cBhvr additive="base">
                                        <p:cTn id="66" dur="700" fill="hold"/>
                                        <p:tgtEl>
                                          <p:spTgt spid="23"/>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69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00"/>
                                        <p:tgtEl>
                                          <p:spTgt spid="24"/>
                                        </p:tgtEl>
                                      </p:cBhvr>
                                    </p:animEffect>
                                    <p:anim calcmode="lin" valueType="num">
                                      <p:cBhvr additive="base">
                                        <p:cTn id="70" dur="700" fill="hold"/>
                                        <p:tgtEl>
                                          <p:spTgt spid="24"/>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700"/>
                                        <p:tgtEl>
                                          <p:spTgt spid="25"/>
                                        </p:tgtEl>
                                      </p:cBhvr>
                                    </p:animEffect>
                                    <p:anim calcmode="lin" valueType="num">
                                      <p:cBhvr additive="base">
                                        <p:cTn id="74" dur="700" fill="hold"/>
                                        <p:tgtEl>
                                          <p:spTgt spid="25"/>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69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700"/>
                                        <p:tgtEl>
                                          <p:spTgt spid="26"/>
                                        </p:tgtEl>
                                      </p:cBhvr>
                                    </p:animEffect>
                                    <p:anim calcmode="lin" valueType="num">
                                      <p:cBhvr additive="base">
                                        <p:cTn id="78" dur="700" fill="hold"/>
                                        <p:tgtEl>
                                          <p:spTgt spid="26"/>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700"/>
                                        <p:tgtEl>
                                          <p:spTgt spid="27"/>
                                        </p:tgtEl>
                                      </p:cBhvr>
                                    </p:animEffect>
                                    <p:anim calcmode="lin" valueType="num">
                                      <p:cBhvr additive="base">
                                        <p:cTn id="82" dur="700" fill="hold"/>
                                        <p:tgtEl>
                                          <p:spTgt spid="27"/>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6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700"/>
                                        <p:tgtEl>
                                          <p:spTgt spid="28"/>
                                        </p:tgtEl>
                                      </p:cBhvr>
                                    </p:animEffect>
                                    <p:anim calcmode="lin" valueType="num">
                                      <p:cBhvr additive="base">
                                        <p:cTn id="86" dur="700" fill="hold"/>
                                        <p:tgtEl>
                                          <p:spTgt spid="28"/>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69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700"/>
                                        <p:tgtEl>
                                          <p:spTgt spid="29"/>
                                        </p:tgtEl>
                                      </p:cBhvr>
                                    </p:animEffect>
                                    <p:anim calcmode="lin" valueType="num">
                                      <p:cBhvr additive="base">
                                        <p:cTn id="90" dur="700" fill="hold"/>
                                        <p:tgtEl>
                                          <p:spTgt spid="29"/>
                                        </p:tgtEl>
                                        <p:attrNameLst>
                                          <p:attrName>ppt_y</p:attrName>
                                        </p:attrNameLst>
                                      </p:cBhvr>
                                      <p:tavLst>
                                        <p:tav tm="0">
                                          <p:val>
                                            <p:strVal val="#ppt_y+0.03"/>
                                          </p:val>
                                        </p:tav>
                                        <p:tav tm="100000">
                                          <p:val>
                                            <p:strVal val="#ppt_y"/>
                                          </p:val>
                                        </p:tav>
                                      </p:tavLst>
                                    </p:anim>
                                  </p:childTnLst>
                                </p:cTn>
                              </p:par>
                              <p:par>
                                <p:cTn id="91" presetID="10" presetClass="entr" presetSubtype="0" decel="100000" fill="hold" grpId="0" nodeType="withEffect">
                                  <p:stCondLst>
                                    <p:cond delay="910"/>
                                  </p:stCondLst>
                                  <p:childTnLst>
                                    <p:set>
                                      <p:cBhvr>
                                        <p:cTn id="92" dur="1" fill="hold">
                                          <p:stCondLst>
                                            <p:cond delay="0"/>
                                          </p:stCondLst>
                                        </p:cTn>
                                        <p:tgtEl>
                                          <p:spTgt spid="17"/>
                                        </p:tgtEl>
                                        <p:attrNameLst>
                                          <p:attrName>style.visibility</p:attrName>
                                        </p:attrNameLst>
                                      </p:cBhvr>
                                      <p:to>
                                        <p:strVal val="visible"/>
                                      </p:to>
                                    </p:set>
                                    <p:animEffect transition="in" filter="fade">
                                      <p:cBhvr>
                                        <p:cTn id="93" dur="600"/>
                                        <p:tgtEl>
                                          <p:spTgt spid="17"/>
                                        </p:tgtEl>
                                      </p:cBhvr>
                                    </p:animEffect>
                                  </p:childTnLst>
                                </p:cTn>
                              </p:par>
                              <p:par>
                                <p:cTn id="94" presetID="10" presetClass="entr" presetSubtype="0" decel="100000" fill="hold" grpId="0" nodeType="withEffect">
                                  <p:stCondLst>
                                    <p:cond delay="910"/>
                                  </p:stCondLst>
                                  <p:childTnLst>
                                    <p:set>
                                      <p:cBhvr>
                                        <p:cTn id="95" dur="1" fill="hold">
                                          <p:stCondLst>
                                            <p:cond delay="0"/>
                                          </p:stCondLst>
                                        </p:cTn>
                                        <p:tgtEl>
                                          <p:spTgt spid="18"/>
                                        </p:tgtEl>
                                        <p:attrNameLst>
                                          <p:attrName>style.visibility</p:attrName>
                                        </p:attrNameLst>
                                      </p:cBhvr>
                                      <p:to>
                                        <p:strVal val="visible"/>
                                      </p:to>
                                    </p:set>
                                    <p:animEffect transition="in" filter="fade">
                                      <p:cBhvr>
                                        <p:cTn id="96" dur="600"/>
                                        <p:tgtEl>
                                          <p:spTgt spid="18"/>
                                        </p:tgtEl>
                                      </p:cBhvr>
                                    </p:animEffect>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91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13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par>
                                <p:cTn id="181" presetID="42" presetClass="entr" presetSubtype="0" decel="100000" fill="hold" grpId="0" nodeType="withEffect">
                                  <p:stCondLst>
                                    <p:cond delay="1350"/>
                                  </p:stCondLst>
                                  <p:childTnLst>
                                    <p:set>
                                      <p:cBhvr>
                                        <p:cTn id="182" dur="1" fill="hold">
                                          <p:stCondLst>
                                            <p:cond delay="0"/>
                                          </p:stCondLst>
                                        </p:cTn>
                                        <p:tgtEl>
                                          <p:spTgt spid="51"/>
                                        </p:tgtEl>
                                        <p:attrNameLst>
                                          <p:attrName>style.visibility</p:attrName>
                                        </p:attrNameLst>
                                      </p:cBhvr>
                                      <p:to>
                                        <p:strVal val="visible"/>
                                      </p:to>
                                    </p:set>
                                    <p:animEffect transition="in" filter="fade">
                                      <p:cBhvr>
                                        <p:cTn id="183" dur="700"/>
                                        <p:tgtEl>
                                          <p:spTgt spid="51"/>
                                        </p:tgtEl>
                                      </p:cBhvr>
                                    </p:animEffect>
                                    <p:anim calcmode="lin" valueType="num">
                                      <p:cBhvr additive="base">
                                        <p:cTn id="184"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66374932-DEDE-3DB8-06D2-ABD2CDEF65BD}"/>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textbook NDVI-only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0A7FCA85-9EAF-22F2-8F00-B1806C5B2B74}"/>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3"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700"/>
                                        <p:tgtEl>
                                          <p:spTgt spid="13"/>
                                        </p:tgtEl>
                                      </p:cBhvr>
                                    </p:animEffect>
                                    <p:anim calcmode="lin" valueType="num">
                                      <p:cBhvr additive="base">
                                        <p:cTn id="15" dur="700" fill="hold"/>
                                        <p:tgtEl>
                                          <p:spTgt spid="13"/>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3" grpId="0">
        <p:bldAsOne/>
      </p:bldGraphic>
      <p:bldP spid="8"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BONUS CRITERIA · 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SCALABILITY BEYOND THE POC</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A26EA15A-C72A-6C73-EA0F-64D614DAB5A5}"/>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4166</Words>
  <Application>Microsoft Office PowerPoint</Application>
  <PresentationFormat>Widescreen</PresentationFormat>
  <Paragraphs>363</Paragraphs>
  <Slides>18</Slides>
  <Notes>18</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Segoe UI</vt:lpstr>
      <vt:lpstr>Segoe UI Light</vt:lpstr>
      <vt:lpstr>Segoe UI Semibold</vt:lpstr>
      <vt:lpstr>Office Theme</vt:lpstr>
      <vt:lpstr>PowerPoint Presentation</vt:lpstr>
      <vt:lpstr>One engineer, every role — delivered in the open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2026-10-17T16:23:53Z</dcterms:created>
  <dcterms:modified xsi:type="dcterms:W3CDTF">2026-10-17T16:23:58Z</dcterms:modified>
</cp:coreProperties>
</file>