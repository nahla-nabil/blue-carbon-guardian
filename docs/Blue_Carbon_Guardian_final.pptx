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2.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B4EA-4653-BA67-F34399DE0660}"/>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B4EA-4653-BA67-F34399DE0660}"/>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C35B-4337-81AA-16EBA0A859A7}"/>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C35B-4337-81AA-16EBA0A859A7}"/>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06403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(calm, slow): "Good morning. I'm Nahla Nabil, team Blue Athar.
What you are watching is a satellite pass over 25 mangrove stands in Abu Dhabi.
The five in red were lost to construction between 2022 and 2025 — and our system raised an alert on every one of them while the works were happening.
This is Blue Carbon Guardian."
DO: let the scan run for one sweep, then press → .
BEFORE YOU START: PowerPoint in Slide Show (Presenter View); browser already open on nahla-nabil.github.io/blue-carbon-guardian/#monitor (page loaded, zoom 100 %); notifications off.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"Before the problem — who is behind this. A team of one. I held every role on this slide — satellite pipeline, statistics, product and business case.
I'm finishing a BSc in Artificial Intelligence at the Arab Open University in Bahrain, with First-Class Honours standing; I have two IEEE papers in machine learning, and I lead NASA Space Apps locally. I worked with an AI-assisted engineering workflow that I direct and review — and every number is public and checkable.
In incubation I will add what I don't have: a mangrove ecologist and a field partner."
DO: press →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"The Gulf is planting mangroves at record scale: 100 million pledged by the UAE, more than 100 million by Saudi Arabia.
But planting is scaling faster than watching. Look at stand 5." (point at the images, left to right)
"November 2021: intact. October 2022: works start — and that is when our alert fired. 2023: canals. Today: a canal development.
Today, a loss like this is found at the next field survey — after the fact. What we solve: a calibrated alert every five days that says where to inspect, and what carbon is at stake."
DO: press → after "at stake".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75 s
SAY: "So here is what we built. Let me show you — live."
DO: Alt+Tab to the browser (monitor section).
SAY: "Every stand is coloured by its condition. Stand 5, in red: severe decline."
DO: click "200 m cells" above the map.
SAY: "Now the key idea: we split every stand into 200-metre cells."
DO: scroll down to the table → click the row "9" → scroll back up to the map.
SAY: "Stand 9. On average it reads 'stable'. But 8 of its 28 cells are in severe decline. That is exactly where you send the inspector."
DO: move the mouse over the alert-score chart.
SAY: "Blue is the stand average, red is the worst single cell. The red line plunges far below its threshold — the cells see the damage much more sharply than the average does."
DO (only if ahead of time): click "Open the site report" → new tab → 3 seconds → Ctrl+W.
SAY: "And every stand gets a one-page report with the carbon at stake."
DO: Alt+Tab back to PowerPoint → press → .
FALLBACK: if the site does not load, stay on this slide — the recording plays the same steps; narrate it with the same lines.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"Three users, three decisions.
Agencies: which stands do we inspect this month. Planting and carbon developers: is the carbon we report still there. Developers and regulators: did the works stay outside the mangrove line."
DO: press →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"The analysis rests on five independent data sources: 778 Sentinel-2 dates over six years, EnMAP hyperspectral, ESA WorldCover, field carbon plots, and dated sub-metre imagery.
Every image is cloud-masked, only interior pixels are used, and every finding is cross-checked by a second source."
DO: press →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second source at work: EnMAP hyperspectral, 224 bands.
On stand 5, the green curves are the vegetation in 2022; the red dashed curves are the same pixels in 2025 — the spectrum of sand and fill. That is reclamation, not dieback.
On the same dates, EnMAP agrees with our Sentinel-2 indices with r up to 0.99."
DO: press →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"And this is where Satellite 813 comes in. Sentinel-2 tells us when something changed, every five days. Satellite 813 tells us what: once a cell is flagged, we task 813 over just that cell.
Every index we use sits inside 813's range, at 20 metres. It is planned — 813 scenes were not available in this proof of concept."
DO: press →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whole method, left to right.
We cut every stand into 200-metre cells and read every Sentinel-2 date. The tide-aware model — in blue — predicts what each stand and each cell should look like.
If reality falls too far below, the alert rule — in rose — fires. The decision layer — in sand — adds the cell map and the carbon at stake, with EnMAP and sub-metre imagery as independent checks."
DO: point along the boxes as you speak, then press →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10 s
SAY: "For the user: an alert with the cell map and the carbon at stake — the inspector visits only those cells. If nothing changes, a monthly report."
DO: press →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45 s
SAY: "Now the hard part — the one that breaks most monitors in the Gulf: the tide.
When the tide comes in, flooded mangroves look, from space, like dying mangroves. In this illustration the same trees drop from 0.30 to 0.18.
On our stands, index noise follows wetness with a correlation of minus 0.9.
So for every stand and every date we model trend, season — and the tide.
Noise falls by 29 to 35 percent on every index." (point at the right card at the bottom)
"And we tested the textbook recipe — NDVI alone, no tide model — on the same stands with the same alert rule: 1.61 false alarms per stand per year. Ours: 0.96. Forty percent fewer wasted site visits, and the tide model is most of that gain. That is what makes a reliable alert possible."
DO: wait for the water to rise in the illustration, then press → on "reliable alert".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"Our second innovation: averages hide damage.
Real data from stand 5: watch the cells turn red while the stand average barely moves. Three of our five real conversions were found only by the cells.
In simulation, a partial loss is caught within 60 days 73 percent of the time — against 13 percent by chance."
DO: press →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"How is this different? Surveys are periodic, maps are one-off, and Global Mangrove Watch's free monthly alerts are complementary.
What we add" (point down the blue column) ": every five days, the tide removed, where inside the stand, a measured false-alarm rate, and the carbon at stake — built and tested for the Gulf."
DO: press →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"Does it work on real events? Five real conversions, all confirmed on 30-to-50-centimetre imagery.
The blue bar is the window between the last intact image and the first image showing works; the diamond is when our alert started. Every alert falls inside that window." (point at stand 5's diamond)
"This is detection while the works happen — not a prediction. We never claim advance warning."
DO: press →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"We also tested ourselves against pure chance — every rate has its chance rate next to it.
Partial loss: 73 percent caught, 13 by chance; a uniform loss, 63 versus 36.
On 65 stands the model never saw, thresholds frozen, false alarms stayed at 0.79 per stand-year.
And when we found a flaw in our own first test, we withdrew it. These are the numbers that survived — and our limits are on the record; I am happy to go through them."
DO: press → on "go through them". (If asked about limits or NDVI later: type 21 or 20 + Enter.)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"Why it matters. 108 tonnes of carbon per hectare in these stands — 82 percent in the soil, released when the stand is cleared. The pilot holds about 247 thousand tonnes; stand 5 alone lost 3 to 7 thousand.
As a service: about 12 thousand dollars per site per year, against a cost to serve of about 3 thousand. The real prize is a national MRV contract, or a monitoring layer on gIQ."
DO: press →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"Beyond the proof of concept: everything is public and reproducible — the notebook re-runs in 24 seconds, and a clean-machine test gives the same numbers.
It already transferred to unseen stands and a second country, at under five dollars of compute per site per year."
DO: press → .</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10 s
SAY (slow, look at the camera): "A working product, five real events confirmed, every number reproducible.
Every lost mangrove leaves a trace — and we find it from space.
Our ask: incubation, to run a pilot with a Gulf agency or planting programme."
DO: press → (thank-you slide).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10 s
SAY (warm, slow): "Thank you — to the United Arab Emirates, for leading our region in protecting its mangroves, and to the UAE Space Agency, the National Space Academy and Space42 for this programme.
I'm happy to take your questions."
DO: stop talking; stay on this slide during the Q&amp;A. If a question needs evidence: → backup slides (textbook baseline, limits, demo video) or Alt+Tab to the website.
==================== Q&amp;A CHEAT SHEET (only you see this in Presenter View) ====================
Rule: one sentence that answers + one number + stop. Unknown? "Good question — we haven't tested that yet; it's the first thing we'd test in incubation."
Jump: type the slide number + Enter (20 = textbook table, 21 = limits, 22 = demo video, 8 = Satellite 813). Back: 19 + Enter.
1. No site visits — how do you know the losses are real?
→ All five are confirmed on dated sub-metre captures (WorldView-2/3, Legion-1, 30–50 cm). At every site the alert began between the last intact and the first disturbed capture. Matching permits and site records is our first pilot task.
2. Is it early warning?
→ No, and we say so. It detects works while they happen. We never claim to see stress before it is visible.  (slide 21)
3. Thresholds −1.5 / −3.5 — overfitting?
→ Calibrated only on stands with no change, to ~1 false alarm per stand-year, then frozen and applied to 65 stands it never saw, incl. Saudi Tarut Bay: 0.79 vs 0.96.
4. Is 73 % luck?
→ Every rate has its chance rate: 73 % within 60 days vs 13 % by chance, same test with no loss. We withdrew our own first figure when a null test showed it was inflated.
5. Why not just NDVI?
→ We tested it: same rule, same 25 stands — NDVI alone 1.61 false alarms per stand-year, ours 0.96, 40 % fewer; the tide model is most of the gain. All four setups catch the five conversions; the difference is false-alarm cost.  (slide 20)
6. Why does the tide matter?
→ At high tide flooded mangrove looks like dying mangrove. Index noise follows wetness, r ≈ −0.9. Modelling the tide cuts noise 29–35 %.
7. How accurate is your mangrove map?
→ Extent is not our contribution: ~0.6 F1 against reference points, and we say so. We start from ESA WorldCover outlines and focus on change and condition.
8. Did you cherry-pick the five events?
→ They came from the monitor's own flags; we checked flagged stands on dated imagery, including flags that were false positives, which we report. False alarms are measured separately.
9. What did hyperspectral add?
→ An independent check (EnMAP vs Sentinel-2, r = 0.84–0.99) and a material fingerprint: stand 5 turns from vegetation to a mineral spectrum — reclamation, not dieback. As a classifier it did not beat multispectral (F1 0.74 vs 0.72).
10. Why not Satellite 813?
→ Not available in the PoC (onboarding guide). Every index we use sits inside 813's 400–1700 nm range at 20 m; Sentinel-2 says when, 813 says what — tasked on flagged cells. Planned, not tested.  (slide 8)
11. Clouds?
→ Sentinel-2 cloud mask, only dates with at least half the stand clear; still 778 usable dates in six years.
12. Bahrain?
→ About 5 ha mapped, largest patch under 4 ha — too small for 10 m pixels. A case for very-high-resolution data in incubation.
13. Who pays?
→ Agencies (which stands to inspect), planting and carbon developers (is the stock still there), coastal developers and regulators (did works stay outside the mangrove line). Pilot price ~12k USD per site per year; cost to serve ~3.3k.
14. Different from Global Mangrove Watch?
→ Complementary. GMW gives free monthly loss alerts worldwide; we add the tide model, 200 m cells, a measured false-alarm rate and carbon at stake — tested in the Gulf.
15. Are the prices validated?
→ No — hypotheses for a pilot, labelled as such. Measured: compute under 5 USD per site per year.
16. Is carbon a sequestration rate / credits?
→ A stock, not a rate: area × field density 108 t C/ha with its range. It supports verification that a stock is still there, not credit issuance alone.
17. How does it scale?
→ Free data read in place, no downloads; a 2020–26 backfill per block under 75 min. Gulf ≈ 165 km² of mangrove — compute is not the limit; partners and site records are.
18. You are one person — can you deliver?
→ I delivered the full PoC; everything is public and reproducible. For incubation: a mangrove ecologist mentor, an agency or restoration partner, a GIS analyst.
19. Where is the AI?
→ Statistical learning per stand and cell: a robust model of trend, season and tide, and an anomaly detector calibrated against chance. Explainable on purpose — an inspector must understand why an alert fired.
20. First three months of incubation?
→ One pilot with a partner: match alerts to permits and site records, add Satellite 813 to the spectral step, deploy on gIQ.
FIVE NUMBERS: 29–35 % less noise · 1.61 → 0.96 false alarms (NDVI vs ours) · 73 % vs 13 % · 0.79 on 65 unseen stands · 5 of 5 conversions confirmed
</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 s
BACKUP — do not present. Open only if asked about NDVI, baselines or false alarms.
SAY: "Same alert rule, same 25 stands: NDVI alone gives 1.61 false alarms per stand-year, ours 0.96 — 40 % fewer, mostly thanks to the tide model. All four catch the five conversions; the difference is the false-alarm cost."
</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 s
BACKUP — do not present. Open only if asked about limits or what we claim.
SAY: "Detection while works happen, not early warning; 10-metre pixels miss very small stands; confirmation on dated imagery, not site visits — matching permits with a partner is our first pilot task."
</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only if a judge asks to see the product again, or the live demo failed.
DO: click the video to play it (sound on, 2 min). Press Esc to leave the slideshow afterwards.
SAY: "Here is the two-minute walkthrough of the product."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5.xml"/><Relationship Id="rId7" Type="http://schemas.openxmlformats.org/officeDocument/2006/relationships/image" Target="../media/image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notesSlide" Target="../notesSlides/notesSlide1.xml"/><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6.png"/><Relationship Id="rId9" Type="http://schemas.openxmlformats.org/officeDocument/2006/relationships/image" Target="../media/image15.png"/></Relationships>
</file>

<file path=ppt/slides/_rels/slide3.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5.png"/><Relationship Id="rId7"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slideLayout" Target="../slideLayouts/slideLayout3.xml"/><Relationship Id="rId7" Type="http://schemas.openxmlformats.org/officeDocument/2006/relationships/image" Target="../media/image22.png"/><Relationship Id="rId12" Type="http://schemas.openxmlformats.org/officeDocument/2006/relationships/image" Target="../media/image27.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6.png"/><Relationship Id="rId11" Type="http://schemas.openxmlformats.org/officeDocument/2006/relationships/image" Target="../media/image26.png"/><Relationship Id="rId5" Type="http://schemas.openxmlformats.org/officeDocument/2006/relationships/image" Target="../media/image5.png"/><Relationship Id="rId10" Type="http://schemas.openxmlformats.org/officeDocument/2006/relationships/image" Target="../media/image25.png"/><Relationship Id="rId4" Type="http://schemas.openxmlformats.org/officeDocument/2006/relationships/notesSlide" Target="../notesSlides/notesSlide4.xml"/><Relationship Id="rId9" Type="http://schemas.openxmlformats.org/officeDocument/2006/relationships/image" Target="../media/image24.png"/></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5.png"/><Relationship Id="rId7" Type="http://schemas.openxmlformats.org/officeDocument/2006/relationships/image" Target="../media/image29.png"/><Relationship Id="rId12" Type="http://schemas.openxmlformats.org/officeDocument/2006/relationships/image" Target="../media/image27.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28.png"/><Relationship Id="rId11" Type="http://schemas.openxmlformats.org/officeDocument/2006/relationships/image" Target="../media/image30.png"/><Relationship Id="rId5" Type="http://schemas.openxmlformats.org/officeDocument/2006/relationships/image" Target="../media/image15.png"/><Relationship Id="rId10" Type="http://schemas.openxmlformats.org/officeDocument/2006/relationships/image" Target="../media/image24.png"/><Relationship Id="rId4" Type="http://schemas.openxmlformats.org/officeDocument/2006/relationships/image" Target="../media/image6.png"/><Relationship Id="rId9"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5.png"/><Relationship Id="rId7" Type="http://schemas.openxmlformats.org/officeDocument/2006/relationships/image" Target="../media/image32.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31.png"/><Relationship Id="rId10" Type="http://schemas.openxmlformats.org/officeDocument/2006/relationships/image" Target="../media/image30.png"/><Relationship Id="rId4" Type="http://schemas.openxmlformats.org/officeDocument/2006/relationships/image" Target="../media/image6.png"/><Relationship Id="rId9" Type="http://schemas.openxmlformats.org/officeDocument/2006/relationships/image" Target="../media/image26.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34.png"/><Relationship Id="rId5" Type="http://schemas.openxmlformats.org/officeDocument/2006/relationships/image" Target="../media/image23.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36.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5.png"/><Relationship Id="rId7" Type="http://schemas.openxmlformats.org/officeDocument/2006/relationships/image" Target="../media/image38.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3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chart" Target="../charts/char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41.pn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5.png"/><Relationship Id="rId7" Type="http://schemas.openxmlformats.org/officeDocument/2006/relationships/image" Target="../media/image44.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4.xml"/><Relationship Id="rId5" Type="http://schemas.openxmlformats.org/officeDocument/2006/relationships/chart" Target="../charts/chart2.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51.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47.png"/><Relationship Id="rId11" Type="http://schemas.openxmlformats.org/officeDocument/2006/relationships/image" Target="../media/image50.png"/><Relationship Id="rId5" Type="http://schemas.openxmlformats.org/officeDocument/2006/relationships/image" Target="../media/image46.png"/><Relationship Id="rId10" Type="http://schemas.openxmlformats.org/officeDocument/2006/relationships/image" Target="../media/image49.png"/><Relationship Id="rId4" Type="http://schemas.openxmlformats.org/officeDocument/2006/relationships/image" Target="../media/image6.png"/><Relationship Id="rId9" Type="http://schemas.openxmlformats.org/officeDocument/2006/relationships/image" Target="../media/image48.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5.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5.png"/><Relationship Id="rId7"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24.png"/><Relationship Id="rId5" Type="http://schemas.openxmlformats.org/officeDocument/2006/relationships/image" Target="../media/image52.png"/><Relationship Id="rId10" Type="http://schemas.openxmlformats.org/officeDocument/2006/relationships/image" Target="../media/image26.png"/><Relationship Id="rId4" Type="http://schemas.openxmlformats.org/officeDocument/2006/relationships/image" Target="../media/image6.png"/><Relationship Id="rId9"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53.png"/><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sp>
      <p:pic>
        <p:nvPicPr>
          <p:cNvPr id="4" name="video_cover">
            <a:hlinkClick r:id="" action="ppaction://media"/>
            <a:extLst>
              <a:ext uri="{FF2B5EF4-FFF2-40B4-BE49-F238E27FC236}">
                <a16:creationId xmlns:a16="http://schemas.microsoft.com/office/drawing/2014/main" id="{AFB8BD66-678E-716E-6496-9DC4ECB16650}"/>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Gulf mangroves —</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dirty="0">
                <a:solidFill>
                  <a:srgbClr val="E3EDF8"/>
                </a:solidFill>
                <a:latin typeface="Segoe UI Semibold" pitchFamily="34" charset="0"/>
                <a:ea typeface="Segoe UI Semibold" pitchFamily="34" charset="-122"/>
                <a:cs typeface="Segoe UI Semibold" pitchFamily="34" charset="-120"/>
              </a:rPr>
              <a:t>Team 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engineer, every role — delivered in the open</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Team lead · AI engineer · IEEE researcher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 Bahrain · final semester · First-Class Honours standing</a:t>
            </a:r>
            <a:endParaRPr lang="en-US" sz="1150" dirty="0"/>
          </a:p>
        </p:txBody>
      </p:sp>
      <p:sp>
        <p:nvSpPr>
          <p:cNvPr id="15" name="a2fade_l1"/>
          <p:cNvSpPr txBox="1"/>
          <p:nvPr/>
        </p:nvSpPr>
        <p:spPr>
          <a:xfrm>
            <a:off x="804672" y="3877056"/>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RELEVANT EXPERTISE</a:t>
            </a:r>
            <a:endParaRPr lang="en-US" sz="1100" dirty="0"/>
          </a:p>
        </p:txBody>
      </p:sp>
      <p:sp>
        <p:nvSpPr>
          <p:cNvPr id="16" name="a2fade_skills"/>
          <p:cNvSpPr txBox="1"/>
          <p:nvPr/>
        </p:nvSpPr>
        <p:spPr>
          <a:xfrm>
            <a:off x="804672" y="4114800"/>
            <a:ext cx="3794760" cy="1280160"/>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1B2B40"/>
                </a:solidFill>
                <a:latin typeface="Segoe UI" pitchFamily="34" charset="0"/>
                <a:ea typeface="Segoe UI" pitchFamily="34" charset="-122"/>
                <a:cs typeface="Segoe UI" pitchFamily="34" charset="-120"/>
              </a:rPr>
              <a:t>2 IEEE papers (ICCA 2025, ICAISET 2026): federated learning for industrial IoT; random-forest audit of GCC sustainability</a:t>
            </a:r>
            <a:endParaRPr lang="en-US" sz="1050" dirty="0"/>
          </a:p>
          <a:p>
            <a:pPr marL="152400" indent="-152400">
              <a:spcAft>
                <a:spcPts val="300"/>
              </a:spcAft>
              <a:buSzPct val="100000"/>
              <a:buChar char="•"/>
            </a:pPr>
            <a:r>
              <a:rPr lang="en-US" sz="1050" dirty="0">
                <a:solidFill>
                  <a:srgbClr val="1B2B40"/>
                </a:solidFill>
                <a:latin typeface="Segoe UI" pitchFamily="34" charset="0"/>
                <a:ea typeface="Segoe UI" pitchFamily="34" charset="-122"/>
                <a:cs typeface="Segoe UI" pitchFamily="34" charset="-120"/>
              </a:rPr>
              <a:t>AI &amp; LLM product engineering (Doo Bahrain; FlyRank backend AI)</a:t>
            </a:r>
            <a:endParaRPr lang="en-US" sz="1050" dirty="0"/>
          </a:p>
          <a:p>
            <a:pPr marL="152400" indent="-152400">
              <a:spcAft>
                <a:spcPts val="300"/>
              </a:spcAft>
              <a:buSzPct val="100000"/>
              <a:buChar char="•"/>
            </a:pPr>
            <a:r>
              <a:rPr lang="en-US" sz="1050" dirty="0">
                <a:solidFill>
                  <a:srgbClr val="1B2B40"/>
                </a:solidFill>
                <a:latin typeface="Segoe UI" pitchFamily="34" charset="0"/>
                <a:ea typeface="Segoe UI" pitchFamily="34" charset="-122"/>
                <a:cs typeface="Segoe UI" pitchFamily="34" charset="-120"/>
              </a:rPr>
              <a:t>Machine learning, computer vision (deepfake detection), Python geospatial stack</a:t>
            </a:r>
            <a:endParaRPr lang="en-US" sz="1050" dirty="0"/>
          </a:p>
        </p:txBody>
      </p:sp>
      <p:sp>
        <p:nvSpPr>
          <p:cNvPr id="17" name="a3fade_l2"/>
          <p:cNvSpPr txBox="1"/>
          <p:nvPr/>
        </p:nvSpPr>
        <p:spPr>
          <a:xfrm>
            <a:off x="804672" y="54864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687568"/>
            <a:ext cx="3794760" cy="411480"/>
          </a:xfrm>
          <a:prstGeom prst="rect">
            <a:avLst/>
          </a:prstGeom>
          <a:noFill/>
          <a:ln/>
        </p:spPr>
        <p:txBody>
          <a:bodyPr wrap="square" lIns="0" tIns="0" rIns="0" bIns="0" rtlCol="0" anchor="t"/>
          <a:lstStyle/>
          <a:p>
            <a:pPr marL="0" indent="0" algn="l">
              <a:lnSpc>
                <a:spcPct val="105000"/>
              </a:lnSpc>
              <a:buNone/>
            </a:pPr>
            <a:r>
              <a:rPr lang="en-US" sz="1000" dirty="0">
                <a:solidFill>
                  <a:srgbClr val="1B2B40"/>
                </a:solidFill>
                <a:latin typeface="Segoe UI" pitchFamily="34" charset="0"/>
                <a:ea typeface="Segoe UI" pitchFamily="34" charset="-122"/>
                <a:cs typeface="Segoe UI" pitchFamily="34" charset="-120"/>
              </a:rPr>
              <a:t>NASA Space Apps Challenge local lead (Manama): organising and mentoring space-data teams</a:t>
            </a:r>
            <a:endParaRPr lang="en-US" sz="1000" dirty="0"/>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10" presetClass="entr" presetSubtype="0" decel="100000" fill="hold" grpId="0" nodeType="withEffect">
                                  <p:stCondLst>
                                    <p:cond delay="47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600"/>
                                        <p:tgtEl>
                                          <p:spTgt spid="19"/>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600"/>
                                        <p:tgtEl>
                                          <p:spTgt spid="13"/>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00"/>
                                        <p:tgtEl>
                                          <p:spTgt spid="14"/>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600"/>
                                        <p:tgtEl>
                                          <p:spTgt spid="15"/>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600"/>
                                        <p:tgtEl>
                                          <p:spTgt spid="16"/>
                                        </p:tgtEl>
                                      </p:cBhvr>
                                    </p:animEffect>
                                  </p:childTnLst>
                                </p:cTn>
                              </p:par>
                              <p:par>
                                <p:cTn id="51" presetID="42" presetClass="entr" presetSubtype="0" decel="100000" fill="hold" grpId="0" nodeType="withEffect">
                                  <p:stCondLst>
                                    <p:cond delay="69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700"/>
                                        <p:tgtEl>
                                          <p:spTgt spid="20"/>
                                        </p:tgtEl>
                                      </p:cBhvr>
                                    </p:animEffect>
                                    <p:anim calcmode="lin" valueType="num">
                                      <p:cBhvr additive="base">
                                        <p:cTn id="54" dur="700" fill="hold"/>
                                        <p:tgtEl>
                                          <p:spTgt spid="20"/>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69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700"/>
                                        <p:tgtEl>
                                          <p:spTgt spid="21"/>
                                        </p:tgtEl>
                                      </p:cBhvr>
                                    </p:animEffect>
                                    <p:anim calcmode="lin" valueType="num">
                                      <p:cBhvr additive="base">
                                        <p:cTn id="58" dur="700" fill="hold"/>
                                        <p:tgtEl>
                                          <p:spTgt spid="21"/>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69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700"/>
                                        <p:tgtEl>
                                          <p:spTgt spid="22"/>
                                        </p:tgtEl>
                                      </p:cBhvr>
                                    </p:animEffect>
                                    <p:anim calcmode="lin" valueType="num">
                                      <p:cBhvr additive="base">
                                        <p:cTn id="62" dur="700" fill="hold"/>
                                        <p:tgtEl>
                                          <p:spTgt spid="22"/>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69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700"/>
                                        <p:tgtEl>
                                          <p:spTgt spid="23"/>
                                        </p:tgtEl>
                                      </p:cBhvr>
                                    </p:animEffect>
                                    <p:anim calcmode="lin" valueType="num">
                                      <p:cBhvr additive="base">
                                        <p:cTn id="66" dur="700" fill="hold"/>
                                        <p:tgtEl>
                                          <p:spTgt spid="23"/>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69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700"/>
                                        <p:tgtEl>
                                          <p:spTgt spid="24"/>
                                        </p:tgtEl>
                                      </p:cBhvr>
                                    </p:animEffect>
                                    <p:anim calcmode="lin" valueType="num">
                                      <p:cBhvr additive="base">
                                        <p:cTn id="70" dur="700" fill="hold"/>
                                        <p:tgtEl>
                                          <p:spTgt spid="24"/>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69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700"/>
                                        <p:tgtEl>
                                          <p:spTgt spid="25"/>
                                        </p:tgtEl>
                                      </p:cBhvr>
                                    </p:animEffect>
                                    <p:anim calcmode="lin" valueType="num">
                                      <p:cBhvr additive="base">
                                        <p:cTn id="74" dur="700" fill="hold"/>
                                        <p:tgtEl>
                                          <p:spTgt spid="25"/>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69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700"/>
                                        <p:tgtEl>
                                          <p:spTgt spid="26"/>
                                        </p:tgtEl>
                                      </p:cBhvr>
                                    </p:animEffect>
                                    <p:anim calcmode="lin" valueType="num">
                                      <p:cBhvr additive="base">
                                        <p:cTn id="78" dur="700" fill="hold"/>
                                        <p:tgtEl>
                                          <p:spTgt spid="26"/>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69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700"/>
                                        <p:tgtEl>
                                          <p:spTgt spid="27"/>
                                        </p:tgtEl>
                                      </p:cBhvr>
                                    </p:animEffect>
                                    <p:anim calcmode="lin" valueType="num">
                                      <p:cBhvr additive="base">
                                        <p:cTn id="82" dur="700" fill="hold"/>
                                        <p:tgtEl>
                                          <p:spTgt spid="27"/>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69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700"/>
                                        <p:tgtEl>
                                          <p:spTgt spid="28"/>
                                        </p:tgtEl>
                                      </p:cBhvr>
                                    </p:animEffect>
                                    <p:anim calcmode="lin" valueType="num">
                                      <p:cBhvr additive="base">
                                        <p:cTn id="86" dur="700" fill="hold"/>
                                        <p:tgtEl>
                                          <p:spTgt spid="28"/>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69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700"/>
                                        <p:tgtEl>
                                          <p:spTgt spid="29"/>
                                        </p:tgtEl>
                                      </p:cBhvr>
                                    </p:animEffect>
                                    <p:anim calcmode="lin" valueType="num">
                                      <p:cBhvr additive="base">
                                        <p:cTn id="90" dur="700" fill="hold"/>
                                        <p:tgtEl>
                                          <p:spTgt spid="29"/>
                                        </p:tgtEl>
                                        <p:attrNameLst>
                                          <p:attrName>ppt_y</p:attrName>
                                        </p:attrNameLst>
                                      </p:cBhvr>
                                      <p:tavLst>
                                        <p:tav tm="0">
                                          <p:val>
                                            <p:strVal val="#ppt_y+0.03"/>
                                          </p:val>
                                        </p:tav>
                                        <p:tav tm="100000">
                                          <p:val>
                                            <p:strVal val="#ppt_y"/>
                                          </p:val>
                                        </p:tav>
                                      </p:tavLst>
                                    </p:anim>
                                  </p:childTnLst>
                                </p:cTn>
                              </p:par>
                              <p:par>
                                <p:cTn id="91" presetID="10" presetClass="entr" presetSubtype="0" decel="100000" fill="hold" grpId="0" nodeType="withEffect">
                                  <p:stCondLst>
                                    <p:cond delay="910"/>
                                  </p:stCondLst>
                                  <p:childTnLst>
                                    <p:set>
                                      <p:cBhvr>
                                        <p:cTn id="92" dur="1" fill="hold">
                                          <p:stCondLst>
                                            <p:cond delay="0"/>
                                          </p:stCondLst>
                                        </p:cTn>
                                        <p:tgtEl>
                                          <p:spTgt spid="17"/>
                                        </p:tgtEl>
                                        <p:attrNameLst>
                                          <p:attrName>style.visibility</p:attrName>
                                        </p:attrNameLst>
                                      </p:cBhvr>
                                      <p:to>
                                        <p:strVal val="visible"/>
                                      </p:to>
                                    </p:set>
                                    <p:animEffect transition="in" filter="fade">
                                      <p:cBhvr>
                                        <p:cTn id="93" dur="600"/>
                                        <p:tgtEl>
                                          <p:spTgt spid="17"/>
                                        </p:tgtEl>
                                      </p:cBhvr>
                                    </p:animEffect>
                                  </p:childTnLst>
                                </p:cTn>
                              </p:par>
                              <p:par>
                                <p:cTn id="94" presetID="10" presetClass="entr" presetSubtype="0" decel="100000" fill="hold" grpId="0" nodeType="withEffect">
                                  <p:stCondLst>
                                    <p:cond delay="910"/>
                                  </p:stCondLst>
                                  <p:childTnLst>
                                    <p:set>
                                      <p:cBhvr>
                                        <p:cTn id="95" dur="1" fill="hold">
                                          <p:stCondLst>
                                            <p:cond delay="0"/>
                                          </p:stCondLst>
                                        </p:cTn>
                                        <p:tgtEl>
                                          <p:spTgt spid="18"/>
                                        </p:tgtEl>
                                        <p:attrNameLst>
                                          <p:attrName>style.visibility</p:attrName>
                                        </p:attrNameLst>
                                      </p:cBhvr>
                                      <p:to>
                                        <p:strVal val="visible"/>
                                      </p:to>
                                    </p:set>
                                    <p:animEffect transition="in" filter="fade">
                                      <p:cBhvr>
                                        <p:cTn id="96" dur="600"/>
                                        <p:tgtEl>
                                          <p:spTgt spid="18"/>
                                        </p:tgtEl>
                                      </p:cBhvr>
                                    </p:animEffect>
                                  </p:childTnLst>
                                </p:cTn>
                              </p:par>
                              <p:par>
                                <p:cTn id="97" presetID="42" presetClass="entr" presetSubtype="0" decel="100000" fill="hold" grpId="0" nodeType="withEffect">
                                  <p:stCondLst>
                                    <p:cond delay="910"/>
                                  </p:stCondLst>
                                  <p:childTnLst>
                                    <p:set>
                                      <p:cBhvr>
                                        <p:cTn id="98" dur="1" fill="hold">
                                          <p:stCondLst>
                                            <p:cond delay="0"/>
                                          </p:stCondLst>
                                        </p:cTn>
                                        <p:tgtEl>
                                          <p:spTgt spid="30"/>
                                        </p:tgtEl>
                                        <p:attrNameLst>
                                          <p:attrName>style.visibility</p:attrName>
                                        </p:attrNameLst>
                                      </p:cBhvr>
                                      <p:to>
                                        <p:strVal val="visible"/>
                                      </p:to>
                                    </p:set>
                                    <p:animEffect transition="in" filter="fade">
                                      <p:cBhvr>
                                        <p:cTn id="99" dur="700"/>
                                        <p:tgtEl>
                                          <p:spTgt spid="30"/>
                                        </p:tgtEl>
                                      </p:cBhvr>
                                    </p:animEffect>
                                    <p:anim calcmode="lin" valueType="num">
                                      <p:cBhvr additive="base">
                                        <p:cTn id="100" dur="700" fill="hold"/>
                                        <p:tgtEl>
                                          <p:spTgt spid="30"/>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91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700"/>
                                        <p:tgtEl>
                                          <p:spTgt spid="31"/>
                                        </p:tgtEl>
                                      </p:cBhvr>
                                    </p:animEffect>
                                    <p:anim calcmode="lin" valueType="num">
                                      <p:cBhvr additive="base">
                                        <p:cTn id="104" dur="700" fill="hold"/>
                                        <p:tgtEl>
                                          <p:spTgt spid="31"/>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910"/>
                                  </p:stCondLst>
                                  <p:childTnLst>
                                    <p:set>
                                      <p:cBhvr>
                                        <p:cTn id="106" dur="1" fill="hold">
                                          <p:stCondLst>
                                            <p:cond delay="0"/>
                                          </p:stCondLst>
                                        </p:cTn>
                                        <p:tgtEl>
                                          <p:spTgt spid="32"/>
                                        </p:tgtEl>
                                        <p:attrNameLst>
                                          <p:attrName>style.visibility</p:attrName>
                                        </p:attrNameLst>
                                      </p:cBhvr>
                                      <p:to>
                                        <p:strVal val="visible"/>
                                      </p:to>
                                    </p:set>
                                    <p:animEffect transition="in" filter="fade">
                                      <p:cBhvr>
                                        <p:cTn id="107" dur="700"/>
                                        <p:tgtEl>
                                          <p:spTgt spid="32"/>
                                        </p:tgtEl>
                                      </p:cBhvr>
                                    </p:animEffect>
                                    <p:anim calcmode="lin" valueType="num">
                                      <p:cBhvr additive="base">
                                        <p:cTn id="108" dur="700" fill="hold"/>
                                        <p:tgtEl>
                                          <p:spTgt spid="32"/>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91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700"/>
                                        <p:tgtEl>
                                          <p:spTgt spid="33"/>
                                        </p:tgtEl>
                                      </p:cBhvr>
                                    </p:animEffect>
                                    <p:anim calcmode="lin" valueType="num">
                                      <p:cBhvr additive="base">
                                        <p:cTn id="112" dur="700" fill="hold"/>
                                        <p:tgtEl>
                                          <p:spTgt spid="33"/>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910"/>
                                  </p:stCondLst>
                                  <p:childTnLst>
                                    <p:set>
                                      <p:cBhvr>
                                        <p:cTn id="114" dur="1" fill="hold">
                                          <p:stCondLst>
                                            <p:cond delay="0"/>
                                          </p:stCondLst>
                                        </p:cTn>
                                        <p:tgtEl>
                                          <p:spTgt spid="34"/>
                                        </p:tgtEl>
                                        <p:attrNameLst>
                                          <p:attrName>style.visibility</p:attrName>
                                        </p:attrNameLst>
                                      </p:cBhvr>
                                      <p:to>
                                        <p:strVal val="visible"/>
                                      </p:to>
                                    </p:set>
                                    <p:animEffect transition="in" filter="fade">
                                      <p:cBhvr>
                                        <p:cTn id="115" dur="700"/>
                                        <p:tgtEl>
                                          <p:spTgt spid="34"/>
                                        </p:tgtEl>
                                      </p:cBhvr>
                                    </p:animEffect>
                                    <p:anim calcmode="lin" valueType="num">
                                      <p:cBhvr additive="base">
                                        <p:cTn id="116" dur="700" fill="hold"/>
                                        <p:tgtEl>
                                          <p:spTgt spid="34"/>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910"/>
                                  </p:stCondLst>
                                  <p:childTnLst>
                                    <p:set>
                                      <p:cBhvr>
                                        <p:cTn id="118" dur="1" fill="hold">
                                          <p:stCondLst>
                                            <p:cond delay="0"/>
                                          </p:stCondLst>
                                        </p:cTn>
                                        <p:tgtEl>
                                          <p:spTgt spid="35"/>
                                        </p:tgtEl>
                                        <p:attrNameLst>
                                          <p:attrName>style.visibility</p:attrName>
                                        </p:attrNameLst>
                                      </p:cBhvr>
                                      <p:to>
                                        <p:strVal val="visible"/>
                                      </p:to>
                                    </p:set>
                                    <p:animEffect transition="in" filter="fade">
                                      <p:cBhvr>
                                        <p:cTn id="119" dur="700"/>
                                        <p:tgtEl>
                                          <p:spTgt spid="35"/>
                                        </p:tgtEl>
                                      </p:cBhvr>
                                    </p:animEffect>
                                    <p:anim calcmode="lin" valueType="num">
                                      <p:cBhvr additive="base">
                                        <p:cTn id="120" dur="700" fill="hold"/>
                                        <p:tgtEl>
                                          <p:spTgt spid="35"/>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910"/>
                                  </p:stCondLst>
                                  <p:childTnLst>
                                    <p:set>
                                      <p:cBhvr>
                                        <p:cTn id="122" dur="1" fill="hold">
                                          <p:stCondLst>
                                            <p:cond delay="0"/>
                                          </p:stCondLst>
                                        </p:cTn>
                                        <p:tgtEl>
                                          <p:spTgt spid="36"/>
                                        </p:tgtEl>
                                        <p:attrNameLst>
                                          <p:attrName>style.visibility</p:attrName>
                                        </p:attrNameLst>
                                      </p:cBhvr>
                                      <p:to>
                                        <p:strVal val="visible"/>
                                      </p:to>
                                    </p:set>
                                    <p:animEffect transition="in" filter="fade">
                                      <p:cBhvr>
                                        <p:cTn id="123" dur="700"/>
                                        <p:tgtEl>
                                          <p:spTgt spid="36"/>
                                        </p:tgtEl>
                                      </p:cBhvr>
                                    </p:animEffect>
                                    <p:anim calcmode="lin" valueType="num">
                                      <p:cBhvr additive="base">
                                        <p:cTn id="124" dur="700" fill="hold"/>
                                        <p:tgtEl>
                                          <p:spTgt spid="36"/>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910"/>
                                  </p:stCondLst>
                                  <p:childTnLst>
                                    <p:set>
                                      <p:cBhvr>
                                        <p:cTn id="126" dur="1" fill="hold">
                                          <p:stCondLst>
                                            <p:cond delay="0"/>
                                          </p:stCondLst>
                                        </p:cTn>
                                        <p:tgtEl>
                                          <p:spTgt spid="37"/>
                                        </p:tgtEl>
                                        <p:attrNameLst>
                                          <p:attrName>style.visibility</p:attrName>
                                        </p:attrNameLst>
                                      </p:cBhvr>
                                      <p:to>
                                        <p:strVal val="visible"/>
                                      </p:to>
                                    </p:set>
                                    <p:animEffect transition="in" filter="fade">
                                      <p:cBhvr>
                                        <p:cTn id="127" dur="700"/>
                                        <p:tgtEl>
                                          <p:spTgt spid="37"/>
                                        </p:tgtEl>
                                      </p:cBhvr>
                                    </p:animEffect>
                                    <p:anim calcmode="lin" valueType="num">
                                      <p:cBhvr additive="base">
                                        <p:cTn id="128" dur="700" fill="hold"/>
                                        <p:tgtEl>
                                          <p:spTgt spid="37"/>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910"/>
                                  </p:stCondLst>
                                  <p:childTnLst>
                                    <p:set>
                                      <p:cBhvr>
                                        <p:cTn id="130" dur="1" fill="hold">
                                          <p:stCondLst>
                                            <p:cond delay="0"/>
                                          </p:stCondLst>
                                        </p:cTn>
                                        <p:tgtEl>
                                          <p:spTgt spid="38"/>
                                        </p:tgtEl>
                                        <p:attrNameLst>
                                          <p:attrName>style.visibility</p:attrName>
                                        </p:attrNameLst>
                                      </p:cBhvr>
                                      <p:to>
                                        <p:strVal val="visible"/>
                                      </p:to>
                                    </p:set>
                                    <p:animEffect transition="in" filter="fade">
                                      <p:cBhvr>
                                        <p:cTn id="131" dur="700"/>
                                        <p:tgtEl>
                                          <p:spTgt spid="38"/>
                                        </p:tgtEl>
                                      </p:cBhvr>
                                    </p:animEffect>
                                    <p:anim calcmode="lin" valueType="num">
                                      <p:cBhvr additive="base">
                                        <p:cTn id="132" dur="700" fill="hold"/>
                                        <p:tgtEl>
                                          <p:spTgt spid="38"/>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910"/>
                                  </p:stCondLst>
                                  <p:childTnLst>
                                    <p:set>
                                      <p:cBhvr>
                                        <p:cTn id="134" dur="1" fill="hold">
                                          <p:stCondLst>
                                            <p:cond delay="0"/>
                                          </p:stCondLst>
                                        </p:cTn>
                                        <p:tgtEl>
                                          <p:spTgt spid="39"/>
                                        </p:tgtEl>
                                        <p:attrNameLst>
                                          <p:attrName>style.visibility</p:attrName>
                                        </p:attrNameLst>
                                      </p:cBhvr>
                                      <p:to>
                                        <p:strVal val="visible"/>
                                      </p:to>
                                    </p:set>
                                    <p:animEffect transition="in" filter="fade">
                                      <p:cBhvr>
                                        <p:cTn id="135" dur="700"/>
                                        <p:tgtEl>
                                          <p:spTgt spid="39"/>
                                        </p:tgtEl>
                                      </p:cBhvr>
                                    </p:animEffect>
                                    <p:anim calcmode="lin" valueType="num">
                                      <p:cBhvr additive="base">
                                        <p:cTn id="136" dur="700" fill="hold"/>
                                        <p:tgtEl>
                                          <p:spTgt spid="39"/>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13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39" dur="700"/>
                                        <p:tgtEl>
                                          <p:spTgt spid="40"/>
                                        </p:tgtEl>
                                      </p:cBhvr>
                                    </p:animEffect>
                                    <p:anim calcmode="lin" valueType="num">
                                      <p:cBhvr additive="base">
                                        <p:cTn id="140" dur="700" fill="hold"/>
                                        <p:tgtEl>
                                          <p:spTgt spid="40"/>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130"/>
                                  </p:stCondLst>
                                  <p:childTnLst>
                                    <p:set>
                                      <p:cBhvr>
                                        <p:cTn id="142" dur="1" fill="hold">
                                          <p:stCondLst>
                                            <p:cond delay="0"/>
                                          </p:stCondLst>
                                        </p:cTn>
                                        <p:tgtEl>
                                          <p:spTgt spid="41"/>
                                        </p:tgtEl>
                                        <p:attrNameLst>
                                          <p:attrName>style.visibility</p:attrName>
                                        </p:attrNameLst>
                                      </p:cBhvr>
                                      <p:to>
                                        <p:strVal val="visible"/>
                                      </p:to>
                                    </p:set>
                                    <p:animEffect transition="in" filter="fade">
                                      <p:cBhvr>
                                        <p:cTn id="143" dur="700"/>
                                        <p:tgtEl>
                                          <p:spTgt spid="41"/>
                                        </p:tgtEl>
                                      </p:cBhvr>
                                    </p:animEffect>
                                    <p:anim calcmode="lin" valueType="num">
                                      <p:cBhvr additive="base">
                                        <p:cTn id="144" dur="700" fill="hold"/>
                                        <p:tgtEl>
                                          <p:spTgt spid="41"/>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130"/>
                                  </p:stCondLst>
                                  <p:childTnLst>
                                    <p:set>
                                      <p:cBhvr>
                                        <p:cTn id="146" dur="1" fill="hold">
                                          <p:stCondLst>
                                            <p:cond delay="0"/>
                                          </p:stCondLst>
                                        </p:cTn>
                                        <p:tgtEl>
                                          <p:spTgt spid="42"/>
                                        </p:tgtEl>
                                        <p:attrNameLst>
                                          <p:attrName>style.visibility</p:attrName>
                                        </p:attrNameLst>
                                      </p:cBhvr>
                                      <p:to>
                                        <p:strVal val="visible"/>
                                      </p:to>
                                    </p:set>
                                    <p:animEffect transition="in" filter="fade">
                                      <p:cBhvr>
                                        <p:cTn id="147" dur="700"/>
                                        <p:tgtEl>
                                          <p:spTgt spid="42"/>
                                        </p:tgtEl>
                                      </p:cBhvr>
                                    </p:animEffect>
                                    <p:anim calcmode="lin" valueType="num">
                                      <p:cBhvr additive="base">
                                        <p:cTn id="148" dur="700" fill="hold"/>
                                        <p:tgtEl>
                                          <p:spTgt spid="42"/>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13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1" dur="700"/>
                                        <p:tgtEl>
                                          <p:spTgt spid="43"/>
                                        </p:tgtEl>
                                      </p:cBhvr>
                                    </p:animEffect>
                                    <p:anim calcmode="lin" valueType="num">
                                      <p:cBhvr additive="base">
                                        <p:cTn id="152" dur="700" fill="hold"/>
                                        <p:tgtEl>
                                          <p:spTgt spid="43"/>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130"/>
                                  </p:stCondLst>
                                  <p:childTnLst>
                                    <p:set>
                                      <p:cBhvr>
                                        <p:cTn id="154" dur="1" fill="hold">
                                          <p:stCondLst>
                                            <p:cond delay="0"/>
                                          </p:stCondLst>
                                        </p:cTn>
                                        <p:tgtEl>
                                          <p:spTgt spid="44"/>
                                        </p:tgtEl>
                                        <p:attrNameLst>
                                          <p:attrName>style.visibility</p:attrName>
                                        </p:attrNameLst>
                                      </p:cBhvr>
                                      <p:to>
                                        <p:strVal val="visible"/>
                                      </p:to>
                                    </p:set>
                                    <p:animEffect transition="in" filter="fade">
                                      <p:cBhvr>
                                        <p:cTn id="155" dur="700"/>
                                        <p:tgtEl>
                                          <p:spTgt spid="44"/>
                                        </p:tgtEl>
                                      </p:cBhvr>
                                    </p:animEffect>
                                    <p:anim calcmode="lin" valueType="num">
                                      <p:cBhvr additive="base">
                                        <p:cTn id="156" dur="700" fill="hold"/>
                                        <p:tgtEl>
                                          <p:spTgt spid="44"/>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130"/>
                                  </p:stCondLst>
                                  <p:childTnLst>
                                    <p:set>
                                      <p:cBhvr>
                                        <p:cTn id="158" dur="1" fill="hold">
                                          <p:stCondLst>
                                            <p:cond delay="0"/>
                                          </p:stCondLst>
                                        </p:cTn>
                                        <p:tgtEl>
                                          <p:spTgt spid="45"/>
                                        </p:tgtEl>
                                        <p:attrNameLst>
                                          <p:attrName>style.visibility</p:attrName>
                                        </p:attrNameLst>
                                      </p:cBhvr>
                                      <p:to>
                                        <p:strVal val="visible"/>
                                      </p:to>
                                    </p:set>
                                    <p:animEffect transition="in" filter="fade">
                                      <p:cBhvr>
                                        <p:cTn id="159" dur="700"/>
                                        <p:tgtEl>
                                          <p:spTgt spid="45"/>
                                        </p:tgtEl>
                                      </p:cBhvr>
                                    </p:animEffect>
                                    <p:anim calcmode="lin" valueType="num">
                                      <p:cBhvr additive="base">
                                        <p:cTn id="160" dur="700" fill="hold"/>
                                        <p:tgtEl>
                                          <p:spTgt spid="45"/>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130"/>
                                  </p:stCondLst>
                                  <p:childTnLst>
                                    <p:set>
                                      <p:cBhvr>
                                        <p:cTn id="162" dur="1" fill="hold">
                                          <p:stCondLst>
                                            <p:cond delay="0"/>
                                          </p:stCondLst>
                                        </p:cTn>
                                        <p:tgtEl>
                                          <p:spTgt spid="46"/>
                                        </p:tgtEl>
                                        <p:attrNameLst>
                                          <p:attrName>style.visibility</p:attrName>
                                        </p:attrNameLst>
                                      </p:cBhvr>
                                      <p:to>
                                        <p:strVal val="visible"/>
                                      </p:to>
                                    </p:set>
                                    <p:animEffect transition="in" filter="fade">
                                      <p:cBhvr>
                                        <p:cTn id="163" dur="700"/>
                                        <p:tgtEl>
                                          <p:spTgt spid="46"/>
                                        </p:tgtEl>
                                      </p:cBhvr>
                                    </p:animEffect>
                                    <p:anim calcmode="lin" valueType="num">
                                      <p:cBhvr additive="base">
                                        <p:cTn id="164" dur="700" fill="hold"/>
                                        <p:tgtEl>
                                          <p:spTgt spid="46"/>
                                        </p:tgtEl>
                                        <p:attrNameLst>
                                          <p:attrName>ppt_y</p:attrName>
                                        </p:attrNameLst>
                                      </p:cBhvr>
                                      <p:tavLst>
                                        <p:tav tm="0">
                                          <p:val>
                                            <p:strVal val="#ppt_y+0.03"/>
                                          </p:val>
                                        </p:tav>
                                        <p:tav tm="100000">
                                          <p:val>
                                            <p:strVal val="#ppt_y"/>
                                          </p:val>
                                        </p:tav>
                                      </p:tavLst>
                                    </p:anim>
                                  </p:childTnLst>
                                </p:cTn>
                              </p:par>
                              <p:par>
                                <p:cTn id="165" presetID="42" presetClass="entr" presetSubtype="0" decel="100000" fill="hold" grpId="0" nodeType="withEffect">
                                  <p:stCondLst>
                                    <p:cond delay="1130"/>
                                  </p:stCondLst>
                                  <p:childTnLst>
                                    <p:set>
                                      <p:cBhvr>
                                        <p:cTn id="166" dur="1" fill="hold">
                                          <p:stCondLst>
                                            <p:cond delay="0"/>
                                          </p:stCondLst>
                                        </p:cTn>
                                        <p:tgtEl>
                                          <p:spTgt spid="47"/>
                                        </p:tgtEl>
                                        <p:attrNameLst>
                                          <p:attrName>style.visibility</p:attrName>
                                        </p:attrNameLst>
                                      </p:cBhvr>
                                      <p:to>
                                        <p:strVal val="visible"/>
                                      </p:to>
                                    </p:set>
                                    <p:animEffect transition="in" filter="fade">
                                      <p:cBhvr>
                                        <p:cTn id="167" dur="700"/>
                                        <p:tgtEl>
                                          <p:spTgt spid="47"/>
                                        </p:tgtEl>
                                      </p:cBhvr>
                                    </p:animEffect>
                                    <p:anim calcmode="lin" valueType="num">
                                      <p:cBhvr additive="base">
                                        <p:cTn id="168" dur="700" fill="hold"/>
                                        <p:tgtEl>
                                          <p:spTgt spid="47"/>
                                        </p:tgtEl>
                                        <p:attrNameLst>
                                          <p:attrName>ppt_y</p:attrName>
                                        </p:attrNameLst>
                                      </p:cBhvr>
                                      <p:tavLst>
                                        <p:tav tm="0">
                                          <p:val>
                                            <p:strVal val="#ppt_y+0.03"/>
                                          </p:val>
                                        </p:tav>
                                        <p:tav tm="100000">
                                          <p:val>
                                            <p:strVal val="#ppt_y"/>
                                          </p:val>
                                        </p:tav>
                                      </p:tavLst>
                                    </p:anim>
                                  </p:childTnLst>
                                </p:cTn>
                              </p:par>
                              <p:par>
                                <p:cTn id="169" presetID="42" presetClass="entr" presetSubtype="0" decel="100000" fill="hold" grpId="0" nodeType="withEffect">
                                  <p:stCondLst>
                                    <p:cond delay="1130"/>
                                  </p:stCondLst>
                                  <p:childTnLst>
                                    <p:set>
                                      <p:cBhvr>
                                        <p:cTn id="170" dur="1" fill="hold">
                                          <p:stCondLst>
                                            <p:cond delay="0"/>
                                          </p:stCondLst>
                                        </p:cTn>
                                        <p:tgtEl>
                                          <p:spTgt spid="48"/>
                                        </p:tgtEl>
                                        <p:attrNameLst>
                                          <p:attrName>style.visibility</p:attrName>
                                        </p:attrNameLst>
                                      </p:cBhvr>
                                      <p:to>
                                        <p:strVal val="visible"/>
                                      </p:to>
                                    </p:set>
                                    <p:animEffect transition="in" filter="fade">
                                      <p:cBhvr>
                                        <p:cTn id="171" dur="700"/>
                                        <p:tgtEl>
                                          <p:spTgt spid="48"/>
                                        </p:tgtEl>
                                      </p:cBhvr>
                                    </p:animEffect>
                                    <p:anim calcmode="lin" valueType="num">
                                      <p:cBhvr additive="base">
                                        <p:cTn id="172" dur="700" fill="hold"/>
                                        <p:tgtEl>
                                          <p:spTgt spid="48"/>
                                        </p:tgtEl>
                                        <p:attrNameLst>
                                          <p:attrName>ppt_y</p:attrName>
                                        </p:attrNameLst>
                                      </p:cBhvr>
                                      <p:tavLst>
                                        <p:tav tm="0">
                                          <p:val>
                                            <p:strVal val="#ppt_y+0.03"/>
                                          </p:val>
                                        </p:tav>
                                        <p:tav tm="100000">
                                          <p:val>
                                            <p:strVal val="#ppt_y"/>
                                          </p:val>
                                        </p:tav>
                                      </p:tavLst>
                                    </p:anim>
                                  </p:childTnLst>
                                </p:cTn>
                              </p:par>
                              <p:par>
                                <p:cTn id="173" presetID="42" presetClass="entr" presetSubtype="0" decel="100000" fill="hold" grpId="0" nodeType="withEffect">
                                  <p:stCondLst>
                                    <p:cond delay="1130"/>
                                  </p:stCondLst>
                                  <p:childTnLst>
                                    <p:set>
                                      <p:cBhvr>
                                        <p:cTn id="174" dur="1" fill="hold">
                                          <p:stCondLst>
                                            <p:cond delay="0"/>
                                          </p:stCondLst>
                                        </p:cTn>
                                        <p:tgtEl>
                                          <p:spTgt spid="49"/>
                                        </p:tgtEl>
                                        <p:attrNameLst>
                                          <p:attrName>style.visibility</p:attrName>
                                        </p:attrNameLst>
                                      </p:cBhvr>
                                      <p:to>
                                        <p:strVal val="visible"/>
                                      </p:to>
                                    </p:set>
                                    <p:animEffect transition="in" filter="fade">
                                      <p:cBhvr>
                                        <p:cTn id="175" dur="700"/>
                                        <p:tgtEl>
                                          <p:spTgt spid="49"/>
                                        </p:tgtEl>
                                      </p:cBhvr>
                                    </p:animEffect>
                                    <p:anim calcmode="lin" valueType="num">
                                      <p:cBhvr additive="base">
                                        <p:cTn id="176" dur="700" fill="hold"/>
                                        <p:tgtEl>
                                          <p:spTgt spid="49"/>
                                        </p:tgtEl>
                                        <p:attrNameLst>
                                          <p:attrName>ppt_y</p:attrName>
                                        </p:attrNameLst>
                                      </p:cBhvr>
                                      <p:tavLst>
                                        <p:tav tm="0">
                                          <p:val>
                                            <p:strVal val="#ppt_y+0.03"/>
                                          </p:val>
                                        </p:tav>
                                        <p:tav tm="100000">
                                          <p:val>
                                            <p:strVal val="#ppt_y"/>
                                          </p:val>
                                        </p:tav>
                                      </p:tavLst>
                                    </p:anim>
                                  </p:childTnLst>
                                </p:cTn>
                              </p:par>
                              <p:par>
                                <p:cTn id="177" presetID="42" presetClass="entr" presetSubtype="0" decel="100000" fill="hold" grpId="0" nodeType="withEffect">
                                  <p:stCondLst>
                                    <p:cond delay="1350"/>
                                  </p:stCondLst>
                                  <p:childTnLst>
                                    <p:set>
                                      <p:cBhvr>
                                        <p:cTn id="178" dur="1" fill="hold">
                                          <p:stCondLst>
                                            <p:cond delay="0"/>
                                          </p:stCondLst>
                                        </p:cTn>
                                        <p:tgtEl>
                                          <p:spTgt spid="50"/>
                                        </p:tgtEl>
                                        <p:attrNameLst>
                                          <p:attrName>style.visibility</p:attrName>
                                        </p:attrNameLst>
                                      </p:cBhvr>
                                      <p:to>
                                        <p:strVal val="visible"/>
                                      </p:to>
                                    </p:set>
                                    <p:animEffect transition="in" filter="fade">
                                      <p:cBhvr>
                                        <p:cTn id="179" dur="700"/>
                                        <p:tgtEl>
                                          <p:spTgt spid="50"/>
                                        </p:tgtEl>
                                      </p:cBhvr>
                                    </p:animEffect>
                                    <p:anim calcmode="lin" valueType="num">
                                      <p:cBhvr additive="base">
                                        <p:cTn id="180" dur="700" fill="hold"/>
                                        <p:tgtEl>
                                          <p:spTgt spid="50"/>
                                        </p:tgtEl>
                                        <p:attrNameLst>
                                          <p:attrName>ppt_y</p:attrName>
                                        </p:attrNameLst>
                                      </p:cBhvr>
                                      <p:tavLst>
                                        <p:tav tm="0">
                                          <p:val>
                                            <p:strVal val="#ppt_y+0.03"/>
                                          </p:val>
                                        </p:tav>
                                        <p:tav tm="100000">
                                          <p:val>
                                            <p:strVal val="#ppt_y"/>
                                          </p:val>
                                        </p:tav>
                                      </p:tavLst>
                                    </p:anim>
                                  </p:childTnLst>
                                </p:cTn>
                              </p:par>
                              <p:par>
                                <p:cTn id="181" presetID="42" presetClass="entr" presetSubtype="0" decel="100000" fill="hold" grpId="0" nodeType="withEffect">
                                  <p:stCondLst>
                                    <p:cond delay="1350"/>
                                  </p:stCondLst>
                                  <p:childTnLst>
                                    <p:set>
                                      <p:cBhvr>
                                        <p:cTn id="182" dur="1" fill="hold">
                                          <p:stCondLst>
                                            <p:cond delay="0"/>
                                          </p:stCondLst>
                                        </p:cTn>
                                        <p:tgtEl>
                                          <p:spTgt spid="51"/>
                                        </p:tgtEl>
                                        <p:attrNameLst>
                                          <p:attrName>style.visibility</p:attrName>
                                        </p:attrNameLst>
                                      </p:cBhvr>
                                      <p:to>
                                        <p:strVal val="visible"/>
                                      </p:to>
                                    </p:set>
                                    <p:animEffect transition="in" filter="fade">
                                      <p:cBhvr>
                                        <p:cTn id="183" dur="700"/>
                                        <p:tgtEl>
                                          <p:spTgt spid="51"/>
                                        </p:tgtEl>
                                      </p:cBhvr>
                                    </p:animEffect>
                                    <p:anim calcmode="lin" valueType="num">
                                      <p:cBhvr additive="base">
                                        <p:cTn id="184"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s0n"/>
          <p:cNvSpPr txBox="1"/>
          <p:nvPr/>
        </p:nvSpPr>
        <p:spPr>
          <a:xfrm>
            <a:off x="777240" y="187452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87452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258568"/>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807208"/>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2" name="a2float_s1n"/>
          <p:cNvSpPr txBox="1"/>
          <p:nvPr/>
        </p:nvSpPr>
        <p:spPr>
          <a:xfrm>
            <a:off x="777240" y="2990088"/>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990088"/>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3374136"/>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922776"/>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6" name="a3float_s2n"/>
          <p:cNvSpPr txBox="1"/>
          <p:nvPr/>
        </p:nvSpPr>
        <p:spPr>
          <a:xfrm>
            <a:off x="777240" y="4105656"/>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17" name="a3float_s2t"/>
          <p:cNvSpPr txBox="1"/>
          <p:nvPr/>
        </p:nvSpPr>
        <p:spPr>
          <a:xfrm>
            <a:off x="2743200" y="4105656"/>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18" name="a3float_s2c"/>
          <p:cNvSpPr txBox="1"/>
          <p:nvPr/>
        </p:nvSpPr>
        <p:spPr>
          <a:xfrm>
            <a:off x="2743200" y="4489704"/>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700"/>
                                        <p:tgtEl>
                                          <p:spTgt spid="16"/>
                                        </p:tgtEl>
                                      </p:cBhvr>
                                    </p:animEffect>
                                    <p:anim calcmode="lin" valueType="num">
                                      <p:cBhvr additive="base">
                                        <p:cTn id="69" dur="700" fill="hold"/>
                                        <p:tgtEl>
                                          <p:spTgt spid="16"/>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700"/>
                                        <p:tgtEl>
                                          <p:spTgt spid="17"/>
                                        </p:tgtEl>
                                      </p:cBhvr>
                                    </p:animEffect>
                                    <p:anim calcmode="lin" valueType="num">
                                      <p:cBhvr additive="base">
                                        <p:cTn id="73" dur="7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700"/>
                                        <p:tgtEl>
                                          <p:spTgt spid="18"/>
                                        </p:tgtEl>
                                      </p:cBhvr>
                                    </p:animEffect>
                                    <p:anim calcmode="lin" valueType="num">
                                      <p:cBhvr additive="base">
                                        <p:cTn id="77" dur="700" fill="hold"/>
                                        <p:tgtEl>
                                          <p:spTgt spid="18"/>
                                        </p:tgtEl>
                                        <p:attrNameLst>
                                          <p:attrName>ppt_y</p:attrName>
                                        </p:attrNameLst>
                                      </p:cBhvr>
                                      <p:tavLst>
                                        <p:tav tm="0">
                                          <p:val>
                                            <p:strVal val="#ppt_y+0.03"/>
                                          </p:val>
                                        </p:tav>
                                        <p:tav tm="100000">
                                          <p:val>
                                            <p:strVal val="#ppt_y"/>
                                          </p:val>
                                        </p:tav>
                                      </p:tavLst>
                                    </p:anim>
                                  </p:childTnLst>
                                </p:cTn>
                              </p:par>
                              <p:par>
                                <p:cTn id="78" presetID="53" presetClass="entr" presetSubtype="16" decel="100000" fill="hold" grpId="0" nodeType="withEffect">
                                  <p:stCondLst>
                                    <p:cond delay="91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700"/>
                                        <p:tgtEl>
                                          <p:spTgt spid="25"/>
                                        </p:tgtEl>
                                      </p:cBhvr>
                                    </p:animEffect>
                                    <p:anim calcmode="lin" valueType="num">
                                      <p:cBhvr additive="base">
                                        <p:cTn id="81" dur="800" fill="hold"/>
                                        <p:tgtEl>
                                          <p:spTgt spid="25"/>
                                        </p:tgtEl>
                                        <p:attrNameLst>
                                          <p:attrName>ppt_w</p:attrName>
                                        </p:attrNameLst>
                                      </p:cBhvr>
                                      <p:tavLst>
                                        <p:tav tm="0">
                                          <p:val>
                                            <p:strVal val="#ppt_w*0.85"/>
                                          </p:val>
                                        </p:tav>
                                        <p:tav tm="100000">
                                          <p:val>
                                            <p:strVal val="#ppt_w"/>
                                          </p:val>
                                        </p:tav>
                                      </p:tavLst>
                                    </p:anim>
                                    <p:anim calcmode="lin" valueType="num">
                                      <p:cBhvr additive="base">
                                        <p:cTn id="82" dur="800" fill="hold"/>
                                        <p:tgtEl>
                                          <p:spTgt spid="25"/>
                                        </p:tgtEl>
                                        <p:attrNameLst>
                                          <p:attrName>ppt_h</p:attrName>
                                        </p:attrNameLst>
                                      </p:cBhvr>
                                      <p:tavLst>
                                        <p:tav tm="0">
                                          <p:val>
                                            <p:strVal val="#ppt_h*0.85"/>
                                          </p:val>
                                        </p:tav>
                                        <p:tav tm="100000">
                                          <p:val>
                                            <p:strVal val="#ppt_h"/>
                                          </p:val>
                                        </p:tav>
                                      </p:tavLst>
                                    </p:anim>
                                  </p:childTnLst>
                                </p:cTn>
                              </p:par>
                              <p:par>
                                <p:cTn id="83" presetID="53" presetClass="entr" presetSubtype="16" decel="100000" fill="hold" grpId="0" nodeType="withEffect">
                                  <p:stCondLst>
                                    <p:cond delay="91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800" fill="hold"/>
                                        <p:tgtEl>
                                          <p:spTgt spid="26"/>
                                        </p:tgtEl>
                                        <p:attrNameLst>
                                          <p:attrName>ppt_w</p:attrName>
                                        </p:attrNameLst>
                                      </p:cBhvr>
                                      <p:tavLst>
                                        <p:tav tm="0">
                                          <p:val>
                                            <p:strVal val="#ppt_w*0.85"/>
                                          </p:val>
                                        </p:tav>
                                        <p:tav tm="100000">
                                          <p:val>
                                            <p:strVal val="#ppt_w"/>
                                          </p:val>
                                        </p:tav>
                                      </p:tavLst>
                                    </p:anim>
                                    <p:anim calcmode="lin" valueType="num">
                                      <p:cBhvr additive="base">
                                        <p:cTn id="87" dur="800" fill="hold"/>
                                        <p:tgtEl>
                                          <p:spTgt spid="26"/>
                                        </p:tgtEl>
                                        <p:attrNameLst>
                                          <p:attrName>ppt_h</p:attrName>
                                        </p:attrNameLst>
                                      </p:cBhvr>
                                      <p:tavLst>
                                        <p:tav tm="0">
                                          <p:val>
                                            <p:strVal val="#ppt_h*0.85"/>
                                          </p:val>
                                        </p:tav>
                                        <p:tav tm="100000">
                                          <p:val>
                                            <p:strVal val="#ppt_h"/>
                                          </p:val>
                                        </p:tav>
                                      </p:tavLst>
                                    </p:anim>
                                  </p:childTnLst>
                                </p:cTn>
                              </p:par>
                              <p:par>
                                <p:cTn id="88" presetID="53" presetClass="entr" presetSubtype="16" decel="100000" fill="hold" grpId="0" nodeType="withEffect">
                                  <p:stCondLst>
                                    <p:cond delay="91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700"/>
                                        <p:tgtEl>
                                          <p:spTgt spid="27"/>
                                        </p:tgtEl>
                                      </p:cBhvr>
                                    </p:animEffect>
                                    <p:anim calcmode="lin" valueType="num">
                                      <p:cBhvr additive="base">
                                        <p:cTn id="91" dur="800" fill="hold"/>
                                        <p:tgtEl>
                                          <p:spTgt spid="27"/>
                                        </p:tgtEl>
                                        <p:attrNameLst>
                                          <p:attrName>ppt_w</p:attrName>
                                        </p:attrNameLst>
                                      </p:cBhvr>
                                      <p:tavLst>
                                        <p:tav tm="0">
                                          <p:val>
                                            <p:strVal val="#ppt_w*0.85"/>
                                          </p:val>
                                        </p:tav>
                                        <p:tav tm="100000">
                                          <p:val>
                                            <p:strVal val="#ppt_w"/>
                                          </p:val>
                                        </p:tav>
                                      </p:tavLst>
                                    </p:anim>
                                    <p:anim calcmode="lin" valueType="num">
                                      <p:cBhvr additive="base">
                                        <p:cTn id="92" dur="800" fill="hold"/>
                                        <p:tgtEl>
                                          <p:spTgt spid="27"/>
                                        </p:tgtEl>
                                        <p:attrNameLst>
                                          <p:attrName>ppt_h</p:attrName>
                                        </p:attrNameLst>
                                      </p:cBhvr>
                                      <p:tavLst>
                                        <p:tav tm="0">
                                          <p:val>
                                            <p:strVal val="#ppt_h*0.85"/>
                                          </p:val>
                                        </p:tav>
                                        <p:tav tm="100000">
                                          <p:val>
                                            <p:strVal val="#ppt_h"/>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700"/>
                                        <p:tgtEl>
                                          <p:spTgt spid="19"/>
                                        </p:tgtEl>
                                      </p:cBhvr>
                                    </p:animEffect>
                                    <p:anim calcmode="lin" valueType="num">
                                      <p:cBhvr additive="base">
                                        <p:cTn id="96" dur="700" fill="hold"/>
                                        <p:tgtEl>
                                          <p:spTgt spid="19"/>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0"/>
                                        </p:tgtEl>
                                        <p:attrNameLst>
                                          <p:attrName>style.visibility</p:attrName>
                                        </p:attrNameLst>
                                      </p:cBhvr>
                                      <p:to>
                                        <p:strVal val="visible"/>
                                      </p:to>
                                    </p:set>
                                    <p:animEffect transition="in" filter="fade">
                                      <p:cBhvr>
                                        <p:cTn id="99" dur="700"/>
                                        <p:tgtEl>
                                          <p:spTgt spid="20"/>
                                        </p:tgtEl>
                                      </p:cBhvr>
                                    </p:animEffect>
                                    <p:anim calcmode="lin" valueType="num">
                                      <p:cBhvr additive="base">
                                        <p:cTn id="100" dur="700" fill="hold"/>
                                        <p:tgtEl>
                                          <p:spTgt spid="20"/>
                                        </p:tgtEl>
                                        <p:attrNameLst>
                                          <p:attrName>ppt_y</p:attrName>
                                        </p:attrNameLst>
                                      </p:cBhvr>
                                      <p:tavLst>
                                        <p:tav tm="0">
                                          <p:val>
                                            <p:strVal val="#ppt_y+0.03"/>
                                          </p:val>
                                        </p:tav>
                                        <p:tav tm="100000">
                                          <p:val>
                                            <p:strVal val="#ppt_y"/>
                                          </p:val>
                                        </p:tav>
                                      </p:tavLst>
                                    </p:anim>
                                  </p:childTnLst>
                                </p:cTn>
                              </p:par>
                              <p:par>
                                <p:cTn id="101" presetID="53" presetClass="entr" presetSubtype="16" decel="100000" fill="hold" grpId="0" nodeType="withEffect">
                                  <p:stCondLst>
                                    <p:cond delay="1130"/>
                                  </p:stCondLst>
                                  <p:childTnLst>
                                    <p:set>
                                      <p:cBhvr>
                                        <p:cTn id="102" dur="1" fill="hold">
                                          <p:stCondLst>
                                            <p:cond delay="0"/>
                                          </p:stCondLst>
                                        </p:cTn>
                                        <p:tgtEl>
                                          <p:spTgt spid="28"/>
                                        </p:tgtEl>
                                        <p:attrNameLst>
                                          <p:attrName>style.visibility</p:attrName>
                                        </p:attrNameLst>
                                      </p:cBhvr>
                                      <p:to>
                                        <p:strVal val="visible"/>
                                      </p:to>
                                    </p:set>
                                    <p:animEffect transition="in" filter="fade">
                                      <p:cBhvr>
                                        <p:cTn id="103" dur="700"/>
                                        <p:tgtEl>
                                          <p:spTgt spid="28"/>
                                        </p:tgtEl>
                                      </p:cBhvr>
                                    </p:animEffect>
                                    <p:anim calcmode="lin" valueType="num">
                                      <p:cBhvr additive="base">
                                        <p:cTn id="104" dur="800" fill="hold"/>
                                        <p:tgtEl>
                                          <p:spTgt spid="28"/>
                                        </p:tgtEl>
                                        <p:attrNameLst>
                                          <p:attrName>ppt_w</p:attrName>
                                        </p:attrNameLst>
                                      </p:cBhvr>
                                      <p:tavLst>
                                        <p:tav tm="0">
                                          <p:val>
                                            <p:strVal val="#ppt_w*0.85"/>
                                          </p:val>
                                        </p:tav>
                                        <p:tav tm="100000">
                                          <p:val>
                                            <p:strVal val="#ppt_w"/>
                                          </p:val>
                                        </p:tav>
                                      </p:tavLst>
                                    </p:anim>
                                    <p:anim calcmode="lin" valueType="num">
                                      <p:cBhvr additive="base">
                                        <p:cTn id="105" dur="800" fill="hold"/>
                                        <p:tgtEl>
                                          <p:spTgt spid="28"/>
                                        </p:tgtEl>
                                        <p:attrNameLst>
                                          <p:attrName>ppt_h</p:attrName>
                                        </p:attrNameLst>
                                      </p:cBhvr>
                                      <p:tavLst>
                                        <p:tav tm="0">
                                          <p:val>
                                            <p:strVal val="#ppt_h*0.85"/>
                                          </p:val>
                                        </p:tav>
                                        <p:tav tm="100000">
                                          <p:val>
                                            <p:strVal val="#ppt_h"/>
                                          </p:val>
                                        </p:tav>
                                      </p:tavLst>
                                    </p:anim>
                                  </p:childTnLst>
                                </p:cTn>
                              </p:par>
                              <p:par>
                                <p:cTn id="106" presetID="53" presetClass="entr" presetSubtype="16" decel="100000" fill="hold" grpId="0" nodeType="withEffect">
                                  <p:stCondLst>
                                    <p:cond delay="1130"/>
                                  </p:stCondLst>
                                  <p:childTnLst>
                                    <p:set>
                                      <p:cBhvr>
                                        <p:cTn id="107" dur="1" fill="hold">
                                          <p:stCondLst>
                                            <p:cond delay="0"/>
                                          </p:stCondLst>
                                        </p:cTn>
                                        <p:tgtEl>
                                          <p:spTgt spid="29"/>
                                        </p:tgtEl>
                                        <p:attrNameLst>
                                          <p:attrName>style.visibility</p:attrName>
                                        </p:attrNameLst>
                                      </p:cBhvr>
                                      <p:to>
                                        <p:strVal val="visible"/>
                                      </p:to>
                                    </p:set>
                                    <p:animEffect transition="in" filter="fade">
                                      <p:cBhvr>
                                        <p:cTn id="108" dur="700"/>
                                        <p:tgtEl>
                                          <p:spTgt spid="29"/>
                                        </p:tgtEl>
                                      </p:cBhvr>
                                    </p:animEffect>
                                    <p:anim calcmode="lin" valueType="num">
                                      <p:cBhvr additive="base">
                                        <p:cTn id="109" dur="800" fill="hold"/>
                                        <p:tgtEl>
                                          <p:spTgt spid="29"/>
                                        </p:tgtEl>
                                        <p:attrNameLst>
                                          <p:attrName>ppt_w</p:attrName>
                                        </p:attrNameLst>
                                      </p:cBhvr>
                                      <p:tavLst>
                                        <p:tav tm="0">
                                          <p:val>
                                            <p:strVal val="#ppt_w*0.85"/>
                                          </p:val>
                                        </p:tav>
                                        <p:tav tm="100000">
                                          <p:val>
                                            <p:strVal val="#ppt_w"/>
                                          </p:val>
                                        </p:tav>
                                      </p:tavLst>
                                    </p:anim>
                                    <p:anim calcmode="lin" valueType="num">
                                      <p:cBhvr additive="base">
                                        <p:cTn id="110" dur="800" fill="hold"/>
                                        <p:tgtEl>
                                          <p:spTgt spid="29"/>
                                        </p:tgtEl>
                                        <p:attrNameLst>
                                          <p:attrName>ppt_h</p:attrName>
                                        </p:attrNameLst>
                                      </p:cBhvr>
                                      <p:tavLst>
                                        <p:tav tm="0">
                                          <p:val>
                                            <p:strVal val="#ppt_h*0.85"/>
                                          </p:val>
                                        </p:tav>
                                        <p:tav tm="100000">
                                          <p:val>
                                            <p:strVal val="#ppt_h"/>
                                          </p:val>
                                        </p:tav>
                                      </p:tavLst>
                                    </p:anim>
                                  </p:childTnLst>
                                </p:cTn>
                              </p:par>
                              <p:par>
                                <p:cTn id="111" presetID="53" presetClass="entr" presetSubtype="16" decel="100000" fill="hold" grpId="0" nodeType="withEffect">
                                  <p:stCondLst>
                                    <p:cond delay="113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800" fill="hold"/>
                                        <p:tgtEl>
                                          <p:spTgt spid="30"/>
                                        </p:tgtEl>
                                        <p:attrNameLst>
                                          <p:attrName>ppt_w</p:attrName>
                                        </p:attrNameLst>
                                      </p:cBhvr>
                                      <p:tavLst>
                                        <p:tav tm="0">
                                          <p:val>
                                            <p:strVal val="#ppt_w*0.85"/>
                                          </p:val>
                                        </p:tav>
                                        <p:tav tm="100000">
                                          <p:val>
                                            <p:strVal val="#ppt_w"/>
                                          </p:val>
                                        </p:tav>
                                      </p:tavLst>
                                    </p:anim>
                                    <p:anim calcmode="lin" valueType="num">
                                      <p:cBhvr additive="base">
                                        <p:cTn id="115" dur="800" fill="hold"/>
                                        <p:tgtEl>
                                          <p:spTgt spid="30"/>
                                        </p:tgtEl>
                                        <p:attrNameLst>
                                          <p:attrName>ppt_h</p:attrName>
                                        </p:attrNameLst>
                                      </p:cBhvr>
                                      <p:tavLst>
                                        <p:tav tm="0">
                                          <p:val>
                                            <p:strVal val="#ppt_h*0.85"/>
                                          </p:val>
                                        </p:tav>
                                        <p:tav tm="100000">
                                          <p:val>
                                            <p:strVal val="#ppt_h"/>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700"/>
                                        <p:tgtEl>
                                          <p:spTgt spid="31"/>
                                        </p:tgtEl>
                                      </p:cBhvr>
                                    </p:animEffect>
                                    <p:anim calcmode="lin" valueType="num">
                                      <p:cBhvr additive="base">
                                        <p:cTn id="119" dur="800" fill="hold"/>
                                        <p:tgtEl>
                                          <p:spTgt spid="31"/>
                                        </p:tgtEl>
                                        <p:attrNameLst>
                                          <p:attrName>ppt_w</p:attrName>
                                        </p:attrNameLst>
                                      </p:cBhvr>
                                      <p:tavLst>
                                        <p:tav tm="0">
                                          <p:val>
                                            <p:strVal val="#ppt_w*0.85"/>
                                          </p:val>
                                        </p:tav>
                                        <p:tav tm="100000">
                                          <p:val>
                                            <p:strVal val="#ppt_w"/>
                                          </p:val>
                                        </p:tav>
                                      </p:tavLst>
                                    </p:anim>
                                    <p:anim calcmode="lin" valueType="num">
                                      <p:cBhvr additive="base">
                                        <p:cTn id="120" dur="800" fill="hold"/>
                                        <p:tgtEl>
                                          <p:spTgt spid="31"/>
                                        </p:tgtEl>
                                        <p:attrNameLst>
                                          <p:attrName>ppt_h</p:attrName>
                                        </p:attrNameLst>
                                      </p:cBhvr>
                                      <p:tavLst>
                                        <p:tav tm="0">
                                          <p:val>
                                            <p:strVal val="#ppt_h*0.85"/>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2"/>
                                        </p:tgtEl>
                                        <p:attrNameLst>
                                          <p:attrName>style.visibility</p:attrName>
                                        </p:attrNameLst>
                                      </p:cBhvr>
                                      <p:to>
                                        <p:strVal val="visible"/>
                                      </p:to>
                                    </p:set>
                                    <p:animEffect transition="in" filter="fade">
                                      <p:cBhvr>
                                        <p:cTn id="123" dur="700"/>
                                        <p:tgtEl>
                                          <p:spTgt spid="32"/>
                                        </p:tgtEl>
                                      </p:cBhvr>
                                    </p:animEffect>
                                    <p:anim calcmode="lin" valueType="num">
                                      <p:cBhvr additive="base">
                                        <p:cTn id="124" dur="800" fill="hold"/>
                                        <p:tgtEl>
                                          <p:spTgt spid="32"/>
                                        </p:tgtEl>
                                        <p:attrNameLst>
                                          <p:attrName>ppt_w</p:attrName>
                                        </p:attrNameLst>
                                      </p:cBhvr>
                                      <p:tavLst>
                                        <p:tav tm="0">
                                          <p:val>
                                            <p:strVal val="#ppt_w*0.85"/>
                                          </p:val>
                                        </p:tav>
                                        <p:tav tm="100000">
                                          <p:val>
                                            <p:strVal val="#ppt_w"/>
                                          </p:val>
                                        </p:tav>
                                      </p:tavLst>
                                    </p:anim>
                                    <p:anim calcmode="lin" valueType="num">
                                      <p:cBhvr additive="base">
                                        <p:cTn id="125" dur="800" fill="hold"/>
                                        <p:tgtEl>
                                          <p:spTgt spid="32"/>
                                        </p:tgtEl>
                                        <p:attrNameLst>
                                          <p:attrName>ppt_h</p:attrName>
                                        </p:attrNameLst>
                                      </p:cBhvr>
                                      <p:tavLst>
                                        <p:tav tm="0">
                                          <p:val>
                                            <p:strVal val="#ppt_h*0.85"/>
                                          </p:val>
                                        </p:tav>
                                        <p:tav tm="100000">
                                          <p:val>
                                            <p:strVal val="#ppt_h"/>
                                          </p:val>
                                        </p:tav>
                                      </p:tavLst>
                                    </p:anim>
                                  </p:childTnLst>
                                </p:cTn>
                              </p:par>
                              <p:par>
                                <p:cTn id="126" presetID="53" presetClass="entr" presetSubtype="16" decel="100000" fill="hold" grpId="0" nodeType="withEffect">
                                  <p:stCondLst>
                                    <p:cond delay="1350"/>
                                  </p:stCondLst>
                                  <p:childTnLst>
                                    <p:set>
                                      <p:cBhvr>
                                        <p:cTn id="127" dur="1" fill="hold">
                                          <p:stCondLst>
                                            <p:cond delay="0"/>
                                          </p:stCondLst>
                                        </p:cTn>
                                        <p:tgtEl>
                                          <p:spTgt spid="33"/>
                                        </p:tgtEl>
                                        <p:attrNameLst>
                                          <p:attrName>style.visibility</p:attrName>
                                        </p:attrNameLst>
                                      </p:cBhvr>
                                      <p:to>
                                        <p:strVal val="visible"/>
                                      </p:to>
                                    </p:set>
                                    <p:animEffect transition="in" filter="fade">
                                      <p:cBhvr>
                                        <p:cTn id="128" dur="700"/>
                                        <p:tgtEl>
                                          <p:spTgt spid="33"/>
                                        </p:tgtEl>
                                      </p:cBhvr>
                                    </p:animEffect>
                                    <p:anim calcmode="lin" valueType="num">
                                      <p:cBhvr additive="base">
                                        <p:cTn id="129" dur="800" fill="hold"/>
                                        <p:tgtEl>
                                          <p:spTgt spid="33"/>
                                        </p:tgtEl>
                                        <p:attrNameLst>
                                          <p:attrName>ppt_w</p:attrName>
                                        </p:attrNameLst>
                                      </p:cBhvr>
                                      <p:tavLst>
                                        <p:tav tm="0">
                                          <p:val>
                                            <p:strVal val="#ppt_w*0.85"/>
                                          </p:val>
                                        </p:tav>
                                        <p:tav tm="100000">
                                          <p:val>
                                            <p:strVal val="#ppt_w"/>
                                          </p:val>
                                        </p:tav>
                                      </p:tavLst>
                                    </p:anim>
                                    <p:anim calcmode="lin" valueType="num">
                                      <p:cBhvr additive="base">
                                        <p:cTn id="130" dur="800" fill="hold"/>
                                        <p:tgtEl>
                                          <p:spTgt spid="33"/>
                                        </p:tgtEl>
                                        <p:attrNameLst>
                                          <p:attrName>ppt_h</p:attrName>
                                        </p:attrNameLst>
                                      </p:cBhvr>
                                      <p:tavLst>
                                        <p:tav tm="0">
                                          <p:val>
                                            <p:strVal val="#ppt_h*0.85"/>
                                          </p:val>
                                        </p:tav>
                                        <p:tav tm="100000">
                                          <p:val>
                                            <p:strVal val="#ppt_h"/>
                                          </p:val>
                                        </p:tav>
                                      </p:tavLst>
                                    </p:anim>
                                  </p:childTnLst>
                                </p:cTn>
                              </p:par>
                              <p:par>
                                <p:cTn id="131" presetID="10" presetClass="entr" presetSubtype="0" decel="100000" fill="hold" grpId="0" nodeType="withEffect">
                                  <p:stCondLst>
                                    <p:cond delay="157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600"/>
                                        <p:tgtEl>
                                          <p:spTgt spid="35"/>
                                        </p:tgtEl>
                                      </p:cBhvr>
                                    </p:animEffect>
                                  </p:childTnLst>
                                </p:cTn>
                              </p:par>
                              <p:par>
                                <p:cTn id="134" presetID="6" presetClass="emph" presetSubtype="0" repeatCount="indefinite" fill="hold" grpId="0" nodeType="withEffect">
                                  <p:stCondLst>
                                    <p:cond delay="1790"/>
                                  </p:stCondLst>
                                  <p:childTnLst>
                                    <p:animScale>
                                      <p:cBhvr>
                                        <p:cTn id="135" dur="1600" fill="hold"/>
                                        <p:tgtEl>
                                          <p:spTgt spid="34"/>
                                        </p:tgtEl>
                                      </p:cBhvr>
                                      <p:by x="160000" y="160000"/>
                                    </p:animScale>
                                    <p:anim calcmode="lin" valueType="num">
                                      <p:cBhvr>
                                        <p:cTn id="136"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sp>
      <p:sp>
        <p:nvSpPr>
          <p:cNvPr id="8" name="a1zoom_dot0"/>
          <p:cNvSpPr/>
          <p:nvPr/>
        </p:nvSpPr>
        <p:spPr>
          <a:xfrm>
            <a:off x="694944" y="1792224"/>
            <a:ext cx="109728" cy="109728"/>
          </a:xfrm>
          <a:prstGeom prst="ellipse">
            <a:avLst/>
          </a:prstGeom>
          <a:solidFill>
            <a:srgbClr val="FF5F57"/>
          </a:solidFill>
          <a:ln/>
        </p:spPr>
      </p:sp>
      <p:sp>
        <p:nvSpPr>
          <p:cNvPr id="9" name="a1zoom_dot1"/>
          <p:cNvSpPr/>
          <p:nvPr/>
        </p:nvSpPr>
        <p:spPr>
          <a:xfrm>
            <a:off x="877824" y="1792224"/>
            <a:ext cx="109728" cy="109728"/>
          </a:xfrm>
          <a:prstGeom prst="ellipse">
            <a:avLst/>
          </a:prstGeom>
          <a:solidFill>
            <a:srgbClr val="FEBC2E"/>
          </a:solidFill>
          <a:ln/>
        </p:spPr>
      </p:sp>
      <p:sp>
        <p:nvSpPr>
          <p:cNvPr id="10" name="a1zoom_dot2"/>
          <p:cNvSpPr/>
          <p:nvPr/>
        </p:nvSpPr>
        <p:spPr>
          <a:xfrm>
            <a:off x="1060704" y="1792224"/>
            <a:ext cx="109728" cy="109728"/>
          </a:xfrm>
          <a:prstGeom prst="ellipse">
            <a:avLst/>
          </a:prstGeom>
          <a:solidFill>
            <a:srgbClr val="28C840"/>
          </a:solidFill>
          <a:ln/>
        </p:spPr>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pic>
        <p:nvPicPr>
          <p:cNvPr id="6" name="video_product">
            <a:hlinkClick r:id="" action="ppaction://media"/>
            <a:extLst>
              <a:ext uri="{FF2B5EF4-FFF2-40B4-BE49-F238E27FC236}">
                <a16:creationId xmlns:a16="http://schemas.microsoft.com/office/drawing/2014/main" id="{E2B82C85-12FE-7F26-F458-CD9162B0934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85216" y="2002537"/>
            <a:ext cx="6830568" cy="4269105"/>
          </a:xfrm>
          <a:prstGeom prst="rect">
            <a:avLst/>
          </a:prstGeom>
        </p:spPr>
      </p:pic>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sp>
      <p:pic>
        <p:nvPicPr>
          <p:cNvPr id="14" name="a2float_f0_i" descr="preencoded.png"/>
          <p:cNvPicPr>
            <a:picLocks noChangeAspect="1"/>
          </p:cNvPicPr>
          <p:nvPr/>
        </p:nvPicPr>
        <p:blipFill>
          <a:blip r:embed="rId8"/>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sp>
      <p:pic>
        <p:nvPicPr>
          <p:cNvPr id="18" name="a3float_f1_i" descr="preencoded.png"/>
          <p:cNvPicPr>
            <a:picLocks noChangeAspect="1"/>
          </p:cNvPicPr>
          <p:nvPr/>
        </p:nvPicPr>
        <p:blipFill>
          <a:blip r:embed="rId9"/>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sp>
      <p:pic>
        <p:nvPicPr>
          <p:cNvPr id="22" name="a4float_f2_i" descr="preencoded.png"/>
          <p:cNvPicPr>
            <a:picLocks noChangeAspect="1"/>
          </p:cNvPicPr>
          <p:nvPr/>
        </p:nvPicPr>
        <p:blipFill>
          <a:blip r:embed="rId10"/>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sp>
      <p:pic>
        <p:nvPicPr>
          <p:cNvPr id="26" name="a5float_f3_i" descr="preencoded.png"/>
          <p:cNvPicPr>
            <a:picLocks noChangeAspect="1"/>
          </p:cNvPicPr>
          <p:nvPr/>
        </p:nvPicPr>
        <p:blipFill>
          <a:blip r:embed="rId11"/>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sp>
      <p:pic>
        <p:nvPicPr>
          <p:cNvPr id="30" name="a6float_f4_i" descr="preencoded.png"/>
          <p:cNvPicPr>
            <a:picLocks noChangeAspect="1"/>
          </p:cNvPicPr>
          <p:nvPr/>
        </p:nvPicPr>
        <p:blipFill>
          <a:blip r:embed="rId12"/>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LIVE DEMO  ·  open stand 9 on the website</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repeatCount="indefinite"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69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91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113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par>
                                <p:cTn id="135" presetID="53" presetClass="entr" presetSubtype="16" decel="100000" fill="hold" grpId="0" nodeType="withEffect">
                                  <p:stCondLst>
                                    <p:cond delay="1350"/>
                                  </p:stCondLst>
                                  <p:childTnLst>
                                    <p:set>
                                      <p:cBhvr>
                                        <p:cTn id="136" dur="1" fill="hold">
                                          <p:stCondLst>
                                            <p:cond delay="0"/>
                                          </p:stCondLst>
                                        </p:cTn>
                                        <p:tgtEl>
                                          <p:spTgt spid="38"/>
                                        </p:tgtEl>
                                        <p:attrNameLst>
                                          <p:attrName>style.visibility</p:attrName>
                                        </p:attrNameLst>
                                      </p:cBhvr>
                                      <p:to>
                                        <p:strVal val="visible"/>
                                      </p:to>
                                    </p:set>
                                    <p:animEffect transition="in" filter="fade">
                                      <p:cBhvr>
                                        <p:cTn id="137" dur="450"/>
                                        <p:tgtEl>
                                          <p:spTgt spid="38"/>
                                        </p:tgtEl>
                                      </p:cBhvr>
                                    </p:animEffect>
                                    <p:anim calcmode="lin" valueType="num">
                                      <p:cBhvr additive="base">
                                        <p:cTn id="138" dur="450" fill="hold"/>
                                        <p:tgtEl>
                                          <p:spTgt spid="38"/>
                                        </p:tgtEl>
                                        <p:attrNameLst>
                                          <p:attrName>ppt_w</p:attrName>
                                        </p:attrNameLst>
                                      </p:cBhvr>
                                      <p:tavLst>
                                        <p:tav tm="0">
                                          <p:val>
                                            <p:strVal val="#ppt_w*0.2"/>
                                          </p:val>
                                        </p:tav>
                                        <p:tav tm="100000">
                                          <p:val>
                                            <p:strVal val="#ppt_w"/>
                                          </p:val>
                                        </p:tav>
                                      </p:tavLst>
                                    </p:anim>
                                    <p:anim calcmode="lin" valueType="num">
                                      <p:cBhvr additive="base">
                                        <p:cTn id="139" dur="450" fill="hold"/>
                                        <p:tgtEl>
                                          <p:spTgt spid="38"/>
                                        </p:tgtEl>
                                        <p:attrNameLst>
                                          <p:attrName>ppt_h</p:attrName>
                                        </p:attrNameLst>
                                      </p:cBhvr>
                                      <p:tavLst>
                                        <p:tav tm="0">
                                          <p:val>
                                            <p:strVal val="#ppt_h*0.2"/>
                                          </p:val>
                                        </p:tav>
                                        <p:tav tm="100000">
                                          <p:val>
                                            <p:strVal val="#ppt_h"/>
                                          </p:val>
                                        </p:tav>
                                      </p:tavLst>
                                    </p:anim>
                                  </p:childTnLst>
                                </p:cTn>
                              </p:par>
                              <p:par>
                                <p:cTn id="140" presetID="53" presetClass="entr" presetSubtype="16" decel="100000" fill="hold" grpId="0" nodeType="withEffect">
                                  <p:stCondLst>
                                    <p:cond delay="1350"/>
                                  </p:stCondLst>
                                  <p:childTnLst>
                                    <p:set>
                                      <p:cBhvr>
                                        <p:cTn id="141" dur="1" fill="hold">
                                          <p:stCondLst>
                                            <p:cond delay="0"/>
                                          </p:stCondLst>
                                        </p:cTn>
                                        <p:tgtEl>
                                          <p:spTgt spid="39"/>
                                        </p:tgtEl>
                                        <p:attrNameLst>
                                          <p:attrName>style.visibility</p:attrName>
                                        </p:attrNameLst>
                                      </p:cBhvr>
                                      <p:to>
                                        <p:strVal val="visible"/>
                                      </p:to>
                                    </p:set>
                                    <p:animEffect transition="in" filter="fade">
                                      <p:cBhvr>
                                        <p:cTn id="142" dur="450"/>
                                        <p:tgtEl>
                                          <p:spTgt spid="39"/>
                                        </p:tgtEl>
                                      </p:cBhvr>
                                    </p:animEffect>
                                    <p:anim calcmode="lin" valueType="num">
                                      <p:cBhvr additive="base">
                                        <p:cTn id="143" dur="450" fill="hold"/>
                                        <p:tgtEl>
                                          <p:spTgt spid="39"/>
                                        </p:tgtEl>
                                        <p:attrNameLst>
                                          <p:attrName>ppt_w</p:attrName>
                                        </p:attrNameLst>
                                      </p:cBhvr>
                                      <p:tavLst>
                                        <p:tav tm="0">
                                          <p:val>
                                            <p:strVal val="#ppt_w*0.2"/>
                                          </p:val>
                                        </p:tav>
                                        <p:tav tm="100000">
                                          <p:val>
                                            <p:strVal val="#ppt_w"/>
                                          </p:val>
                                        </p:tav>
                                      </p:tavLst>
                                    </p:anim>
                                    <p:anim calcmode="lin" valueType="num">
                                      <p:cBhvr additive="base">
                                        <p:cTn id="144" dur="450" fill="hold"/>
                                        <p:tgtEl>
                                          <p:spTgt spid="39"/>
                                        </p:tgtEl>
                                        <p:attrNameLst>
                                          <p:attrName>ppt_h</p:attrName>
                                        </p:attrNameLst>
                                      </p:cBhvr>
                                      <p:tavLst>
                                        <p:tav tm="0">
                                          <p:val>
                                            <p:strVal val="#ppt_h*0.2"/>
                                          </p:val>
                                        </p:tav>
                                        <p:tav tm="100000">
                                          <p:val>
                                            <p:strVal val="#ppt_h"/>
                                          </p:val>
                                        </p:tav>
                                      </p:tavLst>
                                    </p:anim>
                                  </p:childTnLst>
                                </p:cTn>
                              </p:par>
                              <p:par>
                                <p:cTn id="145" presetID="53" presetClass="entr" presetSubtype="16" decel="100000" fill="hold" grpId="0" nodeType="withEffect">
                                  <p:stCondLst>
                                    <p:cond delay="135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50"/>
                                        <p:tgtEl>
                                          <p:spTgt spid="40"/>
                                        </p:tgtEl>
                                      </p:cBhvr>
                                    </p:animEffect>
                                    <p:anim calcmode="lin" valueType="num">
                                      <p:cBhvr additive="base">
                                        <p:cTn id="148" dur="450" fill="hold"/>
                                        <p:tgtEl>
                                          <p:spTgt spid="40"/>
                                        </p:tgtEl>
                                        <p:attrNameLst>
                                          <p:attrName>ppt_w</p:attrName>
                                        </p:attrNameLst>
                                      </p:cBhvr>
                                      <p:tavLst>
                                        <p:tav tm="0">
                                          <p:val>
                                            <p:strVal val="#ppt_w*0.2"/>
                                          </p:val>
                                        </p:tav>
                                        <p:tav tm="100000">
                                          <p:val>
                                            <p:strVal val="#ppt_w"/>
                                          </p:val>
                                        </p:tav>
                                      </p:tavLst>
                                    </p:anim>
                                    <p:anim calcmode="lin" valueType="num">
                                      <p:cBhvr additive="base">
                                        <p:cTn id="149" dur="450" fill="hold"/>
                                        <p:tgtEl>
                                          <p:spTgt spid="40"/>
                                        </p:tgtEl>
                                        <p:attrNameLst>
                                          <p:attrName>ppt_h</p:attrName>
                                        </p:attrNameLst>
                                      </p:cBhvr>
                                      <p:tavLst>
                                        <p:tav tm="0">
                                          <p:val>
                                            <p:strVal val="#ppt_h*0.2"/>
                                          </p:val>
                                        </p:tav>
                                        <p:tav tm="100000">
                                          <p:val>
                                            <p:strVal val="#ppt_h"/>
                                          </p:val>
                                        </p:tav>
                                      </p:tavLst>
                                    </p:anim>
                                  </p:childTnLst>
                                </p:cTn>
                              </p:par>
                              <p:par>
                                <p:cTn id="150" presetID="53" presetClass="entr" presetSubtype="16" decel="100000" fill="hold" grpId="0" nodeType="withEffect">
                                  <p:stCondLst>
                                    <p:cond delay="135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450"/>
                                        <p:tgtEl>
                                          <p:spTgt spid="41"/>
                                        </p:tgtEl>
                                      </p:cBhvr>
                                    </p:animEffect>
                                    <p:anim calcmode="lin" valueType="num">
                                      <p:cBhvr additive="base">
                                        <p:cTn id="153" dur="450" fill="hold"/>
                                        <p:tgtEl>
                                          <p:spTgt spid="41"/>
                                        </p:tgtEl>
                                        <p:attrNameLst>
                                          <p:attrName>ppt_w</p:attrName>
                                        </p:attrNameLst>
                                      </p:cBhvr>
                                      <p:tavLst>
                                        <p:tav tm="0">
                                          <p:val>
                                            <p:strVal val="#ppt_w*0.2"/>
                                          </p:val>
                                        </p:tav>
                                        <p:tav tm="100000">
                                          <p:val>
                                            <p:strVal val="#ppt_w"/>
                                          </p:val>
                                        </p:tav>
                                      </p:tavLst>
                                    </p:anim>
                                    <p:anim calcmode="lin" valueType="num">
                                      <p:cBhvr additive="base">
                                        <p:cTn id="154" dur="450" fill="hold"/>
                                        <p:tgtEl>
                                          <p:spTgt spid="41"/>
                                        </p:tgtEl>
                                        <p:attrNameLst>
                                          <p:attrName>ppt_h</p:attrName>
                                        </p:attrNameLst>
                                      </p:cBhvr>
                                      <p:tavLst>
                                        <p:tav tm="0">
                                          <p:val>
                                            <p:strVal val="#ppt_h*0.2"/>
                                          </p:val>
                                        </p:tav>
                                        <p:tav tm="100000">
                                          <p:val>
                                            <p:strVal val="#ppt_h"/>
                                          </p:val>
                                        </p:tav>
                                      </p:tavLst>
                                    </p:anim>
                                  </p:childTnLst>
                                </p:cTn>
                              </p:par>
                              <p:par>
                                <p:cTn id="155" presetID="10" presetClass="entr" presetSubtype="0" decel="100000" fill="hold" grpId="0" nodeType="withEffect">
                                  <p:stCondLst>
                                    <p:cond delay="1350"/>
                                  </p:stCondLst>
                                  <p:childTnLst>
                                    <p:set>
                                      <p:cBhvr>
                                        <p:cTn id="156" dur="1" fill="hold">
                                          <p:stCondLst>
                                            <p:cond delay="0"/>
                                          </p:stCondLst>
                                        </p:cTn>
                                        <p:tgtEl>
                                          <p:spTgt spid="42"/>
                                        </p:tgtEl>
                                        <p:attrNameLst>
                                          <p:attrName>style.visibility</p:attrName>
                                        </p:attrNameLst>
                                      </p:cBhvr>
                                      <p:to>
                                        <p:strVal val="visible"/>
                                      </p:to>
                                    </p:set>
                                    <p:animEffect transition="in" filter="fade">
                                      <p:cBhvr>
                                        <p:cTn id="157" dur="600"/>
                                        <p:tgtEl>
                                          <p:spTgt spid="42"/>
                                        </p:tgtEl>
                                      </p:cBhvr>
                                    </p:animEffect>
                                  </p:childTnLst>
                                </p:cTn>
                              </p:par>
                              <p:par>
                                <p:cTn id="158" presetID="53" presetClass="entr" presetSubtype="16" decel="100000" fill="hold" grpId="0" nodeType="withEffect">
                                  <p:stCondLst>
                                    <p:cond delay="1570"/>
                                  </p:stCondLst>
                                  <p:childTnLst>
                                    <p:set>
                                      <p:cBhvr>
                                        <p:cTn id="159" dur="1" fill="hold">
                                          <p:stCondLst>
                                            <p:cond delay="0"/>
                                          </p:stCondLst>
                                        </p:cTn>
                                        <p:tgtEl>
                                          <p:spTgt spid="43"/>
                                        </p:tgtEl>
                                        <p:attrNameLst>
                                          <p:attrName>style.visibility</p:attrName>
                                        </p:attrNameLst>
                                      </p:cBhvr>
                                      <p:to>
                                        <p:strVal val="visible"/>
                                      </p:to>
                                    </p:set>
                                    <p:animEffect transition="in" filter="fade">
                                      <p:cBhvr>
                                        <p:cTn id="160" dur="450"/>
                                        <p:tgtEl>
                                          <p:spTgt spid="43"/>
                                        </p:tgtEl>
                                      </p:cBhvr>
                                    </p:animEffect>
                                    <p:anim calcmode="lin" valueType="num">
                                      <p:cBhvr additive="base">
                                        <p:cTn id="161" dur="450" fill="hold"/>
                                        <p:tgtEl>
                                          <p:spTgt spid="43"/>
                                        </p:tgtEl>
                                        <p:attrNameLst>
                                          <p:attrName>ppt_w</p:attrName>
                                        </p:attrNameLst>
                                      </p:cBhvr>
                                      <p:tavLst>
                                        <p:tav tm="0">
                                          <p:val>
                                            <p:strVal val="#ppt_w*0.2"/>
                                          </p:val>
                                        </p:tav>
                                        <p:tav tm="100000">
                                          <p:val>
                                            <p:strVal val="#ppt_w"/>
                                          </p:val>
                                        </p:tav>
                                      </p:tavLst>
                                    </p:anim>
                                    <p:anim calcmode="lin" valueType="num">
                                      <p:cBhvr additive="base">
                                        <p:cTn id="162" dur="450" fill="hold"/>
                                        <p:tgtEl>
                                          <p:spTgt spid="43"/>
                                        </p:tgtEl>
                                        <p:attrNameLst>
                                          <p:attrName>ppt_h</p:attrName>
                                        </p:attrNameLst>
                                      </p:cBhvr>
                                      <p:tavLst>
                                        <p:tav tm="0">
                                          <p:val>
                                            <p:strVal val="#ppt_h*0.2"/>
                                          </p:val>
                                        </p:tav>
                                        <p:tav tm="100000">
                                          <p:val>
                                            <p:strVal val="#ppt_h"/>
                                          </p:val>
                                        </p:tav>
                                      </p:tavLst>
                                    </p:anim>
                                  </p:childTnLst>
                                </p:cTn>
                              </p:par>
                              <p:par>
                                <p:cTn id="163" presetID="53" presetClass="entr" presetSubtype="16" decel="100000" fill="hold" grpId="0" nodeType="withEffect">
                                  <p:stCondLst>
                                    <p:cond delay="1570"/>
                                  </p:stCondLst>
                                  <p:childTnLst>
                                    <p:set>
                                      <p:cBhvr>
                                        <p:cTn id="164" dur="1" fill="hold">
                                          <p:stCondLst>
                                            <p:cond delay="0"/>
                                          </p:stCondLst>
                                        </p:cTn>
                                        <p:tgtEl>
                                          <p:spTgt spid="44"/>
                                        </p:tgtEl>
                                        <p:attrNameLst>
                                          <p:attrName>style.visibility</p:attrName>
                                        </p:attrNameLst>
                                      </p:cBhvr>
                                      <p:to>
                                        <p:strVal val="visible"/>
                                      </p:to>
                                    </p:set>
                                    <p:animEffect transition="in" filter="fade">
                                      <p:cBhvr>
                                        <p:cTn id="165" dur="450"/>
                                        <p:tgtEl>
                                          <p:spTgt spid="44"/>
                                        </p:tgtEl>
                                      </p:cBhvr>
                                    </p:animEffect>
                                    <p:anim calcmode="lin" valueType="num">
                                      <p:cBhvr additive="base">
                                        <p:cTn id="166" dur="450" fill="hold"/>
                                        <p:tgtEl>
                                          <p:spTgt spid="44"/>
                                        </p:tgtEl>
                                        <p:attrNameLst>
                                          <p:attrName>ppt_w</p:attrName>
                                        </p:attrNameLst>
                                      </p:cBhvr>
                                      <p:tavLst>
                                        <p:tav tm="0">
                                          <p:val>
                                            <p:strVal val="#ppt_w*0.2"/>
                                          </p:val>
                                        </p:tav>
                                        <p:tav tm="100000">
                                          <p:val>
                                            <p:strVal val="#ppt_w"/>
                                          </p:val>
                                        </p:tav>
                                      </p:tavLst>
                                    </p:anim>
                                    <p:anim calcmode="lin" valueType="num">
                                      <p:cBhvr additive="base">
                                        <p:cTn id="167" dur="450" fill="hold"/>
                                        <p:tgtEl>
                                          <p:spTgt spid="44"/>
                                        </p:tgtEl>
                                        <p:attrNameLst>
                                          <p:attrName>ppt_h</p:attrName>
                                        </p:attrNameLst>
                                      </p:cBhvr>
                                      <p:tavLst>
                                        <p:tav tm="0">
                                          <p:val>
                                            <p:strVal val="#ppt_h*0.2"/>
                                          </p:val>
                                        </p:tav>
                                        <p:tav tm="100000">
                                          <p:val>
                                            <p:strVal val="#ppt_h"/>
                                          </p:val>
                                        </p:tav>
                                      </p:tavLst>
                                    </p:anim>
                                  </p:childTnLst>
                                </p:cTn>
                              </p:par>
                              <p:par>
                                <p:cTn id="168" presetID="53" presetClass="entr" presetSubtype="16" decel="100000" fill="hold" grpId="0" nodeType="withEffect">
                                  <p:stCondLst>
                                    <p:cond delay="157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450"/>
                                        <p:tgtEl>
                                          <p:spTgt spid="45"/>
                                        </p:tgtEl>
                                      </p:cBhvr>
                                    </p:animEffect>
                                    <p:anim calcmode="lin" valueType="num">
                                      <p:cBhvr additive="base">
                                        <p:cTn id="171" dur="450" fill="hold"/>
                                        <p:tgtEl>
                                          <p:spTgt spid="45"/>
                                        </p:tgtEl>
                                        <p:attrNameLst>
                                          <p:attrName>ppt_w</p:attrName>
                                        </p:attrNameLst>
                                      </p:cBhvr>
                                      <p:tavLst>
                                        <p:tav tm="0">
                                          <p:val>
                                            <p:strVal val="#ppt_w*0.2"/>
                                          </p:val>
                                        </p:tav>
                                        <p:tav tm="100000">
                                          <p:val>
                                            <p:strVal val="#ppt_w"/>
                                          </p:val>
                                        </p:tav>
                                      </p:tavLst>
                                    </p:anim>
                                    <p:anim calcmode="lin" valueType="num">
                                      <p:cBhvr additive="base">
                                        <p:cTn id="172" dur="450" fill="hold"/>
                                        <p:tgtEl>
                                          <p:spTgt spid="45"/>
                                        </p:tgtEl>
                                        <p:attrNameLst>
                                          <p:attrName>ppt_h</p:attrName>
                                        </p:attrNameLst>
                                      </p:cBhvr>
                                      <p:tavLst>
                                        <p:tav tm="0">
                                          <p:val>
                                            <p:strVal val="#ppt_h*0.2"/>
                                          </p:val>
                                        </p:tav>
                                        <p:tav tm="100000">
                                          <p:val>
                                            <p:strVal val="#ppt_h"/>
                                          </p:val>
                                        </p:tav>
                                      </p:tavLst>
                                    </p:anim>
                                  </p:childTnLst>
                                </p:cTn>
                              </p:par>
                              <p:par>
                                <p:cTn id="173" presetID="53" presetClass="entr" presetSubtype="16" decel="100000" fill="hold" grpId="0" nodeType="withEffect">
                                  <p:stCondLst>
                                    <p:cond delay="157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450"/>
                                        <p:tgtEl>
                                          <p:spTgt spid="46"/>
                                        </p:tgtEl>
                                      </p:cBhvr>
                                    </p:animEffect>
                                    <p:anim calcmode="lin" valueType="num">
                                      <p:cBhvr additive="base">
                                        <p:cTn id="176" dur="450" fill="hold"/>
                                        <p:tgtEl>
                                          <p:spTgt spid="46"/>
                                        </p:tgtEl>
                                        <p:attrNameLst>
                                          <p:attrName>ppt_w</p:attrName>
                                        </p:attrNameLst>
                                      </p:cBhvr>
                                      <p:tavLst>
                                        <p:tav tm="0">
                                          <p:val>
                                            <p:strVal val="#ppt_w*0.2"/>
                                          </p:val>
                                        </p:tav>
                                        <p:tav tm="100000">
                                          <p:val>
                                            <p:strVal val="#ppt_w"/>
                                          </p:val>
                                        </p:tav>
                                      </p:tavLst>
                                    </p:anim>
                                    <p:anim calcmode="lin" valueType="num">
                                      <p:cBhvr additive="base">
                                        <p:cTn id="177" dur="450" fill="hold"/>
                                        <p:tgtEl>
                                          <p:spTgt spid="46"/>
                                        </p:tgtEl>
                                        <p:attrNameLst>
                                          <p:attrName>ppt_h</p:attrName>
                                        </p:attrNameLst>
                                      </p:cBhvr>
                                      <p:tavLst>
                                        <p:tav tm="0">
                                          <p:val>
                                            <p:strVal val="#ppt_h*0.2"/>
                                          </p:val>
                                        </p:tav>
                                        <p:tav tm="100000">
                                          <p:val>
                                            <p:strVal val="#ppt_h"/>
                                          </p:val>
                                        </p:tav>
                                      </p:tavLst>
                                    </p:anim>
                                  </p:childTnLst>
                                </p:cTn>
                              </p:par>
                              <p:par>
                                <p:cTn id="178" presetID="10" presetClass="entr" presetSubtype="0" decel="100000" fill="hold" grpId="0" nodeType="withEffect">
                                  <p:stCondLst>
                                    <p:cond delay="1570"/>
                                  </p:stCondLst>
                                  <p:childTnLst>
                                    <p:set>
                                      <p:cBhvr>
                                        <p:cTn id="179" dur="1" fill="hold">
                                          <p:stCondLst>
                                            <p:cond delay="0"/>
                                          </p:stCondLst>
                                        </p:cTn>
                                        <p:tgtEl>
                                          <p:spTgt spid="47"/>
                                        </p:tgtEl>
                                        <p:attrNameLst>
                                          <p:attrName>style.visibility</p:attrName>
                                        </p:attrNameLst>
                                      </p:cBhvr>
                                      <p:to>
                                        <p:strVal val="visible"/>
                                      </p:to>
                                    </p:set>
                                    <p:animEffect transition="in" filter="fade">
                                      <p:cBhvr>
                                        <p:cTn id="180" dur="600"/>
                                        <p:tgtEl>
                                          <p:spTgt spid="47"/>
                                        </p:tgtEl>
                                      </p:cBhvr>
                                    </p:animEffect>
                                  </p:childTnLst>
                                </p:cTn>
                              </p:par>
                              <p:par>
                                <p:cTn id="181" presetID="53" presetClass="entr" presetSubtype="16" decel="100000" fill="hold" grpId="0" nodeType="withEffect">
                                  <p:stCondLst>
                                    <p:cond delay="1790"/>
                                  </p:stCondLst>
                                  <p:childTnLst>
                                    <p:set>
                                      <p:cBhvr>
                                        <p:cTn id="182" dur="1" fill="hold">
                                          <p:stCondLst>
                                            <p:cond delay="0"/>
                                          </p:stCondLst>
                                        </p:cTn>
                                        <p:tgtEl>
                                          <p:spTgt spid="48"/>
                                        </p:tgtEl>
                                        <p:attrNameLst>
                                          <p:attrName>style.visibility</p:attrName>
                                        </p:attrNameLst>
                                      </p:cBhvr>
                                      <p:to>
                                        <p:strVal val="visible"/>
                                      </p:to>
                                    </p:set>
                                    <p:animEffect transition="in" filter="fade">
                                      <p:cBhvr>
                                        <p:cTn id="183" dur="450"/>
                                        <p:tgtEl>
                                          <p:spTgt spid="48"/>
                                        </p:tgtEl>
                                      </p:cBhvr>
                                    </p:animEffect>
                                    <p:anim calcmode="lin" valueType="num">
                                      <p:cBhvr additive="base">
                                        <p:cTn id="184" dur="450" fill="hold"/>
                                        <p:tgtEl>
                                          <p:spTgt spid="48"/>
                                        </p:tgtEl>
                                        <p:attrNameLst>
                                          <p:attrName>ppt_w</p:attrName>
                                        </p:attrNameLst>
                                      </p:cBhvr>
                                      <p:tavLst>
                                        <p:tav tm="0">
                                          <p:val>
                                            <p:strVal val="#ppt_w*0.2"/>
                                          </p:val>
                                        </p:tav>
                                        <p:tav tm="100000">
                                          <p:val>
                                            <p:strVal val="#ppt_w"/>
                                          </p:val>
                                        </p:tav>
                                      </p:tavLst>
                                    </p:anim>
                                    <p:anim calcmode="lin" valueType="num">
                                      <p:cBhvr additive="base">
                                        <p:cTn id="185" dur="450" fill="hold"/>
                                        <p:tgtEl>
                                          <p:spTgt spid="48"/>
                                        </p:tgtEl>
                                        <p:attrNameLst>
                                          <p:attrName>ppt_h</p:attrName>
                                        </p:attrNameLst>
                                      </p:cBhvr>
                                      <p:tavLst>
                                        <p:tav tm="0">
                                          <p:val>
                                            <p:strVal val="#ppt_h*0.2"/>
                                          </p:val>
                                        </p:tav>
                                        <p:tav tm="100000">
                                          <p:val>
                                            <p:strVal val="#ppt_h"/>
                                          </p:val>
                                        </p:tav>
                                      </p:tavLst>
                                    </p:anim>
                                  </p:childTnLst>
                                </p:cTn>
                              </p:par>
                              <p:par>
                                <p:cTn id="186" presetID="53" presetClass="entr" presetSubtype="16" decel="100000" fill="hold" grpId="0" nodeType="withEffect">
                                  <p:stCondLst>
                                    <p:cond delay="1790"/>
                                  </p:stCondLst>
                                  <p:childTnLst>
                                    <p:set>
                                      <p:cBhvr>
                                        <p:cTn id="187" dur="1" fill="hold">
                                          <p:stCondLst>
                                            <p:cond delay="0"/>
                                          </p:stCondLst>
                                        </p:cTn>
                                        <p:tgtEl>
                                          <p:spTgt spid="49"/>
                                        </p:tgtEl>
                                        <p:attrNameLst>
                                          <p:attrName>style.visibility</p:attrName>
                                        </p:attrNameLst>
                                      </p:cBhvr>
                                      <p:to>
                                        <p:strVal val="visible"/>
                                      </p:to>
                                    </p:set>
                                    <p:animEffect transition="in" filter="fade">
                                      <p:cBhvr>
                                        <p:cTn id="188" dur="450"/>
                                        <p:tgtEl>
                                          <p:spTgt spid="49"/>
                                        </p:tgtEl>
                                      </p:cBhvr>
                                    </p:animEffect>
                                    <p:anim calcmode="lin" valueType="num">
                                      <p:cBhvr additive="base">
                                        <p:cTn id="189" dur="450" fill="hold"/>
                                        <p:tgtEl>
                                          <p:spTgt spid="49"/>
                                        </p:tgtEl>
                                        <p:attrNameLst>
                                          <p:attrName>ppt_w</p:attrName>
                                        </p:attrNameLst>
                                      </p:cBhvr>
                                      <p:tavLst>
                                        <p:tav tm="0">
                                          <p:val>
                                            <p:strVal val="#ppt_w*0.2"/>
                                          </p:val>
                                        </p:tav>
                                        <p:tav tm="100000">
                                          <p:val>
                                            <p:strVal val="#ppt_w"/>
                                          </p:val>
                                        </p:tav>
                                      </p:tavLst>
                                    </p:anim>
                                    <p:anim calcmode="lin" valueType="num">
                                      <p:cBhvr additive="base">
                                        <p:cTn id="190" dur="450" fill="hold"/>
                                        <p:tgtEl>
                                          <p:spTgt spid="49"/>
                                        </p:tgtEl>
                                        <p:attrNameLst>
                                          <p:attrName>ppt_h</p:attrName>
                                        </p:attrNameLst>
                                      </p:cBhvr>
                                      <p:tavLst>
                                        <p:tav tm="0">
                                          <p:val>
                                            <p:strVal val="#ppt_h*0.2"/>
                                          </p:val>
                                        </p:tav>
                                        <p:tav tm="100000">
                                          <p:val>
                                            <p:strVal val="#ppt_h"/>
                                          </p:val>
                                        </p:tav>
                                      </p:tavLst>
                                    </p:anim>
                                  </p:childTnLst>
                                </p:cTn>
                              </p:par>
                              <p:par>
                                <p:cTn id="191" presetID="53" presetClass="entr" presetSubtype="16" decel="100000" fill="hold" grpId="0" nodeType="withEffect">
                                  <p:stCondLst>
                                    <p:cond delay="179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450"/>
                                        <p:tgtEl>
                                          <p:spTgt spid="50"/>
                                        </p:tgtEl>
                                      </p:cBhvr>
                                    </p:animEffect>
                                    <p:anim calcmode="lin" valueType="num">
                                      <p:cBhvr additive="base">
                                        <p:cTn id="194" dur="450" fill="hold"/>
                                        <p:tgtEl>
                                          <p:spTgt spid="50"/>
                                        </p:tgtEl>
                                        <p:attrNameLst>
                                          <p:attrName>ppt_w</p:attrName>
                                        </p:attrNameLst>
                                      </p:cBhvr>
                                      <p:tavLst>
                                        <p:tav tm="0">
                                          <p:val>
                                            <p:strVal val="#ppt_w*0.2"/>
                                          </p:val>
                                        </p:tav>
                                        <p:tav tm="100000">
                                          <p:val>
                                            <p:strVal val="#ppt_w"/>
                                          </p:val>
                                        </p:tav>
                                      </p:tavLst>
                                    </p:anim>
                                    <p:anim calcmode="lin" valueType="num">
                                      <p:cBhvr additive="base">
                                        <p:cTn id="195" dur="450" fill="hold"/>
                                        <p:tgtEl>
                                          <p:spTgt spid="50"/>
                                        </p:tgtEl>
                                        <p:attrNameLst>
                                          <p:attrName>ppt_h</p:attrName>
                                        </p:attrNameLst>
                                      </p:cBhvr>
                                      <p:tavLst>
                                        <p:tav tm="0">
                                          <p:val>
                                            <p:strVal val="#ppt_h*0.2"/>
                                          </p:val>
                                        </p:tav>
                                        <p:tav tm="100000">
                                          <p:val>
                                            <p:strVal val="#ppt_h"/>
                                          </p:val>
                                        </p:tav>
                                      </p:tavLst>
                                    </p:anim>
                                  </p:childTnLst>
                                </p:cTn>
                              </p:par>
                              <p:par>
                                <p:cTn id="196" presetID="53" presetClass="entr" presetSubtype="16" decel="100000" fill="hold" grpId="0" nodeType="withEffect">
                                  <p:stCondLst>
                                    <p:cond delay="179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450"/>
                                        <p:tgtEl>
                                          <p:spTgt spid="51"/>
                                        </p:tgtEl>
                                      </p:cBhvr>
                                    </p:animEffect>
                                    <p:anim calcmode="lin" valueType="num">
                                      <p:cBhvr additive="base">
                                        <p:cTn id="199" dur="450" fill="hold"/>
                                        <p:tgtEl>
                                          <p:spTgt spid="51"/>
                                        </p:tgtEl>
                                        <p:attrNameLst>
                                          <p:attrName>ppt_w</p:attrName>
                                        </p:attrNameLst>
                                      </p:cBhvr>
                                      <p:tavLst>
                                        <p:tav tm="0">
                                          <p:val>
                                            <p:strVal val="#ppt_w*0.2"/>
                                          </p:val>
                                        </p:tav>
                                        <p:tav tm="100000">
                                          <p:val>
                                            <p:strVal val="#ppt_w"/>
                                          </p:val>
                                        </p:tav>
                                      </p:tavLst>
                                    </p:anim>
                                    <p:anim calcmode="lin" valueType="num">
                                      <p:cBhvr additive="base">
                                        <p:cTn id="200" dur="450" fill="hold"/>
                                        <p:tgtEl>
                                          <p:spTgt spid="51"/>
                                        </p:tgtEl>
                                        <p:attrNameLst>
                                          <p:attrName>ppt_h</p:attrName>
                                        </p:attrNameLst>
                                      </p:cBhvr>
                                      <p:tavLst>
                                        <p:tav tm="0">
                                          <p:val>
                                            <p:strVal val="#ppt_h*0.2"/>
                                          </p:val>
                                        </p:tav>
                                        <p:tav tm="100000">
                                          <p:val>
                                            <p:strVal val="#ppt_h"/>
                                          </p:val>
                                        </p:tav>
                                      </p:tavLst>
                                    </p:anim>
                                  </p:childTnLst>
                                </p:cTn>
                              </p:par>
                              <p:par>
                                <p:cTn id="201" presetID="10" presetClass="entr" presetSubtype="0" decel="100000" fill="hold" grpId="0" nodeType="withEffect">
                                  <p:stCondLst>
                                    <p:cond delay="1790"/>
                                  </p:stCondLst>
                                  <p:childTnLst>
                                    <p:set>
                                      <p:cBhvr>
                                        <p:cTn id="202" dur="1" fill="hold">
                                          <p:stCondLst>
                                            <p:cond delay="0"/>
                                          </p:stCondLst>
                                        </p:cTn>
                                        <p:tgtEl>
                                          <p:spTgt spid="52"/>
                                        </p:tgtEl>
                                        <p:attrNameLst>
                                          <p:attrName>style.visibility</p:attrName>
                                        </p:attrNameLst>
                                      </p:cBhvr>
                                      <p:to>
                                        <p:strVal val="visible"/>
                                      </p:to>
                                    </p:set>
                                    <p:animEffect transition="in" filter="fade">
                                      <p:cBhvr>
                                        <p:cTn id="203" dur="600"/>
                                        <p:tgtEl>
                                          <p:spTgt spid="52"/>
                                        </p:tgtEl>
                                      </p:cBhvr>
                                    </p:animEffect>
                                  </p:childTnLst>
                                </p:cTn>
                              </p:par>
                              <p:par>
                                <p:cTn id="204" presetID="53" presetClass="entr" presetSubtype="16" decel="100000" fill="hold" grpId="0" nodeType="withEffect">
                                  <p:stCondLst>
                                    <p:cond delay="201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450"/>
                                        <p:tgtEl>
                                          <p:spTgt spid="53"/>
                                        </p:tgtEl>
                                      </p:cBhvr>
                                    </p:animEffect>
                                    <p:anim calcmode="lin" valueType="num">
                                      <p:cBhvr additive="base">
                                        <p:cTn id="207" dur="450" fill="hold"/>
                                        <p:tgtEl>
                                          <p:spTgt spid="53"/>
                                        </p:tgtEl>
                                        <p:attrNameLst>
                                          <p:attrName>ppt_w</p:attrName>
                                        </p:attrNameLst>
                                      </p:cBhvr>
                                      <p:tavLst>
                                        <p:tav tm="0">
                                          <p:val>
                                            <p:strVal val="#ppt_w*0.2"/>
                                          </p:val>
                                        </p:tav>
                                        <p:tav tm="100000">
                                          <p:val>
                                            <p:strVal val="#ppt_w"/>
                                          </p:val>
                                        </p:tav>
                                      </p:tavLst>
                                    </p:anim>
                                    <p:anim calcmode="lin" valueType="num">
                                      <p:cBhvr additive="base">
                                        <p:cTn id="208" dur="450" fill="hold"/>
                                        <p:tgtEl>
                                          <p:spTgt spid="53"/>
                                        </p:tgtEl>
                                        <p:attrNameLst>
                                          <p:attrName>ppt_h</p:attrName>
                                        </p:attrNameLst>
                                      </p:cBhvr>
                                      <p:tavLst>
                                        <p:tav tm="0">
                                          <p:val>
                                            <p:strVal val="#ppt_h*0.2"/>
                                          </p:val>
                                        </p:tav>
                                        <p:tav tm="100000">
                                          <p:val>
                                            <p:strVal val="#ppt_h"/>
                                          </p:val>
                                        </p:tav>
                                      </p:tavLst>
                                    </p:anim>
                                  </p:childTnLst>
                                </p:cTn>
                              </p:par>
                              <p:par>
                                <p:cTn id="209" presetID="53" presetClass="entr" presetSubtype="16" decel="100000" fill="hold" grpId="0" nodeType="withEffect">
                                  <p:stCondLst>
                                    <p:cond delay="2010"/>
                                  </p:stCondLst>
                                  <p:childTnLst>
                                    <p:set>
                                      <p:cBhvr>
                                        <p:cTn id="210" dur="1" fill="hold">
                                          <p:stCondLst>
                                            <p:cond delay="0"/>
                                          </p:stCondLst>
                                        </p:cTn>
                                        <p:tgtEl>
                                          <p:spTgt spid="54"/>
                                        </p:tgtEl>
                                        <p:attrNameLst>
                                          <p:attrName>style.visibility</p:attrName>
                                        </p:attrNameLst>
                                      </p:cBhvr>
                                      <p:to>
                                        <p:strVal val="visible"/>
                                      </p:to>
                                    </p:set>
                                    <p:animEffect transition="in" filter="fade">
                                      <p:cBhvr>
                                        <p:cTn id="211" dur="450"/>
                                        <p:tgtEl>
                                          <p:spTgt spid="54"/>
                                        </p:tgtEl>
                                      </p:cBhvr>
                                    </p:animEffect>
                                    <p:anim calcmode="lin" valueType="num">
                                      <p:cBhvr additive="base">
                                        <p:cTn id="212" dur="450" fill="hold"/>
                                        <p:tgtEl>
                                          <p:spTgt spid="54"/>
                                        </p:tgtEl>
                                        <p:attrNameLst>
                                          <p:attrName>ppt_w</p:attrName>
                                        </p:attrNameLst>
                                      </p:cBhvr>
                                      <p:tavLst>
                                        <p:tav tm="0">
                                          <p:val>
                                            <p:strVal val="#ppt_w*0.2"/>
                                          </p:val>
                                        </p:tav>
                                        <p:tav tm="100000">
                                          <p:val>
                                            <p:strVal val="#ppt_w"/>
                                          </p:val>
                                        </p:tav>
                                      </p:tavLst>
                                    </p:anim>
                                    <p:anim calcmode="lin" valueType="num">
                                      <p:cBhvr additive="base">
                                        <p:cTn id="213" dur="450" fill="hold"/>
                                        <p:tgtEl>
                                          <p:spTgt spid="54"/>
                                        </p:tgtEl>
                                        <p:attrNameLst>
                                          <p:attrName>ppt_h</p:attrName>
                                        </p:attrNameLst>
                                      </p:cBhvr>
                                      <p:tavLst>
                                        <p:tav tm="0">
                                          <p:val>
                                            <p:strVal val="#ppt_h*0.2"/>
                                          </p:val>
                                        </p:tav>
                                        <p:tav tm="100000">
                                          <p:val>
                                            <p:strVal val="#ppt_h"/>
                                          </p:val>
                                        </p:tav>
                                      </p:tavLst>
                                    </p:anim>
                                  </p:childTnLst>
                                </p:cTn>
                              </p:par>
                              <p:par>
                                <p:cTn id="214" presetID="53" presetClass="entr" presetSubtype="16" decel="100000" fill="hold" grpId="0" nodeType="withEffect">
                                  <p:stCondLst>
                                    <p:cond delay="2010"/>
                                  </p:stCondLst>
                                  <p:childTnLst>
                                    <p:set>
                                      <p:cBhvr>
                                        <p:cTn id="215" dur="1" fill="hold">
                                          <p:stCondLst>
                                            <p:cond delay="0"/>
                                          </p:stCondLst>
                                        </p:cTn>
                                        <p:tgtEl>
                                          <p:spTgt spid="55"/>
                                        </p:tgtEl>
                                        <p:attrNameLst>
                                          <p:attrName>style.visibility</p:attrName>
                                        </p:attrNameLst>
                                      </p:cBhvr>
                                      <p:to>
                                        <p:strVal val="visible"/>
                                      </p:to>
                                    </p:set>
                                    <p:animEffect transition="in" filter="fade">
                                      <p:cBhvr>
                                        <p:cTn id="216" dur="450"/>
                                        <p:tgtEl>
                                          <p:spTgt spid="55"/>
                                        </p:tgtEl>
                                      </p:cBhvr>
                                    </p:animEffect>
                                    <p:anim calcmode="lin" valueType="num">
                                      <p:cBhvr additive="base">
                                        <p:cTn id="217" dur="450" fill="hold"/>
                                        <p:tgtEl>
                                          <p:spTgt spid="55"/>
                                        </p:tgtEl>
                                        <p:attrNameLst>
                                          <p:attrName>ppt_w</p:attrName>
                                        </p:attrNameLst>
                                      </p:cBhvr>
                                      <p:tavLst>
                                        <p:tav tm="0">
                                          <p:val>
                                            <p:strVal val="#ppt_w*0.2"/>
                                          </p:val>
                                        </p:tav>
                                        <p:tav tm="100000">
                                          <p:val>
                                            <p:strVal val="#ppt_w"/>
                                          </p:val>
                                        </p:tav>
                                      </p:tavLst>
                                    </p:anim>
                                    <p:anim calcmode="lin" valueType="num">
                                      <p:cBhvr additive="base">
                                        <p:cTn id="218" dur="450" fill="hold"/>
                                        <p:tgtEl>
                                          <p:spTgt spid="55"/>
                                        </p:tgtEl>
                                        <p:attrNameLst>
                                          <p:attrName>ppt_h</p:attrName>
                                        </p:attrNameLst>
                                      </p:cBhvr>
                                      <p:tavLst>
                                        <p:tav tm="0">
                                          <p:val>
                                            <p:strVal val="#ppt_h*0.2"/>
                                          </p:val>
                                        </p:tav>
                                        <p:tav tm="100000">
                                          <p:val>
                                            <p:strVal val="#ppt_h"/>
                                          </p:val>
                                        </p:tav>
                                      </p:tavLst>
                                    </p:anim>
                                  </p:childTnLst>
                                </p:cTn>
                              </p:par>
                              <p:par>
                                <p:cTn id="219" presetID="53" presetClass="entr" presetSubtype="16" decel="100000" fill="hold" grpId="0" nodeType="withEffect">
                                  <p:stCondLst>
                                    <p:cond delay="2010"/>
                                  </p:stCondLst>
                                  <p:childTnLst>
                                    <p:set>
                                      <p:cBhvr>
                                        <p:cTn id="220" dur="1" fill="hold">
                                          <p:stCondLst>
                                            <p:cond delay="0"/>
                                          </p:stCondLst>
                                        </p:cTn>
                                        <p:tgtEl>
                                          <p:spTgt spid="56"/>
                                        </p:tgtEl>
                                        <p:attrNameLst>
                                          <p:attrName>style.visibility</p:attrName>
                                        </p:attrNameLst>
                                      </p:cBhvr>
                                      <p:to>
                                        <p:strVal val="visible"/>
                                      </p:to>
                                    </p:set>
                                    <p:animEffect transition="in" filter="fade">
                                      <p:cBhvr>
                                        <p:cTn id="221" dur="450"/>
                                        <p:tgtEl>
                                          <p:spTgt spid="56"/>
                                        </p:tgtEl>
                                      </p:cBhvr>
                                    </p:animEffect>
                                    <p:anim calcmode="lin" valueType="num">
                                      <p:cBhvr additive="base">
                                        <p:cTn id="222" dur="450" fill="hold"/>
                                        <p:tgtEl>
                                          <p:spTgt spid="56"/>
                                        </p:tgtEl>
                                        <p:attrNameLst>
                                          <p:attrName>ppt_w</p:attrName>
                                        </p:attrNameLst>
                                      </p:cBhvr>
                                      <p:tavLst>
                                        <p:tav tm="0">
                                          <p:val>
                                            <p:strVal val="#ppt_w*0.2"/>
                                          </p:val>
                                        </p:tav>
                                        <p:tav tm="100000">
                                          <p:val>
                                            <p:strVal val="#ppt_w"/>
                                          </p:val>
                                        </p:tav>
                                      </p:tavLst>
                                    </p:anim>
                                    <p:anim calcmode="lin" valueType="num">
                                      <p:cBhvr additive="base">
                                        <p:cTn id="223" dur="450" fill="hold"/>
                                        <p:tgtEl>
                                          <p:spTgt spid="56"/>
                                        </p:tgtEl>
                                        <p:attrNameLst>
                                          <p:attrName>ppt_h</p:attrName>
                                        </p:attrNameLst>
                                      </p:cBhvr>
                                      <p:tavLst>
                                        <p:tav tm="0">
                                          <p:val>
                                            <p:strVal val="#ppt_h*0.2"/>
                                          </p:val>
                                        </p:tav>
                                        <p:tav tm="100000">
                                          <p:val>
                                            <p:strVal val="#ppt_h"/>
                                          </p:val>
                                        </p:tav>
                                      </p:tavLst>
                                    </p:anim>
                                  </p:childTnLst>
                                </p:cTn>
                              </p:par>
                              <p:par>
                                <p:cTn id="224" presetID="10" presetClass="entr" presetSubtype="0" decel="100000" fill="hold" grpId="0" nodeType="withEffect">
                                  <p:stCondLst>
                                    <p:cond delay="2010"/>
                                  </p:stCondLst>
                                  <p:childTnLst>
                                    <p:set>
                                      <p:cBhvr>
                                        <p:cTn id="225" dur="1" fill="hold">
                                          <p:stCondLst>
                                            <p:cond delay="0"/>
                                          </p:stCondLst>
                                        </p:cTn>
                                        <p:tgtEl>
                                          <p:spTgt spid="57"/>
                                        </p:tgtEl>
                                        <p:attrNameLst>
                                          <p:attrName>style.visibility</p:attrName>
                                        </p:attrNameLst>
                                      </p:cBhvr>
                                      <p:to>
                                        <p:strVal val="visible"/>
                                      </p:to>
                                    </p:set>
                                    <p:animEffect transition="in" filter="fade">
                                      <p:cBhvr>
                                        <p:cTn id="226" dur="600"/>
                                        <p:tgtEl>
                                          <p:spTgt spid="57"/>
                                        </p:tgtEl>
                                      </p:cBhvr>
                                    </p:animEffect>
                                  </p:childTnLst>
                                </p:cTn>
                              </p:par>
                              <p:par>
                                <p:cTn id="227" presetID="53" presetClass="entr" presetSubtype="16" decel="100000" fill="hold" grpId="0" nodeType="withEffect">
                                  <p:stCondLst>
                                    <p:cond delay="2230"/>
                                  </p:stCondLst>
                                  <p:childTnLst>
                                    <p:set>
                                      <p:cBhvr>
                                        <p:cTn id="228" dur="1" fill="hold">
                                          <p:stCondLst>
                                            <p:cond delay="0"/>
                                          </p:stCondLst>
                                        </p:cTn>
                                        <p:tgtEl>
                                          <p:spTgt spid="58"/>
                                        </p:tgtEl>
                                        <p:attrNameLst>
                                          <p:attrName>style.visibility</p:attrName>
                                        </p:attrNameLst>
                                      </p:cBhvr>
                                      <p:to>
                                        <p:strVal val="visible"/>
                                      </p:to>
                                    </p:set>
                                    <p:animEffect transition="in" filter="fade">
                                      <p:cBhvr>
                                        <p:cTn id="229" dur="450"/>
                                        <p:tgtEl>
                                          <p:spTgt spid="58"/>
                                        </p:tgtEl>
                                      </p:cBhvr>
                                    </p:animEffect>
                                    <p:anim calcmode="lin" valueType="num">
                                      <p:cBhvr additive="base">
                                        <p:cTn id="230" dur="450" fill="hold"/>
                                        <p:tgtEl>
                                          <p:spTgt spid="58"/>
                                        </p:tgtEl>
                                        <p:attrNameLst>
                                          <p:attrName>ppt_w</p:attrName>
                                        </p:attrNameLst>
                                      </p:cBhvr>
                                      <p:tavLst>
                                        <p:tav tm="0">
                                          <p:val>
                                            <p:strVal val="#ppt_w*0.2"/>
                                          </p:val>
                                        </p:tav>
                                        <p:tav tm="100000">
                                          <p:val>
                                            <p:strVal val="#ppt_w"/>
                                          </p:val>
                                        </p:tav>
                                      </p:tavLst>
                                    </p:anim>
                                    <p:anim calcmode="lin" valueType="num">
                                      <p:cBhvr additive="base">
                                        <p:cTn id="231" dur="450" fill="hold"/>
                                        <p:tgtEl>
                                          <p:spTgt spid="58"/>
                                        </p:tgtEl>
                                        <p:attrNameLst>
                                          <p:attrName>ppt_h</p:attrName>
                                        </p:attrNameLst>
                                      </p:cBhvr>
                                      <p:tavLst>
                                        <p:tav tm="0">
                                          <p:val>
                                            <p:strVal val="#ppt_h*0.2"/>
                                          </p:val>
                                        </p:tav>
                                        <p:tav tm="100000">
                                          <p:val>
                                            <p:strVal val="#ppt_h"/>
                                          </p:val>
                                        </p:tav>
                                      </p:tavLst>
                                    </p:anim>
                                  </p:childTnLst>
                                </p:cTn>
                              </p:par>
                              <p:par>
                                <p:cTn id="232" presetID="53" presetClass="entr" presetSubtype="16" decel="100000" fill="hold" grpId="0" nodeType="withEffect">
                                  <p:stCondLst>
                                    <p:cond delay="2230"/>
                                  </p:stCondLst>
                                  <p:childTnLst>
                                    <p:set>
                                      <p:cBhvr>
                                        <p:cTn id="233" dur="1" fill="hold">
                                          <p:stCondLst>
                                            <p:cond delay="0"/>
                                          </p:stCondLst>
                                        </p:cTn>
                                        <p:tgtEl>
                                          <p:spTgt spid="59"/>
                                        </p:tgtEl>
                                        <p:attrNameLst>
                                          <p:attrName>style.visibility</p:attrName>
                                        </p:attrNameLst>
                                      </p:cBhvr>
                                      <p:to>
                                        <p:strVal val="visible"/>
                                      </p:to>
                                    </p:set>
                                    <p:animEffect transition="in" filter="fade">
                                      <p:cBhvr>
                                        <p:cTn id="234" dur="450"/>
                                        <p:tgtEl>
                                          <p:spTgt spid="59"/>
                                        </p:tgtEl>
                                      </p:cBhvr>
                                    </p:animEffect>
                                    <p:anim calcmode="lin" valueType="num">
                                      <p:cBhvr additive="base">
                                        <p:cTn id="235" dur="450" fill="hold"/>
                                        <p:tgtEl>
                                          <p:spTgt spid="59"/>
                                        </p:tgtEl>
                                        <p:attrNameLst>
                                          <p:attrName>ppt_w</p:attrName>
                                        </p:attrNameLst>
                                      </p:cBhvr>
                                      <p:tavLst>
                                        <p:tav tm="0">
                                          <p:val>
                                            <p:strVal val="#ppt_w*0.2"/>
                                          </p:val>
                                        </p:tav>
                                        <p:tav tm="100000">
                                          <p:val>
                                            <p:strVal val="#ppt_w"/>
                                          </p:val>
                                        </p:tav>
                                      </p:tavLst>
                                    </p:anim>
                                    <p:anim calcmode="lin" valueType="num">
                                      <p:cBhvr additive="base">
                                        <p:cTn id="236" dur="450" fill="hold"/>
                                        <p:tgtEl>
                                          <p:spTgt spid="59"/>
                                        </p:tgtEl>
                                        <p:attrNameLst>
                                          <p:attrName>ppt_h</p:attrName>
                                        </p:attrNameLst>
                                      </p:cBhvr>
                                      <p:tavLst>
                                        <p:tav tm="0">
                                          <p:val>
                                            <p:strVal val="#ppt_h*0.2"/>
                                          </p:val>
                                        </p:tav>
                                        <p:tav tm="100000">
                                          <p:val>
                                            <p:strVal val="#ppt_h"/>
                                          </p:val>
                                        </p:tav>
                                      </p:tavLst>
                                    </p:anim>
                                  </p:childTnLst>
                                </p:cTn>
                              </p:par>
                              <p:par>
                                <p:cTn id="237" presetID="53" presetClass="entr" presetSubtype="16" decel="100000" fill="hold" grpId="0" nodeType="withEffect">
                                  <p:stCondLst>
                                    <p:cond delay="2230"/>
                                  </p:stCondLst>
                                  <p:childTnLst>
                                    <p:set>
                                      <p:cBhvr>
                                        <p:cTn id="238" dur="1" fill="hold">
                                          <p:stCondLst>
                                            <p:cond delay="0"/>
                                          </p:stCondLst>
                                        </p:cTn>
                                        <p:tgtEl>
                                          <p:spTgt spid="60"/>
                                        </p:tgtEl>
                                        <p:attrNameLst>
                                          <p:attrName>style.visibility</p:attrName>
                                        </p:attrNameLst>
                                      </p:cBhvr>
                                      <p:to>
                                        <p:strVal val="visible"/>
                                      </p:to>
                                    </p:set>
                                    <p:animEffect transition="in" filter="fade">
                                      <p:cBhvr>
                                        <p:cTn id="239" dur="450"/>
                                        <p:tgtEl>
                                          <p:spTgt spid="60"/>
                                        </p:tgtEl>
                                      </p:cBhvr>
                                    </p:animEffect>
                                    <p:anim calcmode="lin" valueType="num">
                                      <p:cBhvr additive="base">
                                        <p:cTn id="240" dur="450" fill="hold"/>
                                        <p:tgtEl>
                                          <p:spTgt spid="60"/>
                                        </p:tgtEl>
                                        <p:attrNameLst>
                                          <p:attrName>ppt_w</p:attrName>
                                        </p:attrNameLst>
                                      </p:cBhvr>
                                      <p:tavLst>
                                        <p:tav tm="0">
                                          <p:val>
                                            <p:strVal val="#ppt_w*0.2"/>
                                          </p:val>
                                        </p:tav>
                                        <p:tav tm="100000">
                                          <p:val>
                                            <p:strVal val="#ppt_w"/>
                                          </p:val>
                                        </p:tav>
                                      </p:tavLst>
                                    </p:anim>
                                    <p:anim calcmode="lin" valueType="num">
                                      <p:cBhvr additive="base">
                                        <p:cTn id="241" dur="450" fill="hold"/>
                                        <p:tgtEl>
                                          <p:spTgt spid="60"/>
                                        </p:tgtEl>
                                        <p:attrNameLst>
                                          <p:attrName>ppt_h</p:attrName>
                                        </p:attrNameLst>
                                      </p:cBhvr>
                                      <p:tavLst>
                                        <p:tav tm="0">
                                          <p:val>
                                            <p:strVal val="#ppt_h*0.2"/>
                                          </p:val>
                                        </p:tav>
                                        <p:tav tm="100000">
                                          <p:val>
                                            <p:strVal val="#ppt_h"/>
                                          </p:val>
                                        </p:tav>
                                      </p:tavLst>
                                    </p:anim>
                                  </p:childTnLst>
                                </p:cTn>
                              </p:par>
                              <p:par>
                                <p:cTn id="242" presetID="53" presetClass="entr" presetSubtype="16" decel="100000" fill="hold" grpId="0" nodeType="withEffect">
                                  <p:stCondLst>
                                    <p:cond delay="2230"/>
                                  </p:stCondLst>
                                  <p:childTnLst>
                                    <p:set>
                                      <p:cBhvr>
                                        <p:cTn id="243" dur="1" fill="hold">
                                          <p:stCondLst>
                                            <p:cond delay="0"/>
                                          </p:stCondLst>
                                        </p:cTn>
                                        <p:tgtEl>
                                          <p:spTgt spid="61"/>
                                        </p:tgtEl>
                                        <p:attrNameLst>
                                          <p:attrName>style.visibility</p:attrName>
                                        </p:attrNameLst>
                                      </p:cBhvr>
                                      <p:to>
                                        <p:strVal val="visible"/>
                                      </p:to>
                                    </p:set>
                                    <p:animEffect transition="in" filter="fade">
                                      <p:cBhvr>
                                        <p:cTn id="244" dur="450"/>
                                        <p:tgtEl>
                                          <p:spTgt spid="61"/>
                                        </p:tgtEl>
                                      </p:cBhvr>
                                    </p:animEffect>
                                    <p:anim calcmode="lin" valueType="num">
                                      <p:cBhvr additive="base">
                                        <p:cTn id="245" dur="450" fill="hold"/>
                                        <p:tgtEl>
                                          <p:spTgt spid="61"/>
                                        </p:tgtEl>
                                        <p:attrNameLst>
                                          <p:attrName>ppt_w</p:attrName>
                                        </p:attrNameLst>
                                      </p:cBhvr>
                                      <p:tavLst>
                                        <p:tav tm="0">
                                          <p:val>
                                            <p:strVal val="#ppt_w*0.2"/>
                                          </p:val>
                                        </p:tav>
                                        <p:tav tm="100000">
                                          <p:val>
                                            <p:strVal val="#ppt_w"/>
                                          </p:val>
                                        </p:tav>
                                      </p:tavLst>
                                    </p:anim>
                                    <p:anim calcmode="lin" valueType="num">
                                      <p:cBhvr additive="base">
                                        <p:cTn id="246"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Planned, not yet tested: </a:t>
            </a:r>
            <a:r>
              <a:rPr lang="en-US" sz="1400" dirty="0">
                <a:solidFill>
                  <a:srgbClr val="1B2B40"/>
                </a:solidFill>
                <a:latin typeface="Segoe UI" pitchFamily="34" charset="0"/>
                <a:ea typeface="Segoe UI" pitchFamily="34" charset="-122"/>
                <a:cs typeface="Segoe UI" pitchFamily="34" charset="-120"/>
              </a:rPr>
              <a:t>813 scenes were not available in the proof of concept.</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NAIVE MONITORS FAIL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sp>
      <p:sp>
        <p:nvSpPr>
          <p:cNvPr id="12" name="a2fade_tc0_0"/>
          <p:cNvSpPr/>
          <p:nvPr/>
        </p:nvSpPr>
        <p:spPr>
          <a:xfrm>
            <a:off x="896112" y="2926080"/>
            <a:ext cx="347472" cy="347472"/>
          </a:xfrm>
          <a:prstGeom prst="ellipse">
            <a:avLst/>
          </a:prstGeom>
          <a:solidFill>
            <a:srgbClr val="5E977A"/>
          </a:solidFill>
          <a:ln/>
        </p:spPr>
      </p:sp>
      <p:sp>
        <p:nvSpPr>
          <p:cNvPr id="13" name="a2fade_tr0_1"/>
          <p:cNvSpPr/>
          <p:nvPr/>
        </p:nvSpPr>
        <p:spPr>
          <a:xfrm>
            <a:off x="1481328" y="3246120"/>
            <a:ext cx="36576" cy="1005840"/>
          </a:xfrm>
          <a:prstGeom prst="rect">
            <a:avLst/>
          </a:prstGeom>
          <a:solidFill>
            <a:srgbClr val="6B5B4B"/>
          </a:solidFill>
          <a:ln/>
        </p:spPr>
      </p:sp>
      <p:sp>
        <p:nvSpPr>
          <p:cNvPr id="14" name="a2fade_tc0_1"/>
          <p:cNvSpPr/>
          <p:nvPr/>
        </p:nvSpPr>
        <p:spPr>
          <a:xfrm>
            <a:off x="1325880" y="2926080"/>
            <a:ext cx="347472" cy="347472"/>
          </a:xfrm>
          <a:prstGeom prst="ellipse">
            <a:avLst/>
          </a:prstGeom>
          <a:solidFill>
            <a:srgbClr val="5E977A"/>
          </a:solidFill>
          <a:ln/>
        </p:spPr>
      </p:sp>
      <p:sp>
        <p:nvSpPr>
          <p:cNvPr id="15" name="a2fade_tr0_2"/>
          <p:cNvSpPr/>
          <p:nvPr/>
        </p:nvSpPr>
        <p:spPr>
          <a:xfrm>
            <a:off x="1911096" y="3246120"/>
            <a:ext cx="36576" cy="1005840"/>
          </a:xfrm>
          <a:prstGeom prst="rect">
            <a:avLst/>
          </a:prstGeom>
          <a:solidFill>
            <a:srgbClr val="6B5B4B"/>
          </a:solidFill>
          <a:ln/>
        </p:spPr>
      </p:sp>
      <p:sp>
        <p:nvSpPr>
          <p:cNvPr id="16" name="a2fade_tc0_2"/>
          <p:cNvSpPr/>
          <p:nvPr/>
        </p:nvSpPr>
        <p:spPr>
          <a:xfrm>
            <a:off x="1755648" y="2926080"/>
            <a:ext cx="347472" cy="347472"/>
          </a:xfrm>
          <a:prstGeom prst="ellipse">
            <a:avLst/>
          </a:prstGeom>
          <a:solidFill>
            <a:srgbClr val="5E977A"/>
          </a:solidFill>
          <a:ln/>
        </p:spPr>
      </p:sp>
      <p:sp>
        <p:nvSpPr>
          <p:cNvPr id="17" name="a2fade_tr0_3"/>
          <p:cNvSpPr/>
          <p:nvPr/>
        </p:nvSpPr>
        <p:spPr>
          <a:xfrm>
            <a:off x="2340864" y="3246120"/>
            <a:ext cx="36576" cy="1005840"/>
          </a:xfrm>
          <a:prstGeom prst="rect">
            <a:avLst/>
          </a:prstGeom>
          <a:solidFill>
            <a:srgbClr val="6B5B4B"/>
          </a:solidFill>
          <a:ln/>
        </p:spPr>
      </p:sp>
      <p:sp>
        <p:nvSpPr>
          <p:cNvPr id="18" name="a2fade_tc0_3"/>
          <p:cNvSpPr/>
          <p:nvPr/>
        </p:nvSpPr>
        <p:spPr>
          <a:xfrm>
            <a:off x="2185416" y="2926080"/>
            <a:ext cx="347472" cy="347472"/>
          </a:xfrm>
          <a:prstGeom prst="ellipse">
            <a:avLst/>
          </a:prstGeom>
          <a:solidFill>
            <a:srgbClr val="5E977A"/>
          </a:solidFill>
          <a:ln/>
        </p:spPr>
      </p:sp>
      <p:sp>
        <p:nvSpPr>
          <p:cNvPr id="19" name="a2fade_tr0_4"/>
          <p:cNvSpPr/>
          <p:nvPr/>
        </p:nvSpPr>
        <p:spPr>
          <a:xfrm>
            <a:off x="2770632" y="3246120"/>
            <a:ext cx="36576" cy="1005840"/>
          </a:xfrm>
          <a:prstGeom prst="rect">
            <a:avLst/>
          </a:prstGeom>
          <a:solidFill>
            <a:srgbClr val="6B5B4B"/>
          </a:solidFill>
          <a:ln/>
        </p:spPr>
      </p:sp>
      <p:sp>
        <p:nvSpPr>
          <p:cNvPr id="20" name="a2fade_tc0_4"/>
          <p:cNvSpPr/>
          <p:nvPr/>
        </p:nvSpPr>
        <p:spPr>
          <a:xfrm>
            <a:off x="2615184" y="2926080"/>
            <a:ext cx="347472" cy="347472"/>
          </a:xfrm>
          <a:prstGeom prst="ellipse">
            <a:avLst/>
          </a:prstGeom>
          <a:solidFill>
            <a:srgbClr val="5E977A"/>
          </a:solidFill>
          <a:ln/>
        </p:spPr>
      </p:sp>
      <p:sp>
        <p:nvSpPr>
          <p:cNvPr id="21" name="a3rise_w0"/>
          <p:cNvSpPr/>
          <p:nvPr/>
        </p:nvSpPr>
        <p:spPr>
          <a:xfrm>
            <a:off x="795528" y="4069080"/>
            <a:ext cx="2386584" cy="256032"/>
          </a:xfrm>
          <a:prstGeom prst="rect">
            <a:avLst/>
          </a:prstGeom>
          <a:solidFill>
            <a:srgbClr val="5C8DB8">
              <a:alpha val="55000"/>
            </a:srgbClr>
          </a:solidFill>
          <a:ln/>
        </p:spPr>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sp>
      <p:sp>
        <p:nvSpPr>
          <p:cNvPr id="26" name="a2fade_tc1_0"/>
          <p:cNvSpPr/>
          <p:nvPr/>
        </p:nvSpPr>
        <p:spPr>
          <a:xfrm>
            <a:off x="3502152" y="2926080"/>
            <a:ext cx="347472" cy="347472"/>
          </a:xfrm>
          <a:prstGeom prst="ellipse">
            <a:avLst/>
          </a:prstGeom>
          <a:solidFill>
            <a:srgbClr val="5E977A"/>
          </a:solidFill>
          <a:ln/>
        </p:spPr>
      </p:sp>
      <p:sp>
        <p:nvSpPr>
          <p:cNvPr id="27" name="a2fade_tr1_1"/>
          <p:cNvSpPr/>
          <p:nvPr/>
        </p:nvSpPr>
        <p:spPr>
          <a:xfrm>
            <a:off x="4087368" y="3246120"/>
            <a:ext cx="36576" cy="1005840"/>
          </a:xfrm>
          <a:prstGeom prst="rect">
            <a:avLst/>
          </a:prstGeom>
          <a:solidFill>
            <a:srgbClr val="6B5B4B"/>
          </a:solidFill>
          <a:ln/>
        </p:spPr>
      </p:sp>
      <p:sp>
        <p:nvSpPr>
          <p:cNvPr id="28" name="a2fade_tc1_1"/>
          <p:cNvSpPr/>
          <p:nvPr/>
        </p:nvSpPr>
        <p:spPr>
          <a:xfrm>
            <a:off x="3931920" y="2926080"/>
            <a:ext cx="347472" cy="347472"/>
          </a:xfrm>
          <a:prstGeom prst="ellipse">
            <a:avLst/>
          </a:prstGeom>
          <a:solidFill>
            <a:srgbClr val="5E977A"/>
          </a:solidFill>
          <a:ln/>
        </p:spPr>
      </p:sp>
      <p:sp>
        <p:nvSpPr>
          <p:cNvPr id="29" name="a2fade_tr1_2"/>
          <p:cNvSpPr/>
          <p:nvPr/>
        </p:nvSpPr>
        <p:spPr>
          <a:xfrm>
            <a:off x="4517136" y="3246120"/>
            <a:ext cx="36576" cy="1005840"/>
          </a:xfrm>
          <a:prstGeom prst="rect">
            <a:avLst/>
          </a:prstGeom>
          <a:solidFill>
            <a:srgbClr val="6B5B4B"/>
          </a:solidFill>
          <a:ln/>
        </p:spPr>
      </p:sp>
      <p:sp>
        <p:nvSpPr>
          <p:cNvPr id="30" name="a2fade_tc1_2"/>
          <p:cNvSpPr/>
          <p:nvPr/>
        </p:nvSpPr>
        <p:spPr>
          <a:xfrm>
            <a:off x="4361688" y="2926080"/>
            <a:ext cx="347472" cy="347472"/>
          </a:xfrm>
          <a:prstGeom prst="ellipse">
            <a:avLst/>
          </a:prstGeom>
          <a:solidFill>
            <a:srgbClr val="5E977A"/>
          </a:solidFill>
          <a:ln/>
        </p:spPr>
      </p:sp>
      <p:sp>
        <p:nvSpPr>
          <p:cNvPr id="31" name="a2fade_tr1_3"/>
          <p:cNvSpPr/>
          <p:nvPr/>
        </p:nvSpPr>
        <p:spPr>
          <a:xfrm>
            <a:off x="4946904" y="3246120"/>
            <a:ext cx="36576" cy="1005840"/>
          </a:xfrm>
          <a:prstGeom prst="rect">
            <a:avLst/>
          </a:prstGeom>
          <a:solidFill>
            <a:srgbClr val="6B5B4B"/>
          </a:solidFill>
          <a:ln/>
        </p:spPr>
      </p:sp>
      <p:sp>
        <p:nvSpPr>
          <p:cNvPr id="32" name="a2fade_tc1_3"/>
          <p:cNvSpPr/>
          <p:nvPr/>
        </p:nvSpPr>
        <p:spPr>
          <a:xfrm>
            <a:off x="4791456" y="2926080"/>
            <a:ext cx="347472" cy="347472"/>
          </a:xfrm>
          <a:prstGeom prst="ellipse">
            <a:avLst/>
          </a:prstGeom>
          <a:solidFill>
            <a:srgbClr val="5E977A"/>
          </a:solidFill>
          <a:ln/>
        </p:spPr>
      </p:sp>
      <p:sp>
        <p:nvSpPr>
          <p:cNvPr id="33" name="a2fade_tr1_4"/>
          <p:cNvSpPr/>
          <p:nvPr/>
        </p:nvSpPr>
        <p:spPr>
          <a:xfrm>
            <a:off x="5376672" y="3246120"/>
            <a:ext cx="36576" cy="1005840"/>
          </a:xfrm>
          <a:prstGeom prst="rect">
            <a:avLst/>
          </a:prstGeom>
          <a:solidFill>
            <a:srgbClr val="6B5B4B"/>
          </a:solidFill>
          <a:ln/>
        </p:spPr>
      </p:sp>
      <p:sp>
        <p:nvSpPr>
          <p:cNvPr id="34" name="a2fade_tc1_4"/>
          <p:cNvSpPr/>
          <p:nvPr/>
        </p:nvSpPr>
        <p:spPr>
          <a:xfrm>
            <a:off x="5221224" y="2926080"/>
            <a:ext cx="347472" cy="347472"/>
          </a:xfrm>
          <a:prstGeom prst="ellipse">
            <a:avLst/>
          </a:prstGeom>
          <a:solidFill>
            <a:srgbClr val="5E977A"/>
          </a:solidFill>
          <a:ln/>
        </p:spPr>
      </p:sp>
      <p:sp>
        <p:nvSpPr>
          <p:cNvPr id="35" name="a3rise_w1"/>
          <p:cNvSpPr/>
          <p:nvPr/>
        </p:nvSpPr>
        <p:spPr>
          <a:xfrm>
            <a:off x="3401568" y="3337560"/>
            <a:ext cx="2386584" cy="987552"/>
          </a:xfrm>
          <a:prstGeom prst="rect">
            <a:avLst/>
          </a:prstGeom>
          <a:solidFill>
            <a:srgbClr val="5C8DB8">
              <a:alpha val="55000"/>
            </a:srgbClr>
          </a:solidFill>
          <a:ln/>
        </p:spPr>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textbook NDVI-only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9828FEFC-C4D6-C937-20B4-237ABBEB007A}"/>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sp>
      <p:sp>
        <p:nvSpPr>
          <p:cNvPr id="44" name="a8ping_d0"/>
          <p:cNvSpPr/>
          <p:nvPr/>
        </p:nvSpPr>
        <p:spPr>
          <a:xfrm>
            <a:off x="9101819" y="2231136"/>
            <a:ext cx="292608" cy="292608"/>
          </a:xfrm>
          <a:prstGeom prst="ellipse">
            <a:avLst/>
          </a:prstGeom>
          <a:ln w="25400">
            <a:solidFill>
              <a:srgbClr val="BE5F6D"/>
            </a:solidFill>
            <a:prstDash val="solid"/>
          </a:ln>
        </p:spPr>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 We withdrew our own first test (58 % / 90 %): it had no chance baseline.</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BONUS CRITERIA · BEYOND THE PROOF OF CONCEPT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BONUS · DOCUMENTATION &amp; REPRODUCIBILITY</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outputs committed · pinned requirements · example in/out</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BONUS · SCALABILITY BEYOND THE POC</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more EnMAP dates</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Our ask:  </a:t>
            </a:r>
            <a:r>
              <a:rPr lang="en-US" sz="1500" dirty="0">
                <a:solidFill>
                  <a:srgbClr val="FFFFFF"/>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23" name="a7fade_ty"/>
          <p:cNvSpPr txBox="1"/>
          <p:nvPr/>
        </p:nvSpPr>
        <p:spPr>
          <a:xfrm>
            <a:off x="9052560" y="5833872"/>
            <a:ext cx="2395728" cy="411480"/>
          </a:xfrm>
          <a:prstGeom prst="rect">
            <a:avLst/>
          </a:prstGeom>
          <a:noFill/>
          <a:ln/>
        </p:spPr>
        <p:txBody>
          <a:bodyPr wrap="square" lIns="0" tIns="0" rIns="0" bIns="0" rtlCol="0" anchor="t"/>
          <a:lstStyle/>
          <a:p>
            <a:pPr marL="0" indent="0" algn="r">
              <a:lnSpc>
                <a:spcPct val="105000"/>
              </a:lnSpc>
              <a:buNone/>
            </a:pPr>
            <a:r>
              <a:rPr lang="en-US" sz="2000" dirty="0">
                <a:solidFill>
                  <a:srgbClr val="F1D9A0"/>
                </a:solidFill>
                <a:latin typeface="Segoe UI Semibold" pitchFamily="34" charset="0"/>
                <a:ea typeface="Segoe UI Semibold" pitchFamily="34" charset="-122"/>
                <a:cs typeface="Segoe UI Semibold" pitchFamily="34" charset="-120"/>
              </a:rPr>
              <a:t>Thank you</a:t>
            </a:r>
            <a:endParaRPr lang="en-US" sz="2000" dirty="0"/>
          </a:p>
        </p:txBody>
      </p:sp>
      <p:pic>
        <p:nvPicPr>
          <p:cNvPr id="24" name="a7fade_fae" descr="C:\Users\nahla\Desktop\UAE-Space-Hackatoon\deck_pptx\flag_ae.png"/>
          <p:cNvPicPr>
            <a:picLocks noChangeAspect="1"/>
          </p:cNvPicPr>
          <p:nvPr/>
        </p:nvPicPr>
        <p:blipFill>
          <a:blip r:embed="rId5"/>
          <a:stretch>
            <a:fillRect/>
          </a:stretch>
        </p:blipFill>
        <p:spPr>
          <a:xfrm>
            <a:off x="9326880" y="5934456"/>
            <a:ext cx="402336" cy="201168"/>
          </a:xfrm>
          <a:prstGeom prst="rect">
            <a:avLst/>
          </a:prstGeom>
        </p:spPr>
      </p:pic>
      <p:pic>
        <p:nvPicPr>
          <p:cNvPr id="25" name="a7fade_fbh" descr="C:\Users\nahla\Desktop\UAE-Space-Hackatoon\deck_pptx\flag_bh.png"/>
          <p:cNvPicPr>
            <a:picLocks noChangeAspect="1"/>
          </p:cNvPicPr>
          <p:nvPr/>
        </p:nvPicPr>
        <p:blipFill>
          <a:blip r:embed="rId6"/>
          <a:stretch>
            <a:fillRect/>
          </a:stretch>
        </p:blipFill>
        <p:spPr>
          <a:xfrm>
            <a:off x="9802368" y="5934456"/>
            <a:ext cx="338328" cy="20116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par>
                                <p:cTn id="75" presetID="10" presetClass="entr" presetSubtype="0" decel="100000" fill="hold" grpId="0" nodeType="withEffect">
                                  <p:stCondLst>
                                    <p:cond delay="179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600"/>
                                        <p:tgtEl>
                                          <p:spTgt spid="23"/>
                                        </p:tgtEl>
                                      </p:cBhvr>
                                    </p:animEffect>
                                  </p:childTnLst>
                                </p:cTn>
                              </p:par>
                              <p:par>
                                <p:cTn id="78" presetID="10" presetClass="entr" presetSubtype="0" decel="100000" fill="hold" grpId="0" nodeType="withEffect">
                                  <p:stCondLst>
                                    <p:cond delay="17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600"/>
                                        <p:tgtEl>
                                          <p:spTgt spid="24"/>
                                        </p:tgtEl>
                                      </p:cBhvr>
                                    </p:animEffect>
                                  </p:childTnLst>
                                </p:cTn>
                              </p:par>
                              <p:par>
                                <p:cTn id="81" presetID="10" presetClass="entr" presetSubtype="0" decel="100000" fill="hold" grpId="0" nodeType="withEffect">
                                  <p:stCondLst>
                                    <p:cond delay="179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6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p:bldP spid="25"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6949440" y="-256032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560320" y="2926080"/>
            <a:ext cx="6858000" cy="6858000"/>
          </a:xfrm>
          <a:prstGeom prst="rect">
            <a:avLst/>
          </a:prstGeom>
        </p:spPr>
      </p:pic>
      <p:sp>
        <p:nvSpPr>
          <p:cNvPr id="5" name="a1zoom_flagbg"/>
          <p:cNvSpPr/>
          <p:nvPr/>
        </p:nvSpPr>
        <p:spPr>
          <a:xfrm>
            <a:off x="676656" y="1024128"/>
            <a:ext cx="2670048" cy="1353312"/>
          </a:xfrm>
          <a:prstGeom prst="roundRect">
            <a:avLst>
              <a:gd name="adj" fmla="val 4054"/>
            </a:avLst>
          </a:prstGeom>
          <a:solidFill>
            <a:srgbClr val="FFFFFF"/>
          </a:solidFill>
          <a:ln/>
          <a:effectLst>
            <a:outerShdw blurRad="152400" dist="38100" dir="5400000" algn="bl" rotWithShape="0">
              <a:srgbClr val="1B2B40">
                <a:alpha val="25000"/>
              </a:srgbClr>
            </a:outerShdw>
          </a:effectLst>
        </p:spPr>
      </p:sp>
      <p:pic>
        <p:nvPicPr>
          <p:cNvPr id="6" name="a1zoom_flag" descr="C:\Users\nahla\Desktop\UAE-Space-Hackatoon\deck_pptx\flag_ae.png"/>
          <p:cNvPicPr>
            <a:picLocks noChangeAspect="1"/>
          </p:cNvPicPr>
          <p:nvPr/>
        </p:nvPicPr>
        <p:blipFill>
          <a:blip r:embed="rId5"/>
          <a:stretch>
            <a:fillRect/>
          </a:stretch>
        </p:blipFill>
        <p:spPr>
          <a:xfrm>
            <a:off x="731520" y="1078992"/>
            <a:ext cx="2560320" cy="1243584"/>
          </a:xfrm>
          <a:prstGeom prst="rect">
            <a:avLst/>
          </a:prstGeom>
        </p:spPr>
      </p:pic>
      <p:sp>
        <p:nvSpPr>
          <p:cNvPr id="7" name="a2float_ty"/>
          <p:cNvSpPr txBox="1"/>
          <p:nvPr/>
        </p:nvSpPr>
        <p:spPr>
          <a:xfrm>
            <a:off x="3611880" y="896112"/>
            <a:ext cx="7863840" cy="960120"/>
          </a:xfrm>
          <a:prstGeom prst="rect">
            <a:avLst/>
          </a:prstGeom>
          <a:noFill/>
          <a:ln/>
        </p:spPr>
        <p:txBody>
          <a:bodyPr wrap="square" lIns="0" tIns="0" rIns="0" bIns="0" rtlCol="0" anchor="t"/>
          <a:lstStyle/>
          <a:p>
            <a:pPr marL="0" indent="0" algn="l">
              <a:lnSpc>
                <a:spcPct val="105000"/>
              </a:lnSpc>
              <a:buNone/>
            </a:pPr>
            <a:r>
              <a:rPr lang="en-US" sz="6000" dirty="0">
                <a:solidFill>
                  <a:srgbClr val="FFFFFF"/>
                </a:solidFill>
                <a:latin typeface="Segoe UI Semibold" pitchFamily="34" charset="0"/>
                <a:ea typeface="Segoe UI Semibold" pitchFamily="34" charset="-122"/>
                <a:cs typeface="Segoe UI Semibold" pitchFamily="34" charset="-120"/>
              </a:rPr>
              <a:t>Thank you</a:t>
            </a:r>
            <a:endParaRPr lang="en-US" sz="6000" dirty="0"/>
          </a:p>
        </p:txBody>
      </p:sp>
      <p:sp>
        <p:nvSpPr>
          <p:cNvPr id="8" name="a2float_tyar"/>
          <p:cNvSpPr txBox="1"/>
          <p:nvPr/>
        </p:nvSpPr>
        <p:spPr>
          <a:xfrm>
            <a:off x="3639312" y="1810512"/>
            <a:ext cx="7863840" cy="685800"/>
          </a:xfrm>
          <a:prstGeom prst="rect">
            <a:avLst/>
          </a:prstGeom>
          <a:noFill/>
          <a:ln/>
        </p:spPr>
        <p:txBody>
          <a:bodyPr wrap="square" lIns="0" tIns="0" rIns="0" bIns="0" rtlCol="0" anchor="t"/>
          <a:lstStyle/>
          <a:p>
            <a:pPr marL="0" indent="0" algn="l">
              <a:lnSpc>
                <a:spcPct val="105000"/>
              </a:lnSpc>
              <a:buNone/>
            </a:pPr>
            <a:r>
              <a:rPr lang="en-US" sz="3200" dirty="0">
                <a:solidFill>
                  <a:srgbClr val="D4E2EE"/>
                </a:solidFill>
                <a:latin typeface="Segoe UI Semibold" pitchFamily="34" charset="0"/>
                <a:ea typeface="Segoe UI Semibold" pitchFamily="34" charset="-122"/>
                <a:cs typeface="Segoe UI Semibold" pitchFamily="34" charset="-120"/>
              </a:rPr>
              <a:t>شكراً للإمارات</a:t>
            </a:r>
            <a:endParaRPr lang="en-US" sz="3200" dirty="0"/>
          </a:p>
        </p:txBody>
      </p:sp>
      <p:sp>
        <p:nvSpPr>
          <p:cNvPr id="9" name="a3float_uae"/>
          <p:cNvSpPr txBox="1"/>
          <p:nvPr/>
        </p:nvSpPr>
        <p:spPr>
          <a:xfrm>
            <a:off x="731520" y="2880360"/>
            <a:ext cx="10698480" cy="1051560"/>
          </a:xfrm>
          <a:prstGeom prst="rect">
            <a:avLst/>
          </a:prstGeom>
          <a:noFill/>
          <a:ln/>
        </p:spPr>
        <p:txBody>
          <a:bodyPr wrap="square" lIns="0" tIns="0" rIns="0" bIns="0" rtlCol="0" anchor="t"/>
          <a:lstStyle/>
          <a:p>
            <a:pPr marL="0" indent="0" algn="l">
              <a:lnSpc>
                <a:spcPct val="105000"/>
              </a:lnSpc>
              <a:buNone/>
            </a:pPr>
            <a:r>
              <a:rPr lang="en-US" sz="2400" dirty="0">
                <a:solidFill>
                  <a:srgbClr val="FFFFFF"/>
                </a:solidFill>
                <a:latin typeface="Segoe UI Light" pitchFamily="34" charset="0"/>
                <a:ea typeface="Segoe UI Light" pitchFamily="34" charset="-122"/>
                <a:cs typeface="Segoe UI Light" pitchFamily="34" charset="-120"/>
              </a:rPr>
              <a:t>To the </a:t>
            </a:r>
            <a:r>
              <a:rPr lang="en-US" sz="2400" b="1" dirty="0">
                <a:solidFill>
                  <a:srgbClr val="F1D9A0"/>
                </a:solidFill>
                <a:latin typeface="Segoe UI Light" pitchFamily="34" charset="0"/>
                <a:ea typeface="Segoe UI Light" pitchFamily="34" charset="-122"/>
                <a:cs typeface="Segoe UI Light" pitchFamily="34" charset="-120"/>
              </a:rPr>
              <a:t>United Arab Emirates</a:t>
            </a:r>
            <a:r>
              <a:rPr lang="en-US" sz="2400" dirty="0">
                <a:solidFill>
                  <a:srgbClr val="FFFFFF"/>
                </a:solidFill>
                <a:latin typeface="Segoe UI Light" pitchFamily="34" charset="0"/>
                <a:ea typeface="Segoe UI Light" pitchFamily="34" charset="-122"/>
                <a:cs typeface="Segoe UI Light" pitchFamily="34" charset="-120"/>
              </a:rPr>
              <a:t> — for leading the region in protecting its mangroves, and for opening space to Arab youth.</a:t>
            </a:r>
            <a:endParaRPr lang="en-US" sz="2400" dirty="0"/>
          </a:p>
        </p:txBody>
      </p:sp>
      <p:sp>
        <p:nvSpPr>
          <p:cNvPr id="10" name="a4float_org"/>
          <p:cNvSpPr/>
          <p:nvPr/>
        </p:nvSpPr>
        <p:spPr>
          <a:xfrm>
            <a:off x="731520" y="416052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sp>
      <p:sp>
        <p:nvSpPr>
          <p:cNvPr id="11" name="a4float_orgt"/>
          <p:cNvSpPr txBox="1"/>
          <p:nvPr/>
        </p:nvSpPr>
        <p:spPr>
          <a:xfrm>
            <a:off x="960120" y="4160520"/>
            <a:ext cx="10332720" cy="868680"/>
          </a:xfrm>
          <a:prstGeom prst="rect">
            <a:avLst/>
          </a:prstGeom>
          <a:noFill/>
          <a:ln/>
        </p:spPr>
        <p:txBody>
          <a:bodyPr wrap="square" lIns="0" tIns="0" rIns="0" bIns="0" rtlCol="0" anchor="ctr"/>
          <a:lstStyle/>
          <a:p>
            <a:pPr marL="0" indent="0" algn="l">
              <a:lnSpc>
                <a:spcPct val="105000"/>
              </a:lnSpc>
              <a:buNone/>
            </a:pPr>
            <a:r>
              <a:rPr lang="en-US" sz="1700" b="1" dirty="0">
                <a:solidFill>
                  <a:srgbClr val="E3EDF8"/>
                </a:solidFill>
                <a:latin typeface="Segoe UI" pitchFamily="34" charset="0"/>
                <a:ea typeface="Segoe UI" pitchFamily="34" charset="-122"/>
                <a:cs typeface="Segoe UI" pitchFamily="34" charset="-120"/>
              </a:rPr>
              <a:t>With thanks to:  </a:t>
            </a:r>
            <a:r>
              <a:rPr lang="en-US" sz="1700" dirty="0">
                <a:solidFill>
                  <a:srgbClr val="FFFFFF"/>
                </a:solidFill>
                <a:latin typeface="Segoe UI" pitchFamily="34" charset="0"/>
                <a:ea typeface="Segoe UI" pitchFamily="34" charset="-122"/>
                <a:cs typeface="Segoe UI" pitchFamily="34" charset="-120"/>
              </a:rPr>
              <a:t>UAE Space Agency  ·  National Space Academy  ·  Space42  ·  the mentors and the judges</a:t>
            </a:r>
            <a:endParaRPr lang="en-US" sz="1700" dirty="0"/>
          </a:p>
        </p:txBody>
      </p:sp>
      <p:pic>
        <p:nvPicPr>
          <p:cNvPr id="12" name="a5fade_fbh" descr="C:\Users\nahla\Desktop\UAE-Space-Hackatoon\deck_pptx\flag_bh.png"/>
          <p:cNvPicPr>
            <a:picLocks noChangeAspect="1"/>
          </p:cNvPicPr>
          <p:nvPr/>
        </p:nvPicPr>
        <p:blipFill>
          <a:blip r:embed="rId6"/>
          <a:stretch>
            <a:fillRect/>
          </a:stretch>
        </p:blipFill>
        <p:spPr>
          <a:xfrm>
            <a:off x="731520" y="5559552"/>
            <a:ext cx="384048" cy="228600"/>
          </a:xfrm>
          <a:prstGeom prst="rect">
            <a:avLst/>
          </a:prstGeom>
        </p:spPr>
      </p:pic>
      <p:sp>
        <p:nvSpPr>
          <p:cNvPr id="13" name="a5fade_from"/>
          <p:cNvSpPr txBox="1"/>
          <p:nvPr/>
        </p:nvSpPr>
        <p:spPr>
          <a:xfrm>
            <a:off x="1207008" y="5468112"/>
            <a:ext cx="8229600" cy="411480"/>
          </a:xfrm>
          <a:prstGeom prst="rect">
            <a:avLst/>
          </a:prstGeom>
          <a:noFill/>
          <a:ln/>
        </p:spPr>
        <p:txBody>
          <a:bodyPr wrap="square" lIns="0" tIns="0" rIns="0" bIns="0" rtlCol="0" anchor="ctr"/>
          <a:lstStyle/>
          <a:p>
            <a:pPr marL="0" indent="0" algn="l">
              <a:lnSpc>
                <a:spcPct val="105000"/>
              </a:lnSpc>
              <a:buNone/>
            </a:pPr>
            <a:r>
              <a:rPr lang="en-US" sz="1400" dirty="0">
                <a:solidFill>
                  <a:srgbClr val="D4E2EE"/>
                </a:solidFill>
                <a:latin typeface="Segoe UI" pitchFamily="34" charset="0"/>
                <a:ea typeface="Segoe UI" pitchFamily="34" charset="-122"/>
                <a:cs typeface="Segoe UI" pitchFamily="34" charset="-120"/>
              </a:rPr>
              <a:t>From Bahrain, with gratitude  —  Nahla Nabil  ·  Team Blue Athar</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4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anim calcmode="lin" valueType="num">
                                      <p:cBhvr additive="base">
                                        <p:cTn id="8" dur="800" fill="hold"/>
                                        <p:tgtEl>
                                          <p:spTgt spid="5"/>
                                        </p:tgtEl>
                                        <p:attrNameLst>
                                          <p:attrName>ppt_w</p:attrName>
                                        </p:attrNameLst>
                                      </p:cBhvr>
                                      <p:tavLst>
                                        <p:tav tm="0">
                                          <p:val>
                                            <p:strVal val="#ppt_w*0.85"/>
                                          </p:val>
                                        </p:tav>
                                        <p:tav tm="100000">
                                          <p:val>
                                            <p:strVal val="#ppt_w"/>
                                          </p:val>
                                        </p:tav>
                                      </p:tavLst>
                                    </p:anim>
                                    <p:anim calcmode="lin" valueType="num">
                                      <p:cBhvr additive="base">
                                        <p:cTn id="9" dur="800" fill="hold"/>
                                        <p:tgtEl>
                                          <p:spTgt spid="5"/>
                                        </p:tgtEl>
                                        <p:attrNameLst>
                                          <p:attrName>ppt_h</p:attrName>
                                        </p:attrNameLst>
                                      </p:cBhvr>
                                      <p:tavLst>
                                        <p:tav tm="0">
                                          <p:val>
                                            <p:strVal val="#ppt_h*0.85"/>
                                          </p:val>
                                        </p:tav>
                                        <p:tav tm="100000">
                                          <p:val>
                                            <p:strVal val="#ppt_h"/>
                                          </p:val>
                                        </p:tav>
                                      </p:tavLst>
                                    </p:anim>
                                  </p:childTnLst>
                                </p:cTn>
                              </p:par>
                              <p:par>
                                <p:cTn id="10" presetID="53" presetClass="entr" presetSubtype="16" decel="100000" fill="hold" grpId="0" nodeType="withEffect">
                                  <p:stCondLst>
                                    <p:cond delay="47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p:tgtEl>
                                          <p:spTgt spid="6"/>
                                        </p:tgtEl>
                                      </p:cBhvr>
                                    </p:animEffect>
                                    <p:anim calcmode="lin" valueType="num">
                                      <p:cBhvr additive="base">
                                        <p:cTn id="13" dur="800" fill="hold"/>
                                        <p:tgtEl>
                                          <p:spTgt spid="6"/>
                                        </p:tgtEl>
                                        <p:attrNameLst>
                                          <p:attrName>ppt_w</p:attrName>
                                        </p:attrNameLst>
                                      </p:cBhvr>
                                      <p:tavLst>
                                        <p:tav tm="0">
                                          <p:val>
                                            <p:strVal val="#ppt_w*0.85"/>
                                          </p:val>
                                        </p:tav>
                                        <p:tav tm="100000">
                                          <p:val>
                                            <p:strVal val="#ppt_w"/>
                                          </p:val>
                                        </p:tav>
                                      </p:tavLst>
                                    </p:anim>
                                    <p:anim calcmode="lin" valueType="num">
                                      <p:cBhvr additive="base">
                                        <p:cTn id="14" dur="800" fill="hold"/>
                                        <p:tgtEl>
                                          <p:spTgt spid="6"/>
                                        </p:tgtEl>
                                        <p:attrNameLst>
                                          <p:attrName>ppt_h</p:attrName>
                                        </p:attrNameLst>
                                      </p:cBhvr>
                                      <p:tavLst>
                                        <p:tav tm="0">
                                          <p:val>
                                            <p:strVal val="#ppt_h*0.85"/>
                                          </p:val>
                                        </p:tav>
                                        <p:tav tm="100000">
                                          <p:val>
                                            <p:strVal val="#ppt_h"/>
                                          </p:val>
                                        </p:tav>
                                      </p:tavLst>
                                    </p:anim>
                                  </p:childTnLst>
                                </p:cTn>
                              </p:par>
                              <p:par>
                                <p:cTn id="15" presetID="42" presetClass="entr" presetSubtype="0" decel="100000" fill="hold" grpId="0" nodeType="withEffect">
                                  <p:stCondLst>
                                    <p:cond delay="69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03"/>
                                          </p:val>
                                        </p:tav>
                                        <p:tav tm="100000">
                                          <p:val>
                                            <p:strVal val="#ppt_y"/>
                                          </p:val>
                                        </p:tav>
                                      </p:tavLst>
                                    </p:anim>
                                  </p:childTnLst>
                                </p:cTn>
                              </p:par>
                              <p:par>
                                <p:cTn id="19" presetID="42" presetClass="entr" presetSubtype="0" decel="100000" fill="hold" grpId="0" nodeType="withEffect">
                                  <p:stCondLst>
                                    <p:cond delay="69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03"/>
                                          </p:val>
                                        </p:tav>
                                        <p:tav tm="100000">
                                          <p:val>
                                            <p:strVal val="#ppt_y"/>
                                          </p:val>
                                        </p:tav>
                                      </p:tavLst>
                                    </p:anim>
                                  </p:childTnLst>
                                </p:cTn>
                              </p:par>
                              <p:par>
                                <p:cTn id="23" presetID="42" presetClass="entr" presetSubtype="0" decel="100000" fill="hold" grpId="0" nodeType="withEffect">
                                  <p:stCondLst>
                                    <p:cond delay="91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1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11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10" presetClass="entr" presetSubtype="0" decel="100000" fill="hold" grpId="0" nodeType="withEffect">
                                  <p:stCondLst>
                                    <p:cond delay="13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P spid="11" grpId="0" animBg="1"/>
      <p:bldP spid="12" grpId="0"/>
      <p:bldP spid="13"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textbook approach against ours, same alert rule</a:t>
            </a:r>
            <a:endParaRPr lang="en-US" sz="3400" dirty="0"/>
          </a:p>
        </p:txBody>
      </p:sp>
      <p:graphicFrame>
        <p:nvGraphicFramePr>
          <p:cNvPr id="2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textbook</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700"/>
                                        <p:tgtEl>
                                          <p:spTgt spid="21"/>
                                        </p:tgtEl>
                                      </p:cBhvr>
                                    </p:animEffect>
                                    <p:anim calcmode="lin" valueType="num">
                                      <p:cBhvr additive="base">
                                        <p:cTn id="15" dur="700" fill="hold"/>
                                        <p:tgtEl>
                                          <p:spTgt spid="2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1"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it breaks — 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2-minute product demo</a:t>
            </a:r>
            <a:endParaRPr lang="en-US" sz="3400" dirty="0"/>
          </a:p>
        </p:txBody>
      </p:sp>
      <p:sp>
        <p:nvSpPr>
          <p:cNvPr id="7" name="a1zoom_dframe"/>
          <p:cNvSpPr/>
          <p:nvPr/>
        </p:nvSpPr>
        <p:spPr>
          <a:xfrm>
            <a:off x="2154784" y="1636776"/>
            <a:ext cx="7882128" cy="4481703"/>
          </a:xfrm>
          <a:prstGeom prst="roundRect">
            <a:avLst>
              <a:gd name="adj" fmla="val 1632"/>
            </a:avLst>
          </a:prstGeom>
          <a:solidFill>
            <a:srgbClr val="FFFFFF"/>
          </a:solidFill>
          <a:ln w="15875">
            <a:solidFill>
              <a:srgbClr val="3F6E9E"/>
            </a:solidFill>
            <a:prstDash val="solid"/>
          </a:ln>
          <a:effectLst>
            <a:outerShdw blurRad="152400" dist="38100" dir="5400000" algn="bl" rotWithShape="0">
              <a:srgbClr val="1B2B40">
                <a:alpha val="12000"/>
              </a:srgbClr>
            </a:outerShdw>
          </a:effectLst>
        </p:spPr>
      </p:sp>
      <p:pic>
        <p:nvPicPr>
          <p:cNvPr id="6" name="video_demo">
            <a:hlinkClick r:id="" action="ppaction://media"/>
            <a:extLst>
              <a:ext uri="{FF2B5EF4-FFF2-40B4-BE49-F238E27FC236}">
                <a16:creationId xmlns:a16="http://schemas.microsoft.com/office/drawing/2014/main" id="{79749EE9-AF07-0BEF-4AE5-16D3209AAF4F}"/>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2209648" y="1691641"/>
            <a:ext cx="7772400" cy="4371975"/>
          </a:xfrm>
          <a:prstGeom prst="rect">
            <a:avLst/>
          </a:prstGeom>
        </p:spPr>
      </p:pic>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7" restart="whenNotActive" fill="hold" evtFilter="cancelBubble" nodeType="interactiveSeq">
                <p:stCondLst>
                  <p:cond evt="onClick" delay="0">
                    <p:tgtEl>
                      <p:spTgt spid="6"/>
                    </p:tgtEl>
                  </p:cond>
                </p:stCondLst>
                <p:endSync evt="end" delay="0">
                  <p:rtn val="all"/>
                </p:endSync>
                <p:childTnLst>
                  <p:par>
                    <p:cTn id="18" fill="hold">
                      <p:stCondLst>
                        <p:cond delay="0"/>
                      </p:stCondLst>
                      <p:childTnLst>
                        <p:par>
                          <p:cTn id="19" fill="hold">
                            <p:stCondLst>
                              <p:cond delay="0"/>
                            </p:stCondLst>
                            <p:childTnLst>
                              <p:par>
                                <p:cTn id="20" presetID="2" presetClass="mediacall" presetSubtype="0" fill="hold" nodeType="clickEffect">
                                  <p:stCondLst>
                                    <p:cond delay="0"/>
                                  </p:stCondLst>
                                  <p:childTnLst>
                                    <p:cmd type="call" cmd="togglePause">
                                      <p:cBhvr>
                                        <p:cTn id="21" dur="1" fill="hold"/>
                                        <p:tgtEl>
                                          <p:spTgt spid="6"/>
                                        </p:tgtEl>
                                      </p:cBhvr>
                                    </p:cmd>
                                  </p:childTnLst>
                                </p:cTn>
                              </p:par>
                            </p:childTnLst>
                          </p:cTn>
                        </p:par>
                      </p:childTnLst>
                    </p:cTn>
                  </p:par>
                </p:childTnLst>
              </p:cTn>
              <p:nextCondLst>
                <p:cond evt="onClick" delay="0">
                  <p:tgtEl>
                    <p:spTgt spid="6"/>
                  </p:tgtEl>
                </p:cond>
              </p:nextCondLst>
            </p:seq>
            <p:video>
              <p:cMediaNode vol="80000">
                <p:cTn id="22" fill="hold" display="0">
                  <p:stCondLst>
                    <p:cond delay="indefinite"/>
                  </p:stCondLst>
                </p:cTn>
                <p:tgtEl>
                  <p:spTgt spid="6"/>
                </p:tgtEl>
              </p:cMediaNode>
            </p:video>
          </p:childTnLst>
        </p:cTn>
      </p:par>
    </p:tnLst>
    <p:bldLst>
      <p:bldP spid="4" grpId="0" animBg="1"/>
      <p:bldP spid="5" grpId="0" animBg="1"/>
      <p:bldP spid="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6003</Words>
  <Application>Microsoft Office PowerPoint</Application>
  <PresentationFormat>Widescreen</PresentationFormat>
  <Paragraphs>464</Paragraphs>
  <Slides>22</Slides>
  <Notes>22</Notes>
  <HiddenSlides>0</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Segoe UI</vt:lpstr>
      <vt:lpstr>Segoe UI Light</vt:lpstr>
      <vt:lpstr>Segoe UI Semibold</vt:lpstr>
      <vt:lpstr>Office Theme</vt:lpstr>
      <vt:lpstr>PowerPoint Presentation</vt:lpstr>
      <vt:lpstr>One engineer, every role — delivered in the open</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The tide looks like tree loss — until you correct for it</vt:lpstr>
      <vt:lpstr>A stand average hides partial loss. 200 m cells do not.</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PowerPoint Presentation</vt:lpstr>
      <vt:lpstr>The textbook approach against ours, same alert rule</vt:lpstr>
      <vt:lpstr>Where it breaks — and what we do not claim</vt:lpstr>
      <vt:lpstr>The 2-minute product demo</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2</cp:revision>
  <dcterms:created xsi:type="dcterms:W3CDTF">2026-10-17T20:00:55Z</dcterms:created>
  <dcterms:modified xsi:type="dcterms:W3CDTF">2026-10-17T20:01:05Z</dcterms:modified>
</cp:coreProperties>
</file>