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1B2B40"/>
                </a:solidFill>
                <a:latin typeface="Segoe UI"/>
              </a:defRPr>
            </a:pPr>
            <a:r>
              <a:rPr sz="1300" b="0" i="0" u="none" strike="noStrike">
                <a:solidFill>
                  <a:srgbClr val="1B2B40"/>
                </a:solidFill>
                <a:latin typeface="Segoe UI"/>
              </a:rPr>
              <a:t>Date-to-date noise, 25 stands, 2020–2026</a:t>
            </a:r>
          </a:p>
        </c:rich>
      </c:tx>
      <c:overlay val="0"/>
    </c:title>
    <c:autoTitleDeleted val="0"/>
    <c:plotArea>
      <c:layout/>
      <c:barChart>
        <c:barDir val="col"/>
        <c:grouping val="clustered"/>
        <c:varyColors val="0"/>
        <c:ser>
          <c:idx val="0"/>
          <c:order val="0"/>
          <c:tx>
            <c:strRef>
              <c:f>Sheet1!$B$1</c:f>
              <c:strCache>
                <c:ptCount val="1"/>
                <c:pt idx="0">
                  <c:v>without tide model</c:v>
                </c:pt>
              </c:strCache>
            </c:strRef>
          </c:tx>
          <c:spPr>
            <a:solidFill>
              <a:srgbClr val="B9C6D4"/>
            </a:solidFill>
            <a:effectLst/>
          </c:spPr>
          <c:invertIfNegative val="0"/>
          <c:dLbls>
            <c:numFmt formatCode="0.000" sourceLinked="0"/>
            <c:spPr>
              <a:noFill/>
              <a:ln>
                <a:noFill/>
              </a:ln>
              <a:effectLst/>
            </c:spPr>
            <c:txPr>
              <a:bodyPr/>
              <a:lstStyle/>
              <a:p>
                <a:pPr>
                  <a:defRPr sz="1000" b="0" i="0" u="none" strike="noStrike">
                    <a:solidFill>
                      <a:srgbClr val="1B2B40"/>
                    </a:solidFill>
                    <a:latin typeface="Segoe U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NDVI</c:v>
                </c:pt>
                <c:pt idx="1">
                  <c:v>NDRE (red edge)</c:v>
                </c:pt>
                <c:pt idx="2">
                  <c:v>NDMI (moisture)</c:v>
                </c:pt>
              </c:strCache>
            </c:strRef>
          </c:cat>
          <c:val>
            <c:numRef>
              <c:f>Sheet1!$B$2:$B$4</c:f>
              <c:numCache>
                <c:formatCode>General</c:formatCode>
                <c:ptCount val="3"/>
                <c:pt idx="0">
                  <c:v>4.36E-2</c:v>
                </c:pt>
                <c:pt idx="1">
                  <c:v>2.8299999999999999E-2</c:v>
                </c:pt>
                <c:pt idx="2">
                  <c:v>4.3299999999999998E-2</c:v>
                </c:pt>
              </c:numCache>
            </c:numRef>
          </c:val>
          <c:extLst>
            <c:ext xmlns:c16="http://schemas.microsoft.com/office/drawing/2014/chart" uri="{C3380CC4-5D6E-409C-BE32-E72D297353CC}">
              <c16:uniqueId val="{00000000-41D2-4E61-BE32-3B27995FFAAB}"/>
            </c:ext>
          </c:extLst>
        </c:ser>
        <c:ser>
          <c:idx val="1"/>
          <c:order val="1"/>
          <c:tx>
            <c:strRef>
              <c:f>Sheet1!$C$1</c:f>
              <c:strCache>
                <c:ptCount val="1"/>
                <c:pt idx="0">
                  <c:v>with tide model</c:v>
                </c:pt>
              </c:strCache>
            </c:strRef>
          </c:tx>
          <c:spPr>
            <a:solidFill>
              <a:srgbClr val="3F6E9E"/>
            </a:solidFill>
            <a:effectLst/>
          </c:spPr>
          <c:invertIfNegative val="0"/>
          <c:dLbls>
            <c:numFmt formatCode="0.000" sourceLinked="0"/>
            <c:spPr>
              <a:noFill/>
              <a:ln>
                <a:noFill/>
              </a:ln>
              <a:effectLst/>
            </c:spPr>
            <c:txPr>
              <a:bodyPr/>
              <a:lstStyle/>
              <a:p>
                <a:pPr>
                  <a:defRPr sz="1000" b="0" i="0" u="none" strike="noStrike">
                    <a:solidFill>
                      <a:srgbClr val="1B2B40"/>
                    </a:solidFill>
                    <a:latin typeface="Segoe U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NDVI</c:v>
                </c:pt>
                <c:pt idx="1">
                  <c:v>NDRE (red edge)</c:v>
                </c:pt>
                <c:pt idx="2">
                  <c:v>NDMI (moisture)</c:v>
                </c:pt>
              </c:strCache>
            </c:strRef>
          </c:cat>
          <c:val>
            <c:numRef>
              <c:f>Sheet1!$C$2:$C$4</c:f>
              <c:numCache>
                <c:formatCode>General</c:formatCode>
                <c:ptCount val="3"/>
                <c:pt idx="0">
                  <c:v>2.98E-2</c:v>
                </c:pt>
                <c:pt idx="1">
                  <c:v>1.83E-2</c:v>
                </c:pt>
                <c:pt idx="2">
                  <c:v>3.0599999999999999E-2</c:v>
                </c:pt>
              </c:numCache>
            </c:numRef>
          </c:val>
          <c:extLst>
            <c:ext xmlns:c16="http://schemas.microsoft.com/office/drawing/2014/chart" uri="{C3380CC4-5D6E-409C-BE32-E72D297353CC}">
              <c16:uniqueId val="{00000001-41D2-4E61-BE32-3B27995FFAA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3E0EE"/>
            </a:solidFill>
            <a:prstDash val="solid"/>
            <a:round/>
          </a:ln>
        </c:spPr>
        <c:txPr>
          <a:bodyPr/>
          <a:lstStyle/>
          <a:p>
            <a:pPr>
              <a:defRPr sz="1100" b="0" i="0" u="none" strike="noStrike">
                <a:solidFill>
                  <a:srgbClr val="5F738A"/>
                </a:solidFill>
                <a:latin typeface="Segoe U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5F738A"/>
              </a:solidFill>
              <a:latin typeface="Segoe UI"/>
              <a:cs typeface="Segoe U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1B2B40"/>
                </a:solidFill>
                <a:latin typeface="Segoe UI"/>
              </a:defRPr>
            </a:pPr>
            <a:r>
              <a:rPr sz="1300" b="0" i="0" u="none" strike="noStrike">
                <a:solidFill>
                  <a:srgbClr val="1B2B40"/>
                </a:solidFill>
                <a:latin typeface="Segoe UI"/>
              </a:rPr>
              <a:t>Artificial loss injected into stands with no known change</a:t>
            </a:r>
          </a:p>
        </c:rich>
      </c:tx>
      <c:overlay val="0"/>
    </c:title>
    <c:autoTitleDeleted val="0"/>
    <c:plotArea>
      <c:layout/>
      <c:barChart>
        <c:barDir val="bar"/>
        <c:grouping val="clustered"/>
        <c:varyColors val="0"/>
        <c:ser>
          <c:idx val="0"/>
          <c:order val="0"/>
          <c:tx>
            <c:strRef>
              <c:f>Sheet1!$B$1</c:f>
              <c:strCache>
                <c:ptCount val="1"/>
                <c:pt idx="0">
                  <c:v>detected</c:v>
                </c:pt>
              </c:strCache>
            </c:strRef>
          </c:tx>
          <c:spPr>
            <a:solidFill>
              <a:srgbClr val="3F6E9E"/>
            </a:solidFill>
            <a:effectLst/>
          </c:spPr>
          <c:invertIfNegative val="0"/>
          <c:dLbls>
            <c:numFmt formatCode="0&quot; %&quot;" sourceLinked="0"/>
            <c:spPr>
              <a:noFill/>
              <a:ln>
                <a:noFill/>
              </a:ln>
              <a:effectLst/>
            </c:spPr>
            <c:txPr>
              <a:bodyPr/>
              <a:lstStyle/>
              <a:p>
                <a:pPr>
                  <a:defRPr sz="1200" b="0" i="0" u="none" strike="noStrike">
                    <a:solidFill>
                      <a:srgbClr val="1B2B40"/>
                    </a:solidFill>
                    <a:latin typeface="Segoe U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Whole stand loses 20 % · 6 months</c:v>
                </c:pt>
                <c:pt idx="1">
                  <c:v>Whole stand loses 10 % · 6 months</c:v>
                </c:pt>
                <c:pt idx="2">
                  <c:v>A tenth of a stand loses half · 60 days</c:v>
                </c:pt>
              </c:strCache>
            </c:strRef>
          </c:cat>
          <c:val>
            <c:numRef>
              <c:f>Sheet1!$B$2:$B$4</c:f>
              <c:numCache>
                <c:formatCode>General</c:formatCode>
                <c:ptCount val="3"/>
                <c:pt idx="0">
                  <c:v>83</c:v>
                </c:pt>
                <c:pt idx="1">
                  <c:v>63</c:v>
                </c:pt>
                <c:pt idx="2">
                  <c:v>73</c:v>
                </c:pt>
              </c:numCache>
            </c:numRef>
          </c:val>
          <c:extLst>
            <c:ext xmlns:c16="http://schemas.microsoft.com/office/drawing/2014/chart" uri="{C3380CC4-5D6E-409C-BE32-E72D297353CC}">
              <c16:uniqueId val="{00000000-4258-46A8-B0F0-58CDCE6675A2}"/>
            </c:ext>
          </c:extLst>
        </c:ser>
        <c:ser>
          <c:idx val="1"/>
          <c:order val="1"/>
          <c:tx>
            <c:strRef>
              <c:f>Sheet1!$C$1</c:f>
              <c:strCache>
                <c:ptCount val="1"/>
                <c:pt idx="0">
                  <c:v>by chance (same test, no loss)</c:v>
                </c:pt>
              </c:strCache>
            </c:strRef>
          </c:tx>
          <c:spPr>
            <a:solidFill>
              <a:srgbClr val="B9C6D4"/>
            </a:solidFill>
            <a:effectLst/>
          </c:spPr>
          <c:invertIfNegative val="0"/>
          <c:dLbls>
            <c:numFmt formatCode="0&quot; %&quot;" sourceLinked="0"/>
            <c:spPr>
              <a:noFill/>
              <a:ln>
                <a:noFill/>
              </a:ln>
              <a:effectLst/>
            </c:spPr>
            <c:txPr>
              <a:bodyPr/>
              <a:lstStyle/>
              <a:p>
                <a:pPr>
                  <a:defRPr sz="1200" b="0" i="0" u="none" strike="noStrike">
                    <a:solidFill>
                      <a:srgbClr val="1B2B40"/>
                    </a:solidFill>
                    <a:latin typeface="Segoe U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Whole stand loses 20 % · 6 months</c:v>
                </c:pt>
                <c:pt idx="1">
                  <c:v>Whole stand loses 10 % · 6 months</c:v>
                </c:pt>
                <c:pt idx="2">
                  <c:v>A tenth of a stand loses half · 60 days</c:v>
                </c:pt>
              </c:strCache>
            </c:strRef>
          </c:cat>
          <c:val>
            <c:numRef>
              <c:f>Sheet1!$C$2:$C$4</c:f>
              <c:numCache>
                <c:formatCode>General</c:formatCode>
                <c:ptCount val="3"/>
                <c:pt idx="0">
                  <c:v>36</c:v>
                </c:pt>
                <c:pt idx="1">
                  <c:v>36</c:v>
                </c:pt>
                <c:pt idx="2">
                  <c:v>13</c:v>
                </c:pt>
              </c:numCache>
            </c:numRef>
          </c:val>
          <c:extLst>
            <c:ext xmlns:c16="http://schemas.microsoft.com/office/drawing/2014/chart" uri="{C3380CC4-5D6E-409C-BE32-E72D297353CC}">
              <c16:uniqueId val="{00000001-4258-46A8-B0F0-58CDCE6675A2}"/>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3E0EE"/>
            </a:solidFill>
            <a:prstDash val="solid"/>
            <a:round/>
          </a:ln>
        </c:spPr>
        <c:txPr>
          <a:bodyPr/>
          <a:lstStyle/>
          <a:p>
            <a:pPr>
              <a:defRPr sz="1100" b="0" i="0" u="none" strike="noStrike">
                <a:solidFill>
                  <a:srgbClr val="1B2B40"/>
                </a:solidFill>
                <a:latin typeface="Segoe UI"/>
              </a:defRPr>
            </a:pPr>
            <a:endParaRPr lang="en-US"/>
          </a:p>
        </c:txPr>
        <c:crossAx val="2094734552"/>
        <c:crosses val="autoZero"/>
        <c:auto val="1"/>
        <c:lblAlgn val="ctr"/>
        <c:lblOffset val="100"/>
        <c:noMultiLvlLbl val="1"/>
      </c:catAx>
      <c:valAx>
        <c:axId val="2094734552"/>
        <c:scaling>
          <c:orientation val="minMax"/>
          <c:max val="100"/>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100">
              <a:solidFill>
                <a:srgbClr val="5F738A"/>
              </a:solidFill>
              <a:latin typeface="Segoe UI"/>
              <a:cs typeface="Segoe U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7858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s
SAY (calm, slow): "Good morning. I'm Nahla Nabil, team Blue Athar.
What you are watching is a satellite pass over 25 mangrove stands in Abu Dhabi.
The five in red were lost to construction between 2022 and 2025 — and our system raised an alert on every one of them while the works were happening.
This is Blue Carbon Guardian."
DO: let the scan run for one sweep, then press → .
BEFORE YOU START: PowerPoint in Slide Show (Presenter View); browser already open on nahla-nabil.github.io/blue-carbon-guardian/#monitor (page loaded, zoom 100 %); notifications off.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 s
SAY: "Before the problem — who is behind this. A team of one. I held every role on this slide — satellite pipeline, statistics, product and business case.
I'm finishing a BSc in Artificial Intelligence at the Arab Open University in Bahrain, with First-Class Honours standing; I have two IEEE papers in machine learning, and I lead NASA Space Apps locally. I worked with an AI-assisted engineering workflow that I direct and review — and every number is public and checkable.
In incubation I will add what I don't have: a mangrove ecologist and a field partner."
DO: press →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35 s
SAY: "The Gulf is planting mangroves at record scale: 100 million pledged by the UAE, more than 100 million by Saudi Arabia.
But planting is scaling faster than watching. Look at stand 5." (point at the images, left to right)
"November 2021: intact. October 2022: works start — and that is when our alert fired. 2023: canals. Today: a canal development.
Today, a loss like this is found at the next field survey — after the fact. What we solve: a calibrated alert every five days that says where to inspect, and what carbon is at stake."
DO: press → after "at stake".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75 s
SAY: "So here is what we built. Let me show you — live."
DO: Alt+Tab to the browser (monitor section).
SAY: "Every stand is coloured by its condition. Stand 5, in red: severe decline."
DO: click "200 m cells" above the map.
SAY: "Now the key idea: we split every stand into 200-metre cells."
DO: scroll down to the table → click the row "9" → scroll back up to the map.
SAY: "Stand 9. On average it reads 'stable'. But 8 of its 28 cells are in severe decline. That is exactly where you send the inspector."
DO: move the mouse over the alert-score chart.
SAY: "Blue is the stand average, red is the worst single cell. The red line plunges far below its threshold — the cells see the damage much more sharply than the average does."
DO (only if ahead of time): click "Open the site report" → new tab → 3 seconds → Ctrl+W.
SAY: "And every stand gets a one-page report with the carbon at stake."
DO: Alt+Tab back to PowerPoint → press → .
FALLBACK: if the site does not load, stay on this slide — the recording plays the same steps; narrate it with the same lines.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s
SAY: "Three users, three decisions.
Agencies: which stands do we inspect this month. Planting and carbon developers: is the carbon we report still there. Developers and regulators: did the works stay outside the mangrove line."
DO: press →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s
SAY: "The analysis rests on five independent data sources: 778 Sentinel-2 dates over six years, EnMAP hyperspectral, ESA WorldCover, field carbon plots, and dated sub-metre imagery.
Every image is cloud-masked, only interior pixels are used, and every finding is cross-checked by a second source."
DO: press →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20 s
SAY: "Here is the second source at work: EnMAP hyperspectral, 224 bands.
On stand 5, the green curves are the vegetation in 2022; the red dashed curves are the same pixels in 2025 — the spectrum of sand and fill. That is reclamation, not dieback.
On the same dates, EnMAP agrees with our Sentinel-2 indices with r up to 0.99."
DO: press →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20 s
SAY: "And this is where Satellite 813 comes in. Sentinel-2 tells us when something changed, every five days. Satellite 813 tells us what: once a cell is flagged, we task 813 over just that cell.
Every index we use sits inside 813's range, at 20 metres. It is planned — 813 scenes were not available in this proof of concept."
DO: press →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20 s
SAY: "Here is the whole method, left to right.
We cut every stand into 200-metre cells and read every Sentinel-2 date. The tide-aware model — in blue — predicts what each stand and each cell should look like.
If reality falls too far below, the alert rule — in rose — fires. The decision layer — in sand — adds the cell map and the carbon at stake, with EnMAP and sub-metre imagery as independent checks."
DO: point along the boxes as you speak, then press →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s
SAY: "For the user: an alert with the cell map and the carbon at stake — the inspector visits only those cells. If nothing changes, a monthly report."
DO: press →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
SAY: "Now the hard part — the one that breaks most monitors in the Gulf: the tide.
When the tide comes in, flooded mangroves look, from space, like dying mangroves. In this illustration the same trees drop from 0.30 to 0.18.
On our stands, index noise follows wetness with a correlation of minus 0.9.
So for every stand and every date we model trend, season — and the tide.
Noise falls by 29 to 35 percent on every index." (point at the right card at the bottom)
"And we tested the textbook recipe — NDVI alone, no tide model — on the same stands with the same alert rule: 1.61 false alarms per stand per year. Ours: 0.96. Forty percent fewer wasted site visits, and the tide model is most of that gain. That is what makes a reliable alert possible."
DO: wait for the water to rise in the illustration, then press → on "reliable alert".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s
SAY: "Our second innovation: averages hide damage.
Real data from stand 5: watch the cells turn red while the stand average barely moves. Three of our five real conversions were found only by the cells.
In simulation, a partial loss is caught within 60 days 73 percent of the time — against 13 percent by chance."
DO: press →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20 s
SAY: "How is this different? Surveys are periodic, maps are one-off, and Global Mangrove Watch's free monthly alerts are complementary.
What we add" (point down the blue column) ": every five days, the tide removed, where inside the stand, a measured false-alarm rate, and the carbon at stake — built and tested for the Gulf."
DO: press →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35 s
SAY: "Does it work on real events? Five real conversions, all confirmed on 30-to-50-centimetre imagery.
The blue bar is the window between the last intact image and the first image showing works; the diamond is when our alert started. Every alert falls inside that window." (point at stand 5's diamond)
"This is detection while the works happen — not a prediction. We never claim advance warning."
DO: press →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35 s
SAY: "We also tested ourselves against pure chance — every rate has its chance rate next to it.
Partial loss: 73 percent caught, 13 by chance; a uniform loss, 63 versus 36.
On 65 stands the model never saw, thresholds frozen, false alarms stayed at 0.79 per stand-year.
And when we found a flaw in our own first test, we withdrew it. These are the numbers that survived — and our limits are on the record; I am happy to go through them."
DO: press → on "go through them". (If asked about limits or NDVI later: type 21 or 20 + Enter.)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 s
SAY: "Why it matters. 108 tonnes of carbon per hectare in these stands — 82 percent in the soil, released when the stand is cleared. The pilot holds about 247 thousand tonnes; stand 5 alone lost 3 to 7 thousand.
As a service: about 12 thousand dollars per site per year, against a cost to serve of about 3 thousand. The real prize is a national MRV contract, or a monitoring layer on gIQ."
DO: press →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s
SAY: "Beyond the proof of concept: everything is public and reproducible — the notebook re-runs in 24 seconds, and a clean-machine test gives the same numbers.
It already transferred to unseen stands and a second country, at under five dollars of compute per site per year."
DO: press →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s
SAY (slow, look at the camera): "A working product, five real events confirmed, every number reproducible.
Every lost mangrove leaves a trace — and we find it from space.
Our ask: incubation, to run a pilot with a Gulf agency or planting programme."
DO: press → (thank-you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s
SAY (warm, slow): "Thank you — to the United Arab Emirates, for leading our region in protecting its mangroves, and to the UAE Space Agency, the National Space Academy and Space42 for this programme.
I'm happy to take your questions."
DO: stop talking; stay on this slide during the Q&amp;A. If a question needs evidence: → backup slides (textbook baseline, limits, demo video) or Alt+Tab to the website.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 s
BACKUP — do not present. Open only if asked about NDVI, baselines or false alarms.
SAY: "Same alert rule, same 25 stands: NDVI alone gives 1.61 false alarms per stand-year, ours 0.96 — 40 % fewer, mostly thanks to the tide model. All four catch the five conversions; the difference is the false-alarm cost."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 s
BACKUP — do not present. Open only if asked about limits or what we claim.
SAY: "Detection while works happen, not early warning; 10-metre pixels miss very small stands; confirmation on dated imagery, not site visits — matching permits with a partner is our first pilot task."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only if a judge asks to see the product again, or the live demo failed.
DO: click the video to play it (sound on, 2 min). Press Esc to leave the slideshow afterwards.
SAY: "Here is the two-minute walkthrough of the product."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EAN_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11064240" cy="329184"/>
          </a:xfrm>
          <a:prstGeom prst="rect">
            <a:avLst/>
          </a:prstGeom>
          <a:noFill/>
          <a:ln/>
        </p:spPr>
        <p:txBody>
          <a:bodyPr wrap="square" rtlCol="0"/>
          <a:lstStyle>
            <a:lvl1pPr marL="0" indent="0" algn="l">
              <a:buNone/>
              <a:defRPr lang="en-US" sz="1200" kern="0" spc="300" dirty="0">
                <a:solidFill>
                  <a:srgbClr val="3F6E9E"/>
                </a:solidFill>
                <a:latin typeface="Segoe UI Semibold" pitchFamily="34" charset="0"/>
                <a:ea typeface="Segoe UI Semibold" pitchFamily="34" charset="-122"/>
                <a:cs typeface="Segoe UI Semibold" pitchFamily="34" charset="-120"/>
              </a:defRPr>
            </a:lvl1pPr>
          </a:lstStyle>
          <a:p>
            <a:pPr marL="0" indent="0" algn="l">
              <a:buNone/>
            </a:pPr>
            <a:endParaRPr lang="en-US" sz="1200" dirty="0"/>
          </a:p>
        </p:txBody>
      </p:sp>
      <p:sp>
        <p:nvSpPr>
          <p:cNvPr id="3" name="Text 0"/>
          <p:cNvSpPr>
            <a:spLocks noGrp="1"/>
          </p:cNvSpPr>
          <p:nvPr>
            <p:ph type="title" idx="101" hasCustomPrompt="1"/>
          </p:nvPr>
        </p:nvSpPr>
        <p:spPr>
          <a:xfrm>
            <a:off x="548640" y="713232"/>
            <a:ext cx="11064240" cy="777240"/>
          </a:xfrm>
          <a:prstGeom prst="rect">
            <a:avLst/>
          </a:prstGeom>
          <a:noFill/>
          <a:ln/>
        </p:spPr>
        <p:txBody>
          <a:bodyPr wrap="square" rtlCol="0"/>
          <a:lstStyle>
            <a:lvl1pPr marL="0" indent="0" algn="l">
              <a:buNone/>
              <a:defRPr lang="en-US" sz="3400" dirty="0">
                <a:solidFill>
                  <a:srgbClr val="1B2B40"/>
                </a:solidFill>
                <a:latin typeface="Segoe UI Semibold" pitchFamily="34" charset="0"/>
                <a:ea typeface="Segoe UI Semibold" pitchFamily="34" charset="-122"/>
                <a:cs typeface="Segoe UI Semibold" pitchFamily="34" charset="-120"/>
              </a:defRPr>
            </a:lvl1pPr>
          </a:lstStyle>
          <a:p>
            <a:pPr marL="0" indent="0" algn="l">
              <a:buNone/>
            </a:pPr>
            <a:endParaRPr lang="en-US" sz="34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rgbClr val="8A9BB0"/>
                </a:solidFill>
                <a:latin typeface="Segoe UI" pitchFamily="34" charset="0"/>
                <a:ea typeface="Segoe UI" pitchFamily="34" charset="-122"/>
                <a:cs typeface="Segoe UI" pitchFamily="34" charset="-120"/>
              </a:rPr>
              <a:t>Blue Carbon Guardian   ·   Team Blue Athar</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EAN_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11064240" cy="329184"/>
          </a:xfrm>
          <a:prstGeom prst="rect">
            <a:avLst/>
          </a:prstGeom>
          <a:noFill/>
          <a:ln/>
        </p:spPr>
        <p:txBody>
          <a:bodyPr wrap="square" rtlCol="0"/>
          <a:lstStyle>
            <a:lvl1pPr marL="0" indent="0" algn="l">
              <a:buNone/>
              <a:defRPr lang="en-US" sz="1200" kern="0" spc="300" dirty="0">
                <a:solidFill>
                  <a:srgbClr val="3F6E9E"/>
                </a:solidFill>
                <a:latin typeface="Segoe UI Semibold" pitchFamily="34" charset="0"/>
                <a:ea typeface="Segoe UI Semibold" pitchFamily="34" charset="-122"/>
                <a:cs typeface="Segoe UI Semibold" pitchFamily="34" charset="-120"/>
              </a:defRPr>
            </a:lvl1pPr>
          </a:lstStyle>
          <a:p>
            <a:pPr marL="0" indent="0" algn="l">
              <a:buNone/>
            </a:pPr>
            <a:endParaRPr lang="en-US" sz="1200" dirty="0"/>
          </a:p>
        </p:txBody>
      </p:sp>
      <p:sp>
        <p:nvSpPr>
          <p:cNvPr id="3" name="Text 0"/>
          <p:cNvSpPr>
            <a:spLocks noGrp="1"/>
          </p:cNvSpPr>
          <p:nvPr>
            <p:ph type="title" idx="101" hasCustomPrompt="1"/>
          </p:nvPr>
        </p:nvSpPr>
        <p:spPr>
          <a:xfrm>
            <a:off x="548640" y="713232"/>
            <a:ext cx="11064240" cy="777240"/>
          </a:xfrm>
          <a:prstGeom prst="rect">
            <a:avLst/>
          </a:prstGeom>
          <a:noFill/>
          <a:ln/>
        </p:spPr>
        <p:txBody>
          <a:bodyPr wrap="square" rtlCol="0"/>
          <a:lstStyle>
            <a:lvl1pPr marL="0" indent="0" algn="l">
              <a:buNone/>
              <a:defRPr lang="en-US" sz="3400" dirty="0">
                <a:solidFill>
                  <a:srgbClr val="1B2B40"/>
                </a:solidFill>
                <a:latin typeface="Segoe UI Semibold" pitchFamily="34" charset="0"/>
                <a:ea typeface="Segoe UI Semibold" pitchFamily="34" charset="-122"/>
                <a:cs typeface="Segoe UI Semibold" pitchFamily="34" charset="-120"/>
              </a:defRPr>
            </a:lvl1pPr>
          </a:lstStyle>
          <a:p>
            <a:pPr marL="0" indent="0" algn="l">
              <a:buNone/>
            </a:pPr>
            <a:endParaRPr lang="en-US" sz="34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rgbClr val="8A9BB0"/>
                </a:solidFill>
                <a:latin typeface="Segoe UI" pitchFamily="34" charset="0"/>
                <a:ea typeface="Segoe UI" pitchFamily="34" charset="-122"/>
                <a:cs typeface="Segoe UI" pitchFamily="34" charset="-120"/>
              </a:rPr>
              <a:t>Blue Carbon Guardian   ·   Team Blue Athar</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CEAN_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11064240" cy="329184"/>
          </a:xfrm>
          <a:prstGeom prst="rect">
            <a:avLst/>
          </a:prstGeom>
          <a:noFill/>
          <a:ln/>
        </p:spPr>
        <p:txBody>
          <a:bodyPr wrap="square" rtlCol="0"/>
          <a:lstStyle>
            <a:lvl1pPr marL="0" indent="0" algn="l">
              <a:buNone/>
              <a:defRPr lang="en-US" sz="1200" kern="0" spc="300" dirty="0">
                <a:solidFill>
                  <a:srgbClr val="3F6E9E"/>
                </a:solidFill>
                <a:latin typeface="Segoe UI Semibold" pitchFamily="34" charset="0"/>
                <a:ea typeface="Segoe UI Semibold" pitchFamily="34" charset="-122"/>
                <a:cs typeface="Segoe UI Semibold" pitchFamily="34" charset="-120"/>
              </a:defRPr>
            </a:lvl1pPr>
          </a:lstStyle>
          <a:p>
            <a:pPr marL="0" indent="0" algn="l">
              <a:buNone/>
            </a:pPr>
            <a:endParaRPr lang="en-US" sz="1200" dirty="0"/>
          </a:p>
        </p:txBody>
      </p:sp>
      <p:sp>
        <p:nvSpPr>
          <p:cNvPr id="3" name="Text 0"/>
          <p:cNvSpPr>
            <a:spLocks noGrp="1"/>
          </p:cNvSpPr>
          <p:nvPr>
            <p:ph type="title" idx="101" hasCustomPrompt="1"/>
          </p:nvPr>
        </p:nvSpPr>
        <p:spPr>
          <a:xfrm>
            <a:off x="548640" y="713232"/>
            <a:ext cx="11064240" cy="777240"/>
          </a:xfrm>
          <a:prstGeom prst="rect">
            <a:avLst/>
          </a:prstGeom>
          <a:noFill/>
          <a:ln/>
        </p:spPr>
        <p:txBody>
          <a:bodyPr wrap="square" rtlCol="0"/>
          <a:lstStyle>
            <a:lvl1pPr marL="0" indent="0" algn="l">
              <a:buNone/>
              <a:defRPr lang="en-US" sz="3400" dirty="0">
                <a:solidFill>
                  <a:srgbClr val="1B2B40"/>
                </a:solidFill>
                <a:latin typeface="Segoe UI Semibold" pitchFamily="34" charset="0"/>
                <a:ea typeface="Segoe UI Semibold" pitchFamily="34" charset="-122"/>
                <a:cs typeface="Segoe UI Semibold" pitchFamily="34" charset="-120"/>
              </a:defRPr>
            </a:lvl1pPr>
          </a:lstStyle>
          <a:p>
            <a:pPr marL="0" indent="0" algn="l">
              <a:buNone/>
            </a:pPr>
            <a:endParaRPr lang="en-US" sz="34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rgbClr val="8A9BB0"/>
                </a:solidFill>
                <a:latin typeface="Segoe UI" pitchFamily="34" charset="0"/>
                <a:ea typeface="Segoe UI" pitchFamily="34" charset="-122"/>
                <a:cs typeface="Segoe UI" pitchFamily="34" charset="-120"/>
              </a:rPr>
              <a:t>Blue Carbon Guardian   ·   Team Blue Athar</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5.xml"/><Relationship Id="rId7" Type="http://schemas.openxmlformats.org/officeDocument/2006/relationships/image" Target="../media/image7.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notesSlide" Target="../notesSlides/notesSlide1.xml"/><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6.png"/><Relationship Id="rId9" Type="http://schemas.openxmlformats.org/officeDocument/2006/relationships/image" Target="../media/image15.png"/></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5.png"/><Relationship Id="rId7"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Layout" Target="../slideLayouts/slideLayout3.xml"/><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6.png"/><Relationship Id="rId11" Type="http://schemas.openxmlformats.org/officeDocument/2006/relationships/image" Target="../media/image26.png"/><Relationship Id="rId5" Type="http://schemas.openxmlformats.org/officeDocument/2006/relationships/image" Target="../media/image5.png"/><Relationship Id="rId10" Type="http://schemas.openxmlformats.org/officeDocument/2006/relationships/image" Target="../media/image25.png"/><Relationship Id="rId4" Type="http://schemas.openxmlformats.org/officeDocument/2006/relationships/notesSlide" Target="../notesSlides/notesSlide4.xml"/><Relationship Id="rId9" Type="http://schemas.openxmlformats.org/officeDocument/2006/relationships/image" Target="../media/image24.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29.png"/><Relationship Id="rId12"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image" Target="../media/image30.png"/><Relationship Id="rId5" Type="http://schemas.openxmlformats.org/officeDocument/2006/relationships/image" Target="../media/image15.png"/><Relationship Id="rId10" Type="http://schemas.openxmlformats.org/officeDocument/2006/relationships/image" Target="../media/image24.png"/><Relationship Id="rId4" Type="http://schemas.openxmlformats.org/officeDocument/2006/relationships/image" Target="../media/image6.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png"/><Relationship Id="rId7"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31.png"/><Relationship Id="rId10" Type="http://schemas.openxmlformats.org/officeDocument/2006/relationships/image" Target="../media/image30.png"/><Relationship Id="rId4" Type="http://schemas.openxmlformats.org/officeDocument/2006/relationships/image" Target="../media/image6.png"/><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2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36.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5.png"/><Relationship Id="rId7"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3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chart" Target="../charts/char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41.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5.png"/><Relationship Id="rId7"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chart" Target="../charts/char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5.png"/><Relationship Id="rId7" Type="http://schemas.openxmlformats.org/officeDocument/2006/relationships/image" Target="../media/image15.png"/><Relationship Id="rId12" Type="http://schemas.openxmlformats.org/officeDocument/2006/relationships/image" Target="../media/image51.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47.png"/><Relationship Id="rId11" Type="http://schemas.openxmlformats.org/officeDocument/2006/relationships/image" Target="../media/image50.png"/><Relationship Id="rId5" Type="http://schemas.openxmlformats.org/officeDocument/2006/relationships/image" Target="../media/image46.png"/><Relationship Id="rId10" Type="http://schemas.openxmlformats.org/officeDocument/2006/relationships/image" Target="../media/image49.png"/><Relationship Id="rId4" Type="http://schemas.openxmlformats.org/officeDocument/2006/relationships/image" Target="../media/image6.png"/><Relationship Id="rId9"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5.png"/><Relationship Id="rId7"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52.png"/><Relationship Id="rId10" Type="http://schemas.openxmlformats.org/officeDocument/2006/relationships/image" Target="../media/image26.png"/><Relationship Id="rId4" Type="http://schemas.openxmlformats.org/officeDocument/2006/relationships/image" Target="../media/image6.png"/><Relationship Id="rId9"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53.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5">
            <a:alphaModFix amt="38000"/>
          </a:blip>
          <a:stretch>
            <a:fillRect/>
          </a:stretch>
        </p:blipFill>
        <p:spPr>
          <a:xfrm>
            <a:off x="6766560" y="-2377440"/>
            <a:ext cx="6858000" cy="6858000"/>
          </a:xfrm>
          <a:prstGeom prst="rect">
            <a:avLst/>
          </a:prstGeom>
        </p:spPr>
      </p:pic>
      <p:pic>
        <p:nvPicPr>
          <p:cNvPr id="3" name="!!glow2" descr="C:\Users\nahla\Desktop\UAE-Space-Hackatoon\deck_pptx\build\assets\glow_blue.png"/>
          <p:cNvPicPr>
            <a:picLocks noChangeAspect="1"/>
          </p:cNvPicPr>
          <p:nvPr/>
        </p:nvPicPr>
        <p:blipFill>
          <a:blip r:embed="rId6">
            <a:alphaModFix amt="35000"/>
          </a:blip>
          <a:stretch>
            <a:fillRect/>
          </a:stretch>
        </p:blipFill>
        <p:spPr>
          <a:xfrm>
            <a:off x="-2926080" y="3291840"/>
            <a:ext cx="6400800" cy="6400800"/>
          </a:xfrm>
          <a:prstGeom prst="rect">
            <a:avLst/>
          </a:prstGeom>
        </p:spPr>
      </p:pic>
      <p:sp>
        <p:nvSpPr>
          <p:cNvPr id="5" name="a3zoom_vframe"/>
          <p:cNvSpPr/>
          <p:nvPr/>
        </p:nvSpPr>
        <p:spPr>
          <a:xfrm>
            <a:off x="6940296" y="1088136"/>
            <a:ext cx="4818888" cy="4230243"/>
          </a:xfrm>
          <a:prstGeom prst="roundRect">
            <a:avLst>
              <a:gd name="adj" fmla="val 2162"/>
            </a:avLst>
          </a:prstGeom>
          <a:solidFill>
            <a:srgbClr val="0A1E3C"/>
          </a:solidFill>
          <a:ln w="15875">
            <a:solidFill>
              <a:srgbClr val="8FB4DE"/>
            </a:solidFill>
            <a:prstDash val="solid"/>
          </a:ln>
          <a:effectLst>
            <a:outerShdw blurRad="152400" dist="38100" dir="5400000" algn="bl" rotWithShape="0">
              <a:srgbClr val="1B2B40">
                <a:alpha val="25000"/>
              </a:srgbClr>
            </a:outerShdw>
          </a:effectLst>
        </p:spPr>
      </p:sp>
      <p:pic>
        <p:nvPicPr>
          <p:cNvPr id="4" name="video_cover">
            <a:hlinkClick r:id="" action="ppaction://media"/>
            <a:extLst>
              <a:ext uri="{FF2B5EF4-FFF2-40B4-BE49-F238E27FC236}">
                <a16:creationId xmlns:a16="http://schemas.microsoft.com/office/drawing/2014/main" id="{FBE6AF2A-B89B-7432-D445-C606F14A1D4F}"/>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6995160" y="1143001"/>
            <a:ext cx="4709024" cy="4120515"/>
          </a:xfrm>
          <a:prstGeom prst="rect">
            <a:avLst/>
          </a:prstGeom>
        </p:spPr>
      </p:pic>
      <p:pic>
        <p:nvPicPr>
          <p:cNvPr id="7" name="z0drift_sat" descr="preencoded.png"/>
          <p:cNvPicPr>
            <a:picLocks noChangeAspect="1"/>
          </p:cNvPicPr>
          <p:nvPr/>
        </p:nvPicPr>
        <p:blipFill>
          <a:blip r:embed="rId8"/>
          <a:stretch>
            <a:fillRect/>
          </a:stretch>
        </p:blipFill>
        <p:spPr>
          <a:xfrm>
            <a:off x="-640080" y="292608"/>
            <a:ext cx="384048" cy="384048"/>
          </a:xfrm>
          <a:prstGeom prst="rect">
            <a:avLst/>
          </a:prstGeom>
        </p:spPr>
      </p:pic>
      <p:sp>
        <p:nvSpPr>
          <p:cNvPr id="8" name="a0fade_kick"/>
          <p:cNvSpPr txBox="1"/>
          <p:nvPr/>
        </p:nvSpPr>
        <p:spPr>
          <a:xfrm>
            <a:off x="640080" y="1188720"/>
            <a:ext cx="7498080" cy="292608"/>
          </a:xfrm>
          <a:prstGeom prst="rect">
            <a:avLst/>
          </a:prstGeom>
          <a:noFill/>
          <a:ln/>
        </p:spPr>
        <p:txBody>
          <a:bodyPr wrap="square" lIns="0" tIns="0" rIns="0" bIns="0" rtlCol="0" anchor="t"/>
          <a:lstStyle/>
          <a:p>
            <a:pPr marL="0" indent="0" algn="l">
              <a:lnSpc>
                <a:spcPct val="105000"/>
              </a:lnSpc>
              <a:buNone/>
            </a:pPr>
            <a:r>
              <a:rPr lang="en-US" sz="1100" kern="0" spc="200" dirty="0">
                <a:solidFill>
                  <a:srgbClr val="BCD3EC"/>
                </a:solidFill>
                <a:latin typeface="Segoe UI Semibold" pitchFamily="34" charset="0"/>
                <a:ea typeface="Segoe UI Semibold" pitchFamily="34" charset="-122"/>
                <a:cs typeface="Segoe UI Semibold" pitchFamily="34" charset="-120"/>
              </a:rPr>
              <a:t>ARAB YOUTH SPACE HACKATHON 2026  ·  CHALLENGE 813  ·  FINAL</a:t>
            </a:r>
            <a:endParaRPr lang="en-US" sz="1100" dirty="0"/>
          </a:p>
        </p:txBody>
      </p:sp>
      <p:sp>
        <p:nvSpPr>
          <p:cNvPr id="9" name="a1float_title"/>
          <p:cNvSpPr txBox="1"/>
          <p:nvPr/>
        </p:nvSpPr>
        <p:spPr>
          <a:xfrm>
            <a:off x="603504" y="1572768"/>
            <a:ext cx="7498080" cy="914400"/>
          </a:xfrm>
          <a:prstGeom prst="rect">
            <a:avLst/>
          </a:prstGeom>
          <a:noFill/>
          <a:ln/>
        </p:spPr>
        <p:txBody>
          <a:bodyPr wrap="square" lIns="0" tIns="0" rIns="0" bIns="0" rtlCol="0" anchor="t"/>
          <a:lstStyle/>
          <a:p>
            <a:pPr marL="0" indent="0" algn="l">
              <a:lnSpc>
                <a:spcPct val="105000"/>
              </a:lnSpc>
              <a:buNone/>
            </a:pPr>
            <a:r>
              <a:rPr lang="en-US" sz="4600" dirty="0">
                <a:solidFill>
                  <a:srgbClr val="FFFFFF"/>
                </a:solidFill>
                <a:latin typeface="Segoe UI Semibold" pitchFamily="34" charset="0"/>
                <a:ea typeface="Segoe UI Semibold" pitchFamily="34" charset="-122"/>
                <a:cs typeface="Segoe UI Semibold" pitchFamily="34" charset="-120"/>
              </a:rPr>
              <a:t>Blue Carbon Guardian</a:t>
            </a:r>
            <a:endParaRPr lang="en-US" sz="4600" dirty="0"/>
          </a:p>
        </p:txBody>
      </p:sp>
      <p:sp>
        <p:nvSpPr>
          <p:cNvPr id="10" name="a1float_sub"/>
          <p:cNvSpPr txBox="1"/>
          <p:nvPr/>
        </p:nvSpPr>
        <p:spPr>
          <a:xfrm>
            <a:off x="640080" y="2606040"/>
            <a:ext cx="6035040" cy="777240"/>
          </a:xfrm>
          <a:prstGeom prst="rect">
            <a:avLst/>
          </a:prstGeom>
          <a:noFill/>
          <a:ln/>
        </p:spPr>
        <p:txBody>
          <a:bodyPr wrap="square" lIns="0" tIns="0" rIns="0" bIns="0" rtlCol="0" anchor="t"/>
          <a:lstStyle/>
          <a:p>
            <a:pPr marL="0" indent="0" algn="l">
              <a:lnSpc>
                <a:spcPct val="105000"/>
              </a:lnSpc>
              <a:buNone/>
            </a:pPr>
            <a:r>
              <a:rPr lang="en-US" sz="2100" dirty="0">
                <a:solidFill>
                  <a:srgbClr val="D4E2EE"/>
                </a:solidFill>
                <a:latin typeface="Segoe UI Light" pitchFamily="34" charset="0"/>
                <a:ea typeface="Segoe UI Light" pitchFamily="34" charset="-122"/>
                <a:cs typeface="Segoe UI Light" pitchFamily="34" charset="-120"/>
              </a:rPr>
              <a:t>Tide-aware satellite monitoring for Gulf mangroves —</a:t>
            </a:r>
            <a:endParaRPr lang="en-US" sz="2100" dirty="0"/>
          </a:p>
          <a:p>
            <a:pPr marL="0" indent="0" algn="l">
              <a:lnSpc>
                <a:spcPct val="105000"/>
              </a:lnSpc>
              <a:buNone/>
            </a:pPr>
            <a:r>
              <a:rPr lang="en-US" sz="2100" dirty="0">
                <a:solidFill>
                  <a:srgbClr val="D4E2EE"/>
                </a:solidFill>
                <a:latin typeface="Segoe UI Light" pitchFamily="34" charset="0"/>
                <a:ea typeface="Segoe UI Light" pitchFamily="34" charset="-122"/>
                <a:cs typeface="Segoe UI Light" pitchFamily="34" charset="-120"/>
              </a:rPr>
              <a:t>from alert to evidence.</a:t>
            </a:r>
            <a:endParaRPr lang="en-US" sz="2100" dirty="0"/>
          </a:p>
        </p:txBody>
      </p:sp>
      <p:sp>
        <p:nvSpPr>
          <p:cNvPr id="11" name="a2fade_team_bg"/>
          <p:cNvSpPr/>
          <p:nvPr/>
        </p:nvSpPr>
        <p:spPr>
          <a:xfrm>
            <a:off x="640080" y="3611880"/>
            <a:ext cx="2788920" cy="365760"/>
          </a:xfrm>
          <a:prstGeom prst="roundRect">
            <a:avLst>
              <a:gd name="adj" fmla="val 50000"/>
            </a:avLst>
          </a:prstGeom>
          <a:solidFill>
            <a:srgbClr val="BCD3EC">
              <a:alpha val="15000"/>
            </a:srgbClr>
          </a:solidFill>
          <a:ln w="9525">
            <a:solidFill>
              <a:srgbClr val="BCD3EC"/>
            </a:solidFill>
            <a:prstDash val="solid"/>
          </a:ln>
        </p:spPr>
      </p:sp>
      <p:sp>
        <p:nvSpPr>
          <p:cNvPr id="12" name="a2fade_team"/>
          <p:cNvSpPr txBox="1"/>
          <p:nvPr/>
        </p:nvSpPr>
        <p:spPr>
          <a:xfrm>
            <a:off x="640080" y="3611880"/>
            <a:ext cx="2788920" cy="365760"/>
          </a:xfrm>
          <a:prstGeom prst="rect">
            <a:avLst/>
          </a:prstGeom>
          <a:noFill/>
          <a:ln/>
        </p:spPr>
        <p:txBody>
          <a:bodyPr wrap="square" lIns="0" tIns="0" rIns="0" bIns="0" rtlCol="0" anchor="ctr"/>
          <a:lstStyle/>
          <a:p>
            <a:pPr marL="0" indent="0" algn="ctr">
              <a:lnSpc>
                <a:spcPct val="105000"/>
              </a:lnSpc>
              <a:buNone/>
            </a:pPr>
            <a:r>
              <a:rPr lang="en-US" sz="1200" dirty="0">
                <a:solidFill>
                  <a:srgbClr val="E3EDF8"/>
                </a:solidFill>
                <a:latin typeface="Segoe UI Semibold" pitchFamily="34" charset="0"/>
                <a:ea typeface="Segoe UI Semibold" pitchFamily="34" charset="-122"/>
                <a:cs typeface="Segoe UI Semibold" pitchFamily="34" charset="-120"/>
              </a:rPr>
              <a:t>Team Blue Athar  ·  الأثر الأزرق</a:t>
            </a:r>
            <a:endParaRPr lang="en-US" sz="1200" dirty="0"/>
          </a:p>
        </p:txBody>
      </p:sp>
      <p:sp>
        <p:nvSpPr>
          <p:cNvPr id="13" name="a2fade_theme_bg"/>
          <p:cNvSpPr/>
          <p:nvPr/>
        </p:nvSpPr>
        <p:spPr>
          <a:xfrm>
            <a:off x="640080" y="4087368"/>
            <a:ext cx="3886200" cy="365760"/>
          </a:xfrm>
          <a:prstGeom prst="roundRect">
            <a:avLst>
              <a:gd name="adj" fmla="val 50000"/>
            </a:avLst>
          </a:prstGeom>
          <a:solidFill>
            <a:srgbClr val="C7DCF0">
              <a:alpha val="15000"/>
            </a:srgbClr>
          </a:solidFill>
          <a:ln w="9525">
            <a:solidFill>
              <a:srgbClr val="C7DCF0"/>
            </a:solidFill>
            <a:prstDash val="solid"/>
          </a:ln>
        </p:spPr>
      </p:sp>
      <p:sp>
        <p:nvSpPr>
          <p:cNvPr id="14" name="a2fade_theme"/>
          <p:cNvSpPr txBox="1"/>
          <p:nvPr/>
        </p:nvSpPr>
        <p:spPr>
          <a:xfrm>
            <a:off x="640080" y="4087368"/>
            <a:ext cx="3886200" cy="365760"/>
          </a:xfrm>
          <a:prstGeom prst="rect">
            <a:avLst/>
          </a:prstGeom>
          <a:noFill/>
          <a:ln/>
        </p:spPr>
        <p:txBody>
          <a:bodyPr wrap="square" lIns="0" tIns="0" rIns="0" bIns="0" rtlCol="0" anchor="ctr"/>
          <a:lstStyle/>
          <a:p>
            <a:pPr marL="0" indent="0" algn="ctr">
              <a:lnSpc>
                <a:spcPct val="105000"/>
              </a:lnSpc>
              <a:buNone/>
            </a:pPr>
            <a:r>
              <a:rPr lang="en-US" sz="1200" dirty="0">
                <a:solidFill>
                  <a:srgbClr val="CFE4FF"/>
                </a:solidFill>
                <a:latin typeface="Segoe UI Semibold" pitchFamily="34" charset="0"/>
                <a:ea typeface="Segoe UI Semibold" pitchFamily="34" charset="-122"/>
                <a:cs typeface="Segoe UI Semibold" pitchFamily="34" charset="-120"/>
              </a:rPr>
              <a:t>Theme: Ecosystem Health, Biodiversity &amp; Blue Carbon</a:t>
            </a:r>
            <a:endParaRPr lang="en-US" sz="1200" dirty="0"/>
          </a:p>
        </p:txBody>
      </p:sp>
      <p:sp>
        <p:nvSpPr>
          <p:cNvPr id="15" name="a4float_k0"/>
          <p:cNvSpPr/>
          <p:nvPr/>
        </p:nvSpPr>
        <p:spPr>
          <a:xfrm>
            <a:off x="640080" y="4681728"/>
            <a:ext cx="1417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sp>
      <p:sp>
        <p:nvSpPr>
          <p:cNvPr id="16" name="a4float_k0n"/>
          <p:cNvSpPr txBox="1"/>
          <p:nvPr/>
        </p:nvSpPr>
        <p:spPr>
          <a:xfrm>
            <a:off x="786384" y="4773168"/>
            <a:ext cx="1188720" cy="548640"/>
          </a:xfrm>
          <a:prstGeom prst="rect">
            <a:avLst/>
          </a:prstGeom>
          <a:noFill/>
          <a:ln/>
        </p:spPr>
        <p:txBody>
          <a:bodyPr wrap="square" lIns="0" tIns="0" rIns="0" bIns="0" rtlCol="0" anchor="t"/>
          <a:lstStyle/>
          <a:p>
            <a:pPr marL="0" indent="0" algn="l">
              <a:lnSpc>
                <a:spcPct val="105000"/>
              </a:lnSpc>
              <a:buNone/>
            </a:pPr>
            <a:r>
              <a:rPr lang="en-US" sz="3200" dirty="0">
                <a:solidFill>
                  <a:srgbClr val="F1D9A0"/>
                </a:solidFill>
                <a:latin typeface="Segoe UI Light" pitchFamily="34" charset="0"/>
                <a:ea typeface="Segoe UI Light" pitchFamily="34" charset="-122"/>
                <a:cs typeface="Segoe UI Light" pitchFamily="34" charset="-120"/>
              </a:rPr>
              <a:t>91</a:t>
            </a:r>
            <a:endParaRPr lang="en-US" sz="3200" dirty="0"/>
          </a:p>
        </p:txBody>
      </p:sp>
      <p:sp>
        <p:nvSpPr>
          <p:cNvPr id="17" name="a4float_k0t"/>
          <p:cNvSpPr txBox="1"/>
          <p:nvPr/>
        </p:nvSpPr>
        <p:spPr>
          <a:xfrm>
            <a:off x="786384" y="5303520"/>
            <a:ext cx="1188720" cy="502920"/>
          </a:xfrm>
          <a:prstGeom prst="rect">
            <a:avLst/>
          </a:prstGeom>
          <a:noFill/>
          <a:ln/>
        </p:spPr>
        <p:txBody>
          <a:bodyPr wrap="square" lIns="0" tIns="0" rIns="0" bIns="0" rtlCol="0" anchor="t"/>
          <a:lstStyle/>
          <a:p>
            <a:pPr marL="0" indent="0" algn="l">
              <a:lnSpc>
                <a:spcPct val="105000"/>
              </a:lnSpc>
              <a:buNone/>
            </a:pPr>
            <a:r>
              <a:rPr lang="en-US" sz="1100" dirty="0">
                <a:solidFill>
                  <a:srgbClr val="D5E2F0"/>
                </a:solidFill>
                <a:latin typeface="Segoe UI" pitchFamily="34" charset="0"/>
                <a:ea typeface="Segoe UI" pitchFamily="34" charset="-122"/>
                <a:cs typeface="Segoe UI" pitchFamily="34" charset="-120"/>
              </a:rPr>
              <a:t>stands monitored</a:t>
            </a:r>
            <a:endParaRPr lang="en-US" sz="1100" dirty="0"/>
          </a:p>
        </p:txBody>
      </p:sp>
      <p:sp>
        <p:nvSpPr>
          <p:cNvPr id="18" name="a4float_k1"/>
          <p:cNvSpPr/>
          <p:nvPr/>
        </p:nvSpPr>
        <p:spPr>
          <a:xfrm>
            <a:off x="2157984" y="4681728"/>
            <a:ext cx="1417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sp>
      <p:sp>
        <p:nvSpPr>
          <p:cNvPr id="19" name="a4float_k1n"/>
          <p:cNvSpPr txBox="1"/>
          <p:nvPr/>
        </p:nvSpPr>
        <p:spPr>
          <a:xfrm>
            <a:off x="2304288" y="4773168"/>
            <a:ext cx="1188720" cy="548640"/>
          </a:xfrm>
          <a:prstGeom prst="rect">
            <a:avLst/>
          </a:prstGeom>
          <a:noFill/>
          <a:ln/>
        </p:spPr>
        <p:txBody>
          <a:bodyPr wrap="square" lIns="0" tIns="0" rIns="0" bIns="0" rtlCol="0" anchor="t"/>
          <a:lstStyle/>
          <a:p>
            <a:pPr marL="0" indent="0" algn="l">
              <a:lnSpc>
                <a:spcPct val="105000"/>
              </a:lnSpc>
              <a:buNone/>
            </a:pPr>
            <a:r>
              <a:rPr lang="en-US" sz="3200" dirty="0">
                <a:solidFill>
                  <a:srgbClr val="F4BCC4"/>
                </a:solidFill>
                <a:latin typeface="Segoe UI Light" pitchFamily="34" charset="0"/>
                <a:ea typeface="Segoe UI Light" pitchFamily="34" charset="-122"/>
                <a:cs typeface="Segoe UI Light" pitchFamily="34" charset="-120"/>
              </a:rPr>
              <a:t>5</a:t>
            </a:r>
            <a:endParaRPr lang="en-US" sz="3200" dirty="0"/>
          </a:p>
        </p:txBody>
      </p:sp>
      <p:sp>
        <p:nvSpPr>
          <p:cNvPr id="20" name="a4float_k1t"/>
          <p:cNvSpPr txBox="1"/>
          <p:nvPr/>
        </p:nvSpPr>
        <p:spPr>
          <a:xfrm>
            <a:off x="2304288" y="5303520"/>
            <a:ext cx="1188720" cy="502920"/>
          </a:xfrm>
          <a:prstGeom prst="rect">
            <a:avLst/>
          </a:prstGeom>
          <a:noFill/>
          <a:ln/>
        </p:spPr>
        <p:txBody>
          <a:bodyPr wrap="square" lIns="0" tIns="0" rIns="0" bIns="0" rtlCol="0" anchor="t"/>
          <a:lstStyle/>
          <a:p>
            <a:pPr marL="0" indent="0" algn="l">
              <a:lnSpc>
                <a:spcPct val="105000"/>
              </a:lnSpc>
              <a:buNone/>
            </a:pPr>
            <a:r>
              <a:rPr lang="en-US" sz="1100" dirty="0">
                <a:solidFill>
                  <a:srgbClr val="D5E2F0"/>
                </a:solidFill>
                <a:latin typeface="Segoe UI" pitchFamily="34" charset="0"/>
                <a:ea typeface="Segoe UI" pitchFamily="34" charset="-122"/>
                <a:cs typeface="Segoe UI" pitchFamily="34" charset="-120"/>
              </a:rPr>
              <a:t>conversions confirmed</a:t>
            </a:r>
            <a:endParaRPr lang="en-US" sz="1100" dirty="0"/>
          </a:p>
        </p:txBody>
      </p:sp>
      <p:sp>
        <p:nvSpPr>
          <p:cNvPr id="21" name="a4float_k2"/>
          <p:cNvSpPr/>
          <p:nvPr/>
        </p:nvSpPr>
        <p:spPr>
          <a:xfrm>
            <a:off x="3675888" y="4681728"/>
            <a:ext cx="1417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sp>
      <p:sp>
        <p:nvSpPr>
          <p:cNvPr id="22" name="a4float_k2n"/>
          <p:cNvSpPr txBox="1"/>
          <p:nvPr/>
        </p:nvSpPr>
        <p:spPr>
          <a:xfrm>
            <a:off x="3822192" y="4773168"/>
            <a:ext cx="1188720" cy="548640"/>
          </a:xfrm>
          <a:prstGeom prst="rect">
            <a:avLst/>
          </a:prstGeom>
          <a:noFill/>
          <a:ln/>
        </p:spPr>
        <p:txBody>
          <a:bodyPr wrap="square" lIns="0" tIns="0" rIns="0" bIns="0" rtlCol="0" anchor="t"/>
          <a:lstStyle/>
          <a:p>
            <a:pPr marL="0" indent="0" algn="l">
              <a:lnSpc>
                <a:spcPct val="105000"/>
              </a:lnSpc>
              <a:buNone/>
            </a:pPr>
            <a:r>
              <a:rPr lang="en-US" sz="3200" dirty="0">
                <a:solidFill>
                  <a:srgbClr val="F1D9A0"/>
                </a:solidFill>
                <a:latin typeface="Segoe UI Light" pitchFamily="34" charset="0"/>
                <a:ea typeface="Segoe UI Light" pitchFamily="34" charset="-122"/>
                <a:cs typeface="Segoe UI Light" pitchFamily="34" charset="-120"/>
              </a:rPr>
              <a:t>73 %</a:t>
            </a:r>
            <a:endParaRPr lang="en-US" sz="3200" dirty="0"/>
          </a:p>
        </p:txBody>
      </p:sp>
      <p:sp>
        <p:nvSpPr>
          <p:cNvPr id="23" name="a4float_k2t"/>
          <p:cNvSpPr txBox="1"/>
          <p:nvPr/>
        </p:nvSpPr>
        <p:spPr>
          <a:xfrm>
            <a:off x="3822192" y="5303520"/>
            <a:ext cx="1188720" cy="502920"/>
          </a:xfrm>
          <a:prstGeom prst="rect">
            <a:avLst/>
          </a:prstGeom>
          <a:noFill/>
          <a:ln/>
        </p:spPr>
        <p:txBody>
          <a:bodyPr wrap="square" lIns="0" tIns="0" rIns="0" bIns="0" rtlCol="0" anchor="t"/>
          <a:lstStyle/>
          <a:p>
            <a:pPr marL="0" indent="0" algn="l">
              <a:lnSpc>
                <a:spcPct val="105000"/>
              </a:lnSpc>
              <a:buNone/>
            </a:pPr>
            <a:r>
              <a:rPr lang="en-US" sz="1100" dirty="0">
                <a:solidFill>
                  <a:srgbClr val="D5E2F0"/>
                </a:solidFill>
                <a:latin typeface="Segoe UI" pitchFamily="34" charset="0"/>
                <a:ea typeface="Segoe UI" pitchFamily="34" charset="-122"/>
                <a:cs typeface="Segoe UI" pitchFamily="34" charset="-120"/>
              </a:rPr>
              <a:t>partial loss caught (chance 13 %)</a:t>
            </a:r>
            <a:endParaRPr lang="en-US" sz="1100" dirty="0"/>
          </a:p>
        </p:txBody>
      </p:sp>
      <p:sp>
        <p:nvSpPr>
          <p:cNvPr id="24" name="a4float_k3"/>
          <p:cNvSpPr/>
          <p:nvPr/>
        </p:nvSpPr>
        <p:spPr>
          <a:xfrm>
            <a:off x="5193792" y="4681728"/>
            <a:ext cx="1417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sp>
      <p:sp>
        <p:nvSpPr>
          <p:cNvPr id="25" name="a4float_k3n"/>
          <p:cNvSpPr txBox="1"/>
          <p:nvPr/>
        </p:nvSpPr>
        <p:spPr>
          <a:xfrm>
            <a:off x="5340096" y="4773168"/>
            <a:ext cx="1188720" cy="548640"/>
          </a:xfrm>
          <a:prstGeom prst="rect">
            <a:avLst/>
          </a:prstGeom>
          <a:noFill/>
          <a:ln/>
        </p:spPr>
        <p:txBody>
          <a:bodyPr wrap="square" lIns="0" tIns="0" rIns="0" bIns="0" rtlCol="0" anchor="t"/>
          <a:lstStyle/>
          <a:p>
            <a:pPr marL="0" indent="0" algn="l">
              <a:lnSpc>
                <a:spcPct val="105000"/>
              </a:lnSpc>
              <a:buNone/>
            </a:pPr>
            <a:r>
              <a:rPr lang="en-US" sz="3200" dirty="0">
                <a:solidFill>
                  <a:srgbClr val="F1D9A0"/>
                </a:solidFill>
                <a:latin typeface="Segoe UI Light" pitchFamily="34" charset="0"/>
                <a:ea typeface="Segoe UI Light" pitchFamily="34" charset="-122"/>
                <a:cs typeface="Segoe UI Light" pitchFamily="34" charset="-120"/>
              </a:rPr>
              <a:t>≈ 1</a:t>
            </a:r>
            <a:endParaRPr lang="en-US" sz="3200" dirty="0"/>
          </a:p>
        </p:txBody>
      </p:sp>
      <p:sp>
        <p:nvSpPr>
          <p:cNvPr id="26" name="a4float_k3t"/>
          <p:cNvSpPr txBox="1"/>
          <p:nvPr/>
        </p:nvSpPr>
        <p:spPr>
          <a:xfrm>
            <a:off x="5340096" y="5303520"/>
            <a:ext cx="1188720" cy="502920"/>
          </a:xfrm>
          <a:prstGeom prst="rect">
            <a:avLst/>
          </a:prstGeom>
          <a:noFill/>
          <a:ln/>
        </p:spPr>
        <p:txBody>
          <a:bodyPr wrap="square" lIns="0" tIns="0" rIns="0" bIns="0" rtlCol="0" anchor="t"/>
          <a:lstStyle/>
          <a:p>
            <a:pPr marL="0" indent="0" algn="l">
              <a:lnSpc>
                <a:spcPct val="105000"/>
              </a:lnSpc>
              <a:buNone/>
            </a:pPr>
            <a:r>
              <a:rPr lang="en-US" sz="1100" dirty="0">
                <a:solidFill>
                  <a:srgbClr val="D5E2F0"/>
                </a:solidFill>
                <a:latin typeface="Segoe UI" pitchFamily="34" charset="0"/>
                <a:ea typeface="Segoe UI" pitchFamily="34" charset="-122"/>
                <a:cs typeface="Segoe UI" pitchFamily="34" charset="-120"/>
              </a:rPr>
              <a:t>false alarm per stand-year</a:t>
            </a:r>
            <a:endParaRPr lang="en-US" sz="1100" dirty="0"/>
          </a:p>
        </p:txBody>
      </p:sp>
      <p:sp>
        <p:nvSpPr>
          <p:cNvPr id="27" name="a5fade_name"/>
          <p:cNvSpPr txBox="1"/>
          <p:nvPr/>
        </p:nvSpPr>
        <p:spPr>
          <a:xfrm>
            <a:off x="640080" y="6126480"/>
            <a:ext cx="4572000" cy="320040"/>
          </a:xfrm>
          <a:prstGeom prst="rect">
            <a:avLst/>
          </a:prstGeom>
          <a:noFill/>
          <a:ln/>
        </p:spPr>
        <p:txBody>
          <a:bodyPr wrap="square" lIns="0" tIns="0" rIns="0" bIns="0" rtlCol="0" anchor="t"/>
          <a:lstStyle/>
          <a:p>
            <a:pPr marL="0" indent="0" algn="l">
              <a:lnSpc>
                <a:spcPct val="105000"/>
              </a:lnSpc>
              <a:buNone/>
            </a:pPr>
            <a:r>
              <a:rPr lang="en-US" sz="1600" dirty="0">
                <a:solidFill>
                  <a:srgbClr val="D4E2EE"/>
                </a:solidFill>
                <a:latin typeface="Segoe UI Semibold" pitchFamily="34" charset="0"/>
                <a:ea typeface="Segoe UI Semibold" pitchFamily="34" charset="-122"/>
                <a:cs typeface="Segoe UI Semibold" pitchFamily="34" charset="-120"/>
              </a:rPr>
              <a:t>Nahla Nabil  ·  Bahrain</a:t>
            </a:r>
            <a:endParaRPr lang="en-US" sz="1600" dirty="0"/>
          </a:p>
        </p:txBody>
      </p:sp>
      <p:pic>
        <p:nvPicPr>
          <p:cNvPr id="28" name="a5fade_fae" descr="C:\Users\nahla\Desktop\UAE-Space-Hackatoon\deck_pptx\flag_ae.png"/>
          <p:cNvPicPr>
            <a:picLocks noChangeAspect="1"/>
          </p:cNvPicPr>
          <p:nvPr/>
        </p:nvPicPr>
        <p:blipFill>
          <a:blip r:embed="rId9"/>
          <a:stretch>
            <a:fillRect/>
          </a:stretch>
        </p:blipFill>
        <p:spPr>
          <a:xfrm>
            <a:off x="6995160" y="5577840"/>
            <a:ext cx="438912" cy="219456"/>
          </a:xfrm>
          <a:prstGeom prst="rect">
            <a:avLst/>
          </a:prstGeom>
        </p:spPr>
      </p:pic>
      <p:sp>
        <p:nvSpPr>
          <p:cNvPr id="29" name="a5fade_fael"/>
          <p:cNvSpPr txBox="1"/>
          <p:nvPr/>
        </p:nvSpPr>
        <p:spPr>
          <a:xfrm>
            <a:off x="7498080" y="5504688"/>
            <a:ext cx="2377440" cy="365760"/>
          </a:xfrm>
          <a:prstGeom prst="rect">
            <a:avLst/>
          </a:prstGeom>
          <a:noFill/>
          <a:ln/>
        </p:spPr>
        <p:txBody>
          <a:bodyPr wrap="square" lIns="0" tIns="0" rIns="0" bIns="0" rtlCol="0" anchor="ctr"/>
          <a:lstStyle/>
          <a:p>
            <a:pPr marL="0" indent="0" algn="l">
              <a:lnSpc>
                <a:spcPct val="105000"/>
              </a:lnSpc>
              <a:buNone/>
            </a:pPr>
            <a:r>
              <a:rPr lang="en-US" sz="1200" dirty="0">
                <a:solidFill>
                  <a:srgbClr val="D4E2EE"/>
                </a:solidFill>
                <a:latin typeface="Segoe UI" pitchFamily="34" charset="0"/>
                <a:ea typeface="Segoe UI" pitchFamily="34" charset="-122"/>
                <a:cs typeface="Segoe UI" pitchFamily="34" charset="-120"/>
              </a:rPr>
              <a:t>Study area: Abu Dhabi, UAE</a:t>
            </a:r>
            <a:endParaRPr lang="en-US" sz="1200" dirty="0"/>
          </a:p>
        </p:txBody>
      </p:sp>
      <p:pic>
        <p:nvPicPr>
          <p:cNvPr id="30" name="a5fade_fbh" descr="C:\Users\nahla\Desktop\UAE-Space-Hackatoon\deck_pptx\flag_bh.png"/>
          <p:cNvPicPr>
            <a:picLocks noChangeAspect="1"/>
          </p:cNvPicPr>
          <p:nvPr/>
        </p:nvPicPr>
        <p:blipFill>
          <a:blip r:embed="rId10"/>
          <a:stretch>
            <a:fillRect/>
          </a:stretch>
        </p:blipFill>
        <p:spPr>
          <a:xfrm>
            <a:off x="9646920" y="5577840"/>
            <a:ext cx="365760" cy="219456"/>
          </a:xfrm>
          <a:prstGeom prst="rect">
            <a:avLst/>
          </a:prstGeom>
        </p:spPr>
      </p:pic>
      <p:sp>
        <p:nvSpPr>
          <p:cNvPr id="31" name="a5fade_fbhl"/>
          <p:cNvSpPr txBox="1"/>
          <p:nvPr/>
        </p:nvSpPr>
        <p:spPr>
          <a:xfrm>
            <a:off x="10076688" y="5504688"/>
            <a:ext cx="1645920" cy="365760"/>
          </a:xfrm>
          <a:prstGeom prst="rect">
            <a:avLst/>
          </a:prstGeom>
          <a:noFill/>
          <a:ln/>
        </p:spPr>
        <p:txBody>
          <a:bodyPr wrap="square" lIns="0" tIns="0" rIns="0" bIns="0" rtlCol="0" anchor="ctr"/>
          <a:lstStyle/>
          <a:p>
            <a:pPr marL="0" indent="0" algn="l">
              <a:lnSpc>
                <a:spcPct val="105000"/>
              </a:lnSpc>
              <a:buNone/>
            </a:pPr>
            <a:r>
              <a:rPr lang="en-US" sz="1200" dirty="0">
                <a:solidFill>
                  <a:srgbClr val="D4E2EE"/>
                </a:solidFill>
                <a:latin typeface="Segoe UI" pitchFamily="34" charset="0"/>
                <a:ea typeface="Segoe UI" pitchFamily="34" charset="-122"/>
                <a:cs typeface="Segoe UI" pitchFamily="34" charset="-120"/>
              </a:rPr>
              <a:t>Built in Bahrain</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300"/>
                                  </p:stCondLst>
                                  <p:childTnLst>
                                    <p:cmd type="call" cmd="playFrom(0.0)">
                                      <p:cBhvr>
                                        <p:cTn id="6" dur="8000" fill="hold"/>
                                        <p:tgtEl>
                                          <p:spTgt spid="4"/>
                                        </p:tgtEl>
                                      </p:cBhvr>
                                    </p:cmd>
                                  </p:childTnLst>
                                </p:cTn>
                              </p:par>
                              <p:par>
                                <p:cTn id="7" presetID="0" presetClass="path" presetSubtype="0" repeatCount="indefinite" fill="hold" grpId="0" nodeType="withEffect">
                                  <p:stCondLst>
                                    <p:cond delay="250"/>
                                  </p:stCondLst>
                                  <p:childTnLst>
                                    <p:animMotion origin="layout" path="M 0 0 L 1.12 -0.03 E" pathEditMode="relative" ptsTypes="">
                                      <p:cBhvr>
                                        <p:cTn id="8" dur="18000" fill="hold"/>
                                        <p:tgtEl>
                                          <p:spTgt spid="7"/>
                                        </p:tgtEl>
                                        <p:attrNameLst>
                                          <p:attrName>ppt_x</p:attrName>
                                          <p:attrName>ppt_y</p:attrName>
                                        </p:attrNameLst>
                                      </p:cBhvr>
                                    </p:animMotion>
                                  </p:childTnLst>
                                </p:cTn>
                              </p:par>
                              <p:par>
                                <p:cTn id="9" presetID="10" presetClass="entr" presetSubtype="0" decel="100000"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600"/>
                                        <p:tgtEl>
                                          <p:spTgt spid="8"/>
                                        </p:tgtEl>
                                      </p:cBhvr>
                                    </p:animEffect>
                                  </p:childTnLst>
                                </p:cTn>
                              </p:par>
                              <p:par>
                                <p:cTn id="12" presetID="42" presetClass="entr" presetSubtype="0" decel="100000" fill="hold" grpId="0" nodeType="withEffect">
                                  <p:stCondLst>
                                    <p:cond delay="47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700"/>
                                        <p:tgtEl>
                                          <p:spTgt spid="9"/>
                                        </p:tgtEl>
                                      </p:cBhvr>
                                    </p:animEffect>
                                    <p:anim calcmode="lin" valueType="num">
                                      <p:cBhvr additive="base">
                                        <p:cTn id="15" dur="700" fill="hold"/>
                                        <p:tgtEl>
                                          <p:spTgt spid="9"/>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additive="base">
                                        <p:cTn id="19" dur="700" fill="hold"/>
                                        <p:tgtEl>
                                          <p:spTgt spid="10"/>
                                        </p:tgtEl>
                                        <p:attrNameLst>
                                          <p:attrName>ppt_y</p:attrName>
                                        </p:attrNameLst>
                                      </p:cBhvr>
                                      <p:tavLst>
                                        <p:tav tm="0">
                                          <p:val>
                                            <p:strVal val="#ppt_y+0.03"/>
                                          </p:val>
                                        </p:tav>
                                        <p:tav tm="100000">
                                          <p:val>
                                            <p:strVal val="#ppt_y"/>
                                          </p:val>
                                        </p:tav>
                                      </p:tavLst>
                                    </p:anim>
                                  </p:childTnLst>
                                </p:cTn>
                              </p:par>
                              <p:par>
                                <p:cTn id="20" presetID="10" presetClass="entr" presetSubtype="0" decel="100000" fill="hold" grpId="0" nodeType="withEffect">
                                  <p:stCondLst>
                                    <p:cond delay="69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600"/>
                                        <p:tgtEl>
                                          <p:spTgt spid="11"/>
                                        </p:tgtEl>
                                      </p:cBhvr>
                                    </p:animEffect>
                                  </p:childTnLst>
                                </p:cTn>
                              </p:par>
                              <p:par>
                                <p:cTn id="23" presetID="10" presetClass="entr" presetSubtype="0" decel="100000" fill="hold" grpId="0" nodeType="withEffect">
                                  <p:stCondLst>
                                    <p:cond delay="69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600"/>
                                        <p:tgtEl>
                                          <p:spTgt spid="12"/>
                                        </p:tgtEl>
                                      </p:cBhvr>
                                    </p:animEffect>
                                  </p:childTnLst>
                                </p:cTn>
                              </p:par>
                              <p:par>
                                <p:cTn id="26" presetID="10" presetClass="entr" presetSubtype="0" decel="100000" fill="hold" grpId="0" nodeType="withEffect">
                                  <p:stCondLst>
                                    <p:cond delay="69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600"/>
                                        <p:tgtEl>
                                          <p:spTgt spid="13"/>
                                        </p:tgtEl>
                                      </p:cBhvr>
                                    </p:animEffect>
                                  </p:childTnLst>
                                </p:cTn>
                              </p:par>
                              <p:par>
                                <p:cTn id="29" presetID="10" presetClass="entr" presetSubtype="0" decel="100000" fill="hold" grpId="0" nodeType="withEffect">
                                  <p:stCondLst>
                                    <p:cond delay="69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600"/>
                                        <p:tgtEl>
                                          <p:spTgt spid="14"/>
                                        </p:tgtEl>
                                      </p:cBhvr>
                                    </p:animEffect>
                                  </p:childTnLst>
                                </p:cTn>
                              </p:par>
                              <p:par>
                                <p:cTn id="32" presetID="53" presetClass="entr" presetSubtype="16" decel="100000" fill="hold" grpId="0" nodeType="withEffect">
                                  <p:stCondLst>
                                    <p:cond delay="91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700"/>
                                        <p:tgtEl>
                                          <p:spTgt spid="5"/>
                                        </p:tgtEl>
                                      </p:cBhvr>
                                    </p:animEffect>
                                    <p:anim calcmode="lin" valueType="num">
                                      <p:cBhvr additive="base">
                                        <p:cTn id="35" dur="800" fill="hold"/>
                                        <p:tgtEl>
                                          <p:spTgt spid="5"/>
                                        </p:tgtEl>
                                        <p:attrNameLst>
                                          <p:attrName>ppt_w</p:attrName>
                                        </p:attrNameLst>
                                      </p:cBhvr>
                                      <p:tavLst>
                                        <p:tav tm="0">
                                          <p:val>
                                            <p:strVal val="#ppt_w*0.85"/>
                                          </p:val>
                                        </p:tav>
                                        <p:tav tm="100000">
                                          <p:val>
                                            <p:strVal val="#ppt_w"/>
                                          </p:val>
                                        </p:tav>
                                      </p:tavLst>
                                    </p:anim>
                                    <p:anim calcmode="lin" valueType="num">
                                      <p:cBhvr additive="base">
                                        <p:cTn id="36" dur="800" fill="hold"/>
                                        <p:tgtEl>
                                          <p:spTgt spid="5"/>
                                        </p:tgtEl>
                                        <p:attrNameLst>
                                          <p:attrName>ppt_h</p:attrName>
                                        </p:attrNameLst>
                                      </p:cBhvr>
                                      <p:tavLst>
                                        <p:tav tm="0">
                                          <p:val>
                                            <p:strVal val="#ppt_h*0.85"/>
                                          </p:val>
                                        </p:tav>
                                        <p:tav tm="100000">
                                          <p:val>
                                            <p:strVal val="#ppt_h"/>
                                          </p:val>
                                        </p:tav>
                                      </p:tavLst>
                                    </p:anim>
                                  </p:childTnLst>
                                </p:cTn>
                              </p:par>
                              <p:par>
                                <p:cTn id="37" presetID="42" presetClass="entr" presetSubtype="0" decel="100000" fill="hold" grpId="0" nodeType="withEffect">
                                  <p:stCondLst>
                                    <p:cond delay="113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700"/>
                                        <p:tgtEl>
                                          <p:spTgt spid="15"/>
                                        </p:tgtEl>
                                      </p:cBhvr>
                                    </p:animEffect>
                                    <p:anim calcmode="lin" valueType="num">
                                      <p:cBhvr additive="base">
                                        <p:cTn id="40" dur="700" fill="hold"/>
                                        <p:tgtEl>
                                          <p:spTgt spid="15"/>
                                        </p:tgtEl>
                                        <p:attrNameLst>
                                          <p:attrName>ppt_y</p:attrName>
                                        </p:attrNameLst>
                                      </p:cBhvr>
                                      <p:tavLst>
                                        <p:tav tm="0">
                                          <p:val>
                                            <p:strVal val="#ppt_y+0.03"/>
                                          </p:val>
                                        </p:tav>
                                        <p:tav tm="100000">
                                          <p:val>
                                            <p:strVal val="#ppt_y"/>
                                          </p:val>
                                        </p:tav>
                                      </p:tavLst>
                                    </p:anim>
                                  </p:childTnLst>
                                </p:cTn>
                              </p:par>
                              <p:par>
                                <p:cTn id="41" presetID="42" presetClass="entr" presetSubtype="0" decel="100000" fill="hold" grpId="0" nodeType="withEffect">
                                  <p:stCondLst>
                                    <p:cond delay="113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700"/>
                                        <p:tgtEl>
                                          <p:spTgt spid="16"/>
                                        </p:tgtEl>
                                      </p:cBhvr>
                                    </p:animEffect>
                                    <p:anim calcmode="lin" valueType="num">
                                      <p:cBhvr additive="base">
                                        <p:cTn id="44" dur="700" fill="hold"/>
                                        <p:tgtEl>
                                          <p:spTgt spid="16"/>
                                        </p:tgtEl>
                                        <p:attrNameLst>
                                          <p:attrName>ppt_y</p:attrName>
                                        </p:attrNameLst>
                                      </p:cBhvr>
                                      <p:tavLst>
                                        <p:tav tm="0">
                                          <p:val>
                                            <p:strVal val="#ppt_y+0.03"/>
                                          </p:val>
                                        </p:tav>
                                        <p:tav tm="100000">
                                          <p:val>
                                            <p:strVal val="#ppt_y"/>
                                          </p:val>
                                        </p:tav>
                                      </p:tavLst>
                                    </p:anim>
                                  </p:childTnLst>
                                </p:cTn>
                              </p:par>
                              <p:par>
                                <p:cTn id="45" presetID="42" presetClass="entr" presetSubtype="0" decel="100000" fill="hold" grpId="0" nodeType="withEffect">
                                  <p:stCondLst>
                                    <p:cond delay="113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700"/>
                                        <p:tgtEl>
                                          <p:spTgt spid="17"/>
                                        </p:tgtEl>
                                      </p:cBhvr>
                                    </p:animEffect>
                                    <p:anim calcmode="lin" valueType="num">
                                      <p:cBhvr additive="base">
                                        <p:cTn id="48" dur="700" fill="hold"/>
                                        <p:tgtEl>
                                          <p:spTgt spid="17"/>
                                        </p:tgtEl>
                                        <p:attrNameLst>
                                          <p:attrName>ppt_y</p:attrName>
                                        </p:attrNameLst>
                                      </p:cBhvr>
                                      <p:tavLst>
                                        <p:tav tm="0">
                                          <p:val>
                                            <p:strVal val="#ppt_y+0.03"/>
                                          </p:val>
                                        </p:tav>
                                        <p:tav tm="100000">
                                          <p:val>
                                            <p:strVal val="#ppt_y"/>
                                          </p:val>
                                        </p:tav>
                                      </p:tavLst>
                                    </p:anim>
                                  </p:childTnLst>
                                </p:cTn>
                              </p:par>
                              <p:par>
                                <p:cTn id="49" presetID="42" presetClass="entr" presetSubtype="0" decel="100000" fill="hold" grpId="0" nodeType="withEffect">
                                  <p:stCondLst>
                                    <p:cond delay="113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700"/>
                                        <p:tgtEl>
                                          <p:spTgt spid="18"/>
                                        </p:tgtEl>
                                      </p:cBhvr>
                                    </p:animEffect>
                                    <p:anim calcmode="lin" valueType="num">
                                      <p:cBhvr additive="base">
                                        <p:cTn id="52" dur="700" fill="hold"/>
                                        <p:tgtEl>
                                          <p:spTgt spid="18"/>
                                        </p:tgtEl>
                                        <p:attrNameLst>
                                          <p:attrName>ppt_y</p:attrName>
                                        </p:attrNameLst>
                                      </p:cBhvr>
                                      <p:tavLst>
                                        <p:tav tm="0">
                                          <p:val>
                                            <p:strVal val="#ppt_y+0.03"/>
                                          </p:val>
                                        </p:tav>
                                        <p:tav tm="100000">
                                          <p:val>
                                            <p:strVal val="#ppt_y"/>
                                          </p:val>
                                        </p:tav>
                                      </p:tavLst>
                                    </p:anim>
                                  </p:childTnLst>
                                </p:cTn>
                              </p:par>
                              <p:par>
                                <p:cTn id="53" presetID="42" presetClass="entr" presetSubtype="0" decel="100000" fill="hold" grpId="0" nodeType="withEffect">
                                  <p:stCondLst>
                                    <p:cond delay="113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700"/>
                                        <p:tgtEl>
                                          <p:spTgt spid="19"/>
                                        </p:tgtEl>
                                      </p:cBhvr>
                                    </p:animEffect>
                                    <p:anim calcmode="lin" valueType="num">
                                      <p:cBhvr additive="base">
                                        <p:cTn id="56" dur="700" fill="hold"/>
                                        <p:tgtEl>
                                          <p:spTgt spid="19"/>
                                        </p:tgtEl>
                                        <p:attrNameLst>
                                          <p:attrName>ppt_y</p:attrName>
                                        </p:attrNameLst>
                                      </p:cBhvr>
                                      <p:tavLst>
                                        <p:tav tm="0">
                                          <p:val>
                                            <p:strVal val="#ppt_y+0.03"/>
                                          </p:val>
                                        </p:tav>
                                        <p:tav tm="100000">
                                          <p:val>
                                            <p:strVal val="#ppt_y"/>
                                          </p:val>
                                        </p:tav>
                                      </p:tavLst>
                                    </p:anim>
                                  </p:childTnLst>
                                </p:cTn>
                              </p:par>
                              <p:par>
                                <p:cTn id="57" presetID="42" presetClass="entr" presetSubtype="0" decel="100000" fill="hold" grpId="0" nodeType="withEffect">
                                  <p:stCondLst>
                                    <p:cond delay="113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700"/>
                                        <p:tgtEl>
                                          <p:spTgt spid="20"/>
                                        </p:tgtEl>
                                      </p:cBhvr>
                                    </p:animEffect>
                                    <p:anim calcmode="lin" valueType="num">
                                      <p:cBhvr additive="base">
                                        <p:cTn id="60" dur="700" fill="hold"/>
                                        <p:tgtEl>
                                          <p:spTgt spid="20"/>
                                        </p:tgtEl>
                                        <p:attrNameLst>
                                          <p:attrName>ppt_y</p:attrName>
                                        </p:attrNameLst>
                                      </p:cBhvr>
                                      <p:tavLst>
                                        <p:tav tm="0">
                                          <p:val>
                                            <p:strVal val="#ppt_y+0.03"/>
                                          </p:val>
                                        </p:tav>
                                        <p:tav tm="100000">
                                          <p:val>
                                            <p:strVal val="#ppt_y"/>
                                          </p:val>
                                        </p:tav>
                                      </p:tavLst>
                                    </p:anim>
                                  </p:childTnLst>
                                </p:cTn>
                              </p:par>
                              <p:par>
                                <p:cTn id="61" presetID="42" presetClass="entr" presetSubtype="0" decel="100000" fill="hold" grpId="0" nodeType="withEffect">
                                  <p:stCondLst>
                                    <p:cond delay="113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700"/>
                                        <p:tgtEl>
                                          <p:spTgt spid="21"/>
                                        </p:tgtEl>
                                      </p:cBhvr>
                                    </p:animEffect>
                                    <p:anim calcmode="lin" valueType="num">
                                      <p:cBhvr additive="base">
                                        <p:cTn id="64" dur="700" fill="hold"/>
                                        <p:tgtEl>
                                          <p:spTgt spid="21"/>
                                        </p:tgtEl>
                                        <p:attrNameLst>
                                          <p:attrName>ppt_y</p:attrName>
                                        </p:attrNameLst>
                                      </p:cBhvr>
                                      <p:tavLst>
                                        <p:tav tm="0">
                                          <p:val>
                                            <p:strVal val="#ppt_y+0.03"/>
                                          </p:val>
                                        </p:tav>
                                        <p:tav tm="100000">
                                          <p:val>
                                            <p:strVal val="#ppt_y"/>
                                          </p:val>
                                        </p:tav>
                                      </p:tavLst>
                                    </p:anim>
                                  </p:childTnLst>
                                </p:cTn>
                              </p:par>
                              <p:par>
                                <p:cTn id="65" presetID="42" presetClass="entr" presetSubtype="0" decel="100000" fill="hold" grpId="0" nodeType="withEffect">
                                  <p:stCondLst>
                                    <p:cond delay="113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700"/>
                                        <p:tgtEl>
                                          <p:spTgt spid="22"/>
                                        </p:tgtEl>
                                      </p:cBhvr>
                                    </p:animEffect>
                                    <p:anim calcmode="lin" valueType="num">
                                      <p:cBhvr additive="base">
                                        <p:cTn id="68" dur="700" fill="hold"/>
                                        <p:tgtEl>
                                          <p:spTgt spid="22"/>
                                        </p:tgtEl>
                                        <p:attrNameLst>
                                          <p:attrName>ppt_y</p:attrName>
                                        </p:attrNameLst>
                                      </p:cBhvr>
                                      <p:tavLst>
                                        <p:tav tm="0">
                                          <p:val>
                                            <p:strVal val="#ppt_y+0.03"/>
                                          </p:val>
                                        </p:tav>
                                        <p:tav tm="100000">
                                          <p:val>
                                            <p:strVal val="#ppt_y"/>
                                          </p:val>
                                        </p:tav>
                                      </p:tavLst>
                                    </p:anim>
                                  </p:childTnLst>
                                </p:cTn>
                              </p:par>
                              <p:par>
                                <p:cTn id="69" presetID="42" presetClass="entr" presetSubtype="0" decel="100000" fill="hold" grpId="0" nodeType="withEffect">
                                  <p:stCondLst>
                                    <p:cond delay="113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700"/>
                                        <p:tgtEl>
                                          <p:spTgt spid="23"/>
                                        </p:tgtEl>
                                      </p:cBhvr>
                                    </p:animEffect>
                                    <p:anim calcmode="lin" valueType="num">
                                      <p:cBhvr additive="base">
                                        <p:cTn id="72" dur="700" fill="hold"/>
                                        <p:tgtEl>
                                          <p:spTgt spid="23"/>
                                        </p:tgtEl>
                                        <p:attrNameLst>
                                          <p:attrName>ppt_y</p:attrName>
                                        </p:attrNameLst>
                                      </p:cBhvr>
                                      <p:tavLst>
                                        <p:tav tm="0">
                                          <p:val>
                                            <p:strVal val="#ppt_y+0.03"/>
                                          </p:val>
                                        </p:tav>
                                        <p:tav tm="100000">
                                          <p:val>
                                            <p:strVal val="#ppt_y"/>
                                          </p:val>
                                        </p:tav>
                                      </p:tavLst>
                                    </p:anim>
                                  </p:childTnLst>
                                </p:cTn>
                              </p:par>
                              <p:par>
                                <p:cTn id="73" presetID="42" presetClass="entr" presetSubtype="0" decel="100000" fill="hold" grpId="0" nodeType="withEffect">
                                  <p:stCondLst>
                                    <p:cond delay="113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700"/>
                                        <p:tgtEl>
                                          <p:spTgt spid="24"/>
                                        </p:tgtEl>
                                      </p:cBhvr>
                                    </p:animEffect>
                                    <p:anim calcmode="lin" valueType="num">
                                      <p:cBhvr additive="base">
                                        <p:cTn id="76" dur="700" fill="hold"/>
                                        <p:tgtEl>
                                          <p:spTgt spid="24"/>
                                        </p:tgtEl>
                                        <p:attrNameLst>
                                          <p:attrName>ppt_y</p:attrName>
                                        </p:attrNameLst>
                                      </p:cBhvr>
                                      <p:tavLst>
                                        <p:tav tm="0">
                                          <p:val>
                                            <p:strVal val="#ppt_y+0.03"/>
                                          </p:val>
                                        </p:tav>
                                        <p:tav tm="100000">
                                          <p:val>
                                            <p:strVal val="#ppt_y"/>
                                          </p:val>
                                        </p:tav>
                                      </p:tavLst>
                                    </p:anim>
                                  </p:childTnLst>
                                </p:cTn>
                              </p:par>
                              <p:par>
                                <p:cTn id="77" presetID="42" presetClass="entr" presetSubtype="0" decel="100000" fill="hold" grpId="0" nodeType="withEffect">
                                  <p:stCondLst>
                                    <p:cond delay="113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700"/>
                                        <p:tgtEl>
                                          <p:spTgt spid="25"/>
                                        </p:tgtEl>
                                      </p:cBhvr>
                                    </p:animEffect>
                                    <p:anim calcmode="lin" valueType="num">
                                      <p:cBhvr additive="base">
                                        <p:cTn id="80" dur="700" fill="hold"/>
                                        <p:tgtEl>
                                          <p:spTgt spid="25"/>
                                        </p:tgtEl>
                                        <p:attrNameLst>
                                          <p:attrName>ppt_y</p:attrName>
                                        </p:attrNameLst>
                                      </p:cBhvr>
                                      <p:tavLst>
                                        <p:tav tm="0">
                                          <p:val>
                                            <p:strVal val="#ppt_y+0.03"/>
                                          </p:val>
                                        </p:tav>
                                        <p:tav tm="100000">
                                          <p:val>
                                            <p:strVal val="#ppt_y"/>
                                          </p:val>
                                        </p:tav>
                                      </p:tavLst>
                                    </p:anim>
                                  </p:childTnLst>
                                </p:cTn>
                              </p:par>
                              <p:par>
                                <p:cTn id="81" presetID="42" presetClass="entr" presetSubtype="0" decel="100000" fill="hold" grpId="0" nodeType="withEffect">
                                  <p:stCondLst>
                                    <p:cond delay="113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700"/>
                                        <p:tgtEl>
                                          <p:spTgt spid="26"/>
                                        </p:tgtEl>
                                      </p:cBhvr>
                                    </p:animEffect>
                                    <p:anim calcmode="lin" valueType="num">
                                      <p:cBhvr additive="base">
                                        <p:cTn id="84" dur="700" fill="hold"/>
                                        <p:tgtEl>
                                          <p:spTgt spid="26"/>
                                        </p:tgtEl>
                                        <p:attrNameLst>
                                          <p:attrName>ppt_y</p:attrName>
                                        </p:attrNameLst>
                                      </p:cBhvr>
                                      <p:tavLst>
                                        <p:tav tm="0">
                                          <p:val>
                                            <p:strVal val="#ppt_y+0.03"/>
                                          </p:val>
                                        </p:tav>
                                        <p:tav tm="100000">
                                          <p:val>
                                            <p:strVal val="#ppt_y"/>
                                          </p:val>
                                        </p:tav>
                                      </p:tavLst>
                                    </p:anim>
                                  </p:childTnLst>
                                </p:cTn>
                              </p:par>
                              <p:par>
                                <p:cTn id="85" presetID="10" presetClass="entr" presetSubtype="0" decel="100000" fill="hold" grpId="0" nodeType="withEffect">
                                  <p:stCondLst>
                                    <p:cond delay="135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600"/>
                                        <p:tgtEl>
                                          <p:spTgt spid="27"/>
                                        </p:tgtEl>
                                      </p:cBhvr>
                                    </p:animEffect>
                                  </p:childTnLst>
                                </p:cTn>
                              </p:par>
                              <p:par>
                                <p:cTn id="88" presetID="10" presetClass="entr" presetSubtype="0" decel="100000" fill="hold" grpId="0" nodeType="withEffect">
                                  <p:stCondLst>
                                    <p:cond delay="1350"/>
                                  </p:stCondLst>
                                  <p:childTnLst>
                                    <p:set>
                                      <p:cBhvr>
                                        <p:cTn id="89" dur="1" fill="hold">
                                          <p:stCondLst>
                                            <p:cond delay="0"/>
                                          </p:stCondLst>
                                        </p:cTn>
                                        <p:tgtEl>
                                          <p:spTgt spid="28"/>
                                        </p:tgtEl>
                                        <p:attrNameLst>
                                          <p:attrName>style.visibility</p:attrName>
                                        </p:attrNameLst>
                                      </p:cBhvr>
                                      <p:to>
                                        <p:strVal val="visible"/>
                                      </p:to>
                                    </p:set>
                                    <p:animEffect transition="in" filter="fade">
                                      <p:cBhvr>
                                        <p:cTn id="90" dur="600"/>
                                        <p:tgtEl>
                                          <p:spTgt spid="28"/>
                                        </p:tgtEl>
                                      </p:cBhvr>
                                    </p:animEffect>
                                  </p:childTnLst>
                                </p:cTn>
                              </p:par>
                              <p:par>
                                <p:cTn id="91" presetID="10" presetClass="entr" presetSubtype="0" decel="100000" fill="hold" grpId="0" nodeType="withEffect">
                                  <p:stCondLst>
                                    <p:cond delay="1350"/>
                                  </p:stCondLst>
                                  <p:childTnLst>
                                    <p:set>
                                      <p:cBhvr>
                                        <p:cTn id="92" dur="1" fill="hold">
                                          <p:stCondLst>
                                            <p:cond delay="0"/>
                                          </p:stCondLst>
                                        </p:cTn>
                                        <p:tgtEl>
                                          <p:spTgt spid="29"/>
                                        </p:tgtEl>
                                        <p:attrNameLst>
                                          <p:attrName>style.visibility</p:attrName>
                                        </p:attrNameLst>
                                      </p:cBhvr>
                                      <p:to>
                                        <p:strVal val="visible"/>
                                      </p:to>
                                    </p:set>
                                    <p:animEffect transition="in" filter="fade">
                                      <p:cBhvr>
                                        <p:cTn id="93" dur="600"/>
                                        <p:tgtEl>
                                          <p:spTgt spid="29"/>
                                        </p:tgtEl>
                                      </p:cBhvr>
                                    </p:animEffect>
                                  </p:childTnLst>
                                </p:cTn>
                              </p:par>
                              <p:par>
                                <p:cTn id="94" presetID="10" presetClass="entr" presetSubtype="0" decel="100000" fill="hold" grpId="0" nodeType="withEffect">
                                  <p:stCondLst>
                                    <p:cond delay="135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600"/>
                                        <p:tgtEl>
                                          <p:spTgt spid="30"/>
                                        </p:tgtEl>
                                      </p:cBhvr>
                                    </p:animEffect>
                                  </p:childTnLst>
                                </p:cTn>
                              </p:par>
                              <p:par>
                                <p:cTn id="97" presetID="10" presetClass="entr" presetSubtype="0" decel="100000" fill="hold" grpId="0" nodeType="withEffect">
                                  <p:stCondLst>
                                    <p:cond delay="135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6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00" restart="whenNotActive" fill="hold" evtFilter="cancelBubble" nodeType="interactiveSeq">
                <p:stCondLst>
                  <p:cond evt="onClick" delay="0">
                    <p:tgtEl>
                      <p:spTgt spid="4"/>
                    </p:tgtEl>
                  </p:cond>
                </p:stCondLst>
                <p:endSync evt="end" delay="0">
                  <p:rtn val="all"/>
                </p:endSync>
                <p:childTnLst>
                  <p:par>
                    <p:cTn id="101" fill="hold">
                      <p:stCondLst>
                        <p:cond delay="0"/>
                      </p:stCondLst>
                      <p:childTnLst>
                        <p:par>
                          <p:cTn id="102" fill="hold">
                            <p:stCondLst>
                              <p:cond delay="0"/>
                            </p:stCondLst>
                            <p:childTnLst>
                              <p:par>
                                <p:cTn id="103" presetID="2" presetClass="mediacall" presetSubtype="0" fill="hold" nodeType="clickEffect">
                                  <p:stCondLst>
                                    <p:cond delay="0"/>
                                  </p:stCondLst>
                                  <p:childTnLst>
                                    <p:cmd type="call" cmd="togglePause">
                                      <p:cBhvr>
                                        <p:cTn id="104" dur="1" fill="hold"/>
                                        <p:tgtEl>
                                          <p:spTgt spid="4"/>
                                        </p:tgtEl>
                                      </p:cBhvr>
                                    </p:cmd>
                                  </p:childTnLst>
                                </p:cTn>
                              </p:par>
                            </p:childTnLst>
                          </p:cTn>
                        </p:par>
                      </p:childTnLst>
                    </p:cTn>
                  </p:par>
                </p:childTnLst>
              </p:cTn>
              <p:nextCondLst>
                <p:cond evt="onClick" delay="0">
                  <p:tgtEl>
                    <p:spTgt spid="4"/>
                  </p:tgtEl>
                </p:cond>
              </p:nextCondLst>
            </p:seq>
            <p:video>
              <p:cMediaNode vol="80000" mute="1">
                <p:cTn id="105" repeatCount="indefinite" fill="hold" display="0">
                  <p:stCondLst>
                    <p:cond delay="indefinite"/>
                  </p:stCondLst>
                </p:cTn>
                <p:tgtEl>
                  <p:spTgt spid="4"/>
                </p:tgtEl>
              </p:cMediaNode>
            </p:video>
          </p:childTnLst>
        </p:cTn>
      </p:par>
    </p:tnLst>
    <p:bldLst>
      <p:bldP spid="5" grpId="0" animBg="1"/>
      <p:bldP spid="7" grpId="0"/>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p:bldP spid="29" grpId="0" animBg="1"/>
      <p:bldP spid="30" grpId="0"/>
      <p:bldP spid="3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194560" y="2194560"/>
            <a:ext cx="5943600" cy="59436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8595360" y="-274320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THE TEAM</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One engineer, every role — delivered in the open</a:t>
            </a:r>
            <a:endParaRPr lang="en-US" sz="3400" dirty="0"/>
          </a:p>
        </p:txBody>
      </p:sp>
      <p:sp>
        <p:nvSpPr>
          <p:cNvPr id="7" name="a1float_panel"/>
          <p:cNvSpPr/>
          <p:nvPr/>
        </p:nvSpPr>
        <p:spPr>
          <a:xfrm>
            <a:off x="548640" y="1691640"/>
            <a:ext cx="4160520" cy="4480560"/>
          </a:xfrm>
          <a:prstGeom prst="roundRect">
            <a:avLst>
              <a:gd name="adj" fmla="val 3077"/>
            </a:avLst>
          </a:prstGeom>
          <a:solidFill>
            <a:srgbClr val="E8F0F9">
              <a:alpha val="92000"/>
            </a:srgbClr>
          </a:solidFill>
          <a:ln w="9525">
            <a:solidFill>
              <a:srgbClr val="D3E0EE"/>
            </a:solidFill>
            <a:prstDash val="solid"/>
          </a:ln>
          <a:effectLst>
            <a:outerShdw blurRad="152400" dist="38100" dir="5400000" algn="bl" rotWithShape="0">
              <a:srgbClr val="1B2B40">
                <a:alpha val="12000"/>
              </a:srgbClr>
            </a:outerShdw>
          </a:effectLst>
        </p:spPr>
      </p:sp>
      <p:sp>
        <p:nvSpPr>
          <p:cNvPr id="8" name="a1float_avring"/>
          <p:cNvSpPr/>
          <p:nvPr/>
        </p:nvSpPr>
        <p:spPr>
          <a:xfrm>
            <a:off x="731520" y="1847088"/>
            <a:ext cx="1207008" cy="1207008"/>
          </a:xfrm>
          <a:prstGeom prst="ellipse">
            <a:avLst/>
          </a:prstGeom>
          <a:solidFill>
            <a:srgbClr val="FFFFFF"/>
          </a:solidFill>
          <a:ln w="25400">
            <a:solidFill>
              <a:srgbClr val="3F6E9E"/>
            </a:solidFill>
            <a:prstDash val="solid"/>
          </a:ln>
        </p:spPr>
      </p:sp>
      <p:pic>
        <p:nvPicPr>
          <p:cNvPr id="9" name="a1float_av" descr="C:\Users\nahla\Desktop\UAE-Space-Hackatoon\deck_pptx\nahla.png"/>
          <p:cNvPicPr>
            <a:picLocks noChangeAspect="1"/>
          </p:cNvPicPr>
          <p:nvPr/>
        </p:nvPicPr>
        <p:blipFill>
          <a:blip r:embed="rId5"/>
          <a:stretch>
            <a:fillRect/>
          </a:stretch>
        </p:blipFill>
        <p:spPr>
          <a:xfrm>
            <a:off x="777240" y="1892808"/>
            <a:ext cx="1115568" cy="1115568"/>
          </a:xfrm>
          <a:prstGeom prst="rect">
            <a:avLst/>
          </a:prstGeom>
        </p:spPr>
      </p:pic>
      <p:sp>
        <p:nvSpPr>
          <p:cNvPr id="10" name="a1float_name"/>
          <p:cNvSpPr txBox="1"/>
          <p:nvPr/>
        </p:nvSpPr>
        <p:spPr>
          <a:xfrm>
            <a:off x="2084832" y="1920240"/>
            <a:ext cx="2560320" cy="411480"/>
          </a:xfrm>
          <a:prstGeom prst="rect">
            <a:avLst/>
          </a:prstGeom>
          <a:noFill/>
          <a:ln/>
        </p:spPr>
        <p:txBody>
          <a:bodyPr wrap="square" lIns="0" tIns="0" rIns="0" bIns="0" rtlCol="0" anchor="t"/>
          <a:lstStyle/>
          <a:p>
            <a:pPr marL="0" indent="0" algn="l">
              <a:lnSpc>
                <a:spcPct val="105000"/>
              </a:lnSpc>
              <a:buNone/>
            </a:pPr>
            <a:r>
              <a:rPr lang="en-US" sz="2200" dirty="0">
                <a:solidFill>
                  <a:srgbClr val="1B2B40"/>
                </a:solidFill>
                <a:latin typeface="Segoe UI Semibold" pitchFamily="34" charset="0"/>
                <a:ea typeface="Segoe UI Semibold" pitchFamily="34" charset="-122"/>
                <a:cs typeface="Segoe UI Semibold" pitchFamily="34" charset="-120"/>
              </a:rPr>
              <a:t>Nahla Nabil</a:t>
            </a:r>
            <a:endParaRPr lang="en-US" sz="2200" dirty="0"/>
          </a:p>
        </p:txBody>
      </p:sp>
      <p:sp>
        <p:nvSpPr>
          <p:cNvPr id="11" name="a1float_role"/>
          <p:cNvSpPr txBox="1"/>
          <p:nvPr/>
        </p:nvSpPr>
        <p:spPr>
          <a:xfrm>
            <a:off x="2084832" y="2331720"/>
            <a:ext cx="2560320" cy="45720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Team lead · AI engineer · IEEE researcher</a:t>
            </a:r>
            <a:endParaRPr lang="en-US" sz="1100" dirty="0"/>
          </a:p>
        </p:txBody>
      </p:sp>
      <p:sp>
        <p:nvSpPr>
          <p:cNvPr id="12" name="a1float_ctry"/>
          <p:cNvSpPr txBox="1"/>
          <p:nvPr/>
        </p:nvSpPr>
        <p:spPr>
          <a:xfrm>
            <a:off x="2084832" y="2596896"/>
            <a:ext cx="2560320" cy="256032"/>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Bahrain</a:t>
            </a:r>
            <a:endParaRPr lang="en-US" sz="1100" dirty="0"/>
          </a:p>
        </p:txBody>
      </p:sp>
      <p:sp>
        <p:nvSpPr>
          <p:cNvPr id="13" name="a2fade_l0"/>
          <p:cNvSpPr txBox="1"/>
          <p:nvPr/>
        </p:nvSpPr>
        <p:spPr>
          <a:xfrm>
            <a:off x="804672" y="3127248"/>
            <a:ext cx="36576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EDUCATION</a:t>
            </a:r>
            <a:endParaRPr lang="en-US" sz="1100" dirty="0"/>
          </a:p>
        </p:txBody>
      </p:sp>
      <p:sp>
        <p:nvSpPr>
          <p:cNvPr id="14" name="a2fade_edu"/>
          <p:cNvSpPr txBox="1"/>
          <p:nvPr/>
        </p:nvSpPr>
        <p:spPr>
          <a:xfrm>
            <a:off x="804672" y="3346704"/>
            <a:ext cx="3749040" cy="457200"/>
          </a:xfrm>
          <a:prstGeom prst="rect">
            <a:avLst/>
          </a:prstGeom>
          <a:noFill/>
          <a:ln/>
        </p:spPr>
        <p:txBody>
          <a:bodyPr wrap="square" lIns="0" tIns="0" rIns="0" bIns="0" rtlCol="0" anchor="t"/>
          <a:lstStyle/>
          <a:p>
            <a:pPr marL="0" indent="0" algn="l">
              <a:lnSpc>
                <a:spcPct val="105000"/>
              </a:lnSpc>
              <a:buNone/>
            </a:pPr>
            <a:r>
              <a:rPr lang="en-US" sz="1150" b="1" dirty="0">
                <a:solidFill>
                  <a:srgbClr val="1B2B40"/>
                </a:solidFill>
                <a:latin typeface="Segoe UI" pitchFamily="34" charset="0"/>
                <a:ea typeface="Segoe UI" pitchFamily="34" charset="-122"/>
                <a:cs typeface="Segoe UI" pitchFamily="34" charset="-120"/>
              </a:rPr>
              <a:t>BSc Artificial Intelligence</a:t>
            </a:r>
            <a:r>
              <a:rPr lang="en-US" sz="1150" dirty="0">
                <a:solidFill>
                  <a:srgbClr val="1B2B40"/>
                </a:solidFill>
                <a:latin typeface="Segoe UI" pitchFamily="34" charset="0"/>
                <a:ea typeface="Segoe UI" pitchFamily="34" charset="-122"/>
                <a:cs typeface="Segoe UI" pitchFamily="34" charset="-120"/>
              </a:rPr>
              <a:t> · Arab Open University, Bahrain · final semester · First-Class Honours standing</a:t>
            </a:r>
            <a:endParaRPr lang="en-US" sz="1150" dirty="0"/>
          </a:p>
        </p:txBody>
      </p:sp>
      <p:sp>
        <p:nvSpPr>
          <p:cNvPr id="15" name="a2fade_l1"/>
          <p:cNvSpPr txBox="1"/>
          <p:nvPr/>
        </p:nvSpPr>
        <p:spPr>
          <a:xfrm>
            <a:off x="804672" y="3877056"/>
            <a:ext cx="36576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RELEVANT EXPERTISE</a:t>
            </a:r>
            <a:endParaRPr lang="en-US" sz="1100" dirty="0"/>
          </a:p>
        </p:txBody>
      </p:sp>
      <p:sp>
        <p:nvSpPr>
          <p:cNvPr id="16" name="a2fade_skills"/>
          <p:cNvSpPr txBox="1"/>
          <p:nvPr/>
        </p:nvSpPr>
        <p:spPr>
          <a:xfrm>
            <a:off x="804672" y="4114800"/>
            <a:ext cx="3794760" cy="128016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B2B40"/>
                </a:solidFill>
                <a:latin typeface="Segoe UI" pitchFamily="34" charset="0"/>
                <a:ea typeface="Segoe UI" pitchFamily="34" charset="-122"/>
                <a:cs typeface="Segoe UI" pitchFamily="34" charset="-120"/>
              </a:rPr>
              <a:t>2 IEEE papers (ICCA 2025, ICAISET 2026): federated learning for industrial IoT; random-forest audit of GCC sustainability</a:t>
            </a:r>
            <a:endParaRPr lang="en-US" sz="1050" dirty="0"/>
          </a:p>
          <a:p>
            <a:pPr marL="152400" indent="-152400">
              <a:spcAft>
                <a:spcPts val="300"/>
              </a:spcAft>
              <a:buSzPct val="100000"/>
              <a:buChar char="•"/>
            </a:pPr>
            <a:r>
              <a:rPr lang="en-US" sz="1050" dirty="0">
                <a:solidFill>
                  <a:srgbClr val="1B2B40"/>
                </a:solidFill>
                <a:latin typeface="Segoe UI" pitchFamily="34" charset="0"/>
                <a:ea typeface="Segoe UI" pitchFamily="34" charset="-122"/>
                <a:cs typeface="Segoe UI" pitchFamily="34" charset="-120"/>
              </a:rPr>
              <a:t>AI &amp; LLM product engineering (Doo Bahrain; FlyRank backend AI)</a:t>
            </a:r>
            <a:endParaRPr lang="en-US" sz="1050" dirty="0"/>
          </a:p>
          <a:p>
            <a:pPr marL="152400" indent="-152400">
              <a:spcAft>
                <a:spcPts val="300"/>
              </a:spcAft>
              <a:buSzPct val="100000"/>
              <a:buChar char="•"/>
            </a:pPr>
            <a:r>
              <a:rPr lang="en-US" sz="1050" dirty="0">
                <a:solidFill>
                  <a:srgbClr val="1B2B40"/>
                </a:solidFill>
                <a:latin typeface="Segoe UI" pitchFamily="34" charset="0"/>
                <a:ea typeface="Segoe UI" pitchFamily="34" charset="-122"/>
                <a:cs typeface="Segoe UI" pitchFamily="34" charset="-120"/>
              </a:rPr>
              <a:t>Machine learning, computer vision (deepfake detection), Python geospatial stack</a:t>
            </a:r>
            <a:endParaRPr lang="en-US" sz="1050" dirty="0"/>
          </a:p>
        </p:txBody>
      </p:sp>
      <p:sp>
        <p:nvSpPr>
          <p:cNvPr id="17" name="a3fade_l2"/>
          <p:cNvSpPr txBox="1"/>
          <p:nvPr/>
        </p:nvSpPr>
        <p:spPr>
          <a:xfrm>
            <a:off x="804672" y="5486400"/>
            <a:ext cx="36576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COMMUNITY</a:t>
            </a:r>
            <a:endParaRPr lang="en-US" sz="1100" dirty="0"/>
          </a:p>
        </p:txBody>
      </p:sp>
      <p:sp>
        <p:nvSpPr>
          <p:cNvPr id="18" name="a3fade_comm"/>
          <p:cNvSpPr txBox="1"/>
          <p:nvPr/>
        </p:nvSpPr>
        <p:spPr>
          <a:xfrm>
            <a:off x="804672" y="5687568"/>
            <a:ext cx="3794760" cy="411480"/>
          </a:xfrm>
          <a:prstGeom prst="rect">
            <a:avLst/>
          </a:prstGeom>
          <a:noFill/>
          <a:ln/>
        </p:spPr>
        <p:txBody>
          <a:bodyPr wrap="square" lIns="0" tIns="0" rIns="0" bIns="0" rtlCol="0" anchor="t"/>
          <a:lstStyle/>
          <a:p>
            <a:pPr marL="0" indent="0" algn="l">
              <a:lnSpc>
                <a:spcPct val="105000"/>
              </a:lnSpc>
              <a:buNone/>
            </a:pPr>
            <a:r>
              <a:rPr lang="en-US" sz="1000" dirty="0">
                <a:solidFill>
                  <a:srgbClr val="1B2B40"/>
                </a:solidFill>
                <a:latin typeface="Segoe UI" pitchFamily="34" charset="0"/>
                <a:ea typeface="Segoe UI" pitchFamily="34" charset="-122"/>
                <a:cs typeface="Segoe UI" pitchFamily="34" charset="-120"/>
              </a:rPr>
              <a:t>NASA Space Apps Challenge local lead (Manama): organising and mentoring space-data teams</a:t>
            </a:r>
            <a:endParaRPr lang="en-US" sz="1000" dirty="0"/>
          </a:p>
        </p:txBody>
      </p:sp>
      <p:sp>
        <p:nvSpPr>
          <p:cNvPr id="19" name="a1fade_l4"/>
          <p:cNvSpPr txBox="1"/>
          <p:nvPr/>
        </p:nvSpPr>
        <p:spPr>
          <a:xfrm>
            <a:off x="4983480" y="1691640"/>
            <a:ext cx="64008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ROLES &amp; RESPONSIBILITIES IN THIS PROJECT</a:t>
            </a:r>
            <a:endParaRPr lang="en-US" sz="1100" dirty="0"/>
          </a:p>
        </p:txBody>
      </p:sp>
      <p:sp>
        <p:nvSpPr>
          <p:cNvPr id="20" name="a2float_r0"/>
          <p:cNvSpPr/>
          <p:nvPr/>
        </p:nvSpPr>
        <p:spPr>
          <a:xfrm>
            <a:off x="4983480" y="2029968"/>
            <a:ext cx="3255264" cy="1051560"/>
          </a:xfrm>
          <a:prstGeom prst="roundRect">
            <a:avLst>
              <a:gd name="adj" fmla="val 1217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21" name="a2float_r0ic_c"/>
          <p:cNvSpPr/>
          <p:nvPr/>
        </p:nvSpPr>
        <p:spPr>
          <a:xfrm>
            <a:off x="5166360" y="2295144"/>
            <a:ext cx="512064" cy="512064"/>
          </a:xfrm>
          <a:prstGeom prst="ellipse">
            <a:avLst/>
          </a:prstGeom>
          <a:solidFill>
            <a:srgbClr val="3F6E9E">
              <a:alpha val="18000"/>
            </a:srgbClr>
          </a:solidFill>
          <a:ln w="12700">
            <a:solidFill>
              <a:srgbClr val="3F6E9E"/>
            </a:solidFill>
            <a:prstDash val="solid"/>
          </a:ln>
        </p:spPr>
      </p:sp>
      <p:pic>
        <p:nvPicPr>
          <p:cNvPr id="22" name="a2float_r0ic_i" descr="preencoded.png"/>
          <p:cNvPicPr>
            <a:picLocks noChangeAspect="1"/>
          </p:cNvPicPr>
          <p:nvPr/>
        </p:nvPicPr>
        <p:blipFill>
          <a:blip r:embed="rId6"/>
          <a:stretch>
            <a:fillRect/>
          </a:stretch>
        </p:blipFill>
        <p:spPr>
          <a:xfrm>
            <a:off x="5289255" y="2418039"/>
            <a:ext cx="266273" cy="266273"/>
          </a:xfrm>
          <a:prstGeom prst="rect">
            <a:avLst/>
          </a:prstGeom>
        </p:spPr>
      </p:pic>
      <p:sp>
        <p:nvSpPr>
          <p:cNvPr id="23" name="a2float_r0t"/>
          <p:cNvSpPr txBox="1"/>
          <p:nvPr/>
        </p:nvSpPr>
        <p:spPr>
          <a:xfrm>
            <a:off x="5824728" y="2194560"/>
            <a:ext cx="2286000" cy="329184"/>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Project lead &amp; owner</a:t>
            </a:r>
            <a:endParaRPr lang="en-US" sz="1400" dirty="0"/>
          </a:p>
        </p:txBody>
      </p:sp>
      <p:sp>
        <p:nvSpPr>
          <p:cNvPr id="24" name="a2float_r0d"/>
          <p:cNvSpPr txBox="1"/>
          <p:nvPr/>
        </p:nvSpPr>
        <p:spPr>
          <a:xfrm>
            <a:off x="5824728" y="2532888"/>
            <a:ext cx="228600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problem framing, user needs, scope, every claim</a:t>
            </a:r>
            <a:endParaRPr lang="en-US" sz="1200" dirty="0"/>
          </a:p>
        </p:txBody>
      </p:sp>
      <p:sp>
        <p:nvSpPr>
          <p:cNvPr id="25" name="a2float_r1"/>
          <p:cNvSpPr/>
          <p:nvPr/>
        </p:nvSpPr>
        <p:spPr>
          <a:xfrm>
            <a:off x="8366760" y="2029968"/>
            <a:ext cx="3255264" cy="1051560"/>
          </a:xfrm>
          <a:prstGeom prst="roundRect">
            <a:avLst>
              <a:gd name="adj" fmla="val 1217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26" name="a2float_r1ic_c"/>
          <p:cNvSpPr/>
          <p:nvPr/>
        </p:nvSpPr>
        <p:spPr>
          <a:xfrm>
            <a:off x="8549640" y="2295144"/>
            <a:ext cx="512064" cy="512064"/>
          </a:xfrm>
          <a:prstGeom prst="ellipse">
            <a:avLst/>
          </a:prstGeom>
          <a:solidFill>
            <a:srgbClr val="3F6E9E">
              <a:alpha val="18000"/>
            </a:srgbClr>
          </a:solidFill>
          <a:ln w="12700">
            <a:solidFill>
              <a:srgbClr val="3F6E9E"/>
            </a:solidFill>
            <a:prstDash val="solid"/>
          </a:ln>
        </p:spPr>
      </p:sp>
      <p:pic>
        <p:nvPicPr>
          <p:cNvPr id="27" name="a2float_r1ic_i" descr="preencoded.png"/>
          <p:cNvPicPr>
            <a:picLocks noChangeAspect="1"/>
          </p:cNvPicPr>
          <p:nvPr/>
        </p:nvPicPr>
        <p:blipFill>
          <a:blip r:embed="rId7"/>
          <a:stretch>
            <a:fillRect/>
          </a:stretch>
        </p:blipFill>
        <p:spPr>
          <a:xfrm>
            <a:off x="8672535" y="2418039"/>
            <a:ext cx="266273" cy="266273"/>
          </a:xfrm>
          <a:prstGeom prst="rect">
            <a:avLst/>
          </a:prstGeom>
        </p:spPr>
      </p:pic>
      <p:sp>
        <p:nvSpPr>
          <p:cNvPr id="28" name="a2float_r1t"/>
          <p:cNvSpPr txBox="1"/>
          <p:nvPr/>
        </p:nvSpPr>
        <p:spPr>
          <a:xfrm>
            <a:off x="9208008" y="2194560"/>
            <a:ext cx="2286000" cy="329184"/>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EO data engineer</a:t>
            </a:r>
            <a:endParaRPr lang="en-US" sz="1400" dirty="0"/>
          </a:p>
        </p:txBody>
      </p:sp>
      <p:sp>
        <p:nvSpPr>
          <p:cNvPr id="29" name="a2float_r1d"/>
          <p:cNvSpPr txBox="1"/>
          <p:nvPr/>
        </p:nvSpPr>
        <p:spPr>
          <a:xfrm>
            <a:off x="9208008" y="2532888"/>
            <a:ext cx="228600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778 Sentinel-2 dates, EnMAP reader, sub-metre checks</a:t>
            </a:r>
            <a:endParaRPr lang="en-US" sz="1200" dirty="0"/>
          </a:p>
        </p:txBody>
      </p:sp>
      <p:sp>
        <p:nvSpPr>
          <p:cNvPr id="30" name="a3float_r2"/>
          <p:cNvSpPr/>
          <p:nvPr/>
        </p:nvSpPr>
        <p:spPr>
          <a:xfrm>
            <a:off x="4983480" y="3218688"/>
            <a:ext cx="3255264" cy="1051560"/>
          </a:xfrm>
          <a:prstGeom prst="roundRect">
            <a:avLst>
              <a:gd name="adj" fmla="val 1217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31" name="a3float_r2ic_c"/>
          <p:cNvSpPr/>
          <p:nvPr/>
        </p:nvSpPr>
        <p:spPr>
          <a:xfrm>
            <a:off x="5166360" y="3483864"/>
            <a:ext cx="512064" cy="512064"/>
          </a:xfrm>
          <a:prstGeom prst="ellipse">
            <a:avLst/>
          </a:prstGeom>
          <a:solidFill>
            <a:srgbClr val="3F6E9E">
              <a:alpha val="18000"/>
            </a:srgbClr>
          </a:solidFill>
          <a:ln w="12700">
            <a:solidFill>
              <a:srgbClr val="3F6E9E"/>
            </a:solidFill>
            <a:prstDash val="solid"/>
          </a:ln>
        </p:spPr>
      </p:sp>
      <p:pic>
        <p:nvPicPr>
          <p:cNvPr id="32" name="a3float_r2ic_i" descr="preencoded.png"/>
          <p:cNvPicPr>
            <a:picLocks noChangeAspect="1"/>
          </p:cNvPicPr>
          <p:nvPr/>
        </p:nvPicPr>
        <p:blipFill>
          <a:blip r:embed="rId8"/>
          <a:stretch>
            <a:fillRect/>
          </a:stretch>
        </p:blipFill>
        <p:spPr>
          <a:xfrm>
            <a:off x="5289255" y="3606759"/>
            <a:ext cx="266273" cy="266273"/>
          </a:xfrm>
          <a:prstGeom prst="rect">
            <a:avLst/>
          </a:prstGeom>
        </p:spPr>
      </p:pic>
      <p:sp>
        <p:nvSpPr>
          <p:cNvPr id="33" name="a3float_r2t"/>
          <p:cNvSpPr txBox="1"/>
          <p:nvPr/>
        </p:nvSpPr>
        <p:spPr>
          <a:xfrm>
            <a:off x="5824728" y="3383280"/>
            <a:ext cx="2286000" cy="329184"/>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Modelling &amp; statistics</a:t>
            </a:r>
            <a:endParaRPr lang="en-US" sz="1400" dirty="0"/>
          </a:p>
        </p:txBody>
      </p:sp>
      <p:sp>
        <p:nvSpPr>
          <p:cNvPr id="34" name="a3float_r2d"/>
          <p:cNvSpPr txBox="1"/>
          <p:nvPr/>
        </p:nvSpPr>
        <p:spPr>
          <a:xfrm>
            <a:off x="5824728" y="3721608"/>
            <a:ext cx="228600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tide-aware model, stand + cell alert, calibration</a:t>
            </a:r>
            <a:endParaRPr lang="en-US" sz="1200" dirty="0"/>
          </a:p>
        </p:txBody>
      </p:sp>
      <p:sp>
        <p:nvSpPr>
          <p:cNvPr id="35" name="a3float_r3"/>
          <p:cNvSpPr/>
          <p:nvPr/>
        </p:nvSpPr>
        <p:spPr>
          <a:xfrm>
            <a:off x="8366760" y="3218688"/>
            <a:ext cx="3255264" cy="1051560"/>
          </a:xfrm>
          <a:prstGeom prst="roundRect">
            <a:avLst>
              <a:gd name="adj" fmla="val 1217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36" name="a3float_r3ic_c"/>
          <p:cNvSpPr/>
          <p:nvPr/>
        </p:nvSpPr>
        <p:spPr>
          <a:xfrm>
            <a:off x="8549640" y="3483864"/>
            <a:ext cx="512064" cy="512064"/>
          </a:xfrm>
          <a:prstGeom prst="ellipse">
            <a:avLst/>
          </a:prstGeom>
          <a:solidFill>
            <a:srgbClr val="3F6E9E">
              <a:alpha val="18000"/>
            </a:srgbClr>
          </a:solidFill>
          <a:ln w="12700">
            <a:solidFill>
              <a:srgbClr val="3F6E9E"/>
            </a:solidFill>
            <a:prstDash val="solid"/>
          </a:ln>
        </p:spPr>
      </p:sp>
      <p:pic>
        <p:nvPicPr>
          <p:cNvPr id="37" name="a3float_r3ic_i" descr="preencoded.png"/>
          <p:cNvPicPr>
            <a:picLocks noChangeAspect="1"/>
          </p:cNvPicPr>
          <p:nvPr/>
        </p:nvPicPr>
        <p:blipFill>
          <a:blip r:embed="rId9"/>
          <a:stretch>
            <a:fillRect/>
          </a:stretch>
        </p:blipFill>
        <p:spPr>
          <a:xfrm>
            <a:off x="8672535" y="3606759"/>
            <a:ext cx="266273" cy="266273"/>
          </a:xfrm>
          <a:prstGeom prst="rect">
            <a:avLst/>
          </a:prstGeom>
        </p:spPr>
      </p:pic>
      <p:sp>
        <p:nvSpPr>
          <p:cNvPr id="38" name="a3float_r3t"/>
          <p:cNvSpPr txBox="1"/>
          <p:nvPr/>
        </p:nvSpPr>
        <p:spPr>
          <a:xfrm>
            <a:off x="9208008" y="3383280"/>
            <a:ext cx="2286000" cy="329184"/>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Validation &amp; integrity</a:t>
            </a:r>
            <a:endParaRPr lang="en-US" sz="1400" dirty="0"/>
          </a:p>
        </p:txBody>
      </p:sp>
      <p:sp>
        <p:nvSpPr>
          <p:cNvPr id="39" name="a3float_r3d"/>
          <p:cNvSpPr txBox="1"/>
          <p:nvPr/>
        </p:nvSpPr>
        <p:spPr>
          <a:xfrm>
            <a:off x="9208008" y="3721608"/>
            <a:ext cx="228600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real events, simulations, unseen stands</a:t>
            </a:r>
            <a:endParaRPr lang="en-US" sz="1200" dirty="0"/>
          </a:p>
        </p:txBody>
      </p:sp>
      <p:sp>
        <p:nvSpPr>
          <p:cNvPr id="40" name="a4float_r4"/>
          <p:cNvSpPr/>
          <p:nvPr/>
        </p:nvSpPr>
        <p:spPr>
          <a:xfrm>
            <a:off x="4983480" y="4407408"/>
            <a:ext cx="3255264" cy="1051560"/>
          </a:xfrm>
          <a:prstGeom prst="roundRect">
            <a:avLst>
              <a:gd name="adj" fmla="val 1217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41" name="a4float_r4ic_c"/>
          <p:cNvSpPr/>
          <p:nvPr/>
        </p:nvSpPr>
        <p:spPr>
          <a:xfrm>
            <a:off x="5166360" y="4672584"/>
            <a:ext cx="512064" cy="512064"/>
          </a:xfrm>
          <a:prstGeom prst="ellipse">
            <a:avLst/>
          </a:prstGeom>
          <a:solidFill>
            <a:srgbClr val="3F6E9E">
              <a:alpha val="18000"/>
            </a:srgbClr>
          </a:solidFill>
          <a:ln w="12700">
            <a:solidFill>
              <a:srgbClr val="3F6E9E"/>
            </a:solidFill>
            <a:prstDash val="solid"/>
          </a:ln>
        </p:spPr>
      </p:sp>
      <p:pic>
        <p:nvPicPr>
          <p:cNvPr id="42" name="a4float_r4ic_i" descr="preencoded.png"/>
          <p:cNvPicPr>
            <a:picLocks noChangeAspect="1"/>
          </p:cNvPicPr>
          <p:nvPr/>
        </p:nvPicPr>
        <p:blipFill>
          <a:blip r:embed="rId10"/>
          <a:stretch>
            <a:fillRect/>
          </a:stretch>
        </p:blipFill>
        <p:spPr>
          <a:xfrm>
            <a:off x="5289255" y="4795479"/>
            <a:ext cx="266273" cy="266273"/>
          </a:xfrm>
          <a:prstGeom prst="rect">
            <a:avLst/>
          </a:prstGeom>
        </p:spPr>
      </p:pic>
      <p:sp>
        <p:nvSpPr>
          <p:cNvPr id="43" name="a4float_r4t"/>
          <p:cNvSpPr txBox="1"/>
          <p:nvPr/>
        </p:nvSpPr>
        <p:spPr>
          <a:xfrm>
            <a:off x="5824728" y="4572000"/>
            <a:ext cx="2286000" cy="329184"/>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Product &amp; delivery</a:t>
            </a:r>
            <a:endParaRPr lang="en-US" sz="1400" dirty="0"/>
          </a:p>
        </p:txBody>
      </p:sp>
      <p:sp>
        <p:nvSpPr>
          <p:cNvPr id="44" name="a4float_r4d"/>
          <p:cNvSpPr txBox="1"/>
          <p:nvPr/>
        </p:nvSpPr>
        <p:spPr>
          <a:xfrm>
            <a:off x="5824728" y="4910328"/>
            <a:ext cx="228600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dashboard, website, site reports, notebook</a:t>
            </a:r>
            <a:endParaRPr lang="en-US" sz="1200" dirty="0"/>
          </a:p>
        </p:txBody>
      </p:sp>
      <p:sp>
        <p:nvSpPr>
          <p:cNvPr id="45" name="a4float_r5"/>
          <p:cNvSpPr/>
          <p:nvPr/>
        </p:nvSpPr>
        <p:spPr>
          <a:xfrm>
            <a:off x="8366760" y="4407408"/>
            <a:ext cx="3255264" cy="1051560"/>
          </a:xfrm>
          <a:prstGeom prst="roundRect">
            <a:avLst>
              <a:gd name="adj" fmla="val 1217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46" name="a4float_r5ic_c"/>
          <p:cNvSpPr/>
          <p:nvPr/>
        </p:nvSpPr>
        <p:spPr>
          <a:xfrm>
            <a:off x="8549640" y="4672584"/>
            <a:ext cx="512064" cy="512064"/>
          </a:xfrm>
          <a:prstGeom prst="ellipse">
            <a:avLst/>
          </a:prstGeom>
          <a:solidFill>
            <a:srgbClr val="3F6E9E">
              <a:alpha val="18000"/>
            </a:srgbClr>
          </a:solidFill>
          <a:ln w="12700">
            <a:solidFill>
              <a:srgbClr val="3F6E9E"/>
            </a:solidFill>
            <a:prstDash val="solid"/>
          </a:ln>
        </p:spPr>
      </p:sp>
      <p:pic>
        <p:nvPicPr>
          <p:cNvPr id="47" name="a4float_r5ic_i" descr="preencoded.png"/>
          <p:cNvPicPr>
            <a:picLocks noChangeAspect="1"/>
          </p:cNvPicPr>
          <p:nvPr/>
        </p:nvPicPr>
        <p:blipFill>
          <a:blip r:embed="rId11"/>
          <a:stretch>
            <a:fillRect/>
          </a:stretch>
        </p:blipFill>
        <p:spPr>
          <a:xfrm>
            <a:off x="8672535" y="4795479"/>
            <a:ext cx="266273" cy="266273"/>
          </a:xfrm>
          <a:prstGeom prst="rect">
            <a:avLst/>
          </a:prstGeom>
        </p:spPr>
      </p:pic>
      <p:sp>
        <p:nvSpPr>
          <p:cNvPr id="48" name="a4float_r5t"/>
          <p:cNvSpPr txBox="1"/>
          <p:nvPr/>
        </p:nvSpPr>
        <p:spPr>
          <a:xfrm>
            <a:off x="9208008" y="4572000"/>
            <a:ext cx="2286000" cy="329184"/>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Business &amp; impact</a:t>
            </a:r>
            <a:endParaRPr lang="en-US" sz="1400" dirty="0"/>
          </a:p>
        </p:txBody>
      </p:sp>
      <p:sp>
        <p:nvSpPr>
          <p:cNvPr id="49" name="a4float_r5d"/>
          <p:cNvSpPr txBox="1"/>
          <p:nvPr/>
        </p:nvSpPr>
        <p:spPr>
          <a:xfrm>
            <a:off x="9208008" y="4910328"/>
            <a:ext cx="228600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customers, pricing hypotheses, carbon ranges</a:t>
            </a:r>
            <a:endParaRPr lang="en-US" sz="1200" dirty="0"/>
          </a:p>
        </p:txBody>
      </p:sp>
      <p:sp>
        <p:nvSpPr>
          <p:cNvPr id="50" name="a5float_gap"/>
          <p:cNvSpPr/>
          <p:nvPr/>
        </p:nvSpPr>
        <p:spPr>
          <a:xfrm>
            <a:off x="4983480" y="5596128"/>
            <a:ext cx="6638544" cy="576072"/>
          </a:xfrm>
          <a:prstGeom prst="roundRect">
            <a:avLst>
              <a:gd name="adj" fmla="val 22222"/>
            </a:avLst>
          </a:prstGeom>
          <a:solidFill>
            <a:srgbClr val="3F6E9E">
              <a:alpha val="14000"/>
            </a:srgbClr>
          </a:solidFill>
          <a:ln w="9525">
            <a:solidFill>
              <a:srgbClr val="3F6E9E"/>
            </a:solidFill>
            <a:prstDash val="solid"/>
          </a:ln>
          <a:effectLst>
            <a:outerShdw blurRad="152400" dist="38100" dir="5400000" algn="bl" rotWithShape="0">
              <a:srgbClr val="1B2B40">
                <a:alpha val="12000"/>
              </a:srgbClr>
            </a:outerShdw>
          </a:effectLst>
        </p:spPr>
      </p:sp>
      <p:sp>
        <p:nvSpPr>
          <p:cNvPr id="51" name="a5float_gapt"/>
          <p:cNvSpPr txBox="1"/>
          <p:nvPr/>
        </p:nvSpPr>
        <p:spPr>
          <a:xfrm>
            <a:off x="5212080" y="5596128"/>
            <a:ext cx="6309360" cy="576072"/>
          </a:xfrm>
          <a:prstGeom prst="rect">
            <a:avLst/>
          </a:prstGeom>
          <a:noFill/>
          <a:ln/>
        </p:spPr>
        <p:txBody>
          <a:bodyPr wrap="square" lIns="0" tIns="0" rIns="0" bIns="0" rtlCol="0" anchor="ctr"/>
          <a:lstStyle/>
          <a:p>
            <a:pPr marL="0" indent="0" algn="l">
              <a:lnSpc>
                <a:spcPct val="105000"/>
              </a:lnSpc>
              <a:buNone/>
            </a:pPr>
            <a:r>
              <a:rPr lang="en-US" sz="1300" b="1" dirty="0">
                <a:solidFill>
                  <a:srgbClr val="2F5D8F"/>
                </a:solidFill>
                <a:latin typeface="Segoe UI" pitchFamily="34" charset="0"/>
                <a:ea typeface="Segoe UI" pitchFamily="34" charset="-122"/>
                <a:cs typeface="Segoe UI" pitchFamily="34" charset="-120"/>
              </a:rPr>
              <a:t>Incubation gap we will close:  </a:t>
            </a:r>
            <a:r>
              <a:rPr lang="en-US" sz="1300" dirty="0">
                <a:solidFill>
                  <a:srgbClr val="1B2B40"/>
                </a:solidFill>
                <a:latin typeface="Segoe UI" pitchFamily="34" charset="0"/>
                <a:ea typeface="Segoe UI" pitchFamily="34" charset="-122"/>
                <a:cs typeface="Segoe UI" pitchFamily="34" charset="-120"/>
              </a:rPr>
              <a:t>a mangrove ecologist mentor · a restoration or agency partner · a GIS analyst</a:t>
            </a:r>
            <a:endParaRPr lang="en-US" sz="1300" dirty="0"/>
          </a:p>
        </p:txBody>
      </p:sp>
      <p:sp>
        <p:nvSpPr>
          <p:cNvPr id="52"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47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700"/>
                                        <p:tgtEl>
                                          <p:spTgt spid="9"/>
                                        </p:tgtEl>
                                      </p:cBhvr>
                                    </p:animEffect>
                                    <p:anim calcmode="lin" valueType="num">
                                      <p:cBhvr additive="base">
                                        <p:cTn id="23" dur="700" fill="hold"/>
                                        <p:tgtEl>
                                          <p:spTgt spid="9"/>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47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700"/>
                                        <p:tgtEl>
                                          <p:spTgt spid="10"/>
                                        </p:tgtEl>
                                      </p:cBhvr>
                                    </p:animEffect>
                                    <p:anim calcmode="lin" valueType="num">
                                      <p:cBhvr additive="base">
                                        <p:cTn id="27" dur="700" fill="hold"/>
                                        <p:tgtEl>
                                          <p:spTgt spid="10"/>
                                        </p:tgtEl>
                                        <p:attrNameLst>
                                          <p:attrName>ppt_y</p:attrName>
                                        </p:attrNameLst>
                                      </p:cBhvr>
                                      <p:tavLst>
                                        <p:tav tm="0">
                                          <p:val>
                                            <p:strVal val="#ppt_y+0.03"/>
                                          </p:val>
                                        </p:tav>
                                        <p:tav tm="100000">
                                          <p:val>
                                            <p:strVal val="#ppt_y"/>
                                          </p:val>
                                        </p:tav>
                                      </p:tavLst>
                                    </p:anim>
                                  </p:childTnLst>
                                </p:cTn>
                              </p:par>
                              <p:par>
                                <p:cTn id="28" presetID="42" presetClass="entr" presetSubtype="0" decel="100000" fill="hold" grpId="0" nodeType="withEffect">
                                  <p:stCondLst>
                                    <p:cond delay="47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00"/>
                                        <p:tgtEl>
                                          <p:spTgt spid="11"/>
                                        </p:tgtEl>
                                      </p:cBhvr>
                                    </p:animEffect>
                                    <p:anim calcmode="lin" valueType="num">
                                      <p:cBhvr additive="base">
                                        <p:cTn id="31" dur="700" fill="hold"/>
                                        <p:tgtEl>
                                          <p:spTgt spid="11"/>
                                        </p:tgtEl>
                                        <p:attrNameLst>
                                          <p:attrName>ppt_y</p:attrName>
                                        </p:attrNameLst>
                                      </p:cBhvr>
                                      <p:tavLst>
                                        <p:tav tm="0">
                                          <p:val>
                                            <p:strVal val="#ppt_y+0.03"/>
                                          </p:val>
                                        </p:tav>
                                        <p:tav tm="100000">
                                          <p:val>
                                            <p:strVal val="#ppt_y"/>
                                          </p:val>
                                        </p:tav>
                                      </p:tavLst>
                                    </p:anim>
                                  </p:childTnLst>
                                </p:cTn>
                              </p:par>
                              <p:par>
                                <p:cTn id="32" presetID="42" presetClass="entr" presetSubtype="0" decel="100000" fill="hold" grpId="0" nodeType="withEffect">
                                  <p:stCondLst>
                                    <p:cond delay="47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700"/>
                                        <p:tgtEl>
                                          <p:spTgt spid="12"/>
                                        </p:tgtEl>
                                      </p:cBhvr>
                                    </p:animEffect>
                                    <p:anim calcmode="lin" valueType="num">
                                      <p:cBhvr additive="base">
                                        <p:cTn id="35" dur="700" fill="hold"/>
                                        <p:tgtEl>
                                          <p:spTgt spid="12"/>
                                        </p:tgtEl>
                                        <p:attrNameLst>
                                          <p:attrName>ppt_y</p:attrName>
                                        </p:attrNameLst>
                                      </p:cBhvr>
                                      <p:tavLst>
                                        <p:tav tm="0">
                                          <p:val>
                                            <p:strVal val="#ppt_y+0.03"/>
                                          </p:val>
                                        </p:tav>
                                        <p:tav tm="100000">
                                          <p:val>
                                            <p:strVal val="#ppt_y"/>
                                          </p:val>
                                        </p:tav>
                                      </p:tavLst>
                                    </p:anim>
                                  </p:childTnLst>
                                </p:cTn>
                              </p:par>
                              <p:par>
                                <p:cTn id="36" presetID="10" presetClass="entr" presetSubtype="0" decel="100000" fill="hold" grpId="0" nodeType="withEffect">
                                  <p:stCondLst>
                                    <p:cond delay="47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600"/>
                                        <p:tgtEl>
                                          <p:spTgt spid="19"/>
                                        </p:tgtEl>
                                      </p:cBhvr>
                                    </p:animEffect>
                                  </p:childTnLst>
                                </p:cTn>
                              </p:par>
                              <p:par>
                                <p:cTn id="39" presetID="10" presetClass="entr" presetSubtype="0" decel="100000" fill="hold" grpId="0" nodeType="withEffect">
                                  <p:stCondLst>
                                    <p:cond delay="69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600"/>
                                        <p:tgtEl>
                                          <p:spTgt spid="13"/>
                                        </p:tgtEl>
                                      </p:cBhvr>
                                    </p:animEffect>
                                  </p:childTnLst>
                                </p:cTn>
                              </p:par>
                              <p:par>
                                <p:cTn id="42" presetID="10" presetClass="entr" presetSubtype="0" decel="100000" fill="hold" grpId="0" nodeType="withEffect">
                                  <p:stCondLst>
                                    <p:cond delay="69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600"/>
                                        <p:tgtEl>
                                          <p:spTgt spid="14"/>
                                        </p:tgtEl>
                                      </p:cBhvr>
                                    </p:animEffect>
                                  </p:childTnLst>
                                </p:cTn>
                              </p:par>
                              <p:par>
                                <p:cTn id="45" presetID="10" presetClass="entr" presetSubtype="0" decel="100000" fill="hold" grpId="0" nodeType="withEffect">
                                  <p:stCondLst>
                                    <p:cond delay="69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600"/>
                                        <p:tgtEl>
                                          <p:spTgt spid="15"/>
                                        </p:tgtEl>
                                      </p:cBhvr>
                                    </p:animEffect>
                                  </p:childTnLst>
                                </p:cTn>
                              </p:par>
                              <p:par>
                                <p:cTn id="48" presetID="10" presetClass="entr" presetSubtype="0" decel="100000" fill="hold" grpId="0" nodeType="withEffect">
                                  <p:stCondLst>
                                    <p:cond delay="69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600"/>
                                        <p:tgtEl>
                                          <p:spTgt spid="16"/>
                                        </p:tgtEl>
                                      </p:cBhvr>
                                    </p:animEffect>
                                  </p:childTnLst>
                                </p:cTn>
                              </p:par>
                              <p:par>
                                <p:cTn id="51" presetID="42" presetClass="entr" presetSubtype="0" decel="100000" fill="hold" grpId="0" nodeType="withEffect">
                                  <p:stCondLst>
                                    <p:cond delay="69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700"/>
                                        <p:tgtEl>
                                          <p:spTgt spid="20"/>
                                        </p:tgtEl>
                                      </p:cBhvr>
                                    </p:animEffect>
                                    <p:anim calcmode="lin" valueType="num">
                                      <p:cBhvr additive="base">
                                        <p:cTn id="54" dur="700" fill="hold"/>
                                        <p:tgtEl>
                                          <p:spTgt spid="20"/>
                                        </p:tgtEl>
                                        <p:attrNameLst>
                                          <p:attrName>ppt_y</p:attrName>
                                        </p:attrNameLst>
                                      </p:cBhvr>
                                      <p:tavLst>
                                        <p:tav tm="0">
                                          <p:val>
                                            <p:strVal val="#ppt_y+0.03"/>
                                          </p:val>
                                        </p:tav>
                                        <p:tav tm="100000">
                                          <p:val>
                                            <p:strVal val="#ppt_y"/>
                                          </p:val>
                                        </p:tav>
                                      </p:tavLst>
                                    </p:anim>
                                  </p:childTnLst>
                                </p:cTn>
                              </p:par>
                              <p:par>
                                <p:cTn id="55" presetID="42" presetClass="entr" presetSubtype="0" decel="100000" fill="hold" grpId="0" nodeType="withEffect">
                                  <p:stCondLst>
                                    <p:cond delay="69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700"/>
                                        <p:tgtEl>
                                          <p:spTgt spid="21"/>
                                        </p:tgtEl>
                                      </p:cBhvr>
                                    </p:animEffect>
                                    <p:anim calcmode="lin" valueType="num">
                                      <p:cBhvr additive="base">
                                        <p:cTn id="58" dur="700" fill="hold"/>
                                        <p:tgtEl>
                                          <p:spTgt spid="21"/>
                                        </p:tgtEl>
                                        <p:attrNameLst>
                                          <p:attrName>ppt_y</p:attrName>
                                        </p:attrNameLst>
                                      </p:cBhvr>
                                      <p:tavLst>
                                        <p:tav tm="0">
                                          <p:val>
                                            <p:strVal val="#ppt_y+0.03"/>
                                          </p:val>
                                        </p:tav>
                                        <p:tav tm="100000">
                                          <p:val>
                                            <p:strVal val="#ppt_y"/>
                                          </p:val>
                                        </p:tav>
                                      </p:tavLst>
                                    </p:anim>
                                  </p:childTnLst>
                                </p:cTn>
                              </p:par>
                              <p:par>
                                <p:cTn id="59" presetID="42" presetClass="entr" presetSubtype="0" decel="100000" fill="hold" grpId="0" nodeType="withEffect">
                                  <p:stCondLst>
                                    <p:cond delay="69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700"/>
                                        <p:tgtEl>
                                          <p:spTgt spid="22"/>
                                        </p:tgtEl>
                                      </p:cBhvr>
                                    </p:animEffect>
                                    <p:anim calcmode="lin" valueType="num">
                                      <p:cBhvr additive="base">
                                        <p:cTn id="62" dur="700" fill="hold"/>
                                        <p:tgtEl>
                                          <p:spTgt spid="22"/>
                                        </p:tgtEl>
                                        <p:attrNameLst>
                                          <p:attrName>ppt_y</p:attrName>
                                        </p:attrNameLst>
                                      </p:cBhvr>
                                      <p:tavLst>
                                        <p:tav tm="0">
                                          <p:val>
                                            <p:strVal val="#ppt_y+0.03"/>
                                          </p:val>
                                        </p:tav>
                                        <p:tav tm="100000">
                                          <p:val>
                                            <p:strVal val="#ppt_y"/>
                                          </p:val>
                                        </p:tav>
                                      </p:tavLst>
                                    </p:anim>
                                  </p:childTnLst>
                                </p:cTn>
                              </p:par>
                              <p:par>
                                <p:cTn id="63" presetID="42" presetClass="entr" presetSubtype="0" decel="100000" fill="hold" grpId="0" nodeType="withEffect">
                                  <p:stCondLst>
                                    <p:cond delay="69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700"/>
                                        <p:tgtEl>
                                          <p:spTgt spid="23"/>
                                        </p:tgtEl>
                                      </p:cBhvr>
                                    </p:animEffect>
                                    <p:anim calcmode="lin" valueType="num">
                                      <p:cBhvr additive="base">
                                        <p:cTn id="66" dur="700" fill="hold"/>
                                        <p:tgtEl>
                                          <p:spTgt spid="23"/>
                                        </p:tgtEl>
                                        <p:attrNameLst>
                                          <p:attrName>ppt_y</p:attrName>
                                        </p:attrNameLst>
                                      </p:cBhvr>
                                      <p:tavLst>
                                        <p:tav tm="0">
                                          <p:val>
                                            <p:strVal val="#ppt_y+0.03"/>
                                          </p:val>
                                        </p:tav>
                                        <p:tav tm="100000">
                                          <p:val>
                                            <p:strVal val="#ppt_y"/>
                                          </p:val>
                                        </p:tav>
                                      </p:tavLst>
                                    </p:anim>
                                  </p:childTnLst>
                                </p:cTn>
                              </p:par>
                              <p:par>
                                <p:cTn id="67" presetID="42" presetClass="entr" presetSubtype="0" decel="100000" fill="hold" grpId="0" nodeType="withEffect">
                                  <p:stCondLst>
                                    <p:cond delay="69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700"/>
                                        <p:tgtEl>
                                          <p:spTgt spid="24"/>
                                        </p:tgtEl>
                                      </p:cBhvr>
                                    </p:animEffect>
                                    <p:anim calcmode="lin" valueType="num">
                                      <p:cBhvr additive="base">
                                        <p:cTn id="70" dur="700" fill="hold"/>
                                        <p:tgtEl>
                                          <p:spTgt spid="24"/>
                                        </p:tgtEl>
                                        <p:attrNameLst>
                                          <p:attrName>ppt_y</p:attrName>
                                        </p:attrNameLst>
                                      </p:cBhvr>
                                      <p:tavLst>
                                        <p:tav tm="0">
                                          <p:val>
                                            <p:strVal val="#ppt_y+0.03"/>
                                          </p:val>
                                        </p:tav>
                                        <p:tav tm="100000">
                                          <p:val>
                                            <p:strVal val="#ppt_y"/>
                                          </p:val>
                                        </p:tav>
                                      </p:tavLst>
                                    </p:anim>
                                  </p:childTnLst>
                                </p:cTn>
                              </p:par>
                              <p:par>
                                <p:cTn id="71" presetID="42" presetClass="entr" presetSubtype="0" decel="100000" fill="hold" grpId="0" nodeType="withEffect">
                                  <p:stCondLst>
                                    <p:cond delay="69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700"/>
                                        <p:tgtEl>
                                          <p:spTgt spid="25"/>
                                        </p:tgtEl>
                                      </p:cBhvr>
                                    </p:animEffect>
                                    <p:anim calcmode="lin" valueType="num">
                                      <p:cBhvr additive="base">
                                        <p:cTn id="74" dur="700" fill="hold"/>
                                        <p:tgtEl>
                                          <p:spTgt spid="25"/>
                                        </p:tgtEl>
                                        <p:attrNameLst>
                                          <p:attrName>ppt_y</p:attrName>
                                        </p:attrNameLst>
                                      </p:cBhvr>
                                      <p:tavLst>
                                        <p:tav tm="0">
                                          <p:val>
                                            <p:strVal val="#ppt_y+0.03"/>
                                          </p:val>
                                        </p:tav>
                                        <p:tav tm="100000">
                                          <p:val>
                                            <p:strVal val="#ppt_y"/>
                                          </p:val>
                                        </p:tav>
                                      </p:tavLst>
                                    </p:anim>
                                  </p:childTnLst>
                                </p:cTn>
                              </p:par>
                              <p:par>
                                <p:cTn id="75" presetID="42" presetClass="entr" presetSubtype="0" decel="100000" fill="hold" grpId="0" nodeType="withEffect">
                                  <p:stCondLst>
                                    <p:cond delay="69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700"/>
                                        <p:tgtEl>
                                          <p:spTgt spid="26"/>
                                        </p:tgtEl>
                                      </p:cBhvr>
                                    </p:animEffect>
                                    <p:anim calcmode="lin" valueType="num">
                                      <p:cBhvr additive="base">
                                        <p:cTn id="78" dur="700" fill="hold"/>
                                        <p:tgtEl>
                                          <p:spTgt spid="26"/>
                                        </p:tgtEl>
                                        <p:attrNameLst>
                                          <p:attrName>ppt_y</p:attrName>
                                        </p:attrNameLst>
                                      </p:cBhvr>
                                      <p:tavLst>
                                        <p:tav tm="0">
                                          <p:val>
                                            <p:strVal val="#ppt_y+0.03"/>
                                          </p:val>
                                        </p:tav>
                                        <p:tav tm="100000">
                                          <p:val>
                                            <p:strVal val="#ppt_y"/>
                                          </p:val>
                                        </p:tav>
                                      </p:tavLst>
                                    </p:anim>
                                  </p:childTnLst>
                                </p:cTn>
                              </p:par>
                              <p:par>
                                <p:cTn id="79" presetID="42" presetClass="entr" presetSubtype="0" decel="100000" fill="hold" grpId="0" nodeType="withEffect">
                                  <p:stCondLst>
                                    <p:cond delay="69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700"/>
                                        <p:tgtEl>
                                          <p:spTgt spid="27"/>
                                        </p:tgtEl>
                                      </p:cBhvr>
                                    </p:animEffect>
                                    <p:anim calcmode="lin" valueType="num">
                                      <p:cBhvr additive="base">
                                        <p:cTn id="82" dur="700" fill="hold"/>
                                        <p:tgtEl>
                                          <p:spTgt spid="27"/>
                                        </p:tgtEl>
                                        <p:attrNameLst>
                                          <p:attrName>ppt_y</p:attrName>
                                        </p:attrNameLst>
                                      </p:cBhvr>
                                      <p:tavLst>
                                        <p:tav tm="0">
                                          <p:val>
                                            <p:strVal val="#ppt_y+0.03"/>
                                          </p:val>
                                        </p:tav>
                                        <p:tav tm="100000">
                                          <p:val>
                                            <p:strVal val="#ppt_y"/>
                                          </p:val>
                                        </p:tav>
                                      </p:tavLst>
                                    </p:anim>
                                  </p:childTnLst>
                                </p:cTn>
                              </p:par>
                              <p:par>
                                <p:cTn id="83" presetID="42" presetClass="entr" presetSubtype="0" decel="100000" fill="hold" grpId="0" nodeType="withEffect">
                                  <p:stCondLst>
                                    <p:cond delay="69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700"/>
                                        <p:tgtEl>
                                          <p:spTgt spid="28"/>
                                        </p:tgtEl>
                                      </p:cBhvr>
                                    </p:animEffect>
                                    <p:anim calcmode="lin" valueType="num">
                                      <p:cBhvr additive="base">
                                        <p:cTn id="86" dur="700" fill="hold"/>
                                        <p:tgtEl>
                                          <p:spTgt spid="28"/>
                                        </p:tgtEl>
                                        <p:attrNameLst>
                                          <p:attrName>ppt_y</p:attrName>
                                        </p:attrNameLst>
                                      </p:cBhvr>
                                      <p:tavLst>
                                        <p:tav tm="0">
                                          <p:val>
                                            <p:strVal val="#ppt_y+0.03"/>
                                          </p:val>
                                        </p:tav>
                                        <p:tav tm="100000">
                                          <p:val>
                                            <p:strVal val="#ppt_y"/>
                                          </p:val>
                                        </p:tav>
                                      </p:tavLst>
                                    </p:anim>
                                  </p:childTnLst>
                                </p:cTn>
                              </p:par>
                              <p:par>
                                <p:cTn id="87" presetID="42" presetClass="entr" presetSubtype="0" decel="100000" fill="hold" grpId="0" nodeType="withEffect">
                                  <p:stCondLst>
                                    <p:cond delay="69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700"/>
                                        <p:tgtEl>
                                          <p:spTgt spid="29"/>
                                        </p:tgtEl>
                                      </p:cBhvr>
                                    </p:animEffect>
                                    <p:anim calcmode="lin" valueType="num">
                                      <p:cBhvr additive="base">
                                        <p:cTn id="90" dur="700" fill="hold"/>
                                        <p:tgtEl>
                                          <p:spTgt spid="29"/>
                                        </p:tgtEl>
                                        <p:attrNameLst>
                                          <p:attrName>ppt_y</p:attrName>
                                        </p:attrNameLst>
                                      </p:cBhvr>
                                      <p:tavLst>
                                        <p:tav tm="0">
                                          <p:val>
                                            <p:strVal val="#ppt_y+0.03"/>
                                          </p:val>
                                        </p:tav>
                                        <p:tav tm="100000">
                                          <p:val>
                                            <p:strVal val="#ppt_y"/>
                                          </p:val>
                                        </p:tav>
                                      </p:tavLst>
                                    </p:anim>
                                  </p:childTnLst>
                                </p:cTn>
                              </p:par>
                              <p:par>
                                <p:cTn id="91" presetID="10" presetClass="entr" presetSubtype="0" decel="100000" fill="hold" grpId="0" nodeType="withEffect">
                                  <p:stCondLst>
                                    <p:cond delay="910"/>
                                  </p:stCondLst>
                                  <p:childTnLst>
                                    <p:set>
                                      <p:cBhvr>
                                        <p:cTn id="92" dur="1" fill="hold">
                                          <p:stCondLst>
                                            <p:cond delay="0"/>
                                          </p:stCondLst>
                                        </p:cTn>
                                        <p:tgtEl>
                                          <p:spTgt spid="17"/>
                                        </p:tgtEl>
                                        <p:attrNameLst>
                                          <p:attrName>style.visibility</p:attrName>
                                        </p:attrNameLst>
                                      </p:cBhvr>
                                      <p:to>
                                        <p:strVal val="visible"/>
                                      </p:to>
                                    </p:set>
                                    <p:animEffect transition="in" filter="fade">
                                      <p:cBhvr>
                                        <p:cTn id="93" dur="600"/>
                                        <p:tgtEl>
                                          <p:spTgt spid="17"/>
                                        </p:tgtEl>
                                      </p:cBhvr>
                                    </p:animEffect>
                                  </p:childTnLst>
                                </p:cTn>
                              </p:par>
                              <p:par>
                                <p:cTn id="94" presetID="10" presetClass="entr" presetSubtype="0" decel="100000" fill="hold" grpId="0" nodeType="withEffect">
                                  <p:stCondLst>
                                    <p:cond delay="910"/>
                                  </p:stCondLst>
                                  <p:childTnLst>
                                    <p:set>
                                      <p:cBhvr>
                                        <p:cTn id="95" dur="1" fill="hold">
                                          <p:stCondLst>
                                            <p:cond delay="0"/>
                                          </p:stCondLst>
                                        </p:cTn>
                                        <p:tgtEl>
                                          <p:spTgt spid="18"/>
                                        </p:tgtEl>
                                        <p:attrNameLst>
                                          <p:attrName>style.visibility</p:attrName>
                                        </p:attrNameLst>
                                      </p:cBhvr>
                                      <p:to>
                                        <p:strVal val="visible"/>
                                      </p:to>
                                    </p:set>
                                    <p:animEffect transition="in" filter="fade">
                                      <p:cBhvr>
                                        <p:cTn id="96" dur="600"/>
                                        <p:tgtEl>
                                          <p:spTgt spid="18"/>
                                        </p:tgtEl>
                                      </p:cBhvr>
                                    </p:animEffect>
                                  </p:childTnLst>
                                </p:cTn>
                              </p:par>
                              <p:par>
                                <p:cTn id="97" presetID="42" presetClass="entr" presetSubtype="0" decel="100000" fill="hold" grpId="0" nodeType="withEffect">
                                  <p:stCondLst>
                                    <p:cond delay="910"/>
                                  </p:stCondLst>
                                  <p:childTnLst>
                                    <p:set>
                                      <p:cBhvr>
                                        <p:cTn id="98" dur="1" fill="hold">
                                          <p:stCondLst>
                                            <p:cond delay="0"/>
                                          </p:stCondLst>
                                        </p:cTn>
                                        <p:tgtEl>
                                          <p:spTgt spid="30"/>
                                        </p:tgtEl>
                                        <p:attrNameLst>
                                          <p:attrName>style.visibility</p:attrName>
                                        </p:attrNameLst>
                                      </p:cBhvr>
                                      <p:to>
                                        <p:strVal val="visible"/>
                                      </p:to>
                                    </p:set>
                                    <p:animEffect transition="in" filter="fade">
                                      <p:cBhvr>
                                        <p:cTn id="99" dur="700"/>
                                        <p:tgtEl>
                                          <p:spTgt spid="30"/>
                                        </p:tgtEl>
                                      </p:cBhvr>
                                    </p:animEffect>
                                    <p:anim calcmode="lin" valueType="num">
                                      <p:cBhvr additive="base">
                                        <p:cTn id="100" dur="700" fill="hold"/>
                                        <p:tgtEl>
                                          <p:spTgt spid="30"/>
                                        </p:tgtEl>
                                        <p:attrNameLst>
                                          <p:attrName>ppt_y</p:attrName>
                                        </p:attrNameLst>
                                      </p:cBhvr>
                                      <p:tavLst>
                                        <p:tav tm="0">
                                          <p:val>
                                            <p:strVal val="#ppt_y+0.03"/>
                                          </p:val>
                                        </p:tav>
                                        <p:tav tm="100000">
                                          <p:val>
                                            <p:strVal val="#ppt_y"/>
                                          </p:val>
                                        </p:tav>
                                      </p:tavLst>
                                    </p:anim>
                                  </p:childTnLst>
                                </p:cTn>
                              </p:par>
                              <p:par>
                                <p:cTn id="101" presetID="42" presetClass="entr" presetSubtype="0" decel="100000" fill="hold" grpId="0" nodeType="withEffect">
                                  <p:stCondLst>
                                    <p:cond delay="910"/>
                                  </p:stCondLst>
                                  <p:childTnLst>
                                    <p:set>
                                      <p:cBhvr>
                                        <p:cTn id="102" dur="1" fill="hold">
                                          <p:stCondLst>
                                            <p:cond delay="0"/>
                                          </p:stCondLst>
                                        </p:cTn>
                                        <p:tgtEl>
                                          <p:spTgt spid="31"/>
                                        </p:tgtEl>
                                        <p:attrNameLst>
                                          <p:attrName>style.visibility</p:attrName>
                                        </p:attrNameLst>
                                      </p:cBhvr>
                                      <p:to>
                                        <p:strVal val="visible"/>
                                      </p:to>
                                    </p:set>
                                    <p:animEffect transition="in" filter="fade">
                                      <p:cBhvr>
                                        <p:cTn id="103" dur="700"/>
                                        <p:tgtEl>
                                          <p:spTgt spid="31"/>
                                        </p:tgtEl>
                                      </p:cBhvr>
                                    </p:animEffect>
                                    <p:anim calcmode="lin" valueType="num">
                                      <p:cBhvr additive="base">
                                        <p:cTn id="104" dur="700" fill="hold"/>
                                        <p:tgtEl>
                                          <p:spTgt spid="31"/>
                                        </p:tgtEl>
                                        <p:attrNameLst>
                                          <p:attrName>ppt_y</p:attrName>
                                        </p:attrNameLst>
                                      </p:cBhvr>
                                      <p:tavLst>
                                        <p:tav tm="0">
                                          <p:val>
                                            <p:strVal val="#ppt_y+0.03"/>
                                          </p:val>
                                        </p:tav>
                                        <p:tav tm="100000">
                                          <p:val>
                                            <p:strVal val="#ppt_y"/>
                                          </p:val>
                                        </p:tav>
                                      </p:tavLst>
                                    </p:anim>
                                  </p:childTnLst>
                                </p:cTn>
                              </p:par>
                              <p:par>
                                <p:cTn id="105" presetID="42" presetClass="entr" presetSubtype="0" decel="100000" fill="hold" grpId="0" nodeType="withEffect">
                                  <p:stCondLst>
                                    <p:cond delay="910"/>
                                  </p:stCondLst>
                                  <p:childTnLst>
                                    <p:set>
                                      <p:cBhvr>
                                        <p:cTn id="106" dur="1" fill="hold">
                                          <p:stCondLst>
                                            <p:cond delay="0"/>
                                          </p:stCondLst>
                                        </p:cTn>
                                        <p:tgtEl>
                                          <p:spTgt spid="32"/>
                                        </p:tgtEl>
                                        <p:attrNameLst>
                                          <p:attrName>style.visibility</p:attrName>
                                        </p:attrNameLst>
                                      </p:cBhvr>
                                      <p:to>
                                        <p:strVal val="visible"/>
                                      </p:to>
                                    </p:set>
                                    <p:animEffect transition="in" filter="fade">
                                      <p:cBhvr>
                                        <p:cTn id="107" dur="700"/>
                                        <p:tgtEl>
                                          <p:spTgt spid="32"/>
                                        </p:tgtEl>
                                      </p:cBhvr>
                                    </p:animEffect>
                                    <p:anim calcmode="lin" valueType="num">
                                      <p:cBhvr additive="base">
                                        <p:cTn id="108" dur="700" fill="hold"/>
                                        <p:tgtEl>
                                          <p:spTgt spid="32"/>
                                        </p:tgtEl>
                                        <p:attrNameLst>
                                          <p:attrName>ppt_y</p:attrName>
                                        </p:attrNameLst>
                                      </p:cBhvr>
                                      <p:tavLst>
                                        <p:tav tm="0">
                                          <p:val>
                                            <p:strVal val="#ppt_y+0.03"/>
                                          </p:val>
                                        </p:tav>
                                        <p:tav tm="100000">
                                          <p:val>
                                            <p:strVal val="#ppt_y"/>
                                          </p:val>
                                        </p:tav>
                                      </p:tavLst>
                                    </p:anim>
                                  </p:childTnLst>
                                </p:cTn>
                              </p:par>
                              <p:par>
                                <p:cTn id="109" presetID="42" presetClass="entr" presetSubtype="0" decel="100000" fill="hold" grpId="0" nodeType="withEffect">
                                  <p:stCondLst>
                                    <p:cond delay="910"/>
                                  </p:stCondLst>
                                  <p:childTnLst>
                                    <p:set>
                                      <p:cBhvr>
                                        <p:cTn id="110" dur="1" fill="hold">
                                          <p:stCondLst>
                                            <p:cond delay="0"/>
                                          </p:stCondLst>
                                        </p:cTn>
                                        <p:tgtEl>
                                          <p:spTgt spid="33"/>
                                        </p:tgtEl>
                                        <p:attrNameLst>
                                          <p:attrName>style.visibility</p:attrName>
                                        </p:attrNameLst>
                                      </p:cBhvr>
                                      <p:to>
                                        <p:strVal val="visible"/>
                                      </p:to>
                                    </p:set>
                                    <p:animEffect transition="in" filter="fade">
                                      <p:cBhvr>
                                        <p:cTn id="111" dur="700"/>
                                        <p:tgtEl>
                                          <p:spTgt spid="33"/>
                                        </p:tgtEl>
                                      </p:cBhvr>
                                    </p:animEffect>
                                    <p:anim calcmode="lin" valueType="num">
                                      <p:cBhvr additive="base">
                                        <p:cTn id="112" dur="700" fill="hold"/>
                                        <p:tgtEl>
                                          <p:spTgt spid="33"/>
                                        </p:tgtEl>
                                        <p:attrNameLst>
                                          <p:attrName>ppt_y</p:attrName>
                                        </p:attrNameLst>
                                      </p:cBhvr>
                                      <p:tavLst>
                                        <p:tav tm="0">
                                          <p:val>
                                            <p:strVal val="#ppt_y+0.03"/>
                                          </p:val>
                                        </p:tav>
                                        <p:tav tm="100000">
                                          <p:val>
                                            <p:strVal val="#ppt_y"/>
                                          </p:val>
                                        </p:tav>
                                      </p:tavLst>
                                    </p:anim>
                                  </p:childTnLst>
                                </p:cTn>
                              </p:par>
                              <p:par>
                                <p:cTn id="113" presetID="42" presetClass="entr" presetSubtype="0" decel="100000" fill="hold" grpId="0" nodeType="withEffect">
                                  <p:stCondLst>
                                    <p:cond delay="910"/>
                                  </p:stCondLst>
                                  <p:childTnLst>
                                    <p:set>
                                      <p:cBhvr>
                                        <p:cTn id="114" dur="1" fill="hold">
                                          <p:stCondLst>
                                            <p:cond delay="0"/>
                                          </p:stCondLst>
                                        </p:cTn>
                                        <p:tgtEl>
                                          <p:spTgt spid="34"/>
                                        </p:tgtEl>
                                        <p:attrNameLst>
                                          <p:attrName>style.visibility</p:attrName>
                                        </p:attrNameLst>
                                      </p:cBhvr>
                                      <p:to>
                                        <p:strVal val="visible"/>
                                      </p:to>
                                    </p:set>
                                    <p:animEffect transition="in" filter="fade">
                                      <p:cBhvr>
                                        <p:cTn id="115" dur="700"/>
                                        <p:tgtEl>
                                          <p:spTgt spid="34"/>
                                        </p:tgtEl>
                                      </p:cBhvr>
                                    </p:animEffect>
                                    <p:anim calcmode="lin" valueType="num">
                                      <p:cBhvr additive="base">
                                        <p:cTn id="116" dur="700" fill="hold"/>
                                        <p:tgtEl>
                                          <p:spTgt spid="34"/>
                                        </p:tgtEl>
                                        <p:attrNameLst>
                                          <p:attrName>ppt_y</p:attrName>
                                        </p:attrNameLst>
                                      </p:cBhvr>
                                      <p:tavLst>
                                        <p:tav tm="0">
                                          <p:val>
                                            <p:strVal val="#ppt_y+0.03"/>
                                          </p:val>
                                        </p:tav>
                                        <p:tav tm="100000">
                                          <p:val>
                                            <p:strVal val="#ppt_y"/>
                                          </p:val>
                                        </p:tav>
                                      </p:tavLst>
                                    </p:anim>
                                  </p:childTnLst>
                                </p:cTn>
                              </p:par>
                              <p:par>
                                <p:cTn id="117" presetID="42" presetClass="entr" presetSubtype="0" decel="100000" fill="hold" grpId="0" nodeType="withEffect">
                                  <p:stCondLst>
                                    <p:cond delay="910"/>
                                  </p:stCondLst>
                                  <p:childTnLst>
                                    <p:set>
                                      <p:cBhvr>
                                        <p:cTn id="118" dur="1" fill="hold">
                                          <p:stCondLst>
                                            <p:cond delay="0"/>
                                          </p:stCondLst>
                                        </p:cTn>
                                        <p:tgtEl>
                                          <p:spTgt spid="35"/>
                                        </p:tgtEl>
                                        <p:attrNameLst>
                                          <p:attrName>style.visibility</p:attrName>
                                        </p:attrNameLst>
                                      </p:cBhvr>
                                      <p:to>
                                        <p:strVal val="visible"/>
                                      </p:to>
                                    </p:set>
                                    <p:animEffect transition="in" filter="fade">
                                      <p:cBhvr>
                                        <p:cTn id="119" dur="700"/>
                                        <p:tgtEl>
                                          <p:spTgt spid="35"/>
                                        </p:tgtEl>
                                      </p:cBhvr>
                                    </p:animEffect>
                                    <p:anim calcmode="lin" valueType="num">
                                      <p:cBhvr additive="base">
                                        <p:cTn id="120" dur="700" fill="hold"/>
                                        <p:tgtEl>
                                          <p:spTgt spid="35"/>
                                        </p:tgtEl>
                                        <p:attrNameLst>
                                          <p:attrName>ppt_y</p:attrName>
                                        </p:attrNameLst>
                                      </p:cBhvr>
                                      <p:tavLst>
                                        <p:tav tm="0">
                                          <p:val>
                                            <p:strVal val="#ppt_y+0.03"/>
                                          </p:val>
                                        </p:tav>
                                        <p:tav tm="100000">
                                          <p:val>
                                            <p:strVal val="#ppt_y"/>
                                          </p:val>
                                        </p:tav>
                                      </p:tavLst>
                                    </p:anim>
                                  </p:childTnLst>
                                </p:cTn>
                              </p:par>
                              <p:par>
                                <p:cTn id="121" presetID="42" presetClass="entr" presetSubtype="0" decel="100000" fill="hold" grpId="0" nodeType="withEffect">
                                  <p:stCondLst>
                                    <p:cond delay="910"/>
                                  </p:stCondLst>
                                  <p:childTnLst>
                                    <p:set>
                                      <p:cBhvr>
                                        <p:cTn id="122" dur="1" fill="hold">
                                          <p:stCondLst>
                                            <p:cond delay="0"/>
                                          </p:stCondLst>
                                        </p:cTn>
                                        <p:tgtEl>
                                          <p:spTgt spid="36"/>
                                        </p:tgtEl>
                                        <p:attrNameLst>
                                          <p:attrName>style.visibility</p:attrName>
                                        </p:attrNameLst>
                                      </p:cBhvr>
                                      <p:to>
                                        <p:strVal val="visible"/>
                                      </p:to>
                                    </p:set>
                                    <p:animEffect transition="in" filter="fade">
                                      <p:cBhvr>
                                        <p:cTn id="123" dur="700"/>
                                        <p:tgtEl>
                                          <p:spTgt spid="36"/>
                                        </p:tgtEl>
                                      </p:cBhvr>
                                    </p:animEffect>
                                    <p:anim calcmode="lin" valueType="num">
                                      <p:cBhvr additive="base">
                                        <p:cTn id="124" dur="700" fill="hold"/>
                                        <p:tgtEl>
                                          <p:spTgt spid="36"/>
                                        </p:tgtEl>
                                        <p:attrNameLst>
                                          <p:attrName>ppt_y</p:attrName>
                                        </p:attrNameLst>
                                      </p:cBhvr>
                                      <p:tavLst>
                                        <p:tav tm="0">
                                          <p:val>
                                            <p:strVal val="#ppt_y+0.03"/>
                                          </p:val>
                                        </p:tav>
                                        <p:tav tm="100000">
                                          <p:val>
                                            <p:strVal val="#ppt_y"/>
                                          </p:val>
                                        </p:tav>
                                      </p:tavLst>
                                    </p:anim>
                                  </p:childTnLst>
                                </p:cTn>
                              </p:par>
                              <p:par>
                                <p:cTn id="125" presetID="42" presetClass="entr" presetSubtype="0" decel="100000" fill="hold" grpId="0" nodeType="withEffect">
                                  <p:stCondLst>
                                    <p:cond delay="910"/>
                                  </p:stCondLst>
                                  <p:childTnLst>
                                    <p:set>
                                      <p:cBhvr>
                                        <p:cTn id="126" dur="1" fill="hold">
                                          <p:stCondLst>
                                            <p:cond delay="0"/>
                                          </p:stCondLst>
                                        </p:cTn>
                                        <p:tgtEl>
                                          <p:spTgt spid="37"/>
                                        </p:tgtEl>
                                        <p:attrNameLst>
                                          <p:attrName>style.visibility</p:attrName>
                                        </p:attrNameLst>
                                      </p:cBhvr>
                                      <p:to>
                                        <p:strVal val="visible"/>
                                      </p:to>
                                    </p:set>
                                    <p:animEffect transition="in" filter="fade">
                                      <p:cBhvr>
                                        <p:cTn id="127" dur="700"/>
                                        <p:tgtEl>
                                          <p:spTgt spid="37"/>
                                        </p:tgtEl>
                                      </p:cBhvr>
                                    </p:animEffect>
                                    <p:anim calcmode="lin" valueType="num">
                                      <p:cBhvr additive="base">
                                        <p:cTn id="128" dur="700" fill="hold"/>
                                        <p:tgtEl>
                                          <p:spTgt spid="37"/>
                                        </p:tgtEl>
                                        <p:attrNameLst>
                                          <p:attrName>ppt_y</p:attrName>
                                        </p:attrNameLst>
                                      </p:cBhvr>
                                      <p:tavLst>
                                        <p:tav tm="0">
                                          <p:val>
                                            <p:strVal val="#ppt_y+0.03"/>
                                          </p:val>
                                        </p:tav>
                                        <p:tav tm="100000">
                                          <p:val>
                                            <p:strVal val="#ppt_y"/>
                                          </p:val>
                                        </p:tav>
                                      </p:tavLst>
                                    </p:anim>
                                  </p:childTnLst>
                                </p:cTn>
                              </p:par>
                              <p:par>
                                <p:cTn id="129" presetID="42" presetClass="entr" presetSubtype="0" decel="100000" fill="hold" grpId="0" nodeType="withEffect">
                                  <p:stCondLst>
                                    <p:cond delay="910"/>
                                  </p:stCondLst>
                                  <p:childTnLst>
                                    <p:set>
                                      <p:cBhvr>
                                        <p:cTn id="130" dur="1" fill="hold">
                                          <p:stCondLst>
                                            <p:cond delay="0"/>
                                          </p:stCondLst>
                                        </p:cTn>
                                        <p:tgtEl>
                                          <p:spTgt spid="38"/>
                                        </p:tgtEl>
                                        <p:attrNameLst>
                                          <p:attrName>style.visibility</p:attrName>
                                        </p:attrNameLst>
                                      </p:cBhvr>
                                      <p:to>
                                        <p:strVal val="visible"/>
                                      </p:to>
                                    </p:set>
                                    <p:animEffect transition="in" filter="fade">
                                      <p:cBhvr>
                                        <p:cTn id="131" dur="700"/>
                                        <p:tgtEl>
                                          <p:spTgt spid="38"/>
                                        </p:tgtEl>
                                      </p:cBhvr>
                                    </p:animEffect>
                                    <p:anim calcmode="lin" valueType="num">
                                      <p:cBhvr additive="base">
                                        <p:cTn id="132" dur="700" fill="hold"/>
                                        <p:tgtEl>
                                          <p:spTgt spid="38"/>
                                        </p:tgtEl>
                                        <p:attrNameLst>
                                          <p:attrName>ppt_y</p:attrName>
                                        </p:attrNameLst>
                                      </p:cBhvr>
                                      <p:tavLst>
                                        <p:tav tm="0">
                                          <p:val>
                                            <p:strVal val="#ppt_y+0.03"/>
                                          </p:val>
                                        </p:tav>
                                        <p:tav tm="100000">
                                          <p:val>
                                            <p:strVal val="#ppt_y"/>
                                          </p:val>
                                        </p:tav>
                                      </p:tavLst>
                                    </p:anim>
                                  </p:childTnLst>
                                </p:cTn>
                              </p:par>
                              <p:par>
                                <p:cTn id="133" presetID="42" presetClass="entr" presetSubtype="0" decel="100000" fill="hold" grpId="0" nodeType="withEffect">
                                  <p:stCondLst>
                                    <p:cond delay="910"/>
                                  </p:stCondLst>
                                  <p:childTnLst>
                                    <p:set>
                                      <p:cBhvr>
                                        <p:cTn id="134" dur="1" fill="hold">
                                          <p:stCondLst>
                                            <p:cond delay="0"/>
                                          </p:stCondLst>
                                        </p:cTn>
                                        <p:tgtEl>
                                          <p:spTgt spid="39"/>
                                        </p:tgtEl>
                                        <p:attrNameLst>
                                          <p:attrName>style.visibility</p:attrName>
                                        </p:attrNameLst>
                                      </p:cBhvr>
                                      <p:to>
                                        <p:strVal val="visible"/>
                                      </p:to>
                                    </p:set>
                                    <p:animEffect transition="in" filter="fade">
                                      <p:cBhvr>
                                        <p:cTn id="135" dur="700"/>
                                        <p:tgtEl>
                                          <p:spTgt spid="39"/>
                                        </p:tgtEl>
                                      </p:cBhvr>
                                    </p:animEffect>
                                    <p:anim calcmode="lin" valueType="num">
                                      <p:cBhvr additive="base">
                                        <p:cTn id="136" dur="700" fill="hold"/>
                                        <p:tgtEl>
                                          <p:spTgt spid="39"/>
                                        </p:tgtEl>
                                        <p:attrNameLst>
                                          <p:attrName>ppt_y</p:attrName>
                                        </p:attrNameLst>
                                      </p:cBhvr>
                                      <p:tavLst>
                                        <p:tav tm="0">
                                          <p:val>
                                            <p:strVal val="#ppt_y+0.03"/>
                                          </p:val>
                                        </p:tav>
                                        <p:tav tm="100000">
                                          <p:val>
                                            <p:strVal val="#ppt_y"/>
                                          </p:val>
                                        </p:tav>
                                      </p:tavLst>
                                    </p:anim>
                                  </p:childTnLst>
                                </p:cTn>
                              </p:par>
                              <p:par>
                                <p:cTn id="137" presetID="42" presetClass="entr" presetSubtype="0" decel="100000" fill="hold" grpId="0" nodeType="withEffect">
                                  <p:stCondLst>
                                    <p:cond delay="1130"/>
                                  </p:stCondLst>
                                  <p:childTnLst>
                                    <p:set>
                                      <p:cBhvr>
                                        <p:cTn id="138" dur="1" fill="hold">
                                          <p:stCondLst>
                                            <p:cond delay="0"/>
                                          </p:stCondLst>
                                        </p:cTn>
                                        <p:tgtEl>
                                          <p:spTgt spid="40"/>
                                        </p:tgtEl>
                                        <p:attrNameLst>
                                          <p:attrName>style.visibility</p:attrName>
                                        </p:attrNameLst>
                                      </p:cBhvr>
                                      <p:to>
                                        <p:strVal val="visible"/>
                                      </p:to>
                                    </p:set>
                                    <p:animEffect transition="in" filter="fade">
                                      <p:cBhvr>
                                        <p:cTn id="139" dur="700"/>
                                        <p:tgtEl>
                                          <p:spTgt spid="40"/>
                                        </p:tgtEl>
                                      </p:cBhvr>
                                    </p:animEffect>
                                    <p:anim calcmode="lin" valueType="num">
                                      <p:cBhvr additive="base">
                                        <p:cTn id="140" dur="700" fill="hold"/>
                                        <p:tgtEl>
                                          <p:spTgt spid="40"/>
                                        </p:tgtEl>
                                        <p:attrNameLst>
                                          <p:attrName>ppt_y</p:attrName>
                                        </p:attrNameLst>
                                      </p:cBhvr>
                                      <p:tavLst>
                                        <p:tav tm="0">
                                          <p:val>
                                            <p:strVal val="#ppt_y+0.03"/>
                                          </p:val>
                                        </p:tav>
                                        <p:tav tm="100000">
                                          <p:val>
                                            <p:strVal val="#ppt_y"/>
                                          </p:val>
                                        </p:tav>
                                      </p:tavLst>
                                    </p:anim>
                                  </p:childTnLst>
                                </p:cTn>
                              </p:par>
                              <p:par>
                                <p:cTn id="141" presetID="42" presetClass="entr" presetSubtype="0" decel="100000" fill="hold" grpId="0" nodeType="withEffect">
                                  <p:stCondLst>
                                    <p:cond delay="1130"/>
                                  </p:stCondLst>
                                  <p:childTnLst>
                                    <p:set>
                                      <p:cBhvr>
                                        <p:cTn id="142" dur="1" fill="hold">
                                          <p:stCondLst>
                                            <p:cond delay="0"/>
                                          </p:stCondLst>
                                        </p:cTn>
                                        <p:tgtEl>
                                          <p:spTgt spid="41"/>
                                        </p:tgtEl>
                                        <p:attrNameLst>
                                          <p:attrName>style.visibility</p:attrName>
                                        </p:attrNameLst>
                                      </p:cBhvr>
                                      <p:to>
                                        <p:strVal val="visible"/>
                                      </p:to>
                                    </p:set>
                                    <p:animEffect transition="in" filter="fade">
                                      <p:cBhvr>
                                        <p:cTn id="143" dur="700"/>
                                        <p:tgtEl>
                                          <p:spTgt spid="41"/>
                                        </p:tgtEl>
                                      </p:cBhvr>
                                    </p:animEffect>
                                    <p:anim calcmode="lin" valueType="num">
                                      <p:cBhvr additive="base">
                                        <p:cTn id="144" dur="700" fill="hold"/>
                                        <p:tgtEl>
                                          <p:spTgt spid="41"/>
                                        </p:tgtEl>
                                        <p:attrNameLst>
                                          <p:attrName>ppt_y</p:attrName>
                                        </p:attrNameLst>
                                      </p:cBhvr>
                                      <p:tavLst>
                                        <p:tav tm="0">
                                          <p:val>
                                            <p:strVal val="#ppt_y+0.03"/>
                                          </p:val>
                                        </p:tav>
                                        <p:tav tm="100000">
                                          <p:val>
                                            <p:strVal val="#ppt_y"/>
                                          </p:val>
                                        </p:tav>
                                      </p:tavLst>
                                    </p:anim>
                                  </p:childTnLst>
                                </p:cTn>
                              </p:par>
                              <p:par>
                                <p:cTn id="145" presetID="42" presetClass="entr" presetSubtype="0" decel="100000" fill="hold" grpId="0" nodeType="withEffect">
                                  <p:stCondLst>
                                    <p:cond delay="1130"/>
                                  </p:stCondLst>
                                  <p:childTnLst>
                                    <p:set>
                                      <p:cBhvr>
                                        <p:cTn id="146" dur="1" fill="hold">
                                          <p:stCondLst>
                                            <p:cond delay="0"/>
                                          </p:stCondLst>
                                        </p:cTn>
                                        <p:tgtEl>
                                          <p:spTgt spid="42"/>
                                        </p:tgtEl>
                                        <p:attrNameLst>
                                          <p:attrName>style.visibility</p:attrName>
                                        </p:attrNameLst>
                                      </p:cBhvr>
                                      <p:to>
                                        <p:strVal val="visible"/>
                                      </p:to>
                                    </p:set>
                                    <p:animEffect transition="in" filter="fade">
                                      <p:cBhvr>
                                        <p:cTn id="147" dur="700"/>
                                        <p:tgtEl>
                                          <p:spTgt spid="42"/>
                                        </p:tgtEl>
                                      </p:cBhvr>
                                    </p:animEffect>
                                    <p:anim calcmode="lin" valueType="num">
                                      <p:cBhvr additive="base">
                                        <p:cTn id="148" dur="700" fill="hold"/>
                                        <p:tgtEl>
                                          <p:spTgt spid="42"/>
                                        </p:tgtEl>
                                        <p:attrNameLst>
                                          <p:attrName>ppt_y</p:attrName>
                                        </p:attrNameLst>
                                      </p:cBhvr>
                                      <p:tavLst>
                                        <p:tav tm="0">
                                          <p:val>
                                            <p:strVal val="#ppt_y+0.03"/>
                                          </p:val>
                                        </p:tav>
                                        <p:tav tm="100000">
                                          <p:val>
                                            <p:strVal val="#ppt_y"/>
                                          </p:val>
                                        </p:tav>
                                      </p:tavLst>
                                    </p:anim>
                                  </p:childTnLst>
                                </p:cTn>
                              </p:par>
                              <p:par>
                                <p:cTn id="149" presetID="42" presetClass="entr" presetSubtype="0" decel="100000" fill="hold" grpId="0" nodeType="withEffect">
                                  <p:stCondLst>
                                    <p:cond delay="1130"/>
                                  </p:stCondLst>
                                  <p:childTnLst>
                                    <p:set>
                                      <p:cBhvr>
                                        <p:cTn id="150" dur="1" fill="hold">
                                          <p:stCondLst>
                                            <p:cond delay="0"/>
                                          </p:stCondLst>
                                        </p:cTn>
                                        <p:tgtEl>
                                          <p:spTgt spid="43"/>
                                        </p:tgtEl>
                                        <p:attrNameLst>
                                          <p:attrName>style.visibility</p:attrName>
                                        </p:attrNameLst>
                                      </p:cBhvr>
                                      <p:to>
                                        <p:strVal val="visible"/>
                                      </p:to>
                                    </p:set>
                                    <p:animEffect transition="in" filter="fade">
                                      <p:cBhvr>
                                        <p:cTn id="151" dur="700"/>
                                        <p:tgtEl>
                                          <p:spTgt spid="43"/>
                                        </p:tgtEl>
                                      </p:cBhvr>
                                    </p:animEffect>
                                    <p:anim calcmode="lin" valueType="num">
                                      <p:cBhvr additive="base">
                                        <p:cTn id="152" dur="700" fill="hold"/>
                                        <p:tgtEl>
                                          <p:spTgt spid="43"/>
                                        </p:tgtEl>
                                        <p:attrNameLst>
                                          <p:attrName>ppt_y</p:attrName>
                                        </p:attrNameLst>
                                      </p:cBhvr>
                                      <p:tavLst>
                                        <p:tav tm="0">
                                          <p:val>
                                            <p:strVal val="#ppt_y+0.03"/>
                                          </p:val>
                                        </p:tav>
                                        <p:tav tm="100000">
                                          <p:val>
                                            <p:strVal val="#ppt_y"/>
                                          </p:val>
                                        </p:tav>
                                      </p:tavLst>
                                    </p:anim>
                                  </p:childTnLst>
                                </p:cTn>
                              </p:par>
                              <p:par>
                                <p:cTn id="153" presetID="42" presetClass="entr" presetSubtype="0" decel="100000" fill="hold" grpId="0" nodeType="withEffect">
                                  <p:stCondLst>
                                    <p:cond delay="1130"/>
                                  </p:stCondLst>
                                  <p:childTnLst>
                                    <p:set>
                                      <p:cBhvr>
                                        <p:cTn id="154" dur="1" fill="hold">
                                          <p:stCondLst>
                                            <p:cond delay="0"/>
                                          </p:stCondLst>
                                        </p:cTn>
                                        <p:tgtEl>
                                          <p:spTgt spid="44"/>
                                        </p:tgtEl>
                                        <p:attrNameLst>
                                          <p:attrName>style.visibility</p:attrName>
                                        </p:attrNameLst>
                                      </p:cBhvr>
                                      <p:to>
                                        <p:strVal val="visible"/>
                                      </p:to>
                                    </p:set>
                                    <p:animEffect transition="in" filter="fade">
                                      <p:cBhvr>
                                        <p:cTn id="155" dur="700"/>
                                        <p:tgtEl>
                                          <p:spTgt spid="44"/>
                                        </p:tgtEl>
                                      </p:cBhvr>
                                    </p:animEffect>
                                    <p:anim calcmode="lin" valueType="num">
                                      <p:cBhvr additive="base">
                                        <p:cTn id="156" dur="700" fill="hold"/>
                                        <p:tgtEl>
                                          <p:spTgt spid="44"/>
                                        </p:tgtEl>
                                        <p:attrNameLst>
                                          <p:attrName>ppt_y</p:attrName>
                                        </p:attrNameLst>
                                      </p:cBhvr>
                                      <p:tavLst>
                                        <p:tav tm="0">
                                          <p:val>
                                            <p:strVal val="#ppt_y+0.03"/>
                                          </p:val>
                                        </p:tav>
                                        <p:tav tm="100000">
                                          <p:val>
                                            <p:strVal val="#ppt_y"/>
                                          </p:val>
                                        </p:tav>
                                      </p:tavLst>
                                    </p:anim>
                                  </p:childTnLst>
                                </p:cTn>
                              </p:par>
                              <p:par>
                                <p:cTn id="157" presetID="42" presetClass="entr" presetSubtype="0" decel="100000" fill="hold" grpId="0" nodeType="withEffect">
                                  <p:stCondLst>
                                    <p:cond delay="1130"/>
                                  </p:stCondLst>
                                  <p:childTnLst>
                                    <p:set>
                                      <p:cBhvr>
                                        <p:cTn id="158" dur="1" fill="hold">
                                          <p:stCondLst>
                                            <p:cond delay="0"/>
                                          </p:stCondLst>
                                        </p:cTn>
                                        <p:tgtEl>
                                          <p:spTgt spid="45"/>
                                        </p:tgtEl>
                                        <p:attrNameLst>
                                          <p:attrName>style.visibility</p:attrName>
                                        </p:attrNameLst>
                                      </p:cBhvr>
                                      <p:to>
                                        <p:strVal val="visible"/>
                                      </p:to>
                                    </p:set>
                                    <p:animEffect transition="in" filter="fade">
                                      <p:cBhvr>
                                        <p:cTn id="159" dur="700"/>
                                        <p:tgtEl>
                                          <p:spTgt spid="45"/>
                                        </p:tgtEl>
                                      </p:cBhvr>
                                    </p:animEffect>
                                    <p:anim calcmode="lin" valueType="num">
                                      <p:cBhvr additive="base">
                                        <p:cTn id="160" dur="700" fill="hold"/>
                                        <p:tgtEl>
                                          <p:spTgt spid="45"/>
                                        </p:tgtEl>
                                        <p:attrNameLst>
                                          <p:attrName>ppt_y</p:attrName>
                                        </p:attrNameLst>
                                      </p:cBhvr>
                                      <p:tavLst>
                                        <p:tav tm="0">
                                          <p:val>
                                            <p:strVal val="#ppt_y+0.03"/>
                                          </p:val>
                                        </p:tav>
                                        <p:tav tm="100000">
                                          <p:val>
                                            <p:strVal val="#ppt_y"/>
                                          </p:val>
                                        </p:tav>
                                      </p:tavLst>
                                    </p:anim>
                                  </p:childTnLst>
                                </p:cTn>
                              </p:par>
                              <p:par>
                                <p:cTn id="161" presetID="42" presetClass="entr" presetSubtype="0" decel="100000" fill="hold" grpId="0" nodeType="withEffect">
                                  <p:stCondLst>
                                    <p:cond delay="1130"/>
                                  </p:stCondLst>
                                  <p:childTnLst>
                                    <p:set>
                                      <p:cBhvr>
                                        <p:cTn id="162" dur="1" fill="hold">
                                          <p:stCondLst>
                                            <p:cond delay="0"/>
                                          </p:stCondLst>
                                        </p:cTn>
                                        <p:tgtEl>
                                          <p:spTgt spid="46"/>
                                        </p:tgtEl>
                                        <p:attrNameLst>
                                          <p:attrName>style.visibility</p:attrName>
                                        </p:attrNameLst>
                                      </p:cBhvr>
                                      <p:to>
                                        <p:strVal val="visible"/>
                                      </p:to>
                                    </p:set>
                                    <p:animEffect transition="in" filter="fade">
                                      <p:cBhvr>
                                        <p:cTn id="163" dur="700"/>
                                        <p:tgtEl>
                                          <p:spTgt spid="46"/>
                                        </p:tgtEl>
                                      </p:cBhvr>
                                    </p:animEffect>
                                    <p:anim calcmode="lin" valueType="num">
                                      <p:cBhvr additive="base">
                                        <p:cTn id="164" dur="700" fill="hold"/>
                                        <p:tgtEl>
                                          <p:spTgt spid="46"/>
                                        </p:tgtEl>
                                        <p:attrNameLst>
                                          <p:attrName>ppt_y</p:attrName>
                                        </p:attrNameLst>
                                      </p:cBhvr>
                                      <p:tavLst>
                                        <p:tav tm="0">
                                          <p:val>
                                            <p:strVal val="#ppt_y+0.03"/>
                                          </p:val>
                                        </p:tav>
                                        <p:tav tm="100000">
                                          <p:val>
                                            <p:strVal val="#ppt_y"/>
                                          </p:val>
                                        </p:tav>
                                      </p:tavLst>
                                    </p:anim>
                                  </p:childTnLst>
                                </p:cTn>
                              </p:par>
                              <p:par>
                                <p:cTn id="165" presetID="42" presetClass="entr" presetSubtype="0" decel="100000" fill="hold" grpId="0" nodeType="withEffect">
                                  <p:stCondLst>
                                    <p:cond delay="1130"/>
                                  </p:stCondLst>
                                  <p:childTnLst>
                                    <p:set>
                                      <p:cBhvr>
                                        <p:cTn id="166" dur="1" fill="hold">
                                          <p:stCondLst>
                                            <p:cond delay="0"/>
                                          </p:stCondLst>
                                        </p:cTn>
                                        <p:tgtEl>
                                          <p:spTgt spid="47"/>
                                        </p:tgtEl>
                                        <p:attrNameLst>
                                          <p:attrName>style.visibility</p:attrName>
                                        </p:attrNameLst>
                                      </p:cBhvr>
                                      <p:to>
                                        <p:strVal val="visible"/>
                                      </p:to>
                                    </p:set>
                                    <p:animEffect transition="in" filter="fade">
                                      <p:cBhvr>
                                        <p:cTn id="167" dur="700"/>
                                        <p:tgtEl>
                                          <p:spTgt spid="47"/>
                                        </p:tgtEl>
                                      </p:cBhvr>
                                    </p:animEffect>
                                    <p:anim calcmode="lin" valueType="num">
                                      <p:cBhvr additive="base">
                                        <p:cTn id="168" dur="700" fill="hold"/>
                                        <p:tgtEl>
                                          <p:spTgt spid="47"/>
                                        </p:tgtEl>
                                        <p:attrNameLst>
                                          <p:attrName>ppt_y</p:attrName>
                                        </p:attrNameLst>
                                      </p:cBhvr>
                                      <p:tavLst>
                                        <p:tav tm="0">
                                          <p:val>
                                            <p:strVal val="#ppt_y+0.03"/>
                                          </p:val>
                                        </p:tav>
                                        <p:tav tm="100000">
                                          <p:val>
                                            <p:strVal val="#ppt_y"/>
                                          </p:val>
                                        </p:tav>
                                      </p:tavLst>
                                    </p:anim>
                                  </p:childTnLst>
                                </p:cTn>
                              </p:par>
                              <p:par>
                                <p:cTn id="169" presetID="42" presetClass="entr" presetSubtype="0" decel="100000" fill="hold" grpId="0" nodeType="withEffect">
                                  <p:stCondLst>
                                    <p:cond delay="1130"/>
                                  </p:stCondLst>
                                  <p:childTnLst>
                                    <p:set>
                                      <p:cBhvr>
                                        <p:cTn id="170" dur="1" fill="hold">
                                          <p:stCondLst>
                                            <p:cond delay="0"/>
                                          </p:stCondLst>
                                        </p:cTn>
                                        <p:tgtEl>
                                          <p:spTgt spid="48"/>
                                        </p:tgtEl>
                                        <p:attrNameLst>
                                          <p:attrName>style.visibility</p:attrName>
                                        </p:attrNameLst>
                                      </p:cBhvr>
                                      <p:to>
                                        <p:strVal val="visible"/>
                                      </p:to>
                                    </p:set>
                                    <p:animEffect transition="in" filter="fade">
                                      <p:cBhvr>
                                        <p:cTn id="171" dur="700"/>
                                        <p:tgtEl>
                                          <p:spTgt spid="48"/>
                                        </p:tgtEl>
                                      </p:cBhvr>
                                    </p:animEffect>
                                    <p:anim calcmode="lin" valueType="num">
                                      <p:cBhvr additive="base">
                                        <p:cTn id="172" dur="700" fill="hold"/>
                                        <p:tgtEl>
                                          <p:spTgt spid="48"/>
                                        </p:tgtEl>
                                        <p:attrNameLst>
                                          <p:attrName>ppt_y</p:attrName>
                                        </p:attrNameLst>
                                      </p:cBhvr>
                                      <p:tavLst>
                                        <p:tav tm="0">
                                          <p:val>
                                            <p:strVal val="#ppt_y+0.03"/>
                                          </p:val>
                                        </p:tav>
                                        <p:tav tm="100000">
                                          <p:val>
                                            <p:strVal val="#ppt_y"/>
                                          </p:val>
                                        </p:tav>
                                      </p:tavLst>
                                    </p:anim>
                                  </p:childTnLst>
                                </p:cTn>
                              </p:par>
                              <p:par>
                                <p:cTn id="173" presetID="42" presetClass="entr" presetSubtype="0" decel="100000" fill="hold" grpId="0" nodeType="withEffect">
                                  <p:stCondLst>
                                    <p:cond delay="1130"/>
                                  </p:stCondLst>
                                  <p:childTnLst>
                                    <p:set>
                                      <p:cBhvr>
                                        <p:cTn id="174" dur="1" fill="hold">
                                          <p:stCondLst>
                                            <p:cond delay="0"/>
                                          </p:stCondLst>
                                        </p:cTn>
                                        <p:tgtEl>
                                          <p:spTgt spid="49"/>
                                        </p:tgtEl>
                                        <p:attrNameLst>
                                          <p:attrName>style.visibility</p:attrName>
                                        </p:attrNameLst>
                                      </p:cBhvr>
                                      <p:to>
                                        <p:strVal val="visible"/>
                                      </p:to>
                                    </p:set>
                                    <p:animEffect transition="in" filter="fade">
                                      <p:cBhvr>
                                        <p:cTn id="175" dur="700"/>
                                        <p:tgtEl>
                                          <p:spTgt spid="49"/>
                                        </p:tgtEl>
                                      </p:cBhvr>
                                    </p:animEffect>
                                    <p:anim calcmode="lin" valueType="num">
                                      <p:cBhvr additive="base">
                                        <p:cTn id="176" dur="700" fill="hold"/>
                                        <p:tgtEl>
                                          <p:spTgt spid="49"/>
                                        </p:tgtEl>
                                        <p:attrNameLst>
                                          <p:attrName>ppt_y</p:attrName>
                                        </p:attrNameLst>
                                      </p:cBhvr>
                                      <p:tavLst>
                                        <p:tav tm="0">
                                          <p:val>
                                            <p:strVal val="#ppt_y+0.03"/>
                                          </p:val>
                                        </p:tav>
                                        <p:tav tm="100000">
                                          <p:val>
                                            <p:strVal val="#ppt_y"/>
                                          </p:val>
                                        </p:tav>
                                      </p:tavLst>
                                    </p:anim>
                                  </p:childTnLst>
                                </p:cTn>
                              </p:par>
                              <p:par>
                                <p:cTn id="177" presetID="42" presetClass="entr" presetSubtype="0" decel="100000" fill="hold" grpId="0" nodeType="withEffect">
                                  <p:stCondLst>
                                    <p:cond delay="1350"/>
                                  </p:stCondLst>
                                  <p:childTnLst>
                                    <p:set>
                                      <p:cBhvr>
                                        <p:cTn id="178" dur="1" fill="hold">
                                          <p:stCondLst>
                                            <p:cond delay="0"/>
                                          </p:stCondLst>
                                        </p:cTn>
                                        <p:tgtEl>
                                          <p:spTgt spid="50"/>
                                        </p:tgtEl>
                                        <p:attrNameLst>
                                          <p:attrName>style.visibility</p:attrName>
                                        </p:attrNameLst>
                                      </p:cBhvr>
                                      <p:to>
                                        <p:strVal val="visible"/>
                                      </p:to>
                                    </p:set>
                                    <p:animEffect transition="in" filter="fade">
                                      <p:cBhvr>
                                        <p:cTn id="179" dur="700"/>
                                        <p:tgtEl>
                                          <p:spTgt spid="50"/>
                                        </p:tgtEl>
                                      </p:cBhvr>
                                    </p:animEffect>
                                    <p:anim calcmode="lin" valueType="num">
                                      <p:cBhvr additive="base">
                                        <p:cTn id="180" dur="700" fill="hold"/>
                                        <p:tgtEl>
                                          <p:spTgt spid="50"/>
                                        </p:tgtEl>
                                        <p:attrNameLst>
                                          <p:attrName>ppt_y</p:attrName>
                                        </p:attrNameLst>
                                      </p:cBhvr>
                                      <p:tavLst>
                                        <p:tav tm="0">
                                          <p:val>
                                            <p:strVal val="#ppt_y+0.03"/>
                                          </p:val>
                                        </p:tav>
                                        <p:tav tm="100000">
                                          <p:val>
                                            <p:strVal val="#ppt_y"/>
                                          </p:val>
                                        </p:tav>
                                      </p:tavLst>
                                    </p:anim>
                                  </p:childTnLst>
                                </p:cTn>
                              </p:par>
                              <p:par>
                                <p:cTn id="181" presetID="42" presetClass="entr" presetSubtype="0" decel="100000" fill="hold" grpId="0" nodeType="withEffect">
                                  <p:stCondLst>
                                    <p:cond delay="1350"/>
                                  </p:stCondLst>
                                  <p:childTnLst>
                                    <p:set>
                                      <p:cBhvr>
                                        <p:cTn id="182" dur="1" fill="hold">
                                          <p:stCondLst>
                                            <p:cond delay="0"/>
                                          </p:stCondLst>
                                        </p:cTn>
                                        <p:tgtEl>
                                          <p:spTgt spid="51"/>
                                        </p:tgtEl>
                                        <p:attrNameLst>
                                          <p:attrName>style.visibility</p:attrName>
                                        </p:attrNameLst>
                                      </p:cBhvr>
                                      <p:to>
                                        <p:strVal val="visible"/>
                                      </p:to>
                                    </p:set>
                                    <p:animEffect transition="in" filter="fade">
                                      <p:cBhvr>
                                        <p:cTn id="183" dur="700"/>
                                        <p:tgtEl>
                                          <p:spTgt spid="51"/>
                                        </p:tgtEl>
                                      </p:cBhvr>
                                    </p:animEffect>
                                    <p:anim calcmode="lin" valueType="num">
                                      <p:cBhvr additive="base">
                                        <p:cTn id="184" dur="700" fill="hold"/>
                                        <p:tgtEl>
                                          <p:spTgt spid="51"/>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p:bldP spid="23" grpId="0" animBg="1"/>
      <p:bldP spid="24" grpId="0" animBg="1"/>
      <p:bldP spid="25" grpId="0" animBg="1"/>
      <p:bldP spid="26" grpId="0" animBg="1"/>
      <p:bldP spid="27" grpId="0"/>
      <p:bldP spid="28" grpId="0" animBg="1"/>
      <p:bldP spid="29" grpId="0" animBg="1"/>
      <p:bldP spid="30" grpId="0" animBg="1"/>
      <p:bldP spid="31" grpId="0" animBg="1"/>
      <p:bldP spid="32" grpId="0"/>
      <p:bldP spid="33" grpId="0" animBg="1"/>
      <p:bldP spid="34" grpId="0" animBg="1"/>
      <p:bldP spid="35" grpId="0" animBg="1"/>
      <p:bldP spid="36" grpId="0" animBg="1"/>
      <p:bldP spid="37" grpId="0"/>
      <p:bldP spid="38" grpId="0" animBg="1"/>
      <p:bldP spid="39" grpId="0" animBg="1"/>
      <p:bldP spid="40" grpId="0" animBg="1"/>
      <p:bldP spid="41" grpId="0" animBg="1"/>
      <p:bldP spid="42" grpId="0"/>
      <p:bldP spid="43" grpId="0" animBg="1"/>
      <p:bldP spid="44" grpId="0" animBg="1"/>
      <p:bldP spid="45" grpId="0" animBg="1"/>
      <p:bldP spid="46" grpId="0" animBg="1"/>
      <p:bldP spid="47" grpId="0"/>
      <p:bldP spid="48" grpId="0" animBg="1"/>
      <p:bldP spid="49" grpId="0" animBg="1"/>
      <p:bldP spid="50" grpId="0" animBg="1"/>
      <p:bldP spid="5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8046720" y="-201168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286000" y="384048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THE PROBLEM</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Restoration is scaling faster than monitoring</a:t>
            </a:r>
            <a:endParaRPr lang="en-US" sz="3400" dirty="0"/>
          </a:p>
        </p:txBody>
      </p:sp>
      <p:sp>
        <p:nvSpPr>
          <p:cNvPr id="7" name="a1float_s0"/>
          <p:cNvSpPr/>
          <p:nvPr/>
        </p:nvSpPr>
        <p:spPr>
          <a:xfrm>
            <a:off x="548640" y="1691640"/>
            <a:ext cx="5394960" cy="987552"/>
          </a:xfrm>
          <a:prstGeom prst="roundRect">
            <a:avLst>
              <a:gd name="adj" fmla="val 12963"/>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8" name="a1float_s0n"/>
          <p:cNvSpPr txBox="1"/>
          <p:nvPr/>
        </p:nvSpPr>
        <p:spPr>
          <a:xfrm>
            <a:off x="777240" y="1874520"/>
            <a:ext cx="1920240" cy="640080"/>
          </a:xfrm>
          <a:prstGeom prst="rect">
            <a:avLst/>
          </a:prstGeom>
          <a:noFill/>
          <a:ln/>
        </p:spPr>
        <p:txBody>
          <a:bodyPr wrap="square" lIns="0" tIns="0" rIns="0" bIns="0" rtlCol="0" anchor="ctr"/>
          <a:lstStyle/>
          <a:p>
            <a:pPr marL="0" indent="0" algn="l">
              <a:lnSpc>
                <a:spcPct val="105000"/>
              </a:lnSpc>
              <a:buNone/>
            </a:pPr>
            <a:r>
              <a:rPr lang="en-US" sz="3200" dirty="0">
                <a:solidFill>
                  <a:srgbClr val="A9813A"/>
                </a:solidFill>
                <a:latin typeface="Segoe UI Light" pitchFamily="34" charset="0"/>
                <a:ea typeface="Segoe UI Light" pitchFamily="34" charset="-122"/>
                <a:cs typeface="Segoe UI Light" pitchFamily="34" charset="-120"/>
              </a:rPr>
              <a:t>100 M</a:t>
            </a:r>
            <a:endParaRPr lang="en-US" sz="3200" dirty="0"/>
          </a:p>
        </p:txBody>
      </p:sp>
      <p:sp>
        <p:nvSpPr>
          <p:cNvPr id="9" name="a1float_s0t"/>
          <p:cNvSpPr txBox="1"/>
          <p:nvPr/>
        </p:nvSpPr>
        <p:spPr>
          <a:xfrm>
            <a:off x="2743200" y="1874520"/>
            <a:ext cx="3063240" cy="365760"/>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UAE mangrove pledge by 2030</a:t>
            </a:r>
            <a:endParaRPr lang="en-US" sz="1400" dirty="0"/>
          </a:p>
        </p:txBody>
      </p:sp>
      <p:sp>
        <p:nvSpPr>
          <p:cNvPr id="10" name="a1float_s0c"/>
          <p:cNvSpPr txBox="1"/>
          <p:nvPr/>
        </p:nvSpPr>
        <p:spPr>
          <a:xfrm>
            <a:off x="2743200" y="2258568"/>
            <a:ext cx="306324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COP26, 2021 · Abu Dhabi Mangrove Initiative</a:t>
            </a:r>
            <a:endParaRPr lang="en-US" sz="1100" dirty="0"/>
          </a:p>
        </p:txBody>
      </p:sp>
      <p:sp>
        <p:nvSpPr>
          <p:cNvPr id="11" name="a2float_s1"/>
          <p:cNvSpPr/>
          <p:nvPr/>
        </p:nvSpPr>
        <p:spPr>
          <a:xfrm>
            <a:off x="548640" y="2807208"/>
            <a:ext cx="5394960" cy="987552"/>
          </a:xfrm>
          <a:prstGeom prst="roundRect">
            <a:avLst>
              <a:gd name="adj" fmla="val 12963"/>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2" name="a2float_s1n"/>
          <p:cNvSpPr txBox="1"/>
          <p:nvPr/>
        </p:nvSpPr>
        <p:spPr>
          <a:xfrm>
            <a:off x="777240" y="2990088"/>
            <a:ext cx="1920240" cy="640080"/>
          </a:xfrm>
          <a:prstGeom prst="rect">
            <a:avLst/>
          </a:prstGeom>
          <a:noFill/>
          <a:ln/>
        </p:spPr>
        <p:txBody>
          <a:bodyPr wrap="square" lIns="0" tIns="0" rIns="0" bIns="0" rtlCol="0" anchor="ctr"/>
          <a:lstStyle/>
          <a:p>
            <a:pPr marL="0" indent="0" algn="l">
              <a:lnSpc>
                <a:spcPct val="105000"/>
              </a:lnSpc>
              <a:buNone/>
            </a:pPr>
            <a:r>
              <a:rPr lang="en-US" sz="3200" dirty="0">
                <a:solidFill>
                  <a:srgbClr val="A9813A"/>
                </a:solidFill>
                <a:latin typeface="Segoe UI Light" pitchFamily="34" charset="0"/>
                <a:ea typeface="Segoe UI Light" pitchFamily="34" charset="-122"/>
                <a:cs typeface="Segoe UI Light" pitchFamily="34" charset="-120"/>
              </a:rPr>
              <a:t>100 M+</a:t>
            </a:r>
            <a:endParaRPr lang="en-US" sz="3200" dirty="0"/>
          </a:p>
        </p:txBody>
      </p:sp>
      <p:sp>
        <p:nvSpPr>
          <p:cNvPr id="13" name="a2float_s1t"/>
          <p:cNvSpPr txBox="1"/>
          <p:nvPr/>
        </p:nvSpPr>
        <p:spPr>
          <a:xfrm>
            <a:off x="2743200" y="2990088"/>
            <a:ext cx="3063240" cy="365760"/>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Saudi mangrove pledge by 2030</a:t>
            </a:r>
            <a:endParaRPr lang="en-US" sz="1400" dirty="0"/>
          </a:p>
        </p:txBody>
      </p:sp>
      <p:sp>
        <p:nvSpPr>
          <p:cNvPr id="14" name="a2float_s1c"/>
          <p:cNvSpPr txBox="1"/>
          <p:nvPr/>
        </p:nvSpPr>
        <p:spPr>
          <a:xfrm>
            <a:off x="2743200" y="3374136"/>
            <a:ext cx="306324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Saudi Green Initiative</a:t>
            </a:r>
            <a:endParaRPr lang="en-US" sz="1100" dirty="0"/>
          </a:p>
        </p:txBody>
      </p:sp>
      <p:sp>
        <p:nvSpPr>
          <p:cNvPr id="15" name="a3float_s2"/>
          <p:cNvSpPr/>
          <p:nvPr/>
        </p:nvSpPr>
        <p:spPr>
          <a:xfrm>
            <a:off x="548640" y="3922776"/>
            <a:ext cx="5394960" cy="987552"/>
          </a:xfrm>
          <a:prstGeom prst="roundRect">
            <a:avLst>
              <a:gd name="adj" fmla="val 12963"/>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6" name="a3float_s2n"/>
          <p:cNvSpPr txBox="1"/>
          <p:nvPr/>
        </p:nvSpPr>
        <p:spPr>
          <a:xfrm>
            <a:off x="777240" y="4105656"/>
            <a:ext cx="1920240" cy="640080"/>
          </a:xfrm>
          <a:prstGeom prst="rect">
            <a:avLst/>
          </a:prstGeom>
          <a:noFill/>
          <a:ln/>
        </p:spPr>
        <p:txBody>
          <a:bodyPr wrap="square" lIns="0" tIns="0" rIns="0" bIns="0" rtlCol="0" anchor="ctr"/>
          <a:lstStyle/>
          <a:p>
            <a:pPr marL="0" indent="0" algn="l">
              <a:lnSpc>
                <a:spcPct val="105000"/>
              </a:lnSpc>
              <a:buNone/>
            </a:pPr>
            <a:r>
              <a:rPr lang="en-US" sz="3200" dirty="0">
                <a:solidFill>
                  <a:srgbClr val="A9813A"/>
                </a:solidFill>
                <a:latin typeface="Segoe UI Light" pitchFamily="34" charset="0"/>
                <a:ea typeface="Segoe UI Light" pitchFamily="34" charset="-122"/>
                <a:cs typeface="Segoe UI Light" pitchFamily="34" charset="-120"/>
              </a:rPr>
              <a:t>Feb 2026</a:t>
            </a:r>
            <a:endParaRPr lang="en-US" sz="3200" dirty="0"/>
          </a:p>
        </p:txBody>
      </p:sp>
      <p:sp>
        <p:nvSpPr>
          <p:cNvPr id="17" name="a3float_s2t"/>
          <p:cNvSpPr txBox="1"/>
          <p:nvPr/>
        </p:nvSpPr>
        <p:spPr>
          <a:xfrm>
            <a:off x="2743200" y="4105656"/>
            <a:ext cx="3063240" cy="365760"/>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first GCC mangrove monitoring guide</a:t>
            </a:r>
            <a:endParaRPr lang="en-US" sz="1400" dirty="0"/>
          </a:p>
        </p:txBody>
      </p:sp>
      <p:sp>
        <p:nvSpPr>
          <p:cNvPr id="18" name="a3float_s2c"/>
          <p:cNvSpPr txBox="1"/>
          <p:nvPr/>
        </p:nvSpPr>
        <p:spPr>
          <a:xfrm>
            <a:off x="2743200" y="4489704"/>
            <a:ext cx="306324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EAD + IUCN Mangrove Specialist Group</a:t>
            </a:r>
            <a:endParaRPr lang="en-US" sz="1100" dirty="0"/>
          </a:p>
        </p:txBody>
      </p:sp>
      <p:sp>
        <p:nvSpPr>
          <p:cNvPr id="19" name="a4float_today"/>
          <p:cNvSpPr/>
          <p:nvPr/>
        </p:nvSpPr>
        <p:spPr>
          <a:xfrm>
            <a:off x="548640" y="5074920"/>
            <a:ext cx="5394960" cy="1097280"/>
          </a:xfrm>
          <a:prstGeom prst="roundRect">
            <a:avLst>
              <a:gd name="adj" fmla="val 11667"/>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sp>
      <p:sp>
        <p:nvSpPr>
          <p:cNvPr id="20" name="a4float_todayt"/>
          <p:cNvSpPr txBox="1"/>
          <p:nvPr/>
        </p:nvSpPr>
        <p:spPr>
          <a:xfrm>
            <a:off x="777240" y="5120640"/>
            <a:ext cx="4983480" cy="1005840"/>
          </a:xfrm>
          <a:prstGeom prst="rect">
            <a:avLst/>
          </a:prstGeom>
          <a:noFill/>
          <a:ln/>
        </p:spPr>
        <p:txBody>
          <a:bodyPr wrap="square" lIns="0" tIns="0" rIns="0" bIns="0" rtlCol="0" anchor="ctr"/>
          <a:lstStyle/>
          <a:p>
            <a:pPr marL="0" indent="0" algn="l">
              <a:lnSpc>
                <a:spcPct val="115000"/>
              </a:lnSpc>
              <a:buNone/>
            </a:pPr>
            <a:r>
              <a:rPr lang="en-US" sz="1300" b="1" dirty="0">
                <a:solidFill>
                  <a:srgbClr val="BE5F6D"/>
                </a:solidFill>
                <a:latin typeface="Segoe UI Semibold" pitchFamily="34" charset="0"/>
                <a:ea typeface="Segoe UI Semibold" pitchFamily="34" charset="-122"/>
                <a:cs typeface="Segoe UI Semibold" pitchFamily="34" charset="-120"/>
              </a:rPr>
              <a:t>TODAY  </a:t>
            </a:r>
            <a:r>
              <a:rPr lang="en-US" sz="1300" dirty="0">
                <a:solidFill>
                  <a:srgbClr val="1B2B40"/>
                </a:solidFill>
                <a:latin typeface="Segoe UI" pitchFamily="34" charset="0"/>
                <a:ea typeface="Segoe UI" pitchFamily="34" charset="-122"/>
                <a:cs typeface="Segoe UI" pitchFamily="34" charset="-120"/>
              </a:rPr>
              <a:t>field surveys and one-off studies, no standing alert.</a:t>
            </a:r>
            <a:endParaRPr lang="en-US" sz="1300" dirty="0"/>
          </a:p>
          <a:p>
            <a:pPr marL="0" indent="0" algn="l">
              <a:lnSpc>
                <a:spcPct val="115000"/>
              </a:lnSpc>
              <a:buNone/>
            </a:pPr>
            <a:r>
              <a:rPr lang="en-US" sz="1300" b="1" dirty="0">
                <a:solidFill>
                  <a:srgbClr val="2F5D8F"/>
                </a:solidFill>
                <a:latin typeface="Segoe UI Semibold" pitchFamily="34" charset="0"/>
                <a:ea typeface="Segoe UI Semibold" pitchFamily="34" charset="-122"/>
                <a:cs typeface="Segoe UI Semibold" pitchFamily="34" charset="-120"/>
              </a:rPr>
              <a:t>WE SOLVE  </a:t>
            </a:r>
            <a:r>
              <a:rPr lang="en-US" sz="1300" dirty="0">
                <a:solidFill>
                  <a:srgbClr val="1B2B40"/>
                </a:solidFill>
                <a:latin typeface="Segoe UI" pitchFamily="34" charset="0"/>
                <a:ea typeface="Segoe UI" pitchFamily="34" charset="-122"/>
                <a:cs typeface="Segoe UI" pitchFamily="34" charset="-120"/>
              </a:rPr>
              <a:t>a calibrated alert every ~5 days that says where to inspect and what carbon is at stake.</a:t>
            </a:r>
            <a:endParaRPr lang="en-US" sz="1300" dirty="0"/>
          </a:p>
        </p:txBody>
      </p:sp>
      <p:sp>
        <p:nvSpPr>
          <p:cNvPr id="21" name="a1fade_l"/>
          <p:cNvSpPr txBox="1"/>
          <p:nvPr/>
        </p:nvSpPr>
        <p:spPr>
          <a:xfrm>
            <a:off x="6355080" y="1691640"/>
            <a:ext cx="530352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BE5F6D"/>
                </a:solidFill>
                <a:latin typeface="Segoe UI Semibold" pitchFamily="34" charset="0"/>
                <a:ea typeface="Segoe UI Semibold" pitchFamily="34" charset="-122"/>
                <a:cs typeface="Segoe UI Semibold" pitchFamily="34" charset="-120"/>
              </a:rPr>
              <a:t>THIS IS HAPPENING NOW  ·  STAND 5, ABU DHABI</a:t>
            </a:r>
            <a:endParaRPr lang="en-US" sz="1100" dirty="0"/>
          </a:p>
        </p:txBody>
      </p:sp>
      <p:pic>
        <p:nvPicPr>
          <p:cNvPr id="22" name="a2zoom_c0" descr="C:\Users\nahla\Desktop\UAE-Space-Hackatoon\deck_source\images\s2_stand5_2021-11.png"/>
          <p:cNvPicPr>
            <a:picLocks noChangeAspect="1"/>
          </p:cNvPicPr>
          <p:nvPr/>
        </p:nvPicPr>
        <p:blipFill>
          <a:blip r:embed="rId5"/>
          <a:srcRect/>
          <a:stretch/>
        </p:blipFill>
        <p:spPr>
          <a:xfrm>
            <a:off x="6355080" y="2029968"/>
            <a:ext cx="2560320" cy="1874520"/>
          </a:xfrm>
          <a:prstGeom prst="rect">
            <a:avLst/>
          </a:prstGeom>
        </p:spPr>
      </p:pic>
      <p:sp>
        <p:nvSpPr>
          <p:cNvPr id="23" name="a2zoom_c0lb"/>
          <p:cNvSpPr/>
          <p:nvPr/>
        </p:nvSpPr>
        <p:spPr>
          <a:xfrm>
            <a:off x="6446520" y="2121408"/>
            <a:ext cx="1691640" cy="292608"/>
          </a:xfrm>
          <a:prstGeom prst="roundRect">
            <a:avLst>
              <a:gd name="adj" fmla="val 25000"/>
            </a:avLst>
          </a:prstGeom>
          <a:solidFill>
            <a:srgbClr val="3F6E9E">
              <a:alpha val="95000"/>
            </a:srgbClr>
          </a:solidFill>
          <a:ln/>
        </p:spPr>
      </p:sp>
      <p:sp>
        <p:nvSpPr>
          <p:cNvPr id="24" name="a2zoom_c0lt"/>
          <p:cNvSpPr txBox="1"/>
          <p:nvPr/>
        </p:nvSpPr>
        <p:spPr>
          <a:xfrm>
            <a:off x="6519672" y="2121408"/>
            <a:ext cx="1600200" cy="292608"/>
          </a:xfrm>
          <a:prstGeom prst="rect">
            <a:avLst/>
          </a:prstGeom>
          <a:noFill/>
          <a:ln/>
        </p:spPr>
        <p:txBody>
          <a:bodyPr wrap="square" lIns="0" tIns="0" rIns="0" bIns="0" rtlCol="0" anchor="ctr"/>
          <a:lstStyle/>
          <a:p>
            <a:pPr marL="0" indent="0" algn="l">
              <a:lnSpc>
                <a:spcPct val="105000"/>
              </a:lnSpc>
              <a:buNone/>
            </a:pPr>
            <a:r>
              <a:rPr lang="en-US" sz="1100" dirty="0">
                <a:solidFill>
                  <a:srgbClr val="FFFFFF"/>
                </a:solidFill>
                <a:latin typeface="Segoe UI Semibold" pitchFamily="34" charset="0"/>
                <a:ea typeface="Segoe UI Semibold" pitchFamily="34" charset="-122"/>
                <a:cs typeface="Segoe UI Semibold" pitchFamily="34" charset="-120"/>
              </a:rPr>
              <a:t>Nov 2021 · intact</a:t>
            </a:r>
            <a:endParaRPr lang="en-US" sz="1100" dirty="0"/>
          </a:p>
        </p:txBody>
      </p:sp>
      <p:pic>
        <p:nvPicPr>
          <p:cNvPr id="25" name="a3zoom_c1" descr="C:\Users\nahla\Desktop\UAE-Space-Hackatoon\deck_source\images\s2_stand5_2022-10.png"/>
          <p:cNvPicPr>
            <a:picLocks noChangeAspect="1"/>
          </p:cNvPicPr>
          <p:nvPr/>
        </p:nvPicPr>
        <p:blipFill>
          <a:blip r:embed="rId6"/>
          <a:srcRect/>
          <a:stretch/>
        </p:blipFill>
        <p:spPr>
          <a:xfrm>
            <a:off x="9034272" y="2029968"/>
            <a:ext cx="2560320" cy="1874520"/>
          </a:xfrm>
          <a:prstGeom prst="rect">
            <a:avLst/>
          </a:prstGeom>
        </p:spPr>
      </p:pic>
      <p:sp>
        <p:nvSpPr>
          <p:cNvPr id="26" name="a3zoom_c1lb"/>
          <p:cNvSpPr/>
          <p:nvPr/>
        </p:nvSpPr>
        <p:spPr>
          <a:xfrm>
            <a:off x="9125712" y="2121408"/>
            <a:ext cx="2377440" cy="292608"/>
          </a:xfrm>
          <a:prstGeom prst="roundRect">
            <a:avLst>
              <a:gd name="adj" fmla="val 25000"/>
            </a:avLst>
          </a:prstGeom>
          <a:solidFill>
            <a:srgbClr val="B5535F">
              <a:alpha val="95000"/>
            </a:srgbClr>
          </a:solidFill>
          <a:ln/>
        </p:spPr>
      </p:sp>
      <p:sp>
        <p:nvSpPr>
          <p:cNvPr id="27" name="a3zoom_c1lt"/>
          <p:cNvSpPr txBox="1"/>
          <p:nvPr/>
        </p:nvSpPr>
        <p:spPr>
          <a:xfrm>
            <a:off x="9198864" y="2121408"/>
            <a:ext cx="2286000" cy="292608"/>
          </a:xfrm>
          <a:prstGeom prst="rect">
            <a:avLst/>
          </a:prstGeom>
          <a:noFill/>
          <a:ln/>
        </p:spPr>
        <p:txBody>
          <a:bodyPr wrap="square" lIns="0" tIns="0" rIns="0" bIns="0" rtlCol="0" anchor="ctr"/>
          <a:lstStyle/>
          <a:p>
            <a:pPr marL="0" indent="0" algn="l">
              <a:lnSpc>
                <a:spcPct val="105000"/>
              </a:lnSpc>
              <a:buNone/>
            </a:pPr>
            <a:r>
              <a:rPr lang="en-US" sz="1100" dirty="0">
                <a:solidFill>
                  <a:srgbClr val="FFFFFF"/>
                </a:solidFill>
                <a:latin typeface="Segoe UI Semibold" pitchFamily="34" charset="0"/>
                <a:ea typeface="Segoe UI Semibold" pitchFamily="34" charset="-122"/>
                <a:cs typeface="Segoe UI Semibold" pitchFamily="34" charset="-120"/>
              </a:rPr>
              <a:t>Oct 2022 · works start, alert fires</a:t>
            </a:r>
            <a:endParaRPr lang="en-US" sz="1100" dirty="0"/>
          </a:p>
        </p:txBody>
      </p:sp>
      <p:pic>
        <p:nvPicPr>
          <p:cNvPr id="28" name="a4zoom_c2" descr="C:\Users\nahla\Desktop\UAE-Space-Hackatoon\deck_source\images\s2_stand5_2023-06.png"/>
          <p:cNvPicPr>
            <a:picLocks noChangeAspect="1"/>
          </p:cNvPicPr>
          <p:nvPr/>
        </p:nvPicPr>
        <p:blipFill>
          <a:blip r:embed="rId7"/>
          <a:srcRect/>
          <a:stretch/>
        </p:blipFill>
        <p:spPr>
          <a:xfrm>
            <a:off x="6355080" y="4041648"/>
            <a:ext cx="2560320" cy="1874520"/>
          </a:xfrm>
          <a:prstGeom prst="rect">
            <a:avLst/>
          </a:prstGeom>
        </p:spPr>
      </p:pic>
      <p:sp>
        <p:nvSpPr>
          <p:cNvPr id="29" name="a4zoom_c2lb"/>
          <p:cNvSpPr/>
          <p:nvPr/>
        </p:nvSpPr>
        <p:spPr>
          <a:xfrm>
            <a:off x="6446520" y="4133088"/>
            <a:ext cx="1691640" cy="292608"/>
          </a:xfrm>
          <a:prstGeom prst="roundRect">
            <a:avLst>
              <a:gd name="adj" fmla="val 25000"/>
            </a:avLst>
          </a:prstGeom>
          <a:solidFill>
            <a:srgbClr val="3F6E9E">
              <a:alpha val="95000"/>
            </a:srgbClr>
          </a:solidFill>
          <a:ln/>
        </p:spPr>
      </p:sp>
      <p:sp>
        <p:nvSpPr>
          <p:cNvPr id="30" name="a4zoom_c2lt"/>
          <p:cNvSpPr txBox="1"/>
          <p:nvPr/>
        </p:nvSpPr>
        <p:spPr>
          <a:xfrm>
            <a:off x="6519672" y="4133088"/>
            <a:ext cx="1600200" cy="292608"/>
          </a:xfrm>
          <a:prstGeom prst="rect">
            <a:avLst/>
          </a:prstGeom>
          <a:noFill/>
          <a:ln/>
        </p:spPr>
        <p:txBody>
          <a:bodyPr wrap="square" lIns="0" tIns="0" rIns="0" bIns="0" rtlCol="0" anchor="ctr"/>
          <a:lstStyle/>
          <a:p>
            <a:pPr marL="0" indent="0" algn="l">
              <a:lnSpc>
                <a:spcPct val="105000"/>
              </a:lnSpc>
              <a:buNone/>
            </a:pPr>
            <a:r>
              <a:rPr lang="en-US" sz="1100" dirty="0">
                <a:solidFill>
                  <a:srgbClr val="FFFFFF"/>
                </a:solidFill>
                <a:latin typeface="Segoe UI Semibold" pitchFamily="34" charset="0"/>
                <a:ea typeface="Segoe UI Semibold" pitchFamily="34" charset="-122"/>
                <a:cs typeface="Segoe UI Semibold" pitchFamily="34" charset="-120"/>
              </a:rPr>
              <a:t>Jun 2023 · canals cut</a:t>
            </a:r>
            <a:endParaRPr lang="en-US" sz="1100" dirty="0"/>
          </a:p>
        </p:txBody>
      </p:sp>
      <p:pic>
        <p:nvPicPr>
          <p:cNvPr id="31" name="a5zoom_c3" descr="C:\Users\nahla\Desktop\UAE-Space-Hackatoon\deck_source\images\s2_stand5_2026-05.png"/>
          <p:cNvPicPr>
            <a:picLocks noChangeAspect="1"/>
          </p:cNvPicPr>
          <p:nvPr/>
        </p:nvPicPr>
        <p:blipFill>
          <a:blip r:embed="rId8"/>
          <a:srcRect/>
          <a:stretch/>
        </p:blipFill>
        <p:spPr>
          <a:xfrm>
            <a:off x="9034272" y="4041648"/>
            <a:ext cx="2560320" cy="1874520"/>
          </a:xfrm>
          <a:prstGeom prst="rect">
            <a:avLst/>
          </a:prstGeom>
        </p:spPr>
      </p:pic>
      <p:sp>
        <p:nvSpPr>
          <p:cNvPr id="32" name="a5zoom_c3lb"/>
          <p:cNvSpPr/>
          <p:nvPr/>
        </p:nvSpPr>
        <p:spPr>
          <a:xfrm>
            <a:off x="9125712" y="4133088"/>
            <a:ext cx="1691640" cy="292608"/>
          </a:xfrm>
          <a:prstGeom prst="roundRect">
            <a:avLst>
              <a:gd name="adj" fmla="val 25000"/>
            </a:avLst>
          </a:prstGeom>
          <a:solidFill>
            <a:srgbClr val="3F6E9E">
              <a:alpha val="95000"/>
            </a:srgbClr>
          </a:solidFill>
          <a:ln/>
        </p:spPr>
      </p:sp>
      <p:sp>
        <p:nvSpPr>
          <p:cNvPr id="33" name="a5zoom_c3lt"/>
          <p:cNvSpPr txBox="1"/>
          <p:nvPr/>
        </p:nvSpPr>
        <p:spPr>
          <a:xfrm>
            <a:off x="9198864" y="4133088"/>
            <a:ext cx="1600200" cy="292608"/>
          </a:xfrm>
          <a:prstGeom prst="rect">
            <a:avLst/>
          </a:prstGeom>
          <a:noFill/>
          <a:ln/>
        </p:spPr>
        <p:txBody>
          <a:bodyPr wrap="square" lIns="0" tIns="0" rIns="0" bIns="0" rtlCol="0" anchor="ctr"/>
          <a:lstStyle/>
          <a:p>
            <a:pPr marL="0" indent="0" algn="l">
              <a:lnSpc>
                <a:spcPct val="105000"/>
              </a:lnSpc>
              <a:buNone/>
            </a:pPr>
            <a:r>
              <a:rPr lang="en-US" sz="1100" dirty="0">
                <a:solidFill>
                  <a:srgbClr val="FFFFFF"/>
                </a:solidFill>
                <a:latin typeface="Segoe UI Semibold" pitchFamily="34" charset="0"/>
                <a:ea typeface="Segoe UI Semibold" pitchFamily="34" charset="-122"/>
                <a:cs typeface="Segoe UI Semibold" pitchFamily="34" charset="-120"/>
              </a:rPr>
              <a:t>May 2026 · development</a:t>
            </a:r>
            <a:endParaRPr lang="en-US" sz="1100" dirty="0"/>
          </a:p>
        </p:txBody>
      </p:sp>
      <p:sp>
        <p:nvSpPr>
          <p:cNvPr id="34" name="a7ping_alert"/>
          <p:cNvSpPr/>
          <p:nvPr/>
        </p:nvSpPr>
        <p:spPr>
          <a:xfrm>
            <a:off x="9125712" y="2121408"/>
            <a:ext cx="2377440" cy="292608"/>
          </a:xfrm>
          <a:prstGeom prst="roundRect">
            <a:avLst>
              <a:gd name="adj" fmla="val 25000"/>
            </a:avLst>
          </a:prstGeom>
          <a:ln w="25400">
            <a:solidFill>
              <a:srgbClr val="BE5F6D"/>
            </a:solidFill>
            <a:prstDash val="solid"/>
          </a:ln>
        </p:spPr>
      </p:sp>
      <p:sp>
        <p:nvSpPr>
          <p:cNvPr id="35" name="a6fade_cap"/>
          <p:cNvSpPr txBox="1"/>
          <p:nvPr/>
        </p:nvSpPr>
        <p:spPr>
          <a:xfrm>
            <a:off x="6355080" y="5916168"/>
            <a:ext cx="530352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Sentinel-2 true colour (contains modified Copernicus Sentinel data). Our alert began on 25 Oct 2022, during the works.</a:t>
            </a:r>
            <a:endParaRPr lang="en-US" sz="1100" dirty="0"/>
          </a:p>
        </p:txBody>
      </p:sp>
      <p:sp>
        <p:nvSpPr>
          <p:cNvPr id="36"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47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700"/>
                                        <p:tgtEl>
                                          <p:spTgt spid="9"/>
                                        </p:tgtEl>
                                      </p:cBhvr>
                                    </p:animEffect>
                                    <p:anim calcmode="lin" valueType="num">
                                      <p:cBhvr additive="base">
                                        <p:cTn id="23" dur="700" fill="hold"/>
                                        <p:tgtEl>
                                          <p:spTgt spid="9"/>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47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700"/>
                                        <p:tgtEl>
                                          <p:spTgt spid="10"/>
                                        </p:tgtEl>
                                      </p:cBhvr>
                                    </p:animEffect>
                                    <p:anim calcmode="lin" valueType="num">
                                      <p:cBhvr additive="base">
                                        <p:cTn id="27" dur="700" fill="hold"/>
                                        <p:tgtEl>
                                          <p:spTgt spid="10"/>
                                        </p:tgtEl>
                                        <p:attrNameLst>
                                          <p:attrName>ppt_y</p:attrName>
                                        </p:attrNameLst>
                                      </p:cBhvr>
                                      <p:tavLst>
                                        <p:tav tm="0">
                                          <p:val>
                                            <p:strVal val="#ppt_y+0.03"/>
                                          </p:val>
                                        </p:tav>
                                        <p:tav tm="100000">
                                          <p:val>
                                            <p:strVal val="#ppt_y"/>
                                          </p:val>
                                        </p:tav>
                                      </p:tavLst>
                                    </p:anim>
                                  </p:childTnLst>
                                </p:cTn>
                              </p:par>
                              <p:par>
                                <p:cTn id="28" presetID="10" presetClass="entr" presetSubtype="0" decel="100000" fill="hold" grpId="0" nodeType="withEffect">
                                  <p:stCondLst>
                                    <p:cond delay="47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600"/>
                                        <p:tgtEl>
                                          <p:spTgt spid="21"/>
                                        </p:tgtEl>
                                      </p:cBhvr>
                                    </p:animEffect>
                                  </p:childTnLst>
                                </p:cTn>
                              </p:par>
                              <p:par>
                                <p:cTn id="31" presetID="42" presetClass="entr" presetSubtype="0" decel="100000" fill="hold" grpId="0" nodeType="withEffect">
                                  <p:stCondLst>
                                    <p:cond delay="69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700"/>
                                        <p:tgtEl>
                                          <p:spTgt spid="11"/>
                                        </p:tgtEl>
                                      </p:cBhvr>
                                    </p:animEffect>
                                    <p:anim calcmode="lin" valueType="num">
                                      <p:cBhvr additive="base">
                                        <p:cTn id="34" dur="700" fill="hold"/>
                                        <p:tgtEl>
                                          <p:spTgt spid="11"/>
                                        </p:tgtEl>
                                        <p:attrNameLst>
                                          <p:attrName>ppt_y</p:attrName>
                                        </p:attrNameLst>
                                      </p:cBhvr>
                                      <p:tavLst>
                                        <p:tav tm="0">
                                          <p:val>
                                            <p:strVal val="#ppt_y+0.03"/>
                                          </p:val>
                                        </p:tav>
                                        <p:tav tm="100000">
                                          <p:val>
                                            <p:strVal val="#ppt_y"/>
                                          </p:val>
                                        </p:tav>
                                      </p:tavLst>
                                    </p:anim>
                                  </p:childTnLst>
                                </p:cTn>
                              </p:par>
                              <p:par>
                                <p:cTn id="35" presetID="42" presetClass="entr" presetSubtype="0" decel="100000" fill="hold" grpId="0" nodeType="withEffect">
                                  <p:stCondLst>
                                    <p:cond delay="69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700"/>
                                        <p:tgtEl>
                                          <p:spTgt spid="12"/>
                                        </p:tgtEl>
                                      </p:cBhvr>
                                    </p:animEffect>
                                    <p:anim calcmode="lin" valueType="num">
                                      <p:cBhvr additive="base">
                                        <p:cTn id="38" dur="700" fill="hold"/>
                                        <p:tgtEl>
                                          <p:spTgt spid="12"/>
                                        </p:tgtEl>
                                        <p:attrNameLst>
                                          <p:attrName>ppt_y</p:attrName>
                                        </p:attrNameLst>
                                      </p:cBhvr>
                                      <p:tavLst>
                                        <p:tav tm="0">
                                          <p:val>
                                            <p:strVal val="#ppt_y+0.03"/>
                                          </p:val>
                                        </p:tav>
                                        <p:tav tm="100000">
                                          <p:val>
                                            <p:strVal val="#ppt_y"/>
                                          </p:val>
                                        </p:tav>
                                      </p:tavLst>
                                    </p:anim>
                                  </p:childTnLst>
                                </p:cTn>
                              </p:par>
                              <p:par>
                                <p:cTn id="39" presetID="42" presetClass="entr" presetSubtype="0" decel="100000" fill="hold" grpId="0" nodeType="withEffect">
                                  <p:stCondLst>
                                    <p:cond delay="69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700"/>
                                        <p:tgtEl>
                                          <p:spTgt spid="13"/>
                                        </p:tgtEl>
                                      </p:cBhvr>
                                    </p:animEffect>
                                    <p:anim calcmode="lin" valueType="num">
                                      <p:cBhvr additive="base">
                                        <p:cTn id="42" dur="700" fill="hold"/>
                                        <p:tgtEl>
                                          <p:spTgt spid="13"/>
                                        </p:tgtEl>
                                        <p:attrNameLst>
                                          <p:attrName>ppt_y</p:attrName>
                                        </p:attrNameLst>
                                      </p:cBhvr>
                                      <p:tavLst>
                                        <p:tav tm="0">
                                          <p:val>
                                            <p:strVal val="#ppt_y+0.03"/>
                                          </p:val>
                                        </p:tav>
                                        <p:tav tm="100000">
                                          <p:val>
                                            <p:strVal val="#ppt_y"/>
                                          </p:val>
                                        </p:tav>
                                      </p:tavLst>
                                    </p:anim>
                                  </p:childTnLst>
                                </p:cTn>
                              </p:par>
                              <p:par>
                                <p:cTn id="43" presetID="42" presetClass="entr" presetSubtype="0" decel="100000" fill="hold" grpId="0" nodeType="withEffect">
                                  <p:stCondLst>
                                    <p:cond delay="69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700"/>
                                        <p:tgtEl>
                                          <p:spTgt spid="14"/>
                                        </p:tgtEl>
                                      </p:cBhvr>
                                    </p:animEffect>
                                    <p:anim calcmode="lin" valueType="num">
                                      <p:cBhvr additive="base">
                                        <p:cTn id="46" dur="700" fill="hold"/>
                                        <p:tgtEl>
                                          <p:spTgt spid="14"/>
                                        </p:tgtEl>
                                        <p:attrNameLst>
                                          <p:attrName>ppt_y</p:attrName>
                                        </p:attrNameLst>
                                      </p:cBhvr>
                                      <p:tavLst>
                                        <p:tav tm="0">
                                          <p:val>
                                            <p:strVal val="#ppt_y+0.03"/>
                                          </p:val>
                                        </p:tav>
                                        <p:tav tm="100000">
                                          <p:val>
                                            <p:strVal val="#ppt_y"/>
                                          </p:val>
                                        </p:tav>
                                      </p:tavLst>
                                    </p:anim>
                                  </p:childTnLst>
                                </p:cTn>
                              </p:par>
                              <p:par>
                                <p:cTn id="47" presetID="53" presetClass="entr" presetSubtype="16" decel="100000" fill="hold" grpId="0" nodeType="withEffect">
                                  <p:stCondLst>
                                    <p:cond delay="69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700"/>
                                        <p:tgtEl>
                                          <p:spTgt spid="22"/>
                                        </p:tgtEl>
                                      </p:cBhvr>
                                    </p:animEffect>
                                    <p:anim calcmode="lin" valueType="num">
                                      <p:cBhvr additive="base">
                                        <p:cTn id="50" dur="800" fill="hold"/>
                                        <p:tgtEl>
                                          <p:spTgt spid="22"/>
                                        </p:tgtEl>
                                        <p:attrNameLst>
                                          <p:attrName>ppt_w</p:attrName>
                                        </p:attrNameLst>
                                      </p:cBhvr>
                                      <p:tavLst>
                                        <p:tav tm="0">
                                          <p:val>
                                            <p:strVal val="#ppt_w*0.85"/>
                                          </p:val>
                                        </p:tav>
                                        <p:tav tm="100000">
                                          <p:val>
                                            <p:strVal val="#ppt_w"/>
                                          </p:val>
                                        </p:tav>
                                      </p:tavLst>
                                    </p:anim>
                                    <p:anim calcmode="lin" valueType="num">
                                      <p:cBhvr additive="base">
                                        <p:cTn id="51" dur="800" fill="hold"/>
                                        <p:tgtEl>
                                          <p:spTgt spid="22"/>
                                        </p:tgtEl>
                                        <p:attrNameLst>
                                          <p:attrName>ppt_h</p:attrName>
                                        </p:attrNameLst>
                                      </p:cBhvr>
                                      <p:tavLst>
                                        <p:tav tm="0">
                                          <p:val>
                                            <p:strVal val="#ppt_h*0.85"/>
                                          </p:val>
                                        </p:tav>
                                        <p:tav tm="100000">
                                          <p:val>
                                            <p:strVal val="#ppt_h"/>
                                          </p:val>
                                        </p:tav>
                                      </p:tavLst>
                                    </p:anim>
                                  </p:childTnLst>
                                </p:cTn>
                              </p:par>
                              <p:par>
                                <p:cTn id="52" presetID="53" presetClass="entr" presetSubtype="16" decel="100000" fill="hold" grpId="0" nodeType="withEffect">
                                  <p:stCondLst>
                                    <p:cond delay="69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700"/>
                                        <p:tgtEl>
                                          <p:spTgt spid="23"/>
                                        </p:tgtEl>
                                      </p:cBhvr>
                                    </p:animEffect>
                                    <p:anim calcmode="lin" valueType="num">
                                      <p:cBhvr additive="base">
                                        <p:cTn id="55" dur="800" fill="hold"/>
                                        <p:tgtEl>
                                          <p:spTgt spid="23"/>
                                        </p:tgtEl>
                                        <p:attrNameLst>
                                          <p:attrName>ppt_w</p:attrName>
                                        </p:attrNameLst>
                                      </p:cBhvr>
                                      <p:tavLst>
                                        <p:tav tm="0">
                                          <p:val>
                                            <p:strVal val="#ppt_w*0.85"/>
                                          </p:val>
                                        </p:tav>
                                        <p:tav tm="100000">
                                          <p:val>
                                            <p:strVal val="#ppt_w"/>
                                          </p:val>
                                        </p:tav>
                                      </p:tavLst>
                                    </p:anim>
                                    <p:anim calcmode="lin" valueType="num">
                                      <p:cBhvr additive="base">
                                        <p:cTn id="56" dur="800" fill="hold"/>
                                        <p:tgtEl>
                                          <p:spTgt spid="23"/>
                                        </p:tgtEl>
                                        <p:attrNameLst>
                                          <p:attrName>ppt_h</p:attrName>
                                        </p:attrNameLst>
                                      </p:cBhvr>
                                      <p:tavLst>
                                        <p:tav tm="0">
                                          <p:val>
                                            <p:strVal val="#ppt_h*0.85"/>
                                          </p:val>
                                        </p:tav>
                                        <p:tav tm="100000">
                                          <p:val>
                                            <p:strVal val="#ppt_h"/>
                                          </p:val>
                                        </p:tav>
                                      </p:tavLst>
                                    </p:anim>
                                  </p:childTnLst>
                                </p:cTn>
                              </p:par>
                              <p:par>
                                <p:cTn id="57" presetID="53" presetClass="entr" presetSubtype="16" decel="100000" fill="hold" grpId="0" nodeType="withEffect">
                                  <p:stCondLst>
                                    <p:cond delay="69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700"/>
                                        <p:tgtEl>
                                          <p:spTgt spid="24"/>
                                        </p:tgtEl>
                                      </p:cBhvr>
                                    </p:animEffect>
                                    <p:anim calcmode="lin" valueType="num">
                                      <p:cBhvr additive="base">
                                        <p:cTn id="60" dur="800" fill="hold"/>
                                        <p:tgtEl>
                                          <p:spTgt spid="24"/>
                                        </p:tgtEl>
                                        <p:attrNameLst>
                                          <p:attrName>ppt_w</p:attrName>
                                        </p:attrNameLst>
                                      </p:cBhvr>
                                      <p:tavLst>
                                        <p:tav tm="0">
                                          <p:val>
                                            <p:strVal val="#ppt_w*0.85"/>
                                          </p:val>
                                        </p:tav>
                                        <p:tav tm="100000">
                                          <p:val>
                                            <p:strVal val="#ppt_w"/>
                                          </p:val>
                                        </p:tav>
                                      </p:tavLst>
                                    </p:anim>
                                    <p:anim calcmode="lin" valueType="num">
                                      <p:cBhvr additive="base">
                                        <p:cTn id="61" dur="800" fill="hold"/>
                                        <p:tgtEl>
                                          <p:spTgt spid="24"/>
                                        </p:tgtEl>
                                        <p:attrNameLst>
                                          <p:attrName>ppt_h</p:attrName>
                                        </p:attrNameLst>
                                      </p:cBhvr>
                                      <p:tavLst>
                                        <p:tav tm="0">
                                          <p:val>
                                            <p:strVal val="#ppt_h*0.85"/>
                                          </p:val>
                                        </p:tav>
                                        <p:tav tm="100000">
                                          <p:val>
                                            <p:strVal val="#ppt_h"/>
                                          </p:val>
                                        </p:tav>
                                      </p:tavLst>
                                    </p:anim>
                                  </p:childTnLst>
                                </p:cTn>
                              </p:par>
                              <p:par>
                                <p:cTn id="62" presetID="42" presetClass="entr" presetSubtype="0" decel="100000" fill="hold" grpId="0" nodeType="withEffect">
                                  <p:stCondLst>
                                    <p:cond delay="91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700"/>
                                        <p:tgtEl>
                                          <p:spTgt spid="15"/>
                                        </p:tgtEl>
                                      </p:cBhvr>
                                    </p:animEffect>
                                    <p:anim calcmode="lin" valueType="num">
                                      <p:cBhvr additive="base">
                                        <p:cTn id="65" dur="700" fill="hold"/>
                                        <p:tgtEl>
                                          <p:spTgt spid="15"/>
                                        </p:tgtEl>
                                        <p:attrNameLst>
                                          <p:attrName>ppt_y</p:attrName>
                                        </p:attrNameLst>
                                      </p:cBhvr>
                                      <p:tavLst>
                                        <p:tav tm="0">
                                          <p:val>
                                            <p:strVal val="#ppt_y+0.03"/>
                                          </p:val>
                                        </p:tav>
                                        <p:tav tm="100000">
                                          <p:val>
                                            <p:strVal val="#ppt_y"/>
                                          </p:val>
                                        </p:tav>
                                      </p:tavLst>
                                    </p:anim>
                                  </p:childTnLst>
                                </p:cTn>
                              </p:par>
                              <p:par>
                                <p:cTn id="66" presetID="42" presetClass="entr" presetSubtype="0" decel="100000" fill="hold" grpId="0" nodeType="withEffect">
                                  <p:stCondLst>
                                    <p:cond delay="91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700"/>
                                        <p:tgtEl>
                                          <p:spTgt spid="16"/>
                                        </p:tgtEl>
                                      </p:cBhvr>
                                    </p:animEffect>
                                    <p:anim calcmode="lin" valueType="num">
                                      <p:cBhvr additive="base">
                                        <p:cTn id="69" dur="700" fill="hold"/>
                                        <p:tgtEl>
                                          <p:spTgt spid="16"/>
                                        </p:tgtEl>
                                        <p:attrNameLst>
                                          <p:attrName>ppt_y</p:attrName>
                                        </p:attrNameLst>
                                      </p:cBhvr>
                                      <p:tavLst>
                                        <p:tav tm="0">
                                          <p:val>
                                            <p:strVal val="#ppt_y+0.03"/>
                                          </p:val>
                                        </p:tav>
                                        <p:tav tm="100000">
                                          <p:val>
                                            <p:strVal val="#ppt_y"/>
                                          </p:val>
                                        </p:tav>
                                      </p:tavLst>
                                    </p:anim>
                                  </p:childTnLst>
                                </p:cTn>
                              </p:par>
                              <p:par>
                                <p:cTn id="70" presetID="42" presetClass="entr" presetSubtype="0" decel="100000" fill="hold" grpId="0" nodeType="withEffect">
                                  <p:stCondLst>
                                    <p:cond delay="91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700"/>
                                        <p:tgtEl>
                                          <p:spTgt spid="17"/>
                                        </p:tgtEl>
                                      </p:cBhvr>
                                    </p:animEffect>
                                    <p:anim calcmode="lin" valueType="num">
                                      <p:cBhvr additive="base">
                                        <p:cTn id="73" dur="700" fill="hold"/>
                                        <p:tgtEl>
                                          <p:spTgt spid="17"/>
                                        </p:tgtEl>
                                        <p:attrNameLst>
                                          <p:attrName>ppt_y</p:attrName>
                                        </p:attrNameLst>
                                      </p:cBhvr>
                                      <p:tavLst>
                                        <p:tav tm="0">
                                          <p:val>
                                            <p:strVal val="#ppt_y+0.03"/>
                                          </p:val>
                                        </p:tav>
                                        <p:tav tm="100000">
                                          <p:val>
                                            <p:strVal val="#ppt_y"/>
                                          </p:val>
                                        </p:tav>
                                      </p:tavLst>
                                    </p:anim>
                                  </p:childTnLst>
                                </p:cTn>
                              </p:par>
                              <p:par>
                                <p:cTn id="74" presetID="42" presetClass="entr" presetSubtype="0" decel="100000" fill="hold" grpId="0" nodeType="withEffect">
                                  <p:stCondLst>
                                    <p:cond delay="910"/>
                                  </p:stCondLst>
                                  <p:childTnLst>
                                    <p:set>
                                      <p:cBhvr>
                                        <p:cTn id="75" dur="1" fill="hold">
                                          <p:stCondLst>
                                            <p:cond delay="0"/>
                                          </p:stCondLst>
                                        </p:cTn>
                                        <p:tgtEl>
                                          <p:spTgt spid="18"/>
                                        </p:tgtEl>
                                        <p:attrNameLst>
                                          <p:attrName>style.visibility</p:attrName>
                                        </p:attrNameLst>
                                      </p:cBhvr>
                                      <p:to>
                                        <p:strVal val="visible"/>
                                      </p:to>
                                    </p:set>
                                    <p:animEffect transition="in" filter="fade">
                                      <p:cBhvr>
                                        <p:cTn id="76" dur="700"/>
                                        <p:tgtEl>
                                          <p:spTgt spid="18"/>
                                        </p:tgtEl>
                                      </p:cBhvr>
                                    </p:animEffect>
                                    <p:anim calcmode="lin" valueType="num">
                                      <p:cBhvr additive="base">
                                        <p:cTn id="77" dur="700" fill="hold"/>
                                        <p:tgtEl>
                                          <p:spTgt spid="18"/>
                                        </p:tgtEl>
                                        <p:attrNameLst>
                                          <p:attrName>ppt_y</p:attrName>
                                        </p:attrNameLst>
                                      </p:cBhvr>
                                      <p:tavLst>
                                        <p:tav tm="0">
                                          <p:val>
                                            <p:strVal val="#ppt_y+0.03"/>
                                          </p:val>
                                        </p:tav>
                                        <p:tav tm="100000">
                                          <p:val>
                                            <p:strVal val="#ppt_y"/>
                                          </p:val>
                                        </p:tav>
                                      </p:tavLst>
                                    </p:anim>
                                  </p:childTnLst>
                                </p:cTn>
                              </p:par>
                              <p:par>
                                <p:cTn id="78" presetID="53" presetClass="entr" presetSubtype="16" decel="100000" fill="hold" grpId="0" nodeType="withEffect">
                                  <p:stCondLst>
                                    <p:cond delay="91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700"/>
                                        <p:tgtEl>
                                          <p:spTgt spid="25"/>
                                        </p:tgtEl>
                                      </p:cBhvr>
                                    </p:animEffect>
                                    <p:anim calcmode="lin" valueType="num">
                                      <p:cBhvr additive="base">
                                        <p:cTn id="81" dur="800" fill="hold"/>
                                        <p:tgtEl>
                                          <p:spTgt spid="25"/>
                                        </p:tgtEl>
                                        <p:attrNameLst>
                                          <p:attrName>ppt_w</p:attrName>
                                        </p:attrNameLst>
                                      </p:cBhvr>
                                      <p:tavLst>
                                        <p:tav tm="0">
                                          <p:val>
                                            <p:strVal val="#ppt_w*0.85"/>
                                          </p:val>
                                        </p:tav>
                                        <p:tav tm="100000">
                                          <p:val>
                                            <p:strVal val="#ppt_w"/>
                                          </p:val>
                                        </p:tav>
                                      </p:tavLst>
                                    </p:anim>
                                    <p:anim calcmode="lin" valueType="num">
                                      <p:cBhvr additive="base">
                                        <p:cTn id="82" dur="800" fill="hold"/>
                                        <p:tgtEl>
                                          <p:spTgt spid="25"/>
                                        </p:tgtEl>
                                        <p:attrNameLst>
                                          <p:attrName>ppt_h</p:attrName>
                                        </p:attrNameLst>
                                      </p:cBhvr>
                                      <p:tavLst>
                                        <p:tav tm="0">
                                          <p:val>
                                            <p:strVal val="#ppt_h*0.85"/>
                                          </p:val>
                                        </p:tav>
                                        <p:tav tm="100000">
                                          <p:val>
                                            <p:strVal val="#ppt_h"/>
                                          </p:val>
                                        </p:tav>
                                      </p:tavLst>
                                    </p:anim>
                                  </p:childTnLst>
                                </p:cTn>
                              </p:par>
                              <p:par>
                                <p:cTn id="83" presetID="53" presetClass="entr" presetSubtype="16" decel="100000" fill="hold" grpId="0" nodeType="withEffect">
                                  <p:stCondLst>
                                    <p:cond delay="910"/>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700"/>
                                        <p:tgtEl>
                                          <p:spTgt spid="26"/>
                                        </p:tgtEl>
                                      </p:cBhvr>
                                    </p:animEffect>
                                    <p:anim calcmode="lin" valueType="num">
                                      <p:cBhvr additive="base">
                                        <p:cTn id="86" dur="800" fill="hold"/>
                                        <p:tgtEl>
                                          <p:spTgt spid="26"/>
                                        </p:tgtEl>
                                        <p:attrNameLst>
                                          <p:attrName>ppt_w</p:attrName>
                                        </p:attrNameLst>
                                      </p:cBhvr>
                                      <p:tavLst>
                                        <p:tav tm="0">
                                          <p:val>
                                            <p:strVal val="#ppt_w*0.85"/>
                                          </p:val>
                                        </p:tav>
                                        <p:tav tm="100000">
                                          <p:val>
                                            <p:strVal val="#ppt_w"/>
                                          </p:val>
                                        </p:tav>
                                      </p:tavLst>
                                    </p:anim>
                                    <p:anim calcmode="lin" valueType="num">
                                      <p:cBhvr additive="base">
                                        <p:cTn id="87" dur="800" fill="hold"/>
                                        <p:tgtEl>
                                          <p:spTgt spid="26"/>
                                        </p:tgtEl>
                                        <p:attrNameLst>
                                          <p:attrName>ppt_h</p:attrName>
                                        </p:attrNameLst>
                                      </p:cBhvr>
                                      <p:tavLst>
                                        <p:tav tm="0">
                                          <p:val>
                                            <p:strVal val="#ppt_h*0.85"/>
                                          </p:val>
                                        </p:tav>
                                        <p:tav tm="100000">
                                          <p:val>
                                            <p:strVal val="#ppt_h"/>
                                          </p:val>
                                        </p:tav>
                                      </p:tavLst>
                                    </p:anim>
                                  </p:childTnLst>
                                </p:cTn>
                              </p:par>
                              <p:par>
                                <p:cTn id="88" presetID="53" presetClass="entr" presetSubtype="16" decel="100000" fill="hold" grpId="0" nodeType="withEffect">
                                  <p:stCondLst>
                                    <p:cond delay="91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700"/>
                                        <p:tgtEl>
                                          <p:spTgt spid="27"/>
                                        </p:tgtEl>
                                      </p:cBhvr>
                                    </p:animEffect>
                                    <p:anim calcmode="lin" valueType="num">
                                      <p:cBhvr additive="base">
                                        <p:cTn id="91" dur="800" fill="hold"/>
                                        <p:tgtEl>
                                          <p:spTgt spid="27"/>
                                        </p:tgtEl>
                                        <p:attrNameLst>
                                          <p:attrName>ppt_w</p:attrName>
                                        </p:attrNameLst>
                                      </p:cBhvr>
                                      <p:tavLst>
                                        <p:tav tm="0">
                                          <p:val>
                                            <p:strVal val="#ppt_w*0.85"/>
                                          </p:val>
                                        </p:tav>
                                        <p:tav tm="100000">
                                          <p:val>
                                            <p:strVal val="#ppt_w"/>
                                          </p:val>
                                        </p:tav>
                                      </p:tavLst>
                                    </p:anim>
                                    <p:anim calcmode="lin" valueType="num">
                                      <p:cBhvr additive="base">
                                        <p:cTn id="92" dur="800" fill="hold"/>
                                        <p:tgtEl>
                                          <p:spTgt spid="27"/>
                                        </p:tgtEl>
                                        <p:attrNameLst>
                                          <p:attrName>ppt_h</p:attrName>
                                        </p:attrNameLst>
                                      </p:cBhvr>
                                      <p:tavLst>
                                        <p:tav tm="0">
                                          <p:val>
                                            <p:strVal val="#ppt_h*0.85"/>
                                          </p:val>
                                        </p:tav>
                                        <p:tav tm="100000">
                                          <p:val>
                                            <p:strVal val="#ppt_h"/>
                                          </p:val>
                                        </p:tav>
                                      </p:tavLst>
                                    </p:anim>
                                  </p:childTnLst>
                                </p:cTn>
                              </p:par>
                              <p:par>
                                <p:cTn id="93" presetID="42" presetClass="entr" presetSubtype="0" decel="100000" fill="hold" grpId="0" nodeType="withEffect">
                                  <p:stCondLst>
                                    <p:cond delay="1130"/>
                                  </p:stCondLst>
                                  <p:childTnLst>
                                    <p:set>
                                      <p:cBhvr>
                                        <p:cTn id="94" dur="1" fill="hold">
                                          <p:stCondLst>
                                            <p:cond delay="0"/>
                                          </p:stCondLst>
                                        </p:cTn>
                                        <p:tgtEl>
                                          <p:spTgt spid="19"/>
                                        </p:tgtEl>
                                        <p:attrNameLst>
                                          <p:attrName>style.visibility</p:attrName>
                                        </p:attrNameLst>
                                      </p:cBhvr>
                                      <p:to>
                                        <p:strVal val="visible"/>
                                      </p:to>
                                    </p:set>
                                    <p:animEffect transition="in" filter="fade">
                                      <p:cBhvr>
                                        <p:cTn id="95" dur="700"/>
                                        <p:tgtEl>
                                          <p:spTgt spid="19"/>
                                        </p:tgtEl>
                                      </p:cBhvr>
                                    </p:animEffect>
                                    <p:anim calcmode="lin" valueType="num">
                                      <p:cBhvr additive="base">
                                        <p:cTn id="96" dur="700" fill="hold"/>
                                        <p:tgtEl>
                                          <p:spTgt spid="19"/>
                                        </p:tgtEl>
                                        <p:attrNameLst>
                                          <p:attrName>ppt_y</p:attrName>
                                        </p:attrNameLst>
                                      </p:cBhvr>
                                      <p:tavLst>
                                        <p:tav tm="0">
                                          <p:val>
                                            <p:strVal val="#ppt_y+0.03"/>
                                          </p:val>
                                        </p:tav>
                                        <p:tav tm="100000">
                                          <p:val>
                                            <p:strVal val="#ppt_y"/>
                                          </p:val>
                                        </p:tav>
                                      </p:tavLst>
                                    </p:anim>
                                  </p:childTnLst>
                                </p:cTn>
                              </p:par>
                              <p:par>
                                <p:cTn id="97" presetID="42" presetClass="entr" presetSubtype="0" decel="100000" fill="hold" grpId="0" nodeType="withEffect">
                                  <p:stCondLst>
                                    <p:cond delay="1130"/>
                                  </p:stCondLst>
                                  <p:childTnLst>
                                    <p:set>
                                      <p:cBhvr>
                                        <p:cTn id="98" dur="1" fill="hold">
                                          <p:stCondLst>
                                            <p:cond delay="0"/>
                                          </p:stCondLst>
                                        </p:cTn>
                                        <p:tgtEl>
                                          <p:spTgt spid="20"/>
                                        </p:tgtEl>
                                        <p:attrNameLst>
                                          <p:attrName>style.visibility</p:attrName>
                                        </p:attrNameLst>
                                      </p:cBhvr>
                                      <p:to>
                                        <p:strVal val="visible"/>
                                      </p:to>
                                    </p:set>
                                    <p:animEffect transition="in" filter="fade">
                                      <p:cBhvr>
                                        <p:cTn id="99" dur="700"/>
                                        <p:tgtEl>
                                          <p:spTgt spid="20"/>
                                        </p:tgtEl>
                                      </p:cBhvr>
                                    </p:animEffect>
                                    <p:anim calcmode="lin" valueType="num">
                                      <p:cBhvr additive="base">
                                        <p:cTn id="100" dur="700" fill="hold"/>
                                        <p:tgtEl>
                                          <p:spTgt spid="20"/>
                                        </p:tgtEl>
                                        <p:attrNameLst>
                                          <p:attrName>ppt_y</p:attrName>
                                        </p:attrNameLst>
                                      </p:cBhvr>
                                      <p:tavLst>
                                        <p:tav tm="0">
                                          <p:val>
                                            <p:strVal val="#ppt_y+0.03"/>
                                          </p:val>
                                        </p:tav>
                                        <p:tav tm="100000">
                                          <p:val>
                                            <p:strVal val="#ppt_y"/>
                                          </p:val>
                                        </p:tav>
                                      </p:tavLst>
                                    </p:anim>
                                  </p:childTnLst>
                                </p:cTn>
                              </p:par>
                              <p:par>
                                <p:cTn id="101" presetID="53" presetClass="entr" presetSubtype="16" decel="100000" fill="hold" grpId="0" nodeType="withEffect">
                                  <p:stCondLst>
                                    <p:cond delay="1130"/>
                                  </p:stCondLst>
                                  <p:childTnLst>
                                    <p:set>
                                      <p:cBhvr>
                                        <p:cTn id="102" dur="1" fill="hold">
                                          <p:stCondLst>
                                            <p:cond delay="0"/>
                                          </p:stCondLst>
                                        </p:cTn>
                                        <p:tgtEl>
                                          <p:spTgt spid="28"/>
                                        </p:tgtEl>
                                        <p:attrNameLst>
                                          <p:attrName>style.visibility</p:attrName>
                                        </p:attrNameLst>
                                      </p:cBhvr>
                                      <p:to>
                                        <p:strVal val="visible"/>
                                      </p:to>
                                    </p:set>
                                    <p:animEffect transition="in" filter="fade">
                                      <p:cBhvr>
                                        <p:cTn id="103" dur="700"/>
                                        <p:tgtEl>
                                          <p:spTgt spid="28"/>
                                        </p:tgtEl>
                                      </p:cBhvr>
                                    </p:animEffect>
                                    <p:anim calcmode="lin" valueType="num">
                                      <p:cBhvr additive="base">
                                        <p:cTn id="104" dur="800" fill="hold"/>
                                        <p:tgtEl>
                                          <p:spTgt spid="28"/>
                                        </p:tgtEl>
                                        <p:attrNameLst>
                                          <p:attrName>ppt_w</p:attrName>
                                        </p:attrNameLst>
                                      </p:cBhvr>
                                      <p:tavLst>
                                        <p:tav tm="0">
                                          <p:val>
                                            <p:strVal val="#ppt_w*0.85"/>
                                          </p:val>
                                        </p:tav>
                                        <p:tav tm="100000">
                                          <p:val>
                                            <p:strVal val="#ppt_w"/>
                                          </p:val>
                                        </p:tav>
                                      </p:tavLst>
                                    </p:anim>
                                    <p:anim calcmode="lin" valueType="num">
                                      <p:cBhvr additive="base">
                                        <p:cTn id="105" dur="800" fill="hold"/>
                                        <p:tgtEl>
                                          <p:spTgt spid="28"/>
                                        </p:tgtEl>
                                        <p:attrNameLst>
                                          <p:attrName>ppt_h</p:attrName>
                                        </p:attrNameLst>
                                      </p:cBhvr>
                                      <p:tavLst>
                                        <p:tav tm="0">
                                          <p:val>
                                            <p:strVal val="#ppt_h*0.85"/>
                                          </p:val>
                                        </p:tav>
                                        <p:tav tm="100000">
                                          <p:val>
                                            <p:strVal val="#ppt_h"/>
                                          </p:val>
                                        </p:tav>
                                      </p:tavLst>
                                    </p:anim>
                                  </p:childTnLst>
                                </p:cTn>
                              </p:par>
                              <p:par>
                                <p:cTn id="106" presetID="53" presetClass="entr" presetSubtype="16" decel="100000" fill="hold" grpId="0" nodeType="withEffect">
                                  <p:stCondLst>
                                    <p:cond delay="1130"/>
                                  </p:stCondLst>
                                  <p:childTnLst>
                                    <p:set>
                                      <p:cBhvr>
                                        <p:cTn id="107" dur="1" fill="hold">
                                          <p:stCondLst>
                                            <p:cond delay="0"/>
                                          </p:stCondLst>
                                        </p:cTn>
                                        <p:tgtEl>
                                          <p:spTgt spid="29"/>
                                        </p:tgtEl>
                                        <p:attrNameLst>
                                          <p:attrName>style.visibility</p:attrName>
                                        </p:attrNameLst>
                                      </p:cBhvr>
                                      <p:to>
                                        <p:strVal val="visible"/>
                                      </p:to>
                                    </p:set>
                                    <p:animEffect transition="in" filter="fade">
                                      <p:cBhvr>
                                        <p:cTn id="108" dur="700"/>
                                        <p:tgtEl>
                                          <p:spTgt spid="29"/>
                                        </p:tgtEl>
                                      </p:cBhvr>
                                    </p:animEffect>
                                    <p:anim calcmode="lin" valueType="num">
                                      <p:cBhvr additive="base">
                                        <p:cTn id="109" dur="800" fill="hold"/>
                                        <p:tgtEl>
                                          <p:spTgt spid="29"/>
                                        </p:tgtEl>
                                        <p:attrNameLst>
                                          <p:attrName>ppt_w</p:attrName>
                                        </p:attrNameLst>
                                      </p:cBhvr>
                                      <p:tavLst>
                                        <p:tav tm="0">
                                          <p:val>
                                            <p:strVal val="#ppt_w*0.85"/>
                                          </p:val>
                                        </p:tav>
                                        <p:tav tm="100000">
                                          <p:val>
                                            <p:strVal val="#ppt_w"/>
                                          </p:val>
                                        </p:tav>
                                      </p:tavLst>
                                    </p:anim>
                                    <p:anim calcmode="lin" valueType="num">
                                      <p:cBhvr additive="base">
                                        <p:cTn id="110" dur="800" fill="hold"/>
                                        <p:tgtEl>
                                          <p:spTgt spid="29"/>
                                        </p:tgtEl>
                                        <p:attrNameLst>
                                          <p:attrName>ppt_h</p:attrName>
                                        </p:attrNameLst>
                                      </p:cBhvr>
                                      <p:tavLst>
                                        <p:tav tm="0">
                                          <p:val>
                                            <p:strVal val="#ppt_h*0.85"/>
                                          </p:val>
                                        </p:tav>
                                        <p:tav tm="100000">
                                          <p:val>
                                            <p:strVal val="#ppt_h"/>
                                          </p:val>
                                        </p:tav>
                                      </p:tavLst>
                                    </p:anim>
                                  </p:childTnLst>
                                </p:cTn>
                              </p:par>
                              <p:par>
                                <p:cTn id="111" presetID="53" presetClass="entr" presetSubtype="16" decel="100000" fill="hold" grpId="0" nodeType="withEffect">
                                  <p:stCondLst>
                                    <p:cond delay="1130"/>
                                  </p:stCondLst>
                                  <p:childTnLst>
                                    <p:set>
                                      <p:cBhvr>
                                        <p:cTn id="112" dur="1" fill="hold">
                                          <p:stCondLst>
                                            <p:cond delay="0"/>
                                          </p:stCondLst>
                                        </p:cTn>
                                        <p:tgtEl>
                                          <p:spTgt spid="30"/>
                                        </p:tgtEl>
                                        <p:attrNameLst>
                                          <p:attrName>style.visibility</p:attrName>
                                        </p:attrNameLst>
                                      </p:cBhvr>
                                      <p:to>
                                        <p:strVal val="visible"/>
                                      </p:to>
                                    </p:set>
                                    <p:animEffect transition="in" filter="fade">
                                      <p:cBhvr>
                                        <p:cTn id="113" dur="700"/>
                                        <p:tgtEl>
                                          <p:spTgt spid="30"/>
                                        </p:tgtEl>
                                      </p:cBhvr>
                                    </p:animEffect>
                                    <p:anim calcmode="lin" valueType="num">
                                      <p:cBhvr additive="base">
                                        <p:cTn id="114" dur="800" fill="hold"/>
                                        <p:tgtEl>
                                          <p:spTgt spid="30"/>
                                        </p:tgtEl>
                                        <p:attrNameLst>
                                          <p:attrName>ppt_w</p:attrName>
                                        </p:attrNameLst>
                                      </p:cBhvr>
                                      <p:tavLst>
                                        <p:tav tm="0">
                                          <p:val>
                                            <p:strVal val="#ppt_w*0.85"/>
                                          </p:val>
                                        </p:tav>
                                        <p:tav tm="100000">
                                          <p:val>
                                            <p:strVal val="#ppt_w"/>
                                          </p:val>
                                        </p:tav>
                                      </p:tavLst>
                                    </p:anim>
                                    <p:anim calcmode="lin" valueType="num">
                                      <p:cBhvr additive="base">
                                        <p:cTn id="115" dur="800" fill="hold"/>
                                        <p:tgtEl>
                                          <p:spTgt spid="30"/>
                                        </p:tgtEl>
                                        <p:attrNameLst>
                                          <p:attrName>ppt_h</p:attrName>
                                        </p:attrNameLst>
                                      </p:cBhvr>
                                      <p:tavLst>
                                        <p:tav tm="0">
                                          <p:val>
                                            <p:strVal val="#ppt_h*0.85"/>
                                          </p:val>
                                        </p:tav>
                                        <p:tav tm="100000">
                                          <p:val>
                                            <p:strVal val="#ppt_h"/>
                                          </p:val>
                                        </p:tav>
                                      </p:tavLst>
                                    </p:anim>
                                  </p:childTnLst>
                                </p:cTn>
                              </p:par>
                              <p:par>
                                <p:cTn id="116" presetID="53" presetClass="entr" presetSubtype="16" decel="100000" fill="hold" grpId="0" nodeType="withEffect">
                                  <p:stCondLst>
                                    <p:cond delay="135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700"/>
                                        <p:tgtEl>
                                          <p:spTgt spid="31"/>
                                        </p:tgtEl>
                                      </p:cBhvr>
                                    </p:animEffect>
                                    <p:anim calcmode="lin" valueType="num">
                                      <p:cBhvr additive="base">
                                        <p:cTn id="119" dur="800" fill="hold"/>
                                        <p:tgtEl>
                                          <p:spTgt spid="31"/>
                                        </p:tgtEl>
                                        <p:attrNameLst>
                                          <p:attrName>ppt_w</p:attrName>
                                        </p:attrNameLst>
                                      </p:cBhvr>
                                      <p:tavLst>
                                        <p:tav tm="0">
                                          <p:val>
                                            <p:strVal val="#ppt_w*0.85"/>
                                          </p:val>
                                        </p:tav>
                                        <p:tav tm="100000">
                                          <p:val>
                                            <p:strVal val="#ppt_w"/>
                                          </p:val>
                                        </p:tav>
                                      </p:tavLst>
                                    </p:anim>
                                    <p:anim calcmode="lin" valueType="num">
                                      <p:cBhvr additive="base">
                                        <p:cTn id="120" dur="800" fill="hold"/>
                                        <p:tgtEl>
                                          <p:spTgt spid="31"/>
                                        </p:tgtEl>
                                        <p:attrNameLst>
                                          <p:attrName>ppt_h</p:attrName>
                                        </p:attrNameLst>
                                      </p:cBhvr>
                                      <p:tavLst>
                                        <p:tav tm="0">
                                          <p:val>
                                            <p:strVal val="#ppt_h*0.85"/>
                                          </p:val>
                                        </p:tav>
                                        <p:tav tm="100000">
                                          <p:val>
                                            <p:strVal val="#ppt_h"/>
                                          </p:val>
                                        </p:tav>
                                      </p:tavLst>
                                    </p:anim>
                                  </p:childTnLst>
                                </p:cTn>
                              </p:par>
                              <p:par>
                                <p:cTn id="121" presetID="53" presetClass="entr" presetSubtype="16" decel="100000" fill="hold" grpId="0" nodeType="withEffect">
                                  <p:stCondLst>
                                    <p:cond delay="1350"/>
                                  </p:stCondLst>
                                  <p:childTnLst>
                                    <p:set>
                                      <p:cBhvr>
                                        <p:cTn id="122" dur="1" fill="hold">
                                          <p:stCondLst>
                                            <p:cond delay="0"/>
                                          </p:stCondLst>
                                        </p:cTn>
                                        <p:tgtEl>
                                          <p:spTgt spid="32"/>
                                        </p:tgtEl>
                                        <p:attrNameLst>
                                          <p:attrName>style.visibility</p:attrName>
                                        </p:attrNameLst>
                                      </p:cBhvr>
                                      <p:to>
                                        <p:strVal val="visible"/>
                                      </p:to>
                                    </p:set>
                                    <p:animEffect transition="in" filter="fade">
                                      <p:cBhvr>
                                        <p:cTn id="123" dur="700"/>
                                        <p:tgtEl>
                                          <p:spTgt spid="32"/>
                                        </p:tgtEl>
                                      </p:cBhvr>
                                    </p:animEffect>
                                    <p:anim calcmode="lin" valueType="num">
                                      <p:cBhvr additive="base">
                                        <p:cTn id="124" dur="800" fill="hold"/>
                                        <p:tgtEl>
                                          <p:spTgt spid="32"/>
                                        </p:tgtEl>
                                        <p:attrNameLst>
                                          <p:attrName>ppt_w</p:attrName>
                                        </p:attrNameLst>
                                      </p:cBhvr>
                                      <p:tavLst>
                                        <p:tav tm="0">
                                          <p:val>
                                            <p:strVal val="#ppt_w*0.85"/>
                                          </p:val>
                                        </p:tav>
                                        <p:tav tm="100000">
                                          <p:val>
                                            <p:strVal val="#ppt_w"/>
                                          </p:val>
                                        </p:tav>
                                      </p:tavLst>
                                    </p:anim>
                                    <p:anim calcmode="lin" valueType="num">
                                      <p:cBhvr additive="base">
                                        <p:cTn id="125" dur="800" fill="hold"/>
                                        <p:tgtEl>
                                          <p:spTgt spid="32"/>
                                        </p:tgtEl>
                                        <p:attrNameLst>
                                          <p:attrName>ppt_h</p:attrName>
                                        </p:attrNameLst>
                                      </p:cBhvr>
                                      <p:tavLst>
                                        <p:tav tm="0">
                                          <p:val>
                                            <p:strVal val="#ppt_h*0.85"/>
                                          </p:val>
                                        </p:tav>
                                        <p:tav tm="100000">
                                          <p:val>
                                            <p:strVal val="#ppt_h"/>
                                          </p:val>
                                        </p:tav>
                                      </p:tavLst>
                                    </p:anim>
                                  </p:childTnLst>
                                </p:cTn>
                              </p:par>
                              <p:par>
                                <p:cTn id="126" presetID="53" presetClass="entr" presetSubtype="16" decel="100000" fill="hold" grpId="0" nodeType="withEffect">
                                  <p:stCondLst>
                                    <p:cond delay="1350"/>
                                  </p:stCondLst>
                                  <p:childTnLst>
                                    <p:set>
                                      <p:cBhvr>
                                        <p:cTn id="127" dur="1" fill="hold">
                                          <p:stCondLst>
                                            <p:cond delay="0"/>
                                          </p:stCondLst>
                                        </p:cTn>
                                        <p:tgtEl>
                                          <p:spTgt spid="33"/>
                                        </p:tgtEl>
                                        <p:attrNameLst>
                                          <p:attrName>style.visibility</p:attrName>
                                        </p:attrNameLst>
                                      </p:cBhvr>
                                      <p:to>
                                        <p:strVal val="visible"/>
                                      </p:to>
                                    </p:set>
                                    <p:animEffect transition="in" filter="fade">
                                      <p:cBhvr>
                                        <p:cTn id="128" dur="700"/>
                                        <p:tgtEl>
                                          <p:spTgt spid="33"/>
                                        </p:tgtEl>
                                      </p:cBhvr>
                                    </p:animEffect>
                                    <p:anim calcmode="lin" valueType="num">
                                      <p:cBhvr additive="base">
                                        <p:cTn id="129" dur="800" fill="hold"/>
                                        <p:tgtEl>
                                          <p:spTgt spid="33"/>
                                        </p:tgtEl>
                                        <p:attrNameLst>
                                          <p:attrName>ppt_w</p:attrName>
                                        </p:attrNameLst>
                                      </p:cBhvr>
                                      <p:tavLst>
                                        <p:tav tm="0">
                                          <p:val>
                                            <p:strVal val="#ppt_w*0.85"/>
                                          </p:val>
                                        </p:tav>
                                        <p:tav tm="100000">
                                          <p:val>
                                            <p:strVal val="#ppt_w"/>
                                          </p:val>
                                        </p:tav>
                                      </p:tavLst>
                                    </p:anim>
                                    <p:anim calcmode="lin" valueType="num">
                                      <p:cBhvr additive="base">
                                        <p:cTn id="130" dur="800" fill="hold"/>
                                        <p:tgtEl>
                                          <p:spTgt spid="33"/>
                                        </p:tgtEl>
                                        <p:attrNameLst>
                                          <p:attrName>ppt_h</p:attrName>
                                        </p:attrNameLst>
                                      </p:cBhvr>
                                      <p:tavLst>
                                        <p:tav tm="0">
                                          <p:val>
                                            <p:strVal val="#ppt_h*0.85"/>
                                          </p:val>
                                        </p:tav>
                                        <p:tav tm="100000">
                                          <p:val>
                                            <p:strVal val="#ppt_h"/>
                                          </p:val>
                                        </p:tav>
                                      </p:tavLst>
                                    </p:anim>
                                  </p:childTnLst>
                                </p:cTn>
                              </p:par>
                              <p:par>
                                <p:cTn id="131" presetID="10" presetClass="entr" presetSubtype="0" decel="100000" fill="hold" grpId="0" nodeType="withEffect">
                                  <p:stCondLst>
                                    <p:cond delay="1570"/>
                                  </p:stCondLst>
                                  <p:childTnLst>
                                    <p:set>
                                      <p:cBhvr>
                                        <p:cTn id="132" dur="1" fill="hold">
                                          <p:stCondLst>
                                            <p:cond delay="0"/>
                                          </p:stCondLst>
                                        </p:cTn>
                                        <p:tgtEl>
                                          <p:spTgt spid="35"/>
                                        </p:tgtEl>
                                        <p:attrNameLst>
                                          <p:attrName>style.visibility</p:attrName>
                                        </p:attrNameLst>
                                      </p:cBhvr>
                                      <p:to>
                                        <p:strVal val="visible"/>
                                      </p:to>
                                    </p:set>
                                    <p:animEffect transition="in" filter="fade">
                                      <p:cBhvr>
                                        <p:cTn id="133" dur="600"/>
                                        <p:tgtEl>
                                          <p:spTgt spid="35"/>
                                        </p:tgtEl>
                                      </p:cBhvr>
                                    </p:animEffect>
                                  </p:childTnLst>
                                </p:cTn>
                              </p:par>
                              <p:par>
                                <p:cTn id="134" presetID="6" presetClass="emph" presetSubtype="0" repeatCount="indefinite" fill="hold" grpId="0" nodeType="withEffect">
                                  <p:stCondLst>
                                    <p:cond delay="1790"/>
                                  </p:stCondLst>
                                  <p:childTnLst>
                                    <p:animScale>
                                      <p:cBhvr>
                                        <p:cTn id="135" dur="1600" fill="hold"/>
                                        <p:tgtEl>
                                          <p:spTgt spid="34"/>
                                        </p:tgtEl>
                                      </p:cBhvr>
                                      <p:by x="160000" y="160000"/>
                                    </p:animScale>
                                    <p:anim calcmode="lin" valueType="num">
                                      <p:cBhvr>
                                        <p:cTn id="136" dur="1600" fill="hold"/>
                                        <p:tgtEl>
                                          <p:spTgt spid="34"/>
                                        </p:tgtEl>
                                        <p:attrNameLst>
                                          <p:attrName>style.opacity</p:attrName>
                                        </p:attrNameLst>
                                      </p:cBhvr>
                                      <p:tavLst>
                                        <p:tav tm="0">
                                          <p:val>
                                            <p:fltVal val="1"/>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p:bldP spid="23" grpId="0" animBg="1"/>
      <p:bldP spid="24" grpId="0" animBg="1"/>
      <p:bldP spid="25" grpId="0"/>
      <p:bldP spid="26" grpId="0" animBg="1"/>
      <p:bldP spid="27" grpId="0" animBg="1"/>
      <p:bldP spid="28" grpId="0"/>
      <p:bldP spid="29" grpId="0" animBg="1"/>
      <p:bldP spid="30" grpId="0" animBg="1"/>
      <p:bldP spid="31" grpId="0"/>
      <p:bldP spid="32" grpId="0" animBg="1"/>
      <p:bldP spid="33" grpId="0" animBg="1"/>
      <p:bldP spid="34" grpId="0" animBg="1"/>
      <p:bldP spid="3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5">
            <a:alphaModFix amt="38000"/>
          </a:blip>
          <a:stretch>
            <a:fillRect/>
          </a:stretch>
        </p:blipFill>
        <p:spPr>
          <a:xfrm>
            <a:off x="7863840" y="-2743200"/>
            <a:ext cx="5943600" cy="5943600"/>
          </a:xfrm>
          <a:prstGeom prst="rect">
            <a:avLst/>
          </a:prstGeom>
        </p:spPr>
      </p:pic>
      <p:pic>
        <p:nvPicPr>
          <p:cNvPr id="3" name="!!glow2" descr="C:\Users\nahla\Desktop\UAE-Space-Hackatoon\deck_pptx\build\assets\glow_blue.png"/>
          <p:cNvPicPr>
            <a:picLocks noChangeAspect="1"/>
          </p:cNvPicPr>
          <p:nvPr/>
        </p:nvPicPr>
        <p:blipFill>
          <a:blip r:embed="rId6">
            <a:alphaModFix amt="35000"/>
          </a:blip>
          <a:stretch>
            <a:fillRect/>
          </a:stretch>
        </p:blipFill>
        <p:spPr>
          <a:xfrm>
            <a:off x="-2560320" y="292608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EXAMPLE OUTPUT · THE PRODUCT</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From signal to decision, in one screen</a:t>
            </a:r>
            <a:endParaRPr lang="en-US" sz="3400" dirty="0"/>
          </a:p>
        </p:txBody>
      </p:sp>
      <p:sp>
        <p:nvSpPr>
          <p:cNvPr id="7" name="a1zoom_bf"/>
          <p:cNvSpPr/>
          <p:nvPr/>
        </p:nvSpPr>
        <p:spPr>
          <a:xfrm>
            <a:off x="548640" y="1691640"/>
            <a:ext cx="6903720" cy="4625721"/>
          </a:xfrm>
          <a:prstGeom prst="roundRect">
            <a:avLst>
              <a:gd name="adj" fmla="val 1977"/>
            </a:avLst>
          </a:prstGeom>
          <a:solidFill>
            <a:srgbClr val="E9EFF6"/>
          </a:solidFill>
          <a:ln w="12700">
            <a:solidFill>
              <a:srgbClr val="D3E0EE"/>
            </a:solidFill>
            <a:prstDash val="solid"/>
          </a:ln>
          <a:effectLst>
            <a:outerShdw blurRad="152400" dist="38100" dir="5400000" algn="bl" rotWithShape="0">
              <a:srgbClr val="1B2B40">
                <a:alpha val="12000"/>
              </a:srgbClr>
            </a:outerShdw>
          </a:effectLst>
        </p:spPr>
      </p:sp>
      <p:sp>
        <p:nvSpPr>
          <p:cNvPr id="8" name="a1zoom_dot0"/>
          <p:cNvSpPr/>
          <p:nvPr/>
        </p:nvSpPr>
        <p:spPr>
          <a:xfrm>
            <a:off x="694944" y="1792224"/>
            <a:ext cx="109728" cy="109728"/>
          </a:xfrm>
          <a:prstGeom prst="ellipse">
            <a:avLst/>
          </a:prstGeom>
          <a:solidFill>
            <a:srgbClr val="FF5F57"/>
          </a:solidFill>
          <a:ln/>
        </p:spPr>
      </p:sp>
      <p:sp>
        <p:nvSpPr>
          <p:cNvPr id="9" name="a1zoom_dot1"/>
          <p:cNvSpPr/>
          <p:nvPr/>
        </p:nvSpPr>
        <p:spPr>
          <a:xfrm>
            <a:off x="877824" y="1792224"/>
            <a:ext cx="109728" cy="109728"/>
          </a:xfrm>
          <a:prstGeom prst="ellipse">
            <a:avLst/>
          </a:prstGeom>
          <a:solidFill>
            <a:srgbClr val="FEBC2E"/>
          </a:solidFill>
          <a:ln/>
        </p:spPr>
      </p:sp>
      <p:sp>
        <p:nvSpPr>
          <p:cNvPr id="10" name="a1zoom_dot2"/>
          <p:cNvSpPr/>
          <p:nvPr/>
        </p:nvSpPr>
        <p:spPr>
          <a:xfrm>
            <a:off x="1060704" y="1792224"/>
            <a:ext cx="109728" cy="109728"/>
          </a:xfrm>
          <a:prstGeom prst="ellipse">
            <a:avLst/>
          </a:prstGeom>
          <a:solidFill>
            <a:srgbClr val="28C840"/>
          </a:solidFill>
          <a:ln/>
        </p:spPr>
      </p:sp>
      <p:sp>
        <p:nvSpPr>
          <p:cNvPr id="11" name="a1zoom_url"/>
          <p:cNvSpPr txBox="1"/>
          <p:nvPr/>
        </p:nvSpPr>
        <p:spPr>
          <a:xfrm>
            <a:off x="1371600" y="1728216"/>
            <a:ext cx="4572000" cy="237744"/>
          </a:xfrm>
          <a:prstGeom prst="rect">
            <a:avLst/>
          </a:prstGeom>
          <a:noFill/>
          <a:ln/>
        </p:spPr>
        <p:txBody>
          <a:bodyPr wrap="square" lIns="0" tIns="0" rIns="0" bIns="0" rtlCol="0" anchor="ctr"/>
          <a:lstStyle/>
          <a:p>
            <a:pPr marL="0" indent="0" algn="l">
              <a:lnSpc>
                <a:spcPct val="105000"/>
              </a:lnSpc>
              <a:buNone/>
            </a:pPr>
            <a:r>
              <a:rPr lang="en-US" sz="1000" dirty="0">
                <a:solidFill>
                  <a:srgbClr val="5F738A"/>
                </a:solidFill>
                <a:latin typeface="Segoe UI" pitchFamily="34" charset="0"/>
                <a:ea typeface="Segoe UI" pitchFamily="34" charset="-122"/>
                <a:cs typeface="Segoe UI" pitchFamily="34" charset="-120"/>
              </a:rPr>
              <a:t>nahla-nabil.github.io/blue-carbon-guardian</a:t>
            </a:r>
            <a:endParaRPr lang="en-US" sz="1000" dirty="0"/>
          </a:p>
        </p:txBody>
      </p:sp>
      <p:pic>
        <p:nvPicPr>
          <p:cNvPr id="6" name="video_product">
            <a:hlinkClick r:id="" action="ppaction://media"/>
            <a:extLst>
              <a:ext uri="{FF2B5EF4-FFF2-40B4-BE49-F238E27FC236}">
                <a16:creationId xmlns:a16="http://schemas.microsoft.com/office/drawing/2014/main" id="{EBF875C7-7CFE-0BC5-464C-D9B490ACCFE3}"/>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585216" y="2002537"/>
            <a:ext cx="6830568" cy="4269105"/>
          </a:xfrm>
          <a:prstGeom prst="rect">
            <a:avLst/>
          </a:prstGeom>
        </p:spPr>
      </p:pic>
      <p:sp>
        <p:nvSpPr>
          <p:cNvPr id="13" name="a2float_f0_c"/>
          <p:cNvSpPr/>
          <p:nvPr/>
        </p:nvSpPr>
        <p:spPr>
          <a:xfrm>
            <a:off x="7772400" y="1737360"/>
            <a:ext cx="512064" cy="512064"/>
          </a:xfrm>
          <a:prstGeom prst="ellipse">
            <a:avLst/>
          </a:prstGeom>
          <a:solidFill>
            <a:srgbClr val="3F6E9E">
              <a:alpha val="18000"/>
            </a:srgbClr>
          </a:solidFill>
          <a:ln w="12700">
            <a:solidFill>
              <a:srgbClr val="3F6E9E"/>
            </a:solidFill>
            <a:prstDash val="solid"/>
          </a:ln>
        </p:spPr>
      </p:sp>
      <p:pic>
        <p:nvPicPr>
          <p:cNvPr id="14" name="a2float_f0_i" descr="preencoded.png"/>
          <p:cNvPicPr>
            <a:picLocks noChangeAspect="1"/>
          </p:cNvPicPr>
          <p:nvPr/>
        </p:nvPicPr>
        <p:blipFill>
          <a:blip r:embed="rId8"/>
          <a:stretch>
            <a:fillRect/>
          </a:stretch>
        </p:blipFill>
        <p:spPr>
          <a:xfrm>
            <a:off x="7895295" y="1860255"/>
            <a:ext cx="266273" cy="266273"/>
          </a:xfrm>
          <a:prstGeom prst="rect">
            <a:avLst/>
          </a:prstGeom>
        </p:spPr>
      </p:pic>
      <p:sp>
        <p:nvSpPr>
          <p:cNvPr id="15" name="a2float_f0t"/>
          <p:cNvSpPr txBox="1"/>
          <p:nvPr/>
        </p:nvSpPr>
        <p:spPr>
          <a:xfrm>
            <a:off x="8458200" y="1719072"/>
            <a:ext cx="310896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One alert</a:t>
            </a:r>
            <a:endParaRPr lang="en-US" sz="1500" dirty="0"/>
          </a:p>
        </p:txBody>
      </p:sp>
      <p:sp>
        <p:nvSpPr>
          <p:cNvPr id="16" name="a2float_f0d"/>
          <p:cNvSpPr txBox="1"/>
          <p:nvPr/>
        </p:nvSpPr>
        <p:spPr>
          <a:xfrm>
            <a:off x="8458200" y="2011680"/>
            <a:ext cx="315468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stand OR any 200 m cell, calibrated</a:t>
            </a:r>
            <a:endParaRPr lang="en-US" sz="1200" dirty="0"/>
          </a:p>
        </p:txBody>
      </p:sp>
      <p:sp>
        <p:nvSpPr>
          <p:cNvPr id="17" name="a3float_f1_c"/>
          <p:cNvSpPr/>
          <p:nvPr/>
        </p:nvSpPr>
        <p:spPr>
          <a:xfrm>
            <a:off x="7772400" y="2505456"/>
            <a:ext cx="512064" cy="512064"/>
          </a:xfrm>
          <a:prstGeom prst="ellipse">
            <a:avLst/>
          </a:prstGeom>
          <a:solidFill>
            <a:srgbClr val="3F6E9E">
              <a:alpha val="18000"/>
            </a:srgbClr>
          </a:solidFill>
          <a:ln w="12700">
            <a:solidFill>
              <a:srgbClr val="3F6E9E"/>
            </a:solidFill>
            <a:prstDash val="solid"/>
          </a:ln>
        </p:spPr>
      </p:sp>
      <p:pic>
        <p:nvPicPr>
          <p:cNvPr id="18" name="a3float_f1_i" descr="preencoded.png"/>
          <p:cNvPicPr>
            <a:picLocks noChangeAspect="1"/>
          </p:cNvPicPr>
          <p:nvPr/>
        </p:nvPicPr>
        <p:blipFill>
          <a:blip r:embed="rId9"/>
          <a:stretch>
            <a:fillRect/>
          </a:stretch>
        </p:blipFill>
        <p:spPr>
          <a:xfrm>
            <a:off x="7895295" y="2628351"/>
            <a:ext cx="266273" cy="266273"/>
          </a:xfrm>
          <a:prstGeom prst="rect">
            <a:avLst/>
          </a:prstGeom>
        </p:spPr>
      </p:pic>
      <p:sp>
        <p:nvSpPr>
          <p:cNvPr id="19" name="a3float_f1t"/>
          <p:cNvSpPr txBox="1"/>
          <p:nvPr/>
        </p:nvSpPr>
        <p:spPr>
          <a:xfrm>
            <a:off x="8458200" y="2487168"/>
            <a:ext cx="310896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Where to look</a:t>
            </a:r>
            <a:endParaRPr lang="en-US" sz="1500" dirty="0"/>
          </a:p>
        </p:txBody>
      </p:sp>
      <p:sp>
        <p:nvSpPr>
          <p:cNvPr id="20" name="a3float_f1d"/>
          <p:cNvSpPr txBox="1"/>
          <p:nvPr/>
        </p:nvSpPr>
        <p:spPr>
          <a:xfrm>
            <a:off x="8458200" y="2779776"/>
            <a:ext cx="315468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a 200 m cell map for the inspector</a:t>
            </a:r>
            <a:endParaRPr lang="en-US" sz="1200" dirty="0"/>
          </a:p>
        </p:txBody>
      </p:sp>
      <p:sp>
        <p:nvSpPr>
          <p:cNvPr id="21" name="a4float_f2_c"/>
          <p:cNvSpPr/>
          <p:nvPr/>
        </p:nvSpPr>
        <p:spPr>
          <a:xfrm>
            <a:off x="7772400" y="3273552"/>
            <a:ext cx="512064" cy="512064"/>
          </a:xfrm>
          <a:prstGeom prst="ellipse">
            <a:avLst/>
          </a:prstGeom>
          <a:solidFill>
            <a:srgbClr val="3F6E9E">
              <a:alpha val="18000"/>
            </a:srgbClr>
          </a:solidFill>
          <a:ln w="12700">
            <a:solidFill>
              <a:srgbClr val="3F6E9E"/>
            </a:solidFill>
            <a:prstDash val="solid"/>
          </a:ln>
        </p:spPr>
      </p:sp>
      <p:pic>
        <p:nvPicPr>
          <p:cNvPr id="22" name="a4float_f2_i" descr="preencoded.png"/>
          <p:cNvPicPr>
            <a:picLocks noChangeAspect="1"/>
          </p:cNvPicPr>
          <p:nvPr/>
        </p:nvPicPr>
        <p:blipFill>
          <a:blip r:embed="rId10"/>
          <a:stretch>
            <a:fillRect/>
          </a:stretch>
        </p:blipFill>
        <p:spPr>
          <a:xfrm>
            <a:off x="7895295" y="3396447"/>
            <a:ext cx="266273" cy="266273"/>
          </a:xfrm>
          <a:prstGeom prst="rect">
            <a:avLst/>
          </a:prstGeom>
        </p:spPr>
      </p:pic>
      <p:sp>
        <p:nvSpPr>
          <p:cNvPr id="23" name="a4float_f2t"/>
          <p:cNvSpPr txBox="1"/>
          <p:nvPr/>
        </p:nvSpPr>
        <p:spPr>
          <a:xfrm>
            <a:off x="8458200" y="3255264"/>
            <a:ext cx="310896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Condition</a:t>
            </a:r>
            <a:endParaRPr lang="en-US" sz="1500" dirty="0"/>
          </a:p>
        </p:txBody>
      </p:sp>
      <p:sp>
        <p:nvSpPr>
          <p:cNvPr id="24" name="a4float_f2d"/>
          <p:cNvSpPr txBox="1"/>
          <p:nvPr/>
        </p:nvSpPr>
        <p:spPr>
          <a:xfrm>
            <a:off x="8458200" y="3547872"/>
            <a:ext cx="315468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last 12 months vs own 2020–21 baseline</a:t>
            </a:r>
            <a:endParaRPr lang="en-US" sz="1200" dirty="0"/>
          </a:p>
        </p:txBody>
      </p:sp>
      <p:sp>
        <p:nvSpPr>
          <p:cNvPr id="25" name="a5float_f3_c"/>
          <p:cNvSpPr/>
          <p:nvPr/>
        </p:nvSpPr>
        <p:spPr>
          <a:xfrm>
            <a:off x="7772400" y="4041648"/>
            <a:ext cx="512064" cy="512064"/>
          </a:xfrm>
          <a:prstGeom prst="ellipse">
            <a:avLst/>
          </a:prstGeom>
          <a:solidFill>
            <a:srgbClr val="3F6E9E">
              <a:alpha val="18000"/>
            </a:srgbClr>
          </a:solidFill>
          <a:ln w="12700">
            <a:solidFill>
              <a:srgbClr val="3F6E9E"/>
            </a:solidFill>
            <a:prstDash val="solid"/>
          </a:ln>
        </p:spPr>
      </p:sp>
      <p:pic>
        <p:nvPicPr>
          <p:cNvPr id="26" name="a5float_f3_i" descr="preencoded.png"/>
          <p:cNvPicPr>
            <a:picLocks noChangeAspect="1"/>
          </p:cNvPicPr>
          <p:nvPr/>
        </p:nvPicPr>
        <p:blipFill>
          <a:blip r:embed="rId11"/>
          <a:stretch>
            <a:fillRect/>
          </a:stretch>
        </p:blipFill>
        <p:spPr>
          <a:xfrm>
            <a:off x="7895295" y="4164543"/>
            <a:ext cx="266273" cy="266273"/>
          </a:xfrm>
          <a:prstGeom prst="rect">
            <a:avLst/>
          </a:prstGeom>
        </p:spPr>
      </p:pic>
      <p:sp>
        <p:nvSpPr>
          <p:cNvPr id="27" name="a5float_f3t"/>
          <p:cNvSpPr txBox="1"/>
          <p:nvPr/>
        </p:nvSpPr>
        <p:spPr>
          <a:xfrm>
            <a:off x="8458200" y="4023360"/>
            <a:ext cx="310896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Carbon at stake</a:t>
            </a:r>
            <a:endParaRPr lang="en-US" sz="1500" dirty="0"/>
          </a:p>
        </p:txBody>
      </p:sp>
      <p:sp>
        <p:nvSpPr>
          <p:cNvPr id="28" name="a5float_f3d"/>
          <p:cNvSpPr txBox="1"/>
          <p:nvPr/>
        </p:nvSpPr>
        <p:spPr>
          <a:xfrm>
            <a:off x="8458200" y="4315968"/>
            <a:ext cx="315468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stock with a range, from field data</a:t>
            </a:r>
            <a:endParaRPr lang="en-US" sz="1200" dirty="0"/>
          </a:p>
        </p:txBody>
      </p:sp>
      <p:sp>
        <p:nvSpPr>
          <p:cNvPr id="29" name="a6float_f4_c"/>
          <p:cNvSpPr/>
          <p:nvPr/>
        </p:nvSpPr>
        <p:spPr>
          <a:xfrm>
            <a:off x="7772400" y="4809744"/>
            <a:ext cx="512064" cy="512064"/>
          </a:xfrm>
          <a:prstGeom prst="ellipse">
            <a:avLst/>
          </a:prstGeom>
          <a:solidFill>
            <a:srgbClr val="3F6E9E">
              <a:alpha val="18000"/>
            </a:srgbClr>
          </a:solidFill>
          <a:ln w="12700">
            <a:solidFill>
              <a:srgbClr val="3F6E9E"/>
            </a:solidFill>
            <a:prstDash val="solid"/>
          </a:ln>
        </p:spPr>
      </p:sp>
      <p:pic>
        <p:nvPicPr>
          <p:cNvPr id="30" name="a6float_f4_i" descr="preencoded.png"/>
          <p:cNvPicPr>
            <a:picLocks noChangeAspect="1"/>
          </p:cNvPicPr>
          <p:nvPr/>
        </p:nvPicPr>
        <p:blipFill>
          <a:blip r:embed="rId12"/>
          <a:stretch>
            <a:fillRect/>
          </a:stretch>
        </p:blipFill>
        <p:spPr>
          <a:xfrm>
            <a:off x="7895295" y="4932639"/>
            <a:ext cx="266273" cy="266273"/>
          </a:xfrm>
          <a:prstGeom prst="rect">
            <a:avLst/>
          </a:prstGeom>
        </p:spPr>
      </p:pic>
      <p:sp>
        <p:nvSpPr>
          <p:cNvPr id="31" name="a6float_f4t"/>
          <p:cNvSpPr txBox="1"/>
          <p:nvPr/>
        </p:nvSpPr>
        <p:spPr>
          <a:xfrm>
            <a:off x="8458200" y="4791456"/>
            <a:ext cx="310896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Site report</a:t>
            </a:r>
            <a:endParaRPr lang="en-US" sz="1500" dirty="0"/>
          </a:p>
        </p:txBody>
      </p:sp>
      <p:sp>
        <p:nvSpPr>
          <p:cNvPr id="32" name="a6float_f4d"/>
          <p:cNvSpPr txBox="1"/>
          <p:nvPr/>
        </p:nvSpPr>
        <p:spPr>
          <a:xfrm>
            <a:off x="8458200" y="5084064"/>
            <a:ext cx="315468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one page per stand, every number traced</a:t>
            </a:r>
            <a:endParaRPr lang="en-US" sz="1200" dirty="0"/>
          </a:p>
        </p:txBody>
      </p:sp>
      <p:sp>
        <p:nvSpPr>
          <p:cNvPr id="33" name="a8ping_liver"/>
          <p:cNvSpPr/>
          <p:nvPr/>
        </p:nvSpPr>
        <p:spPr>
          <a:xfrm>
            <a:off x="7772400" y="5715000"/>
            <a:ext cx="3840480" cy="438912"/>
          </a:xfrm>
          <a:prstGeom prst="roundRect">
            <a:avLst>
              <a:gd name="adj" fmla="val 50000"/>
            </a:avLst>
          </a:prstGeom>
          <a:ln w="25400">
            <a:solidFill>
              <a:srgbClr val="BE5F6D"/>
            </a:solidFill>
            <a:prstDash val="solid"/>
          </a:ln>
        </p:spPr>
      </p:sp>
      <p:sp>
        <p:nvSpPr>
          <p:cNvPr id="34" name="a7pop_live_bg"/>
          <p:cNvSpPr/>
          <p:nvPr/>
        </p:nvSpPr>
        <p:spPr>
          <a:xfrm>
            <a:off x="7772400" y="5715000"/>
            <a:ext cx="3840480" cy="438912"/>
          </a:xfrm>
          <a:prstGeom prst="roundRect">
            <a:avLst>
              <a:gd name="adj" fmla="val 41667"/>
            </a:avLst>
          </a:prstGeom>
          <a:solidFill>
            <a:srgbClr val="BE5F6D">
              <a:alpha val="20000"/>
            </a:srgbClr>
          </a:solidFill>
          <a:ln w="9525">
            <a:solidFill>
              <a:srgbClr val="BE5F6D"/>
            </a:solidFill>
            <a:prstDash val="solid"/>
          </a:ln>
        </p:spPr>
      </p:sp>
      <p:sp>
        <p:nvSpPr>
          <p:cNvPr id="35" name="a7pop_live"/>
          <p:cNvSpPr txBox="1"/>
          <p:nvPr/>
        </p:nvSpPr>
        <p:spPr>
          <a:xfrm>
            <a:off x="7772400" y="5715000"/>
            <a:ext cx="3840480" cy="438912"/>
          </a:xfrm>
          <a:prstGeom prst="rect">
            <a:avLst/>
          </a:prstGeom>
          <a:noFill/>
          <a:ln/>
        </p:spPr>
        <p:txBody>
          <a:bodyPr wrap="square" lIns="0" tIns="0" rIns="0" bIns="0" rtlCol="0" anchor="ctr"/>
          <a:lstStyle/>
          <a:p>
            <a:pPr marL="0" indent="0" algn="ctr">
              <a:lnSpc>
                <a:spcPct val="105000"/>
              </a:lnSpc>
              <a:buNone/>
            </a:pPr>
            <a:r>
              <a:rPr lang="en-US" sz="1300" dirty="0">
                <a:solidFill>
                  <a:srgbClr val="A04B58"/>
                </a:solidFill>
                <a:latin typeface="Segoe UI Semibold" pitchFamily="34" charset="0"/>
                <a:ea typeface="Segoe UI Semibold" pitchFamily="34" charset="-122"/>
                <a:cs typeface="Segoe UI Semibold" pitchFamily="34" charset="-120"/>
              </a:rPr>
              <a:t>●  LIVE DEMO  ·  open stand 9 on the website</a:t>
            </a:r>
            <a:endParaRPr lang="en-US" sz="1300" dirty="0"/>
          </a:p>
        </p:txBody>
      </p:sp>
      <p:sp>
        <p:nvSpPr>
          <p:cNvPr id="36"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300"/>
                                  </p:stCondLst>
                                  <p:childTnLst>
                                    <p:cmd type="call" cmd="playFrom(0.0)">
                                      <p:cBhvr>
                                        <p:cTn id="6" dur="21034" fill="hold"/>
                                        <p:tgtEl>
                                          <p:spTgt spid="6"/>
                                        </p:tgtEl>
                                      </p:cBhvr>
                                    </p:cmd>
                                  </p:childTnLst>
                                </p:cTn>
                              </p:par>
                              <p:par>
                                <p:cTn id="7" presetID="10" presetClass="entr" presetSubtype="0" decel="100000" fill="hold" grpId="0" nodeType="withEffect">
                                  <p:stCondLst>
                                    <p:cond delay="25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42" presetClass="entr" presetSubtype="0" decel="10000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700"/>
                                        <p:tgtEl>
                                          <p:spTgt spid="5"/>
                                        </p:tgtEl>
                                      </p:cBhvr>
                                    </p:animEffect>
                                    <p:anim calcmode="lin" valueType="num">
                                      <p:cBhvr additive="base">
                                        <p:cTn id="13" dur="700" fill="hold"/>
                                        <p:tgtEl>
                                          <p:spTgt spid="5"/>
                                        </p:tgtEl>
                                        <p:attrNameLst>
                                          <p:attrName>ppt_y</p:attrName>
                                        </p:attrNameLst>
                                      </p:cBhvr>
                                      <p:tavLst>
                                        <p:tav tm="0">
                                          <p:val>
                                            <p:strVal val="#ppt_y+0.03"/>
                                          </p:val>
                                        </p:tav>
                                        <p:tav tm="100000">
                                          <p:val>
                                            <p:strVal val="#ppt_y"/>
                                          </p:val>
                                        </p:tav>
                                      </p:tavLst>
                                    </p:anim>
                                  </p:childTnLst>
                                </p:cTn>
                              </p:par>
                              <p:par>
                                <p:cTn id="14" presetID="53" presetClass="entr" presetSubtype="16" decel="100000" fill="hold" grpId="0" nodeType="withEffect">
                                  <p:stCondLst>
                                    <p:cond delay="47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700"/>
                                        <p:tgtEl>
                                          <p:spTgt spid="7"/>
                                        </p:tgtEl>
                                      </p:cBhvr>
                                    </p:animEffect>
                                    <p:anim calcmode="lin" valueType="num">
                                      <p:cBhvr additive="base">
                                        <p:cTn id="17" dur="800" fill="hold"/>
                                        <p:tgtEl>
                                          <p:spTgt spid="7"/>
                                        </p:tgtEl>
                                        <p:attrNameLst>
                                          <p:attrName>ppt_w</p:attrName>
                                        </p:attrNameLst>
                                      </p:cBhvr>
                                      <p:tavLst>
                                        <p:tav tm="0">
                                          <p:val>
                                            <p:strVal val="#ppt_w*0.85"/>
                                          </p:val>
                                        </p:tav>
                                        <p:tav tm="100000">
                                          <p:val>
                                            <p:strVal val="#ppt_w"/>
                                          </p:val>
                                        </p:tav>
                                      </p:tavLst>
                                    </p:anim>
                                    <p:anim calcmode="lin" valueType="num">
                                      <p:cBhvr additive="base">
                                        <p:cTn id="18" dur="800" fill="hold"/>
                                        <p:tgtEl>
                                          <p:spTgt spid="7"/>
                                        </p:tgtEl>
                                        <p:attrNameLst>
                                          <p:attrName>ppt_h</p:attrName>
                                        </p:attrNameLst>
                                      </p:cBhvr>
                                      <p:tavLst>
                                        <p:tav tm="0">
                                          <p:val>
                                            <p:strVal val="#ppt_h*0.85"/>
                                          </p:val>
                                        </p:tav>
                                        <p:tav tm="100000">
                                          <p:val>
                                            <p:strVal val="#ppt_h"/>
                                          </p:val>
                                        </p:tav>
                                      </p:tavLst>
                                    </p:anim>
                                  </p:childTnLst>
                                </p:cTn>
                              </p:par>
                              <p:par>
                                <p:cTn id="19" presetID="53" presetClass="entr" presetSubtype="16" decel="100000" fill="hold" grpId="0" nodeType="withEffect">
                                  <p:stCondLst>
                                    <p:cond delay="47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700"/>
                                        <p:tgtEl>
                                          <p:spTgt spid="8"/>
                                        </p:tgtEl>
                                      </p:cBhvr>
                                    </p:animEffect>
                                    <p:anim calcmode="lin" valueType="num">
                                      <p:cBhvr additive="base">
                                        <p:cTn id="22" dur="800" fill="hold"/>
                                        <p:tgtEl>
                                          <p:spTgt spid="8"/>
                                        </p:tgtEl>
                                        <p:attrNameLst>
                                          <p:attrName>ppt_w</p:attrName>
                                        </p:attrNameLst>
                                      </p:cBhvr>
                                      <p:tavLst>
                                        <p:tav tm="0">
                                          <p:val>
                                            <p:strVal val="#ppt_w*0.85"/>
                                          </p:val>
                                        </p:tav>
                                        <p:tav tm="100000">
                                          <p:val>
                                            <p:strVal val="#ppt_w"/>
                                          </p:val>
                                        </p:tav>
                                      </p:tavLst>
                                    </p:anim>
                                    <p:anim calcmode="lin" valueType="num">
                                      <p:cBhvr additive="base">
                                        <p:cTn id="23" dur="800" fill="hold"/>
                                        <p:tgtEl>
                                          <p:spTgt spid="8"/>
                                        </p:tgtEl>
                                        <p:attrNameLst>
                                          <p:attrName>ppt_h</p:attrName>
                                        </p:attrNameLst>
                                      </p:cBhvr>
                                      <p:tavLst>
                                        <p:tav tm="0">
                                          <p:val>
                                            <p:strVal val="#ppt_h*0.85"/>
                                          </p:val>
                                        </p:tav>
                                        <p:tav tm="100000">
                                          <p:val>
                                            <p:strVal val="#ppt_h"/>
                                          </p:val>
                                        </p:tav>
                                      </p:tavLst>
                                    </p:anim>
                                  </p:childTnLst>
                                </p:cTn>
                              </p:par>
                              <p:par>
                                <p:cTn id="24" presetID="53" presetClass="entr" presetSubtype="16" decel="100000" fill="hold" grpId="0" nodeType="withEffect">
                                  <p:stCondLst>
                                    <p:cond delay="47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700"/>
                                        <p:tgtEl>
                                          <p:spTgt spid="9"/>
                                        </p:tgtEl>
                                      </p:cBhvr>
                                    </p:animEffect>
                                    <p:anim calcmode="lin" valueType="num">
                                      <p:cBhvr additive="base">
                                        <p:cTn id="27" dur="800" fill="hold"/>
                                        <p:tgtEl>
                                          <p:spTgt spid="9"/>
                                        </p:tgtEl>
                                        <p:attrNameLst>
                                          <p:attrName>ppt_w</p:attrName>
                                        </p:attrNameLst>
                                      </p:cBhvr>
                                      <p:tavLst>
                                        <p:tav tm="0">
                                          <p:val>
                                            <p:strVal val="#ppt_w*0.85"/>
                                          </p:val>
                                        </p:tav>
                                        <p:tav tm="100000">
                                          <p:val>
                                            <p:strVal val="#ppt_w"/>
                                          </p:val>
                                        </p:tav>
                                      </p:tavLst>
                                    </p:anim>
                                    <p:anim calcmode="lin" valueType="num">
                                      <p:cBhvr additive="base">
                                        <p:cTn id="28" dur="800" fill="hold"/>
                                        <p:tgtEl>
                                          <p:spTgt spid="9"/>
                                        </p:tgtEl>
                                        <p:attrNameLst>
                                          <p:attrName>ppt_h</p:attrName>
                                        </p:attrNameLst>
                                      </p:cBhvr>
                                      <p:tavLst>
                                        <p:tav tm="0">
                                          <p:val>
                                            <p:strVal val="#ppt_h*0.85"/>
                                          </p:val>
                                        </p:tav>
                                        <p:tav tm="100000">
                                          <p:val>
                                            <p:strVal val="#ppt_h"/>
                                          </p:val>
                                        </p:tav>
                                      </p:tavLst>
                                    </p:anim>
                                  </p:childTnLst>
                                </p:cTn>
                              </p:par>
                              <p:par>
                                <p:cTn id="29" presetID="53" presetClass="entr" presetSubtype="16" decel="100000" fill="hold" grpId="0" nodeType="withEffect">
                                  <p:stCondLst>
                                    <p:cond delay="47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700"/>
                                        <p:tgtEl>
                                          <p:spTgt spid="10"/>
                                        </p:tgtEl>
                                      </p:cBhvr>
                                    </p:animEffect>
                                    <p:anim calcmode="lin" valueType="num">
                                      <p:cBhvr additive="base">
                                        <p:cTn id="32" dur="800" fill="hold"/>
                                        <p:tgtEl>
                                          <p:spTgt spid="10"/>
                                        </p:tgtEl>
                                        <p:attrNameLst>
                                          <p:attrName>ppt_w</p:attrName>
                                        </p:attrNameLst>
                                      </p:cBhvr>
                                      <p:tavLst>
                                        <p:tav tm="0">
                                          <p:val>
                                            <p:strVal val="#ppt_w*0.85"/>
                                          </p:val>
                                        </p:tav>
                                        <p:tav tm="100000">
                                          <p:val>
                                            <p:strVal val="#ppt_w"/>
                                          </p:val>
                                        </p:tav>
                                      </p:tavLst>
                                    </p:anim>
                                    <p:anim calcmode="lin" valueType="num">
                                      <p:cBhvr additive="base">
                                        <p:cTn id="33" dur="800" fill="hold"/>
                                        <p:tgtEl>
                                          <p:spTgt spid="10"/>
                                        </p:tgtEl>
                                        <p:attrNameLst>
                                          <p:attrName>ppt_h</p:attrName>
                                        </p:attrNameLst>
                                      </p:cBhvr>
                                      <p:tavLst>
                                        <p:tav tm="0">
                                          <p:val>
                                            <p:strVal val="#ppt_h*0.85"/>
                                          </p:val>
                                        </p:tav>
                                        <p:tav tm="100000">
                                          <p:val>
                                            <p:strVal val="#ppt_h"/>
                                          </p:val>
                                        </p:tav>
                                      </p:tavLst>
                                    </p:anim>
                                  </p:childTnLst>
                                </p:cTn>
                              </p:par>
                              <p:par>
                                <p:cTn id="34" presetID="53" presetClass="entr" presetSubtype="16" decel="100000" fill="hold" grpId="0" nodeType="withEffect">
                                  <p:stCondLst>
                                    <p:cond delay="47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700"/>
                                        <p:tgtEl>
                                          <p:spTgt spid="11"/>
                                        </p:tgtEl>
                                      </p:cBhvr>
                                    </p:animEffect>
                                    <p:anim calcmode="lin" valueType="num">
                                      <p:cBhvr additive="base">
                                        <p:cTn id="37" dur="800" fill="hold"/>
                                        <p:tgtEl>
                                          <p:spTgt spid="11"/>
                                        </p:tgtEl>
                                        <p:attrNameLst>
                                          <p:attrName>ppt_w</p:attrName>
                                        </p:attrNameLst>
                                      </p:cBhvr>
                                      <p:tavLst>
                                        <p:tav tm="0">
                                          <p:val>
                                            <p:strVal val="#ppt_w*0.85"/>
                                          </p:val>
                                        </p:tav>
                                        <p:tav tm="100000">
                                          <p:val>
                                            <p:strVal val="#ppt_w"/>
                                          </p:val>
                                        </p:tav>
                                      </p:tavLst>
                                    </p:anim>
                                    <p:anim calcmode="lin" valueType="num">
                                      <p:cBhvr additive="base">
                                        <p:cTn id="38" dur="800" fill="hold"/>
                                        <p:tgtEl>
                                          <p:spTgt spid="11"/>
                                        </p:tgtEl>
                                        <p:attrNameLst>
                                          <p:attrName>ppt_h</p:attrName>
                                        </p:attrNameLst>
                                      </p:cBhvr>
                                      <p:tavLst>
                                        <p:tav tm="0">
                                          <p:val>
                                            <p:strVal val="#ppt_h*0.85"/>
                                          </p:val>
                                        </p:tav>
                                        <p:tav tm="100000">
                                          <p:val>
                                            <p:strVal val="#ppt_h"/>
                                          </p:val>
                                        </p:tav>
                                      </p:tavLst>
                                    </p:anim>
                                  </p:childTnLst>
                                </p:cTn>
                              </p:par>
                              <p:par>
                                <p:cTn id="39" presetID="42" presetClass="entr" presetSubtype="0" decel="100000" fill="hold" grpId="0" nodeType="withEffect">
                                  <p:stCondLst>
                                    <p:cond delay="69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700"/>
                                        <p:tgtEl>
                                          <p:spTgt spid="13"/>
                                        </p:tgtEl>
                                      </p:cBhvr>
                                    </p:animEffect>
                                    <p:anim calcmode="lin" valueType="num">
                                      <p:cBhvr additive="base">
                                        <p:cTn id="42" dur="700" fill="hold"/>
                                        <p:tgtEl>
                                          <p:spTgt spid="13"/>
                                        </p:tgtEl>
                                        <p:attrNameLst>
                                          <p:attrName>ppt_y</p:attrName>
                                        </p:attrNameLst>
                                      </p:cBhvr>
                                      <p:tavLst>
                                        <p:tav tm="0">
                                          <p:val>
                                            <p:strVal val="#ppt_y+0.03"/>
                                          </p:val>
                                        </p:tav>
                                        <p:tav tm="100000">
                                          <p:val>
                                            <p:strVal val="#ppt_y"/>
                                          </p:val>
                                        </p:tav>
                                      </p:tavLst>
                                    </p:anim>
                                  </p:childTnLst>
                                </p:cTn>
                              </p:par>
                              <p:par>
                                <p:cTn id="43" presetID="42" presetClass="entr" presetSubtype="0" decel="100000" fill="hold" grpId="0" nodeType="withEffect">
                                  <p:stCondLst>
                                    <p:cond delay="69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700"/>
                                        <p:tgtEl>
                                          <p:spTgt spid="14"/>
                                        </p:tgtEl>
                                      </p:cBhvr>
                                    </p:animEffect>
                                    <p:anim calcmode="lin" valueType="num">
                                      <p:cBhvr additive="base">
                                        <p:cTn id="46" dur="700" fill="hold"/>
                                        <p:tgtEl>
                                          <p:spTgt spid="14"/>
                                        </p:tgtEl>
                                        <p:attrNameLst>
                                          <p:attrName>ppt_y</p:attrName>
                                        </p:attrNameLst>
                                      </p:cBhvr>
                                      <p:tavLst>
                                        <p:tav tm="0">
                                          <p:val>
                                            <p:strVal val="#ppt_y+0.03"/>
                                          </p:val>
                                        </p:tav>
                                        <p:tav tm="100000">
                                          <p:val>
                                            <p:strVal val="#ppt_y"/>
                                          </p:val>
                                        </p:tav>
                                      </p:tavLst>
                                    </p:anim>
                                  </p:childTnLst>
                                </p:cTn>
                              </p:par>
                              <p:par>
                                <p:cTn id="47" presetID="42" presetClass="entr" presetSubtype="0" decel="100000" fill="hold" grpId="0" nodeType="withEffect">
                                  <p:stCondLst>
                                    <p:cond delay="69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700"/>
                                        <p:tgtEl>
                                          <p:spTgt spid="15"/>
                                        </p:tgtEl>
                                      </p:cBhvr>
                                    </p:animEffect>
                                    <p:anim calcmode="lin" valueType="num">
                                      <p:cBhvr additive="base">
                                        <p:cTn id="50" dur="700" fill="hold"/>
                                        <p:tgtEl>
                                          <p:spTgt spid="15"/>
                                        </p:tgtEl>
                                        <p:attrNameLst>
                                          <p:attrName>ppt_y</p:attrName>
                                        </p:attrNameLst>
                                      </p:cBhvr>
                                      <p:tavLst>
                                        <p:tav tm="0">
                                          <p:val>
                                            <p:strVal val="#ppt_y+0.03"/>
                                          </p:val>
                                        </p:tav>
                                        <p:tav tm="100000">
                                          <p:val>
                                            <p:strVal val="#ppt_y"/>
                                          </p:val>
                                        </p:tav>
                                      </p:tavLst>
                                    </p:anim>
                                  </p:childTnLst>
                                </p:cTn>
                              </p:par>
                              <p:par>
                                <p:cTn id="51" presetID="42" presetClass="entr" presetSubtype="0" decel="100000" fill="hold" grpId="0" nodeType="withEffect">
                                  <p:stCondLst>
                                    <p:cond delay="69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700"/>
                                        <p:tgtEl>
                                          <p:spTgt spid="16"/>
                                        </p:tgtEl>
                                      </p:cBhvr>
                                    </p:animEffect>
                                    <p:anim calcmode="lin" valueType="num">
                                      <p:cBhvr additive="base">
                                        <p:cTn id="54" dur="700" fill="hold"/>
                                        <p:tgtEl>
                                          <p:spTgt spid="16"/>
                                        </p:tgtEl>
                                        <p:attrNameLst>
                                          <p:attrName>ppt_y</p:attrName>
                                        </p:attrNameLst>
                                      </p:cBhvr>
                                      <p:tavLst>
                                        <p:tav tm="0">
                                          <p:val>
                                            <p:strVal val="#ppt_y+0.03"/>
                                          </p:val>
                                        </p:tav>
                                        <p:tav tm="100000">
                                          <p:val>
                                            <p:strVal val="#ppt_y"/>
                                          </p:val>
                                        </p:tav>
                                      </p:tavLst>
                                    </p:anim>
                                  </p:childTnLst>
                                </p:cTn>
                              </p:par>
                              <p:par>
                                <p:cTn id="55" presetID="42" presetClass="entr" presetSubtype="0" decel="100000" fill="hold" grpId="0" nodeType="withEffect">
                                  <p:stCondLst>
                                    <p:cond delay="91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700"/>
                                        <p:tgtEl>
                                          <p:spTgt spid="17"/>
                                        </p:tgtEl>
                                      </p:cBhvr>
                                    </p:animEffect>
                                    <p:anim calcmode="lin" valueType="num">
                                      <p:cBhvr additive="base">
                                        <p:cTn id="58" dur="700" fill="hold"/>
                                        <p:tgtEl>
                                          <p:spTgt spid="17"/>
                                        </p:tgtEl>
                                        <p:attrNameLst>
                                          <p:attrName>ppt_y</p:attrName>
                                        </p:attrNameLst>
                                      </p:cBhvr>
                                      <p:tavLst>
                                        <p:tav tm="0">
                                          <p:val>
                                            <p:strVal val="#ppt_y+0.03"/>
                                          </p:val>
                                        </p:tav>
                                        <p:tav tm="100000">
                                          <p:val>
                                            <p:strVal val="#ppt_y"/>
                                          </p:val>
                                        </p:tav>
                                      </p:tavLst>
                                    </p:anim>
                                  </p:childTnLst>
                                </p:cTn>
                              </p:par>
                              <p:par>
                                <p:cTn id="59" presetID="42" presetClass="entr" presetSubtype="0" decel="100000" fill="hold" grpId="0" nodeType="withEffect">
                                  <p:stCondLst>
                                    <p:cond delay="91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700"/>
                                        <p:tgtEl>
                                          <p:spTgt spid="18"/>
                                        </p:tgtEl>
                                      </p:cBhvr>
                                    </p:animEffect>
                                    <p:anim calcmode="lin" valueType="num">
                                      <p:cBhvr additive="base">
                                        <p:cTn id="62" dur="700" fill="hold"/>
                                        <p:tgtEl>
                                          <p:spTgt spid="18"/>
                                        </p:tgtEl>
                                        <p:attrNameLst>
                                          <p:attrName>ppt_y</p:attrName>
                                        </p:attrNameLst>
                                      </p:cBhvr>
                                      <p:tavLst>
                                        <p:tav tm="0">
                                          <p:val>
                                            <p:strVal val="#ppt_y+0.03"/>
                                          </p:val>
                                        </p:tav>
                                        <p:tav tm="100000">
                                          <p:val>
                                            <p:strVal val="#ppt_y"/>
                                          </p:val>
                                        </p:tav>
                                      </p:tavLst>
                                    </p:anim>
                                  </p:childTnLst>
                                </p:cTn>
                              </p:par>
                              <p:par>
                                <p:cTn id="63" presetID="42" presetClass="entr" presetSubtype="0" decel="100000" fill="hold" grpId="0" nodeType="withEffect">
                                  <p:stCondLst>
                                    <p:cond delay="91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700"/>
                                        <p:tgtEl>
                                          <p:spTgt spid="19"/>
                                        </p:tgtEl>
                                      </p:cBhvr>
                                    </p:animEffect>
                                    <p:anim calcmode="lin" valueType="num">
                                      <p:cBhvr additive="base">
                                        <p:cTn id="66" dur="700" fill="hold"/>
                                        <p:tgtEl>
                                          <p:spTgt spid="19"/>
                                        </p:tgtEl>
                                        <p:attrNameLst>
                                          <p:attrName>ppt_y</p:attrName>
                                        </p:attrNameLst>
                                      </p:cBhvr>
                                      <p:tavLst>
                                        <p:tav tm="0">
                                          <p:val>
                                            <p:strVal val="#ppt_y+0.03"/>
                                          </p:val>
                                        </p:tav>
                                        <p:tav tm="100000">
                                          <p:val>
                                            <p:strVal val="#ppt_y"/>
                                          </p:val>
                                        </p:tav>
                                      </p:tavLst>
                                    </p:anim>
                                  </p:childTnLst>
                                </p:cTn>
                              </p:par>
                              <p:par>
                                <p:cTn id="67" presetID="42" presetClass="entr" presetSubtype="0" decel="100000" fill="hold" grpId="0" nodeType="withEffect">
                                  <p:stCondLst>
                                    <p:cond delay="91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700"/>
                                        <p:tgtEl>
                                          <p:spTgt spid="20"/>
                                        </p:tgtEl>
                                      </p:cBhvr>
                                    </p:animEffect>
                                    <p:anim calcmode="lin" valueType="num">
                                      <p:cBhvr additive="base">
                                        <p:cTn id="70" dur="700" fill="hold"/>
                                        <p:tgtEl>
                                          <p:spTgt spid="20"/>
                                        </p:tgtEl>
                                        <p:attrNameLst>
                                          <p:attrName>ppt_y</p:attrName>
                                        </p:attrNameLst>
                                      </p:cBhvr>
                                      <p:tavLst>
                                        <p:tav tm="0">
                                          <p:val>
                                            <p:strVal val="#ppt_y+0.03"/>
                                          </p:val>
                                        </p:tav>
                                        <p:tav tm="100000">
                                          <p:val>
                                            <p:strVal val="#ppt_y"/>
                                          </p:val>
                                        </p:tav>
                                      </p:tavLst>
                                    </p:anim>
                                  </p:childTnLst>
                                </p:cTn>
                              </p:par>
                              <p:par>
                                <p:cTn id="71" presetID="42" presetClass="entr" presetSubtype="0" decel="100000" fill="hold" grpId="0" nodeType="withEffect">
                                  <p:stCondLst>
                                    <p:cond delay="113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700"/>
                                        <p:tgtEl>
                                          <p:spTgt spid="21"/>
                                        </p:tgtEl>
                                      </p:cBhvr>
                                    </p:animEffect>
                                    <p:anim calcmode="lin" valueType="num">
                                      <p:cBhvr additive="base">
                                        <p:cTn id="74" dur="700" fill="hold"/>
                                        <p:tgtEl>
                                          <p:spTgt spid="21"/>
                                        </p:tgtEl>
                                        <p:attrNameLst>
                                          <p:attrName>ppt_y</p:attrName>
                                        </p:attrNameLst>
                                      </p:cBhvr>
                                      <p:tavLst>
                                        <p:tav tm="0">
                                          <p:val>
                                            <p:strVal val="#ppt_y+0.03"/>
                                          </p:val>
                                        </p:tav>
                                        <p:tav tm="100000">
                                          <p:val>
                                            <p:strVal val="#ppt_y"/>
                                          </p:val>
                                        </p:tav>
                                      </p:tavLst>
                                    </p:anim>
                                  </p:childTnLst>
                                </p:cTn>
                              </p:par>
                              <p:par>
                                <p:cTn id="75" presetID="42" presetClass="entr" presetSubtype="0" decel="100000" fill="hold" grpId="0" nodeType="withEffect">
                                  <p:stCondLst>
                                    <p:cond delay="113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700"/>
                                        <p:tgtEl>
                                          <p:spTgt spid="22"/>
                                        </p:tgtEl>
                                      </p:cBhvr>
                                    </p:animEffect>
                                    <p:anim calcmode="lin" valueType="num">
                                      <p:cBhvr additive="base">
                                        <p:cTn id="78" dur="700" fill="hold"/>
                                        <p:tgtEl>
                                          <p:spTgt spid="22"/>
                                        </p:tgtEl>
                                        <p:attrNameLst>
                                          <p:attrName>ppt_y</p:attrName>
                                        </p:attrNameLst>
                                      </p:cBhvr>
                                      <p:tavLst>
                                        <p:tav tm="0">
                                          <p:val>
                                            <p:strVal val="#ppt_y+0.03"/>
                                          </p:val>
                                        </p:tav>
                                        <p:tav tm="100000">
                                          <p:val>
                                            <p:strVal val="#ppt_y"/>
                                          </p:val>
                                        </p:tav>
                                      </p:tavLst>
                                    </p:anim>
                                  </p:childTnLst>
                                </p:cTn>
                              </p:par>
                              <p:par>
                                <p:cTn id="79" presetID="42" presetClass="entr" presetSubtype="0" decel="100000" fill="hold" grpId="0" nodeType="withEffect">
                                  <p:stCondLst>
                                    <p:cond delay="113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700"/>
                                        <p:tgtEl>
                                          <p:spTgt spid="23"/>
                                        </p:tgtEl>
                                      </p:cBhvr>
                                    </p:animEffect>
                                    <p:anim calcmode="lin" valueType="num">
                                      <p:cBhvr additive="base">
                                        <p:cTn id="82" dur="700" fill="hold"/>
                                        <p:tgtEl>
                                          <p:spTgt spid="23"/>
                                        </p:tgtEl>
                                        <p:attrNameLst>
                                          <p:attrName>ppt_y</p:attrName>
                                        </p:attrNameLst>
                                      </p:cBhvr>
                                      <p:tavLst>
                                        <p:tav tm="0">
                                          <p:val>
                                            <p:strVal val="#ppt_y+0.03"/>
                                          </p:val>
                                        </p:tav>
                                        <p:tav tm="100000">
                                          <p:val>
                                            <p:strVal val="#ppt_y"/>
                                          </p:val>
                                        </p:tav>
                                      </p:tavLst>
                                    </p:anim>
                                  </p:childTnLst>
                                </p:cTn>
                              </p:par>
                              <p:par>
                                <p:cTn id="83" presetID="42" presetClass="entr" presetSubtype="0" decel="100000" fill="hold" grpId="0" nodeType="withEffect">
                                  <p:stCondLst>
                                    <p:cond delay="1130"/>
                                  </p:stCondLst>
                                  <p:childTnLst>
                                    <p:set>
                                      <p:cBhvr>
                                        <p:cTn id="84" dur="1" fill="hold">
                                          <p:stCondLst>
                                            <p:cond delay="0"/>
                                          </p:stCondLst>
                                        </p:cTn>
                                        <p:tgtEl>
                                          <p:spTgt spid="24"/>
                                        </p:tgtEl>
                                        <p:attrNameLst>
                                          <p:attrName>style.visibility</p:attrName>
                                        </p:attrNameLst>
                                      </p:cBhvr>
                                      <p:to>
                                        <p:strVal val="visible"/>
                                      </p:to>
                                    </p:set>
                                    <p:animEffect transition="in" filter="fade">
                                      <p:cBhvr>
                                        <p:cTn id="85" dur="700"/>
                                        <p:tgtEl>
                                          <p:spTgt spid="24"/>
                                        </p:tgtEl>
                                      </p:cBhvr>
                                    </p:animEffect>
                                    <p:anim calcmode="lin" valueType="num">
                                      <p:cBhvr additive="base">
                                        <p:cTn id="86" dur="700" fill="hold"/>
                                        <p:tgtEl>
                                          <p:spTgt spid="24"/>
                                        </p:tgtEl>
                                        <p:attrNameLst>
                                          <p:attrName>ppt_y</p:attrName>
                                        </p:attrNameLst>
                                      </p:cBhvr>
                                      <p:tavLst>
                                        <p:tav tm="0">
                                          <p:val>
                                            <p:strVal val="#ppt_y+0.03"/>
                                          </p:val>
                                        </p:tav>
                                        <p:tav tm="100000">
                                          <p:val>
                                            <p:strVal val="#ppt_y"/>
                                          </p:val>
                                        </p:tav>
                                      </p:tavLst>
                                    </p:anim>
                                  </p:childTnLst>
                                </p:cTn>
                              </p:par>
                              <p:par>
                                <p:cTn id="87" presetID="42" presetClass="entr" presetSubtype="0" decel="100000" fill="hold" grpId="0" nodeType="withEffect">
                                  <p:stCondLst>
                                    <p:cond delay="135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700"/>
                                        <p:tgtEl>
                                          <p:spTgt spid="25"/>
                                        </p:tgtEl>
                                      </p:cBhvr>
                                    </p:animEffect>
                                    <p:anim calcmode="lin" valueType="num">
                                      <p:cBhvr additive="base">
                                        <p:cTn id="90" dur="700" fill="hold"/>
                                        <p:tgtEl>
                                          <p:spTgt spid="25"/>
                                        </p:tgtEl>
                                        <p:attrNameLst>
                                          <p:attrName>ppt_y</p:attrName>
                                        </p:attrNameLst>
                                      </p:cBhvr>
                                      <p:tavLst>
                                        <p:tav tm="0">
                                          <p:val>
                                            <p:strVal val="#ppt_y+0.03"/>
                                          </p:val>
                                        </p:tav>
                                        <p:tav tm="100000">
                                          <p:val>
                                            <p:strVal val="#ppt_y"/>
                                          </p:val>
                                        </p:tav>
                                      </p:tavLst>
                                    </p:anim>
                                  </p:childTnLst>
                                </p:cTn>
                              </p:par>
                              <p:par>
                                <p:cTn id="91" presetID="42" presetClass="entr" presetSubtype="0" decel="100000" fill="hold" grpId="0" nodeType="withEffect">
                                  <p:stCondLst>
                                    <p:cond delay="1350"/>
                                  </p:stCondLst>
                                  <p:childTnLst>
                                    <p:set>
                                      <p:cBhvr>
                                        <p:cTn id="92" dur="1" fill="hold">
                                          <p:stCondLst>
                                            <p:cond delay="0"/>
                                          </p:stCondLst>
                                        </p:cTn>
                                        <p:tgtEl>
                                          <p:spTgt spid="26"/>
                                        </p:tgtEl>
                                        <p:attrNameLst>
                                          <p:attrName>style.visibility</p:attrName>
                                        </p:attrNameLst>
                                      </p:cBhvr>
                                      <p:to>
                                        <p:strVal val="visible"/>
                                      </p:to>
                                    </p:set>
                                    <p:animEffect transition="in" filter="fade">
                                      <p:cBhvr>
                                        <p:cTn id="93" dur="700"/>
                                        <p:tgtEl>
                                          <p:spTgt spid="26"/>
                                        </p:tgtEl>
                                      </p:cBhvr>
                                    </p:animEffect>
                                    <p:anim calcmode="lin" valueType="num">
                                      <p:cBhvr additive="base">
                                        <p:cTn id="94" dur="700" fill="hold"/>
                                        <p:tgtEl>
                                          <p:spTgt spid="26"/>
                                        </p:tgtEl>
                                        <p:attrNameLst>
                                          <p:attrName>ppt_y</p:attrName>
                                        </p:attrNameLst>
                                      </p:cBhvr>
                                      <p:tavLst>
                                        <p:tav tm="0">
                                          <p:val>
                                            <p:strVal val="#ppt_y+0.03"/>
                                          </p:val>
                                        </p:tav>
                                        <p:tav tm="100000">
                                          <p:val>
                                            <p:strVal val="#ppt_y"/>
                                          </p:val>
                                        </p:tav>
                                      </p:tavLst>
                                    </p:anim>
                                  </p:childTnLst>
                                </p:cTn>
                              </p:par>
                              <p:par>
                                <p:cTn id="95" presetID="42" presetClass="entr" presetSubtype="0" decel="100000" fill="hold" grpId="0" nodeType="withEffect">
                                  <p:stCondLst>
                                    <p:cond delay="1350"/>
                                  </p:stCondLst>
                                  <p:childTnLst>
                                    <p:set>
                                      <p:cBhvr>
                                        <p:cTn id="96" dur="1" fill="hold">
                                          <p:stCondLst>
                                            <p:cond delay="0"/>
                                          </p:stCondLst>
                                        </p:cTn>
                                        <p:tgtEl>
                                          <p:spTgt spid="27"/>
                                        </p:tgtEl>
                                        <p:attrNameLst>
                                          <p:attrName>style.visibility</p:attrName>
                                        </p:attrNameLst>
                                      </p:cBhvr>
                                      <p:to>
                                        <p:strVal val="visible"/>
                                      </p:to>
                                    </p:set>
                                    <p:animEffect transition="in" filter="fade">
                                      <p:cBhvr>
                                        <p:cTn id="97" dur="700"/>
                                        <p:tgtEl>
                                          <p:spTgt spid="27"/>
                                        </p:tgtEl>
                                      </p:cBhvr>
                                    </p:animEffect>
                                    <p:anim calcmode="lin" valueType="num">
                                      <p:cBhvr additive="base">
                                        <p:cTn id="98" dur="700" fill="hold"/>
                                        <p:tgtEl>
                                          <p:spTgt spid="27"/>
                                        </p:tgtEl>
                                        <p:attrNameLst>
                                          <p:attrName>ppt_y</p:attrName>
                                        </p:attrNameLst>
                                      </p:cBhvr>
                                      <p:tavLst>
                                        <p:tav tm="0">
                                          <p:val>
                                            <p:strVal val="#ppt_y+0.03"/>
                                          </p:val>
                                        </p:tav>
                                        <p:tav tm="100000">
                                          <p:val>
                                            <p:strVal val="#ppt_y"/>
                                          </p:val>
                                        </p:tav>
                                      </p:tavLst>
                                    </p:anim>
                                  </p:childTnLst>
                                </p:cTn>
                              </p:par>
                              <p:par>
                                <p:cTn id="99" presetID="42" presetClass="entr" presetSubtype="0" decel="100000" fill="hold" grpId="0" nodeType="withEffect">
                                  <p:stCondLst>
                                    <p:cond delay="135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700"/>
                                        <p:tgtEl>
                                          <p:spTgt spid="28"/>
                                        </p:tgtEl>
                                      </p:cBhvr>
                                    </p:animEffect>
                                    <p:anim calcmode="lin" valueType="num">
                                      <p:cBhvr additive="base">
                                        <p:cTn id="102" dur="700" fill="hold"/>
                                        <p:tgtEl>
                                          <p:spTgt spid="28"/>
                                        </p:tgtEl>
                                        <p:attrNameLst>
                                          <p:attrName>ppt_y</p:attrName>
                                        </p:attrNameLst>
                                      </p:cBhvr>
                                      <p:tavLst>
                                        <p:tav tm="0">
                                          <p:val>
                                            <p:strVal val="#ppt_y+0.03"/>
                                          </p:val>
                                        </p:tav>
                                        <p:tav tm="100000">
                                          <p:val>
                                            <p:strVal val="#ppt_y"/>
                                          </p:val>
                                        </p:tav>
                                      </p:tavLst>
                                    </p:anim>
                                  </p:childTnLst>
                                </p:cTn>
                              </p:par>
                              <p:par>
                                <p:cTn id="103" presetID="42" presetClass="entr" presetSubtype="0" decel="100000" fill="hold" grpId="0" nodeType="withEffect">
                                  <p:stCondLst>
                                    <p:cond delay="1570"/>
                                  </p:stCondLst>
                                  <p:childTnLst>
                                    <p:set>
                                      <p:cBhvr>
                                        <p:cTn id="104" dur="1" fill="hold">
                                          <p:stCondLst>
                                            <p:cond delay="0"/>
                                          </p:stCondLst>
                                        </p:cTn>
                                        <p:tgtEl>
                                          <p:spTgt spid="29"/>
                                        </p:tgtEl>
                                        <p:attrNameLst>
                                          <p:attrName>style.visibility</p:attrName>
                                        </p:attrNameLst>
                                      </p:cBhvr>
                                      <p:to>
                                        <p:strVal val="visible"/>
                                      </p:to>
                                    </p:set>
                                    <p:animEffect transition="in" filter="fade">
                                      <p:cBhvr>
                                        <p:cTn id="105" dur="700"/>
                                        <p:tgtEl>
                                          <p:spTgt spid="29"/>
                                        </p:tgtEl>
                                      </p:cBhvr>
                                    </p:animEffect>
                                    <p:anim calcmode="lin" valueType="num">
                                      <p:cBhvr additive="base">
                                        <p:cTn id="106" dur="700" fill="hold"/>
                                        <p:tgtEl>
                                          <p:spTgt spid="29"/>
                                        </p:tgtEl>
                                        <p:attrNameLst>
                                          <p:attrName>ppt_y</p:attrName>
                                        </p:attrNameLst>
                                      </p:cBhvr>
                                      <p:tavLst>
                                        <p:tav tm="0">
                                          <p:val>
                                            <p:strVal val="#ppt_y+0.03"/>
                                          </p:val>
                                        </p:tav>
                                        <p:tav tm="100000">
                                          <p:val>
                                            <p:strVal val="#ppt_y"/>
                                          </p:val>
                                        </p:tav>
                                      </p:tavLst>
                                    </p:anim>
                                  </p:childTnLst>
                                </p:cTn>
                              </p:par>
                              <p:par>
                                <p:cTn id="107" presetID="42" presetClass="entr" presetSubtype="0" decel="100000" fill="hold" grpId="0" nodeType="withEffect">
                                  <p:stCondLst>
                                    <p:cond delay="1570"/>
                                  </p:stCondLst>
                                  <p:childTnLst>
                                    <p:set>
                                      <p:cBhvr>
                                        <p:cTn id="108" dur="1" fill="hold">
                                          <p:stCondLst>
                                            <p:cond delay="0"/>
                                          </p:stCondLst>
                                        </p:cTn>
                                        <p:tgtEl>
                                          <p:spTgt spid="30"/>
                                        </p:tgtEl>
                                        <p:attrNameLst>
                                          <p:attrName>style.visibility</p:attrName>
                                        </p:attrNameLst>
                                      </p:cBhvr>
                                      <p:to>
                                        <p:strVal val="visible"/>
                                      </p:to>
                                    </p:set>
                                    <p:animEffect transition="in" filter="fade">
                                      <p:cBhvr>
                                        <p:cTn id="109" dur="700"/>
                                        <p:tgtEl>
                                          <p:spTgt spid="30"/>
                                        </p:tgtEl>
                                      </p:cBhvr>
                                    </p:animEffect>
                                    <p:anim calcmode="lin" valueType="num">
                                      <p:cBhvr additive="base">
                                        <p:cTn id="110" dur="700" fill="hold"/>
                                        <p:tgtEl>
                                          <p:spTgt spid="30"/>
                                        </p:tgtEl>
                                        <p:attrNameLst>
                                          <p:attrName>ppt_y</p:attrName>
                                        </p:attrNameLst>
                                      </p:cBhvr>
                                      <p:tavLst>
                                        <p:tav tm="0">
                                          <p:val>
                                            <p:strVal val="#ppt_y+0.03"/>
                                          </p:val>
                                        </p:tav>
                                        <p:tav tm="100000">
                                          <p:val>
                                            <p:strVal val="#ppt_y"/>
                                          </p:val>
                                        </p:tav>
                                      </p:tavLst>
                                    </p:anim>
                                  </p:childTnLst>
                                </p:cTn>
                              </p:par>
                              <p:par>
                                <p:cTn id="111" presetID="42" presetClass="entr" presetSubtype="0" decel="100000" fill="hold" grpId="0" nodeType="withEffect">
                                  <p:stCondLst>
                                    <p:cond delay="1570"/>
                                  </p:stCondLst>
                                  <p:childTnLst>
                                    <p:set>
                                      <p:cBhvr>
                                        <p:cTn id="112" dur="1" fill="hold">
                                          <p:stCondLst>
                                            <p:cond delay="0"/>
                                          </p:stCondLst>
                                        </p:cTn>
                                        <p:tgtEl>
                                          <p:spTgt spid="31"/>
                                        </p:tgtEl>
                                        <p:attrNameLst>
                                          <p:attrName>style.visibility</p:attrName>
                                        </p:attrNameLst>
                                      </p:cBhvr>
                                      <p:to>
                                        <p:strVal val="visible"/>
                                      </p:to>
                                    </p:set>
                                    <p:animEffect transition="in" filter="fade">
                                      <p:cBhvr>
                                        <p:cTn id="113" dur="700"/>
                                        <p:tgtEl>
                                          <p:spTgt spid="31"/>
                                        </p:tgtEl>
                                      </p:cBhvr>
                                    </p:animEffect>
                                    <p:anim calcmode="lin" valueType="num">
                                      <p:cBhvr additive="base">
                                        <p:cTn id="114" dur="700" fill="hold"/>
                                        <p:tgtEl>
                                          <p:spTgt spid="31"/>
                                        </p:tgtEl>
                                        <p:attrNameLst>
                                          <p:attrName>ppt_y</p:attrName>
                                        </p:attrNameLst>
                                      </p:cBhvr>
                                      <p:tavLst>
                                        <p:tav tm="0">
                                          <p:val>
                                            <p:strVal val="#ppt_y+0.03"/>
                                          </p:val>
                                        </p:tav>
                                        <p:tav tm="100000">
                                          <p:val>
                                            <p:strVal val="#ppt_y"/>
                                          </p:val>
                                        </p:tav>
                                      </p:tavLst>
                                    </p:anim>
                                  </p:childTnLst>
                                </p:cTn>
                              </p:par>
                              <p:par>
                                <p:cTn id="115" presetID="42" presetClass="entr" presetSubtype="0" decel="100000" fill="hold" grpId="0" nodeType="withEffect">
                                  <p:stCondLst>
                                    <p:cond delay="1570"/>
                                  </p:stCondLst>
                                  <p:childTnLst>
                                    <p:set>
                                      <p:cBhvr>
                                        <p:cTn id="116" dur="1" fill="hold">
                                          <p:stCondLst>
                                            <p:cond delay="0"/>
                                          </p:stCondLst>
                                        </p:cTn>
                                        <p:tgtEl>
                                          <p:spTgt spid="32"/>
                                        </p:tgtEl>
                                        <p:attrNameLst>
                                          <p:attrName>style.visibility</p:attrName>
                                        </p:attrNameLst>
                                      </p:cBhvr>
                                      <p:to>
                                        <p:strVal val="visible"/>
                                      </p:to>
                                    </p:set>
                                    <p:animEffect transition="in" filter="fade">
                                      <p:cBhvr>
                                        <p:cTn id="117" dur="700"/>
                                        <p:tgtEl>
                                          <p:spTgt spid="32"/>
                                        </p:tgtEl>
                                      </p:cBhvr>
                                    </p:animEffect>
                                    <p:anim calcmode="lin" valueType="num">
                                      <p:cBhvr additive="base">
                                        <p:cTn id="118" dur="700" fill="hold"/>
                                        <p:tgtEl>
                                          <p:spTgt spid="32"/>
                                        </p:tgtEl>
                                        <p:attrNameLst>
                                          <p:attrName>ppt_y</p:attrName>
                                        </p:attrNameLst>
                                      </p:cBhvr>
                                      <p:tavLst>
                                        <p:tav tm="0">
                                          <p:val>
                                            <p:strVal val="#ppt_y+0.03"/>
                                          </p:val>
                                        </p:tav>
                                        <p:tav tm="100000">
                                          <p:val>
                                            <p:strVal val="#ppt_y"/>
                                          </p:val>
                                        </p:tav>
                                      </p:tavLst>
                                    </p:anim>
                                  </p:childTnLst>
                                </p:cTn>
                              </p:par>
                              <p:par>
                                <p:cTn id="119" presetID="53" presetClass="entr" presetSubtype="16" decel="100000" fill="hold" grpId="0" nodeType="withEffect">
                                  <p:stCondLst>
                                    <p:cond delay="1790"/>
                                  </p:stCondLst>
                                  <p:childTnLst>
                                    <p:set>
                                      <p:cBhvr>
                                        <p:cTn id="120" dur="1" fill="hold">
                                          <p:stCondLst>
                                            <p:cond delay="0"/>
                                          </p:stCondLst>
                                        </p:cTn>
                                        <p:tgtEl>
                                          <p:spTgt spid="34"/>
                                        </p:tgtEl>
                                        <p:attrNameLst>
                                          <p:attrName>style.visibility</p:attrName>
                                        </p:attrNameLst>
                                      </p:cBhvr>
                                      <p:to>
                                        <p:strVal val="visible"/>
                                      </p:to>
                                    </p:set>
                                    <p:animEffect transition="in" filter="fade">
                                      <p:cBhvr>
                                        <p:cTn id="121" dur="450"/>
                                        <p:tgtEl>
                                          <p:spTgt spid="34"/>
                                        </p:tgtEl>
                                      </p:cBhvr>
                                    </p:animEffect>
                                    <p:anim calcmode="lin" valueType="num">
                                      <p:cBhvr additive="base">
                                        <p:cTn id="122" dur="450" fill="hold"/>
                                        <p:tgtEl>
                                          <p:spTgt spid="34"/>
                                        </p:tgtEl>
                                        <p:attrNameLst>
                                          <p:attrName>ppt_w</p:attrName>
                                        </p:attrNameLst>
                                      </p:cBhvr>
                                      <p:tavLst>
                                        <p:tav tm="0">
                                          <p:val>
                                            <p:strVal val="#ppt_w*0.2"/>
                                          </p:val>
                                        </p:tav>
                                        <p:tav tm="100000">
                                          <p:val>
                                            <p:strVal val="#ppt_w"/>
                                          </p:val>
                                        </p:tav>
                                      </p:tavLst>
                                    </p:anim>
                                    <p:anim calcmode="lin" valueType="num">
                                      <p:cBhvr additive="base">
                                        <p:cTn id="123" dur="450" fill="hold"/>
                                        <p:tgtEl>
                                          <p:spTgt spid="34"/>
                                        </p:tgtEl>
                                        <p:attrNameLst>
                                          <p:attrName>ppt_h</p:attrName>
                                        </p:attrNameLst>
                                      </p:cBhvr>
                                      <p:tavLst>
                                        <p:tav tm="0">
                                          <p:val>
                                            <p:strVal val="#ppt_h*0.2"/>
                                          </p:val>
                                        </p:tav>
                                        <p:tav tm="100000">
                                          <p:val>
                                            <p:strVal val="#ppt_h"/>
                                          </p:val>
                                        </p:tav>
                                      </p:tavLst>
                                    </p:anim>
                                  </p:childTnLst>
                                </p:cTn>
                              </p:par>
                              <p:par>
                                <p:cTn id="124" presetID="53" presetClass="entr" presetSubtype="16" decel="100000" fill="hold" grpId="0" nodeType="withEffect">
                                  <p:stCondLst>
                                    <p:cond delay="1790"/>
                                  </p:stCondLst>
                                  <p:childTnLst>
                                    <p:set>
                                      <p:cBhvr>
                                        <p:cTn id="125" dur="1" fill="hold">
                                          <p:stCondLst>
                                            <p:cond delay="0"/>
                                          </p:stCondLst>
                                        </p:cTn>
                                        <p:tgtEl>
                                          <p:spTgt spid="35"/>
                                        </p:tgtEl>
                                        <p:attrNameLst>
                                          <p:attrName>style.visibility</p:attrName>
                                        </p:attrNameLst>
                                      </p:cBhvr>
                                      <p:to>
                                        <p:strVal val="visible"/>
                                      </p:to>
                                    </p:set>
                                    <p:animEffect transition="in" filter="fade">
                                      <p:cBhvr>
                                        <p:cTn id="126" dur="450"/>
                                        <p:tgtEl>
                                          <p:spTgt spid="35"/>
                                        </p:tgtEl>
                                      </p:cBhvr>
                                    </p:animEffect>
                                    <p:anim calcmode="lin" valueType="num">
                                      <p:cBhvr additive="base">
                                        <p:cTn id="127" dur="450" fill="hold"/>
                                        <p:tgtEl>
                                          <p:spTgt spid="35"/>
                                        </p:tgtEl>
                                        <p:attrNameLst>
                                          <p:attrName>ppt_w</p:attrName>
                                        </p:attrNameLst>
                                      </p:cBhvr>
                                      <p:tavLst>
                                        <p:tav tm="0">
                                          <p:val>
                                            <p:strVal val="#ppt_w*0.2"/>
                                          </p:val>
                                        </p:tav>
                                        <p:tav tm="100000">
                                          <p:val>
                                            <p:strVal val="#ppt_w"/>
                                          </p:val>
                                        </p:tav>
                                      </p:tavLst>
                                    </p:anim>
                                    <p:anim calcmode="lin" valueType="num">
                                      <p:cBhvr additive="base">
                                        <p:cTn id="128" dur="450" fill="hold"/>
                                        <p:tgtEl>
                                          <p:spTgt spid="35"/>
                                        </p:tgtEl>
                                        <p:attrNameLst>
                                          <p:attrName>ppt_h</p:attrName>
                                        </p:attrNameLst>
                                      </p:cBhvr>
                                      <p:tavLst>
                                        <p:tav tm="0">
                                          <p:val>
                                            <p:strVal val="#ppt_h*0.2"/>
                                          </p:val>
                                        </p:tav>
                                        <p:tav tm="100000">
                                          <p:val>
                                            <p:strVal val="#ppt_h"/>
                                          </p:val>
                                        </p:tav>
                                      </p:tavLst>
                                    </p:anim>
                                  </p:childTnLst>
                                </p:cTn>
                              </p:par>
                              <p:par>
                                <p:cTn id="129" presetID="6" presetClass="emph" presetSubtype="0" repeatCount="indefinite" fill="hold" grpId="0" nodeType="withEffect">
                                  <p:stCondLst>
                                    <p:cond delay="2010"/>
                                  </p:stCondLst>
                                  <p:childTnLst>
                                    <p:animScale>
                                      <p:cBhvr>
                                        <p:cTn id="130" dur="1600" fill="hold"/>
                                        <p:tgtEl>
                                          <p:spTgt spid="33"/>
                                        </p:tgtEl>
                                      </p:cBhvr>
                                      <p:by x="160000" y="160000"/>
                                    </p:animScale>
                                    <p:anim calcmode="lin" valueType="num">
                                      <p:cBhvr>
                                        <p:cTn id="131" dur="1600" fill="hold"/>
                                        <p:tgtEl>
                                          <p:spTgt spid="33"/>
                                        </p:tgtEl>
                                        <p:attrNameLst>
                                          <p:attrName>style.opacity</p:attrName>
                                        </p:attrNameLst>
                                      </p:cBhvr>
                                      <p:tavLst>
                                        <p:tav tm="0">
                                          <p:val>
                                            <p:fltVal val="1"/>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132" restart="whenNotActive" fill="hold" evtFilter="cancelBubble" nodeType="interactiveSeq">
                <p:stCondLst>
                  <p:cond evt="onClick" delay="0">
                    <p:tgtEl>
                      <p:spTgt spid="6"/>
                    </p:tgtEl>
                  </p:cond>
                </p:stCondLst>
                <p:endSync evt="end" delay="0">
                  <p:rtn val="all"/>
                </p:endSync>
                <p:childTnLst>
                  <p:par>
                    <p:cTn id="133" fill="hold">
                      <p:stCondLst>
                        <p:cond delay="0"/>
                      </p:stCondLst>
                      <p:childTnLst>
                        <p:par>
                          <p:cTn id="134" fill="hold">
                            <p:stCondLst>
                              <p:cond delay="0"/>
                            </p:stCondLst>
                            <p:childTnLst>
                              <p:par>
                                <p:cTn id="135" presetID="2" presetClass="mediacall" presetSubtype="0" fill="hold" nodeType="clickEffect">
                                  <p:stCondLst>
                                    <p:cond delay="0"/>
                                  </p:stCondLst>
                                  <p:childTnLst>
                                    <p:cmd type="call" cmd="togglePause">
                                      <p:cBhvr>
                                        <p:cTn id="136" dur="1" fill="hold"/>
                                        <p:tgtEl>
                                          <p:spTgt spid="6"/>
                                        </p:tgtEl>
                                      </p:cBhvr>
                                    </p:cmd>
                                  </p:childTnLst>
                                </p:cTn>
                              </p:par>
                            </p:childTnLst>
                          </p:cTn>
                        </p:par>
                      </p:childTnLst>
                    </p:cTn>
                  </p:par>
                </p:childTnLst>
              </p:cTn>
              <p:nextCondLst>
                <p:cond evt="onClick" delay="0">
                  <p:tgtEl>
                    <p:spTgt spid="6"/>
                  </p:tgtEl>
                </p:cond>
              </p:nextCondLst>
            </p:seq>
            <p:video>
              <p:cMediaNode vol="80000" mute="1">
                <p:cTn id="137" repeatCount="indefinite" fill="hold" display="0">
                  <p:stCondLst>
                    <p:cond delay="indefinite"/>
                  </p:stCondLst>
                </p:cTn>
                <p:tgtEl>
                  <p:spTgt spid="6"/>
                </p:tgtEl>
              </p:cMediaNode>
            </p:video>
          </p:childTnLst>
        </p:cTn>
      </p:par>
    </p:tnLst>
    <p:bldLst>
      <p:bldP spid="4" grpId="0" animBg="1"/>
      <p:bldP spid="5" grpId="0" animBg="1"/>
      <p:bldP spid="7" grpId="0" animBg="1"/>
      <p:bldP spid="8" grpId="0" animBg="1"/>
      <p:bldP spid="9" grpId="0" animBg="1"/>
      <p:bldP spid="10" grpId="0" animBg="1"/>
      <p:bldP spid="11" grpId="0" animBg="1"/>
      <p:bldP spid="13" grpId="0" animBg="1"/>
      <p:bldP spid="14" grpId="0"/>
      <p:bldP spid="15" grpId="0" animBg="1"/>
      <p:bldP spid="16" grpId="0" animBg="1"/>
      <p:bldP spid="17" grpId="0" animBg="1"/>
      <p:bldP spid="18" grpId="0"/>
      <p:bldP spid="19" grpId="0" animBg="1"/>
      <p:bldP spid="20" grpId="0" animBg="1"/>
      <p:bldP spid="21" grpId="0" animBg="1"/>
      <p:bldP spid="22" grpId="0"/>
      <p:bldP spid="23" grpId="0" animBg="1"/>
      <p:bldP spid="24" grpId="0" animBg="1"/>
      <p:bldP spid="25" grpId="0" animBg="1"/>
      <p:bldP spid="26" grpId="0"/>
      <p:bldP spid="27" grpId="0" animBg="1"/>
      <p:bldP spid="28" grpId="0" animBg="1"/>
      <p:bldP spid="29" grpId="0" animBg="1"/>
      <p:bldP spid="30" grpId="0"/>
      <p:bldP spid="31" grpId="0" animBg="1"/>
      <p:bldP spid="32" grpId="0" animBg="1"/>
      <p:bldP spid="33" grpId="0" animBg="1"/>
      <p:bldP spid="34" grpId="0" animBg="1"/>
      <p:bldP spid="3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3200400" y="-292608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7772400" y="3291840"/>
            <a:ext cx="5943600" cy="59436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BUSINESS USE CASE &amp; END USERS</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Who uses it, and for which decision</a:t>
            </a:r>
            <a:endParaRPr lang="en-US" sz="3400" dirty="0"/>
          </a:p>
        </p:txBody>
      </p:sp>
      <p:sp>
        <p:nvSpPr>
          <p:cNvPr id="7" name="a1float_p0"/>
          <p:cNvSpPr/>
          <p:nvPr/>
        </p:nvSpPr>
        <p:spPr>
          <a:xfrm>
            <a:off x="548640" y="1691640"/>
            <a:ext cx="3593592" cy="3246120"/>
          </a:xfrm>
          <a:prstGeom prst="roundRect">
            <a:avLst>
              <a:gd name="adj" fmla="val 394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8" name="a1float_p0ic_c"/>
          <p:cNvSpPr/>
          <p:nvPr/>
        </p:nvSpPr>
        <p:spPr>
          <a:xfrm>
            <a:off x="777240" y="1892808"/>
            <a:ext cx="566928" cy="566928"/>
          </a:xfrm>
          <a:prstGeom prst="ellipse">
            <a:avLst/>
          </a:prstGeom>
          <a:solidFill>
            <a:srgbClr val="3F6E9E">
              <a:alpha val="18000"/>
            </a:srgbClr>
          </a:solidFill>
          <a:ln w="12700">
            <a:solidFill>
              <a:srgbClr val="3F6E9E"/>
            </a:solidFill>
            <a:prstDash val="solid"/>
          </a:ln>
        </p:spPr>
      </p:sp>
      <p:pic>
        <p:nvPicPr>
          <p:cNvPr id="9" name="a1float_p0ic_i" descr="preencoded.png"/>
          <p:cNvPicPr>
            <a:picLocks noChangeAspect="1"/>
          </p:cNvPicPr>
          <p:nvPr/>
        </p:nvPicPr>
        <p:blipFill>
          <a:blip r:embed="rId5"/>
          <a:stretch>
            <a:fillRect/>
          </a:stretch>
        </p:blipFill>
        <p:spPr>
          <a:xfrm>
            <a:off x="913303" y="2028871"/>
            <a:ext cx="294803" cy="294803"/>
          </a:xfrm>
          <a:prstGeom prst="rect">
            <a:avLst/>
          </a:prstGeom>
        </p:spPr>
      </p:pic>
      <p:sp>
        <p:nvSpPr>
          <p:cNvPr id="10" name="a1float_p0n"/>
          <p:cNvSpPr txBox="1"/>
          <p:nvPr/>
        </p:nvSpPr>
        <p:spPr>
          <a:xfrm>
            <a:off x="1481328" y="1892808"/>
            <a:ext cx="256032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Environment agencies</a:t>
            </a:r>
            <a:endParaRPr lang="en-US" sz="1500" dirty="0"/>
          </a:p>
        </p:txBody>
      </p:sp>
      <p:sp>
        <p:nvSpPr>
          <p:cNvPr id="11" name="a1float_p0w"/>
          <p:cNvSpPr txBox="1"/>
          <p:nvPr/>
        </p:nvSpPr>
        <p:spPr>
          <a:xfrm>
            <a:off x="1481328" y="2212848"/>
            <a:ext cx="256032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EAD, MOCCAE, Saudi NCVC</a:t>
            </a:r>
            <a:endParaRPr lang="en-US" sz="1100" dirty="0"/>
          </a:p>
        </p:txBody>
      </p:sp>
      <p:sp>
        <p:nvSpPr>
          <p:cNvPr id="12" name="a1float_p0l1"/>
          <p:cNvSpPr txBox="1"/>
          <p:nvPr/>
        </p:nvSpPr>
        <p:spPr>
          <a:xfrm>
            <a:off x="777240" y="2697480"/>
            <a:ext cx="32004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THEIR DECISION</a:t>
            </a:r>
            <a:endParaRPr lang="en-US" sz="1100" dirty="0"/>
          </a:p>
        </p:txBody>
      </p:sp>
      <p:sp>
        <p:nvSpPr>
          <p:cNvPr id="13" name="a1float_p0d"/>
          <p:cNvSpPr txBox="1"/>
          <p:nvPr/>
        </p:nvSpPr>
        <p:spPr>
          <a:xfrm>
            <a:off x="777240" y="2953512"/>
            <a:ext cx="3154680" cy="56692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Which stands do we inspect this month?</a:t>
            </a:r>
            <a:endParaRPr lang="en-US" sz="1500" dirty="0"/>
          </a:p>
        </p:txBody>
      </p:sp>
      <p:sp>
        <p:nvSpPr>
          <p:cNvPr id="14" name="a1float_p0t"/>
          <p:cNvSpPr txBox="1"/>
          <p:nvPr/>
        </p:nvSpPr>
        <p:spPr>
          <a:xfrm>
            <a:off x="777240" y="3584448"/>
            <a:ext cx="3154680" cy="292608"/>
          </a:xfrm>
          <a:prstGeom prst="rect">
            <a:avLst/>
          </a:prstGeom>
          <a:noFill/>
          <a:ln/>
        </p:spPr>
        <p:txBody>
          <a:bodyPr wrap="square" lIns="0" tIns="0" rIns="0" bIns="0" rtlCol="0" anchor="t"/>
          <a:lstStyle/>
          <a:p>
            <a:pPr marL="0" indent="0" algn="l">
              <a:lnSpc>
                <a:spcPct val="105000"/>
              </a:lnSpc>
              <a:buNone/>
            </a:pPr>
            <a:r>
              <a:rPr lang="en-US" sz="1200" b="1" dirty="0">
                <a:solidFill>
                  <a:srgbClr val="5F738A"/>
                </a:solidFill>
                <a:latin typeface="Segoe UI" pitchFamily="34" charset="0"/>
                <a:ea typeface="Segoe UI" pitchFamily="34" charset="-122"/>
                <a:cs typeface="Segoe UI" pitchFamily="34" charset="-120"/>
              </a:rPr>
              <a:t>Today: </a:t>
            </a:r>
            <a:r>
              <a:rPr lang="en-US" sz="1200" dirty="0">
                <a:solidFill>
                  <a:srgbClr val="5F738A"/>
                </a:solidFill>
                <a:latin typeface="Segoe UI" pitchFamily="34" charset="0"/>
                <a:ea typeface="Segoe UI" pitchFamily="34" charset="-122"/>
                <a:cs typeface="Segoe UI" pitchFamily="34" charset="-120"/>
              </a:rPr>
              <a:t>periodic field surveys</a:t>
            </a:r>
            <a:endParaRPr lang="en-US" sz="1200" dirty="0"/>
          </a:p>
        </p:txBody>
      </p:sp>
      <p:sp>
        <p:nvSpPr>
          <p:cNvPr id="15" name="a1float_p0gb"/>
          <p:cNvSpPr/>
          <p:nvPr/>
        </p:nvSpPr>
        <p:spPr>
          <a:xfrm>
            <a:off x="713232" y="3977640"/>
            <a:ext cx="3264408" cy="804672"/>
          </a:xfrm>
          <a:prstGeom prst="roundRect">
            <a:avLst>
              <a:gd name="adj" fmla="val 11364"/>
            </a:avLst>
          </a:prstGeom>
          <a:solidFill>
            <a:srgbClr val="3F6E9E">
              <a:alpha val="14000"/>
            </a:srgbClr>
          </a:solidFill>
          <a:ln/>
        </p:spPr>
      </p:sp>
      <p:sp>
        <p:nvSpPr>
          <p:cNvPr id="16" name="a1float_p0g"/>
          <p:cNvSpPr txBox="1"/>
          <p:nvPr/>
        </p:nvSpPr>
        <p:spPr>
          <a:xfrm>
            <a:off x="850392" y="3977640"/>
            <a:ext cx="3017520" cy="804672"/>
          </a:xfrm>
          <a:prstGeom prst="rect">
            <a:avLst/>
          </a:prstGeom>
          <a:noFill/>
          <a:ln/>
        </p:spPr>
        <p:txBody>
          <a:bodyPr wrap="square" lIns="0" tIns="0" rIns="0" bIns="0" rtlCol="0" anchor="ctr"/>
          <a:lstStyle/>
          <a:p>
            <a:pPr marL="0" indent="0" algn="l">
              <a:lnSpc>
                <a:spcPct val="105000"/>
              </a:lnSpc>
              <a:buNone/>
            </a:pPr>
            <a:r>
              <a:rPr lang="en-US" sz="1300" dirty="0">
                <a:solidFill>
                  <a:srgbClr val="2F5D8F"/>
                </a:solidFill>
                <a:latin typeface="Segoe UI Semibold" pitchFamily="34" charset="0"/>
                <a:ea typeface="Segoe UI Semibold" pitchFamily="34" charset="-122"/>
                <a:cs typeface="Segoe UI Semibold" pitchFamily="34" charset="-120"/>
              </a:rPr>
              <a:t>monthly alert + 200 m cell map: inspect only flagged cells</a:t>
            </a:r>
            <a:endParaRPr lang="en-US" sz="1300" dirty="0"/>
          </a:p>
        </p:txBody>
      </p:sp>
      <p:sp>
        <p:nvSpPr>
          <p:cNvPr id="17" name="a2float_p1"/>
          <p:cNvSpPr/>
          <p:nvPr/>
        </p:nvSpPr>
        <p:spPr>
          <a:xfrm>
            <a:off x="4297680" y="1691640"/>
            <a:ext cx="3593592" cy="3246120"/>
          </a:xfrm>
          <a:prstGeom prst="roundRect">
            <a:avLst>
              <a:gd name="adj" fmla="val 394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8" name="a2float_p1ic_c"/>
          <p:cNvSpPr/>
          <p:nvPr/>
        </p:nvSpPr>
        <p:spPr>
          <a:xfrm>
            <a:off x="4526280" y="1892808"/>
            <a:ext cx="566928" cy="566928"/>
          </a:xfrm>
          <a:prstGeom prst="ellipse">
            <a:avLst/>
          </a:prstGeom>
          <a:solidFill>
            <a:srgbClr val="3F6E9E">
              <a:alpha val="18000"/>
            </a:srgbClr>
          </a:solidFill>
          <a:ln w="12700">
            <a:solidFill>
              <a:srgbClr val="3F6E9E"/>
            </a:solidFill>
            <a:prstDash val="solid"/>
          </a:ln>
        </p:spPr>
      </p:sp>
      <p:pic>
        <p:nvPicPr>
          <p:cNvPr id="19" name="a2float_p1ic_i" descr="preencoded.png"/>
          <p:cNvPicPr>
            <a:picLocks noChangeAspect="1"/>
          </p:cNvPicPr>
          <p:nvPr/>
        </p:nvPicPr>
        <p:blipFill>
          <a:blip r:embed="rId6"/>
          <a:stretch>
            <a:fillRect/>
          </a:stretch>
        </p:blipFill>
        <p:spPr>
          <a:xfrm>
            <a:off x="4662343" y="2028871"/>
            <a:ext cx="294803" cy="294803"/>
          </a:xfrm>
          <a:prstGeom prst="rect">
            <a:avLst/>
          </a:prstGeom>
        </p:spPr>
      </p:pic>
      <p:sp>
        <p:nvSpPr>
          <p:cNvPr id="20" name="a2float_p1n"/>
          <p:cNvSpPr txBox="1"/>
          <p:nvPr/>
        </p:nvSpPr>
        <p:spPr>
          <a:xfrm>
            <a:off x="5230368" y="1892808"/>
            <a:ext cx="256032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Planting &amp; carbon developers</a:t>
            </a:r>
            <a:endParaRPr lang="en-US" sz="1500" dirty="0"/>
          </a:p>
        </p:txBody>
      </p:sp>
      <p:sp>
        <p:nvSpPr>
          <p:cNvPr id="21" name="a2float_p1w"/>
          <p:cNvSpPr txBox="1"/>
          <p:nvPr/>
        </p:nvSpPr>
        <p:spPr>
          <a:xfrm>
            <a:off x="5230368" y="2212848"/>
            <a:ext cx="256032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ADNOC, Red Sea Global, carbon projects</a:t>
            </a:r>
            <a:endParaRPr lang="en-US" sz="1100" dirty="0"/>
          </a:p>
        </p:txBody>
      </p:sp>
      <p:sp>
        <p:nvSpPr>
          <p:cNvPr id="22" name="a2float_p1l1"/>
          <p:cNvSpPr txBox="1"/>
          <p:nvPr/>
        </p:nvSpPr>
        <p:spPr>
          <a:xfrm>
            <a:off x="4526280" y="2697480"/>
            <a:ext cx="32004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THEIR DECISION</a:t>
            </a:r>
            <a:endParaRPr lang="en-US" sz="1100" dirty="0"/>
          </a:p>
        </p:txBody>
      </p:sp>
      <p:sp>
        <p:nvSpPr>
          <p:cNvPr id="23" name="a2float_p1d"/>
          <p:cNvSpPr txBox="1"/>
          <p:nvPr/>
        </p:nvSpPr>
        <p:spPr>
          <a:xfrm>
            <a:off x="4526280" y="2953512"/>
            <a:ext cx="3154680" cy="56692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Is the carbon we report still there?</a:t>
            </a:r>
            <a:endParaRPr lang="en-US" sz="1500" dirty="0"/>
          </a:p>
        </p:txBody>
      </p:sp>
      <p:sp>
        <p:nvSpPr>
          <p:cNvPr id="24" name="a2float_p1t"/>
          <p:cNvSpPr txBox="1"/>
          <p:nvPr/>
        </p:nvSpPr>
        <p:spPr>
          <a:xfrm>
            <a:off x="4526280" y="3584448"/>
            <a:ext cx="3154680" cy="292608"/>
          </a:xfrm>
          <a:prstGeom prst="rect">
            <a:avLst/>
          </a:prstGeom>
          <a:noFill/>
          <a:ln/>
        </p:spPr>
        <p:txBody>
          <a:bodyPr wrap="square" lIns="0" tIns="0" rIns="0" bIns="0" rtlCol="0" anchor="t"/>
          <a:lstStyle/>
          <a:p>
            <a:pPr marL="0" indent="0" algn="l">
              <a:lnSpc>
                <a:spcPct val="105000"/>
              </a:lnSpc>
              <a:buNone/>
            </a:pPr>
            <a:r>
              <a:rPr lang="en-US" sz="1200" b="1" dirty="0">
                <a:solidFill>
                  <a:srgbClr val="5F738A"/>
                </a:solidFill>
                <a:latin typeface="Segoe UI" pitchFamily="34" charset="0"/>
                <a:ea typeface="Segoe UI" pitchFamily="34" charset="-122"/>
                <a:cs typeface="Segoe UI" pitchFamily="34" charset="-120"/>
              </a:rPr>
              <a:t>Today: </a:t>
            </a:r>
            <a:r>
              <a:rPr lang="en-US" sz="1200" dirty="0">
                <a:solidFill>
                  <a:srgbClr val="5F738A"/>
                </a:solidFill>
                <a:latin typeface="Segoe UI" pitchFamily="34" charset="0"/>
                <a:ea typeface="Segoe UI" pitchFamily="34" charset="-122"/>
                <a:cs typeface="Segoe UI" pitchFamily="34" charset="-120"/>
              </a:rPr>
              <a:t>plots and drone campaigns</a:t>
            </a:r>
            <a:endParaRPr lang="en-US" sz="1200" dirty="0"/>
          </a:p>
        </p:txBody>
      </p:sp>
      <p:sp>
        <p:nvSpPr>
          <p:cNvPr id="25" name="a2float_p1gb"/>
          <p:cNvSpPr/>
          <p:nvPr/>
        </p:nvSpPr>
        <p:spPr>
          <a:xfrm>
            <a:off x="4462272" y="3977640"/>
            <a:ext cx="3264408" cy="804672"/>
          </a:xfrm>
          <a:prstGeom prst="roundRect">
            <a:avLst>
              <a:gd name="adj" fmla="val 11364"/>
            </a:avLst>
          </a:prstGeom>
          <a:solidFill>
            <a:srgbClr val="3F6E9E">
              <a:alpha val="14000"/>
            </a:srgbClr>
          </a:solidFill>
          <a:ln/>
        </p:spPr>
      </p:sp>
      <p:sp>
        <p:nvSpPr>
          <p:cNvPr id="26" name="a2float_p1g"/>
          <p:cNvSpPr txBox="1"/>
          <p:nvPr/>
        </p:nvSpPr>
        <p:spPr>
          <a:xfrm>
            <a:off x="4599432" y="3977640"/>
            <a:ext cx="3017520" cy="804672"/>
          </a:xfrm>
          <a:prstGeom prst="rect">
            <a:avLst/>
          </a:prstGeom>
          <a:noFill/>
          <a:ln/>
        </p:spPr>
        <p:txBody>
          <a:bodyPr wrap="square" lIns="0" tIns="0" rIns="0" bIns="0" rtlCol="0" anchor="ctr"/>
          <a:lstStyle/>
          <a:p>
            <a:pPr marL="0" indent="0" algn="l">
              <a:lnSpc>
                <a:spcPct val="105000"/>
              </a:lnSpc>
              <a:buNone/>
            </a:pPr>
            <a:r>
              <a:rPr lang="en-US" sz="1300" dirty="0">
                <a:solidFill>
                  <a:srgbClr val="2F5D8F"/>
                </a:solidFill>
                <a:latin typeface="Segoe UI Semibold" pitchFamily="34" charset="0"/>
                <a:ea typeface="Segoe UI Semibold" pitchFamily="34" charset="-122"/>
                <a:cs typeface="Segoe UI Semibold" pitchFamily="34" charset="-120"/>
              </a:rPr>
              <a:t>condition + carbon stock with a range, a site report</a:t>
            </a:r>
            <a:endParaRPr lang="en-US" sz="1300" dirty="0"/>
          </a:p>
        </p:txBody>
      </p:sp>
      <p:sp>
        <p:nvSpPr>
          <p:cNvPr id="27" name="a3float_p2"/>
          <p:cNvSpPr/>
          <p:nvPr/>
        </p:nvSpPr>
        <p:spPr>
          <a:xfrm>
            <a:off x="8046720" y="1691640"/>
            <a:ext cx="3593592" cy="3246120"/>
          </a:xfrm>
          <a:prstGeom prst="roundRect">
            <a:avLst>
              <a:gd name="adj" fmla="val 394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28" name="a3float_p2ic_c"/>
          <p:cNvSpPr/>
          <p:nvPr/>
        </p:nvSpPr>
        <p:spPr>
          <a:xfrm>
            <a:off x="8275320" y="1892808"/>
            <a:ext cx="566928" cy="566928"/>
          </a:xfrm>
          <a:prstGeom prst="ellipse">
            <a:avLst/>
          </a:prstGeom>
          <a:solidFill>
            <a:srgbClr val="3F6E9E">
              <a:alpha val="18000"/>
            </a:srgbClr>
          </a:solidFill>
          <a:ln w="12700">
            <a:solidFill>
              <a:srgbClr val="3F6E9E"/>
            </a:solidFill>
            <a:prstDash val="solid"/>
          </a:ln>
        </p:spPr>
      </p:sp>
      <p:pic>
        <p:nvPicPr>
          <p:cNvPr id="29" name="a3float_p2ic_i" descr="preencoded.png"/>
          <p:cNvPicPr>
            <a:picLocks noChangeAspect="1"/>
          </p:cNvPicPr>
          <p:nvPr/>
        </p:nvPicPr>
        <p:blipFill>
          <a:blip r:embed="rId7"/>
          <a:stretch>
            <a:fillRect/>
          </a:stretch>
        </p:blipFill>
        <p:spPr>
          <a:xfrm>
            <a:off x="8411383" y="2028871"/>
            <a:ext cx="294803" cy="294803"/>
          </a:xfrm>
          <a:prstGeom prst="rect">
            <a:avLst/>
          </a:prstGeom>
        </p:spPr>
      </p:pic>
      <p:sp>
        <p:nvSpPr>
          <p:cNvPr id="30" name="a3float_p2n"/>
          <p:cNvSpPr txBox="1"/>
          <p:nvPr/>
        </p:nvSpPr>
        <p:spPr>
          <a:xfrm>
            <a:off x="8979408" y="1892808"/>
            <a:ext cx="256032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Developers &amp; regulators</a:t>
            </a:r>
            <a:endParaRPr lang="en-US" sz="1500" dirty="0"/>
          </a:p>
        </p:txBody>
      </p:sp>
      <p:sp>
        <p:nvSpPr>
          <p:cNvPr id="31" name="a3float_p2w"/>
          <p:cNvSpPr txBox="1"/>
          <p:nvPr/>
        </p:nvSpPr>
        <p:spPr>
          <a:xfrm>
            <a:off x="8979408" y="2212848"/>
            <a:ext cx="256032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EIA consultants, permit offices</a:t>
            </a:r>
            <a:endParaRPr lang="en-US" sz="1100" dirty="0"/>
          </a:p>
        </p:txBody>
      </p:sp>
      <p:sp>
        <p:nvSpPr>
          <p:cNvPr id="32" name="a3float_p2l1"/>
          <p:cNvSpPr txBox="1"/>
          <p:nvPr/>
        </p:nvSpPr>
        <p:spPr>
          <a:xfrm>
            <a:off x="8275320" y="2697480"/>
            <a:ext cx="32004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THEIR DECISION</a:t>
            </a:r>
            <a:endParaRPr lang="en-US" sz="1100" dirty="0"/>
          </a:p>
        </p:txBody>
      </p:sp>
      <p:sp>
        <p:nvSpPr>
          <p:cNvPr id="33" name="a3float_p2d"/>
          <p:cNvSpPr txBox="1"/>
          <p:nvPr/>
        </p:nvSpPr>
        <p:spPr>
          <a:xfrm>
            <a:off x="8275320" y="2953512"/>
            <a:ext cx="3154680" cy="56692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Did works stay outside the mangrove line?</a:t>
            </a:r>
            <a:endParaRPr lang="en-US" sz="1500" dirty="0"/>
          </a:p>
        </p:txBody>
      </p:sp>
      <p:sp>
        <p:nvSpPr>
          <p:cNvPr id="34" name="a3float_p2t"/>
          <p:cNvSpPr txBox="1"/>
          <p:nvPr/>
        </p:nvSpPr>
        <p:spPr>
          <a:xfrm>
            <a:off x="8275320" y="3584448"/>
            <a:ext cx="3154680" cy="292608"/>
          </a:xfrm>
          <a:prstGeom prst="rect">
            <a:avLst/>
          </a:prstGeom>
          <a:noFill/>
          <a:ln/>
        </p:spPr>
        <p:txBody>
          <a:bodyPr wrap="square" lIns="0" tIns="0" rIns="0" bIns="0" rtlCol="0" anchor="t"/>
          <a:lstStyle/>
          <a:p>
            <a:pPr marL="0" indent="0" algn="l">
              <a:lnSpc>
                <a:spcPct val="105000"/>
              </a:lnSpc>
              <a:buNone/>
            </a:pPr>
            <a:r>
              <a:rPr lang="en-US" sz="1200" b="1" dirty="0">
                <a:solidFill>
                  <a:srgbClr val="5F738A"/>
                </a:solidFill>
                <a:latin typeface="Segoe UI" pitchFamily="34" charset="0"/>
                <a:ea typeface="Segoe UI" pitchFamily="34" charset="-122"/>
                <a:cs typeface="Segoe UI" pitchFamily="34" charset="-120"/>
              </a:rPr>
              <a:t>Today: </a:t>
            </a:r>
            <a:r>
              <a:rPr lang="en-US" sz="1200" dirty="0">
                <a:solidFill>
                  <a:srgbClr val="5F738A"/>
                </a:solidFill>
                <a:latin typeface="Segoe UI" pitchFamily="34" charset="0"/>
                <a:ea typeface="Segoe UI" pitchFamily="34" charset="-122"/>
                <a:cs typeface="Segoe UI" pitchFamily="34" charset="-120"/>
              </a:rPr>
              <a:t>comparing two images by eye</a:t>
            </a:r>
            <a:endParaRPr lang="en-US" sz="1200" dirty="0"/>
          </a:p>
        </p:txBody>
      </p:sp>
      <p:sp>
        <p:nvSpPr>
          <p:cNvPr id="35" name="a3float_p2gb"/>
          <p:cNvSpPr/>
          <p:nvPr/>
        </p:nvSpPr>
        <p:spPr>
          <a:xfrm>
            <a:off x="8211312" y="3977640"/>
            <a:ext cx="3264408" cy="804672"/>
          </a:xfrm>
          <a:prstGeom prst="roundRect">
            <a:avLst>
              <a:gd name="adj" fmla="val 11364"/>
            </a:avLst>
          </a:prstGeom>
          <a:solidFill>
            <a:srgbClr val="3F6E9E">
              <a:alpha val="14000"/>
            </a:srgbClr>
          </a:solidFill>
          <a:ln/>
        </p:spPr>
      </p:sp>
      <p:sp>
        <p:nvSpPr>
          <p:cNvPr id="36" name="a3float_p2g"/>
          <p:cNvSpPr txBox="1"/>
          <p:nvPr/>
        </p:nvSpPr>
        <p:spPr>
          <a:xfrm>
            <a:off x="8348472" y="3977640"/>
            <a:ext cx="3017520" cy="804672"/>
          </a:xfrm>
          <a:prstGeom prst="rect">
            <a:avLst/>
          </a:prstGeom>
          <a:noFill/>
          <a:ln/>
        </p:spPr>
        <p:txBody>
          <a:bodyPr wrap="square" lIns="0" tIns="0" rIns="0" bIns="0" rtlCol="0" anchor="ctr"/>
          <a:lstStyle/>
          <a:p>
            <a:pPr marL="0" indent="0" algn="l">
              <a:lnSpc>
                <a:spcPct val="105000"/>
              </a:lnSpc>
              <a:buNone/>
            </a:pPr>
            <a:r>
              <a:rPr lang="en-US" sz="1300" dirty="0">
                <a:solidFill>
                  <a:srgbClr val="2F5D8F"/>
                </a:solidFill>
                <a:latin typeface="Segoe UI Semibold" pitchFamily="34" charset="0"/>
                <a:ea typeface="Segoe UI Semibold" pitchFamily="34" charset="-122"/>
                <a:cs typeface="Segoe UI Semibold" pitchFamily="34" charset="-120"/>
              </a:rPr>
              <a:t>an alert when works enter mangrove cells, dated evidence</a:t>
            </a:r>
            <a:endParaRPr lang="en-US" sz="1300" dirty="0"/>
          </a:p>
        </p:txBody>
      </p:sp>
      <p:sp>
        <p:nvSpPr>
          <p:cNvPr id="37" name="a4fade_flow"/>
          <p:cNvSpPr/>
          <p:nvPr/>
        </p:nvSpPr>
        <p:spPr>
          <a:xfrm>
            <a:off x="548640" y="5120640"/>
            <a:ext cx="11091672" cy="1051560"/>
          </a:xfrm>
          <a:prstGeom prst="roundRect">
            <a:avLst>
              <a:gd name="adj" fmla="val 12174"/>
            </a:avLst>
          </a:prstGeom>
          <a:solidFill>
            <a:srgbClr val="E8F0F9">
              <a:alpha val="90000"/>
            </a:srgbClr>
          </a:solidFill>
          <a:ln w="9525">
            <a:solidFill>
              <a:srgbClr val="D3E0EE"/>
            </a:solidFill>
            <a:prstDash val="solid"/>
          </a:ln>
          <a:effectLst>
            <a:outerShdw blurRad="152400" dist="38100" dir="5400000" algn="bl" rotWithShape="0">
              <a:srgbClr val="1B2B40">
                <a:alpha val="12000"/>
              </a:srgbClr>
            </a:outerShdw>
          </a:effectLst>
        </p:spPr>
      </p:sp>
      <p:sp>
        <p:nvSpPr>
          <p:cNvPr id="38" name="a5pop_f0_c"/>
          <p:cNvSpPr/>
          <p:nvPr/>
        </p:nvSpPr>
        <p:spPr>
          <a:xfrm>
            <a:off x="868680" y="5349240"/>
            <a:ext cx="566928" cy="566928"/>
          </a:xfrm>
          <a:prstGeom prst="ellipse">
            <a:avLst/>
          </a:prstGeom>
          <a:solidFill>
            <a:srgbClr val="3F6E9E">
              <a:alpha val="18000"/>
            </a:srgbClr>
          </a:solidFill>
          <a:ln w="12700">
            <a:solidFill>
              <a:srgbClr val="3F6E9E"/>
            </a:solidFill>
            <a:prstDash val="solid"/>
          </a:ln>
        </p:spPr>
      </p:sp>
      <p:pic>
        <p:nvPicPr>
          <p:cNvPr id="39" name="a5pop_f0_i" descr="preencoded.png"/>
          <p:cNvPicPr>
            <a:picLocks noChangeAspect="1"/>
          </p:cNvPicPr>
          <p:nvPr/>
        </p:nvPicPr>
        <p:blipFill>
          <a:blip r:embed="rId8"/>
          <a:stretch>
            <a:fillRect/>
          </a:stretch>
        </p:blipFill>
        <p:spPr>
          <a:xfrm>
            <a:off x="1004743" y="5485303"/>
            <a:ext cx="294803" cy="294803"/>
          </a:xfrm>
          <a:prstGeom prst="rect">
            <a:avLst/>
          </a:prstGeom>
        </p:spPr>
      </p:pic>
      <p:sp>
        <p:nvSpPr>
          <p:cNvPr id="40" name="a5pop_f0t"/>
          <p:cNvSpPr txBox="1"/>
          <p:nvPr/>
        </p:nvSpPr>
        <p:spPr>
          <a:xfrm>
            <a:off x="1554480" y="5349240"/>
            <a:ext cx="1325880" cy="292608"/>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New scene</a:t>
            </a:r>
            <a:endParaRPr lang="en-US" sz="1400" dirty="0"/>
          </a:p>
        </p:txBody>
      </p:sp>
      <p:sp>
        <p:nvSpPr>
          <p:cNvPr id="41" name="a5pop_f0d"/>
          <p:cNvSpPr txBox="1"/>
          <p:nvPr/>
        </p:nvSpPr>
        <p:spPr>
          <a:xfrm>
            <a:off x="1554480" y="5641848"/>
            <a:ext cx="137160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every ~5 days</a:t>
            </a:r>
            <a:endParaRPr lang="en-US" sz="1100" dirty="0"/>
          </a:p>
        </p:txBody>
      </p:sp>
      <p:sp>
        <p:nvSpPr>
          <p:cNvPr id="42" name="a5fade_ar0"/>
          <p:cNvSpPr/>
          <p:nvPr/>
        </p:nvSpPr>
        <p:spPr>
          <a:xfrm>
            <a:off x="2807208" y="5632704"/>
            <a:ext cx="182880" cy="0"/>
          </a:xfrm>
          <a:prstGeom prst="line">
            <a:avLst/>
          </a:prstGeom>
          <a:noFill/>
          <a:ln w="19050">
            <a:solidFill>
              <a:srgbClr val="3F6E9E"/>
            </a:solidFill>
            <a:prstDash val="solid"/>
            <a:tailEnd type="triangle"/>
          </a:ln>
        </p:spPr>
      </p:sp>
      <p:sp>
        <p:nvSpPr>
          <p:cNvPr id="43" name="a6pop_f1_c"/>
          <p:cNvSpPr/>
          <p:nvPr/>
        </p:nvSpPr>
        <p:spPr>
          <a:xfrm>
            <a:off x="3081528" y="5349240"/>
            <a:ext cx="566928" cy="566928"/>
          </a:xfrm>
          <a:prstGeom prst="ellipse">
            <a:avLst/>
          </a:prstGeom>
          <a:solidFill>
            <a:srgbClr val="3F6E9E">
              <a:alpha val="18000"/>
            </a:srgbClr>
          </a:solidFill>
          <a:ln w="12700">
            <a:solidFill>
              <a:srgbClr val="3F6E9E"/>
            </a:solidFill>
            <a:prstDash val="solid"/>
          </a:ln>
        </p:spPr>
      </p:sp>
      <p:pic>
        <p:nvPicPr>
          <p:cNvPr id="44" name="a6pop_f1_i" descr="preencoded.png"/>
          <p:cNvPicPr>
            <a:picLocks noChangeAspect="1"/>
          </p:cNvPicPr>
          <p:nvPr/>
        </p:nvPicPr>
        <p:blipFill>
          <a:blip r:embed="rId9"/>
          <a:stretch>
            <a:fillRect/>
          </a:stretch>
        </p:blipFill>
        <p:spPr>
          <a:xfrm>
            <a:off x="3217591" y="5485303"/>
            <a:ext cx="294803" cy="294803"/>
          </a:xfrm>
          <a:prstGeom prst="rect">
            <a:avLst/>
          </a:prstGeom>
        </p:spPr>
      </p:pic>
      <p:sp>
        <p:nvSpPr>
          <p:cNvPr id="45" name="a6pop_f1t"/>
          <p:cNvSpPr txBox="1"/>
          <p:nvPr/>
        </p:nvSpPr>
        <p:spPr>
          <a:xfrm>
            <a:off x="3767328" y="5349240"/>
            <a:ext cx="1325880" cy="292608"/>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Alert</a:t>
            </a:r>
            <a:endParaRPr lang="en-US" sz="1400" dirty="0"/>
          </a:p>
        </p:txBody>
      </p:sp>
      <p:sp>
        <p:nvSpPr>
          <p:cNvPr id="46" name="a6pop_f1d"/>
          <p:cNvSpPr txBox="1"/>
          <p:nvPr/>
        </p:nvSpPr>
        <p:spPr>
          <a:xfrm>
            <a:off x="3767328" y="5641848"/>
            <a:ext cx="137160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~1 false alarm / stand-yr</a:t>
            </a:r>
            <a:endParaRPr lang="en-US" sz="1100" dirty="0"/>
          </a:p>
        </p:txBody>
      </p:sp>
      <p:sp>
        <p:nvSpPr>
          <p:cNvPr id="47" name="a6fade_ar1"/>
          <p:cNvSpPr/>
          <p:nvPr/>
        </p:nvSpPr>
        <p:spPr>
          <a:xfrm>
            <a:off x="5020056" y="5632704"/>
            <a:ext cx="182880" cy="0"/>
          </a:xfrm>
          <a:prstGeom prst="line">
            <a:avLst/>
          </a:prstGeom>
          <a:noFill/>
          <a:ln w="19050">
            <a:solidFill>
              <a:srgbClr val="3F6E9E"/>
            </a:solidFill>
            <a:prstDash val="solid"/>
            <a:tailEnd type="triangle"/>
          </a:ln>
        </p:spPr>
      </p:sp>
      <p:sp>
        <p:nvSpPr>
          <p:cNvPr id="48" name="a7pop_f2_c"/>
          <p:cNvSpPr/>
          <p:nvPr/>
        </p:nvSpPr>
        <p:spPr>
          <a:xfrm>
            <a:off x="5294376" y="5349240"/>
            <a:ext cx="566928" cy="566928"/>
          </a:xfrm>
          <a:prstGeom prst="ellipse">
            <a:avLst/>
          </a:prstGeom>
          <a:solidFill>
            <a:srgbClr val="3F6E9E">
              <a:alpha val="18000"/>
            </a:srgbClr>
          </a:solidFill>
          <a:ln w="12700">
            <a:solidFill>
              <a:srgbClr val="3F6E9E"/>
            </a:solidFill>
            <a:prstDash val="solid"/>
          </a:ln>
        </p:spPr>
      </p:sp>
      <p:pic>
        <p:nvPicPr>
          <p:cNvPr id="49" name="a7pop_f2_i" descr="preencoded.png"/>
          <p:cNvPicPr>
            <a:picLocks noChangeAspect="1"/>
          </p:cNvPicPr>
          <p:nvPr/>
        </p:nvPicPr>
        <p:blipFill>
          <a:blip r:embed="rId10"/>
          <a:stretch>
            <a:fillRect/>
          </a:stretch>
        </p:blipFill>
        <p:spPr>
          <a:xfrm>
            <a:off x="5430439" y="5485303"/>
            <a:ext cx="294803" cy="294803"/>
          </a:xfrm>
          <a:prstGeom prst="rect">
            <a:avLst/>
          </a:prstGeom>
        </p:spPr>
      </p:pic>
      <p:sp>
        <p:nvSpPr>
          <p:cNvPr id="50" name="a7pop_f2t"/>
          <p:cNvSpPr txBox="1"/>
          <p:nvPr/>
        </p:nvSpPr>
        <p:spPr>
          <a:xfrm>
            <a:off x="5980176" y="5349240"/>
            <a:ext cx="1325880" cy="292608"/>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Cell map</a:t>
            </a:r>
            <a:endParaRPr lang="en-US" sz="1400" dirty="0"/>
          </a:p>
        </p:txBody>
      </p:sp>
      <p:sp>
        <p:nvSpPr>
          <p:cNvPr id="51" name="a7pop_f2d"/>
          <p:cNvSpPr txBox="1"/>
          <p:nvPr/>
        </p:nvSpPr>
        <p:spPr>
          <a:xfrm>
            <a:off x="5980176" y="5641848"/>
            <a:ext cx="137160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where to look</a:t>
            </a:r>
            <a:endParaRPr lang="en-US" sz="1100" dirty="0"/>
          </a:p>
        </p:txBody>
      </p:sp>
      <p:sp>
        <p:nvSpPr>
          <p:cNvPr id="52" name="a7fade_ar2"/>
          <p:cNvSpPr/>
          <p:nvPr/>
        </p:nvSpPr>
        <p:spPr>
          <a:xfrm>
            <a:off x="7232904" y="5632704"/>
            <a:ext cx="182880" cy="0"/>
          </a:xfrm>
          <a:prstGeom prst="line">
            <a:avLst/>
          </a:prstGeom>
          <a:noFill/>
          <a:ln w="19050">
            <a:solidFill>
              <a:srgbClr val="3F6E9E"/>
            </a:solidFill>
            <a:prstDash val="solid"/>
            <a:tailEnd type="triangle"/>
          </a:ln>
        </p:spPr>
      </p:sp>
      <p:sp>
        <p:nvSpPr>
          <p:cNvPr id="53" name="a8pop_f3_c"/>
          <p:cNvSpPr/>
          <p:nvPr/>
        </p:nvSpPr>
        <p:spPr>
          <a:xfrm>
            <a:off x="7507224" y="5349240"/>
            <a:ext cx="566928" cy="566928"/>
          </a:xfrm>
          <a:prstGeom prst="ellipse">
            <a:avLst/>
          </a:prstGeom>
          <a:solidFill>
            <a:srgbClr val="3F6E9E">
              <a:alpha val="18000"/>
            </a:srgbClr>
          </a:solidFill>
          <a:ln w="12700">
            <a:solidFill>
              <a:srgbClr val="3F6E9E"/>
            </a:solidFill>
            <a:prstDash val="solid"/>
          </a:ln>
        </p:spPr>
      </p:sp>
      <p:pic>
        <p:nvPicPr>
          <p:cNvPr id="54" name="a8pop_f3_i" descr="preencoded.png"/>
          <p:cNvPicPr>
            <a:picLocks noChangeAspect="1"/>
          </p:cNvPicPr>
          <p:nvPr/>
        </p:nvPicPr>
        <p:blipFill>
          <a:blip r:embed="rId11"/>
          <a:stretch>
            <a:fillRect/>
          </a:stretch>
        </p:blipFill>
        <p:spPr>
          <a:xfrm>
            <a:off x="7643287" y="5485303"/>
            <a:ext cx="294803" cy="294803"/>
          </a:xfrm>
          <a:prstGeom prst="rect">
            <a:avLst/>
          </a:prstGeom>
        </p:spPr>
      </p:pic>
      <p:sp>
        <p:nvSpPr>
          <p:cNvPr id="55" name="a8pop_f3t"/>
          <p:cNvSpPr txBox="1"/>
          <p:nvPr/>
        </p:nvSpPr>
        <p:spPr>
          <a:xfrm>
            <a:off x="8193024" y="5349240"/>
            <a:ext cx="1325880" cy="292608"/>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Inspection</a:t>
            </a:r>
            <a:endParaRPr lang="en-US" sz="1400" dirty="0"/>
          </a:p>
        </p:txBody>
      </p:sp>
      <p:sp>
        <p:nvSpPr>
          <p:cNvPr id="56" name="a8pop_f3d"/>
          <p:cNvSpPr txBox="1"/>
          <p:nvPr/>
        </p:nvSpPr>
        <p:spPr>
          <a:xfrm>
            <a:off x="8193024" y="5641848"/>
            <a:ext cx="137160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only flagged cells</a:t>
            </a:r>
            <a:endParaRPr lang="en-US" sz="1100" dirty="0"/>
          </a:p>
        </p:txBody>
      </p:sp>
      <p:sp>
        <p:nvSpPr>
          <p:cNvPr id="57" name="a8fade_ar3"/>
          <p:cNvSpPr/>
          <p:nvPr/>
        </p:nvSpPr>
        <p:spPr>
          <a:xfrm>
            <a:off x="9445752" y="5632704"/>
            <a:ext cx="182880" cy="0"/>
          </a:xfrm>
          <a:prstGeom prst="line">
            <a:avLst/>
          </a:prstGeom>
          <a:noFill/>
          <a:ln w="19050">
            <a:solidFill>
              <a:srgbClr val="3F6E9E"/>
            </a:solidFill>
            <a:prstDash val="solid"/>
            <a:tailEnd type="triangle"/>
          </a:ln>
        </p:spPr>
      </p:sp>
      <p:sp>
        <p:nvSpPr>
          <p:cNvPr id="58" name="a9pop_f4_c"/>
          <p:cNvSpPr/>
          <p:nvPr/>
        </p:nvSpPr>
        <p:spPr>
          <a:xfrm>
            <a:off x="9720072" y="5349240"/>
            <a:ext cx="566928" cy="566928"/>
          </a:xfrm>
          <a:prstGeom prst="ellipse">
            <a:avLst/>
          </a:prstGeom>
          <a:solidFill>
            <a:srgbClr val="3F6E9E">
              <a:alpha val="18000"/>
            </a:srgbClr>
          </a:solidFill>
          <a:ln w="12700">
            <a:solidFill>
              <a:srgbClr val="3F6E9E"/>
            </a:solidFill>
            <a:prstDash val="solid"/>
          </a:ln>
        </p:spPr>
      </p:sp>
      <p:pic>
        <p:nvPicPr>
          <p:cNvPr id="59" name="a9pop_f4_i" descr="preencoded.png"/>
          <p:cNvPicPr>
            <a:picLocks noChangeAspect="1"/>
          </p:cNvPicPr>
          <p:nvPr/>
        </p:nvPicPr>
        <p:blipFill>
          <a:blip r:embed="rId12"/>
          <a:stretch>
            <a:fillRect/>
          </a:stretch>
        </p:blipFill>
        <p:spPr>
          <a:xfrm>
            <a:off x="9856135" y="5485303"/>
            <a:ext cx="294803" cy="294803"/>
          </a:xfrm>
          <a:prstGeom prst="rect">
            <a:avLst/>
          </a:prstGeom>
        </p:spPr>
      </p:pic>
      <p:sp>
        <p:nvSpPr>
          <p:cNvPr id="60" name="a9pop_f4t"/>
          <p:cNvSpPr txBox="1"/>
          <p:nvPr/>
        </p:nvSpPr>
        <p:spPr>
          <a:xfrm>
            <a:off x="10405872" y="5349240"/>
            <a:ext cx="1325880" cy="292608"/>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Site report</a:t>
            </a:r>
            <a:endParaRPr lang="en-US" sz="1400" dirty="0"/>
          </a:p>
        </p:txBody>
      </p:sp>
      <p:sp>
        <p:nvSpPr>
          <p:cNvPr id="61" name="a9pop_f4d"/>
          <p:cNvSpPr txBox="1"/>
          <p:nvPr/>
        </p:nvSpPr>
        <p:spPr>
          <a:xfrm>
            <a:off x="10405872" y="5641848"/>
            <a:ext cx="137160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carbon at stake</a:t>
            </a:r>
            <a:endParaRPr lang="en-US" sz="1100" dirty="0"/>
          </a:p>
        </p:txBody>
      </p:sp>
      <p:sp>
        <p:nvSpPr>
          <p:cNvPr id="62"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47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700"/>
                                        <p:tgtEl>
                                          <p:spTgt spid="9"/>
                                        </p:tgtEl>
                                      </p:cBhvr>
                                    </p:animEffect>
                                    <p:anim calcmode="lin" valueType="num">
                                      <p:cBhvr additive="base">
                                        <p:cTn id="23" dur="700" fill="hold"/>
                                        <p:tgtEl>
                                          <p:spTgt spid="9"/>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47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700"/>
                                        <p:tgtEl>
                                          <p:spTgt spid="10"/>
                                        </p:tgtEl>
                                      </p:cBhvr>
                                    </p:animEffect>
                                    <p:anim calcmode="lin" valueType="num">
                                      <p:cBhvr additive="base">
                                        <p:cTn id="27" dur="700" fill="hold"/>
                                        <p:tgtEl>
                                          <p:spTgt spid="10"/>
                                        </p:tgtEl>
                                        <p:attrNameLst>
                                          <p:attrName>ppt_y</p:attrName>
                                        </p:attrNameLst>
                                      </p:cBhvr>
                                      <p:tavLst>
                                        <p:tav tm="0">
                                          <p:val>
                                            <p:strVal val="#ppt_y+0.03"/>
                                          </p:val>
                                        </p:tav>
                                        <p:tav tm="100000">
                                          <p:val>
                                            <p:strVal val="#ppt_y"/>
                                          </p:val>
                                        </p:tav>
                                      </p:tavLst>
                                    </p:anim>
                                  </p:childTnLst>
                                </p:cTn>
                              </p:par>
                              <p:par>
                                <p:cTn id="28" presetID="42" presetClass="entr" presetSubtype="0" decel="100000" fill="hold" grpId="0" nodeType="withEffect">
                                  <p:stCondLst>
                                    <p:cond delay="47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00"/>
                                        <p:tgtEl>
                                          <p:spTgt spid="11"/>
                                        </p:tgtEl>
                                      </p:cBhvr>
                                    </p:animEffect>
                                    <p:anim calcmode="lin" valueType="num">
                                      <p:cBhvr additive="base">
                                        <p:cTn id="31" dur="700" fill="hold"/>
                                        <p:tgtEl>
                                          <p:spTgt spid="11"/>
                                        </p:tgtEl>
                                        <p:attrNameLst>
                                          <p:attrName>ppt_y</p:attrName>
                                        </p:attrNameLst>
                                      </p:cBhvr>
                                      <p:tavLst>
                                        <p:tav tm="0">
                                          <p:val>
                                            <p:strVal val="#ppt_y+0.03"/>
                                          </p:val>
                                        </p:tav>
                                        <p:tav tm="100000">
                                          <p:val>
                                            <p:strVal val="#ppt_y"/>
                                          </p:val>
                                        </p:tav>
                                      </p:tavLst>
                                    </p:anim>
                                  </p:childTnLst>
                                </p:cTn>
                              </p:par>
                              <p:par>
                                <p:cTn id="32" presetID="42" presetClass="entr" presetSubtype="0" decel="100000" fill="hold" grpId="0" nodeType="withEffect">
                                  <p:stCondLst>
                                    <p:cond delay="47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700"/>
                                        <p:tgtEl>
                                          <p:spTgt spid="12"/>
                                        </p:tgtEl>
                                      </p:cBhvr>
                                    </p:animEffect>
                                    <p:anim calcmode="lin" valueType="num">
                                      <p:cBhvr additive="base">
                                        <p:cTn id="35" dur="700" fill="hold"/>
                                        <p:tgtEl>
                                          <p:spTgt spid="12"/>
                                        </p:tgtEl>
                                        <p:attrNameLst>
                                          <p:attrName>ppt_y</p:attrName>
                                        </p:attrNameLst>
                                      </p:cBhvr>
                                      <p:tavLst>
                                        <p:tav tm="0">
                                          <p:val>
                                            <p:strVal val="#ppt_y+0.03"/>
                                          </p:val>
                                        </p:tav>
                                        <p:tav tm="100000">
                                          <p:val>
                                            <p:strVal val="#ppt_y"/>
                                          </p:val>
                                        </p:tav>
                                      </p:tavLst>
                                    </p:anim>
                                  </p:childTnLst>
                                </p:cTn>
                              </p:par>
                              <p:par>
                                <p:cTn id="36" presetID="42" presetClass="entr" presetSubtype="0" decel="100000" fill="hold" grpId="0" nodeType="withEffect">
                                  <p:stCondLst>
                                    <p:cond delay="47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700"/>
                                        <p:tgtEl>
                                          <p:spTgt spid="13"/>
                                        </p:tgtEl>
                                      </p:cBhvr>
                                    </p:animEffect>
                                    <p:anim calcmode="lin" valueType="num">
                                      <p:cBhvr additive="base">
                                        <p:cTn id="39" dur="700" fill="hold"/>
                                        <p:tgtEl>
                                          <p:spTgt spid="13"/>
                                        </p:tgtEl>
                                        <p:attrNameLst>
                                          <p:attrName>ppt_y</p:attrName>
                                        </p:attrNameLst>
                                      </p:cBhvr>
                                      <p:tavLst>
                                        <p:tav tm="0">
                                          <p:val>
                                            <p:strVal val="#ppt_y+0.03"/>
                                          </p:val>
                                        </p:tav>
                                        <p:tav tm="100000">
                                          <p:val>
                                            <p:strVal val="#ppt_y"/>
                                          </p:val>
                                        </p:tav>
                                      </p:tavLst>
                                    </p:anim>
                                  </p:childTnLst>
                                </p:cTn>
                              </p:par>
                              <p:par>
                                <p:cTn id="40" presetID="42" presetClass="entr" presetSubtype="0" decel="100000" fill="hold" grpId="0" nodeType="withEffect">
                                  <p:stCondLst>
                                    <p:cond delay="47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700"/>
                                        <p:tgtEl>
                                          <p:spTgt spid="14"/>
                                        </p:tgtEl>
                                      </p:cBhvr>
                                    </p:animEffect>
                                    <p:anim calcmode="lin" valueType="num">
                                      <p:cBhvr additive="base">
                                        <p:cTn id="43" dur="700" fill="hold"/>
                                        <p:tgtEl>
                                          <p:spTgt spid="14"/>
                                        </p:tgtEl>
                                        <p:attrNameLst>
                                          <p:attrName>ppt_y</p:attrName>
                                        </p:attrNameLst>
                                      </p:cBhvr>
                                      <p:tavLst>
                                        <p:tav tm="0">
                                          <p:val>
                                            <p:strVal val="#ppt_y+0.03"/>
                                          </p:val>
                                        </p:tav>
                                        <p:tav tm="100000">
                                          <p:val>
                                            <p:strVal val="#ppt_y"/>
                                          </p:val>
                                        </p:tav>
                                      </p:tavLst>
                                    </p:anim>
                                  </p:childTnLst>
                                </p:cTn>
                              </p:par>
                              <p:par>
                                <p:cTn id="44" presetID="42" presetClass="entr" presetSubtype="0" decel="100000" fill="hold" grpId="0" nodeType="withEffect">
                                  <p:stCondLst>
                                    <p:cond delay="47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700"/>
                                        <p:tgtEl>
                                          <p:spTgt spid="15"/>
                                        </p:tgtEl>
                                      </p:cBhvr>
                                    </p:animEffect>
                                    <p:anim calcmode="lin" valueType="num">
                                      <p:cBhvr additive="base">
                                        <p:cTn id="47" dur="700" fill="hold"/>
                                        <p:tgtEl>
                                          <p:spTgt spid="15"/>
                                        </p:tgtEl>
                                        <p:attrNameLst>
                                          <p:attrName>ppt_y</p:attrName>
                                        </p:attrNameLst>
                                      </p:cBhvr>
                                      <p:tavLst>
                                        <p:tav tm="0">
                                          <p:val>
                                            <p:strVal val="#ppt_y+0.03"/>
                                          </p:val>
                                        </p:tav>
                                        <p:tav tm="100000">
                                          <p:val>
                                            <p:strVal val="#ppt_y"/>
                                          </p:val>
                                        </p:tav>
                                      </p:tavLst>
                                    </p:anim>
                                  </p:childTnLst>
                                </p:cTn>
                              </p:par>
                              <p:par>
                                <p:cTn id="48" presetID="42" presetClass="entr" presetSubtype="0" decel="100000" fill="hold" grpId="0" nodeType="withEffect">
                                  <p:stCondLst>
                                    <p:cond delay="47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additive="base">
                                        <p:cTn id="51" dur="700" fill="hold"/>
                                        <p:tgtEl>
                                          <p:spTgt spid="16"/>
                                        </p:tgtEl>
                                        <p:attrNameLst>
                                          <p:attrName>ppt_y</p:attrName>
                                        </p:attrNameLst>
                                      </p:cBhvr>
                                      <p:tavLst>
                                        <p:tav tm="0">
                                          <p:val>
                                            <p:strVal val="#ppt_y+0.03"/>
                                          </p:val>
                                        </p:tav>
                                        <p:tav tm="100000">
                                          <p:val>
                                            <p:strVal val="#ppt_y"/>
                                          </p:val>
                                        </p:tav>
                                      </p:tavLst>
                                    </p:anim>
                                  </p:childTnLst>
                                </p:cTn>
                              </p:par>
                              <p:par>
                                <p:cTn id="52" presetID="42" presetClass="entr" presetSubtype="0" decel="100000" fill="hold" grpId="0" nodeType="withEffect">
                                  <p:stCondLst>
                                    <p:cond delay="69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700"/>
                                        <p:tgtEl>
                                          <p:spTgt spid="17"/>
                                        </p:tgtEl>
                                      </p:cBhvr>
                                    </p:animEffect>
                                    <p:anim calcmode="lin" valueType="num">
                                      <p:cBhvr additive="base">
                                        <p:cTn id="55" dur="700" fill="hold"/>
                                        <p:tgtEl>
                                          <p:spTgt spid="17"/>
                                        </p:tgtEl>
                                        <p:attrNameLst>
                                          <p:attrName>ppt_y</p:attrName>
                                        </p:attrNameLst>
                                      </p:cBhvr>
                                      <p:tavLst>
                                        <p:tav tm="0">
                                          <p:val>
                                            <p:strVal val="#ppt_y+0.03"/>
                                          </p:val>
                                        </p:tav>
                                        <p:tav tm="100000">
                                          <p:val>
                                            <p:strVal val="#ppt_y"/>
                                          </p:val>
                                        </p:tav>
                                      </p:tavLst>
                                    </p:anim>
                                  </p:childTnLst>
                                </p:cTn>
                              </p:par>
                              <p:par>
                                <p:cTn id="56" presetID="42" presetClass="entr" presetSubtype="0" decel="100000" fill="hold" grpId="0" nodeType="withEffect">
                                  <p:stCondLst>
                                    <p:cond delay="69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700"/>
                                        <p:tgtEl>
                                          <p:spTgt spid="18"/>
                                        </p:tgtEl>
                                      </p:cBhvr>
                                    </p:animEffect>
                                    <p:anim calcmode="lin" valueType="num">
                                      <p:cBhvr additive="base">
                                        <p:cTn id="59" dur="700" fill="hold"/>
                                        <p:tgtEl>
                                          <p:spTgt spid="18"/>
                                        </p:tgtEl>
                                        <p:attrNameLst>
                                          <p:attrName>ppt_y</p:attrName>
                                        </p:attrNameLst>
                                      </p:cBhvr>
                                      <p:tavLst>
                                        <p:tav tm="0">
                                          <p:val>
                                            <p:strVal val="#ppt_y+0.03"/>
                                          </p:val>
                                        </p:tav>
                                        <p:tav tm="100000">
                                          <p:val>
                                            <p:strVal val="#ppt_y"/>
                                          </p:val>
                                        </p:tav>
                                      </p:tavLst>
                                    </p:anim>
                                  </p:childTnLst>
                                </p:cTn>
                              </p:par>
                              <p:par>
                                <p:cTn id="60" presetID="42" presetClass="entr" presetSubtype="0" decel="100000" fill="hold" grpId="0" nodeType="withEffect">
                                  <p:stCondLst>
                                    <p:cond delay="69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700"/>
                                        <p:tgtEl>
                                          <p:spTgt spid="19"/>
                                        </p:tgtEl>
                                      </p:cBhvr>
                                    </p:animEffect>
                                    <p:anim calcmode="lin" valueType="num">
                                      <p:cBhvr additive="base">
                                        <p:cTn id="63" dur="700" fill="hold"/>
                                        <p:tgtEl>
                                          <p:spTgt spid="19"/>
                                        </p:tgtEl>
                                        <p:attrNameLst>
                                          <p:attrName>ppt_y</p:attrName>
                                        </p:attrNameLst>
                                      </p:cBhvr>
                                      <p:tavLst>
                                        <p:tav tm="0">
                                          <p:val>
                                            <p:strVal val="#ppt_y+0.03"/>
                                          </p:val>
                                        </p:tav>
                                        <p:tav tm="100000">
                                          <p:val>
                                            <p:strVal val="#ppt_y"/>
                                          </p:val>
                                        </p:tav>
                                      </p:tavLst>
                                    </p:anim>
                                  </p:childTnLst>
                                </p:cTn>
                              </p:par>
                              <p:par>
                                <p:cTn id="64" presetID="42" presetClass="entr" presetSubtype="0" decel="100000" fill="hold" grpId="0" nodeType="withEffect">
                                  <p:stCondLst>
                                    <p:cond delay="69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700"/>
                                        <p:tgtEl>
                                          <p:spTgt spid="20"/>
                                        </p:tgtEl>
                                      </p:cBhvr>
                                    </p:animEffect>
                                    <p:anim calcmode="lin" valueType="num">
                                      <p:cBhvr additive="base">
                                        <p:cTn id="67" dur="700" fill="hold"/>
                                        <p:tgtEl>
                                          <p:spTgt spid="20"/>
                                        </p:tgtEl>
                                        <p:attrNameLst>
                                          <p:attrName>ppt_y</p:attrName>
                                        </p:attrNameLst>
                                      </p:cBhvr>
                                      <p:tavLst>
                                        <p:tav tm="0">
                                          <p:val>
                                            <p:strVal val="#ppt_y+0.03"/>
                                          </p:val>
                                        </p:tav>
                                        <p:tav tm="100000">
                                          <p:val>
                                            <p:strVal val="#ppt_y"/>
                                          </p:val>
                                        </p:tav>
                                      </p:tavLst>
                                    </p:anim>
                                  </p:childTnLst>
                                </p:cTn>
                              </p:par>
                              <p:par>
                                <p:cTn id="68" presetID="42" presetClass="entr" presetSubtype="0" decel="100000" fill="hold" grpId="0" nodeType="withEffect">
                                  <p:stCondLst>
                                    <p:cond delay="69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700"/>
                                        <p:tgtEl>
                                          <p:spTgt spid="21"/>
                                        </p:tgtEl>
                                      </p:cBhvr>
                                    </p:animEffect>
                                    <p:anim calcmode="lin" valueType="num">
                                      <p:cBhvr additive="base">
                                        <p:cTn id="71" dur="700" fill="hold"/>
                                        <p:tgtEl>
                                          <p:spTgt spid="21"/>
                                        </p:tgtEl>
                                        <p:attrNameLst>
                                          <p:attrName>ppt_y</p:attrName>
                                        </p:attrNameLst>
                                      </p:cBhvr>
                                      <p:tavLst>
                                        <p:tav tm="0">
                                          <p:val>
                                            <p:strVal val="#ppt_y+0.03"/>
                                          </p:val>
                                        </p:tav>
                                        <p:tav tm="100000">
                                          <p:val>
                                            <p:strVal val="#ppt_y"/>
                                          </p:val>
                                        </p:tav>
                                      </p:tavLst>
                                    </p:anim>
                                  </p:childTnLst>
                                </p:cTn>
                              </p:par>
                              <p:par>
                                <p:cTn id="72" presetID="42" presetClass="entr" presetSubtype="0" decel="100000" fill="hold" grpId="0" nodeType="withEffect">
                                  <p:stCondLst>
                                    <p:cond delay="69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700"/>
                                        <p:tgtEl>
                                          <p:spTgt spid="22"/>
                                        </p:tgtEl>
                                      </p:cBhvr>
                                    </p:animEffect>
                                    <p:anim calcmode="lin" valueType="num">
                                      <p:cBhvr additive="base">
                                        <p:cTn id="75" dur="700" fill="hold"/>
                                        <p:tgtEl>
                                          <p:spTgt spid="22"/>
                                        </p:tgtEl>
                                        <p:attrNameLst>
                                          <p:attrName>ppt_y</p:attrName>
                                        </p:attrNameLst>
                                      </p:cBhvr>
                                      <p:tavLst>
                                        <p:tav tm="0">
                                          <p:val>
                                            <p:strVal val="#ppt_y+0.03"/>
                                          </p:val>
                                        </p:tav>
                                        <p:tav tm="100000">
                                          <p:val>
                                            <p:strVal val="#ppt_y"/>
                                          </p:val>
                                        </p:tav>
                                      </p:tavLst>
                                    </p:anim>
                                  </p:childTnLst>
                                </p:cTn>
                              </p:par>
                              <p:par>
                                <p:cTn id="76" presetID="42" presetClass="entr" presetSubtype="0" decel="100000" fill="hold" grpId="0" nodeType="withEffect">
                                  <p:stCondLst>
                                    <p:cond delay="69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700"/>
                                        <p:tgtEl>
                                          <p:spTgt spid="23"/>
                                        </p:tgtEl>
                                      </p:cBhvr>
                                    </p:animEffect>
                                    <p:anim calcmode="lin" valueType="num">
                                      <p:cBhvr additive="base">
                                        <p:cTn id="79" dur="700" fill="hold"/>
                                        <p:tgtEl>
                                          <p:spTgt spid="23"/>
                                        </p:tgtEl>
                                        <p:attrNameLst>
                                          <p:attrName>ppt_y</p:attrName>
                                        </p:attrNameLst>
                                      </p:cBhvr>
                                      <p:tavLst>
                                        <p:tav tm="0">
                                          <p:val>
                                            <p:strVal val="#ppt_y+0.03"/>
                                          </p:val>
                                        </p:tav>
                                        <p:tav tm="100000">
                                          <p:val>
                                            <p:strVal val="#ppt_y"/>
                                          </p:val>
                                        </p:tav>
                                      </p:tavLst>
                                    </p:anim>
                                  </p:childTnLst>
                                </p:cTn>
                              </p:par>
                              <p:par>
                                <p:cTn id="80" presetID="42" presetClass="entr" presetSubtype="0" decel="100000" fill="hold" grpId="0" nodeType="withEffect">
                                  <p:stCondLst>
                                    <p:cond delay="69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700"/>
                                        <p:tgtEl>
                                          <p:spTgt spid="24"/>
                                        </p:tgtEl>
                                      </p:cBhvr>
                                    </p:animEffect>
                                    <p:anim calcmode="lin" valueType="num">
                                      <p:cBhvr additive="base">
                                        <p:cTn id="83" dur="700" fill="hold"/>
                                        <p:tgtEl>
                                          <p:spTgt spid="24"/>
                                        </p:tgtEl>
                                        <p:attrNameLst>
                                          <p:attrName>ppt_y</p:attrName>
                                        </p:attrNameLst>
                                      </p:cBhvr>
                                      <p:tavLst>
                                        <p:tav tm="0">
                                          <p:val>
                                            <p:strVal val="#ppt_y+0.03"/>
                                          </p:val>
                                        </p:tav>
                                        <p:tav tm="100000">
                                          <p:val>
                                            <p:strVal val="#ppt_y"/>
                                          </p:val>
                                        </p:tav>
                                      </p:tavLst>
                                    </p:anim>
                                  </p:childTnLst>
                                </p:cTn>
                              </p:par>
                              <p:par>
                                <p:cTn id="84" presetID="42" presetClass="entr" presetSubtype="0" decel="100000" fill="hold" grpId="0" nodeType="withEffect">
                                  <p:stCondLst>
                                    <p:cond delay="69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700"/>
                                        <p:tgtEl>
                                          <p:spTgt spid="25"/>
                                        </p:tgtEl>
                                      </p:cBhvr>
                                    </p:animEffect>
                                    <p:anim calcmode="lin" valueType="num">
                                      <p:cBhvr additive="base">
                                        <p:cTn id="87" dur="700" fill="hold"/>
                                        <p:tgtEl>
                                          <p:spTgt spid="25"/>
                                        </p:tgtEl>
                                        <p:attrNameLst>
                                          <p:attrName>ppt_y</p:attrName>
                                        </p:attrNameLst>
                                      </p:cBhvr>
                                      <p:tavLst>
                                        <p:tav tm="0">
                                          <p:val>
                                            <p:strVal val="#ppt_y+0.03"/>
                                          </p:val>
                                        </p:tav>
                                        <p:tav tm="100000">
                                          <p:val>
                                            <p:strVal val="#ppt_y"/>
                                          </p:val>
                                        </p:tav>
                                      </p:tavLst>
                                    </p:anim>
                                  </p:childTnLst>
                                </p:cTn>
                              </p:par>
                              <p:par>
                                <p:cTn id="88" presetID="42" presetClass="entr" presetSubtype="0" decel="100000" fill="hold" grpId="0" nodeType="withEffect">
                                  <p:stCondLst>
                                    <p:cond delay="69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700"/>
                                        <p:tgtEl>
                                          <p:spTgt spid="26"/>
                                        </p:tgtEl>
                                      </p:cBhvr>
                                    </p:animEffect>
                                    <p:anim calcmode="lin" valueType="num">
                                      <p:cBhvr additive="base">
                                        <p:cTn id="91" dur="700" fill="hold"/>
                                        <p:tgtEl>
                                          <p:spTgt spid="26"/>
                                        </p:tgtEl>
                                        <p:attrNameLst>
                                          <p:attrName>ppt_y</p:attrName>
                                        </p:attrNameLst>
                                      </p:cBhvr>
                                      <p:tavLst>
                                        <p:tav tm="0">
                                          <p:val>
                                            <p:strVal val="#ppt_y+0.03"/>
                                          </p:val>
                                        </p:tav>
                                        <p:tav tm="100000">
                                          <p:val>
                                            <p:strVal val="#ppt_y"/>
                                          </p:val>
                                        </p:tav>
                                      </p:tavLst>
                                    </p:anim>
                                  </p:childTnLst>
                                </p:cTn>
                              </p:par>
                              <p:par>
                                <p:cTn id="92" presetID="42" presetClass="entr" presetSubtype="0" decel="100000" fill="hold" grpId="0" nodeType="withEffect">
                                  <p:stCondLst>
                                    <p:cond delay="910"/>
                                  </p:stCondLst>
                                  <p:childTnLst>
                                    <p:set>
                                      <p:cBhvr>
                                        <p:cTn id="93" dur="1" fill="hold">
                                          <p:stCondLst>
                                            <p:cond delay="0"/>
                                          </p:stCondLst>
                                        </p:cTn>
                                        <p:tgtEl>
                                          <p:spTgt spid="27"/>
                                        </p:tgtEl>
                                        <p:attrNameLst>
                                          <p:attrName>style.visibility</p:attrName>
                                        </p:attrNameLst>
                                      </p:cBhvr>
                                      <p:to>
                                        <p:strVal val="visible"/>
                                      </p:to>
                                    </p:set>
                                    <p:animEffect transition="in" filter="fade">
                                      <p:cBhvr>
                                        <p:cTn id="94" dur="700"/>
                                        <p:tgtEl>
                                          <p:spTgt spid="27"/>
                                        </p:tgtEl>
                                      </p:cBhvr>
                                    </p:animEffect>
                                    <p:anim calcmode="lin" valueType="num">
                                      <p:cBhvr additive="base">
                                        <p:cTn id="95" dur="700" fill="hold"/>
                                        <p:tgtEl>
                                          <p:spTgt spid="27"/>
                                        </p:tgtEl>
                                        <p:attrNameLst>
                                          <p:attrName>ppt_y</p:attrName>
                                        </p:attrNameLst>
                                      </p:cBhvr>
                                      <p:tavLst>
                                        <p:tav tm="0">
                                          <p:val>
                                            <p:strVal val="#ppt_y+0.03"/>
                                          </p:val>
                                        </p:tav>
                                        <p:tav tm="100000">
                                          <p:val>
                                            <p:strVal val="#ppt_y"/>
                                          </p:val>
                                        </p:tav>
                                      </p:tavLst>
                                    </p:anim>
                                  </p:childTnLst>
                                </p:cTn>
                              </p:par>
                              <p:par>
                                <p:cTn id="96" presetID="42" presetClass="entr" presetSubtype="0" decel="100000" fill="hold" grpId="0" nodeType="withEffect">
                                  <p:stCondLst>
                                    <p:cond delay="910"/>
                                  </p:stCondLst>
                                  <p:childTnLst>
                                    <p:set>
                                      <p:cBhvr>
                                        <p:cTn id="97" dur="1" fill="hold">
                                          <p:stCondLst>
                                            <p:cond delay="0"/>
                                          </p:stCondLst>
                                        </p:cTn>
                                        <p:tgtEl>
                                          <p:spTgt spid="28"/>
                                        </p:tgtEl>
                                        <p:attrNameLst>
                                          <p:attrName>style.visibility</p:attrName>
                                        </p:attrNameLst>
                                      </p:cBhvr>
                                      <p:to>
                                        <p:strVal val="visible"/>
                                      </p:to>
                                    </p:set>
                                    <p:animEffect transition="in" filter="fade">
                                      <p:cBhvr>
                                        <p:cTn id="98" dur="700"/>
                                        <p:tgtEl>
                                          <p:spTgt spid="28"/>
                                        </p:tgtEl>
                                      </p:cBhvr>
                                    </p:animEffect>
                                    <p:anim calcmode="lin" valueType="num">
                                      <p:cBhvr additive="base">
                                        <p:cTn id="99" dur="700" fill="hold"/>
                                        <p:tgtEl>
                                          <p:spTgt spid="28"/>
                                        </p:tgtEl>
                                        <p:attrNameLst>
                                          <p:attrName>ppt_y</p:attrName>
                                        </p:attrNameLst>
                                      </p:cBhvr>
                                      <p:tavLst>
                                        <p:tav tm="0">
                                          <p:val>
                                            <p:strVal val="#ppt_y+0.03"/>
                                          </p:val>
                                        </p:tav>
                                        <p:tav tm="100000">
                                          <p:val>
                                            <p:strVal val="#ppt_y"/>
                                          </p:val>
                                        </p:tav>
                                      </p:tavLst>
                                    </p:anim>
                                  </p:childTnLst>
                                </p:cTn>
                              </p:par>
                              <p:par>
                                <p:cTn id="100" presetID="42" presetClass="entr" presetSubtype="0" decel="100000" fill="hold" grpId="0" nodeType="withEffect">
                                  <p:stCondLst>
                                    <p:cond delay="910"/>
                                  </p:stCondLst>
                                  <p:childTnLst>
                                    <p:set>
                                      <p:cBhvr>
                                        <p:cTn id="101" dur="1" fill="hold">
                                          <p:stCondLst>
                                            <p:cond delay="0"/>
                                          </p:stCondLst>
                                        </p:cTn>
                                        <p:tgtEl>
                                          <p:spTgt spid="29"/>
                                        </p:tgtEl>
                                        <p:attrNameLst>
                                          <p:attrName>style.visibility</p:attrName>
                                        </p:attrNameLst>
                                      </p:cBhvr>
                                      <p:to>
                                        <p:strVal val="visible"/>
                                      </p:to>
                                    </p:set>
                                    <p:animEffect transition="in" filter="fade">
                                      <p:cBhvr>
                                        <p:cTn id="102" dur="700"/>
                                        <p:tgtEl>
                                          <p:spTgt spid="29"/>
                                        </p:tgtEl>
                                      </p:cBhvr>
                                    </p:animEffect>
                                    <p:anim calcmode="lin" valueType="num">
                                      <p:cBhvr additive="base">
                                        <p:cTn id="103" dur="700" fill="hold"/>
                                        <p:tgtEl>
                                          <p:spTgt spid="29"/>
                                        </p:tgtEl>
                                        <p:attrNameLst>
                                          <p:attrName>ppt_y</p:attrName>
                                        </p:attrNameLst>
                                      </p:cBhvr>
                                      <p:tavLst>
                                        <p:tav tm="0">
                                          <p:val>
                                            <p:strVal val="#ppt_y+0.03"/>
                                          </p:val>
                                        </p:tav>
                                        <p:tav tm="100000">
                                          <p:val>
                                            <p:strVal val="#ppt_y"/>
                                          </p:val>
                                        </p:tav>
                                      </p:tavLst>
                                    </p:anim>
                                  </p:childTnLst>
                                </p:cTn>
                              </p:par>
                              <p:par>
                                <p:cTn id="104" presetID="42" presetClass="entr" presetSubtype="0" decel="100000" fill="hold" grpId="0" nodeType="withEffect">
                                  <p:stCondLst>
                                    <p:cond delay="910"/>
                                  </p:stCondLst>
                                  <p:childTnLst>
                                    <p:set>
                                      <p:cBhvr>
                                        <p:cTn id="105" dur="1" fill="hold">
                                          <p:stCondLst>
                                            <p:cond delay="0"/>
                                          </p:stCondLst>
                                        </p:cTn>
                                        <p:tgtEl>
                                          <p:spTgt spid="30"/>
                                        </p:tgtEl>
                                        <p:attrNameLst>
                                          <p:attrName>style.visibility</p:attrName>
                                        </p:attrNameLst>
                                      </p:cBhvr>
                                      <p:to>
                                        <p:strVal val="visible"/>
                                      </p:to>
                                    </p:set>
                                    <p:animEffect transition="in" filter="fade">
                                      <p:cBhvr>
                                        <p:cTn id="106" dur="700"/>
                                        <p:tgtEl>
                                          <p:spTgt spid="30"/>
                                        </p:tgtEl>
                                      </p:cBhvr>
                                    </p:animEffect>
                                    <p:anim calcmode="lin" valueType="num">
                                      <p:cBhvr additive="base">
                                        <p:cTn id="107" dur="700" fill="hold"/>
                                        <p:tgtEl>
                                          <p:spTgt spid="30"/>
                                        </p:tgtEl>
                                        <p:attrNameLst>
                                          <p:attrName>ppt_y</p:attrName>
                                        </p:attrNameLst>
                                      </p:cBhvr>
                                      <p:tavLst>
                                        <p:tav tm="0">
                                          <p:val>
                                            <p:strVal val="#ppt_y+0.03"/>
                                          </p:val>
                                        </p:tav>
                                        <p:tav tm="100000">
                                          <p:val>
                                            <p:strVal val="#ppt_y"/>
                                          </p:val>
                                        </p:tav>
                                      </p:tavLst>
                                    </p:anim>
                                  </p:childTnLst>
                                </p:cTn>
                              </p:par>
                              <p:par>
                                <p:cTn id="108" presetID="42" presetClass="entr" presetSubtype="0" decel="100000" fill="hold" grpId="0" nodeType="withEffect">
                                  <p:stCondLst>
                                    <p:cond delay="910"/>
                                  </p:stCondLst>
                                  <p:childTnLst>
                                    <p:set>
                                      <p:cBhvr>
                                        <p:cTn id="109" dur="1" fill="hold">
                                          <p:stCondLst>
                                            <p:cond delay="0"/>
                                          </p:stCondLst>
                                        </p:cTn>
                                        <p:tgtEl>
                                          <p:spTgt spid="31"/>
                                        </p:tgtEl>
                                        <p:attrNameLst>
                                          <p:attrName>style.visibility</p:attrName>
                                        </p:attrNameLst>
                                      </p:cBhvr>
                                      <p:to>
                                        <p:strVal val="visible"/>
                                      </p:to>
                                    </p:set>
                                    <p:animEffect transition="in" filter="fade">
                                      <p:cBhvr>
                                        <p:cTn id="110" dur="700"/>
                                        <p:tgtEl>
                                          <p:spTgt spid="31"/>
                                        </p:tgtEl>
                                      </p:cBhvr>
                                    </p:animEffect>
                                    <p:anim calcmode="lin" valueType="num">
                                      <p:cBhvr additive="base">
                                        <p:cTn id="111" dur="700" fill="hold"/>
                                        <p:tgtEl>
                                          <p:spTgt spid="31"/>
                                        </p:tgtEl>
                                        <p:attrNameLst>
                                          <p:attrName>ppt_y</p:attrName>
                                        </p:attrNameLst>
                                      </p:cBhvr>
                                      <p:tavLst>
                                        <p:tav tm="0">
                                          <p:val>
                                            <p:strVal val="#ppt_y+0.03"/>
                                          </p:val>
                                        </p:tav>
                                        <p:tav tm="100000">
                                          <p:val>
                                            <p:strVal val="#ppt_y"/>
                                          </p:val>
                                        </p:tav>
                                      </p:tavLst>
                                    </p:anim>
                                  </p:childTnLst>
                                </p:cTn>
                              </p:par>
                              <p:par>
                                <p:cTn id="112" presetID="42" presetClass="entr" presetSubtype="0" decel="100000" fill="hold" grpId="0" nodeType="withEffect">
                                  <p:stCondLst>
                                    <p:cond delay="910"/>
                                  </p:stCondLst>
                                  <p:childTnLst>
                                    <p:set>
                                      <p:cBhvr>
                                        <p:cTn id="113" dur="1" fill="hold">
                                          <p:stCondLst>
                                            <p:cond delay="0"/>
                                          </p:stCondLst>
                                        </p:cTn>
                                        <p:tgtEl>
                                          <p:spTgt spid="32"/>
                                        </p:tgtEl>
                                        <p:attrNameLst>
                                          <p:attrName>style.visibility</p:attrName>
                                        </p:attrNameLst>
                                      </p:cBhvr>
                                      <p:to>
                                        <p:strVal val="visible"/>
                                      </p:to>
                                    </p:set>
                                    <p:animEffect transition="in" filter="fade">
                                      <p:cBhvr>
                                        <p:cTn id="114" dur="700"/>
                                        <p:tgtEl>
                                          <p:spTgt spid="32"/>
                                        </p:tgtEl>
                                      </p:cBhvr>
                                    </p:animEffect>
                                    <p:anim calcmode="lin" valueType="num">
                                      <p:cBhvr additive="base">
                                        <p:cTn id="115" dur="700" fill="hold"/>
                                        <p:tgtEl>
                                          <p:spTgt spid="32"/>
                                        </p:tgtEl>
                                        <p:attrNameLst>
                                          <p:attrName>ppt_y</p:attrName>
                                        </p:attrNameLst>
                                      </p:cBhvr>
                                      <p:tavLst>
                                        <p:tav tm="0">
                                          <p:val>
                                            <p:strVal val="#ppt_y+0.03"/>
                                          </p:val>
                                        </p:tav>
                                        <p:tav tm="100000">
                                          <p:val>
                                            <p:strVal val="#ppt_y"/>
                                          </p:val>
                                        </p:tav>
                                      </p:tavLst>
                                    </p:anim>
                                  </p:childTnLst>
                                </p:cTn>
                              </p:par>
                              <p:par>
                                <p:cTn id="116" presetID="42" presetClass="entr" presetSubtype="0" decel="100000" fill="hold" grpId="0" nodeType="withEffect">
                                  <p:stCondLst>
                                    <p:cond delay="910"/>
                                  </p:stCondLst>
                                  <p:childTnLst>
                                    <p:set>
                                      <p:cBhvr>
                                        <p:cTn id="117" dur="1" fill="hold">
                                          <p:stCondLst>
                                            <p:cond delay="0"/>
                                          </p:stCondLst>
                                        </p:cTn>
                                        <p:tgtEl>
                                          <p:spTgt spid="33"/>
                                        </p:tgtEl>
                                        <p:attrNameLst>
                                          <p:attrName>style.visibility</p:attrName>
                                        </p:attrNameLst>
                                      </p:cBhvr>
                                      <p:to>
                                        <p:strVal val="visible"/>
                                      </p:to>
                                    </p:set>
                                    <p:animEffect transition="in" filter="fade">
                                      <p:cBhvr>
                                        <p:cTn id="118" dur="700"/>
                                        <p:tgtEl>
                                          <p:spTgt spid="33"/>
                                        </p:tgtEl>
                                      </p:cBhvr>
                                    </p:animEffect>
                                    <p:anim calcmode="lin" valueType="num">
                                      <p:cBhvr additive="base">
                                        <p:cTn id="119" dur="700" fill="hold"/>
                                        <p:tgtEl>
                                          <p:spTgt spid="33"/>
                                        </p:tgtEl>
                                        <p:attrNameLst>
                                          <p:attrName>ppt_y</p:attrName>
                                        </p:attrNameLst>
                                      </p:cBhvr>
                                      <p:tavLst>
                                        <p:tav tm="0">
                                          <p:val>
                                            <p:strVal val="#ppt_y+0.03"/>
                                          </p:val>
                                        </p:tav>
                                        <p:tav tm="100000">
                                          <p:val>
                                            <p:strVal val="#ppt_y"/>
                                          </p:val>
                                        </p:tav>
                                      </p:tavLst>
                                    </p:anim>
                                  </p:childTnLst>
                                </p:cTn>
                              </p:par>
                              <p:par>
                                <p:cTn id="120" presetID="42" presetClass="entr" presetSubtype="0" decel="100000" fill="hold" grpId="0" nodeType="withEffect">
                                  <p:stCondLst>
                                    <p:cond delay="910"/>
                                  </p:stCondLst>
                                  <p:childTnLst>
                                    <p:set>
                                      <p:cBhvr>
                                        <p:cTn id="121" dur="1" fill="hold">
                                          <p:stCondLst>
                                            <p:cond delay="0"/>
                                          </p:stCondLst>
                                        </p:cTn>
                                        <p:tgtEl>
                                          <p:spTgt spid="34"/>
                                        </p:tgtEl>
                                        <p:attrNameLst>
                                          <p:attrName>style.visibility</p:attrName>
                                        </p:attrNameLst>
                                      </p:cBhvr>
                                      <p:to>
                                        <p:strVal val="visible"/>
                                      </p:to>
                                    </p:set>
                                    <p:animEffect transition="in" filter="fade">
                                      <p:cBhvr>
                                        <p:cTn id="122" dur="700"/>
                                        <p:tgtEl>
                                          <p:spTgt spid="34"/>
                                        </p:tgtEl>
                                      </p:cBhvr>
                                    </p:animEffect>
                                    <p:anim calcmode="lin" valueType="num">
                                      <p:cBhvr additive="base">
                                        <p:cTn id="123" dur="700" fill="hold"/>
                                        <p:tgtEl>
                                          <p:spTgt spid="34"/>
                                        </p:tgtEl>
                                        <p:attrNameLst>
                                          <p:attrName>ppt_y</p:attrName>
                                        </p:attrNameLst>
                                      </p:cBhvr>
                                      <p:tavLst>
                                        <p:tav tm="0">
                                          <p:val>
                                            <p:strVal val="#ppt_y+0.03"/>
                                          </p:val>
                                        </p:tav>
                                        <p:tav tm="100000">
                                          <p:val>
                                            <p:strVal val="#ppt_y"/>
                                          </p:val>
                                        </p:tav>
                                      </p:tavLst>
                                    </p:anim>
                                  </p:childTnLst>
                                </p:cTn>
                              </p:par>
                              <p:par>
                                <p:cTn id="124" presetID="42" presetClass="entr" presetSubtype="0" decel="100000" fill="hold" grpId="0" nodeType="withEffect">
                                  <p:stCondLst>
                                    <p:cond delay="910"/>
                                  </p:stCondLst>
                                  <p:childTnLst>
                                    <p:set>
                                      <p:cBhvr>
                                        <p:cTn id="125" dur="1" fill="hold">
                                          <p:stCondLst>
                                            <p:cond delay="0"/>
                                          </p:stCondLst>
                                        </p:cTn>
                                        <p:tgtEl>
                                          <p:spTgt spid="35"/>
                                        </p:tgtEl>
                                        <p:attrNameLst>
                                          <p:attrName>style.visibility</p:attrName>
                                        </p:attrNameLst>
                                      </p:cBhvr>
                                      <p:to>
                                        <p:strVal val="visible"/>
                                      </p:to>
                                    </p:set>
                                    <p:animEffect transition="in" filter="fade">
                                      <p:cBhvr>
                                        <p:cTn id="126" dur="700"/>
                                        <p:tgtEl>
                                          <p:spTgt spid="35"/>
                                        </p:tgtEl>
                                      </p:cBhvr>
                                    </p:animEffect>
                                    <p:anim calcmode="lin" valueType="num">
                                      <p:cBhvr additive="base">
                                        <p:cTn id="127" dur="700" fill="hold"/>
                                        <p:tgtEl>
                                          <p:spTgt spid="35"/>
                                        </p:tgtEl>
                                        <p:attrNameLst>
                                          <p:attrName>ppt_y</p:attrName>
                                        </p:attrNameLst>
                                      </p:cBhvr>
                                      <p:tavLst>
                                        <p:tav tm="0">
                                          <p:val>
                                            <p:strVal val="#ppt_y+0.03"/>
                                          </p:val>
                                        </p:tav>
                                        <p:tav tm="100000">
                                          <p:val>
                                            <p:strVal val="#ppt_y"/>
                                          </p:val>
                                        </p:tav>
                                      </p:tavLst>
                                    </p:anim>
                                  </p:childTnLst>
                                </p:cTn>
                              </p:par>
                              <p:par>
                                <p:cTn id="128" presetID="42" presetClass="entr" presetSubtype="0" decel="100000" fill="hold" grpId="0" nodeType="withEffect">
                                  <p:stCondLst>
                                    <p:cond delay="910"/>
                                  </p:stCondLst>
                                  <p:childTnLst>
                                    <p:set>
                                      <p:cBhvr>
                                        <p:cTn id="129" dur="1" fill="hold">
                                          <p:stCondLst>
                                            <p:cond delay="0"/>
                                          </p:stCondLst>
                                        </p:cTn>
                                        <p:tgtEl>
                                          <p:spTgt spid="36"/>
                                        </p:tgtEl>
                                        <p:attrNameLst>
                                          <p:attrName>style.visibility</p:attrName>
                                        </p:attrNameLst>
                                      </p:cBhvr>
                                      <p:to>
                                        <p:strVal val="visible"/>
                                      </p:to>
                                    </p:set>
                                    <p:animEffect transition="in" filter="fade">
                                      <p:cBhvr>
                                        <p:cTn id="130" dur="700"/>
                                        <p:tgtEl>
                                          <p:spTgt spid="36"/>
                                        </p:tgtEl>
                                      </p:cBhvr>
                                    </p:animEffect>
                                    <p:anim calcmode="lin" valueType="num">
                                      <p:cBhvr additive="base">
                                        <p:cTn id="131" dur="700" fill="hold"/>
                                        <p:tgtEl>
                                          <p:spTgt spid="36"/>
                                        </p:tgtEl>
                                        <p:attrNameLst>
                                          <p:attrName>ppt_y</p:attrName>
                                        </p:attrNameLst>
                                      </p:cBhvr>
                                      <p:tavLst>
                                        <p:tav tm="0">
                                          <p:val>
                                            <p:strVal val="#ppt_y+0.03"/>
                                          </p:val>
                                        </p:tav>
                                        <p:tav tm="100000">
                                          <p:val>
                                            <p:strVal val="#ppt_y"/>
                                          </p:val>
                                        </p:tav>
                                      </p:tavLst>
                                    </p:anim>
                                  </p:childTnLst>
                                </p:cTn>
                              </p:par>
                              <p:par>
                                <p:cTn id="132" presetID="10" presetClass="entr" presetSubtype="0" decel="100000" fill="hold" grpId="0" nodeType="withEffect">
                                  <p:stCondLst>
                                    <p:cond delay="1130"/>
                                  </p:stCondLst>
                                  <p:childTnLst>
                                    <p:set>
                                      <p:cBhvr>
                                        <p:cTn id="133" dur="1" fill="hold">
                                          <p:stCondLst>
                                            <p:cond delay="0"/>
                                          </p:stCondLst>
                                        </p:cTn>
                                        <p:tgtEl>
                                          <p:spTgt spid="37"/>
                                        </p:tgtEl>
                                        <p:attrNameLst>
                                          <p:attrName>style.visibility</p:attrName>
                                        </p:attrNameLst>
                                      </p:cBhvr>
                                      <p:to>
                                        <p:strVal val="visible"/>
                                      </p:to>
                                    </p:set>
                                    <p:animEffect transition="in" filter="fade">
                                      <p:cBhvr>
                                        <p:cTn id="134" dur="600"/>
                                        <p:tgtEl>
                                          <p:spTgt spid="37"/>
                                        </p:tgtEl>
                                      </p:cBhvr>
                                    </p:animEffect>
                                  </p:childTnLst>
                                </p:cTn>
                              </p:par>
                              <p:par>
                                <p:cTn id="135" presetID="53" presetClass="entr" presetSubtype="16" decel="100000" fill="hold" grpId="0" nodeType="withEffect">
                                  <p:stCondLst>
                                    <p:cond delay="1350"/>
                                  </p:stCondLst>
                                  <p:childTnLst>
                                    <p:set>
                                      <p:cBhvr>
                                        <p:cTn id="136" dur="1" fill="hold">
                                          <p:stCondLst>
                                            <p:cond delay="0"/>
                                          </p:stCondLst>
                                        </p:cTn>
                                        <p:tgtEl>
                                          <p:spTgt spid="38"/>
                                        </p:tgtEl>
                                        <p:attrNameLst>
                                          <p:attrName>style.visibility</p:attrName>
                                        </p:attrNameLst>
                                      </p:cBhvr>
                                      <p:to>
                                        <p:strVal val="visible"/>
                                      </p:to>
                                    </p:set>
                                    <p:animEffect transition="in" filter="fade">
                                      <p:cBhvr>
                                        <p:cTn id="137" dur="450"/>
                                        <p:tgtEl>
                                          <p:spTgt spid="38"/>
                                        </p:tgtEl>
                                      </p:cBhvr>
                                    </p:animEffect>
                                    <p:anim calcmode="lin" valueType="num">
                                      <p:cBhvr additive="base">
                                        <p:cTn id="138" dur="450" fill="hold"/>
                                        <p:tgtEl>
                                          <p:spTgt spid="38"/>
                                        </p:tgtEl>
                                        <p:attrNameLst>
                                          <p:attrName>ppt_w</p:attrName>
                                        </p:attrNameLst>
                                      </p:cBhvr>
                                      <p:tavLst>
                                        <p:tav tm="0">
                                          <p:val>
                                            <p:strVal val="#ppt_w*0.2"/>
                                          </p:val>
                                        </p:tav>
                                        <p:tav tm="100000">
                                          <p:val>
                                            <p:strVal val="#ppt_w"/>
                                          </p:val>
                                        </p:tav>
                                      </p:tavLst>
                                    </p:anim>
                                    <p:anim calcmode="lin" valueType="num">
                                      <p:cBhvr additive="base">
                                        <p:cTn id="139" dur="450" fill="hold"/>
                                        <p:tgtEl>
                                          <p:spTgt spid="38"/>
                                        </p:tgtEl>
                                        <p:attrNameLst>
                                          <p:attrName>ppt_h</p:attrName>
                                        </p:attrNameLst>
                                      </p:cBhvr>
                                      <p:tavLst>
                                        <p:tav tm="0">
                                          <p:val>
                                            <p:strVal val="#ppt_h*0.2"/>
                                          </p:val>
                                        </p:tav>
                                        <p:tav tm="100000">
                                          <p:val>
                                            <p:strVal val="#ppt_h"/>
                                          </p:val>
                                        </p:tav>
                                      </p:tavLst>
                                    </p:anim>
                                  </p:childTnLst>
                                </p:cTn>
                              </p:par>
                              <p:par>
                                <p:cTn id="140" presetID="53" presetClass="entr" presetSubtype="16" decel="100000" fill="hold" grpId="0" nodeType="withEffect">
                                  <p:stCondLst>
                                    <p:cond delay="1350"/>
                                  </p:stCondLst>
                                  <p:childTnLst>
                                    <p:set>
                                      <p:cBhvr>
                                        <p:cTn id="141" dur="1" fill="hold">
                                          <p:stCondLst>
                                            <p:cond delay="0"/>
                                          </p:stCondLst>
                                        </p:cTn>
                                        <p:tgtEl>
                                          <p:spTgt spid="39"/>
                                        </p:tgtEl>
                                        <p:attrNameLst>
                                          <p:attrName>style.visibility</p:attrName>
                                        </p:attrNameLst>
                                      </p:cBhvr>
                                      <p:to>
                                        <p:strVal val="visible"/>
                                      </p:to>
                                    </p:set>
                                    <p:animEffect transition="in" filter="fade">
                                      <p:cBhvr>
                                        <p:cTn id="142" dur="450"/>
                                        <p:tgtEl>
                                          <p:spTgt spid="39"/>
                                        </p:tgtEl>
                                      </p:cBhvr>
                                    </p:animEffect>
                                    <p:anim calcmode="lin" valueType="num">
                                      <p:cBhvr additive="base">
                                        <p:cTn id="143" dur="450" fill="hold"/>
                                        <p:tgtEl>
                                          <p:spTgt spid="39"/>
                                        </p:tgtEl>
                                        <p:attrNameLst>
                                          <p:attrName>ppt_w</p:attrName>
                                        </p:attrNameLst>
                                      </p:cBhvr>
                                      <p:tavLst>
                                        <p:tav tm="0">
                                          <p:val>
                                            <p:strVal val="#ppt_w*0.2"/>
                                          </p:val>
                                        </p:tav>
                                        <p:tav tm="100000">
                                          <p:val>
                                            <p:strVal val="#ppt_w"/>
                                          </p:val>
                                        </p:tav>
                                      </p:tavLst>
                                    </p:anim>
                                    <p:anim calcmode="lin" valueType="num">
                                      <p:cBhvr additive="base">
                                        <p:cTn id="144" dur="450" fill="hold"/>
                                        <p:tgtEl>
                                          <p:spTgt spid="39"/>
                                        </p:tgtEl>
                                        <p:attrNameLst>
                                          <p:attrName>ppt_h</p:attrName>
                                        </p:attrNameLst>
                                      </p:cBhvr>
                                      <p:tavLst>
                                        <p:tav tm="0">
                                          <p:val>
                                            <p:strVal val="#ppt_h*0.2"/>
                                          </p:val>
                                        </p:tav>
                                        <p:tav tm="100000">
                                          <p:val>
                                            <p:strVal val="#ppt_h"/>
                                          </p:val>
                                        </p:tav>
                                      </p:tavLst>
                                    </p:anim>
                                  </p:childTnLst>
                                </p:cTn>
                              </p:par>
                              <p:par>
                                <p:cTn id="145" presetID="53" presetClass="entr" presetSubtype="16" decel="100000" fill="hold" grpId="0" nodeType="withEffect">
                                  <p:stCondLst>
                                    <p:cond delay="1350"/>
                                  </p:stCondLst>
                                  <p:childTnLst>
                                    <p:set>
                                      <p:cBhvr>
                                        <p:cTn id="146" dur="1" fill="hold">
                                          <p:stCondLst>
                                            <p:cond delay="0"/>
                                          </p:stCondLst>
                                        </p:cTn>
                                        <p:tgtEl>
                                          <p:spTgt spid="40"/>
                                        </p:tgtEl>
                                        <p:attrNameLst>
                                          <p:attrName>style.visibility</p:attrName>
                                        </p:attrNameLst>
                                      </p:cBhvr>
                                      <p:to>
                                        <p:strVal val="visible"/>
                                      </p:to>
                                    </p:set>
                                    <p:animEffect transition="in" filter="fade">
                                      <p:cBhvr>
                                        <p:cTn id="147" dur="450"/>
                                        <p:tgtEl>
                                          <p:spTgt spid="40"/>
                                        </p:tgtEl>
                                      </p:cBhvr>
                                    </p:animEffect>
                                    <p:anim calcmode="lin" valueType="num">
                                      <p:cBhvr additive="base">
                                        <p:cTn id="148" dur="450" fill="hold"/>
                                        <p:tgtEl>
                                          <p:spTgt spid="40"/>
                                        </p:tgtEl>
                                        <p:attrNameLst>
                                          <p:attrName>ppt_w</p:attrName>
                                        </p:attrNameLst>
                                      </p:cBhvr>
                                      <p:tavLst>
                                        <p:tav tm="0">
                                          <p:val>
                                            <p:strVal val="#ppt_w*0.2"/>
                                          </p:val>
                                        </p:tav>
                                        <p:tav tm="100000">
                                          <p:val>
                                            <p:strVal val="#ppt_w"/>
                                          </p:val>
                                        </p:tav>
                                      </p:tavLst>
                                    </p:anim>
                                    <p:anim calcmode="lin" valueType="num">
                                      <p:cBhvr additive="base">
                                        <p:cTn id="149" dur="450" fill="hold"/>
                                        <p:tgtEl>
                                          <p:spTgt spid="40"/>
                                        </p:tgtEl>
                                        <p:attrNameLst>
                                          <p:attrName>ppt_h</p:attrName>
                                        </p:attrNameLst>
                                      </p:cBhvr>
                                      <p:tavLst>
                                        <p:tav tm="0">
                                          <p:val>
                                            <p:strVal val="#ppt_h*0.2"/>
                                          </p:val>
                                        </p:tav>
                                        <p:tav tm="100000">
                                          <p:val>
                                            <p:strVal val="#ppt_h"/>
                                          </p:val>
                                        </p:tav>
                                      </p:tavLst>
                                    </p:anim>
                                  </p:childTnLst>
                                </p:cTn>
                              </p:par>
                              <p:par>
                                <p:cTn id="150" presetID="53" presetClass="entr" presetSubtype="16" decel="100000" fill="hold" grpId="0" nodeType="withEffect">
                                  <p:stCondLst>
                                    <p:cond delay="1350"/>
                                  </p:stCondLst>
                                  <p:childTnLst>
                                    <p:set>
                                      <p:cBhvr>
                                        <p:cTn id="151" dur="1" fill="hold">
                                          <p:stCondLst>
                                            <p:cond delay="0"/>
                                          </p:stCondLst>
                                        </p:cTn>
                                        <p:tgtEl>
                                          <p:spTgt spid="41"/>
                                        </p:tgtEl>
                                        <p:attrNameLst>
                                          <p:attrName>style.visibility</p:attrName>
                                        </p:attrNameLst>
                                      </p:cBhvr>
                                      <p:to>
                                        <p:strVal val="visible"/>
                                      </p:to>
                                    </p:set>
                                    <p:animEffect transition="in" filter="fade">
                                      <p:cBhvr>
                                        <p:cTn id="152" dur="450"/>
                                        <p:tgtEl>
                                          <p:spTgt spid="41"/>
                                        </p:tgtEl>
                                      </p:cBhvr>
                                    </p:animEffect>
                                    <p:anim calcmode="lin" valueType="num">
                                      <p:cBhvr additive="base">
                                        <p:cTn id="153" dur="450" fill="hold"/>
                                        <p:tgtEl>
                                          <p:spTgt spid="41"/>
                                        </p:tgtEl>
                                        <p:attrNameLst>
                                          <p:attrName>ppt_w</p:attrName>
                                        </p:attrNameLst>
                                      </p:cBhvr>
                                      <p:tavLst>
                                        <p:tav tm="0">
                                          <p:val>
                                            <p:strVal val="#ppt_w*0.2"/>
                                          </p:val>
                                        </p:tav>
                                        <p:tav tm="100000">
                                          <p:val>
                                            <p:strVal val="#ppt_w"/>
                                          </p:val>
                                        </p:tav>
                                      </p:tavLst>
                                    </p:anim>
                                    <p:anim calcmode="lin" valueType="num">
                                      <p:cBhvr additive="base">
                                        <p:cTn id="154" dur="450" fill="hold"/>
                                        <p:tgtEl>
                                          <p:spTgt spid="41"/>
                                        </p:tgtEl>
                                        <p:attrNameLst>
                                          <p:attrName>ppt_h</p:attrName>
                                        </p:attrNameLst>
                                      </p:cBhvr>
                                      <p:tavLst>
                                        <p:tav tm="0">
                                          <p:val>
                                            <p:strVal val="#ppt_h*0.2"/>
                                          </p:val>
                                        </p:tav>
                                        <p:tav tm="100000">
                                          <p:val>
                                            <p:strVal val="#ppt_h"/>
                                          </p:val>
                                        </p:tav>
                                      </p:tavLst>
                                    </p:anim>
                                  </p:childTnLst>
                                </p:cTn>
                              </p:par>
                              <p:par>
                                <p:cTn id="155" presetID="10" presetClass="entr" presetSubtype="0" decel="100000" fill="hold" grpId="0" nodeType="withEffect">
                                  <p:stCondLst>
                                    <p:cond delay="1350"/>
                                  </p:stCondLst>
                                  <p:childTnLst>
                                    <p:set>
                                      <p:cBhvr>
                                        <p:cTn id="156" dur="1" fill="hold">
                                          <p:stCondLst>
                                            <p:cond delay="0"/>
                                          </p:stCondLst>
                                        </p:cTn>
                                        <p:tgtEl>
                                          <p:spTgt spid="42"/>
                                        </p:tgtEl>
                                        <p:attrNameLst>
                                          <p:attrName>style.visibility</p:attrName>
                                        </p:attrNameLst>
                                      </p:cBhvr>
                                      <p:to>
                                        <p:strVal val="visible"/>
                                      </p:to>
                                    </p:set>
                                    <p:animEffect transition="in" filter="fade">
                                      <p:cBhvr>
                                        <p:cTn id="157" dur="600"/>
                                        <p:tgtEl>
                                          <p:spTgt spid="42"/>
                                        </p:tgtEl>
                                      </p:cBhvr>
                                    </p:animEffect>
                                  </p:childTnLst>
                                </p:cTn>
                              </p:par>
                              <p:par>
                                <p:cTn id="158" presetID="53" presetClass="entr" presetSubtype="16" decel="100000" fill="hold" grpId="0" nodeType="withEffect">
                                  <p:stCondLst>
                                    <p:cond delay="1570"/>
                                  </p:stCondLst>
                                  <p:childTnLst>
                                    <p:set>
                                      <p:cBhvr>
                                        <p:cTn id="159" dur="1" fill="hold">
                                          <p:stCondLst>
                                            <p:cond delay="0"/>
                                          </p:stCondLst>
                                        </p:cTn>
                                        <p:tgtEl>
                                          <p:spTgt spid="43"/>
                                        </p:tgtEl>
                                        <p:attrNameLst>
                                          <p:attrName>style.visibility</p:attrName>
                                        </p:attrNameLst>
                                      </p:cBhvr>
                                      <p:to>
                                        <p:strVal val="visible"/>
                                      </p:to>
                                    </p:set>
                                    <p:animEffect transition="in" filter="fade">
                                      <p:cBhvr>
                                        <p:cTn id="160" dur="450"/>
                                        <p:tgtEl>
                                          <p:spTgt spid="43"/>
                                        </p:tgtEl>
                                      </p:cBhvr>
                                    </p:animEffect>
                                    <p:anim calcmode="lin" valueType="num">
                                      <p:cBhvr additive="base">
                                        <p:cTn id="161" dur="450" fill="hold"/>
                                        <p:tgtEl>
                                          <p:spTgt spid="43"/>
                                        </p:tgtEl>
                                        <p:attrNameLst>
                                          <p:attrName>ppt_w</p:attrName>
                                        </p:attrNameLst>
                                      </p:cBhvr>
                                      <p:tavLst>
                                        <p:tav tm="0">
                                          <p:val>
                                            <p:strVal val="#ppt_w*0.2"/>
                                          </p:val>
                                        </p:tav>
                                        <p:tav tm="100000">
                                          <p:val>
                                            <p:strVal val="#ppt_w"/>
                                          </p:val>
                                        </p:tav>
                                      </p:tavLst>
                                    </p:anim>
                                    <p:anim calcmode="lin" valueType="num">
                                      <p:cBhvr additive="base">
                                        <p:cTn id="162" dur="450" fill="hold"/>
                                        <p:tgtEl>
                                          <p:spTgt spid="43"/>
                                        </p:tgtEl>
                                        <p:attrNameLst>
                                          <p:attrName>ppt_h</p:attrName>
                                        </p:attrNameLst>
                                      </p:cBhvr>
                                      <p:tavLst>
                                        <p:tav tm="0">
                                          <p:val>
                                            <p:strVal val="#ppt_h*0.2"/>
                                          </p:val>
                                        </p:tav>
                                        <p:tav tm="100000">
                                          <p:val>
                                            <p:strVal val="#ppt_h"/>
                                          </p:val>
                                        </p:tav>
                                      </p:tavLst>
                                    </p:anim>
                                  </p:childTnLst>
                                </p:cTn>
                              </p:par>
                              <p:par>
                                <p:cTn id="163" presetID="53" presetClass="entr" presetSubtype="16" decel="100000" fill="hold" grpId="0" nodeType="withEffect">
                                  <p:stCondLst>
                                    <p:cond delay="1570"/>
                                  </p:stCondLst>
                                  <p:childTnLst>
                                    <p:set>
                                      <p:cBhvr>
                                        <p:cTn id="164" dur="1" fill="hold">
                                          <p:stCondLst>
                                            <p:cond delay="0"/>
                                          </p:stCondLst>
                                        </p:cTn>
                                        <p:tgtEl>
                                          <p:spTgt spid="44"/>
                                        </p:tgtEl>
                                        <p:attrNameLst>
                                          <p:attrName>style.visibility</p:attrName>
                                        </p:attrNameLst>
                                      </p:cBhvr>
                                      <p:to>
                                        <p:strVal val="visible"/>
                                      </p:to>
                                    </p:set>
                                    <p:animEffect transition="in" filter="fade">
                                      <p:cBhvr>
                                        <p:cTn id="165" dur="450"/>
                                        <p:tgtEl>
                                          <p:spTgt spid="44"/>
                                        </p:tgtEl>
                                      </p:cBhvr>
                                    </p:animEffect>
                                    <p:anim calcmode="lin" valueType="num">
                                      <p:cBhvr additive="base">
                                        <p:cTn id="166" dur="450" fill="hold"/>
                                        <p:tgtEl>
                                          <p:spTgt spid="44"/>
                                        </p:tgtEl>
                                        <p:attrNameLst>
                                          <p:attrName>ppt_w</p:attrName>
                                        </p:attrNameLst>
                                      </p:cBhvr>
                                      <p:tavLst>
                                        <p:tav tm="0">
                                          <p:val>
                                            <p:strVal val="#ppt_w*0.2"/>
                                          </p:val>
                                        </p:tav>
                                        <p:tav tm="100000">
                                          <p:val>
                                            <p:strVal val="#ppt_w"/>
                                          </p:val>
                                        </p:tav>
                                      </p:tavLst>
                                    </p:anim>
                                    <p:anim calcmode="lin" valueType="num">
                                      <p:cBhvr additive="base">
                                        <p:cTn id="167" dur="450" fill="hold"/>
                                        <p:tgtEl>
                                          <p:spTgt spid="44"/>
                                        </p:tgtEl>
                                        <p:attrNameLst>
                                          <p:attrName>ppt_h</p:attrName>
                                        </p:attrNameLst>
                                      </p:cBhvr>
                                      <p:tavLst>
                                        <p:tav tm="0">
                                          <p:val>
                                            <p:strVal val="#ppt_h*0.2"/>
                                          </p:val>
                                        </p:tav>
                                        <p:tav tm="100000">
                                          <p:val>
                                            <p:strVal val="#ppt_h"/>
                                          </p:val>
                                        </p:tav>
                                      </p:tavLst>
                                    </p:anim>
                                  </p:childTnLst>
                                </p:cTn>
                              </p:par>
                              <p:par>
                                <p:cTn id="168" presetID="53" presetClass="entr" presetSubtype="16" decel="100000" fill="hold" grpId="0" nodeType="withEffect">
                                  <p:stCondLst>
                                    <p:cond delay="1570"/>
                                  </p:stCondLst>
                                  <p:childTnLst>
                                    <p:set>
                                      <p:cBhvr>
                                        <p:cTn id="169" dur="1" fill="hold">
                                          <p:stCondLst>
                                            <p:cond delay="0"/>
                                          </p:stCondLst>
                                        </p:cTn>
                                        <p:tgtEl>
                                          <p:spTgt spid="45"/>
                                        </p:tgtEl>
                                        <p:attrNameLst>
                                          <p:attrName>style.visibility</p:attrName>
                                        </p:attrNameLst>
                                      </p:cBhvr>
                                      <p:to>
                                        <p:strVal val="visible"/>
                                      </p:to>
                                    </p:set>
                                    <p:animEffect transition="in" filter="fade">
                                      <p:cBhvr>
                                        <p:cTn id="170" dur="450"/>
                                        <p:tgtEl>
                                          <p:spTgt spid="45"/>
                                        </p:tgtEl>
                                      </p:cBhvr>
                                    </p:animEffect>
                                    <p:anim calcmode="lin" valueType="num">
                                      <p:cBhvr additive="base">
                                        <p:cTn id="171" dur="450" fill="hold"/>
                                        <p:tgtEl>
                                          <p:spTgt spid="45"/>
                                        </p:tgtEl>
                                        <p:attrNameLst>
                                          <p:attrName>ppt_w</p:attrName>
                                        </p:attrNameLst>
                                      </p:cBhvr>
                                      <p:tavLst>
                                        <p:tav tm="0">
                                          <p:val>
                                            <p:strVal val="#ppt_w*0.2"/>
                                          </p:val>
                                        </p:tav>
                                        <p:tav tm="100000">
                                          <p:val>
                                            <p:strVal val="#ppt_w"/>
                                          </p:val>
                                        </p:tav>
                                      </p:tavLst>
                                    </p:anim>
                                    <p:anim calcmode="lin" valueType="num">
                                      <p:cBhvr additive="base">
                                        <p:cTn id="172" dur="450" fill="hold"/>
                                        <p:tgtEl>
                                          <p:spTgt spid="45"/>
                                        </p:tgtEl>
                                        <p:attrNameLst>
                                          <p:attrName>ppt_h</p:attrName>
                                        </p:attrNameLst>
                                      </p:cBhvr>
                                      <p:tavLst>
                                        <p:tav tm="0">
                                          <p:val>
                                            <p:strVal val="#ppt_h*0.2"/>
                                          </p:val>
                                        </p:tav>
                                        <p:tav tm="100000">
                                          <p:val>
                                            <p:strVal val="#ppt_h"/>
                                          </p:val>
                                        </p:tav>
                                      </p:tavLst>
                                    </p:anim>
                                  </p:childTnLst>
                                </p:cTn>
                              </p:par>
                              <p:par>
                                <p:cTn id="173" presetID="53" presetClass="entr" presetSubtype="16" decel="100000" fill="hold" grpId="0" nodeType="withEffect">
                                  <p:stCondLst>
                                    <p:cond delay="1570"/>
                                  </p:stCondLst>
                                  <p:childTnLst>
                                    <p:set>
                                      <p:cBhvr>
                                        <p:cTn id="174" dur="1" fill="hold">
                                          <p:stCondLst>
                                            <p:cond delay="0"/>
                                          </p:stCondLst>
                                        </p:cTn>
                                        <p:tgtEl>
                                          <p:spTgt spid="46"/>
                                        </p:tgtEl>
                                        <p:attrNameLst>
                                          <p:attrName>style.visibility</p:attrName>
                                        </p:attrNameLst>
                                      </p:cBhvr>
                                      <p:to>
                                        <p:strVal val="visible"/>
                                      </p:to>
                                    </p:set>
                                    <p:animEffect transition="in" filter="fade">
                                      <p:cBhvr>
                                        <p:cTn id="175" dur="450"/>
                                        <p:tgtEl>
                                          <p:spTgt spid="46"/>
                                        </p:tgtEl>
                                      </p:cBhvr>
                                    </p:animEffect>
                                    <p:anim calcmode="lin" valueType="num">
                                      <p:cBhvr additive="base">
                                        <p:cTn id="176" dur="450" fill="hold"/>
                                        <p:tgtEl>
                                          <p:spTgt spid="46"/>
                                        </p:tgtEl>
                                        <p:attrNameLst>
                                          <p:attrName>ppt_w</p:attrName>
                                        </p:attrNameLst>
                                      </p:cBhvr>
                                      <p:tavLst>
                                        <p:tav tm="0">
                                          <p:val>
                                            <p:strVal val="#ppt_w*0.2"/>
                                          </p:val>
                                        </p:tav>
                                        <p:tav tm="100000">
                                          <p:val>
                                            <p:strVal val="#ppt_w"/>
                                          </p:val>
                                        </p:tav>
                                      </p:tavLst>
                                    </p:anim>
                                    <p:anim calcmode="lin" valueType="num">
                                      <p:cBhvr additive="base">
                                        <p:cTn id="177" dur="450" fill="hold"/>
                                        <p:tgtEl>
                                          <p:spTgt spid="46"/>
                                        </p:tgtEl>
                                        <p:attrNameLst>
                                          <p:attrName>ppt_h</p:attrName>
                                        </p:attrNameLst>
                                      </p:cBhvr>
                                      <p:tavLst>
                                        <p:tav tm="0">
                                          <p:val>
                                            <p:strVal val="#ppt_h*0.2"/>
                                          </p:val>
                                        </p:tav>
                                        <p:tav tm="100000">
                                          <p:val>
                                            <p:strVal val="#ppt_h"/>
                                          </p:val>
                                        </p:tav>
                                      </p:tavLst>
                                    </p:anim>
                                  </p:childTnLst>
                                </p:cTn>
                              </p:par>
                              <p:par>
                                <p:cTn id="178" presetID="10" presetClass="entr" presetSubtype="0" decel="100000" fill="hold" grpId="0" nodeType="withEffect">
                                  <p:stCondLst>
                                    <p:cond delay="1570"/>
                                  </p:stCondLst>
                                  <p:childTnLst>
                                    <p:set>
                                      <p:cBhvr>
                                        <p:cTn id="179" dur="1" fill="hold">
                                          <p:stCondLst>
                                            <p:cond delay="0"/>
                                          </p:stCondLst>
                                        </p:cTn>
                                        <p:tgtEl>
                                          <p:spTgt spid="47"/>
                                        </p:tgtEl>
                                        <p:attrNameLst>
                                          <p:attrName>style.visibility</p:attrName>
                                        </p:attrNameLst>
                                      </p:cBhvr>
                                      <p:to>
                                        <p:strVal val="visible"/>
                                      </p:to>
                                    </p:set>
                                    <p:animEffect transition="in" filter="fade">
                                      <p:cBhvr>
                                        <p:cTn id="180" dur="600"/>
                                        <p:tgtEl>
                                          <p:spTgt spid="47"/>
                                        </p:tgtEl>
                                      </p:cBhvr>
                                    </p:animEffect>
                                  </p:childTnLst>
                                </p:cTn>
                              </p:par>
                              <p:par>
                                <p:cTn id="181" presetID="53" presetClass="entr" presetSubtype="16" decel="100000" fill="hold" grpId="0" nodeType="withEffect">
                                  <p:stCondLst>
                                    <p:cond delay="1790"/>
                                  </p:stCondLst>
                                  <p:childTnLst>
                                    <p:set>
                                      <p:cBhvr>
                                        <p:cTn id="182" dur="1" fill="hold">
                                          <p:stCondLst>
                                            <p:cond delay="0"/>
                                          </p:stCondLst>
                                        </p:cTn>
                                        <p:tgtEl>
                                          <p:spTgt spid="48"/>
                                        </p:tgtEl>
                                        <p:attrNameLst>
                                          <p:attrName>style.visibility</p:attrName>
                                        </p:attrNameLst>
                                      </p:cBhvr>
                                      <p:to>
                                        <p:strVal val="visible"/>
                                      </p:to>
                                    </p:set>
                                    <p:animEffect transition="in" filter="fade">
                                      <p:cBhvr>
                                        <p:cTn id="183" dur="450"/>
                                        <p:tgtEl>
                                          <p:spTgt spid="48"/>
                                        </p:tgtEl>
                                      </p:cBhvr>
                                    </p:animEffect>
                                    <p:anim calcmode="lin" valueType="num">
                                      <p:cBhvr additive="base">
                                        <p:cTn id="184" dur="450" fill="hold"/>
                                        <p:tgtEl>
                                          <p:spTgt spid="48"/>
                                        </p:tgtEl>
                                        <p:attrNameLst>
                                          <p:attrName>ppt_w</p:attrName>
                                        </p:attrNameLst>
                                      </p:cBhvr>
                                      <p:tavLst>
                                        <p:tav tm="0">
                                          <p:val>
                                            <p:strVal val="#ppt_w*0.2"/>
                                          </p:val>
                                        </p:tav>
                                        <p:tav tm="100000">
                                          <p:val>
                                            <p:strVal val="#ppt_w"/>
                                          </p:val>
                                        </p:tav>
                                      </p:tavLst>
                                    </p:anim>
                                    <p:anim calcmode="lin" valueType="num">
                                      <p:cBhvr additive="base">
                                        <p:cTn id="185" dur="450" fill="hold"/>
                                        <p:tgtEl>
                                          <p:spTgt spid="48"/>
                                        </p:tgtEl>
                                        <p:attrNameLst>
                                          <p:attrName>ppt_h</p:attrName>
                                        </p:attrNameLst>
                                      </p:cBhvr>
                                      <p:tavLst>
                                        <p:tav tm="0">
                                          <p:val>
                                            <p:strVal val="#ppt_h*0.2"/>
                                          </p:val>
                                        </p:tav>
                                        <p:tav tm="100000">
                                          <p:val>
                                            <p:strVal val="#ppt_h"/>
                                          </p:val>
                                        </p:tav>
                                      </p:tavLst>
                                    </p:anim>
                                  </p:childTnLst>
                                </p:cTn>
                              </p:par>
                              <p:par>
                                <p:cTn id="186" presetID="53" presetClass="entr" presetSubtype="16" decel="100000" fill="hold" grpId="0" nodeType="withEffect">
                                  <p:stCondLst>
                                    <p:cond delay="1790"/>
                                  </p:stCondLst>
                                  <p:childTnLst>
                                    <p:set>
                                      <p:cBhvr>
                                        <p:cTn id="187" dur="1" fill="hold">
                                          <p:stCondLst>
                                            <p:cond delay="0"/>
                                          </p:stCondLst>
                                        </p:cTn>
                                        <p:tgtEl>
                                          <p:spTgt spid="49"/>
                                        </p:tgtEl>
                                        <p:attrNameLst>
                                          <p:attrName>style.visibility</p:attrName>
                                        </p:attrNameLst>
                                      </p:cBhvr>
                                      <p:to>
                                        <p:strVal val="visible"/>
                                      </p:to>
                                    </p:set>
                                    <p:animEffect transition="in" filter="fade">
                                      <p:cBhvr>
                                        <p:cTn id="188" dur="450"/>
                                        <p:tgtEl>
                                          <p:spTgt spid="49"/>
                                        </p:tgtEl>
                                      </p:cBhvr>
                                    </p:animEffect>
                                    <p:anim calcmode="lin" valueType="num">
                                      <p:cBhvr additive="base">
                                        <p:cTn id="189" dur="450" fill="hold"/>
                                        <p:tgtEl>
                                          <p:spTgt spid="49"/>
                                        </p:tgtEl>
                                        <p:attrNameLst>
                                          <p:attrName>ppt_w</p:attrName>
                                        </p:attrNameLst>
                                      </p:cBhvr>
                                      <p:tavLst>
                                        <p:tav tm="0">
                                          <p:val>
                                            <p:strVal val="#ppt_w*0.2"/>
                                          </p:val>
                                        </p:tav>
                                        <p:tav tm="100000">
                                          <p:val>
                                            <p:strVal val="#ppt_w"/>
                                          </p:val>
                                        </p:tav>
                                      </p:tavLst>
                                    </p:anim>
                                    <p:anim calcmode="lin" valueType="num">
                                      <p:cBhvr additive="base">
                                        <p:cTn id="190" dur="450" fill="hold"/>
                                        <p:tgtEl>
                                          <p:spTgt spid="49"/>
                                        </p:tgtEl>
                                        <p:attrNameLst>
                                          <p:attrName>ppt_h</p:attrName>
                                        </p:attrNameLst>
                                      </p:cBhvr>
                                      <p:tavLst>
                                        <p:tav tm="0">
                                          <p:val>
                                            <p:strVal val="#ppt_h*0.2"/>
                                          </p:val>
                                        </p:tav>
                                        <p:tav tm="100000">
                                          <p:val>
                                            <p:strVal val="#ppt_h"/>
                                          </p:val>
                                        </p:tav>
                                      </p:tavLst>
                                    </p:anim>
                                  </p:childTnLst>
                                </p:cTn>
                              </p:par>
                              <p:par>
                                <p:cTn id="191" presetID="53" presetClass="entr" presetSubtype="16" decel="100000" fill="hold" grpId="0" nodeType="withEffect">
                                  <p:stCondLst>
                                    <p:cond delay="1790"/>
                                  </p:stCondLst>
                                  <p:childTnLst>
                                    <p:set>
                                      <p:cBhvr>
                                        <p:cTn id="192" dur="1" fill="hold">
                                          <p:stCondLst>
                                            <p:cond delay="0"/>
                                          </p:stCondLst>
                                        </p:cTn>
                                        <p:tgtEl>
                                          <p:spTgt spid="50"/>
                                        </p:tgtEl>
                                        <p:attrNameLst>
                                          <p:attrName>style.visibility</p:attrName>
                                        </p:attrNameLst>
                                      </p:cBhvr>
                                      <p:to>
                                        <p:strVal val="visible"/>
                                      </p:to>
                                    </p:set>
                                    <p:animEffect transition="in" filter="fade">
                                      <p:cBhvr>
                                        <p:cTn id="193" dur="450"/>
                                        <p:tgtEl>
                                          <p:spTgt spid="50"/>
                                        </p:tgtEl>
                                      </p:cBhvr>
                                    </p:animEffect>
                                    <p:anim calcmode="lin" valueType="num">
                                      <p:cBhvr additive="base">
                                        <p:cTn id="194" dur="450" fill="hold"/>
                                        <p:tgtEl>
                                          <p:spTgt spid="50"/>
                                        </p:tgtEl>
                                        <p:attrNameLst>
                                          <p:attrName>ppt_w</p:attrName>
                                        </p:attrNameLst>
                                      </p:cBhvr>
                                      <p:tavLst>
                                        <p:tav tm="0">
                                          <p:val>
                                            <p:strVal val="#ppt_w*0.2"/>
                                          </p:val>
                                        </p:tav>
                                        <p:tav tm="100000">
                                          <p:val>
                                            <p:strVal val="#ppt_w"/>
                                          </p:val>
                                        </p:tav>
                                      </p:tavLst>
                                    </p:anim>
                                    <p:anim calcmode="lin" valueType="num">
                                      <p:cBhvr additive="base">
                                        <p:cTn id="195" dur="450" fill="hold"/>
                                        <p:tgtEl>
                                          <p:spTgt spid="50"/>
                                        </p:tgtEl>
                                        <p:attrNameLst>
                                          <p:attrName>ppt_h</p:attrName>
                                        </p:attrNameLst>
                                      </p:cBhvr>
                                      <p:tavLst>
                                        <p:tav tm="0">
                                          <p:val>
                                            <p:strVal val="#ppt_h*0.2"/>
                                          </p:val>
                                        </p:tav>
                                        <p:tav tm="100000">
                                          <p:val>
                                            <p:strVal val="#ppt_h"/>
                                          </p:val>
                                        </p:tav>
                                      </p:tavLst>
                                    </p:anim>
                                  </p:childTnLst>
                                </p:cTn>
                              </p:par>
                              <p:par>
                                <p:cTn id="196" presetID="53" presetClass="entr" presetSubtype="16" decel="100000" fill="hold" grpId="0" nodeType="withEffect">
                                  <p:stCondLst>
                                    <p:cond delay="1790"/>
                                  </p:stCondLst>
                                  <p:childTnLst>
                                    <p:set>
                                      <p:cBhvr>
                                        <p:cTn id="197" dur="1" fill="hold">
                                          <p:stCondLst>
                                            <p:cond delay="0"/>
                                          </p:stCondLst>
                                        </p:cTn>
                                        <p:tgtEl>
                                          <p:spTgt spid="51"/>
                                        </p:tgtEl>
                                        <p:attrNameLst>
                                          <p:attrName>style.visibility</p:attrName>
                                        </p:attrNameLst>
                                      </p:cBhvr>
                                      <p:to>
                                        <p:strVal val="visible"/>
                                      </p:to>
                                    </p:set>
                                    <p:animEffect transition="in" filter="fade">
                                      <p:cBhvr>
                                        <p:cTn id="198" dur="450"/>
                                        <p:tgtEl>
                                          <p:spTgt spid="51"/>
                                        </p:tgtEl>
                                      </p:cBhvr>
                                    </p:animEffect>
                                    <p:anim calcmode="lin" valueType="num">
                                      <p:cBhvr additive="base">
                                        <p:cTn id="199" dur="450" fill="hold"/>
                                        <p:tgtEl>
                                          <p:spTgt spid="51"/>
                                        </p:tgtEl>
                                        <p:attrNameLst>
                                          <p:attrName>ppt_w</p:attrName>
                                        </p:attrNameLst>
                                      </p:cBhvr>
                                      <p:tavLst>
                                        <p:tav tm="0">
                                          <p:val>
                                            <p:strVal val="#ppt_w*0.2"/>
                                          </p:val>
                                        </p:tav>
                                        <p:tav tm="100000">
                                          <p:val>
                                            <p:strVal val="#ppt_w"/>
                                          </p:val>
                                        </p:tav>
                                      </p:tavLst>
                                    </p:anim>
                                    <p:anim calcmode="lin" valueType="num">
                                      <p:cBhvr additive="base">
                                        <p:cTn id="200" dur="450" fill="hold"/>
                                        <p:tgtEl>
                                          <p:spTgt spid="51"/>
                                        </p:tgtEl>
                                        <p:attrNameLst>
                                          <p:attrName>ppt_h</p:attrName>
                                        </p:attrNameLst>
                                      </p:cBhvr>
                                      <p:tavLst>
                                        <p:tav tm="0">
                                          <p:val>
                                            <p:strVal val="#ppt_h*0.2"/>
                                          </p:val>
                                        </p:tav>
                                        <p:tav tm="100000">
                                          <p:val>
                                            <p:strVal val="#ppt_h"/>
                                          </p:val>
                                        </p:tav>
                                      </p:tavLst>
                                    </p:anim>
                                  </p:childTnLst>
                                </p:cTn>
                              </p:par>
                              <p:par>
                                <p:cTn id="201" presetID="10" presetClass="entr" presetSubtype="0" decel="100000" fill="hold" grpId="0" nodeType="withEffect">
                                  <p:stCondLst>
                                    <p:cond delay="1790"/>
                                  </p:stCondLst>
                                  <p:childTnLst>
                                    <p:set>
                                      <p:cBhvr>
                                        <p:cTn id="202" dur="1" fill="hold">
                                          <p:stCondLst>
                                            <p:cond delay="0"/>
                                          </p:stCondLst>
                                        </p:cTn>
                                        <p:tgtEl>
                                          <p:spTgt spid="52"/>
                                        </p:tgtEl>
                                        <p:attrNameLst>
                                          <p:attrName>style.visibility</p:attrName>
                                        </p:attrNameLst>
                                      </p:cBhvr>
                                      <p:to>
                                        <p:strVal val="visible"/>
                                      </p:to>
                                    </p:set>
                                    <p:animEffect transition="in" filter="fade">
                                      <p:cBhvr>
                                        <p:cTn id="203" dur="600"/>
                                        <p:tgtEl>
                                          <p:spTgt spid="52"/>
                                        </p:tgtEl>
                                      </p:cBhvr>
                                    </p:animEffect>
                                  </p:childTnLst>
                                </p:cTn>
                              </p:par>
                              <p:par>
                                <p:cTn id="204" presetID="53" presetClass="entr" presetSubtype="16" decel="100000" fill="hold" grpId="0" nodeType="withEffect">
                                  <p:stCondLst>
                                    <p:cond delay="2010"/>
                                  </p:stCondLst>
                                  <p:childTnLst>
                                    <p:set>
                                      <p:cBhvr>
                                        <p:cTn id="205" dur="1" fill="hold">
                                          <p:stCondLst>
                                            <p:cond delay="0"/>
                                          </p:stCondLst>
                                        </p:cTn>
                                        <p:tgtEl>
                                          <p:spTgt spid="53"/>
                                        </p:tgtEl>
                                        <p:attrNameLst>
                                          <p:attrName>style.visibility</p:attrName>
                                        </p:attrNameLst>
                                      </p:cBhvr>
                                      <p:to>
                                        <p:strVal val="visible"/>
                                      </p:to>
                                    </p:set>
                                    <p:animEffect transition="in" filter="fade">
                                      <p:cBhvr>
                                        <p:cTn id="206" dur="450"/>
                                        <p:tgtEl>
                                          <p:spTgt spid="53"/>
                                        </p:tgtEl>
                                      </p:cBhvr>
                                    </p:animEffect>
                                    <p:anim calcmode="lin" valueType="num">
                                      <p:cBhvr additive="base">
                                        <p:cTn id="207" dur="450" fill="hold"/>
                                        <p:tgtEl>
                                          <p:spTgt spid="53"/>
                                        </p:tgtEl>
                                        <p:attrNameLst>
                                          <p:attrName>ppt_w</p:attrName>
                                        </p:attrNameLst>
                                      </p:cBhvr>
                                      <p:tavLst>
                                        <p:tav tm="0">
                                          <p:val>
                                            <p:strVal val="#ppt_w*0.2"/>
                                          </p:val>
                                        </p:tav>
                                        <p:tav tm="100000">
                                          <p:val>
                                            <p:strVal val="#ppt_w"/>
                                          </p:val>
                                        </p:tav>
                                      </p:tavLst>
                                    </p:anim>
                                    <p:anim calcmode="lin" valueType="num">
                                      <p:cBhvr additive="base">
                                        <p:cTn id="208" dur="450" fill="hold"/>
                                        <p:tgtEl>
                                          <p:spTgt spid="53"/>
                                        </p:tgtEl>
                                        <p:attrNameLst>
                                          <p:attrName>ppt_h</p:attrName>
                                        </p:attrNameLst>
                                      </p:cBhvr>
                                      <p:tavLst>
                                        <p:tav tm="0">
                                          <p:val>
                                            <p:strVal val="#ppt_h*0.2"/>
                                          </p:val>
                                        </p:tav>
                                        <p:tav tm="100000">
                                          <p:val>
                                            <p:strVal val="#ppt_h"/>
                                          </p:val>
                                        </p:tav>
                                      </p:tavLst>
                                    </p:anim>
                                  </p:childTnLst>
                                </p:cTn>
                              </p:par>
                              <p:par>
                                <p:cTn id="209" presetID="53" presetClass="entr" presetSubtype="16" decel="100000" fill="hold" grpId="0" nodeType="withEffect">
                                  <p:stCondLst>
                                    <p:cond delay="2010"/>
                                  </p:stCondLst>
                                  <p:childTnLst>
                                    <p:set>
                                      <p:cBhvr>
                                        <p:cTn id="210" dur="1" fill="hold">
                                          <p:stCondLst>
                                            <p:cond delay="0"/>
                                          </p:stCondLst>
                                        </p:cTn>
                                        <p:tgtEl>
                                          <p:spTgt spid="54"/>
                                        </p:tgtEl>
                                        <p:attrNameLst>
                                          <p:attrName>style.visibility</p:attrName>
                                        </p:attrNameLst>
                                      </p:cBhvr>
                                      <p:to>
                                        <p:strVal val="visible"/>
                                      </p:to>
                                    </p:set>
                                    <p:animEffect transition="in" filter="fade">
                                      <p:cBhvr>
                                        <p:cTn id="211" dur="450"/>
                                        <p:tgtEl>
                                          <p:spTgt spid="54"/>
                                        </p:tgtEl>
                                      </p:cBhvr>
                                    </p:animEffect>
                                    <p:anim calcmode="lin" valueType="num">
                                      <p:cBhvr additive="base">
                                        <p:cTn id="212" dur="450" fill="hold"/>
                                        <p:tgtEl>
                                          <p:spTgt spid="54"/>
                                        </p:tgtEl>
                                        <p:attrNameLst>
                                          <p:attrName>ppt_w</p:attrName>
                                        </p:attrNameLst>
                                      </p:cBhvr>
                                      <p:tavLst>
                                        <p:tav tm="0">
                                          <p:val>
                                            <p:strVal val="#ppt_w*0.2"/>
                                          </p:val>
                                        </p:tav>
                                        <p:tav tm="100000">
                                          <p:val>
                                            <p:strVal val="#ppt_w"/>
                                          </p:val>
                                        </p:tav>
                                      </p:tavLst>
                                    </p:anim>
                                    <p:anim calcmode="lin" valueType="num">
                                      <p:cBhvr additive="base">
                                        <p:cTn id="213" dur="450" fill="hold"/>
                                        <p:tgtEl>
                                          <p:spTgt spid="54"/>
                                        </p:tgtEl>
                                        <p:attrNameLst>
                                          <p:attrName>ppt_h</p:attrName>
                                        </p:attrNameLst>
                                      </p:cBhvr>
                                      <p:tavLst>
                                        <p:tav tm="0">
                                          <p:val>
                                            <p:strVal val="#ppt_h*0.2"/>
                                          </p:val>
                                        </p:tav>
                                        <p:tav tm="100000">
                                          <p:val>
                                            <p:strVal val="#ppt_h"/>
                                          </p:val>
                                        </p:tav>
                                      </p:tavLst>
                                    </p:anim>
                                  </p:childTnLst>
                                </p:cTn>
                              </p:par>
                              <p:par>
                                <p:cTn id="214" presetID="53" presetClass="entr" presetSubtype="16" decel="100000" fill="hold" grpId="0" nodeType="withEffect">
                                  <p:stCondLst>
                                    <p:cond delay="2010"/>
                                  </p:stCondLst>
                                  <p:childTnLst>
                                    <p:set>
                                      <p:cBhvr>
                                        <p:cTn id="215" dur="1" fill="hold">
                                          <p:stCondLst>
                                            <p:cond delay="0"/>
                                          </p:stCondLst>
                                        </p:cTn>
                                        <p:tgtEl>
                                          <p:spTgt spid="55"/>
                                        </p:tgtEl>
                                        <p:attrNameLst>
                                          <p:attrName>style.visibility</p:attrName>
                                        </p:attrNameLst>
                                      </p:cBhvr>
                                      <p:to>
                                        <p:strVal val="visible"/>
                                      </p:to>
                                    </p:set>
                                    <p:animEffect transition="in" filter="fade">
                                      <p:cBhvr>
                                        <p:cTn id="216" dur="450"/>
                                        <p:tgtEl>
                                          <p:spTgt spid="55"/>
                                        </p:tgtEl>
                                      </p:cBhvr>
                                    </p:animEffect>
                                    <p:anim calcmode="lin" valueType="num">
                                      <p:cBhvr additive="base">
                                        <p:cTn id="217" dur="450" fill="hold"/>
                                        <p:tgtEl>
                                          <p:spTgt spid="55"/>
                                        </p:tgtEl>
                                        <p:attrNameLst>
                                          <p:attrName>ppt_w</p:attrName>
                                        </p:attrNameLst>
                                      </p:cBhvr>
                                      <p:tavLst>
                                        <p:tav tm="0">
                                          <p:val>
                                            <p:strVal val="#ppt_w*0.2"/>
                                          </p:val>
                                        </p:tav>
                                        <p:tav tm="100000">
                                          <p:val>
                                            <p:strVal val="#ppt_w"/>
                                          </p:val>
                                        </p:tav>
                                      </p:tavLst>
                                    </p:anim>
                                    <p:anim calcmode="lin" valueType="num">
                                      <p:cBhvr additive="base">
                                        <p:cTn id="218" dur="450" fill="hold"/>
                                        <p:tgtEl>
                                          <p:spTgt spid="55"/>
                                        </p:tgtEl>
                                        <p:attrNameLst>
                                          <p:attrName>ppt_h</p:attrName>
                                        </p:attrNameLst>
                                      </p:cBhvr>
                                      <p:tavLst>
                                        <p:tav tm="0">
                                          <p:val>
                                            <p:strVal val="#ppt_h*0.2"/>
                                          </p:val>
                                        </p:tav>
                                        <p:tav tm="100000">
                                          <p:val>
                                            <p:strVal val="#ppt_h"/>
                                          </p:val>
                                        </p:tav>
                                      </p:tavLst>
                                    </p:anim>
                                  </p:childTnLst>
                                </p:cTn>
                              </p:par>
                              <p:par>
                                <p:cTn id="219" presetID="53" presetClass="entr" presetSubtype="16" decel="100000" fill="hold" grpId="0" nodeType="withEffect">
                                  <p:stCondLst>
                                    <p:cond delay="2010"/>
                                  </p:stCondLst>
                                  <p:childTnLst>
                                    <p:set>
                                      <p:cBhvr>
                                        <p:cTn id="220" dur="1" fill="hold">
                                          <p:stCondLst>
                                            <p:cond delay="0"/>
                                          </p:stCondLst>
                                        </p:cTn>
                                        <p:tgtEl>
                                          <p:spTgt spid="56"/>
                                        </p:tgtEl>
                                        <p:attrNameLst>
                                          <p:attrName>style.visibility</p:attrName>
                                        </p:attrNameLst>
                                      </p:cBhvr>
                                      <p:to>
                                        <p:strVal val="visible"/>
                                      </p:to>
                                    </p:set>
                                    <p:animEffect transition="in" filter="fade">
                                      <p:cBhvr>
                                        <p:cTn id="221" dur="450"/>
                                        <p:tgtEl>
                                          <p:spTgt spid="56"/>
                                        </p:tgtEl>
                                      </p:cBhvr>
                                    </p:animEffect>
                                    <p:anim calcmode="lin" valueType="num">
                                      <p:cBhvr additive="base">
                                        <p:cTn id="222" dur="450" fill="hold"/>
                                        <p:tgtEl>
                                          <p:spTgt spid="56"/>
                                        </p:tgtEl>
                                        <p:attrNameLst>
                                          <p:attrName>ppt_w</p:attrName>
                                        </p:attrNameLst>
                                      </p:cBhvr>
                                      <p:tavLst>
                                        <p:tav tm="0">
                                          <p:val>
                                            <p:strVal val="#ppt_w*0.2"/>
                                          </p:val>
                                        </p:tav>
                                        <p:tav tm="100000">
                                          <p:val>
                                            <p:strVal val="#ppt_w"/>
                                          </p:val>
                                        </p:tav>
                                      </p:tavLst>
                                    </p:anim>
                                    <p:anim calcmode="lin" valueType="num">
                                      <p:cBhvr additive="base">
                                        <p:cTn id="223" dur="450" fill="hold"/>
                                        <p:tgtEl>
                                          <p:spTgt spid="56"/>
                                        </p:tgtEl>
                                        <p:attrNameLst>
                                          <p:attrName>ppt_h</p:attrName>
                                        </p:attrNameLst>
                                      </p:cBhvr>
                                      <p:tavLst>
                                        <p:tav tm="0">
                                          <p:val>
                                            <p:strVal val="#ppt_h*0.2"/>
                                          </p:val>
                                        </p:tav>
                                        <p:tav tm="100000">
                                          <p:val>
                                            <p:strVal val="#ppt_h"/>
                                          </p:val>
                                        </p:tav>
                                      </p:tavLst>
                                    </p:anim>
                                  </p:childTnLst>
                                </p:cTn>
                              </p:par>
                              <p:par>
                                <p:cTn id="224" presetID="10" presetClass="entr" presetSubtype="0" decel="100000" fill="hold" grpId="0" nodeType="withEffect">
                                  <p:stCondLst>
                                    <p:cond delay="2010"/>
                                  </p:stCondLst>
                                  <p:childTnLst>
                                    <p:set>
                                      <p:cBhvr>
                                        <p:cTn id="225" dur="1" fill="hold">
                                          <p:stCondLst>
                                            <p:cond delay="0"/>
                                          </p:stCondLst>
                                        </p:cTn>
                                        <p:tgtEl>
                                          <p:spTgt spid="57"/>
                                        </p:tgtEl>
                                        <p:attrNameLst>
                                          <p:attrName>style.visibility</p:attrName>
                                        </p:attrNameLst>
                                      </p:cBhvr>
                                      <p:to>
                                        <p:strVal val="visible"/>
                                      </p:to>
                                    </p:set>
                                    <p:animEffect transition="in" filter="fade">
                                      <p:cBhvr>
                                        <p:cTn id="226" dur="600"/>
                                        <p:tgtEl>
                                          <p:spTgt spid="57"/>
                                        </p:tgtEl>
                                      </p:cBhvr>
                                    </p:animEffect>
                                  </p:childTnLst>
                                </p:cTn>
                              </p:par>
                              <p:par>
                                <p:cTn id="227" presetID="53" presetClass="entr" presetSubtype="16" decel="100000" fill="hold" grpId="0" nodeType="withEffect">
                                  <p:stCondLst>
                                    <p:cond delay="2230"/>
                                  </p:stCondLst>
                                  <p:childTnLst>
                                    <p:set>
                                      <p:cBhvr>
                                        <p:cTn id="228" dur="1" fill="hold">
                                          <p:stCondLst>
                                            <p:cond delay="0"/>
                                          </p:stCondLst>
                                        </p:cTn>
                                        <p:tgtEl>
                                          <p:spTgt spid="58"/>
                                        </p:tgtEl>
                                        <p:attrNameLst>
                                          <p:attrName>style.visibility</p:attrName>
                                        </p:attrNameLst>
                                      </p:cBhvr>
                                      <p:to>
                                        <p:strVal val="visible"/>
                                      </p:to>
                                    </p:set>
                                    <p:animEffect transition="in" filter="fade">
                                      <p:cBhvr>
                                        <p:cTn id="229" dur="450"/>
                                        <p:tgtEl>
                                          <p:spTgt spid="58"/>
                                        </p:tgtEl>
                                      </p:cBhvr>
                                    </p:animEffect>
                                    <p:anim calcmode="lin" valueType="num">
                                      <p:cBhvr additive="base">
                                        <p:cTn id="230" dur="450" fill="hold"/>
                                        <p:tgtEl>
                                          <p:spTgt spid="58"/>
                                        </p:tgtEl>
                                        <p:attrNameLst>
                                          <p:attrName>ppt_w</p:attrName>
                                        </p:attrNameLst>
                                      </p:cBhvr>
                                      <p:tavLst>
                                        <p:tav tm="0">
                                          <p:val>
                                            <p:strVal val="#ppt_w*0.2"/>
                                          </p:val>
                                        </p:tav>
                                        <p:tav tm="100000">
                                          <p:val>
                                            <p:strVal val="#ppt_w"/>
                                          </p:val>
                                        </p:tav>
                                      </p:tavLst>
                                    </p:anim>
                                    <p:anim calcmode="lin" valueType="num">
                                      <p:cBhvr additive="base">
                                        <p:cTn id="231" dur="450" fill="hold"/>
                                        <p:tgtEl>
                                          <p:spTgt spid="58"/>
                                        </p:tgtEl>
                                        <p:attrNameLst>
                                          <p:attrName>ppt_h</p:attrName>
                                        </p:attrNameLst>
                                      </p:cBhvr>
                                      <p:tavLst>
                                        <p:tav tm="0">
                                          <p:val>
                                            <p:strVal val="#ppt_h*0.2"/>
                                          </p:val>
                                        </p:tav>
                                        <p:tav tm="100000">
                                          <p:val>
                                            <p:strVal val="#ppt_h"/>
                                          </p:val>
                                        </p:tav>
                                      </p:tavLst>
                                    </p:anim>
                                  </p:childTnLst>
                                </p:cTn>
                              </p:par>
                              <p:par>
                                <p:cTn id="232" presetID="53" presetClass="entr" presetSubtype="16" decel="100000" fill="hold" grpId="0" nodeType="withEffect">
                                  <p:stCondLst>
                                    <p:cond delay="2230"/>
                                  </p:stCondLst>
                                  <p:childTnLst>
                                    <p:set>
                                      <p:cBhvr>
                                        <p:cTn id="233" dur="1" fill="hold">
                                          <p:stCondLst>
                                            <p:cond delay="0"/>
                                          </p:stCondLst>
                                        </p:cTn>
                                        <p:tgtEl>
                                          <p:spTgt spid="59"/>
                                        </p:tgtEl>
                                        <p:attrNameLst>
                                          <p:attrName>style.visibility</p:attrName>
                                        </p:attrNameLst>
                                      </p:cBhvr>
                                      <p:to>
                                        <p:strVal val="visible"/>
                                      </p:to>
                                    </p:set>
                                    <p:animEffect transition="in" filter="fade">
                                      <p:cBhvr>
                                        <p:cTn id="234" dur="450"/>
                                        <p:tgtEl>
                                          <p:spTgt spid="59"/>
                                        </p:tgtEl>
                                      </p:cBhvr>
                                    </p:animEffect>
                                    <p:anim calcmode="lin" valueType="num">
                                      <p:cBhvr additive="base">
                                        <p:cTn id="235" dur="450" fill="hold"/>
                                        <p:tgtEl>
                                          <p:spTgt spid="59"/>
                                        </p:tgtEl>
                                        <p:attrNameLst>
                                          <p:attrName>ppt_w</p:attrName>
                                        </p:attrNameLst>
                                      </p:cBhvr>
                                      <p:tavLst>
                                        <p:tav tm="0">
                                          <p:val>
                                            <p:strVal val="#ppt_w*0.2"/>
                                          </p:val>
                                        </p:tav>
                                        <p:tav tm="100000">
                                          <p:val>
                                            <p:strVal val="#ppt_w"/>
                                          </p:val>
                                        </p:tav>
                                      </p:tavLst>
                                    </p:anim>
                                    <p:anim calcmode="lin" valueType="num">
                                      <p:cBhvr additive="base">
                                        <p:cTn id="236" dur="450" fill="hold"/>
                                        <p:tgtEl>
                                          <p:spTgt spid="59"/>
                                        </p:tgtEl>
                                        <p:attrNameLst>
                                          <p:attrName>ppt_h</p:attrName>
                                        </p:attrNameLst>
                                      </p:cBhvr>
                                      <p:tavLst>
                                        <p:tav tm="0">
                                          <p:val>
                                            <p:strVal val="#ppt_h*0.2"/>
                                          </p:val>
                                        </p:tav>
                                        <p:tav tm="100000">
                                          <p:val>
                                            <p:strVal val="#ppt_h"/>
                                          </p:val>
                                        </p:tav>
                                      </p:tavLst>
                                    </p:anim>
                                  </p:childTnLst>
                                </p:cTn>
                              </p:par>
                              <p:par>
                                <p:cTn id="237" presetID="53" presetClass="entr" presetSubtype="16" decel="100000" fill="hold" grpId="0" nodeType="withEffect">
                                  <p:stCondLst>
                                    <p:cond delay="2230"/>
                                  </p:stCondLst>
                                  <p:childTnLst>
                                    <p:set>
                                      <p:cBhvr>
                                        <p:cTn id="238" dur="1" fill="hold">
                                          <p:stCondLst>
                                            <p:cond delay="0"/>
                                          </p:stCondLst>
                                        </p:cTn>
                                        <p:tgtEl>
                                          <p:spTgt spid="60"/>
                                        </p:tgtEl>
                                        <p:attrNameLst>
                                          <p:attrName>style.visibility</p:attrName>
                                        </p:attrNameLst>
                                      </p:cBhvr>
                                      <p:to>
                                        <p:strVal val="visible"/>
                                      </p:to>
                                    </p:set>
                                    <p:animEffect transition="in" filter="fade">
                                      <p:cBhvr>
                                        <p:cTn id="239" dur="450"/>
                                        <p:tgtEl>
                                          <p:spTgt spid="60"/>
                                        </p:tgtEl>
                                      </p:cBhvr>
                                    </p:animEffect>
                                    <p:anim calcmode="lin" valueType="num">
                                      <p:cBhvr additive="base">
                                        <p:cTn id="240" dur="450" fill="hold"/>
                                        <p:tgtEl>
                                          <p:spTgt spid="60"/>
                                        </p:tgtEl>
                                        <p:attrNameLst>
                                          <p:attrName>ppt_w</p:attrName>
                                        </p:attrNameLst>
                                      </p:cBhvr>
                                      <p:tavLst>
                                        <p:tav tm="0">
                                          <p:val>
                                            <p:strVal val="#ppt_w*0.2"/>
                                          </p:val>
                                        </p:tav>
                                        <p:tav tm="100000">
                                          <p:val>
                                            <p:strVal val="#ppt_w"/>
                                          </p:val>
                                        </p:tav>
                                      </p:tavLst>
                                    </p:anim>
                                    <p:anim calcmode="lin" valueType="num">
                                      <p:cBhvr additive="base">
                                        <p:cTn id="241" dur="450" fill="hold"/>
                                        <p:tgtEl>
                                          <p:spTgt spid="60"/>
                                        </p:tgtEl>
                                        <p:attrNameLst>
                                          <p:attrName>ppt_h</p:attrName>
                                        </p:attrNameLst>
                                      </p:cBhvr>
                                      <p:tavLst>
                                        <p:tav tm="0">
                                          <p:val>
                                            <p:strVal val="#ppt_h*0.2"/>
                                          </p:val>
                                        </p:tav>
                                        <p:tav tm="100000">
                                          <p:val>
                                            <p:strVal val="#ppt_h"/>
                                          </p:val>
                                        </p:tav>
                                      </p:tavLst>
                                    </p:anim>
                                  </p:childTnLst>
                                </p:cTn>
                              </p:par>
                              <p:par>
                                <p:cTn id="242" presetID="53" presetClass="entr" presetSubtype="16" decel="100000" fill="hold" grpId="0" nodeType="withEffect">
                                  <p:stCondLst>
                                    <p:cond delay="2230"/>
                                  </p:stCondLst>
                                  <p:childTnLst>
                                    <p:set>
                                      <p:cBhvr>
                                        <p:cTn id="243" dur="1" fill="hold">
                                          <p:stCondLst>
                                            <p:cond delay="0"/>
                                          </p:stCondLst>
                                        </p:cTn>
                                        <p:tgtEl>
                                          <p:spTgt spid="61"/>
                                        </p:tgtEl>
                                        <p:attrNameLst>
                                          <p:attrName>style.visibility</p:attrName>
                                        </p:attrNameLst>
                                      </p:cBhvr>
                                      <p:to>
                                        <p:strVal val="visible"/>
                                      </p:to>
                                    </p:set>
                                    <p:animEffect transition="in" filter="fade">
                                      <p:cBhvr>
                                        <p:cTn id="244" dur="450"/>
                                        <p:tgtEl>
                                          <p:spTgt spid="61"/>
                                        </p:tgtEl>
                                      </p:cBhvr>
                                    </p:animEffect>
                                    <p:anim calcmode="lin" valueType="num">
                                      <p:cBhvr additive="base">
                                        <p:cTn id="245" dur="450" fill="hold"/>
                                        <p:tgtEl>
                                          <p:spTgt spid="61"/>
                                        </p:tgtEl>
                                        <p:attrNameLst>
                                          <p:attrName>ppt_w</p:attrName>
                                        </p:attrNameLst>
                                      </p:cBhvr>
                                      <p:tavLst>
                                        <p:tav tm="0">
                                          <p:val>
                                            <p:strVal val="#ppt_w*0.2"/>
                                          </p:val>
                                        </p:tav>
                                        <p:tav tm="100000">
                                          <p:val>
                                            <p:strVal val="#ppt_w"/>
                                          </p:val>
                                        </p:tav>
                                      </p:tavLst>
                                    </p:anim>
                                    <p:anim calcmode="lin" valueType="num">
                                      <p:cBhvr additive="base">
                                        <p:cTn id="246" dur="450" fill="hold"/>
                                        <p:tgtEl>
                                          <p:spTgt spid="61"/>
                                        </p:tgtEl>
                                        <p:attrNameLst>
                                          <p:attrName>ppt_h</p:attrName>
                                        </p:attrNameLst>
                                      </p:cBhvr>
                                      <p:tavLst>
                                        <p:tav tm="0">
                                          <p:val>
                                            <p:strVal val="#ppt_h*0.2"/>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p:bldP spid="10" grpId="0" animBg="1"/>
      <p:bldP spid="11" grpId="0" animBg="1"/>
      <p:bldP spid="12" grpId="0" animBg="1"/>
      <p:bldP spid="13" grpId="0" animBg="1"/>
      <p:bldP spid="14" grpId="0" animBg="1"/>
      <p:bldP spid="15" grpId="0" animBg="1"/>
      <p:bldP spid="16" grpId="0" animBg="1"/>
      <p:bldP spid="17" grpId="0" animBg="1"/>
      <p:bldP spid="18" grpId="0" animBg="1"/>
      <p:bldP spid="19" grpId="0"/>
      <p:bldP spid="20" grpId="0" animBg="1"/>
      <p:bldP spid="21" grpId="0" animBg="1"/>
      <p:bldP spid="22" grpId="0" animBg="1"/>
      <p:bldP spid="23" grpId="0" animBg="1"/>
      <p:bldP spid="24" grpId="0" animBg="1"/>
      <p:bldP spid="25" grpId="0" animBg="1"/>
      <p:bldP spid="26" grpId="0" animBg="1"/>
      <p:bldP spid="27" grpId="0" animBg="1"/>
      <p:bldP spid="28" grpId="0" animBg="1"/>
      <p:bldP spid="29" grpId="0"/>
      <p:bldP spid="30" grpId="0" animBg="1"/>
      <p:bldP spid="31" grpId="0" animBg="1"/>
      <p:bldP spid="32" grpId="0" animBg="1"/>
      <p:bldP spid="33" grpId="0" animBg="1"/>
      <p:bldP spid="34" grpId="0" animBg="1"/>
      <p:bldP spid="35" grpId="0" animBg="1"/>
      <p:bldP spid="36" grpId="0" animBg="1"/>
      <p:bldP spid="37" grpId="0" animBg="1"/>
      <p:bldP spid="38" grpId="0" animBg="1"/>
      <p:bldP spid="39" grpId="0"/>
      <p:bldP spid="40" grpId="0" animBg="1"/>
      <p:bldP spid="41" grpId="0" animBg="1"/>
      <p:bldP spid="42" grpId="0" animBg="1"/>
      <p:bldP spid="43" grpId="0" animBg="1"/>
      <p:bldP spid="44" grpId="0"/>
      <p:bldP spid="45" grpId="0" animBg="1"/>
      <p:bldP spid="46" grpId="0" animBg="1"/>
      <p:bldP spid="47" grpId="0" animBg="1"/>
      <p:bldP spid="48" grpId="0" animBg="1"/>
      <p:bldP spid="49" grpId="0"/>
      <p:bldP spid="50" grpId="0" animBg="1"/>
      <p:bldP spid="51" grpId="0" animBg="1"/>
      <p:bldP spid="52" grpId="0" animBg="1"/>
      <p:bldP spid="53" grpId="0" animBg="1"/>
      <p:bldP spid="54" grpId="0"/>
      <p:bldP spid="55" grpId="0" animBg="1"/>
      <p:bldP spid="56" grpId="0" animBg="1"/>
      <p:bldP spid="57" grpId="0" animBg="1"/>
      <p:bldP spid="58" grpId="0" animBg="1"/>
      <p:bldP spid="59" grpId="0"/>
      <p:bldP spid="60" grpId="0" animBg="1"/>
      <p:bldP spid="6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377440" y="-1280160"/>
            <a:ext cx="5943600" cy="59436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8046720" y="347472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DATA &amp; STUDY AREA</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Five independent data sources, six years, 91 stands</a:t>
            </a:r>
            <a:endParaRPr lang="en-US" sz="3400" dirty="0"/>
          </a:p>
        </p:txBody>
      </p:sp>
      <p:sp>
        <p:nvSpPr>
          <p:cNvPr id="7" name="a1zoom_mapcard"/>
          <p:cNvSpPr/>
          <p:nvPr/>
        </p:nvSpPr>
        <p:spPr>
          <a:xfrm>
            <a:off x="548640" y="1691640"/>
            <a:ext cx="4343400" cy="4480560"/>
          </a:xfrm>
          <a:prstGeom prst="roundRect">
            <a:avLst>
              <a:gd name="adj" fmla="val 2947"/>
            </a:avLst>
          </a:prstGeom>
          <a:solidFill>
            <a:srgbClr val="F3F7FB">
              <a:alpha val="90000"/>
            </a:srgbClr>
          </a:solidFill>
          <a:ln w="9525">
            <a:solidFill>
              <a:srgbClr val="D3E0EE"/>
            </a:solidFill>
            <a:prstDash val="solid"/>
          </a:ln>
          <a:effectLst>
            <a:outerShdw blurRad="152400" dist="38100" dir="5400000" algn="bl" rotWithShape="0">
              <a:srgbClr val="1B2B40">
                <a:alpha val="12000"/>
              </a:srgbClr>
            </a:outerShdw>
          </a:effectLst>
        </p:spPr>
      </p:sp>
      <p:pic>
        <p:nvPicPr>
          <p:cNvPr id="8" name="a1zoom_map" descr="C:\Users\nahla\Desktop\UAE-Space-Hackatoon\deck_pptx\build\assets\stand_map.png"/>
          <p:cNvPicPr>
            <a:picLocks noChangeAspect="1"/>
          </p:cNvPicPr>
          <p:nvPr/>
        </p:nvPicPr>
        <p:blipFill>
          <a:blip r:embed="rId5"/>
          <a:stretch>
            <a:fillRect/>
          </a:stretch>
        </p:blipFill>
        <p:spPr>
          <a:xfrm>
            <a:off x="685800" y="1783080"/>
            <a:ext cx="4069080" cy="3386056"/>
          </a:xfrm>
          <a:prstGeom prst="rect">
            <a:avLst/>
          </a:prstGeom>
        </p:spPr>
      </p:pic>
      <p:sp>
        <p:nvSpPr>
          <p:cNvPr id="9" name="a2fade_mapcap"/>
          <p:cNvSpPr txBox="1"/>
          <p:nvPr/>
        </p:nvSpPr>
        <p:spPr>
          <a:xfrm>
            <a:off x="777240" y="5303520"/>
            <a:ext cx="3931920" cy="77724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Pilot: 25 stands · 2,281 ha (WorldCover 2021 patches ≥ 3 ha). +66 unseen stands in Abu Dhabi N/W and Saudi Tarut Bay test transfer.</a:t>
            </a:r>
            <a:endParaRPr lang="en-US" sz="1200" dirty="0"/>
          </a:p>
        </p:txBody>
      </p:sp>
      <p:sp>
        <p:nvSpPr>
          <p:cNvPr id="10" name="a2float_d0"/>
          <p:cNvSpPr/>
          <p:nvPr/>
        </p:nvSpPr>
        <p:spPr>
          <a:xfrm>
            <a:off x="5120640" y="1691640"/>
            <a:ext cx="6519672" cy="786384"/>
          </a:xfrm>
          <a:prstGeom prst="roundRect">
            <a:avLst>
              <a:gd name="adj" fmla="val 16279"/>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1" name="a2float_d0ic_c"/>
          <p:cNvSpPr/>
          <p:nvPr/>
        </p:nvSpPr>
        <p:spPr>
          <a:xfrm>
            <a:off x="5303520" y="1847088"/>
            <a:ext cx="475488" cy="475488"/>
          </a:xfrm>
          <a:prstGeom prst="ellipse">
            <a:avLst/>
          </a:prstGeom>
          <a:solidFill>
            <a:srgbClr val="3F6E9E">
              <a:alpha val="18000"/>
            </a:srgbClr>
          </a:solidFill>
          <a:ln w="12700">
            <a:solidFill>
              <a:srgbClr val="3F6E9E"/>
            </a:solidFill>
            <a:prstDash val="solid"/>
          </a:ln>
        </p:spPr>
      </p:sp>
      <p:pic>
        <p:nvPicPr>
          <p:cNvPr id="12" name="a2float_d0ic_i" descr="preencoded.png"/>
          <p:cNvPicPr>
            <a:picLocks noChangeAspect="1"/>
          </p:cNvPicPr>
          <p:nvPr/>
        </p:nvPicPr>
        <p:blipFill>
          <a:blip r:embed="rId6"/>
          <a:stretch>
            <a:fillRect/>
          </a:stretch>
        </p:blipFill>
        <p:spPr>
          <a:xfrm>
            <a:off x="5417637" y="1961205"/>
            <a:ext cx="247254" cy="247254"/>
          </a:xfrm>
          <a:prstGeom prst="rect">
            <a:avLst/>
          </a:prstGeom>
        </p:spPr>
      </p:pic>
      <p:sp>
        <p:nvSpPr>
          <p:cNvPr id="13" name="a2float_d0t"/>
          <p:cNvSpPr txBox="1"/>
          <p:nvPr/>
        </p:nvSpPr>
        <p:spPr>
          <a:xfrm>
            <a:off x="5943600" y="1801368"/>
            <a:ext cx="365760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Sentinel-2 L2A</a:t>
            </a:r>
            <a:endParaRPr lang="en-US" sz="1500" dirty="0"/>
          </a:p>
        </p:txBody>
      </p:sp>
      <p:sp>
        <p:nvSpPr>
          <p:cNvPr id="14" name="a2float_d0d"/>
          <p:cNvSpPr txBox="1"/>
          <p:nvPr/>
        </p:nvSpPr>
        <p:spPr>
          <a:xfrm>
            <a:off x="5943600" y="2112264"/>
            <a:ext cx="384048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ESA / Copernicus · 10–20 m time series</a:t>
            </a:r>
            <a:endParaRPr lang="en-US" sz="1200" dirty="0"/>
          </a:p>
        </p:txBody>
      </p:sp>
      <p:sp>
        <p:nvSpPr>
          <p:cNvPr id="15" name="a2float_d0p_bg"/>
          <p:cNvSpPr/>
          <p:nvPr/>
        </p:nvSpPr>
        <p:spPr>
          <a:xfrm>
            <a:off x="10222992" y="1901952"/>
            <a:ext cx="1234440" cy="365760"/>
          </a:xfrm>
          <a:prstGeom prst="roundRect">
            <a:avLst>
              <a:gd name="adj" fmla="val 50000"/>
            </a:avLst>
          </a:prstGeom>
          <a:solidFill>
            <a:srgbClr val="A9813A">
              <a:alpha val="15000"/>
            </a:srgbClr>
          </a:solidFill>
          <a:ln w="9525">
            <a:solidFill>
              <a:srgbClr val="A9813A"/>
            </a:solidFill>
            <a:prstDash val="solid"/>
          </a:ln>
        </p:spPr>
      </p:sp>
      <p:sp>
        <p:nvSpPr>
          <p:cNvPr id="16" name="a2float_d0p"/>
          <p:cNvSpPr txBox="1"/>
          <p:nvPr/>
        </p:nvSpPr>
        <p:spPr>
          <a:xfrm>
            <a:off x="10222992" y="1901952"/>
            <a:ext cx="1234440" cy="365760"/>
          </a:xfrm>
          <a:prstGeom prst="rect">
            <a:avLst/>
          </a:prstGeom>
          <a:noFill/>
          <a:ln/>
        </p:spPr>
        <p:txBody>
          <a:bodyPr wrap="square" lIns="0" tIns="0" rIns="0" bIns="0" rtlCol="0" anchor="ctr"/>
          <a:lstStyle/>
          <a:p>
            <a:pPr marL="0" indent="0" algn="ctr">
              <a:lnSpc>
                <a:spcPct val="105000"/>
              </a:lnSpc>
              <a:buNone/>
            </a:pPr>
            <a:r>
              <a:rPr lang="en-US" sz="1300" dirty="0">
                <a:solidFill>
                  <a:srgbClr val="8A6A2A"/>
                </a:solidFill>
                <a:latin typeface="Segoe UI Semibold" pitchFamily="34" charset="0"/>
                <a:ea typeface="Segoe UI Semibold" pitchFamily="34" charset="-122"/>
                <a:cs typeface="Segoe UI Semibold" pitchFamily="34" charset="-120"/>
              </a:rPr>
              <a:t>778 dates</a:t>
            </a:r>
            <a:endParaRPr lang="en-US" sz="1300" dirty="0"/>
          </a:p>
        </p:txBody>
      </p:sp>
      <p:sp>
        <p:nvSpPr>
          <p:cNvPr id="17" name="a3float_d1"/>
          <p:cNvSpPr/>
          <p:nvPr/>
        </p:nvSpPr>
        <p:spPr>
          <a:xfrm>
            <a:off x="5120640" y="2596896"/>
            <a:ext cx="6519672" cy="786384"/>
          </a:xfrm>
          <a:prstGeom prst="roundRect">
            <a:avLst>
              <a:gd name="adj" fmla="val 16279"/>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8" name="a3float_d1ic_c"/>
          <p:cNvSpPr/>
          <p:nvPr/>
        </p:nvSpPr>
        <p:spPr>
          <a:xfrm>
            <a:off x="5303520" y="2752344"/>
            <a:ext cx="475488" cy="475488"/>
          </a:xfrm>
          <a:prstGeom prst="ellipse">
            <a:avLst/>
          </a:prstGeom>
          <a:solidFill>
            <a:srgbClr val="7D6FB0">
              <a:alpha val="18000"/>
            </a:srgbClr>
          </a:solidFill>
          <a:ln w="12700">
            <a:solidFill>
              <a:srgbClr val="7D6FB0"/>
            </a:solidFill>
            <a:prstDash val="solid"/>
          </a:ln>
        </p:spPr>
      </p:sp>
      <p:pic>
        <p:nvPicPr>
          <p:cNvPr id="19" name="a3float_d1ic_i" descr="preencoded.png"/>
          <p:cNvPicPr>
            <a:picLocks noChangeAspect="1"/>
          </p:cNvPicPr>
          <p:nvPr/>
        </p:nvPicPr>
        <p:blipFill>
          <a:blip r:embed="rId7"/>
          <a:stretch>
            <a:fillRect/>
          </a:stretch>
        </p:blipFill>
        <p:spPr>
          <a:xfrm>
            <a:off x="5417637" y="2866461"/>
            <a:ext cx="247254" cy="247254"/>
          </a:xfrm>
          <a:prstGeom prst="rect">
            <a:avLst/>
          </a:prstGeom>
        </p:spPr>
      </p:pic>
      <p:sp>
        <p:nvSpPr>
          <p:cNvPr id="20" name="a3float_d1t"/>
          <p:cNvSpPr txBox="1"/>
          <p:nvPr/>
        </p:nvSpPr>
        <p:spPr>
          <a:xfrm>
            <a:off x="5943600" y="2706624"/>
            <a:ext cx="365760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EnMAP hyperspectral</a:t>
            </a:r>
            <a:endParaRPr lang="en-US" sz="1500" dirty="0"/>
          </a:p>
        </p:txBody>
      </p:sp>
      <p:sp>
        <p:nvSpPr>
          <p:cNvPr id="21" name="a3float_d1d"/>
          <p:cNvSpPr txBox="1"/>
          <p:nvPr/>
        </p:nvSpPr>
        <p:spPr>
          <a:xfrm>
            <a:off x="5943600" y="3017520"/>
            <a:ext cx="384048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DLR · 224 bands · independent check</a:t>
            </a:r>
            <a:endParaRPr lang="en-US" sz="1200" dirty="0"/>
          </a:p>
        </p:txBody>
      </p:sp>
      <p:sp>
        <p:nvSpPr>
          <p:cNvPr id="22" name="a3float_d1p_bg"/>
          <p:cNvSpPr/>
          <p:nvPr/>
        </p:nvSpPr>
        <p:spPr>
          <a:xfrm>
            <a:off x="10222992" y="2807208"/>
            <a:ext cx="1234440" cy="365760"/>
          </a:xfrm>
          <a:prstGeom prst="roundRect">
            <a:avLst>
              <a:gd name="adj" fmla="val 50000"/>
            </a:avLst>
          </a:prstGeom>
          <a:solidFill>
            <a:srgbClr val="7D6FB0">
              <a:alpha val="15000"/>
            </a:srgbClr>
          </a:solidFill>
          <a:ln w="9525">
            <a:solidFill>
              <a:srgbClr val="7D6FB0"/>
            </a:solidFill>
            <a:prstDash val="solid"/>
          </a:ln>
        </p:spPr>
      </p:sp>
      <p:sp>
        <p:nvSpPr>
          <p:cNvPr id="23" name="a3float_d1p"/>
          <p:cNvSpPr txBox="1"/>
          <p:nvPr/>
        </p:nvSpPr>
        <p:spPr>
          <a:xfrm>
            <a:off x="10222992" y="2807208"/>
            <a:ext cx="1234440" cy="365760"/>
          </a:xfrm>
          <a:prstGeom prst="rect">
            <a:avLst/>
          </a:prstGeom>
          <a:noFill/>
          <a:ln/>
        </p:spPr>
        <p:txBody>
          <a:bodyPr wrap="square" lIns="0" tIns="0" rIns="0" bIns="0" rtlCol="0" anchor="ctr"/>
          <a:lstStyle/>
          <a:p>
            <a:pPr marL="0" indent="0" algn="ctr">
              <a:lnSpc>
                <a:spcPct val="105000"/>
              </a:lnSpc>
              <a:buNone/>
            </a:pPr>
            <a:r>
              <a:rPr lang="en-US" sz="1300" dirty="0">
                <a:solidFill>
                  <a:srgbClr val="5E5296"/>
                </a:solidFill>
                <a:latin typeface="Segoe UI Semibold" pitchFamily="34" charset="0"/>
                <a:ea typeface="Segoe UI Semibold" pitchFamily="34" charset="-122"/>
                <a:cs typeface="Segoe UI Semibold" pitchFamily="34" charset="-120"/>
              </a:rPr>
              <a:t>2 scenes</a:t>
            </a:r>
            <a:endParaRPr lang="en-US" sz="1300" dirty="0"/>
          </a:p>
        </p:txBody>
      </p:sp>
      <p:sp>
        <p:nvSpPr>
          <p:cNvPr id="24" name="a4float_d2"/>
          <p:cNvSpPr/>
          <p:nvPr/>
        </p:nvSpPr>
        <p:spPr>
          <a:xfrm>
            <a:off x="5120640" y="3502152"/>
            <a:ext cx="6519672" cy="786384"/>
          </a:xfrm>
          <a:prstGeom prst="roundRect">
            <a:avLst>
              <a:gd name="adj" fmla="val 16279"/>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25" name="a4float_d2ic_c"/>
          <p:cNvSpPr/>
          <p:nvPr/>
        </p:nvSpPr>
        <p:spPr>
          <a:xfrm>
            <a:off x="5303520" y="3657600"/>
            <a:ext cx="475488" cy="475488"/>
          </a:xfrm>
          <a:prstGeom prst="ellipse">
            <a:avLst/>
          </a:prstGeom>
          <a:solidFill>
            <a:srgbClr val="3F6E9E">
              <a:alpha val="18000"/>
            </a:srgbClr>
          </a:solidFill>
          <a:ln w="12700">
            <a:solidFill>
              <a:srgbClr val="3F6E9E"/>
            </a:solidFill>
            <a:prstDash val="solid"/>
          </a:ln>
        </p:spPr>
      </p:sp>
      <p:pic>
        <p:nvPicPr>
          <p:cNvPr id="26" name="a4float_d2ic_i" descr="preencoded.png"/>
          <p:cNvPicPr>
            <a:picLocks noChangeAspect="1"/>
          </p:cNvPicPr>
          <p:nvPr/>
        </p:nvPicPr>
        <p:blipFill>
          <a:blip r:embed="rId8"/>
          <a:stretch>
            <a:fillRect/>
          </a:stretch>
        </p:blipFill>
        <p:spPr>
          <a:xfrm>
            <a:off x="5417637" y="3771717"/>
            <a:ext cx="247254" cy="247254"/>
          </a:xfrm>
          <a:prstGeom prst="rect">
            <a:avLst/>
          </a:prstGeom>
        </p:spPr>
      </p:pic>
      <p:sp>
        <p:nvSpPr>
          <p:cNvPr id="27" name="a4float_d2t"/>
          <p:cNvSpPr txBox="1"/>
          <p:nvPr/>
        </p:nvSpPr>
        <p:spPr>
          <a:xfrm>
            <a:off x="5943600" y="3611880"/>
            <a:ext cx="365760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ESA WorldCover 2021</a:t>
            </a:r>
            <a:endParaRPr lang="en-US" sz="1500" dirty="0"/>
          </a:p>
        </p:txBody>
      </p:sp>
      <p:sp>
        <p:nvSpPr>
          <p:cNvPr id="28" name="a4float_d2d"/>
          <p:cNvSpPr txBox="1"/>
          <p:nvPr/>
        </p:nvSpPr>
        <p:spPr>
          <a:xfrm>
            <a:off x="5943600" y="3922776"/>
            <a:ext cx="384048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10 m land cover · stand outlines</a:t>
            </a:r>
            <a:endParaRPr lang="en-US" sz="1200" dirty="0"/>
          </a:p>
        </p:txBody>
      </p:sp>
      <p:sp>
        <p:nvSpPr>
          <p:cNvPr id="29" name="a4float_d2p_bg"/>
          <p:cNvSpPr/>
          <p:nvPr/>
        </p:nvSpPr>
        <p:spPr>
          <a:xfrm>
            <a:off x="10222992" y="3712464"/>
            <a:ext cx="1234440" cy="365760"/>
          </a:xfrm>
          <a:prstGeom prst="roundRect">
            <a:avLst>
              <a:gd name="adj" fmla="val 50000"/>
            </a:avLst>
          </a:prstGeom>
          <a:solidFill>
            <a:srgbClr val="A9813A">
              <a:alpha val="15000"/>
            </a:srgbClr>
          </a:solidFill>
          <a:ln w="9525">
            <a:solidFill>
              <a:srgbClr val="A9813A"/>
            </a:solidFill>
            <a:prstDash val="solid"/>
          </a:ln>
        </p:spPr>
      </p:sp>
      <p:sp>
        <p:nvSpPr>
          <p:cNvPr id="30" name="a4float_d2p"/>
          <p:cNvSpPr txBox="1"/>
          <p:nvPr/>
        </p:nvSpPr>
        <p:spPr>
          <a:xfrm>
            <a:off x="10222992" y="3712464"/>
            <a:ext cx="1234440" cy="365760"/>
          </a:xfrm>
          <a:prstGeom prst="rect">
            <a:avLst/>
          </a:prstGeom>
          <a:noFill/>
          <a:ln/>
        </p:spPr>
        <p:txBody>
          <a:bodyPr wrap="square" lIns="0" tIns="0" rIns="0" bIns="0" rtlCol="0" anchor="ctr"/>
          <a:lstStyle/>
          <a:p>
            <a:pPr marL="0" indent="0" algn="ctr">
              <a:lnSpc>
                <a:spcPct val="105000"/>
              </a:lnSpc>
              <a:buNone/>
            </a:pPr>
            <a:r>
              <a:rPr lang="en-US" sz="1300" dirty="0">
                <a:solidFill>
                  <a:srgbClr val="8A6A2A"/>
                </a:solidFill>
                <a:latin typeface="Segoe UI Semibold" pitchFamily="34" charset="0"/>
                <a:ea typeface="Segoe UI Semibold" pitchFamily="34" charset="-122"/>
                <a:cs typeface="Segoe UI Semibold" pitchFamily="34" charset="-120"/>
              </a:rPr>
              <a:t>CC BY 4.0</a:t>
            </a:r>
            <a:endParaRPr lang="en-US" sz="1300" dirty="0"/>
          </a:p>
        </p:txBody>
      </p:sp>
      <p:sp>
        <p:nvSpPr>
          <p:cNvPr id="31" name="a5float_d3"/>
          <p:cNvSpPr/>
          <p:nvPr/>
        </p:nvSpPr>
        <p:spPr>
          <a:xfrm>
            <a:off x="5120640" y="4407408"/>
            <a:ext cx="6519672" cy="786384"/>
          </a:xfrm>
          <a:prstGeom prst="roundRect">
            <a:avLst>
              <a:gd name="adj" fmla="val 16279"/>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32" name="a5float_d3ic_c"/>
          <p:cNvSpPr/>
          <p:nvPr/>
        </p:nvSpPr>
        <p:spPr>
          <a:xfrm>
            <a:off x="5303520" y="4562856"/>
            <a:ext cx="475488" cy="475488"/>
          </a:xfrm>
          <a:prstGeom prst="ellipse">
            <a:avLst/>
          </a:prstGeom>
          <a:solidFill>
            <a:srgbClr val="3F6E9E">
              <a:alpha val="18000"/>
            </a:srgbClr>
          </a:solidFill>
          <a:ln w="12700">
            <a:solidFill>
              <a:srgbClr val="3F6E9E"/>
            </a:solidFill>
            <a:prstDash val="solid"/>
          </a:ln>
        </p:spPr>
      </p:sp>
      <p:pic>
        <p:nvPicPr>
          <p:cNvPr id="33" name="a5float_d3ic_i" descr="preencoded.png"/>
          <p:cNvPicPr>
            <a:picLocks noChangeAspect="1"/>
          </p:cNvPicPr>
          <p:nvPr/>
        </p:nvPicPr>
        <p:blipFill>
          <a:blip r:embed="rId9"/>
          <a:stretch>
            <a:fillRect/>
          </a:stretch>
        </p:blipFill>
        <p:spPr>
          <a:xfrm>
            <a:off x="5417637" y="4676973"/>
            <a:ext cx="247254" cy="247254"/>
          </a:xfrm>
          <a:prstGeom prst="rect">
            <a:avLst/>
          </a:prstGeom>
        </p:spPr>
      </p:pic>
      <p:sp>
        <p:nvSpPr>
          <p:cNvPr id="34" name="a5float_d3t"/>
          <p:cNvSpPr txBox="1"/>
          <p:nvPr/>
        </p:nvSpPr>
        <p:spPr>
          <a:xfrm>
            <a:off x="5943600" y="4517136"/>
            <a:ext cx="365760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Field carbon plots</a:t>
            </a:r>
            <a:endParaRPr lang="en-US" sz="1500" dirty="0"/>
          </a:p>
        </p:txBody>
      </p:sp>
      <p:sp>
        <p:nvSpPr>
          <p:cNvPr id="35" name="a5float_d3d"/>
          <p:cNvSpPr txBox="1"/>
          <p:nvPr/>
        </p:nvSpPr>
        <p:spPr>
          <a:xfrm>
            <a:off x="5943600" y="4828032"/>
            <a:ext cx="384048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Schile et al. 2016 · carbon density</a:t>
            </a:r>
            <a:endParaRPr lang="en-US" sz="1200" dirty="0"/>
          </a:p>
        </p:txBody>
      </p:sp>
      <p:sp>
        <p:nvSpPr>
          <p:cNvPr id="36" name="a5float_d3p_bg"/>
          <p:cNvSpPr/>
          <p:nvPr/>
        </p:nvSpPr>
        <p:spPr>
          <a:xfrm>
            <a:off x="10222992" y="4617720"/>
            <a:ext cx="1234440" cy="365760"/>
          </a:xfrm>
          <a:prstGeom prst="roundRect">
            <a:avLst>
              <a:gd name="adj" fmla="val 50000"/>
            </a:avLst>
          </a:prstGeom>
          <a:solidFill>
            <a:srgbClr val="A9813A">
              <a:alpha val="15000"/>
            </a:srgbClr>
          </a:solidFill>
          <a:ln w="9525">
            <a:solidFill>
              <a:srgbClr val="A9813A"/>
            </a:solidFill>
            <a:prstDash val="solid"/>
          </a:ln>
        </p:spPr>
      </p:sp>
      <p:sp>
        <p:nvSpPr>
          <p:cNvPr id="37" name="a5float_d3p"/>
          <p:cNvSpPr txBox="1"/>
          <p:nvPr/>
        </p:nvSpPr>
        <p:spPr>
          <a:xfrm>
            <a:off x="10222992" y="4617720"/>
            <a:ext cx="1234440" cy="365760"/>
          </a:xfrm>
          <a:prstGeom prst="rect">
            <a:avLst/>
          </a:prstGeom>
          <a:noFill/>
          <a:ln/>
        </p:spPr>
        <p:txBody>
          <a:bodyPr wrap="square" lIns="0" tIns="0" rIns="0" bIns="0" rtlCol="0" anchor="ctr"/>
          <a:lstStyle/>
          <a:p>
            <a:pPr marL="0" indent="0" algn="ctr">
              <a:lnSpc>
                <a:spcPct val="105000"/>
              </a:lnSpc>
              <a:buNone/>
            </a:pPr>
            <a:r>
              <a:rPr lang="en-US" sz="1300" dirty="0">
                <a:solidFill>
                  <a:srgbClr val="8A6A2A"/>
                </a:solidFill>
                <a:latin typeface="Segoe UI Semibold" pitchFamily="34" charset="0"/>
                <a:ea typeface="Segoe UI Semibold" pitchFamily="34" charset="-122"/>
                <a:cs typeface="Segoe UI Semibold" pitchFamily="34" charset="-120"/>
              </a:rPr>
              <a:t>24 plots</a:t>
            </a:r>
            <a:endParaRPr lang="en-US" sz="1300" dirty="0"/>
          </a:p>
        </p:txBody>
      </p:sp>
      <p:sp>
        <p:nvSpPr>
          <p:cNvPr id="38" name="a6float_d4"/>
          <p:cNvSpPr/>
          <p:nvPr/>
        </p:nvSpPr>
        <p:spPr>
          <a:xfrm>
            <a:off x="5120640" y="5312664"/>
            <a:ext cx="6519672" cy="786384"/>
          </a:xfrm>
          <a:prstGeom prst="roundRect">
            <a:avLst>
              <a:gd name="adj" fmla="val 16279"/>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39" name="a6float_d4ic_c"/>
          <p:cNvSpPr/>
          <p:nvPr/>
        </p:nvSpPr>
        <p:spPr>
          <a:xfrm>
            <a:off x="5303520" y="5468112"/>
            <a:ext cx="475488" cy="475488"/>
          </a:xfrm>
          <a:prstGeom prst="ellipse">
            <a:avLst/>
          </a:prstGeom>
          <a:solidFill>
            <a:srgbClr val="3F6E9E">
              <a:alpha val="18000"/>
            </a:srgbClr>
          </a:solidFill>
          <a:ln w="12700">
            <a:solidFill>
              <a:srgbClr val="3F6E9E"/>
            </a:solidFill>
            <a:prstDash val="solid"/>
          </a:ln>
        </p:spPr>
      </p:sp>
      <p:pic>
        <p:nvPicPr>
          <p:cNvPr id="40" name="a6float_d4ic_i" descr="preencoded.png"/>
          <p:cNvPicPr>
            <a:picLocks noChangeAspect="1"/>
          </p:cNvPicPr>
          <p:nvPr/>
        </p:nvPicPr>
        <p:blipFill>
          <a:blip r:embed="rId10"/>
          <a:stretch>
            <a:fillRect/>
          </a:stretch>
        </p:blipFill>
        <p:spPr>
          <a:xfrm>
            <a:off x="5417637" y="5582229"/>
            <a:ext cx="247254" cy="247254"/>
          </a:xfrm>
          <a:prstGeom prst="rect">
            <a:avLst/>
          </a:prstGeom>
        </p:spPr>
      </p:pic>
      <p:sp>
        <p:nvSpPr>
          <p:cNvPr id="41" name="a6float_d4t"/>
          <p:cNvSpPr txBox="1"/>
          <p:nvPr/>
        </p:nvSpPr>
        <p:spPr>
          <a:xfrm>
            <a:off x="5943600" y="5422392"/>
            <a:ext cx="365760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Sub-metre captures</a:t>
            </a:r>
            <a:endParaRPr lang="en-US" sz="1500" dirty="0"/>
          </a:p>
        </p:txBody>
      </p:sp>
      <p:sp>
        <p:nvSpPr>
          <p:cNvPr id="42" name="a6float_d4d"/>
          <p:cNvSpPr txBox="1"/>
          <p:nvPr/>
        </p:nvSpPr>
        <p:spPr>
          <a:xfrm>
            <a:off x="5943600" y="5733288"/>
            <a:ext cx="384048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WorldView-2/3, Legion-1 · confirm events</a:t>
            </a:r>
            <a:endParaRPr lang="en-US" sz="1200" dirty="0"/>
          </a:p>
        </p:txBody>
      </p:sp>
      <p:sp>
        <p:nvSpPr>
          <p:cNvPr id="43" name="a6float_d4p_bg"/>
          <p:cNvSpPr/>
          <p:nvPr/>
        </p:nvSpPr>
        <p:spPr>
          <a:xfrm>
            <a:off x="10222992" y="5522976"/>
            <a:ext cx="1234440" cy="365760"/>
          </a:xfrm>
          <a:prstGeom prst="roundRect">
            <a:avLst>
              <a:gd name="adj" fmla="val 50000"/>
            </a:avLst>
          </a:prstGeom>
          <a:solidFill>
            <a:srgbClr val="A9813A">
              <a:alpha val="15000"/>
            </a:srgbClr>
          </a:solidFill>
          <a:ln w="9525">
            <a:solidFill>
              <a:srgbClr val="A9813A"/>
            </a:solidFill>
            <a:prstDash val="solid"/>
          </a:ln>
        </p:spPr>
      </p:sp>
      <p:sp>
        <p:nvSpPr>
          <p:cNvPr id="44" name="a6float_d4p"/>
          <p:cNvSpPr txBox="1"/>
          <p:nvPr/>
        </p:nvSpPr>
        <p:spPr>
          <a:xfrm>
            <a:off x="10222992" y="5522976"/>
            <a:ext cx="1234440" cy="365760"/>
          </a:xfrm>
          <a:prstGeom prst="rect">
            <a:avLst/>
          </a:prstGeom>
          <a:noFill/>
          <a:ln/>
        </p:spPr>
        <p:txBody>
          <a:bodyPr wrap="square" lIns="0" tIns="0" rIns="0" bIns="0" rtlCol="0" anchor="ctr"/>
          <a:lstStyle/>
          <a:p>
            <a:pPr marL="0" indent="0" algn="ctr">
              <a:lnSpc>
                <a:spcPct val="105000"/>
              </a:lnSpc>
              <a:buNone/>
            </a:pPr>
            <a:r>
              <a:rPr lang="en-US" sz="1300" dirty="0">
                <a:solidFill>
                  <a:srgbClr val="8A6A2A"/>
                </a:solidFill>
                <a:latin typeface="Segoe UI Semibold" pitchFamily="34" charset="0"/>
                <a:ea typeface="Segoe UI Semibold" pitchFamily="34" charset="-122"/>
                <a:cs typeface="Segoe UI Semibold" pitchFamily="34" charset="-120"/>
              </a:rPr>
              <a:t>0.3–0.5 m</a:t>
            </a:r>
            <a:endParaRPr lang="en-US" sz="1300" dirty="0"/>
          </a:p>
        </p:txBody>
      </p:sp>
      <p:sp>
        <p:nvSpPr>
          <p:cNvPr id="45" name="a7fade_cap"/>
          <p:cNvSpPr txBox="1"/>
          <p:nvPr/>
        </p:nvSpPr>
        <p:spPr>
          <a:xfrm>
            <a:off x="5120640" y="6245352"/>
            <a:ext cx="6492240" cy="22860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Quality control: cloud masks · interior pixels only · tide model · second-source checks</a:t>
            </a:r>
            <a:endParaRPr lang="en-US" sz="1100" dirty="0"/>
          </a:p>
        </p:txBody>
      </p:sp>
      <p:sp>
        <p:nvSpPr>
          <p:cNvPr id="46"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53" presetClass="entr" presetSubtype="16"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800" fill="hold"/>
                                        <p:tgtEl>
                                          <p:spTgt spid="7"/>
                                        </p:tgtEl>
                                        <p:attrNameLst>
                                          <p:attrName>ppt_w</p:attrName>
                                        </p:attrNameLst>
                                      </p:cBhvr>
                                      <p:tavLst>
                                        <p:tav tm="0">
                                          <p:val>
                                            <p:strVal val="#ppt_w*0.85"/>
                                          </p:val>
                                        </p:tav>
                                        <p:tav tm="100000">
                                          <p:val>
                                            <p:strVal val="#ppt_w"/>
                                          </p:val>
                                        </p:tav>
                                      </p:tavLst>
                                    </p:anim>
                                    <p:anim calcmode="lin" valueType="num">
                                      <p:cBhvr additive="base">
                                        <p:cTn id="16" dur="800" fill="hold"/>
                                        <p:tgtEl>
                                          <p:spTgt spid="7"/>
                                        </p:tgtEl>
                                        <p:attrNameLst>
                                          <p:attrName>ppt_h</p:attrName>
                                        </p:attrNameLst>
                                      </p:cBhvr>
                                      <p:tavLst>
                                        <p:tav tm="0">
                                          <p:val>
                                            <p:strVal val="#ppt_h*0.85"/>
                                          </p:val>
                                        </p:tav>
                                        <p:tav tm="100000">
                                          <p:val>
                                            <p:strVal val="#ppt_h"/>
                                          </p:val>
                                        </p:tav>
                                      </p:tavLst>
                                    </p:anim>
                                  </p:childTnLst>
                                </p:cTn>
                              </p:par>
                              <p:par>
                                <p:cTn id="17" presetID="53" presetClass="entr" presetSubtype="16" decel="100000" fill="hold" grpId="0" nodeType="withEffect">
                                  <p:stCondLst>
                                    <p:cond delay="47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00"/>
                                        <p:tgtEl>
                                          <p:spTgt spid="8"/>
                                        </p:tgtEl>
                                      </p:cBhvr>
                                    </p:animEffect>
                                    <p:anim calcmode="lin" valueType="num">
                                      <p:cBhvr additive="base">
                                        <p:cTn id="20" dur="800" fill="hold"/>
                                        <p:tgtEl>
                                          <p:spTgt spid="8"/>
                                        </p:tgtEl>
                                        <p:attrNameLst>
                                          <p:attrName>ppt_w</p:attrName>
                                        </p:attrNameLst>
                                      </p:cBhvr>
                                      <p:tavLst>
                                        <p:tav tm="0">
                                          <p:val>
                                            <p:strVal val="#ppt_w*0.85"/>
                                          </p:val>
                                        </p:tav>
                                        <p:tav tm="100000">
                                          <p:val>
                                            <p:strVal val="#ppt_w"/>
                                          </p:val>
                                        </p:tav>
                                      </p:tavLst>
                                    </p:anim>
                                    <p:anim calcmode="lin" valueType="num">
                                      <p:cBhvr additive="base">
                                        <p:cTn id="21" dur="800" fill="hold"/>
                                        <p:tgtEl>
                                          <p:spTgt spid="8"/>
                                        </p:tgtEl>
                                        <p:attrNameLst>
                                          <p:attrName>ppt_h</p:attrName>
                                        </p:attrNameLst>
                                      </p:cBhvr>
                                      <p:tavLst>
                                        <p:tav tm="0">
                                          <p:val>
                                            <p:strVal val="#ppt_h*0.85"/>
                                          </p:val>
                                        </p:tav>
                                        <p:tav tm="100000">
                                          <p:val>
                                            <p:strVal val="#ppt_h"/>
                                          </p:val>
                                        </p:tav>
                                      </p:tavLst>
                                    </p:anim>
                                  </p:childTnLst>
                                </p:cTn>
                              </p:par>
                              <p:par>
                                <p:cTn id="22" presetID="10" presetClass="entr" presetSubtype="0" decel="100000" fill="hold" grpId="0" nodeType="withEffect">
                                  <p:stCondLst>
                                    <p:cond delay="69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42" presetClass="entr" presetSubtype="0" decel="100000" fill="hold" grpId="0" nodeType="withEffect">
                                  <p:stCondLst>
                                    <p:cond delay="69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700"/>
                                        <p:tgtEl>
                                          <p:spTgt spid="10"/>
                                        </p:tgtEl>
                                      </p:cBhvr>
                                    </p:animEffect>
                                    <p:anim calcmode="lin" valueType="num">
                                      <p:cBhvr additive="base">
                                        <p:cTn id="28" dur="700" fill="hold"/>
                                        <p:tgtEl>
                                          <p:spTgt spid="10"/>
                                        </p:tgtEl>
                                        <p:attrNameLst>
                                          <p:attrName>ppt_y</p:attrName>
                                        </p:attrNameLst>
                                      </p:cBhvr>
                                      <p:tavLst>
                                        <p:tav tm="0">
                                          <p:val>
                                            <p:strVal val="#ppt_y+0.03"/>
                                          </p:val>
                                        </p:tav>
                                        <p:tav tm="100000">
                                          <p:val>
                                            <p:strVal val="#ppt_y"/>
                                          </p:val>
                                        </p:tav>
                                      </p:tavLst>
                                    </p:anim>
                                  </p:childTnLst>
                                </p:cTn>
                              </p:par>
                              <p:par>
                                <p:cTn id="29" presetID="42" presetClass="entr" presetSubtype="0" decel="100000" fill="hold" grpId="0" nodeType="withEffect">
                                  <p:stCondLst>
                                    <p:cond delay="69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700"/>
                                        <p:tgtEl>
                                          <p:spTgt spid="11"/>
                                        </p:tgtEl>
                                      </p:cBhvr>
                                    </p:animEffect>
                                    <p:anim calcmode="lin" valueType="num">
                                      <p:cBhvr additive="base">
                                        <p:cTn id="32" dur="700" fill="hold"/>
                                        <p:tgtEl>
                                          <p:spTgt spid="11"/>
                                        </p:tgtEl>
                                        <p:attrNameLst>
                                          <p:attrName>ppt_y</p:attrName>
                                        </p:attrNameLst>
                                      </p:cBhvr>
                                      <p:tavLst>
                                        <p:tav tm="0">
                                          <p:val>
                                            <p:strVal val="#ppt_y+0.03"/>
                                          </p:val>
                                        </p:tav>
                                        <p:tav tm="100000">
                                          <p:val>
                                            <p:strVal val="#ppt_y"/>
                                          </p:val>
                                        </p:tav>
                                      </p:tavLst>
                                    </p:anim>
                                  </p:childTnLst>
                                </p:cTn>
                              </p:par>
                              <p:par>
                                <p:cTn id="33" presetID="42" presetClass="entr" presetSubtype="0" decel="100000" fill="hold" grpId="0" nodeType="withEffect">
                                  <p:stCondLst>
                                    <p:cond delay="69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700"/>
                                        <p:tgtEl>
                                          <p:spTgt spid="12"/>
                                        </p:tgtEl>
                                      </p:cBhvr>
                                    </p:animEffect>
                                    <p:anim calcmode="lin" valueType="num">
                                      <p:cBhvr additive="base">
                                        <p:cTn id="36" dur="700" fill="hold"/>
                                        <p:tgtEl>
                                          <p:spTgt spid="12"/>
                                        </p:tgtEl>
                                        <p:attrNameLst>
                                          <p:attrName>ppt_y</p:attrName>
                                        </p:attrNameLst>
                                      </p:cBhvr>
                                      <p:tavLst>
                                        <p:tav tm="0">
                                          <p:val>
                                            <p:strVal val="#ppt_y+0.03"/>
                                          </p:val>
                                        </p:tav>
                                        <p:tav tm="100000">
                                          <p:val>
                                            <p:strVal val="#ppt_y"/>
                                          </p:val>
                                        </p:tav>
                                      </p:tavLst>
                                    </p:anim>
                                  </p:childTnLst>
                                </p:cTn>
                              </p:par>
                              <p:par>
                                <p:cTn id="37" presetID="42" presetClass="entr" presetSubtype="0" decel="100000" fill="hold" grpId="0" nodeType="withEffect">
                                  <p:stCondLst>
                                    <p:cond delay="69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700"/>
                                        <p:tgtEl>
                                          <p:spTgt spid="13"/>
                                        </p:tgtEl>
                                      </p:cBhvr>
                                    </p:animEffect>
                                    <p:anim calcmode="lin" valueType="num">
                                      <p:cBhvr additive="base">
                                        <p:cTn id="40" dur="700" fill="hold"/>
                                        <p:tgtEl>
                                          <p:spTgt spid="13"/>
                                        </p:tgtEl>
                                        <p:attrNameLst>
                                          <p:attrName>ppt_y</p:attrName>
                                        </p:attrNameLst>
                                      </p:cBhvr>
                                      <p:tavLst>
                                        <p:tav tm="0">
                                          <p:val>
                                            <p:strVal val="#ppt_y+0.03"/>
                                          </p:val>
                                        </p:tav>
                                        <p:tav tm="100000">
                                          <p:val>
                                            <p:strVal val="#ppt_y"/>
                                          </p:val>
                                        </p:tav>
                                      </p:tavLst>
                                    </p:anim>
                                  </p:childTnLst>
                                </p:cTn>
                              </p:par>
                              <p:par>
                                <p:cTn id="41" presetID="42" presetClass="entr" presetSubtype="0" decel="100000" fill="hold" grpId="0" nodeType="withEffect">
                                  <p:stCondLst>
                                    <p:cond delay="69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700"/>
                                        <p:tgtEl>
                                          <p:spTgt spid="14"/>
                                        </p:tgtEl>
                                      </p:cBhvr>
                                    </p:animEffect>
                                    <p:anim calcmode="lin" valueType="num">
                                      <p:cBhvr additive="base">
                                        <p:cTn id="44" dur="700" fill="hold"/>
                                        <p:tgtEl>
                                          <p:spTgt spid="14"/>
                                        </p:tgtEl>
                                        <p:attrNameLst>
                                          <p:attrName>ppt_y</p:attrName>
                                        </p:attrNameLst>
                                      </p:cBhvr>
                                      <p:tavLst>
                                        <p:tav tm="0">
                                          <p:val>
                                            <p:strVal val="#ppt_y+0.03"/>
                                          </p:val>
                                        </p:tav>
                                        <p:tav tm="100000">
                                          <p:val>
                                            <p:strVal val="#ppt_y"/>
                                          </p:val>
                                        </p:tav>
                                      </p:tavLst>
                                    </p:anim>
                                  </p:childTnLst>
                                </p:cTn>
                              </p:par>
                              <p:par>
                                <p:cTn id="45" presetID="42" presetClass="entr" presetSubtype="0" decel="100000" fill="hold" grpId="0" nodeType="withEffect">
                                  <p:stCondLst>
                                    <p:cond delay="69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700"/>
                                        <p:tgtEl>
                                          <p:spTgt spid="15"/>
                                        </p:tgtEl>
                                      </p:cBhvr>
                                    </p:animEffect>
                                    <p:anim calcmode="lin" valueType="num">
                                      <p:cBhvr additive="base">
                                        <p:cTn id="48" dur="700" fill="hold"/>
                                        <p:tgtEl>
                                          <p:spTgt spid="15"/>
                                        </p:tgtEl>
                                        <p:attrNameLst>
                                          <p:attrName>ppt_y</p:attrName>
                                        </p:attrNameLst>
                                      </p:cBhvr>
                                      <p:tavLst>
                                        <p:tav tm="0">
                                          <p:val>
                                            <p:strVal val="#ppt_y+0.03"/>
                                          </p:val>
                                        </p:tav>
                                        <p:tav tm="100000">
                                          <p:val>
                                            <p:strVal val="#ppt_y"/>
                                          </p:val>
                                        </p:tav>
                                      </p:tavLst>
                                    </p:anim>
                                  </p:childTnLst>
                                </p:cTn>
                              </p:par>
                              <p:par>
                                <p:cTn id="49" presetID="42" presetClass="entr" presetSubtype="0" decel="100000" fill="hold" grpId="0" nodeType="withEffect">
                                  <p:stCondLst>
                                    <p:cond delay="69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700"/>
                                        <p:tgtEl>
                                          <p:spTgt spid="16"/>
                                        </p:tgtEl>
                                      </p:cBhvr>
                                    </p:animEffect>
                                    <p:anim calcmode="lin" valueType="num">
                                      <p:cBhvr additive="base">
                                        <p:cTn id="52" dur="700" fill="hold"/>
                                        <p:tgtEl>
                                          <p:spTgt spid="16"/>
                                        </p:tgtEl>
                                        <p:attrNameLst>
                                          <p:attrName>ppt_y</p:attrName>
                                        </p:attrNameLst>
                                      </p:cBhvr>
                                      <p:tavLst>
                                        <p:tav tm="0">
                                          <p:val>
                                            <p:strVal val="#ppt_y+0.03"/>
                                          </p:val>
                                        </p:tav>
                                        <p:tav tm="100000">
                                          <p:val>
                                            <p:strVal val="#ppt_y"/>
                                          </p:val>
                                        </p:tav>
                                      </p:tavLst>
                                    </p:anim>
                                  </p:childTnLst>
                                </p:cTn>
                              </p:par>
                              <p:par>
                                <p:cTn id="53" presetID="42" presetClass="entr" presetSubtype="0" decel="100000" fill="hold" grpId="0" nodeType="withEffect">
                                  <p:stCondLst>
                                    <p:cond delay="91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700"/>
                                        <p:tgtEl>
                                          <p:spTgt spid="17"/>
                                        </p:tgtEl>
                                      </p:cBhvr>
                                    </p:animEffect>
                                    <p:anim calcmode="lin" valueType="num">
                                      <p:cBhvr additive="base">
                                        <p:cTn id="56" dur="700" fill="hold"/>
                                        <p:tgtEl>
                                          <p:spTgt spid="17"/>
                                        </p:tgtEl>
                                        <p:attrNameLst>
                                          <p:attrName>ppt_y</p:attrName>
                                        </p:attrNameLst>
                                      </p:cBhvr>
                                      <p:tavLst>
                                        <p:tav tm="0">
                                          <p:val>
                                            <p:strVal val="#ppt_y+0.03"/>
                                          </p:val>
                                        </p:tav>
                                        <p:tav tm="100000">
                                          <p:val>
                                            <p:strVal val="#ppt_y"/>
                                          </p:val>
                                        </p:tav>
                                      </p:tavLst>
                                    </p:anim>
                                  </p:childTnLst>
                                </p:cTn>
                              </p:par>
                              <p:par>
                                <p:cTn id="57" presetID="42" presetClass="entr" presetSubtype="0" decel="100000" fill="hold" grpId="0" nodeType="withEffect">
                                  <p:stCondLst>
                                    <p:cond delay="91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700"/>
                                        <p:tgtEl>
                                          <p:spTgt spid="18"/>
                                        </p:tgtEl>
                                      </p:cBhvr>
                                    </p:animEffect>
                                    <p:anim calcmode="lin" valueType="num">
                                      <p:cBhvr additive="base">
                                        <p:cTn id="60" dur="700" fill="hold"/>
                                        <p:tgtEl>
                                          <p:spTgt spid="18"/>
                                        </p:tgtEl>
                                        <p:attrNameLst>
                                          <p:attrName>ppt_y</p:attrName>
                                        </p:attrNameLst>
                                      </p:cBhvr>
                                      <p:tavLst>
                                        <p:tav tm="0">
                                          <p:val>
                                            <p:strVal val="#ppt_y+0.03"/>
                                          </p:val>
                                        </p:tav>
                                        <p:tav tm="100000">
                                          <p:val>
                                            <p:strVal val="#ppt_y"/>
                                          </p:val>
                                        </p:tav>
                                      </p:tavLst>
                                    </p:anim>
                                  </p:childTnLst>
                                </p:cTn>
                              </p:par>
                              <p:par>
                                <p:cTn id="61" presetID="42" presetClass="entr" presetSubtype="0" decel="100000" fill="hold" grpId="0" nodeType="withEffect">
                                  <p:stCondLst>
                                    <p:cond delay="91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700"/>
                                        <p:tgtEl>
                                          <p:spTgt spid="19"/>
                                        </p:tgtEl>
                                      </p:cBhvr>
                                    </p:animEffect>
                                    <p:anim calcmode="lin" valueType="num">
                                      <p:cBhvr additive="base">
                                        <p:cTn id="64" dur="700" fill="hold"/>
                                        <p:tgtEl>
                                          <p:spTgt spid="19"/>
                                        </p:tgtEl>
                                        <p:attrNameLst>
                                          <p:attrName>ppt_y</p:attrName>
                                        </p:attrNameLst>
                                      </p:cBhvr>
                                      <p:tavLst>
                                        <p:tav tm="0">
                                          <p:val>
                                            <p:strVal val="#ppt_y+0.03"/>
                                          </p:val>
                                        </p:tav>
                                        <p:tav tm="100000">
                                          <p:val>
                                            <p:strVal val="#ppt_y"/>
                                          </p:val>
                                        </p:tav>
                                      </p:tavLst>
                                    </p:anim>
                                  </p:childTnLst>
                                </p:cTn>
                              </p:par>
                              <p:par>
                                <p:cTn id="65" presetID="42" presetClass="entr" presetSubtype="0" decel="100000" fill="hold" grpId="0" nodeType="withEffect">
                                  <p:stCondLst>
                                    <p:cond delay="91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700"/>
                                        <p:tgtEl>
                                          <p:spTgt spid="20"/>
                                        </p:tgtEl>
                                      </p:cBhvr>
                                    </p:animEffect>
                                    <p:anim calcmode="lin" valueType="num">
                                      <p:cBhvr additive="base">
                                        <p:cTn id="68" dur="700" fill="hold"/>
                                        <p:tgtEl>
                                          <p:spTgt spid="20"/>
                                        </p:tgtEl>
                                        <p:attrNameLst>
                                          <p:attrName>ppt_y</p:attrName>
                                        </p:attrNameLst>
                                      </p:cBhvr>
                                      <p:tavLst>
                                        <p:tav tm="0">
                                          <p:val>
                                            <p:strVal val="#ppt_y+0.03"/>
                                          </p:val>
                                        </p:tav>
                                        <p:tav tm="100000">
                                          <p:val>
                                            <p:strVal val="#ppt_y"/>
                                          </p:val>
                                        </p:tav>
                                      </p:tavLst>
                                    </p:anim>
                                  </p:childTnLst>
                                </p:cTn>
                              </p:par>
                              <p:par>
                                <p:cTn id="69" presetID="42" presetClass="entr" presetSubtype="0" decel="100000" fill="hold" grpId="0" nodeType="withEffect">
                                  <p:stCondLst>
                                    <p:cond delay="91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700"/>
                                        <p:tgtEl>
                                          <p:spTgt spid="21"/>
                                        </p:tgtEl>
                                      </p:cBhvr>
                                    </p:animEffect>
                                    <p:anim calcmode="lin" valueType="num">
                                      <p:cBhvr additive="base">
                                        <p:cTn id="72" dur="700" fill="hold"/>
                                        <p:tgtEl>
                                          <p:spTgt spid="21"/>
                                        </p:tgtEl>
                                        <p:attrNameLst>
                                          <p:attrName>ppt_y</p:attrName>
                                        </p:attrNameLst>
                                      </p:cBhvr>
                                      <p:tavLst>
                                        <p:tav tm="0">
                                          <p:val>
                                            <p:strVal val="#ppt_y+0.03"/>
                                          </p:val>
                                        </p:tav>
                                        <p:tav tm="100000">
                                          <p:val>
                                            <p:strVal val="#ppt_y"/>
                                          </p:val>
                                        </p:tav>
                                      </p:tavLst>
                                    </p:anim>
                                  </p:childTnLst>
                                </p:cTn>
                              </p:par>
                              <p:par>
                                <p:cTn id="73" presetID="42" presetClass="entr" presetSubtype="0" decel="100000" fill="hold" grpId="0" nodeType="withEffect">
                                  <p:stCondLst>
                                    <p:cond delay="91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700"/>
                                        <p:tgtEl>
                                          <p:spTgt spid="22"/>
                                        </p:tgtEl>
                                      </p:cBhvr>
                                    </p:animEffect>
                                    <p:anim calcmode="lin" valueType="num">
                                      <p:cBhvr additive="base">
                                        <p:cTn id="76" dur="700" fill="hold"/>
                                        <p:tgtEl>
                                          <p:spTgt spid="22"/>
                                        </p:tgtEl>
                                        <p:attrNameLst>
                                          <p:attrName>ppt_y</p:attrName>
                                        </p:attrNameLst>
                                      </p:cBhvr>
                                      <p:tavLst>
                                        <p:tav tm="0">
                                          <p:val>
                                            <p:strVal val="#ppt_y+0.03"/>
                                          </p:val>
                                        </p:tav>
                                        <p:tav tm="100000">
                                          <p:val>
                                            <p:strVal val="#ppt_y"/>
                                          </p:val>
                                        </p:tav>
                                      </p:tavLst>
                                    </p:anim>
                                  </p:childTnLst>
                                </p:cTn>
                              </p:par>
                              <p:par>
                                <p:cTn id="77" presetID="42" presetClass="entr" presetSubtype="0" decel="100000" fill="hold" grpId="0" nodeType="withEffect">
                                  <p:stCondLst>
                                    <p:cond delay="91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700"/>
                                        <p:tgtEl>
                                          <p:spTgt spid="23"/>
                                        </p:tgtEl>
                                      </p:cBhvr>
                                    </p:animEffect>
                                    <p:anim calcmode="lin" valueType="num">
                                      <p:cBhvr additive="base">
                                        <p:cTn id="80" dur="700" fill="hold"/>
                                        <p:tgtEl>
                                          <p:spTgt spid="23"/>
                                        </p:tgtEl>
                                        <p:attrNameLst>
                                          <p:attrName>ppt_y</p:attrName>
                                        </p:attrNameLst>
                                      </p:cBhvr>
                                      <p:tavLst>
                                        <p:tav tm="0">
                                          <p:val>
                                            <p:strVal val="#ppt_y+0.03"/>
                                          </p:val>
                                        </p:tav>
                                        <p:tav tm="100000">
                                          <p:val>
                                            <p:strVal val="#ppt_y"/>
                                          </p:val>
                                        </p:tav>
                                      </p:tavLst>
                                    </p:anim>
                                  </p:childTnLst>
                                </p:cTn>
                              </p:par>
                              <p:par>
                                <p:cTn id="81" presetID="42" presetClass="entr" presetSubtype="0" decel="100000" fill="hold" grpId="0" nodeType="withEffect">
                                  <p:stCondLst>
                                    <p:cond delay="113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700"/>
                                        <p:tgtEl>
                                          <p:spTgt spid="24"/>
                                        </p:tgtEl>
                                      </p:cBhvr>
                                    </p:animEffect>
                                    <p:anim calcmode="lin" valueType="num">
                                      <p:cBhvr additive="base">
                                        <p:cTn id="84" dur="700" fill="hold"/>
                                        <p:tgtEl>
                                          <p:spTgt spid="24"/>
                                        </p:tgtEl>
                                        <p:attrNameLst>
                                          <p:attrName>ppt_y</p:attrName>
                                        </p:attrNameLst>
                                      </p:cBhvr>
                                      <p:tavLst>
                                        <p:tav tm="0">
                                          <p:val>
                                            <p:strVal val="#ppt_y+0.03"/>
                                          </p:val>
                                        </p:tav>
                                        <p:tav tm="100000">
                                          <p:val>
                                            <p:strVal val="#ppt_y"/>
                                          </p:val>
                                        </p:tav>
                                      </p:tavLst>
                                    </p:anim>
                                  </p:childTnLst>
                                </p:cTn>
                              </p:par>
                              <p:par>
                                <p:cTn id="85" presetID="42" presetClass="entr" presetSubtype="0" decel="100000" fill="hold" grpId="0" nodeType="withEffect">
                                  <p:stCondLst>
                                    <p:cond delay="113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700"/>
                                        <p:tgtEl>
                                          <p:spTgt spid="25"/>
                                        </p:tgtEl>
                                      </p:cBhvr>
                                    </p:animEffect>
                                    <p:anim calcmode="lin" valueType="num">
                                      <p:cBhvr additive="base">
                                        <p:cTn id="88" dur="700" fill="hold"/>
                                        <p:tgtEl>
                                          <p:spTgt spid="25"/>
                                        </p:tgtEl>
                                        <p:attrNameLst>
                                          <p:attrName>ppt_y</p:attrName>
                                        </p:attrNameLst>
                                      </p:cBhvr>
                                      <p:tavLst>
                                        <p:tav tm="0">
                                          <p:val>
                                            <p:strVal val="#ppt_y+0.03"/>
                                          </p:val>
                                        </p:tav>
                                        <p:tav tm="100000">
                                          <p:val>
                                            <p:strVal val="#ppt_y"/>
                                          </p:val>
                                        </p:tav>
                                      </p:tavLst>
                                    </p:anim>
                                  </p:childTnLst>
                                </p:cTn>
                              </p:par>
                              <p:par>
                                <p:cTn id="89" presetID="42" presetClass="entr" presetSubtype="0" decel="100000" fill="hold" grpId="0" nodeType="withEffect">
                                  <p:stCondLst>
                                    <p:cond delay="113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700"/>
                                        <p:tgtEl>
                                          <p:spTgt spid="26"/>
                                        </p:tgtEl>
                                      </p:cBhvr>
                                    </p:animEffect>
                                    <p:anim calcmode="lin" valueType="num">
                                      <p:cBhvr additive="base">
                                        <p:cTn id="92" dur="700" fill="hold"/>
                                        <p:tgtEl>
                                          <p:spTgt spid="26"/>
                                        </p:tgtEl>
                                        <p:attrNameLst>
                                          <p:attrName>ppt_y</p:attrName>
                                        </p:attrNameLst>
                                      </p:cBhvr>
                                      <p:tavLst>
                                        <p:tav tm="0">
                                          <p:val>
                                            <p:strVal val="#ppt_y+0.03"/>
                                          </p:val>
                                        </p:tav>
                                        <p:tav tm="100000">
                                          <p:val>
                                            <p:strVal val="#ppt_y"/>
                                          </p:val>
                                        </p:tav>
                                      </p:tavLst>
                                    </p:anim>
                                  </p:childTnLst>
                                </p:cTn>
                              </p:par>
                              <p:par>
                                <p:cTn id="93" presetID="42" presetClass="entr" presetSubtype="0" decel="100000" fill="hold" grpId="0" nodeType="withEffect">
                                  <p:stCondLst>
                                    <p:cond delay="1130"/>
                                  </p:stCondLst>
                                  <p:childTnLst>
                                    <p:set>
                                      <p:cBhvr>
                                        <p:cTn id="94" dur="1" fill="hold">
                                          <p:stCondLst>
                                            <p:cond delay="0"/>
                                          </p:stCondLst>
                                        </p:cTn>
                                        <p:tgtEl>
                                          <p:spTgt spid="27"/>
                                        </p:tgtEl>
                                        <p:attrNameLst>
                                          <p:attrName>style.visibility</p:attrName>
                                        </p:attrNameLst>
                                      </p:cBhvr>
                                      <p:to>
                                        <p:strVal val="visible"/>
                                      </p:to>
                                    </p:set>
                                    <p:animEffect transition="in" filter="fade">
                                      <p:cBhvr>
                                        <p:cTn id="95" dur="700"/>
                                        <p:tgtEl>
                                          <p:spTgt spid="27"/>
                                        </p:tgtEl>
                                      </p:cBhvr>
                                    </p:animEffect>
                                    <p:anim calcmode="lin" valueType="num">
                                      <p:cBhvr additive="base">
                                        <p:cTn id="96" dur="700" fill="hold"/>
                                        <p:tgtEl>
                                          <p:spTgt spid="27"/>
                                        </p:tgtEl>
                                        <p:attrNameLst>
                                          <p:attrName>ppt_y</p:attrName>
                                        </p:attrNameLst>
                                      </p:cBhvr>
                                      <p:tavLst>
                                        <p:tav tm="0">
                                          <p:val>
                                            <p:strVal val="#ppt_y+0.03"/>
                                          </p:val>
                                        </p:tav>
                                        <p:tav tm="100000">
                                          <p:val>
                                            <p:strVal val="#ppt_y"/>
                                          </p:val>
                                        </p:tav>
                                      </p:tavLst>
                                    </p:anim>
                                  </p:childTnLst>
                                </p:cTn>
                              </p:par>
                              <p:par>
                                <p:cTn id="97" presetID="42" presetClass="entr" presetSubtype="0" decel="100000" fill="hold" grpId="0" nodeType="withEffect">
                                  <p:stCondLst>
                                    <p:cond delay="1130"/>
                                  </p:stCondLst>
                                  <p:childTnLst>
                                    <p:set>
                                      <p:cBhvr>
                                        <p:cTn id="98" dur="1" fill="hold">
                                          <p:stCondLst>
                                            <p:cond delay="0"/>
                                          </p:stCondLst>
                                        </p:cTn>
                                        <p:tgtEl>
                                          <p:spTgt spid="28"/>
                                        </p:tgtEl>
                                        <p:attrNameLst>
                                          <p:attrName>style.visibility</p:attrName>
                                        </p:attrNameLst>
                                      </p:cBhvr>
                                      <p:to>
                                        <p:strVal val="visible"/>
                                      </p:to>
                                    </p:set>
                                    <p:animEffect transition="in" filter="fade">
                                      <p:cBhvr>
                                        <p:cTn id="99" dur="700"/>
                                        <p:tgtEl>
                                          <p:spTgt spid="28"/>
                                        </p:tgtEl>
                                      </p:cBhvr>
                                    </p:animEffect>
                                    <p:anim calcmode="lin" valueType="num">
                                      <p:cBhvr additive="base">
                                        <p:cTn id="100" dur="700" fill="hold"/>
                                        <p:tgtEl>
                                          <p:spTgt spid="28"/>
                                        </p:tgtEl>
                                        <p:attrNameLst>
                                          <p:attrName>ppt_y</p:attrName>
                                        </p:attrNameLst>
                                      </p:cBhvr>
                                      <p:tavLst>
                                        <p:tav tm="0">
                                          <p:val>
                                            <p:strVal val="#ppt_y+0.03"/>
                                          </p:val>
                                        </p:tav>
                                        <p:tav tm="100000">
                                          <p:val>
                                            <p:strVal val="#ppt_y"/>
                                          </p:val>
                                        </p:tav>
                                      </p:tavLst>
                                    </p:anim>
                                  </p:childTnLst>
                                </p:cTn>
                              </p:par>
                              <p:par>
                                <p:cTn id="101" presetID="42" presetClass="entr" presetSubtype="0" decel="100000" fill="hold" grpId="0" nodeType="withEffect">
                                  <p:stCondLst>
                                    <p:cond delay="113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700"/>
                                        <p:tgtEl>
                                          <p:spTgt spid="29"/>
                                        </p:tgtEl>
                                      </p:cBhvr>
                                    </p:animEffect>
                                    <p:anim calcmode="lin" valueType="num">
                                      <p:cBhvr additive="base">
                                        <p:cTn id="104" dur="700" fill="hold"/>
                                        <p:tgtEl>
                                          <p:spTgt spid="29"/>
                                        </p:tgtEl>
                                        <p:attrNameLst>
                                          <p:attrName>ppt_y</p:attrName>
                                        </p:attrNameLst>
                                      </p:cBhvr>
                                      <p:tavLst>
                                        <p:tav tm="0">
                                          <p:val>
                                            <p:strVal val="#ppt_y+0.03"/>
                                          </p:val>
                                        </p:tav>
                                        <p:tav tm="100000">
                                          <p:val>
                                            <p:strVal val="#ppt_y"/>
                                          </p:val>
                                        </p:tav>
                                      </p:tavLst>
                                    </p:anim>
                                  </p:childTnLst>
                                </p:cTn>
                              </p:par>
                              <p:par>
                                <p:cTn id="105" presetID="42" presetClass="entr" presetSubtype="0" decel="100000" fill="hold" grpId="0" nodeType="withEffect">
                                  <p:stCondLst>
                                    <p:cond delay="1130"/>
                                  </p:stCondLst>
                                  <p:childTnLst>
                                    <p:set>
                                      <p:cBhvr>
                                        <p:cTn id="106" dur="1" fill="hold">
                                          <p:stCondLst>
                                            <p:cond delay="0"/>
                                          </p:stCondLst>
                                        </p:cTn>
                                        <p:tgtEl>
                                          <p:spTgt spid="30"/>
                                        </p:tgtEl>
                                        <p:attrNameLst>
                                          <p:attrName>style.visibility</p:attrName>
                                        </p:attrNameLst>
                                      </p:cBhvr>
                                      <p:to>
                                        <p:strVal val="visible"/>
                                      </p:to>
                                    </p:set>
                                    <p:animEffect transition="in" filter="fade">
                                      <p:cBhvr>
                                        <p:cTn id="107" dur="700"/>
                                        <p:tgtEl>
                                          <p:spTgt spid="30"/>
                                        </p:tgtEl>
                                      </p:cBhvr>
                                    </p:animEffect>
                                    <p:anim calcmode="lin" valueType="num">
                                      <p:cBhvr additive="base">
                                        <p:cTn id="108" dur="700" fill="hold"/>
                                        <p:tgtEl>
                                          <p:spTgt spid="30"/>
                                        </p:tgtEl>
                                        <p:attrNameLst>
                                          <p:attrName>ppt_y</p:attrName>
                                        </p:attrNameLst>
                                      </p:cBhvr>
                                      <p:tavLst>
                                        <p:tav tm="0">
                                          <p:val>
                                            <p:strVal val="#ppt_y+0.03"/>
                                          </p:val>
                                        </p:tav>
                                        <p:tav tm="100000">
                                          <p:val>
                                            <p:strVal val="#ppt_y"/>
                                          </p:val>
                                        </p:tav>
                                      </p:tavLst>
                                    </p:anim>
                                  </p:childTnLst>
                                </p:cTn>
                              </p:par>
                              <p:par>
                                <p:cTn id="109" presetID="42" presetClass="entr" presetSubtype="0" decel="100000" fill="hold" grpId="0" nodeType="withEffect">
                                  <p:stCondLst>
                                    <p:cond delay="1350"/>
                                  </p:stCondLst>
                                  <p:childTnLst>
                                    <p:set>
                                      <p:cBhvr>
                                        <p:cTn id="110" dur="1" fill="hold">
                                          <p:stCondLst>
                                            <p:cond delay="0"/>
                                          </p:stCondLst>
                                        </p:cTn>
                                        <p:tgtEl>
                                          <p:spTgt spid="31"/>
                                        </p:tgtEl>
                                        <p:attrNameLst>
                                          <p:attrName>style.visibility</p:attrName>
                                        </p:attrNameLst>
                                      </p:cBhvr>
                                      <p:to>
                                        <p:strVal val="visible"/>
                                      </p:to>
                                    </p:set>
                                    <p:animEffect transition="in" filter="fade">
                                      <p:cBhvr>
                                        <p:cTn id="111" dur="700"/>
                                        <p:tgtEl>
                                          <p:spTgt spid="31"/>
                                        </p:tgtEl>
                                      </p:cBhvr>
                                    </p:animEffect>
                                    <p:anim calcmode="lin" valueType="num">
                                      <p:cBhvr additive="base">
                                        <p:cTn id="112" dur="700" fill="hold"/>
                                        <p:tgtEl>
                                          <p:spTgt spid="31"/>
                                        </p:tgtEl>
                                        <p:attrNameLst>
                                          <p:attrName>ppt_y</p:attrName>
                                        </p:attrNameLst>
                                      </p:cBhvr>
                                      <p:tavLst>
                                        <p:tav tm="0">
                                          <p:val>
                                            <p:strVal val="#ppt_y+0.03"/>
                                          </p:val>
                                        </p:tav>
                                        <p:tav tm="100000">
                                          <p:val>
                                            <p:strVal val="#ppt_y"/>
                                          </p:val>
                                        </p:tav>
                                      </p:tavLst>
                                    </p:anim>
                                  </p:childTnLst>
                                </p:cTn>
                              </p:par>
                              <p:par>
                                <p:cTn id="113" presetID="42" presetClass="entr" presetSubtype="0" decel="100000" fill="hold" grpId="0" nodeType="withEffect">
                                  <p:stCondLst>
                                    <p:cond delay="1350"/>
                                  </p:stCondLst>
                                  <p:childTnLst>
                                    <p:set>
                                      <p:cBhvr>
                                        <p:cTn id="114" dur="1" fill="hold">
                                          <p:stCondLst>
                                            <p:cond delay="0"/>
                                          </p:stCondLst>
                                        </p:cTn>
                                        <p:tgtEl>
                                          <p:spTgt spid="32"/>
                                        </p:tgtEl>
                                        <p:attrNameLst>
                                          <p:attrName>style.visibility</p:attrName>
                                        </p:attrNameLst>
                                      </p:cBhvr>
                                      <p:to>
                                        <p:strVal val="visible"/>
                                      </p:to>
                                    </p:set>
                                    <p:animEffect transition="in" filter="fade">
                                      <p:cBhvr>
                                        <p:cTn id="115" dur="700"/>
                                        <p:tgtEl>
                                          <p:spTgt spid="32"/>
                                        </p:tgtEl>
                                      </p:cBhvr>
                                    </p:animEffect>
                                    <p:anim calcmode="lin" valueType="num">
                                      <p:cBhvr additive="base">
                                        <p:cTn id="116" dur="700" fill="hold"/>
                                        <p:tgtEl>
                                          <p:spTgt spid="32"/>
                                        </p:tgtEl>
                                        <p:attrNameLst>
                                          <p:attrName>ppt_y</p:attrName>
                                        </p:attrNameLst>
                                      </p:cBhvr>
                                      <p:tavLst>
                                        <p:tav tm="0">
                                          <p:val>
                                            <p:strVal val="#ppt_y+0.03"/>
                                          </p:val>
                                        </p:tav>
                                        <p:tav tm="100000">
                                          <p:val>
                                            <p:strVal val="#ppt_y"/>
                                          </p:val>
                                        </p:tav>
                                      </p:tavLst>
                                    </p:anim>
                                  </p:childTnLst>
                                </p:cTn>
                              </p:par>
                              <p:par>
                                <p:cTn id="117" presetID="42" presetClass="entr" presetSubtype="0" decel="100000" fill="hold" grpId="0" nodeType="withEffect">
                                  <p:stCondLst>
                                    <p:cond delay="1350"/>
                                  </p:stCondLst>
                                  <p:childTnLst>
                                    <p:set>
                                      <p:cBhvr>
                                        <p:cTn id="118" dur="1" fill="hold">
                                          <p:stCondLst>
                                            <p:cond delay="0"/>
                                          </p:stCondLst>
                                        </p:cTn>
                                        <p:tgtEl>
                                          <p:spTgt spid="33"/>
                                        </p:tgtEl>
                                        <p:attrNameLst>
                                          <p:attrName>style.visibility</p:attrName>
                                        </p:attrNameLst>
                                      </p:cBhvr>
                                      <p:to>
                                        <p:strVal val="visible"/>
                                      </p:to>
                                    </p:set>
                                    <p:animEffect transition="in" filter="fade">
                                      <p:cBhvr>
                                        <p:cTn id="119" dur="700"/>
                                        <p:tgtEl>
                                          <p:spTgt spid="33"/>
                                        </p:tgtEl>
                                      </p:cBhvr>
                                    </p:animEffect>
                                    <p:anim calcmode="lin" valueType="num">
                                      <p:cBhvr additive="base">
                                        <p:cTn id="120" dur="700" fill="hold"/>
                                        <p:tgtEl>
                                          <p:spTgt spid="33"/>
                                        </p:tgtEl>
                                        <p:attrNameLst>
                                          <p:attrName>ppt_y</p:attrName>
                                        </p:attrNameLst>
                                      </p:cBhvr>
                                      <p:tavLst>
                                        <p:tav tm="0">
                                          <p:val>
                                            <p:strVal val="#ppt_y+0.03"/>
                                          </p:val>
                                        </p:tav>
                                        <p:tav tm="100000">
                                          <p:val>
                                            <p:strVal val="#ppt_y"/>
                                          </p:val>
                                        </p:tav>
                                      </p:tavLst>
                                    </p:anim>
                                  </p:childTnLst>
                                </p:cTn>
                              </p:par>
                              <p:par>
                                <p:cTn id="121" presetID="42" presetClass="entr" presetSubtype="0" decel="100000" fill="hold" grpId="0" nodeType="withEffect">
                                  <p:stCondLst>
                                    <p:cond delay="1350"/>
                                  </p:stCondLst>
                                  <p:childTnLst>
                                    <p:set>
                                      <p:cBhvr>
                                        <p:cTn id="122" dur="1" fill="hold">
                                          <p:stCondLst>
                                            <p:cond delay="0"/>
                                          </p:stCondLst>
                                        </p:cTn>
                                        <p:tgtEl>
                                          <p:spTgt spid="34"/>
                                        </p:tgtEl>
                                        <p:attrNameLst>
                                          <p:attrName>style.visibility</p:attrName>
                                        </p:attrNameLst>
                                      </p:cBhvr>
                                      <p:to>
                                        <p:strVal val="visible"/>
                                      </p:to>
                                    </p:set>
                                    <p:animEffect transition="in" filter="fade">
                                      <p:cBhvr>
                                        <p:cTn id="123" dur="700"/>
                                        <p:tgtEl>
                                          <p:spTgt spid="34"/>
                                        </p:tgtEl>
                                      </p:cBhvr>
                                    </p:animEffect>
                                    <p:anim calcmode="lin" valueType="num">
                                      <p:cBhvr additive="base">
                                        <p:cTn id="124" dur="700" fill="hold"/>
                                        <p:tgtEl>
                                          <p:spTgt spid="34"/>
                                        </p:tgtEl>
                                        <p:attrNameLst>
                                          <p:attrName>ppt_y</p:attrName>
                                        </p:attrNameLst>
                                      </p:cBhvr>
                                      <p:tavLst>
                                        <p:tav tm="0">
                                          <p:val>
                                            <p:strVal val="#ppt_y+0.03"/>
                                          </p:val>
                                        </p:tav>
                                        <p:tav tm="100000">
                                          <p:val>
                                            <p:strVal val="#ppt_y"/>
                                          </p:val>
                                        </p:tav>
                                      </p:tavLst>
                                    </p:anim>
                                  </p:childTnLst>
                                </p:cTn>
                              </p:par>
                              <p:par>
                                <p:cTn id="125" presetID="42" presetClass="entr" presetSubtype="0" decel="100000" fill="hold" grpId="0" nodeType="withEffect">
                                  <p:stCondLst>
                                    <p:cond delay="1350"/>
                                  </p:stCondLst>
                                  <p:childTnLst>
                                    <p:set>
                                      <p:cBhvr>
                                        <p:cTn id="126" dur="1" fill="hold">
                                          <p:stCondLst>
                                            <p:cond delay="0"/>
                                          </p:stCondLst>
                                        </p:cTn>
                                        <p:tgtEl>
                                          <p:spTgt spid="35"/>
                                        </p:tgtEl>
                                        <p:attrNameLst>
                                          <p:attrName>style.visibility</p:attrName>
                                        </p:attrNameLst>
                                      </p:cBhvr>
                                      <p:to>
                                        <p:strVal val="visible"/>
                                      </p:to>
                                    </p:set>
                                    <p:animEffect transition="in" filter="fade">
                                      <p:cBhvr>
                                        <p:cTn id="127" dur="700"/>
                                        <p:tgtEl>
                                          <p:spTgt spid="35"/>
                                        </p:tgtEl>
                                      </p:cBhvr>
                                    </p:animEffect>
                                    <p:anim calcmode="lin" valueType="num">
                                      <p:cBhvr additive="base">
                                        <p:cTn id="128" dur="700" fill="hold"/>
                                        <p:tgtEl>
                                          <p:spTgt spid="35"/>
                                        </p:tgtEl>
                                        <p:attrNameLst>
                                          <p:attrName>ppt_y</p:attrName>
                                        </p:attrNameLst>
                                      </p:cBhvr>
                                      <p:tavLst>
                                        <p:tav tm="0">
                                          <p:val>
                                            <p:strVal val="#ppt_y+0.03"/>
                                          </p:val>
                                        </p:tav>
                                        <p:tav tm="100000">
                                          <p:val>
                                            <p:strVal val="#ppt_y"/>
                                          </p:val>
                                        </p:tav>
                                      </p:tavLst>
                                    </p:anim>
                                  </p:childTnLst>
                                </p:cTn>
                              </p:par>
                              <p:par>
                                <p:cTn id="129" presetID="42" presetClass="entr" presetSubtype="0" decel="100000" fill="hold" grpId="0" nodeType="withEffect">
                                  <p:stCondLst>
                                    <p:cond delay="1350"/>
                                  </p:stCondLst>
                                  <p:childTnLst>
                                    <p:set>
                                      <p:cBhvr>
                                        <p:cTn id="130" dur="1" fill="hold">
                                          <p:stCondLst>
                                            <p:cond delay="0"/>
                                          </p:stCondLst>
                                        </p:cTn>
                                        <p:tgtEl>
                                          <p:spTgt spid="36"/>
                                        </p:tgtEl>
                                        <p:attrNameLst>
                                          <p:attrName>style.visibility</p:attrName>
                                        </p:attrNameLst>
                                      </p:cBhvr>
                                      <p:to>
                                        <p:strVal val="visible"/>
                                      </p:to>
                                    </p:set>
                                    <p:animEffect transition="in" filter="fade">
                                      <p:cBhvr>
                                        <p:cTn id="131" dur="700"/>
                                        <p:tgtEl>
                                          <p:spTgt spid="36"/>
                                        </p:tgtEl>
                                      </p:cBhvr>
                                    </p:animEffect>
                                    <p:anim calcmode="lin" valueType="num">
                                      <p:cBhvr additive="base">
                                        <p:cTn id="132" dur="700" fill="hold"/>
                                        <p:tgtEl>
                                          <p:spTgt spid="36"/>
                                        </p:tgtEl>
                                        <p:attrNameLst>
                                          <p:attrName>ppt_y</p:attrName>
                                        </p:attrNameLst>
                                      </p:cBhvr>
                                      <p:tavLst>
                                        <p:tav tm="0">
                                          <p:val>
                                            <p:strVal val="#ppt_y+0.03"/>
                                          </p:val>
                                        </p:tav>
                                        <p:tav tm="100000">
                                          <p:val>
                                            <p:strVal val="#ppt_y"/>
                                          </p:val>
                                        </p:tav>
                                      </p:tavLst>
                                    </p:anim>
                                  </p:childTnLst>
                                </p:cTn>
                              </p:par>
                              <p:par>
                                <p:cTn id="133" presetID="42" presetClass="entr" presetSubtype="0" decel="100000" fill="hold" grpId="0" nodeType="withEffect">
                                  <p:stCondLst>
                                    <p:cond delay="1350"/>
                                  </p:stCondLst>
                                  <p:childTnLst>
                                    <p:set>
                                      <p:cBhvr>
                                        <p:cTn id="134" dur="1" fill="hold">
                                          <p:stCondLst>
                                            <p:cond delay="0"/>
                                          </p:stCondLst>
                                        </p:cTn>
                                        <p:tgtEl>
                                          <p:spTgt spid="37"/>
                                        </p:tgtEl>
                                        <p:attrNameLst>
                                          <p:attrName>style.visibility</p:attrName>
                                        </p:attrNameLst>
                                      </p:cBhvr>
                                      <p:to>
                                        <p:strVal val="visible"/>
                                      </p:to>
                                    </p:set>
                                    <p:animEffect transition="in" filter="fade">
                                      <p:cBhvr>
                                        <p:cTn id="135" dur="700"/>
                                        <p:tgtEl>
                                          <p:spTgt spid="37"/>
                                        </p:tgtEl>
                                      </p:cBhvr>
                                    </p:animEffect>
                                    <p:anim calcmode="lin" valueType="num">
                                      <p:cBhvr additive="base">
                                        <p:cTn id="136" dur="700" fill="hold"/>
                                        <p:tgtEl>
                                          <p:spTgt spid="37"/>
                                        </p:tgtEl>
                                        <p:attrNameLst>
                                          <p:attrName>ppt_y</p:attrName>
                                        </p:attrNameLst>
                                      </p:cBhvr>
                                      <p:tavLst>
                                        <p:tav tm="0">
                                          <p:val>
                                            <p:strVal val="#ppt_y+0.03"/>
                                          </p:val>
                                        </p:tav>
                                        <p:tav tm="100000">
                                          <p:val>
                                            <p:strVal val="#ppt_y"/>
                                          </p:val>
                                        </p:tav>
                                      </p:tavLst>
                                    </p:anim>
                                  </p:childTnLst>
                                </p:cTn>
                              </p:par>
                              <p:par>
                                <p:cTn id="137" presetID="42" presetClass="entr" presetSubtype="0" decel="100000" fill="hold" grpId="0" nodeType="withEffect">
                                  <p:stCondLst>
                                    <p:cond delay="1570"/>
                                  </p:stCondLst>
                                  <p:childTnLst>
                                    <p:set>
                                      <p:cBhvr>
                                        <p:cTn id="138" dur="1" fill="hold">
                                          <p:stCondLst>
                                            <p:cond delay="0"/>
                                          </p:stCondLst>
                                        </p:cTn>
                                        <p:tgtEl>
                                          <p:spTgt spid="38"/>
                                        </p:tgtEl>
                                        <p:attrNameLst>
                                          <p:attrName>style.visibility</p:attrName>
                                        </p:attrNameLst>
                                      </p:cBhvr>
                                      <p:to>
                                        <p:strVal val="visible"/>
                                      </p:to>
                                    </p:set>
                                    <p:animEffect transition="in" filter="fade">
                                      <p:cBhvr>
                                        <p:cTn id="139" dur="700"/>
                                        <p:tgtEl>
                                          <p:spTgt spid="38"/>
                                        </p:tgtEl>
                                      </p:cBhvr>
                                    </p:animEffect>
                                    <p:anim calcmode="lin" valueType="num">
                                      <p:cBhvr additive="base">
                                        <p:cTn id="140" dur="700" fill="hold"/>
                                        <p:tgtEl>
                                          <p:spTgt spid="38"/>
                                        </p:tgtEl>
                                        <p:attrNameLst>
                                          <p:attrName>ppt_y</p:attrName>
                                        </p:attrNameLst>
                                      </p:cBhvr>
                                      <p:tavLst>
                                        <p:tav tm="0">
                                          <p:val>
                                            <p:strVal val="#ppt_y+0.03"/>
                                          </p:val>
                                        </p:tav>
                                        <p:tav tm="100000">
                                          <p:val>
                                            <p:strVal val="#ppt_y"/>
                                          </p:val>
                                        </p:tav>
                                      </p:tavLst>
                                    </p:anim>
                                  </p:childTnLst>
                                </p:cTn>
                              </p:par>
                              <p:par>
                                <p:cTn id="141" presetID="42" presetClass="entr" presetSubtype="0" decel="100000" fill="hold" grpId="0" nodeType="withEffect">
                                  <p:stCondLst>
                                    <p:cond delay="1570"/>
                                  </p:stCondLst>
                                  <p:childTnLst>
                                    <p:set>
                                      <p:cBhvr>
                                        <p:cTn id="142" dur="1" fill="hold">
                                          <p:stCondLst>
                                            <p:cond delay="0"/>
                                          </p:stCondLst>
                                        </p:cTn>
                                        <p:tgtEl>
                                          <p:spTgt spid="39"/>
                                        </p:tgtEl>
                                        <p:attrNameLst>
                                          <p:attrName>style.visibility</p:attrName>
                                        </p:attrNameLst>
                                      </p:cBhvr>
                                      <p:to>
                                        <p:strVal val="visible"/>
                                      </p:to>
                                    </p:set>
                                    <p:animEffect transition="in" filter="fade">
                                      <p:cBhvr>
                                        <p:cTn id="143" dur="700"/>
                                        <p:tgtEl>
                                          <p:spTgt spid="39"/>
                                        </p:tgtEl>
                                      </p:cBhvr>
                                    </p:animEffect>
                                    <p:anim calcmode="lin" valueType="num">
                                      <p:cBhvr additive="base">
                                        <p:cTn id="144" dur="700" fill="hold"/>
                                        <p:tgtEl>
                                          <p:spTgt spid="39"/>
                                        </p:tgtEl>
                                        <p:attrNameLst>
                                          <p:attrName>ppt_y</p:attrName>
                                        </p:attrNameLst>
                                      </p:cBhvr>
                                      <p:tavLst>
                                        <p:tav tm="0">
                                          <p:val>
                                            <p:strVal val="#ppt_y+0.03"/>
                                          </p:val>
                                        </p:tav>
                                        <p:tav tm="100000">
                                          <p:val>
                                            <p:strVal val="#ppt_y"/>
                                          </p:val>
                                        </p:tav>
                                      </p:tavLst>
                                    </p:anim>
                                  </p:childTnLst>
                                </p:cTn>
                              </p:par>
                              <p:par>
                                <p:cTn id="145" presetID="42" presetClass="entr" presetSubtype="0" decel="100000" fill="hold" grpId="0" nodeType="withEffect">
                                  <p:stCondLst>
                                    <p:cond delay="1570"/>
                                  </p:stCondLst>
                                  <p:childTnLst>
                                    <p:set>
                                      <p:cBhvr>
                                        <p:cTn id="146" dur="1" fill="hold">
                                          <p:stCondLst>
                                            <p:cond delay="0"/>
                                          </p:stCondLst>
                                        </p:cTn>
                                        <p:tgtEl>
                                          <p:spTgt spid="40"/>
                                        </p:tgtEl>
                                        <p:attrNameLst>
                                          <p:attrName>style.visibility</p:attrName>
                                        </p:attrNameLst>
                                      </p:cBhvr>
                                      <p:to>
                                        <p:strVal val="visible"/>
                                      </p:to>
                                    </p:set>
                                    <p:animEffect transition="in" filter="fade">
                                      <p:cBhvr>
                                        <p:cTn id="147" dur="700"/>
                                        <p:tgtEl>
                                          <p:spTgt spid="40"/>
                                        </p:tgtEl>
                                      </p:cBhvr>
                                    </p:animEffect>
                                    <p:anim calcmode="lin" valueType="num">
                                      <p:cBhvr additive="base">
                                        <p:cTn id="148" dur="700" fill="hold"/>
                                        <p:tgtEl>
                                          <p:spTgt spid="40"/>
                                        </p:tgtEl>
                                        <p:attrNameLst>
                                          <p:attrName>ppt_y</p:attrName>
                                        </p:attrNameLst>
                                      </p:cBhvr>
                                      <p:tavLst>
                                        <p:tav tm="0">
                                          <p:val>
                                            <p:strVal val="#ppt_y+0.03"/>
                                          </p:val>
                                        </p:tav>
                                        <p:tav tm="100000">
                                          <p:val>
                                            <p:strVal val="#ppt_y"/>
                                          </p:val>
                                        </p:tav>
                                      </p:tavLst>
                                    </p:anim>
                                  </p:childTnLst>
                                </p:cTn>
                              </p:par>
                              <p:par>
                                <p:cTn id="149" presetID="42" presetClass="entr" presetSubtype="0" decel="100000" fill="hold" grpId="0" nodeType="withEffect">
                                  <p:stCondLst>
                                    <p:cond delay="1570"/>
                                  </p:stCondLst>
                                  <p:childTnLst>
                                    <p:set>
                                      <p:cBhvr>
                                        <p:cTn id="150" dur="1" fill="hold">
                                          <p:stCondLst>
                                            <p:cond delay="0"/>
                                          </p:stCondLst>
                                        </p:cTn>
                                        <p:tgtEl>
                                          <p:spTgt spid="41"/>
                                        </p:tgtEl>
                                        <p:attrNameLst>
                                          <p:attrName>style.visibility</p:attrName>
                                        </p:attrNameLst>
                                      </p:cBhvr>
                                      <p:to>
                                        <p:strVal val="visible"/>
                                      </p:to>
                                    </p:set>
                                    <p:animEffect transition="in" filter="fade">
                                      <p:cBhvr>
                                        <p:cTn id="151" dur="700"/>
                                        <p:tgtEl>
                                          <p:spTgt spid="41"/>
                                        </p:tgtEl>
                                      </p:cBhvr>
                                    </p:animEffect>
                                    <p:anim calcmode="lin" valueType="num">
                                      <p:cBhvr additive="base">
                                        <p:cTn id="152" dur="700" fill="hold"/>
                                        <p:tgtEl>
                                          <p:spTgt spid="41"/>
                                        </p:tgtEl>
                                        <p:attrNameLst>
                                          <p:attrName>ppt_y</p:attrName>
                                        </p:attrNameLst>
                                      </p:cBhvr>
                                      <p:tavLst>
                                        <p:tav tm="0">
                                          <p:val>
                                            <p:strVal val="#ppt_y+0.03"/>
                                          </p:val>
                                        </p:tav>
                                        <p:tav tm="100000">
                                          <p:val>
                                            <p:strVal val="#ppt_y"/>
                                          </p:val>
                                        </p:tav>
                                      </p:tavLst>
                                    </p:anim>
                                  </p:childTnLst>
                                </p:cTn>
                              </p:par>
                              <p:par>
                                <p:cTn id="153" presetID="42" presetClass="entr" presetSubtype="0" decel="100000" fill="hold" grpId="0" nodeType="withEffect">
                                  <p:stCondLst>
                                    <p:cond delay="1570"/>
                                  </p:stCondLst>
                                  <p:childTnLst>
                                    <p:set>
                                      <p:cBhvr>
                                        <p:cTn id="154" dur="1" fill="hold">
                                          <p:stCondLst>
                                            <p:cond delay="0"/>
                                          </p:stCondLst>
                                        </p:cTn>
                                        <p:tgtEl>
                                          <p:spTgt spid="42"/>
                                        </p:tgtEl>
                                        <p:attrNameLst>
                                          <p:attrName>style.visibility</p:attrName>
                                        </p:attrNameLst>
                                      </p:cBhvr>
                                      <p:to>
                                        <p:strVal val="visible"/>
                                      </p:to>
                                    </p:set>
                                    <p:animEffect transition="in" filter="fade">
                                      <p:cBhvr>
                                        <p:cTn id="155" dur="700"/>
                                        <p:tgtEl>
                                          <p:spTgt spid="42"/>
                                        </p:tgtEl>
                                      </p:cBhvr>
                                    </p:animEffect>
                                    <p:anim calcmode="lin" valueType="num">
                                      <p:cBhvr additive="base">
                                        <p:cTn id="156" dur="700" fill="hold"/>
                                        <p:tgtEl>
                                          <p:spTgt spid="42"/>
                                        </p:tgtEl>
                                        <p:attrNameLst>
                                          <p:attrName>ppt_y</p:attrName>
                                        </p:attrNameLst>
                                      </p:cBhvr>
                                      <p:tavLst>
                                        <p:tav tm="0">
                                          <p:val>
                                            <p:strVal val="#ppt_y+0.03"/>
                                          </p:val>
                                        </p:tav>
                                        <p:tav tm="100000">
                                          <p:val>
                                            <p:strVal val="#ppt_y"/>
                                          </p:val>
                                        </p:tav>
                                      </p:tavLst>
                                    </p:anim>
                                  </p:childTnLst>
                                </p:cTn>
                              </p:par>
                              <p:par>
                                <p:cTn id="157" presetID="42" presetClass="entr" presetSubtype="0" decel="100000" fill="hold" grpId="0" nodeType="withEffect">
                                  <p:stCondLst>
                                    <p:cond delay="1570"/>
                                  </p:stCondLst>
                                  <p:childTnLst>
                                    <p:set>
                                      <p:cBhvr>
                                        <p:cTn id="158" dur="1" fill="hold">
                                          <p:stCondLst>
                                            <p:cond delay="0"/>
                                          </p:stCondLst>
                                        </p:cTn>
                                        <p:tgtEl>
                                          <p:spTgt spid="43"/>
                                        </p:tgtEl>
                                        <p:attrNameLst>
                                          <p:attrName>style.visibility</p:attrName>
                                        </p:attrNameLst>
                                      </p:cBhvr>
                                      <p:to>
                                        <p:strVal val="visible"/>
                                      </p:to>
                                    </p:set>
                                    <p:animEffect transition="in" filter="fade">
                                      <p:cBhvr>
                                        <p:cTn id="159" dur="700"/>
                                        <p:tgtEl>
                                          <p:spTgt spid="43"/>
                                        </p:tgtEl>
                                      </p:cBhvr>
                                    </p:animEffect>
                                    <p:anim calcmode="lin" valueType="num">
                                      <p:cBhvr additive="base">
                                        <p:cTn id="160" dur="700" fill="hold"/>
                                        <p:tgtEl>
                                          <p:spTgt spid="43"/>
                                        </p:tgtEl>
                                        <p:attrNameLst>
                                          <p:attrName>ppt_y</p:attrName>
                                        </p:attrNameLst>
                                      </p:cBhvr>
                                      <p:tavLst>
                                        <p:tav tm="0">
                                          <p:val>
                                            <p:strVal val="#ppt_y+0.03"/>
                                          </p:val>
                                        </p:tav>
                                        <p:tav tm="100000">
                                          <p:val>
                                            <p:strVal val="#ppt_y"/>
                                          </p:val>
                                        </p:tav>
                                      </p:tavLst>
                                    </p:anim>
                                  </p:childTnLst>
                                </p:cTn>
                              </p:par>
                              <p:par>
                                <p:cTn id="161" presetID="42" presetClass="entr" presetSubtype="0" decel="100000" fill="hold" grpId="0" nodeType="withEffect">
                                  <p:stCondLst>
                                    <p:cond delay="1570"/>
                                  </p:stCondLst>
                                  <p:childTnLst>
                                    <p:set>
                                      <p:cBhvr>
                                        <p:cTn id="162" dur="1" fill="hold">
                                          <p:stCondLst>
                                            <p:cond delay="0"/>
                                          </p:stCondLst>
                                        </p:cTn>
                                        <p:tgtEl>
                                          <p:spTgt spid="44"/>
                                        </p:tgtEl>
                                        <p:attrNameLst>
                                          <p:attrName>style.visibility</p:attrName>
                                        </p:attrNameLst>
                                      </p:cBhvr>
                                      <p:to>
                                        <p:strVal val="visible"/>
                                      </p:to>
                                    </p:set>
                                    <p:animEffect transition="in" filter="fade">
                                      <p:cBhvr>
                                        <p:cTn id="163" dur="700"/>
                                        <p:tgtEl>
                                          <p:spTgt spid="44"/>
                                        </p:tgtEl>
                                      </p:cBhvr>
                                    </p:animEffect>
                                    <p:anim calcmode="lin" valueType="num">
                                      <p:cBhvr additive="base">
                                        <p:cTn id="164" dur="700" fill="hold"/>
                                        <p:tgtEl>
                                          <p:spTgt spid="44"/>
                                        </p:tgtEl>
                                        <p:attrNameLst>
                                          <p:attrName>ppt_y</p:attrName>
                                        </p:attrNameLst>
                                      </p:cBhvr>
                                      <p:tavLst>
                                        <p:tav tm="0">
                                          <p:val>
                                            <p:strVal val="#ppt_y+0.03"/>
                                          </p:val>
                                        </p:tav>
                                        <p:tav tm="100000">
                                          <p:val>
                                            <p:strVal val="#ppt_y"/>
                                          </p:val>
                                        </p:tav>
                                      </p:tavLst>
                                    </p:anim>
                                  </p:childTnLst>
                                </p:cTn>
                              </p:par>
                              <p:par>
                                <p:cTn id="165" presetID="10" presetClass="entr" presetSubtype="0" decel="100000" fill="hold" grpId="0" nodeType="withEffect">
                                  <p:stCondLst>
                                    <p:cond delay="1790"/>
                                  </p:stCondLst>
                                  <p:childTnLst>
                                    <p:set>
                                      <p:cBhvr>
                                        <p:cTn id="166" dur="1" fill="hold">
                                          <p:stCondLst>
                                            <p:cond delay="0"/>
                                          </p:stCondLst>
                                        </p:cTn>
                                        <p:tgtEl>
                                          <p:spTgt spid="45"/>
                                        </p:tgtEl>
                                        <p:attrNameLst>
                                          <p:attrName>style.visibility</p:attrName>
                                        </p:attrNameLst>
                                      </p:cBhvr>
                                      <p:to>
                                        <p:strVal val="visible"/>
                                      </p:to>
                                    </p:set>
                                    <p:animEffect transition="in" filter="fade">
                                      <p:cBhvr>
                                        <p:cTn id="167" dur="6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p:bldP spid="9" grpId="0" animBg="1"/>
      <p:bldP spid="10" grpId="0" animBg="1"/>
      <p:bldP spid="11" grpId="0" animBg="1"/>
      <p:bldP spid="12" grpId="0"/>
      <p:bldP spid="13" grpId="0" animBg="1"/>
      <p:bldP spid="14" grpId="0" animBg="1"/>
      <p:bldP spid="15" grpId="0" animBg="1"/>
      <p:bldP spid="16" grpId="0" animBg="1"/>
      <p:bldP spid="17" grpId="0" animBg="1"/>
      <p:bldP spid="18" grpId="0" animBg="1"/>
      <p:bldP spid="19" grpId="0"/>
      <p:bldP spid="20" grpId="0" animBg="1"/>
      <p:bldP spid="21" grpId="0" animBg="1"/>
      <p:bldP spid="22" grpId="0" animBg="1"/>
      <p:bldP spid="23" grpId="0" animBg="1"/>
      <p:bldP spid="24" grpId="0" animBg="1"/>
      <p:bldP spid="25" grpId="0" animBg="1"/>
      <p:bldP spid="26" grpId="0"/>
      <p:bldP spid="27" grpId="0" animBg="1"/>
      <p:bldP spid="28" grpId="0" animBg="1"/>
      <p:bldP spid="29" grpId="0" animBg="1"/>
      <p:bldP spid="30" grpId="0" animBg="1"/>
      <p:bldP spid="31" grpId="0" animBg="1"/>
      <p:bldP spid="32" grpId="0" animBg="1"/>
      <p:bldP spid="33" grpId="0"/>
      <p:bldP spid="34" grpId="0" animBg="1"/>
      <p:bldP spid="35" grpId="0" animBg="1"/>
      <p:bldP spid="36" grpId="0" animBg="1"/>
      <p:bldP spid="37" grpId="0" animBg="1"/>
      <p:bldP spid="38" grpId="0" animBg="1"/>
      <p:bldP spid="39" grpId="0" animBg="1"/>
      <p:bldP spid="40" grpId="0"/>
      <p:bldP spid="41" grpId="0" animBg="1"/>
      <p:bldP spid="42" grpId="0" animBg="1"/>
      <p:bldP spid="43" grpId="0" animBg="1"/>
      <p:bldP spid="44" grpId="0" animBg="1"/>
      <p:bldP spid="4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8229600" y="-237744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194560" y="329184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SPACE DATA · HYPERSPECTRAL (ENMAP, 224 BANDS)</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A second sensor shows what the mangrove became</a:t>
            </a:r>
            <a:endParaRPr lang="en-US" sz="3400" dirty="0"/>
          </a:p>
        </p:txBody>
      </p:sp>
      <p:sp>
        <p:nvSpPr>
          <p:cNvPr id="7" name="a1zoom_ef"/>
          <p:cNvSpPr/>
          <p:nvPr/>
        </p:nvSpPr>
        <p:spPr>
          <a:xfrm>
            <a:off x="548640" y="1691640"/>
            <a:ext cx="11091672" cy="3315507"/>
          </a:xfrm>
          <a:prstGeom prst="roundRect">
            <a:avLst>
              <a:gd name="adj" fmla="val 2758"/>
            </a:avLst>
          </a:prstGeom>
          <a:solidFill>
            <a:srgbClr val="FFFFFF"/>
          </a:solidFill>
          <a:ln/>
          <a:effectLst>
            <a:outerShdw blurRad="152400" dist="38100" dir="5400000" algn="bl" rotWithShape="0">
              <a:srgbClr val="1B2B40">
                <a:alpha val="12000"/>
              </a:srgbClr>
            </a:outerShdw>
          </a:effectLst>
        </p:spPr>
      </p:sp>
      <p:pic>
        <p:nvPicPr>
          <p:cNvPr id="8" name="a1zoom_ei" descr="C:\Users\nahla\Desktop\UAE-Space-Hackatoon\deck_source\images\enmap_stand5_two_epochs.png"/>
          <p:cNvPicPr>
            <a:picLocks noChangeAspect="1"/>
          </p:cNvPicPr>
          <p:nvPr/>
        </p:nvPicPr>
        <p:blipFill>
          <a:blip r:embed="rId5"/>
          <a:stretch>
            <a:fillRect/>
          </a:stretch>
        </p:blipFill>
        <p:spPr>
          <a:xfrm>
            <a:off x="676656" y="1819656"/>
            <a:ext cx="10835640" cy="3059475"/>
          </a:xfrm>
          <a:prstGeom prst="rect">
            <a:avLst/>
          </a:prstGeom>
        </p:spPr>
      </p:pic>
      <p:sp>
        <p:nvSpPr>
          <p:cNvPr id="9" name="a2float_h0"/>
          <p:cNvSpPr/>
          <p:nvPr/>
        </p:nvSpPr>
        <p:spPr>
          <a:xfrm>
            <a:off x="548640" y="5135163"/>
            <a:ext cx="3593592" cy="932688"/>
          </a:xfrm>
          <a:prstGeom prst="roundRect">
            <a:avLst>
              <a:gd name="adj" fmla="val 13725"/>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0" name="a2float_h0n"/>
          <p:cNvSpPr txBox="1"/>
          <p:nvPr/>
        </p:nvSpPr>
        <p:spPr>
          <a:xfrm>
            <a:off x="749808" y="5190027"/>
            <a:ext cx="3291840" cy="411480"/>
          </a:xfrm>
          <a:prstGeom prst="rect">
            <a:avLst/>
          </a:prstGeom>
          <a:noFill/>
          <a:ln/>
        </p:spPr>
        <p:txBody>
          <a:bodyPr wrap="square" lIns="0" tIns="0" rIns="0" bIns="0" rtlCol="0" anchor="t"/>
          <a:lstStyle/>
          <a:p>
            <a:pPr marL="0" indent="0" algn="l">
              <a:lnSpc>
                <a:spcPct val="105000"/>
              </a:lnSpc>
              <a:buNone/>
            </a:pPr>
            <a:r>
              <a:rPr lang="en-US" sz="2200" dirty="0">
                <a:solidFill>
                  <a:srgbClr val="6E60A8"/>
                </a:solidFill>
                <a:latin typeface="Segoe UI Light" pitchFamily="34" charset="0"/>
                <a:ea typeface="Segoe UI Light" pitchFamily="34" charset="-122"/>
                <a:cs typeface="Segoe UI Light" pitchFamily="34" charset="-120"/>
              </a:rPr>
              <a:t>r = 0.84–0.99</a:t>
            </a:r>
            <a:endParaRPr lang="en-US" sz="2200" dirty="0"/>
          </a:p>
        </p:txBody>
      </p:sp>
      <p:sp>
        <p:nvSpPr>
          <p:cNvPr id="11" name="a2float_h0t"/>
          <p:cNvSpPr txBox="1"/>
          <p:nvPr/>
        </p:nvSpPr>
        <p:spPr>
          <a:xfrm>
            <a:off x="749808" y="5610651"/>
            <a:ext cx="3246120" cy="41148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agreement with our Sentinel-2 indices on the same dates (25 and 14 stands)</a:t>
            </a:r>
            <a:endParaRPr lang="en-US" sz="1100" dirty="0"/>
          </a:p>
        </p:txBody>
      </p:sp>
      <p:sp>
        <p:nvSpPr>
          <p:cNvPr id="12" name="a3float_h1"/>
          <p:cNvSpPr/>
          <p:nvPr/>
        </p:nvSpPr>
        <p:spPr>
          <a:xfrm>
            <a:off x="4297680" y="5135163"/>
            <a:ext cx="3593592" cy="932688"/>
          </a:xfrm>
          <a:prstGeom prst="roundRect">
            <a:avLst>
              <a:gd name="adj" fmla="val 13725"/>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3" name="a3float_h1n"/>
          <p:cNvSpPr txBox="1"/>
          <p:nvPr/>
        </p:nvSpPr>
        <p:spPr>
          <a:xfrm>
            <a:off x="4498848" y="5190027"/>
            <a:ext cx="3291840" cy="411480"/>
          </a:xfrm>
          <a:prstGeom prst="rect">
            <a:avLst/>
          </a:prstGeom>
          <a:noFill/>
          <a:ln/>
        </p:spPr>
        <p:txBody>
          <a:bodyPr wrap="square" lIns="0" tIns="0" rIns="0" bIns="0" rtlCol="0" anchor="t"/>
          <a:lstStyle/>
          <a:p>
            <a:pPr marL="0" indent="0" algn="l">
              <a:lnSpc>
                <a:spcPct val="105000"/>
              </a:lnSpc>
              <a:buNone/>
            </a:pPr>
            <a:r>
              <a:rPr lang="en-US" sz="2200" dirty="0">
                <a:solidFill>
                  <a:srgbClr val="A9813A"/>
                </a:solidFill>
                <a:latin typeface="Segoe UI Light" pitchFamily="34" charset="0"/>
                <a:ea typeface="Segoe UI Light" pitchFamily="34" charset="-122"/>
                <a:cs typeface="Segoe UI Light" pitchFamily="34" charset="-120"/>
              </a:rPr>
              <a:t>62 vs 26 ha</a:t>
            </a:r>
            <a:endParaRPr lang="en-US" sz="2200" dirty="0"/>
          </a:p>
        </p:txBody>
      </p:sp>
      <p:sp>
        <p:nvSpPr>
          <p:cNvPr id="14" name="a3float_h1t"/>
          <p:cNvSpPr txBox="1"/>
          <p:nvPr/>
        </p:nvSpPr>
        <p:spPr>
          <a:xfrm>
            <a:off x="4498848" y="5610651"/>
            <a:ext cx="3246120" cy="41148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stand-5 loss: EnMAP pixel count vs our conservative Sentinel-2 flag</a:t>
            </a:r>
            <a:endParaRPr lang="en-US" sz="1100" dirty="0"/>
          </a:p>
        </p:txBody>
      </p:sp>
      <p:sp>
        <p:nvSpPr>
          <p:cNvPr id="15" name="a4float_h2"/>
          <p:cNvSpPr/>
          <p:nvPr/>
        </p:nvSpPr>
        <p:spPr>
          <a:xfrm>
            <a:off x="8046720" y="5135163"/>
            <a:ext cx="3593592" cy="932688"/>
          </a:xfrm>
          <a:prstGeom prst="roundRect">
            <a:avLst>
              <a:gd name="adj" fmla="val 13725"/>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6" name="a4float_h2n"/>
          <p:cNvSpPr txBox="1"/>
          <p:nvPr/>
        </p:nvSpPr>
        <p:spPr>
          <a:xfrm>
            <a:off x="8247888" y="5190027"/>
            <a:ext cx="3291840" cy="411480"/>
          </a:xfrm>
          <a:prstGeom prst="rect">
            <a:avLst/>
          </a:prstGeom>
          <a:noFill/>
          <a:ln/>
        </p:spPr>
        <p:txBody>
          <a:bodyPr wrap="square" lIns="0" tIns="0" rIns="0" bIns="0" rtlCol="0" anchor="t"/>
          <a:lstStyle/>
          <a:p>
            <a:pPr marL="0" indent="0" algn="l">
              <a:lnSpc>
                <a:spcPct val="105000"/>
              </a:lnSpc>
              <a:buNone/>
            </a:pPr>
            <a:r>
              <a:rPr lang="en-US" sz="2200" dirty="0">
                <a:solidFill>
                  <a:srgbClr val="BE5F6D"/>
                </a:solidFill>
                <a:latin typeface="Segoe UI Light" pitchFamily="34" charset="0"/>
                <a:ea typeface="Segoe UI Light" pitchFamily="34" charset="-122"/>
                <a:cs typeface="Segoe UI Light" pitchFamily="34" charset="-120"/>
              </a:rPr>
              <a:t>Vegetation → mineral</a:t>
            </a:r>
            <a:endParaRPr lang="en-US" sz="2200" dirty="0"/>
          </a:p>
        </p:txBody>
      </p:sp>
      <p:sp>
        <p:nvSpPr>
          <p:cNvPr id="17" name="a4float_h2t"/>
          <p:cNvSpPr txBox="1"/>
          <p:nvPr/>
        </p:nvSpPr>
        <p:spPr>
          <a:xfrm>
            <a:off x="8247888" y="5610651"/>
            <a:ext cx="3246120" cy="41148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converted pixels take the spectrum of sand and fill: reclamation, not dieback</a:t>
            </a:r>
            <a:endParaRPr lang="en-US" sz="1100" dirty="0"/>
          </a:p>
        </p:txBody>
      </p:sp>
      <p:sp>
        <p:nvSpPr>
          <p:cNvPr id="18" name="a5fade_hc"/>
          <p:cNvSpPr txBox="1"/>
          <p:nvPr/>
        </p:nvSpPr>
        <p:spPr>
          <a:xfrm>
            <a:off x="548640" y="6172200"/>
            <a:ext cx="10515600" cy="201168"/>
          </a:xfrm>
          <a:prstGeom prst="rect">
            <a:avLst/>
          </a:prstGeom>
          <a:noFill/>
          <a:ln/>
        </p:spPr>
        <p:txBody>
          <a:bodyPr wrap="square" lIns="0" tIns="0" rIns="0" bIns="0" rtlCol="0" anchor="t"/>
          <a:lstStyle/>
          <a:p>
            <a:pPr marL="0" indent="0" algn="l">
              <a:lnSpc>
                <a:spcPct val="105000"/>
              </a:lnSpc>
              <a:buNone/>
            </a:pPr>
            <a:r>
              <a:rPr lang="en-US" sz="1000" dirty="0">
                <a:solidFill>
                  <a:srgbClr val="7A8CA0"/>
                </a:solidFill>
                <a:latin typeface="Segoe UI" pitchFamily="34" charset="0"/>
                <a:ea typeface="Segoe UI" pitchFamily="34" charset="-122"/>
                <a:cs typeface="Segoe UI" pitchFamily="34" charset="-120"/>
              </a:rPr>
              <a:t>Honest limit: as a classifier, the full spectrum is no better than Sentinel-2-like bands (F1 0.74 vs 0.72). Contains modified EnMAP data © DLR 2022, 2025.</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53" presetClass="entr" presetSubtype="16"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800" fill="hold"/>
                                        <p:tgtEl>
                                          <p:spTgt spid="7"/>
                                        </p:tgtEl>
                                        <p:attrNameLst>
                                          <p:attrName>ppt_w</p:attrName>
                                        </p:attrNameLst>
                                      </p:cBhvr>
                                      <p:tavLst>
                                        <p:tav tm="0">
                                          <p:val>
                                            <p:strVal val="#ppt_w*0.85"/>
                                          </p:val>
                                        </p:tav>
                                        <p:tav tm="100000">
                                          <p:val>
                                            <p:strVal val="#ppt_w"/>
                                          </p:val>
                                        </p:tav>
                                      </p:tavLst>
                                    </p:anim>
                                    <p:anim calcmode="lin" valueType="num">
                                      <p:cBhvr additive="base">
                                        <p:cTn id="16" dur="800" fill="hold"/>
                                        <p:tgtEl>
                                          <p:spTgt spid="7"/>
                                        </p:tgtEl>
                                        <p:attrNameLst>
                                          <p:attrName>ppt_h</p:attrName>
                                        </p:attrNameLst>
                                      </p:cBhvr>
                                      <p:tavLst>
                                        <p:tav tm="0">
                                          <p:val>
                                            <p:strVal val="#ppt_h*0.85"/>
                                          </p:val>
                                        </p:tav>
                                        <p:tav tm="100000">
                                          <p:val>
                                            <p:strVal val="#ppt_h"/>
                                          </p:val>
                                        </p:tav>
                                      </p:tavLst>
                                    </p:anim>
                                  </p:childTnLst>
                                </p:cTn>
                              </p:par>
                              <p:par>
                                <p:cTn id="17" presetID="53" presetClass="entr" presetSubtype="16" decel="100000" fill="hold" grpId="0" nodeType="withEffect">
                                  <p:stCondLst>
                                    <p:cond delay="47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00"/>
                                        <p:tgtEl>
                                          <p:spTgt spid="8"/>
                                        </p:tgtEl>
                                      </p:cBhvr>
                                    </p:animEffect>
                                    <p:anim calcmode="lin" valueType="num">
                                      <p:cBhvr additive="base">
                                        <p:cTn id="20" dur="800" fill="hold"/>
                                        <p:tgtEl>
                                          <p:spTgt spid="8"/>
                                        </p:tgtEl>
                                        <p:attrNameLst>
                                          <p:attrName>ppt_w</p:attrName>
                                        </p:attrNameLst>
                                      </p:cBhvr>
                                      <p:tavLst>
                                        <p:tav tm="0">
                                          <p:val>
                                            <p:strVal val="#ppt_w*0.85"/>
                                          </p:val>
                                        </p:tav>
                                        <p:tav tm="100000">
                                          <p:val>
                                            <p:strVal val="#ppt_w"/>
                                          </p:val>
                                        </p:tav>
                                      </p:tavLst>
                                    </p:anim>
                                    <p:anim calcmode="lin" valueType="num">
                                      <p:cBhvr additive="base">
                                        <p:cTn id="21" dur="800" fill="hold"/>
                                        <p:tgtEl>
                                          <p:spTgt spid="8"/>
                                        </p:tgtEl>
                                        <p:attrNameLst>
                                          <p:attrName>ppt_h</p:attrName>
                                        </p:attrNameLst>
                                      </p:cBhvr>
                                      <p:tavLst>
                                        <p:tav tm="0">
                                          <p:val>
                                            <p:strVal val="#ppt_h*0.85"/>
                                          </p:val>
                                        </p:tav>
                                        <p:tav tm="100000">
                                          <p:val>
                                            <p:strVal val="#ppt_h"/>
                                          </p:val>
                                        </p:tav>
                                      </p:tavLst>
                                    </p:anim>
                                  </p:childTnLst>
                                </p:cTn>
                              </p:par>
                              <p:par>
                                <p:cTn id="22" presetID="42" presetClass="entr" presetSubtype="0" decel="100000" fill="hold" grpId="0" nodeType="withEffect">
                                  <p:stCondLst>
                                    <p:cond delay="69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700"/>
                                        <p:tgtEl>
                                          <p:spTgt spid="9"/>
                                        </p:tgtEl>
                                      </p:cBhvr>
                                    </p:animEffect>
                                    <p:anim calcmode="lin" valueType="num">
                                      <p:cBhvr additive="base">
                                        <p:cTn id="25" dur="700" fill="hold"/>
                                        <p:tgtEl>
                                          <p:spTgt spid="9"/>
                                        </p:tgtEl>
                                        <p:attrNameLst>
                                          <p:attrName>ppt_y</p:attrName>
                                        </p:attrNameLst>
                                      </p:cBhvr>
                                      <p:tavLst>
                                        <p:tav tm="0">
                                          <p:val>
                                            <p:strVal val="#ppt_y+0.03"/>
                                          </p:val>
                                        </p:tav>
                                        <p:tav tm="100000">
                                          <p:val>
                                            <p:strVal val="#ppt_y"/>
                                          </p:val>
                                        </p:tav>
                                      </p:tavLst>
                                    </p:anim>
                                  </p:childTnLst>
                                </p:cTn>
                              </p:par>
                              <p:par>
                                <p:cTn id="26" presetID="42" presetClass="entr" presetSubtype="0" decel="100000" fill="hold" grpId="0" nodeType="withEffect">
                                  <p:stCondLst>
                                    <p:cond delay="69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700"/>
                                        <p:tgtEl>
                                          <p:spTgt spid="10"/>
                                        </p:tgtEl>
                                      </p:cBhvr>
                                    </p:animEffect>
                                    <p:anim calcmode="lin" valueType="num">
                                      <p:cBhvr additive="base">
                                        <p:cTn id="29" dur="700" fill="hold"/>
                                        <p:tgtEl>
                                          <p:spTgt spid="10"/>
                                        </p:tgtEl>
                                        <p:attrNameLst>
                                          <p:attrName>ppt_y</p:attrName>
                                        </p:attrNameLst>
                                      </p:cBhvr>
                                      <p:tavLst>
                                        <p:tav tm="0">
                                          <p:val>
                                            <p:strVal val="#ppt_y+0.03"/>
                                          </p:val>
                                        </p:tav>
                                        <p:tav tm="100000">
                                          <p:val>
                                            <p:strVal val="#ppt_y"/>
                                          </p:val>
                                        </p:tav>
                                      </p:tavLst>
                                    </p:anim>
                                  </p:childTnLst>
                                </p:cTn>
                              </p:par>
                              <p:par>
                                <p:cTn id="30" presetID="42" presetClass="entr" presetSubtype="0" decel="100000" fill="hold" grpId="0" nodeType="withEffect">
                                  <p:stCondLst>
                                    <p:cond delay="69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700"/>
                                        <p:tgtEl>
                                          <p:spTgt spid="11"/>
                                        </p:tgtEl>
                                      </p:cBhvr>
                                    </p:animEffect>
                                    <p:anim calcmode="lin" valueType="num">
                                      <p:cBhvr additive="base">
                                        <p:cTn id="33" dur="700" fill="hold"/>
                                        <p:tgtEl>
                                          <p:spTgt spid="11"/>
                                        </p:tgtEl>
                                        <p:attrNameLst>
                                          <p:attrName>ppt_y</p:attrName>
                                        </p:attrNameLst>
                                      </p:cBhvr>
                                      <p:tavLst>
                                        <p:tav tm="0">
                                          <p:val>
                                            <p:strVal val="#ppt_y+0.03"/>
                                          </p:val>
                                        </p:tav>
                                        <p:tav tm="100000">
                                          <p:val>
                                            <p:strVal val="#ppt_y"/>
                                          </p:val>
                                        </p:tav>
                                      </p:tavLst>
                                    </p:anim>
                                  </p:childTnLst>
                                </p:cTn>
                              </p:par>
                              <p:par>
                                <p:cTn id="34" presetID="42" presetClass="entr" presetSubtype="0" decel="100000" fill="hold" grpId="0" nodeType="withEffect">
                                  <p:stCondLst>
                                    <p:cond delay="91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700"/>
                                        <p:tgtEl>
                                          <p:spTgt spid="12"/>
                                        </p:tgtEl>
                                      </p:cBhvr>
                                    </p:animEffect>
                                    <p:anim calcmode="lin" valueType="num">
                                      <p:cBhvr additive="base">
                                        <p:cTn id="37" dur="700" fill="hold"/>
                                        <p:tgtEl>
                                          <p:spTgt spid="12"/>
                                        </p:tgtEl>
                                        <p:attrNameLst>
                                          <p:attrName>ppt_y</p:attrName>
                                        </p:attrNameLst>
                                      </p:cBhvr>
                                      <p:tavLst>
                                        <p:tav tm="0">
                                          <p:val>
                                            <p:strVal val="#ppt_y+0.03"/>
                                          </p:val>
                                        </p:tav>
                                        <p:tav tm="100000">
                                          <p:val>
                                            <p:strVal val="#ppt_y"/>
                                          </p:val>
                                        </p:tav>
                                      </p:tavLst>
                                    </p:anim>
                                  </p:childTnLst>
                                </p:cTn>
                              </p:par>
                              <p:par>
                                <p:cTn id="38" presetID="42" presetClass="entr" presetSubtype="0" decel="100000" fill="hold" grpId="0" nodeType="withEffect">
                                  <p:stCondLst>
                                    <p:cond delay="91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700"/>
                                        <p:tgtEl>
                                          <p:spTgt spid="13"/>
                                        </p:tgtEl>
                                      </p:cBhvr>
                                    </p:animEffect>
                                    <p:anim calcmode="lin" valueType="num">
                                      <p:cBhvr additive="base">
                                        <p:cTn id="41" dur="700" fill="hold"/>
                                        <p:tgtEl>
                                          <p:spTgt spid="13"/>
                                        </p:tgtEl>
                                        <p:attrNameLst>
                                          <p:attrName>ppt_y</p:attrName>
                                        </p:attrNameLst>
                                      </p:cBhvr>
                                      <p:tavLst>
                                        <p:tav tm="0">
                                          <p:val>
                                            <p:strVal val="#ppt_y+0.03"/>
                                          </p:val>
                                        </p:tav>
                                        <p:tav tm="100000">
                                          <p:val>
                                            <p:strVal val="#ppt_y"/>
                                          </p:val>
                                        </p:tav>
                                      </p:tavLst>
                                    </p:anim>
                                  </p:childTnLst>
                                </p:cTn>
                              </p:par>
                              <p:par>
                                <p:cTn id="42" presetID="42" presetClass="entr" presetSubtype="0" decel="100000" fill="hold" grpId="0" nodeType="withEffect">
                                  <p:stCondLst>
                                    <p:cond delay="91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700"/>
                                        <p:tgtEl>
                                          <p:spTgt spid="14"/>
                                        </p:tgtEl>
                                      </p:cBhvr>
                                    </p:animEffect>
                                    <p:anim calcmode="lin" valueType="num">
                                      <p:cBhvr additive="base">
                                        <p:cTn id="45" dur="700" fill="hold"/>
                                        <p:tgtEl>
                                          <p:spTgt spid="14"/>
                                        </p:tgtEl>
                                        <p:attrNameLst>
                                          <p:attrName>ppt_y</p:attrName>
                                        </p:attrNameLst>
                                      </p:cBhvr>
                                      <p:tavLst>
                                        <p:tav tm="0">
                                          <p:val>
                                            <p:strVal val="#ppt_y+0.03"/>
                                          </p:val>
                                        </p:tav>
                                        <p:tav tm="100000">
                                          <p:val>
                                            <p:strVal val="#ppt_y"/>
                                          </p:val>
                                        </p:tav>
                                      </p:tavLst>
                                    </p:anim>
                                  </p:childTnLst>
                                </p:cTn>
                              </p:par>
                              <p:par>
                                <p:cTn id="46" presetID="42" presetClass="entr" presetSubtype="0" decel="100000" fill="hold" grpId="0" nodeType="withEffect">
                                  <p:stCondLst>
                                    <p:cond delay="113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700"/>
                                        <p:tgtEl>
                                          <p:spTgt spid="15"/>
                                        </p:tgtEl>
                                      </p:cBhvr>
                                    </p:animEffect>
                                    <p:anim calcmode="lin" valueType="num">
                                      <p:cBhvr additive="base">
                                        <p:cTn id="49" dur="700" fill="hold"/>
                                        <p:tgtEl>
                                          <p:spTgt spid="15"/>
                                        </p:tgtEl>
                                        <p:attrNameLst>
                                          <p:attrName>ppt_y</p:attrName>
                                        </p:attrNameLst>
                                      </p:cBhvr>
                                      <p:tavLst>
                                        <p:tav tm="0">
                                          <p:val>
                                            <p:strVal val="#ppt_y+0.03"/>
                                          </p:val>
                                        </p:tav>
                                        <p:tav tm="100000">
                                          <p:val>
                                            <p:strVal val="#ppt_y"/>
                                          </p:val>
                                        </p:tav>
                                      </p:tavLst>
                                    </p:anim>
                                  </p:childTnLst>
                                </p:cTn>
                              </p:par>
                              <p:par>
                                <p:cTn id="50" presetID="42" presetClass="entr" presetSubtype="0" decel="100000" fill="hold" grpId="0" nodeType="withEffect">
                                  <p:stCondLst>
                                    <p:cond delay="113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700"/>
                                        <p:tgtEl>
                                          <p:spTgt spid="16"/>
                                        </p:tgtEl>
                                      </p:cBhvr>
                                    </p:animEffect>
                                    <p:anim calcmode="lin" valueType="num">
                                      <p:cBhvr additive="base">
                                        <p:cTn id="53" dur="700" fill="hold"/>
                                        <p:tgtEl>
                                          <p:spTgt spid="16"/>
                                        </p:tgtEl>
                                        <p:attrNameLst>
                                          <p:attrName>ppt_y</p:attrName>
                                        </p:attrNameLst>
                                      </p:cBhvr>
                                      <p:tavLst>
                                        <p:tav tm="0">
                                          <p:val>
                                            <p:strVal val="#ppt_y+0.03"/>
                                          </p:val>
                                        </p:tav>
                                        <p:tav tm="100000">
                                          <p:val>
                                            <p:strVal val="#ppt_y"/>
                                          </p:val>
                                        </p:tav>
                                      </p:tavLst>
                                    </p:anim>
                                  </p:childTnLst>
                                </p:cTn>
                              </p:par>
                              <p:par>
                                <p:cTn id="54" presetID="42" presetClass="entr" presetSubtype="0" decel="100000" fill="hold" grpId="0" nodeType="withEffect">
                                  <p:stCondLst>
                                    <p:cond delay="113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700"/>
                                        <p:tgtEl>
                                          <p:spTgt spid="17"/>
                                        </p:tgtEl>
                                      </p:cBhvr>
                                    </p:animEffect>
                                    <p:anim calcmode="lin" valueType="num">
                                      <p:cBhvr additive="base">
                                        <p:cTn id="57" dur="700" fill="hold"/>
                                        <p:tgtEl>
                                          <p:spTgt spid="17"/>
                                        </p:tgtEl>
                                        <p:attrNameLst>
                                          <p:attrName>ppt_y</p:attrName>
                                        </p:attrNameLst>
                                      </p:cBhvr>
                                      <p:tavLst>
                                        <p:tav tm="0">
                                          <p:val>
                                            <p:strVal val="#ppt_y+0.03"/>
                                          </p:val>
                                        </p:tav>
                                        <p:tav tm="100000">
                                          <p:val>
                                            <p:strVal val="#ppt_y"/>
                                          </p:val>
                                        </p:tav>
                                      </p:tavLst>
                                    </p:anim>
                                  </p:childTnLst>
                                </p:cTn>
                              </p:par>
                              <p:par>
                                <p:cTn id="58" presetID="10" presetClass="entr" presetSubtype="0" decel="100000" fill="hold" grpId="0" nodeType="withEffect">
                                  <p:stCondLst>
                                    <p:cond delay="135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6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8046720" y="-256032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194560" y="329184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SPACE DATA · READY FOR SATELLITE 813</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Sentinel-2 says when. Satellite 813 says what.</a:t>
            </a:r>
            <a:endParaRPr lang="en-US" sz="3400" dirty="0"/>
          </a:p>
        </p:txBody>
      </p:sp>
      <p:graphicFrame>
        <p:nvGraphicFramePr>
          <p:cNvPr id="9" name="a1float_tbl"/>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1945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4142232">
                  <a:extLst>
                    <a:ext uri="{9D8B030D-6E8A-4147-A177-3AD203B41FA5}">
                      <a16:colId xmlns:a16="http://schemas.microsoft.com/office/drawing/2014/main" val="20005"/>
                    </a:ext>
                  </a:extLst>
                </a:gridCol>
              </a:tblGrid>
              <a:tr h="475488">
                <a:tc>
                  <a:txBody>
                    <a:bodyPr/>
                    <a:lstStyle/>
                    <a:p>
                      <a:pPr marL="0" indent="0" algn="l">
                        <a:buNone/>
                      </a:pPr>
                      <a:r>
                        <a:rPr lang="en-US" sz="1200" b="1" dirty="0">
                          <a:solidFill>
                            <a:srgbClr val="2F5D8F"/>
                          </a:solidFill>
                          <a:latin typeface="Segoe UI Semibold" pitchFamily="34" charset="0"/>
                          <a:ea typeface="Segoe UI Semibold" pitchFamily="34" charset="-122"/>
                          <a:cs typeface="Segoe UI Semibold" pitchFamily="34" charset="-120"/>
                        </a:rPr>
                        <a:t>Sensor</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Bands</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Range</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Pixel</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Revisit</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l">
                        <a:buNone/>
                      </a:pPr>
                      <a:r>
                        <a:rPr lang="en-US" sz="1200" b="1" dirty="0">
                          <a:solidFill>
                            <a:srgbClr val="2F5D8F"/>
                          </a:solidFill>
                          <a:latin typeface="Segoe UI Semibold" pitchFamily="34" charset="0"/>
                          <a:ea typeface="Segoe UI Semibold" pitchFamily="34" charset="-122"/>
                          <a:cs typeface="Segoe UI Semibold" pitchFamily="34" charset="-120"/>
                        </a:rPr>
                        <a:t>Role in the product</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extLst>
                  <a:ext uri="{0D108BD9-81ED-4DB2-BD59-A6C34878D82A}">
                    <a16:rowId xmlns:a16="http://schemas.microsoft.com/office/drawing/2014/main" val="10000"/>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Sentinel-2</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13</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443–2190 nm</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10–20 m</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~5 days</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A4D63"/>
                          </a:solidFill>
                          <a:latin typeface="Segoe UI" pitchFamily="34" charset="0"/>
                          <a:ea typeface="Segoe UI" pitchFamily="34" charset="-122"/>
                          <a:cs typeface="Segoe UI" pitchFamily="34" charset="-120"/>
                        </a:rPr>
                        <a:t>WHEN: the alert, every pass</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EnMAP (used)</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224</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420–2450 nm</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30 m</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~27 days</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l">
                        <a:buNone/>
                      </a:pPr>
                      <a:r>
                        <a:rPr lang="en-US" sz="1300" dirty="0">
                          <a:solidFill>
                            <a:srgbClr val="3A4D63"/>
                          </a:solidFill>
                          <a:latin typeface="Segoe UI" pitchFamily="34" charset="0"/>
                          <a:ea typeface="Segoe UI" pitchFamily="34" charset="-122"/>
                          <a:cs typeface="Segoe UI" pitchFamily="34" charset="-120"/>
                        </a:rPr>
                        <a:t>WHAT: tested on stand 5</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475488">
                <a:tc>
                  <a:txBody>
                    <a:bodyPr/>
                    <a:lstStyle/>
                    <a:p>
                      <a:pPr marL="0" indent="0" algn="l">
                        <a:buNone/>
                      </a:pPr>
                      <a:r>
                        <a:rPr lang="en-US" sz="1300" b="1" dirty="0">
                          <a:solidFill>
                            <a:srgbClr val="FFFFFF"/>
                          </a:solidFill>
                          <a:latin typeface="Segoe UI Semibold" pitchFamily="34" charset="0"/>
                          <a:ea typeface="Segoe UI Semibold" pitchFamily="34" charset="-122"/>
                          <a:cs typeface="Segoe UI Semibold" pitchFamily="34" charset="-120"/>
                        </a:rPr>
                        <a:t>Satellite 813 (next)</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~205</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~400–1700 nm</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~20 m</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on demand</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tc>
                  <a:txBody>
                    <a:bodyPr/>
                    <a:lstStyle/>
                    <a:p>
                      <a:pPr marL="0" indent="0" algn="l">
                        <a:buNone/>
                      </a:pPr>
                      <a:r>
                        <a:rPr lang="en-US" sz="1300" b="1" dirty="0">
                          <a:solidFill>
                            <a:srgbClr val="FFFFFF"/>
                          </a:solidFill>
                          <a:latin typeface="Segoe UI Semibold" pitchFamily="34" charset="0"/>
                          <a:ea typeface="Segoe UI Semibold" pitchFamily="34" charset="-122"/>
                          <a:cs typeface="Segoe UI Semibold" pitchFamily="34" charset="-120"/>
                        </a:rPr>
                        <a:t>WHAT, sharper: tasked on flagged cells</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extLst>
                  <a:ext uri="{0D108BD9-81ED-4DB2-BD59-A6C34878D82A}">
                    <a16:rowId xmlns:a16="http://schemas.microsoft.com/office/drawing/2014/main" val="10003"/>
                  </a:ext>
                </a:extLst>
              </a:tr>
            </a:tbl>
          </a:graphicData>
        </a:graphic>
      </p:graphicFrame>
      <p:sp>
        <p:nvSpPr>
          <p:cNvPr id="8" name="a2float_f0"/>
          <p:cNvSpPr/>
          <p:nvPr/>
        </p:nvSpPr>
        <p:spPr>
          <a:xfrm>
            <a:off x="548640" y="3794760"/>
            <a:ext cx="3429000" cy="1143000"/>
          </a:xfrm>
          <a:prstGeom prst="roundRect">
            <a:avLst>
              <a:gd name="adj" fmla="val 112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27" name="a2float_f0ic_c"/>
          <p:cNvSpPr/>
          <p:nvPr/>
        </p:nvSpPr>
        <p:spPr>
          <a:xfrm>
            <a:off x="731520" y="4087368"/>
            <a:ext cx="548640" cy="548640"/>
          </a:xfrm>
          <a:prstGeom prst="ellipse">
            <a:avLst/>
          </a:prstGeom>
          <a:solidFill>
            <a:srgbClr val="3F6E9E">
              <a:alpha val="18000"/>
            </a:srgbClr>
          </a:solidFill>
          <a:ln w="12700">
            <a:solidFill>
              <a:srgbClr val="3F6E9E"/>
            </a:solidFill>
            <a:prstDash val="solid"/>
          </a:ln>
        </p:spPr>
      </p:sp>
      <p:pic>
        <p:nvPicPr>
          <p:cNvPr id="10" name="a2float_f0ic_i" descr="preencoded.png"/>
          <p:cNvPicPr>
            <a:picLocks noChangeAspect="1"/>
          </p:cNvPicPr>
          <p:nvPr/>
        </p:nvPicPr>
        <p:blipFill>
          <a:blip r:embed="rId5"/>
          <a:stretch>
            <a:fillRect/>
          </a:stretch>
        </p:blipFill>
        <p:spPr>
          <a:xfrm>
            <a:off x="863194" y="4219042"/>
            <a:ext cx="285293" cy="285293"/>
          </a:xfrm>
          <a:prstGeom prst="rect">
            <a:avLst/>
          </a:prstGeom>
        </p:spPr>
      </p:pic>
      <p:sp>
        <p:nvSpPr>
          <p:cNvPr id="11" name="a2float_f0t"/>
          <p:cNvSpPr txBox="1"/>
          <p:nvPr/>
        </p:nvSpPr>
        <p:spPr>
          <a:xfrm>
            <a:off x="1417320" y="3931920"/>
            <a:ext cx="2468880" cy="347472"/>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1 · Sentinel-2 alert</a:t>
            </a:r>
            <a:endParaRPr lang="en-US" sz="1500" dirty="0"/>
          </a:p>
        </p:txBody>
      </p:sp>
      <p:sp>
        <p:nvSpPr>
          <p:cNvPr id="12" name="a2float_f0d"/>
          <p:cNvSpPr txBox="1"/>
          <p:nvPr/>
        </p:nvSpPr>
        <p:spPr>
          <a:xfrm>
            <a:off x="1417320" y="4279392"/>
            <a:ext cx="2468880" cy="54864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stand or 200 m cell below its threshold</a:t>
            </a:r>
            <a:endParaRPr lang="en-US" sz="1200" dirty="0"/>
          </a:p>
        </p:txBody>
      </p:sp>
      <p:sp>
        <p:nvSpPr>
          <p:cNvPr id="13" name="a2fade_ar0"/>
          <p:cNvSpPr txBox="1"/>
          <p:nvPr/>
        </p:nvSpPr>
        <p:spPr>
          <a:xfrm>
            <a:off x="3977640" y="4114800"/>
            <a:ext cx="338328" cy="457200"/>
          </a:xfrm>
          <a:prstGeom prst="rect">
            <a:avLst/>
          </a:prstGeom>
          <a:noFill/>
          <a:ln/>
        </p:spPr>
        <p:txBody>
          <a:bodyPr wrap="square" lIns="0" tIns="0" rIns="0" bIns="0" rtlCol="0" anchor="ctr"/>
          <a:lstStyle/>
          <a:p>
            <a:pPr marL="0" indent="0" algn="ctr">
              <a:lnSpc>
                <a:spcPct val="105000"/>
              </a:lnSpc>
              <a:buNone/>
            </a:pPr>
            <a:r>
              <a:rPr lang="en-US" sz="2200" dirty="0">
                <a:solidFill>
                  <a:srgbClr val="3F6E9E"/>
                </a:solidFill>
                <a:latin typeface="Segoe UI" pitchFamily="34" charset="0"/>
                <a:ea typeface="Segoe UI" pitchFamily="34" charset="-122"/>
                <a:cs typeface="Segoe UI" pitchFamily="34" charset="-120"/>
              </a:rPr>
              <a:t>→</a:t>
            </a:r>
            <a:endParaRPr lang="en-US" sz="2200" dirty="0"/>
          </a:p>
        </p:txBody>
      </p:sp>
      <p:sp>
        <p:nvSpPr>
          <p:cNvPr id="14" name="a3float_f1"/>
          <p:cNvSpPr/>
          <p:nvPr/>
        </p:nvSpPr>
        <p:spPr>
          <a:xfrm>
            <a:off x="4315968" y="3794760"/>
            <a:ext cx="3429000" cy="1143000"/>
          </a:xfrm>
          <a:prstGeom prst="roundRect">
            <a:avLst>
              <a:gd name="adj" fmla="val 112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5" name="a3float_f1ic_c"/>
          <p:cNvSpPr/>
          <p:nvPr/>
        </p:nvSpPr>
        <p:spPr>
          <a:xfrm>
            <a:off x="4498848" y="4087368"/>
            <a:ext cx="548640" cy="548640"/>
          </a:xfrm>
          <a:prstGeom prst="ellipse">
            <a:avLst/>
          </a:prstGeom>
          <a:solidFill>
            <a:srgbClr val="A9813A">
              <a:alpha val="18000"/>
            </a:srgbClr>
          </a:solidFill>
          <a:ln w="12700">
            <a:solidFill>
              <a:srgbClr val="A9813A"/>
            </a:solidFill>
            <a:prstDash val="solid"/>
          </a:ln>
        </p:spPr>
      </p:sp>
      <p:pic>
        <p:nvPicPr>
          <p:cNvPr id="16" name="a3float_f1ic_i" descr="preencoded.png"/>
          <p:cNvPicPr>
            <a:picLocks noChangeAspect="1"/>
          </p:cNvPicPr>
          <p:nvPr/>
        </p:nvPicPr>
        <p:blipFill>
          <a:blip r:embed="rId6"/>
          <a:stretch>
            <a:fillRect/>
          </a:stretch>
        </p:blipFill>
        <p:spPr>
          <a:xfrm>
            <a:off x="4630522" y="4219042"/>
            <a:ext cx="285293" cy="285293"/>
          </a:xfrm>
          <a:prstGeom prst="rect">
            <a:avLst/>
          </a:prstGeom>
        </p:spPr>
      </p:pic>
      <p:sp>
        <p:nvSpPr>
          <p:cNvPr id="17" name="a3float_f1t"/>
          <p:cNvSpPr txBox="1"/>
          <p:nvPr/>
        </p:nvSpPr>
        <p:spPr>
          <a:xfrm>
            <a:off x="5184648" y="3931920"/>
            <a:ext cx="2468880" cy="347472"/>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2 · Task Satellite 813</a:t>
            </a:r>
            <a:endParaRPr lang="en-US" sz="1500" dirty="0"/>
          </a:p>
        </p:txBody>
      </p:sp>
      <p:sp>
        <p:nvSpPr>
          <p:cNvPr id="18" name="a3float_f1d"/>
          <p:cNvSpPr txBox="1"/>
          <p:nvPr/>
        </p:nvSpPr>
        <p:spPr>
          <a:xfrm>
            <a:off x="5184648" y="4279392"/>
            <a:ext cx="2468880" cy="54864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only over the flagged cells, on demand</a:t>
            </a:r>
            <a:endParaRPr lang="en-US" sz="1200" dirty="0"/>
          </a:p>
        </p:txBody>
      </p:sp>
      <p:sp>
        <p:nvSpPr>
          <p:cNvPr id="19" name="a3fade_ar1"/>
          <p:cNvSpPr txBox="1"/>
          <p:nvPr/>
        </p:nvSpPr>
        <p:spPr>
          <a:xfrm>
            <a:off x="7744968" y="4114800"/>
            <a:ext cx="338328" cy="457200"/>
          </a:xfrm>
          <a:prstGeom prst="rect">
            <a:avLst/>
          </a:prstGeom>
          <a:noFill/>
          <a:ln/>
        </p:spPr>
        <p:txBody>
          <a:bodyPr wrap="square" lIns="0" tIns="0" rIns="0" bIns="0" rtlCol="0" anchor="ctr"/>
          <a:lstStyle/>
          <a:p>
            <a:pPr marL="0" indent="0" algn="ctr">
              <a:lnSpc>
                <a:spcPct val="105000"/>
              </a:lnSpc>
              <a:buNone/>
            </a:pPr>
            <a:r>
              <a:rPr lang="en-US" sz="2200" dirty="0">
                <a:solidFill>
                  <a:srgbClr val="3F6E9E"/>
                </a:solidFill>
                <a:latin typeface="Segoe UI" pitchFamily="34" charset="0"/>
                <a:ea typeface="Segoe UI" pitchFamily="34" charset="-122"/>
                <a:cs typeface="Segoe UI" pitchFamily="34" charset="-120"/>
              </a:rPr>
              <a:t>→</a:t>
            </a:r>
            <a:endParaRPr lang="en-US" sz="2200" dirty="0"/>
          </a:p>
        </p:txBody>
      </p:sp>
      <p:sp>
        <p:nvSpPr>
          <p:cNvPr id="20" name="a4float_f2"/>
          <p:cNvSpPr/>
          <p:nvPr/>
        </p:nvSpPr>
        <p:spPr>
          <a:xfrm>
            <a:off x="8083296" y="3794760"/>
            <a:ext cx="3429000" cy="1143000"/>
          </a:xfrm>
          <a:prstGeom prst="roundRect">
            <a:avLst>
              <a:gd name="adj" fmla="val 112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21" name="a4float_f2ic_c"/>
          <p:cNvSpPr/>
          <p:nvPr/>
        </p:nvSpPr>
        <p:spPr>
          <a:xfrm>
            <a:off x="8266176" y="4087368"/>
            <a:ext cx="548640" cy="548640"/>
          </a:xfrm>
          <a:prstGeom prst="ellipse">
            <a:avLst/>
          </a:prstGeom>
          <a:solidFill>
            <a:srgbClr val="3F6E9E">
              <a:alpha val="18000"/>
            </a:srgbClr>
          </a:solidFill>
          <a:ln w="12700">
            <a:solidFill>
              <a:srgbClr val="3F6E9E"/>
            </a:solidFill>
            <a:prstDash val="solid"/>
          </a:ln>
        </p:spPr>
      </p:sp>
      <p:pic>
        <p:nvPicPr>
          <p:cNvPr id="22" name="a4float_f2ic_i" descr="preencoded.png"/>
          <p:cNvPicPr>
            <a:picLocks noChangeAspect="1"/>
          </p:cNvPicPr>
          <p:nvPr/>
        </p:nvPicPr>
        <p:blipFill>
          <a:blip r:embed="rId7"/>
          <a:stretch>
            <a:fillRect/>
          </a:stretch>
        </p:blipFill>
        <p:spPr>
          <a:xfrm>
            <a:off x="8397850" y="4219042"/>
            <a:ext cx="285293" cy="285293"/>
          </a:xfrm>
          <a:prstGeom prst="rect">
            <a:avLst/>
          </a:prstGeom>
        </p:spPr>
      </p:pic>
      <p:sp>
        <p:nvSpPr>
          <p:cNvPr id="23" name="a4float_f2t"/>
          <p:cNvSpPr txBox="1"/>
          <p:nvPr/>
        </p:nvSpPr>
        <p:spPr>
          <a:xfrm>
            <a:off x="8951976" y="3931920"/>
            <a:ext cx="2468880" cy="347472"/>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3 · Spectral diagnosis</a:t>
            </a:r>
            <a:endParaRPr lang="en-US" sz="1500" dirty="0"/>
          </a:p>
        </p:txBody>
      </p:sp>
      <p:sp>
        <p:nvSpPr>
          <p:cNvPr id="24" name="a4float_f2d"/>
          <p:cNvSpPr txBox="1"/>
          <p:nvPr/>
        </p:nvSpPr>
        <p:spPr>
          <a:xfrm>
            <a:off x="8951976" y="4279392"/>
            <a:ext cx="2468880" cy="54864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vegetation, or sand and fill: an evidence pack</a:t>
            </a:r>
            <a:endParaRPr lang="en-US" sz="1200" dirty="0"/>
          </a:p>
        </p:txBody>
      </p:sp>
      <p:sp>
        <p:nvSpPr>
          <p:cNvPr id="25" name="a5float_note"/>
          <p:cNvSpPr/>
          <p:nvPr/>
        </p:nvSpPr>
        <p:spPr>
          <a:xfrm>
            <a:off x="548640" y="5166360"/>
            <a:ext cx="11091672" cy="1005840"/>
          </a:xfrm>
          <a:prstGeom prst="roundRect">
            <a:avLst>
              <a:gd name="adj" fmla="val 12727"/>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sp>
      <p:sp>
        <p:nvSpPr>
          <p:cNvPr id="26" name="a5float_notet"/>
          <p:cNvSpPr txBox="1"/>
          <p:nvPr/>
        </p:nvSpPr>
        <p:spPr>
          <a:xfrm>
            <a:off x="777240" y="5166360"/>
            <a:ext cx="10698480" cy="1005840"/>
          </a:xfrm>
          <a:prstGeom prst="rect">
            <a:avLst/>
          </a:prstGeom>
          <a:noFill/>
          <a:ln/>
        </p:spPr>
        <p:txBody>
          <a:bodyPr wrap="square" lIns="0" tIns="0" rIns="0" bIns="0" rtlCol="0" anchor="ctr"/>
          <a:lstStyle/>
          <a:p>
            <a:pPr marL="0" indent="0" algn="l">
              <a:lnSpc>
                <a:spcPct val="105000"/>
              </a:lnSpc>
              <a:buNone/>
            </a:pPr>
            <a:r>
              <a:rPr lang="en-US" sz="1400" b="1" dirty="0">
                <a:solidFill>
                  <a:srgbClr val="2F5D8F"/>
                </a:solidFill>
                <a:latin typeface="Segoe UI" pitchFamily="34" charset="0"/>
                <a:ea typeface="Segoe UI" pitchFamily="34" charset="-122"/>
                <a:cs typeface="Segoe UI" pitchFamily="34" charset="-120"/>
              </a:rPr>
              <a:t>Every index the monitor uses </a:t>
            </a:r>
            <a:r>
              <a:rPr lang="en-US" sz="1400" dirty="0">
                <a:solidFill>
                  <a:srgbClr val="1B2B40"/>
                </a:solidFill>
                <a:latin typeface="Segoe UI" pitchFamily="34" charset="0"/>
                <a:ea typeface="Segoe UI" pitchFamily="34" charset="-122"/>
                <a:cs typeface="Segoe UI" pitchFamily="34" charset="-120"/>
              </a:rPr>
              <a:t>(NDVI, red edge, SWIR moisture at 1610 nm, wetness) sits inside 813's ~400–1700 nm range, at 20 m instead of EnMAP's 30 m.  </a:t>
            </a:r>
            <a:r>
              <a:rPr lang="en-US" sz="1400" b="1" dirty="0">
                <a:solidFill>
                  <a:srgbClr val="A9813A"/>
                </a:solidFill>
                <a:latin typeface="Segoe UI" pitchFamily="34" charset="0"/>
                <a:ea typeface="Segoe UI" pitchFamily="34" charset="-122"/>
                <a:cs typeface="Segoe UI" pitchFamily="34" charset="-120"/>
              </a:rPr>
              <a:t>Planned, not yet tested: </a:t>
            </a:r>
            <a:r>
              <a:rPr lang="en-US" sz="1400" dirty="0">
                <a:solidFill>
                  <a:srgbClr val="1B2B40"/>
                </a:solidFill>
                <a:latin typeface="Segoe UI" pitchFamily="34" charset="0"/>
                <a:ea typeface="Segoe UI" pitchFamily="34" charset="-122"/>
                <a:cs typeface="Segoe UI" pitchFamily="34" charset="-120"/>
              </a:rPr>
              <a:t>813 scenes were not available in the proof of concept.</a:t>
            </a:r>
            <a:endParaRPr lang="en-US" sz="1400" dirty="0"/>
          </a:p>
        </p:txBody>
      </p:sp>
      <p:sp>
        <p:nvSpPr>
          <p:cNvPr id="28"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700"/>
                                        <p:tgtEl>
                                          <p:spTgt spid="9"/>
                                        </p:tgtEl>
                                      </p:cBhvr>
                                    </p:animEffect>
                                    <p:anim calcmode="lin" valueType="num">
                                      <p:cBhvr additive="base">
                                        <p:cTn id="15" dur="700" fill="hold"/>
                                        <p:tgtEl>
                                          <p:spTgt spid="9"/>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69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69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700"/>
                                        <p:tgtEl>
                                          <p:spTgt spid="10"/>
                                        </p:tgtEl>
                                      </p:cBhvr>
                                    </p:animEffect>
                                    <p:anim calcmode="lin" valueType="num">
                                      <p:cBhvr additive="base">
                                        <p:cTn id="23" dur="700" fill="hold"/>
                                        <p:tgtEl>
                                          <p:spTgt spid="10"/>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69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700"/>
                                        <p:tgtEl>
                                          <p:spTgt spid="11"/>
                                        </p:tgtEl>
                                      </p:cBhvr>
                                    </p:animEffect>
                                    <p:anim calcmode="lin" valueType="num">
                                      <p:cBhvr additive="base">
                                        <p:cTn id="27" dur="700" fill="hold"/>
                                        <p:tgtEl>
                                          <p:spTgt spid="11"/>
                                        </p:tgtEl>
                                        <p:attrNameLst>
                                          <p:attrName>ppt_y</p:attrName>
                                        </p:attrNameLst>
                                      </p:cBhvr>
                                      <p:tavLst>
                                        <p:tav tm="0">
                                          <p:val>
                                            <p:strVal val="#ppt_y+0.03"/>
                                          </p:val>
                                        </p:tav>
                                        <p:tav tm="100000">
                                          <p:val>
                                            <p:strVal val="#ppt_y"/>
                                          </p:val>
                                        </p:tav>
                                      </p:tavLst>
                                    </p:anim>
                                  </p:childTnLst>
                                </p:cTn>
                              </p:par>
                              <p:par>
                                <p:cTn id="28" presetID="42" presetClass="entr" presetSubtype="0" decel="100000" fill="hold" grpId="0" nodeType="withEffect">
                                  <p:stCondLst>
                                    <p:cond delay="69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700"/>
                                        <p:tgtEl>
                                          <p:spTgt spid="12"/>
                                        </p:tgtEl>
                                      </p:cBhvr>
                                    </p:animEffect>
                                    <p:anim calcmode="lin" valueType="num">
                                      <p:cBhvr additive="base">
                                        <p:cTn id="31" dur="700" fill="hold"/>
                                        <p:tgtEl>
                                          <p:spTgt spid="12"/>
                                        </p:tgtEl>
                                        <p:attrNameLst>
                                          <p:attrName>ppt_y</p:attrName>
                                        </p:attrNameLst>
                                      </p:cBhvr>
                                      <p:tavLst>
                                        <p:tav tm="0">
                                          <p:val>
                                            <p:strVal val="#ppt_y+0.03"/>
                                          </p:val>
                                        </p:tav>
                                        <p:tav tm="100000">
                                          <p:val>
                                            <p:strVal val="#ppt_y"/>
                                          </p:val>
                                        </p:tav>
                                      </p:tavLst>
                                    </p:anim>
                                  </p:childTnLst>
                                </p:cTn>
                              </p:par>
                              <p:par>
                                <p:cTn id="32" presetID="10" presetClass="entr" presetSubtype="0" decel="100000" fill="hold" grpId="0" nodeType="withEffect">
                                  <p:stCondLst>
                                    <p:cond delay="69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42" presetClass="entr" presetSubtype="0" decel="100000" fill="hold" grpId="0" nodeType="withEffect">
                                  <p:stCondLst>
                                    <p:cond delay="69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700"/>
                                        <p:tgtEl>
                                          <p:spTgt spid="27"/>
                                        </p:tgtEl>
                                      </p:cBhvr>
                                    </p:animEffect>
                                    <p:anim calcmode="lin" valueType="num">
                                      <p:cBhvr additive="base">
                                        <p:cTn id="38" dur="700" fill="hold"/>
                                        <p:tgtEl>
                                          <p:spTgt spid="27"/>
                                        </p:tgtEl>
                                        <p:attrNameLst>
                                          <p:attrName>ppt_y</p:attrName>
                                        </p:attrNameLst>
                                      </p:cBhvr>
                                      <p:tavLst>
                                        <p:tav tm="0">
                                          <p:val>
                                            <p:strVal val="#ppt_y+0.03"/>
                                          </p:val>
                                        </p:tav>
                                        <p:tav tm="100000">
                                          <p:val>
                                            <p:strVal val="#ppt_y"/>
                                          </p:val>
                                        </p:tav>
                                      </p:tavLst>
                                    </p:anim>
                                  </p:childTnLst>
                                </p:cTn>
                              </p:par>
                              <p:par>
                                <p:cTn id="39" presetID="42" presetClass="entr" presetSubtype="0" decel="100000" fill="hold" grpId="0" nodeType="withEffect">
                                  <p:stCondLst>
                                    <p:cond delay="91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700"/>
                                        <p:tgtEl>
                                          <p:spTgt spid="14"/>
                                        </p:tgtEl>
                                      </p:cBhvr>
                                    </p:animEffect>
                                    <p:anim calcmode="lin" valueType="num">
                                      <p:cBhvr additive="base">
                                        <p:cTn id="42" dur="700" fill="hold"/>
                                        <p:tgtEl>
                                          <p:spTgt spid="14"/>
                                        </p:tgtEl>
                                        <p:attrNameLst>
                                          <p:attrName>ppt_y</p:attrName>
                                        </p:attrNameLst>
                                      </p:cBhvr>
                                      <p:tavLst>
                                        <p:tav tm="0">
                                          <p:val>
                                            <p:strVal val="#ppt_y+0.03"/>
                                          </p:val>
                                        </p:tav>
                                        <p:tav tm="100000">
                                          <p:val>
                                            <p:strVal val="#ppt_y"/>
                                          </p:val>
                                        </p:tav>
                                      </p:tavLst>
                                    </p:anim>
                                  </p:childTnLst>
                                </p:cTn>
                              </p:par>
                              <p:par>
                                <p:cTn id="43" presetID="42" presetClass="entr" presetSubtype="0" decel="100000" fill="hold" grpId="0" nodeType="withEffect">
                                  <p:stCondLst>
                                    <p:cond delay="91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700"/>
                                        <p:tgtEl>
                                          <p:spTgt spid="15"/>
                                        </p:tgtEl>
                                      </p:cBhvr>
                                    </p:animEffect>
                                    <p:anim calcmode="lin" valueType="num">
                                      <p:cBhvr additive="base">
                                        <p:cTn id="46" dur="700" fill="hold"/>
                                        <p:tgtEl>
                                          <p:spTgt spid="15"/>
                                        </p:tgtEl>
                                        <p:attrNameLst>
                                          <p:attrName>ppt_y</p:attrName>
                                        </p:attrNameLst>
                                      </p:cBhvr>
                                      <p:tavLst>
                                        <p:tav tm="0">
                                          <p:val>
                                            <p:strVal val="#ppt_y+0.03"/>
                                          </p:val>
                                        </p:tav>
                                        <p:tav tm="100000">
                                          <p:val>
                                            <p:strVal val="#ppt_y"/>
                                          </p:val>
                                        </p:tav>
                                      </p:tavLst>
                                    </p:anim>
                                  </p:childTnLst>
                                </p:cTn>
                              </p:par>
                              <p:par>
                                <p:cTn id="47" presetID="42" presetClass="entr" presetSubtype="0" decel="100000" fill="hold" grpId="0" nodeType="withEffect">
                                  <p:stCondLst>
                                    <p:cond delay="91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700"/>
                                        <p:tgtEl>
                                          <p:spTgt spid="16"/>
                                        </p:tgtEl>
                                      </p:cBhvr>
                                    </p:animEffect>
                                    <p:anim calcmode="lin" valueType="num">
                                      <p:cBhvr additive="base">
                                        <p:cTn id="50" dur="700" fill="hold"/>
                                        <p:tgtEl>
                                          <p:spTgt spid="16"/>
                                        </p:tgtEl>
                                        <p:attrNameLst>
                                          <p:attrName>ppt_y</p:attrName>
                                        </p:attrNameLst>
                                      </p:cBhvr>
                                      <p:tavLst>
                                        <p:tav tm="0">
                                          <p:val>
                                            <p:strVal val="#ppt_y+0.03"/>
                                          </p:val>
                                        </p:tav>
                                        <p:tav tm="100000">
                                          <p:val>
                                            <p:strVal val="#ppt_y"/>
                                          </p:val>
                                        </p:tav>
                                      </p:tavLst>
                                    </p:anim>
                                  </p:childTnLst>
                                </p:cTn>
                              </p:par>
                              <p:par>
                                <p:cTn id="51" presetID="42" presetClass="entr" presetSubtype="0" decel="100000" fill="hold" grpId="0" nodeType="withEffect">
                                  <p:stCondLst>
                                    <p:cond delay="91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700"/>
                                        <p:tgtEl>
                                          <p:spTgt spid="17"/>
                                        </p:tgtEl>
                                      </p:cBhvr>
                                    </p:animEffect>
                                    <p:anim calcmode="lin" valueType="num">
                                      <p:cBhvr additive="base">
                                        <p:cTn id="54" dur="700" fill="hold"/>
                                        <p:tgtEl>
                                          <p:spTgt spid="17"/>
                                        </p:tgtEl>
                                        <p:attrNameLst>
                                          <p:attrName>ppt_y</p:attrName>
                                        </p:attrNameLst>
                                      </p:cBhvr>
                                      <p:tavLst>
                                        <p:tav tm="0">
                                          <p:val>
                                            <p:strVal val="#ppt_y+0.03"/>
                                          </p:val>
                                        </p:tav>
                                        <p:tav tm="100000">
                                          <p:val>
                                            <p:strVal val="#ppt_y"/>
                                          </p:val>
                                        </p:tav>
                                      </p:tavLst>
                                    </p:anim>
                                  </p:childTnLst>
                                </p:cTn>
                              </p:par>
                              <p:par>
                                <p:cTn id="55" presetID="42" presetClass="entr" presetSubtype="0" decel="100000" fill="hold" grpId="0" nodeType="withEffect">
                                  <p:stCondLst>
                                    <p:cond delay="91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700"/>
                                        <p:tgtEl>
                                          <p:spTgt spid="18"/>
                                        </p:tgtEl>
                                      </p:cBhvr>
                                    </p:animEffect>
                                    <p:anim calcmode="lin" valueType="num">
                                      <p:cBhvr additive="base">
                                        <p:cTn id="58" dur="700" fill="hold"/>
                                        <p:tgtEl>
                                          <p:spTgt spid="18"/>
                                        </p:tgtEl>
                                        <p:attrNameLst>
                                          <p:attrName>ppt_y</p:attrName>
                                        </p:attrNameLst>
                                      </p:cBhvr>
                                      <p:tavLst>
                                        <p:tav tm="0">
                                          <p:val>
                                            <p:strVal val="#ppt_y+0.03"/>
                                          </p:val>
                                        </p:tav>
                                        <p:tav tm="100000">
                                          <p:val>
                                            <p:strVal val="#ppt_y"/>
                                          </p:val>
                                        </p:tav>
                                      </p:tavLst>
                                    </p:anim>
                                  </p:childTnLst>
                                </p:cTn>
                              </p:par>
                              <p:par>
                                <p:cTn id="59" presetID="10" presetClass="entr" presetSubtype="0" decel="100000" fill="hold" grpId="0" nodeType="withEffect">
                                  <p:stCondLst>
                                    <p:cond delay="91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600"/>
                                        <p:tgtEl>
                                          <p:spTgt spid="19"/>
                                        </p:tgtEl>
                                      </p:cBhvr>
                                    </p:animEffect>
                                  </p:childTnLst>
                                </p:cTn>
                              </p:par>
                              <p:par>
                                <p:cTn id="62" presetID="42" presetClass="entr" presetSubtype="0" decel="100000" fill="hold" grpId="0" nodeType="withEffect">
                                  <p:stCondLst>
                                    <p:cond delay="113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700"/>
                                        <p:tgtEl>
                                          <p:spTgt spid="20"/>
                                        </p:tgtEl>
                                      </p:cBhvr>
                                    </p:animEffect>
                                    <p:anim calcmode="lin" valueType="num">
                                      <p:cBhvr additive="base">
                                        <p:cTn id="65" dur="700" fill="hold"/>
                                        <p:tgtEl>
                                          <p:spTgt spid="20"/>
                                        </p:tgtEl>
                                        <p:attrNameLst>
                                          <p:attrName>ppt_y</p:attrName>
                                        </p:attrNameLst>
                                      </p:cBhvr>
                                      <p:tavLst>
                                        <p:tav tm="0">
                                          <p:val>
                                            <p:strVal val="#ppt_y+0.03"/>
                                          </p:val>
                                        </p:tav>
                                        <p:tav tm="100000">
                                          <p:val>
                                            <p:strVal val="#ppt_y"/>
                                          </p:val>
                                        </p:tav>
                                      </p:tavLst>
                                    </p:anim>
                                  </p:childTnLst>
                                </p:cTn>
                              </p:par>
                              <p:par>
                                <p:cTn id="66" presetID="42" presetClass="entr" presetSubtype="0" decel="100000" fill="hold" grpId="0" nodeType="withEffect">
                                  <p:stCondLst>
                                    <p:cond delay="113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700"/>
                                        <p:tgtEl>
                                          <p:spTgt spid="21"/>
                                        </p:tgtEl>
                                      </p:cBhvr>
                                    </p:animEffect>
                                    <p:anim calcmode="lin" valueType="num">
                                      <p:cBhvr additive="base">
                                        <p:cTn id="69" dur="700" fill="hold"/>
                                        <p:tgtEl>
                                          <p:spTgt spid="21"/>
                                        </p:tgtEl>
                                        <p:attrNameLst>
                                          <p:attrName>ppt_y</p:attrName>
                                        </p:attrNameLst>
                                      </p:cBhvr>
                                      <p:tavLst>
                                        <p:tav tm="0">
                                          <p:val>
                                            <p:strVal val="#ppt_y+0.03"/>
                                          </p:val>
                                        </p:tav>
                                        <p:tav tm="100000">
                                          <p:val>
                                            <p:strVal val="#ppt_y"/>
                                          </p:val>
                                        </p:tav>
                                      </p:tavLst>
                                    </p:anim>
                                  </p:childTnLst>
                                </p:cTn>
                              </p:par>
                              <p:par>
                                <p:cTn id="70" presetID="42" presetClass="entr" presetSubtype="0" decel="100000" fill="hold" grpId="0" nodeType="withEffect">
                                  <p:stCondLst>
                                    <p:cond delay="113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700"/>
                                        <p:tgtEl>
                                          <p:spTgt spid="22"/>
                                        </p:tgtEl>
                                      </p:cBhvr>
                                    </p:animEffect>
                                    <p:anim calcmode="lin" valueType="num">
                                      <p:cBhvr additive="base">
                                        <p:cTn id="73" dur="700" fill="hold"/>
                                        <p:tgtEl>
                                          <p:spTgt spid="22"/>
                                        </p:tgtEl>
                                        <p:attrNameLst>
                                          <p:attrName>ppt_y</p:attrName>
                                        </p:attrNameLst>
                                      </p:cBhvr>
                                      <p:tavLst>
                                        <p:tav tm="0">
                                          <p:val>
                                            <p:strVal val="#ppt_y+0.03"/>
                                          </p:val>
                                        </p:tav>
                                        <p:tav tm="100000">
                                          <p:val>
                                            <p:strVal val="#ppt_y"/>
                                          </p:val>
                                        </p:tav>
                                      </p:tavLst>
                                    </p:anim>
                                  </p:childTnLst>
                                </p:cTn>
                              </p:par>
                              <p:par>
                                <p:cTn id="74" presetID="42" presetClass="entr" presetSubtype="0" decel="100000" fill="hold" grpId="0" nodeType="withEffect">
                                  <p:stCondLst>
                                    <p:cond delay="113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700"/>
                                        <p:tgtEl>
                                          <p:spTgt spid="23"/>
                                        </p:tgtEl>
                                      </p:cBhvr>
                                    </p:animEffect>
                                    <p:anim calcmode="lin" valueType="num">
                                      <p:cBhvr additive="base">
                                        <p:cTn id="77" dur="700" fill="hold"/>
                                        <p:tgtEl>
                                          <p:spTgt spid="23"/>
                                        </p:tgtEl>
                                        <p:attrNameLst>
                                          <p:attrName>ppt_y</p:attrName>
                                        </p:attrNameLst>
                                      </p:cBhvr>
                                      <p:tavLst>
                                        <p:tav tm="0">
                                          <p:val>
                                            <p:strVal val="#ppt_y+0.03"/>
                                          </p:val>
                                        </p:tav>
                                        <p:tav tm="100000">
                                          <p:val>
                                            <p:strVal val="#ppt_y"/>
                                          </p:val>
                                        </p:tav>
                                      </p:tavLst>
                                    </p:anim>
                                  </p:childTnLst>
                                </p:cTn>
                              </p:par>
                              <p:par>
                                <p:cTn id="78" presetID="42" presetClass="entr" presetSubtype="0" decel="100000" fill="hold" grpId="0" nodeType="withEffect">
                                  <p:stCondLst>
                                    <p:cond delay="113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700"/>
                                        <p:tgtEl>
                                          <p:spTgt spid="24"/>
                                        </p:tgtEl>
                                      </p:cBhvr>
                                    </p:animEffect>
                                    <p:anim calcmode="lin" valueType="num">
                                      <p:cBhvr additive="base">
                                        <p:cTn id="81" dur="700" fill="hold"/>
                                        <p:tgtEl>
                                          <p:spTgt spid="24"/>
                                        </p:tgtEl>
                                        <p:attrNameLst>
                                          <p:attrName>ppt_y</p:attrName>
                                        </p:attrNameLst>
                                      </p:cBhvr>
                                      <p:tavLst>
                                        <p:tav tm="0">
                                          <p:val>
                                            <p:strVal val="#ppt_y+0.03"/>
                                          </p:val>
                                        </p:tav>
                                        <p:tav tm="100000">
                                          <p:val>
                                            <p:strVal val="#ppt_y"/>
                                          </p:val>
                                        </p:tav>
                                      </p:tavLst>
                                    </p:anim>
                                  </p:childTnLst>
                                </p:cTn>
                              </p:par>
                              <p:par>
                                <p:cTn id="82" presetID="42" presetClass="entr" presetSubtype="0" decel="100000" fill="hold" grpId="0" nodeType="withEffect">
                                  <p:stCondLst>
                                    <p:cond delay="135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700"/>
                                        <p:tgtEl>
                                          <p:spTgt spid="25"/>
                                        </p:tgtEl>
                                      </p:cBhvr>
                                    </p:animEffect>
                                    <p:anim calcmode="lin" valueType="num">
                                      <p:cBhvr additive="base">
                                        <p:cTn id="85" dur="700" fill="hold"/>
                                        <p:tgtEl>
                                          <p:spTgt spid="25"/>
                                        </p:tgtEl>
                                        <p:attrNameLst>
                                          <p:attrName>ppt_y</p:attrName>
                                        </p:attrNameLst>
                                      </p:cBhvr>
                                      <p:tavLst>
                                        <p:tav tm="0">
                                          <p:val>
                                            <p:strVal val="#ppt_y+0.03"/>
                                          </p:val>
                                        </p:tav>
                                        <p:tav tm="100000">
                                          <p:val>
                                            <p:strVal val="#ppt_y"/>
                                          </p:val>
                                        </p:tav>
                                      </p:tavLst>
                                    </p:anim>
                                  </p:childTnLst>
                                </p:cTn>
                              </p:par>
                              <p:par>
                                <p:cTn id="86" presetID="42" presetClass="entr" presetSubtype="0" decel="100000" fill="hold" grpId="0" nodeType="withEffect">
                                  <p:stCondLst>
                                    <p:cond delay="1350"/>
                                  </p:stCondLst>
                                  <p:childTnLst>
                                    <p:set>
                                      <p:cBhvr>
                                        <p:cTn id="87" dur="1" fill="hold">
                                          <p:stCondLst>
                                            <p:cond delay="0"/>
                                          </p:stCondLst>
                                        </p:cTn>
                                        <p:tgtEl>
                                          <p:spTgt spid="26"/>
                                        </p:tgtEl>
                                        <p:attrNameLst>
                                          <p:attrName>style.visibility</p:attrName>
                                        </p:attrNameLst>
                                      </p:cBhvr>
                                      <p:to>
                                        <p:strVal val="visible"/>
                                      </p:to>
                                    </p:set>
                                    <p:animEffect transition="in" filter="fade">
                                      <p:cBhvr>
                                        <p:cTn id="88" dur="700"/>
                                        <p:tgtEl>
                                          <p:spTgt spid="26"/>
                                        </p:tgtEl>
                                      </p:cBhvr>
                                    </p:animEffect>
                                    <p:anim calcmode="lin" valueType="num">
                                      <p:cBhvr additive="base">
                                        <p:cTn id="89" dur="700" fill="hold"/>
                                        <p:tgtEl>
                                          <p:spTgt spid="26"/>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9" grpId="0">
        <p:bldAsOne/>
      </p:bldGraphic>
      <p:bldP spid="8" grpId="0" animBg="1"/>
      <p:bldP spid="27" grpId="0" animBg="1"/>
      <p:bldP spid="10" grpId="0"/>
      <p:bldP spid="11" grpId="0" animBg="1"/>
      <p:bldP spid="12" grpId="0" animBg="1"/>
      <p:bldP spid="13" grpId="0" animBg="1"/>
      <p:bldP spid="14" grpId="0" animBg="1"/>
      <p:bldP spid="15" grpId="0" animBg="1"/>
      <p:bldP spid="16" grpId="0"/>
      <p:bldP spid="17" grpId="0" animBg="1"/>
      <p:bldP spid="18" grpId="0" animBg="1"/>
      <p:bldP spid="19" grpId="0" animBg="1"/>
      <p:bldP spid="20" grpId="0" animBg="1"/>
      <p:bldP spid="21" grpId="0" animBg="1"/>
      <p:bldP spid="22" grpId="0"/>
      <p:bldP spid="23" grpId="0" animBg="1"/>
      <p:bldP spid="24" grpId="0" animBg="1"/>
      <p:bldP spid="25" grpId="0" animBg="1"/>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3291840" y="-310896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377440" y="347472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APPROACH · HOW IT WORKS</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From satellite pixels to a decision</a:t>
            </a:r>
            <a:endParaRPr lang="en-US" sz="3400" dirty="0"/>
          </a:p>
        </p:txBody>
      </p:sp>
      <p:sp>
        <p:nvSpPr>
          <p:cNvPr id="7" name="a1zoom_wfc"/>
          <p:cNvSpPr/>
          <p:nvPr/>
        </p:nvSpPr>
        <p:spPr>
          <a:xfrm>
            <a:off x="548640" y="1691640"/>
            <a:ext cx="11091672" cy="4315968"/>
          </a:xfrm>
          <a:prstGeom prst="roundRect">
            <a:avLst>
              <a:gd name="adj" fmla="val 2966"/>
            </a:avLst>
          </a:prstGeom>
          <a:solidFill>
            <a:srgbClr val="FFFFFF">
              <a:alpha val="92000"/>
            </a:srgbClr>
          </a:solidFill>
          <a:ln w="9525">
            <a:solidFill>
              <a:srgbClr val="D3E0EE"/>
            </a:solidFill>
            <a:prstDash val="solid"/>
          </a:ln>
          <a:effectLst>
            <a:outerShdw blurRad="152400" dist="38100" dir="5400000" algn="bl" rotWithShape="0">
              <a:srgbClr val="1B2B40">
                <a:alpha val="12000"/>
              </a:srgbClr>
            </a:outerShdw>
          </a:effectLst>
        </p:spPr>
      </p:sp>
      <p:pic>
        <p:nvPicPr>
          <p:cNvPr id="8" name="a1zoom_wf" descr="C:\Users\nahla\Desktop\UAE-Space-Hackatoon\deck_pptx\build\assets\diagram_workflow.png"/>
          <p:cNvPicPr>
            <a:picLocks noChangeAspect="1"/>
          </p:cNvPicPr>
          <p:nvPr/>
        </p:nvPicPr>
        <p:blipFill>
          <a:blip r:embed="rId5"/>
          <a:stretch>
            <a:fillRect/>
          </a:stretch>
        </p:blipFill>
        <p:spPr>
          <a:xfrm>
            <a:off x="745236" y="1804779"/>
            <a:ext cx="10698480" cy="4089690"/>
          </a:xfrm>
          <a:prstGeom prst="rect">
            <a:avLst/>
          </a:prstGeom>
        </p:spPr>
      </p:pic>
      <p:sp>
        <p:nvSpPr>
          <p:cNvPr id="9" name="a2fade_wl"/>
          <p:cNvSpPr txBox="1"/>
          <p:nvPr/>
        </p:nvSpPr>
        <p:spPr>
          <a:xfrm>
            <a:off x="548640" y="6108192"/>
            <a:ext cx="173736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Read left to right:</a:t>
            </a:r>
            <a:endParaRPr lang="en-US" sz="1200" dirty="0"/>
          </a:p>
        </p:txBody>
      </p:sp>
      <p:sp>
        <p:nvSpPr>
          <p:cNvPr id="10" name="a2fade_wk0"/>
          <p:cNvSpPr/>
          <p:nvPr/>
        </p:nvSpPr>
        <p:spPr>
          <a:xfrm>
            <a:off x="2240280" y="6172200"/>
            <a:ext cx="237744" cy="146304"/>
          </a:xfrm>
          <a:prstGeom prst="roundRect">
            <a:avLst>
              <a:gd name="adj" fmla="val 25000"/>
            </a:avLst>
          </a:prstGeom>
          <a:solidFill>
            <a:srgbClr val="6E95C2">
              <a:alpha val="70000"/>
            </a:srgbClr>
          </a:solidFill>
          <a:ln w="9525">
            <a:solidFill>
              <a:srgbClr val="6E95C2"/>
            </a:solidFill>
            <a:prstDash val="solid"/>
          </a:ln>
        </p:spPr>
      </p:sp>
      <p:sp>
        <p:nvSpPr>
          <p:cNvPr id="11" name="a2fade_wkt0"/>
          <p:cNvSpPr txBox="1"/>
          <p:nvPr/>
        </p:nvSpPr>
        <p:spPr>
          <a:xfrm>
            <a:off x="2560320" y="6108192"/>
            <a:ext cx="1828800" cy="274320"/>
          </a:xfrm>
          <a:prstGeom prst="rect">
            <a:avLst/>
          </a:prstGeom>
          <a:noFill/>
          <a:ln/>
        </p:spPr>
        <p:txBody>
          <a:bodyPr wrap="square" lIns="0" tIns="0" rIns="0" bIns="0" rtlCol="0" anchor="t"/>
          <a:lstStyle/>
          <a:p>
            <a:pPr marL="0" indent="0" algn="l">
              <a:lnSpc>
                <a:spcPct val="105000"/>
              </a:lnSpc>
              <a:buNone/>
            </a:pPr>
            <a:r>
              <a:rPr lang="en-US" sz="1200" dirty="0">
                <a:solidFill>
                  <a:srgbClr val="3A4D63"/>
                </a:solidFill>
                <a:latin typeface="Segoe UI" pitchFamily="34" charset="0"/>
                <a:ea typeface="Segoe UI" pitchFamily="34" charset="-122"/>
                <a:cs typeface="Segoe UI" pitchFamily="34" charset="-120"/>
              </a:rPr>
              <a:t>Core model</a:t>
            </a:r>
            <a:endParaRPr lang="en-US" sz="1200" dirty="0"/>
          </a:p>
        </p:txBody>
      </p:sp>
      <p:sp>
        <p:nvSpPr>
          <p:cNvPr id="12" name="a2fade_wk1"/>
          <p:cNvSpPr/>
          <p:nvPr/>
        </p:nvSpPr>
        <p:spPr>
          <a:xfrm>
            <a:off x="4389120" y="6172200"/>
            <a:ext cx="237744" cy="146304"/>
          </a:xfrm>
          <a:prstGeom prst="roundRect">
            <a:avLst>
              <a:gd name="adj" fmla="val 25000"/>
            </a:avLst>
          </a:prstGeom>
          <a:solidFill>
            <a:srgbClr val="C0606E">
              <a:alpha val="70000"/>
            </a:srgbClr>
          </a:solidFill>
          <a:ln w="9525">
            <a:solidFill>
              <a:srgbClr val="C0606E"/>
            </a:solidFill>
            <a:prstDash val="solid"/>
          </a:ln>
        </p:spPr>
      </p:sp>
      <p:sp>
        <p:nvSpPr>
          <p:cNvPr id="13" name="a2fade_wkt1"/>
          <p:cNvSpPr txBox="1"/>
          <p:nvPr/>
        </p:nvSpPr>
        <p:spPr>
          <a:xfrm>
            <a:off x="4709160" y="6108192"/>
            <a:ext cx="1828800" cy="274320"/>
          </a:xfrm>
          <a:prstGeom prst="rect">
            <a:avLst/>
          </a:prstGeom>
          <a:noFill/>
          <a:ln/>
        </p:spPr>
        <p:txBody>
          <a:bodyPr wrap="square" lIns="0" tIns="0" rIns="0" bIns="0" rtlCol="0" anchor="t"/>
          <a:lstStyle/>
          <a:p>
            <a:pPr marL="0" indent="0" algn="l">
              <a:lnSpc>
                <a:spcPct val="105000"/>
              </a:lnSpc>
              <a:buNone/>
            </a:pPr>
            <a:r>
              <a:rPr lang="en-US" sz="1200" dirty="0">
                <a:solidFill>
                  <a:srgbClr val="3A4D63"/>
                </a:solidFill>
                <a:latin typeface="Segoe UI" pitchFamily="34" charset="0"/>
                <a:ea typeface="Segoe UI" pitchFamily="34" charset="-122"/>
                <a:cs typeface="Segoe UI" pitchFamily="34" charset="-120"/>
              </a:rPr>
              <a:t>Alert rule</a:t>
            </a:r>
            <a:endParaRPr lang="en-US" sz="1200" dirty="0"/>
          </a:p>
        </p:txBody>
      </p:sp>
      <p:sp>
        <p:nvSpPr>
          <p:cNvPr id="14" name="a2fade_wk2"/>
          <p:cNvSpPr/>
          <p:nvPr/>
        </p:nvSpPr>
        <p:spPr>
          <a:xfrm>
            <a:off x="6537960" y="6172200"/>
            <a:ext cx="237744" cy="146304"/>
          </a:xfrm>
          <a:prstGeom prst="roundRect">
            <a:avLst>
              <a:gd name="adj" fmla="val 25000"/>
            </a:avLst>
          </a:prstGeom>
          <a:solidFill>
            <a:srgbClr val="B08A3E">
              <a:alpha val="70000"/>
            </a:srgbClr>
          </a:solidFill>
          <a:ln w="9525">
            <a:solidFill>
              <a:srgbClr val="B08A3E"/>
            </a:solidFill>
            <a:prstDash val="solid"/>
          </a:ln>
        </p:spPr>
      </p:sp>
      <p:sp>
        <p:nvSpPr>
          <p:cNvPr id="15" name="a2fade_wkt2"/>
          <p:cNvSpPr txBox="1"/>
          <p:nvPr/>
        </p:nvSpPr>
        <p:spPr>
          <a:xfrm>
            <a:off x="6858000" y="6108192"/>
            <a:ext cx="1828800" cy="274320"/>
          </a:xfrm>
          <a:prstGeom prst="rect">
            <a:avLst/>
          </a:prstGeom>
          <a:noFill/>
          <a:ln/>
        </p:spPr>
        <p:txBody>
          <a:bodyPr wrap="square" lIns="0" tIns="0" rIns="0" bIns="0" rtlCol="0" anchor="t"/>
          <a:lstStyle/>
          <a:p>
            <a:pPr marL="0" indent="0" algn="l">
              <a:lnSpc>
                <a:spcPct val="105000"/>
              </a:lnSpc>
              <a:buNone/>
            </a:pPr>
            <a:r>
              <a:rPr lang="en-US" sz="1200" dirty="0">
                <a:solidFill>
                  <a:srgbClr val="3A4D63"/>
                </a:solidFill>
                <a:latin typeface="Segoe UI" pitchFamily="34" charset="0"/>
                <a:ea typeface="Segoe UI" pitchFamily="34" charset="-122"/>
                <a:cs typeface="Segoe UI" pitchFamily="34" charset="-120"/>
              </a:rPr>
              <a:t>Output to the user</a:t>
            </a:r>
            <a:endParaRPr lang="en-US" sz="1200" dirty="0"/>
          </a:p>
        </p:txBody>
      </p:sp>
      <p:sp>
        <p:nvSpPr>
          <p:cNvPr id="16" name="a2fade_wk3"/>
          <p:cNvSpPr/>
          <p:nvPr/>
        </p:nvSpPr>
        <p:spPr>
          <a:xfrm>
            <a:off x="8686800" y="6172200"/>
            <a:ext cx="237744" cy="146304"/>
          </a:xfrm>
          <a:prstGeom prst="roundRect">
            <a:avLst>
              <a:gd name="adj" fmla="val 25000"/>
            </a:avLst>
          </a:prstGeom>
          <a:solidFill>
            <a:srgbClr val="9AAFC6">
              <a:alpha val="70000"/>
            </a:srgbClr>
          </a:solidFill>
          <a:ln w="9525">
            <a:solidFill>
              <a:srgbClr val="9AAFC6"/>
            </a:solidFill>
            <a:prstDash val="solid"/>
          </a:ln>
        </p:spPr>
      </p:sp>
      <p:sp>
        <p:nvSpPr>
          <p:cNvPr id="17" name="a2fade_wkt3"/>
          <p:cNvSpPr txBox="1"/>
          <p:nvPr/>
        </p:nvSpPr>
        <p:spPr>
          <a:xfrm>
            <a:off x="9006840" y="6108192"/>
            <a:ext cx="1828800" cy="274320"/>
          </a:xfrm>
          <a:prstGeom prst="rect">
            <a:avLst/>
          </a:prstGeom>
          <a:noFill/>
          <a:ln/>
        </p:spPr>
        <p:txBody>
          <a:bodyPr wrap="square" lIns="0" tIns="0" rIns="0" bIns="0" rtlCol="0" anchor="t"/>
          <a:lstStyle/>
          <a:p>
            <a:pPr marL="0" indent="0" algn="l">
              <a:lnSpc>
                <a:spcPct val="105000"/>
              </a:lnSpc>
              <a:buNone/>
            </a:pPr>
            <a:r>
              <a:rPr lang="en-US" sz="1200" dirty="0">
                <a:solidFill>
                  <a:srgbClr val="3A4D63"/>
                </a:solidFill>
                <a:latin typeface="Segoe UI" pitchFamily="34" charset="0"/>
                <a:ea typeface="Segoe UI" pitchFamily="34" charset="-122"/>
                <a:cs typeface="Segoe UI" pitchFamily="34" charset="-120"/>
              </a:rPr>
              <a:t>Inputs and checks</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53" presetClass="entr" presetSubtype="16"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800" fill="hold"/>
                                        <p:tgtEl>
                                          <p:spTgt spid="7"/>
                                        </p:tgtEl>
                                        <p:attrNameLst>
                                          <p:attrName>ppt_w</p:attrName>
                                        </p:attrNameLst>
                                      </p:cBhvr>
                                      <p:tavLst>
                                        <p:tav tm="0">
                                          <p:val>
                                            <p:strVal val="#ppt_w*0.85"/>
                                          </p:val>
                                        </p:tav>
                                        <p:tav tm="100000">
                                          <p:val>
                                            <p:strVal val="#ppt_w"/>
                                          </p:val>
                                        </p:tav>
                                      </p:tavLst>
                                    </p:anim>
                                    <p:anim calcmode="lin" valueType="num">
                                      <p:cBhvr additive="base">
                                        <p:cTn id="16" dur="800" fill="hold"/>
                                        <p:tgtEl>
                                          <p:spTgt spid="7"/>
                                        </p:tgtEl>
                                        <p:attrNameLst>
                                          <p:attrName>ppt_h</p:attrName>
                                        </p:attrNameLst>
                                      </p:cBhvr>
                                      <p:tavLst>
                                        <p:tav tm="0">
                                          <p:val>
                                            <p:strVal val="#ppt_h*0.85"/>
                                          </p:val>
                                        </p:tav>
                                        <p:tav tm="100000">
                                          <p:val>
                                            <p:strVal val="#ppt_h"/>
                                          </p:val>
                                        </p:tav>
                                      </p:tavLst>
                                    </p:anim>
                                  </p:childTnLst>
                                </p:cTn>
                              </p:par>
                              <p:par>
                                <p:cTn id="17" presetID="53" presetClass="entr" presetSubtype="16" decel="100000" fill="hold" grpId="0" nodeType="withEffect">
                                  <p:stCondLst>
                                    <p:cond delay="47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00"/>
                                        <p:tgtEl>
                                          <p:spTgt spid="8"/>
                                        </p:tgtEl>
                                      </p:cBhvr>
                                    </p:animEffect>
                                    <p:anim calcmode="lin" valueType="num">
                                      <p:cBhvr additive="base">
                                        <p:cTn id="20" dur="800" fill="hold"/>
                                        <p:tgtEl>
                                          <p:spTgt spid="8"/>
                                        </p:tgtEl>
                                        <p:attrNameLst>
                                          <p:attrName>ppt_w</p:attrName>
                                        </p:attrNameLst>
                                      </p:cBhvr>
                                      <p:tavLst>
                                        <p:tav tm="0">
                                          <p:val>
                                            <p:strVal val="#ppt_w*0.85"/>
                                          </p:val>
                                        </p:tav>
                                        <p:tav tm="100000">
                                          <p:val>
                                            <p:strVal val="#ppt_w"/>
                                          </p:val>
                                        </p:tav>
                                      </p:tavLst>
                                    </p:anim>
                                    <p:anim calcmode="lin" valueType="num">
                                      <p:cBhvr additive="base">
                                        <p:cTn id="21" dur="800" fill="hold"/>
                                        <p:tgtEl>
                                          <p:spTgt spid="8"/>
                                        </p:tgtEl>
                                        <p:attrNameLst>
                                          <p:attrName>ppt_h</p:attrName>
                                        </p:attrNameLst>
                                      </p:cBhvr>
                                      <p:tavLst>
                                        <p:tav tm="0">
                                          <p:val>
                                            <p:strVal val="#ppt_h*0.85"/>
                                          </p:val>
                                        </p:tav>
                                        <p:tav tm="100000">
                                          <p:val>
                                            <p:strVal val="#ppt_h"/>
                                          </p:val>
                                        </p:tav>
                                      </p:tavLst>
                                    </p:anim>
                                  </p:childTnLst>
                                </p:cTn>
                              </p:par>
                              <p:par>
                                <p:cTn id="22" presetID="10" presetClass="entr" presetSubtype="0" decel="100000" fill="hold" grpId="0" nodeType="withEffect">
                                  <p:stCondLst>
                                    <p:cond delay="69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decel="100000" fill="hold" grpId="0" nodeType="withEffect">
                                  <p:stCondLst>
                                    <p:cond delay="69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decel="100000" fill="hold" grpId="0" nodeType="withEffect">
                                  <p:stCondLst>
                                    <p:cond delay="69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decel="100000" fill="hold" grpId="0" nodeType="withEffect">
                                  <p:stCondLst>
                                    <p:cond delay="69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decel="100000" fill="hold" grpId="0" nodeType="withEffect">
                                  <p:stCondLst>
                                    <p:cond delay="69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decel="100000" fill="hold" grpId="0" nodeType="withEffect">
                                  <p:stCondLst>
                                    <p:cond delay="69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decel="100000" fill="hold" grpId="0" nodeType="withEffect">
                                  <p:stCondLst>
                                    <p:cond delay="69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decel="100000" fill="hold" grpId="0" nodeType="withEffect">
                                  <p:stCondLst>
                                    <p:cond delay="69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decel="100000" fill="hold" grpId="0" nodeType="withEffect">
                                  <p:stCondLst>
                                    <p:cond delay="69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194560" y="-237744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8229600" y="329184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DELIVERY · HOW A USER RECEIVES IT</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One alert, one message, one targeted visit</a:t>
            </a:r>
            <a:endParaRPr lang="en-US" sz="3400" dirty="0"/>
          </a:p>
        </p:txBody>
      </p:sp>
      <p:sp>
        <p:nvSpPr>
          <p:cNvPr id="7" name="a1zoom_sqc"/>
          <p:cNvSpPr/>
          <p:nvPr/>
        </p:nvSpPr>
        <p:spPr>
          <a:xfrm>
            <a:off x="548640" y="1691640"/>
            <a:ext cx="7543800" cy="4480560"/>
          </a:xfrm>
          <a:prstGeom prst="roundRect">
            <a:avLst>
              <a:gd name="adj" fmla="val 2857"/>
            </a:avLst>
          </a:prstGeom>
          <a:solidFill>
            <a:srgbClr val="FFFFFF">
              <a:alpha val="92000"/>
            </a:srgbClr>
          </a:solidFill>
          <a:ln w="9525">
            <a:solidFill>
              <a:srgbClr val="D3E0EE"/>
            </a:solidFill>
            <a:prstDash val="solid"/>
          </a:ln>
          <a:effectLst>
            <a:outerShdw blurRad="152400" dist="38100" dir="5400000" algn="bl" rotWithShape="0">
              <a:srgbClr val="1B2B40">
                <a:alpha val="12000"/>
              </a:srgbClr>
            </a:outerShdw>
          </a:effectLst>
        </p:spPr>
      </p:sp>
      <p:pic>
        <p:nvPicPr>
          <p:cNvPr id="8" name="a1zoom_sq" descr="C:\Users\nahla\Desktop\UAE-Space-Hackatoon\deck_pptx\build\assets\diagram_sequence.png"/>
          <p:cNvPicPr>
            <a:picLocks noChangeAspect="1"/>
          </p:cNvPicPr>
          <p:nvPr/>
        </p:nvPicPr>
        <p:blipFill>
          <a:blip r:embed="rId5"/>
          <a:stretch>
            <a:fillRect/>
          </a:stretch>
        </p:blipFill>
        <p:spPr>
          <a:xfrm>
            <a:off x="685800" y="2083513"/>
            <a:ext cx="7269480" cy="3696813"/>
          </a:xfrm>
          <a:prstGeom prst="rect">
            <a:avLst/>
          </a:prstGeom>
        </p:spPr>
      </p:pic>
      <p:sp>
        <p:nvSpPr>
          <p:cNvPr id="9" name="a2float_e0"/>
          <p:cNvSpPr/>
          <p:nvPr/>
        </p:nvSpPr>
        <p:spPr>
          <a:xfrm>
            <a:off x="8321040" y="1691640"/>
            <a:ext cx="3319272" cy="1389888"/>
          </a:xfrm>
          <a:prstGeom prst="roundRect">
            <a:avLst>
              <a:gd name="adj" fmla="val 9211"/>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0" name="a2float_e0ic_c"/>
          <p:cNvSpPr/>
          <p:nvPr/>
        </p:nvSpPr>
        <p:spPr>
          <a:xfrm>
            <a:off x="8485632" y="1837944"/>
            <a:ext cx="438912" cy="438912"/>
          </a:xfrm>
          <a:prstGeom prst="ellipse">
            <a:avLst/>
          </a:prstGeom>
          <a:solidFill>
            <a:srgbClr val="3F6E9E">
              <a:alpha val="18000"/>
            </a:srgbClr>
          </a:solidFill>
          <a:ln w="12700">
            <a:solidFill>
              <a:srgbClr val="3F6E9E"/>
            </a:solidFill>
            <a:prstDash val="solid"/>
          </a:ln>
        </p:spPr>
      </p:sp>
      <p:pic>
        <p:nvPicPr>
          <p:cNvPr id="11" name="a2float_e0ic_i" descr="preencoded.png"/>
          <p:cNvPicPr>
            <a:picLocks noChangeAspect="1"/>
          </p:cNvPicPr>
          <p:nvPr/>
        </p:nvPicPr>
        <p:blipFill>
          <a:blip r:embed="rId6"/>
          <a:stretch>
            <a:fillRect/>
          </a:stretch>
        </p:blipFill>
        <p:spPr>
          <a:xfrm>
            <a:off x="8590971" y="1943283"/>
            <a:ext cx="228234" cy="228234"/>
          </a:xfrm>
          <a:prstGeom prst="rect">
            <a:avLst/>
          </a:prstGeom>
        </p:spPr>
      </p:pic>
      <p:sp>
        <p:nvSpPr>
          <p:cNvPr id="12" name="a2float_e0t"/>
          <p:cNvSpPr txBox="1"/>
          <p:nvPr/>
        </p:nvSpPr>
        <p:spPr>
          <a:xfrm>
            <a:off x="9034272" y="1874520"/>
            <a:ext cx="2514600" cy="310896"/>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Every ~5 days</a:t>
            </a:r>
            <a:endParaRPr lang="en-US" sz="1400" dirty="0"/>
          </a:p>
        </p:txBody>
      </p:sp>
      <p:sp>
        <p:nvSpPr>
          <p:cNvPr id="13" name="a2float_e0d"/>
          <p:cNvSpPr txBox="1"/>
          <p:nvPr/>
        </p:nvSpPr>
        <p:spPr>
          <a:xfrm>
            <a:off x="8485632" y="2350008"/>
            <a:ext cx="3017520" cy="713232"/>
          </a:xfrm>
          <a:prstGeom prst="rect">
            <a:avLst/>
          </a:prstGeom>
          <a:noFill/>
          <a:ln/>
        </p:spPr>
        <p:txBody>
          <a:bodyPr wrap="square" lIns="0" tIns="0" rIns="0" bIns="0" rtlCol="0" anchor="t"/>
          <a:lstStyle/>
          <a:p>
            <a:pPr marL="0" indent="0" algn="l">
              <a:lnSpc>
                <a:spcPct val="105000"/>
              </a:lnSpc>
              <a:buNone/>
            </a:pPr>
            <a:r>
              <a:rPr lang="en-US" sz="1100" dirty="0">
                <a:solidFill>
                  <a:srgbClr val="3A4D63"/>
                </a:solidFill>
                <a:latin typeface="Segoe UI" pitchFamily="34" charset="0"/>
                <a:ea typeface="Segoe UI" pitchFamily="34" charset="-122"/>
                <a:cs typeface="Segoe UI" pitchFamily="34" charset="-120"/>
              </a:rPr>
              <a:t>a new Sentinel-2 scene is read in place and run through the tide-aware model, per stand and per 200 m cell</a:t>
            </a:r>
            <a:endParaRPr lang="en-US" sz="1100" dirty="0"/>
          </a:p>
        </p:txBody>
      </p:sp>
      <p:sp>
        <p:nvSpPr>
          <p:cNvPr id="14" name="a3float_e1"/>
          <p:cNvSpPr/>
          <p:nvPr/>
        </p:nvSpPr>
        <p:spPr>
          <a:xfrm>
            <a:off x="8321040" y="3209544"/>
            <a:ext cx="3319272" cy="1389888"/>
          </a:xfrm>
          <a:prstGeom prst="roundRect">
            <a:avLst>
              <a:gd name="adj" fmla="val 9211"/>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5" name="a3float_e1ic_c"/>
          <p:cNvSpPr/>
          <p:nvPr/>
        </p:nvSpPr>
        <p:spPr>
          <a:xfrm>
            <a:off x="8485632" y="3355848"/>
            <a:ext cx="438912" cy="438912"/>
          </a:xfrm>
          <a:prstGeom prst="ellipse">
            <a:avLst/>
          </a:prstGeom>
          <a:solidFill>
            <a:srgbClr val="BE5F6D">
              <a:alpha val="18000"/>
            </a:srgbClr>
          </a:solidFill>
          <a:ln w="12700">
            <a:solidFill>
              <a:srgbClr val="BE5F6D"/>
            </a:solidFill>
            <a:prstDash val="solid"/>
          </a:ln>
        </p:spPr>
      </p:sp>
      <p:pic>
        <p:nvPicPr>
          <p:cNvPr id="16" name="a3float_e1ic_i" descr="preencoded.png"/>
          <p:cNvPicPr>
            <a:picLocks noChangeAspect="1"/>
          </p:cNvPicPr>
          <p:nvPr/>
        </p:nvPicPr>
        <p:blipFill>
          <a:blip r:embed="rId7"/>
          <a:stretch>
            <a:fillRect/>
          </a:stretch>
        </p:blipFill>
        <p:spPr>
          <a:xfrm>
            <a:off x="8590971" y="3461187"/>
            <a:ext cx="228234" cy="228234"/>
          </a:xfrm>
          <a:prstGeom prst="rect">
            <a:avLst/>
          </a:prstGeom>
        </p:spPr>
      </p:pic>
      <p:sp>
        <p:nvSpPr>
          <p:cNvPr id="17" name="a3float_e1t"/>
          <p:cNvSpPr txBox="1"/>
          <p:nvPr/>
        </p:nvSpPr>
        <p:spPr>
          <a:xfrm>
            <a:off x="9034272" y="3392424"/>
            <a:ext cx="2514600" cy="310896"/>
          </a:xfrm>
          <a:prstGeom prst="rect">
            <a:avLst/>
          </a:prstGeom>
          <a:noFill/>
          <a:ln/>
        </p:spPr>
        <p:txBody>
          <a:bodyPr wrap="square" lIns="0" tIns="0" rIns="0" bIns="0" rtlCol="0" anchor="t"/>
          <a:lstStyle/>
          <a:p>
            <a:pPr marL="0" indent="0" algn="l">
              <a:lnSpc>
                <a:spcPct val="105000"/>
              </a:lnSpc>
              <a:buNone/>
            </a:pPr>
            <a:r>
              <a:rPr lang="en-US" sz="1400" dirty="0">
                <a:solidFill>
                  <a:srgbClr val="BE5F6D"/>
                </a:solidFill>
                <a:latin typeface="Segoe UI Semibold" pitchFamily="34" charset="0"/>
                <a:ea typeface="Segoe UI Semibold" pitchFamily="34" charset="-122"/>
                <a:cs typeface="Segoe UI Semibold" pitchFamily="34" charset="-120"/>
              </a:rPr>
              <a:t>If an alert fires</a:t>
            </a:r>
            <a:endParaRPr lang="en-US" sz="1400" dirty="0"/>
          </a:p>
        </p:txBody>
      </p:sp>
      <p:sp>
        <p:nvSpPr>
          <p:cNvPr id="18" name="a3float_e1d"/>
          <p:cNvSpPr txBox="1"/>
          <p:nvPr/>
        </p:nvSpPr>
        <p:spPr>
          <a:xfrm>
            <a:off x="8485632" y="3867912"/>
            <a:ext cx="3017520" cy="713232"/>
          </a:xfrm>
          <a:prstGeom prst="rect">
            <a:avLst/>
          </a:prstGeom>
          <a:noFill/>
          <a:ln/>
        </p:spPr>
        <p:txBody>
          <a:bodyPr wrap="square" lIns="0" tIns="0" rIns="0" bIns="0" rtlCol="0" anchor="t"/>
          <a:lstStyle/>
          <a:p>
            <a:pPr marL="0" indent="0" algn="l">
              <a:lnSpc>
                <a:spcPct val="105000"/>
              </a:lnSpc>
              <a:buNone/>
            </a:pPr>
            <a:r>
              <a:rPr lang="en-US" sz="1100" dirty="0">
                <a:solidFill>
                  <a:srgbClr val="3A4D63"/>
                </a:solidFill>
                <a:latin typeface="Segoe UI" pitchFamily="34" charset="0"/>
                <a:ea typeface="Segoe UI" pitchFamily="34" charset="-122"/>
                <a:cs typeface="Segoe UI" pitchFamily="34" charset="-120"/>
              </a:rPr>
              <a:t>we check the flagged cells on sub-metre imagery, then send the alert by email or JSON API with the cell map and the carbon at stake</a:t>
            </a:r>
            <a:endParaRPr lang="en-US" sz="1100" dirty="0"/>
          </a:p>
        </p:txBody>
      </p:sp>
      <p:sp>
        <p:nvSpPr>
          <p:cNvPr id="19" name="a4float_e2"/>
          <p:cNvSpPr/>
          <p:nvPr/>
        </p:nvSpPr>
        <p:spPr>
          <a:xfrm>
            <a:off x="8321040" y="4727448"/>
            <a:ext cx="3319272" cy="1389888"/>
          </a:xfrm>
          <a:prstGeom prst="roundRect">
            <a:avLst>
              <a:gd name="adj" fmla="val 9211"/>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20" name="a4float_e2ic_c"/>
          <p:cNvSpPr/>
          <p:nvPr/>
        </p:nvSpPr>
        <p:spPr>
          <a:xfrm>
            <a:off x="8485632" y="4873752"/>
            <a:ext cx="438912" cy="438912"/>
          </a:xfrm>
          <a:prstGeom prst="ellipse">
            <a:avLst/>
          </a:prstGeom>
          <a:solidFill>
            <a:srgbClr val="A9813A">
              <a:alpha val="18000"/>
            </a:srgbClr>
          </a:solidFill>
          <a:ln w="12700">
            <a:solidFill>
              <a:srgbClr val="A9813A"/>
            </a:solidFill>
            <a:prstDash val="solid"/>
          </a:ln>
        </p:spPr>
      </p:sp>
      <p:pic>
        <p:nvPicPr>
          <p:cNvPr id="21" name="a4float_e2ic_i" descr="preencoded.png"/>
          <p:cNvPicPr>
            <a:picLocks noChangeAspect="1"/>
          </p:cNvPicPr>
          <p:nvPr/>
        </p:nvPicPr>
        <p:blipFill>
          <a:blip r:embed="rId8"/>
          <a:stretch>
            <a:fillRect/>
          </a:stretch>
        </p:blipFill>
        <p:spPr>
          <a:xfrm>
            <a:off x="8590971" y="4979091"/>
            <a:ext cx="228234" cy="228234"/>
          </a:xfrm>
          <a:prstGeom prst="rect">
            <a:avLst/>
          </a:prstGeom>
        </p:spPr>
      </p:pic>
      <p:sp>
        <p:nvSpPr>
          <p:cNvPr id="22" name="a4float_e2t"/>
          <p:cNvSpPr txBox="1"/>
          <p:nvPr/>
        </p:nvSpPr>
        <p:spPr>
          <a:xfrm>
            <a:off x="9034272" y="4910328"/>
            <a:ext cx="2514600" cy="310896"/>
          </a:xfrm>
          <a:prstGeom prst="rect">
            <a:avLst/>
          </a:prstGeom>
          <a:noFill/>
          <a:ln/>
        </p:spPr>
        <p:txBody>
          <a:bodyPr wrap="square" lIns="0" tIns="0" rIns="0" bIns="0" rtlCol="0" anchor="t"/>
          <a:lstStyle/>
          <a:p>
            <a:pPr marL="0" indent="0" algn="l">
              <a:lnSpc>
                <a:spcPct val="105000"/>
              </a:lnSpc>
              <a:buNone/>
            </a:pPr>
            <a:r>
              <a:rPr lang="en-US" sz="1400" dirty="0">
                <a:solidFill>
                  <a:srgbClr val="A9813A"/>
                </a:solidFill>
                <a:latin typeface="Segoe UI Semibold" pitchFamily="34" charset="0"/>
                <a:ea typeface="Segoe UI Semibold" pitchFamily="34" charset="-122"/>
                <a:cs typeface="Segoe UI Semibold" pitchFamily="34" charset="-120"/>
              </a:rPr>
              <a:t>If nothing changes</a:t>
            </a:r>
            <a:endParaRPr lang="en-US" sz="1400" dirty="0"/>
          </a:p>
        </p:txBody>
      </p:sp>
      <p:sp>
        <p:nvSpPr>
          <p:cNvPr id="23" name="a4float_e2d"/>
          <p:cNvSpPr txBox="1"/>
          <p:nvPr/>
        </p:nvSpPr>
        <p:spPr>
          <a:xfrm>
            <a:off x="8485632" y="5385816"/>
            <a:ext cx="3017520" cy="713232"/>
          </a:xfrm>
          <a:prstGeom prst="rect">
            <a:avLst/>
          </a:prstGeom>
          <a:noFill/>
          <a:ln/>
        </p:spPr>
        <p:txBody>
          <a:bodyPr wrap="square" lIns="0" tIns="0" rIns="0" bIns="0" rtlCol="0" anchor="t"/>
          <a:lstStyle/>
          <a:p>
            <a:pPr marL="0" indent="0" algn="l">
              <a:lnSpc>
                <a:spcPct val="105000"/>
              </a:lnSpc>
              <a:buNone/>
            </a:pPr>
            <a:r>
              <a:rPr lang="en-US" sz="1100" dirty="0">
                <a:solidFill>
                  <a:srgbClr val="3A4D63"/>
                </a:solidFill>
                <a:latin typeface="Segoe UI" pitchFamily="34" charset="0"/>
                <a:ea typeface="Segoe UI" pitchFamily="34" charset="-122"/>
                <a:cs typeface="Segoe UI" pitchFamily="34" charset="-120"/>
              </a:rPr>
              <a:t>the user still gets a monthly site report: condition, trend and carbon stock for every stand</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53" presetClass="entr" presetSubtype="16"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800" fill="hold"/>
                                        <p:tgtEl>
                                          <p:spTgt spid="7"/>
                                        </p:tgtEl>
                                        <p:attrNameLst>
                                          <p:attrName>ppt_w</p:attrName>
                                        </p:attrNameLst>
                                      </p:cBhvr>
                                      <p:tavLst>
                                        <p:tav tm="0">
                                          <p:val>
                                            <p:strVal val="#ppt_w*0.85"/>
                                          </p:val>
                                        </p:tav>
                                        <p:tav tm="100000">
                                          <p:val>
                                            <p:strVal val="#ppt_w"/>
                                          </p:val>
                                        </p:tav>
                                      </p:tavLst>
                                    </p:anim>
                                    <p:anim calcmode="lin" valueType="num">
                                      <p:cBhvr additive="base">
                                        <p:cTn id="16" dur="800" fill="hold"/>
                                        <p:tgtEl>
                                          <p:spTgt spid="7"/>
                                        </p:tgtEl>
                                        <p:attrNameLst>
                                          <p:attrName>ppt_h</p:attrName>
                                        </p:attrNameLst>
                                      </p:cBhvr>
                                      <p:tavLst>
                                        <p:tav tm="0">
                                          <p:val>
                                            <p:strVal val="#ppt_h*0.85"/>
                                          </p:val>
                                        </p:tav>
                                        <p:tav tm="100000">
                                          <p:val>
                                            <p:strVal val="#ppt_h"/>
                                          </p:val>
                                        </p:tav>
                                      </p:tavLst>
                                    </p:anim>
                                  </p:childTnLst>
                                </p:cTn>
                              </p:par>
                              <p:par>
                                <p:cTn id="17" presetID="53" presetClass="entr" presetSubtype="16" decel="100000" fill="hold" grpId="0" nodeType="withEffect">
                                  <p:stCondLst>
                                    <p:cond delay="47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00"/>
                                        <p:tgtEl>
                                          <p:spTgt spid="8"/>
                                        </p:tgtEl>
                                      </p:cBhvr>
                                    </p:animEffect>
                                    <p:anim calcmode="lin" valueType="num">
                                      <p:cBhvr additive="base">
                                        <p:cTn id="20" dur="800" fill="hold"/>
                                        <p:tgtEl>
                                          <p:spTgt spid="8"/>
                                        </p:tgtEl>
                                        <p:attrNameLst>
                                          <p:attrName>ppt_w</p:attrName>
                                        </p:attrNameLst>
                                      </p:cBhvr>
                                      <p:tavLst>
                                        <p:tav tm="0">
                                          <p:val>
                                            <p:strVal val="#ppt_w*0.85"/>
                                          </p:val>
                                        </p:tav>
                                        <p:tav tm="100000">
                                          <p:val>
                                            <p:strVal val="#ppt_w"/>
                                          </p:val>
                                        </p:tav>
                                      </p:tavLst>
                                    </p:anim>
                                    <p:anim calcmode="lin" valueType="num">
                                      <p:cBhvr additive="base">
                                        <p:cTn id="21" dur="800" fill="hold"/>
                                        <p:tgtEl>
                                          <p:spTgt spid="8"/>
                                        </p:tgtEl>
                                        <p:attrNameLst>
                                          <p:attrName>ppt_h</p:attrName>
                                        </p:attrNameLst>
                                      </p:cBhvr>
                                      <p:tavLst>
                                        <p:tav tm="0">
                                          <p:val>
                                            <p:strVal val="#ppt_h*0.85"/>
                                          </p:val>
                                        </p:tav>
                                        <p:tav tm="100000">
                                          <p:val>
                                            <p:strVal val="#ppt_h"/>
                                          </p:val>
                                        </p:tav>
                                      </p:tavLst>
                                    </p:anim>
                                  </p:childTnLst>
                                </p:cTn>
                              </p:par>
                              <p:par>
                                <p:cTn id="22" presetID="42" presetClass="entr" presetSubtype="0" decel="100000" fill="hold" grpId="0" nodeType="withEffect">
                                  <p:stCondLst>
                                    <p:cond delay="69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700"/>
                                        <p:tgtEl>
                                          <p:spTgt spid="9"/>
                                        </p:tgtEl>
                                      </p:cBhvr>
                                    </p:animEffect>
                                    <p:anim calcmode="lin" valueType="num">
                                      <p:cBhvr additive="base">
                                        <p:cTn id="25" dur="700" fill="hold"/>
                                        <p:tgtEl>
                                          <p:spTgt spid="9"/>
                                        </p:tgtEl>
                                        <p:attrNameLst>
                                          <p:attrName>ppt_y</p:attrName>
                                        </p:attrNameLst>
                                      </p:cBhvr>
                                      <p:tavLst>
                                        <p:tav tm="0">
                                          <p:val>
                                            <p:strVal val="#ppt_y+0.03"/>
                                          </p:val>
                                        </p:tav>
                                        <p:tav tm="100000">
                                          <p:val>
                                            <p:strVal val="#ppt_y"/>
                                          </p:val>
                                        </p:tav>
                                      </p:tavLst>
                                    </p:anim>
                                  </p:childTnLst>
                                </p:cTn>
                              </p:par>
                              <p:par>
                                <p:cTn id="26" presetID="42" presetClass="entr" presetSubtype="0" decel="100000" fill="hold" grpId="0" nodeType="withEffect">
                                  <p:stCondLst>
                                    <p:cond delay="69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700"/>
                                        <p:tgtEl>
                                          <p:spTgt spid="10"/>
                                        </p:tgtEl>
                                      </p:cBhvr>
                                    </p:animEffect>
                                    <p:anim calcmode="lin" valueType="num">
                                      <p:cBhvr additive="base">
                                        <p:cTn id="29" dur="700" fill="hold"/>
                                        <p:tgtEl>
                                          <p:spTgt spid="10"/>
                                        </p:tgtEl>
                                        <p:attrNameLst>
                                          <p:attrName>ppt_y</p:attrName>
                                        </p:attrNameLst>
                                      </p:cBhvr>
                                      <p:tavLst>
                                        <p:tav tm="0">
                                          <p:val>
                                            <p:strVal val="#ppt_y+0.03"/>
                                          </p:val>
                                        </p:tav>
                                        <p:tav tm="100000">
                                          <p:val>
                                            <p:strVal val="#ppt_y"/>
                                          </p:val>
                                        </p:tav>
                                      </p:tavLst>
                                    </p:anim>
                                  </p:childTnLst>
                                </p:cTn>
                              </p:par>
                              <p:par>
                                <p:cTn id="30" presetID="42" presetClass="entr" presetSubtype="0" decel="100000" fill="hold" grpId="0" nodeType="withEffect">
                                  <p:stCondLst>
                                    <p:cond delay="69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700"/>
                                        <p:tgtEl>
                                          <p:spTgt spid="11"/>
                                        </p:tgtEl>
                                      </p:cBhvr>
                                    </p:animEffect>
                                    <p:anim calcmode="lin" valueType="num">
                                      <p:cBhvr additive="base">
                                        <p:cTn id="33" dur="700" fill="hold"/>
                                        <p:tgtEl>
                                          <p:spTgt spid="11"/>
                                        </p:tgtEl>
                                        <p:attrNameLst>
                                          <p:attrName>ppt_y</p:attrName>
                                        </p:attrNameLst>
                                      </p:cBhvr>
                                      <p:tavLst>
                                        <p:tav tm="0">
                                          <p:val>
                                            <p:strVal val="#ppt_y+0.03"/>
                                          </p:val>
                                        </p:tav>
                                        <p:tav tm="100000">
                                          <p:val>
                                            <p:strVal val="#ppt_y"/>
                                          </p:val>
                                        </p:tav>
                                      </p:tavLst>
                                    </p:anim>
                                  </p:childTnLst>
                                </p:cTn>
                              </p:par>
                              <p:par>
                                <p:cTn id="34" presetID="42" presetClass="entr" presetSubtype="0" decel="100000" fill="hold" grpId="0" nodeType="withEffect">
                                  <p:stCondLst>
                                    <p:cond delay="69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700"/>
                                        <p:tgtEl>
                                          <p:spTgt spid="12"/>
                                        </p:tgtEl>
                                      </p:cBhvr>
                                    </p:animEffect>
                                    <p:anim calcmode="lin" valueType="num">
                                      <p:cBhvr additive="base">
                                        <p:cTn id="37" dur="700" fill="hold"/>
                                        <p:tgtEl>
                                          <p:spTgt spid="12"/>
                                        </p:tgtEl>
                                        <p:attrNameLst>
                                          <p:attrName>ppt_y</p:attrName>
                                        </p:attrNameLst>
                                      </p:cBhvr>
                                      <p:tavLst>
                                        <p:tav tm="0">
                                          <p:val>
                                            <p:strVal val="#ppt_y+0.03"/>
                                          </p:val>
                                        </p:tav>
                                        <p:tav tm="100000">
                                          <p:val>
                                            <p:strVal val="#ppt_y"/>
                                          </p:val>
                                        </p:tav>
                                      </p:tavLst>
                                    </p:anim>
                                  </p:childTnLst>
                                </p:cTn>
                              </p:par>
                              <p:par>
                                <p:cTn id="38" presetID="42" presetClass="entr" presetSubtype="0" decel="100000" fill="hold" grpId="0" nodeType="withEffect">
                                  <p:stCondLst>
                                    <p:cond delay="69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700"/>
                                        <p:tgtEl>
                                          <p:spTgt spid="13"/>
                                        </p:tgtEl>
                                      </p:cBhvr>
                                    </p:animEffect>
                                    <p:anim calcmode="lin" valueType="num">
                                      <p:cBhvr additive="base">
                                        <p:cTn id="41" dur="700" fill="hold"/>
                                        <p:tgtEl>
                                          <p:spTgt spid="13"/>
                                        </p:tgtEl>
                                        <p:attrNameLst>
                                          <p:attrName>ppt_y</p:attrName>
                                        </p:attrNameLst>
                                      </p:cBhvr>
                                      <p:tavLst>
                                        <p:tav tm="0">
                                          <p:val>
                                            <p:strVal val="#ppt_y+0.03"/>
                                          </p:val>
                                        </p:tav>
                                        <p:tav tm="100000">
                                          <p:val>
                                            <p:strVal val="#ppt_y"/>
                                          </p:val>
                                        </p:tav>
                                      </p:tavLst>
                                    </p:anim>
                                  </p:childTnLst>
                                </p:cTn>
                              </p:par>
                              <p:par>
                                <p:cTn id="42" presetID="42" presetClass="entr" presetSubtype="0" decel="100000" fill="hold" grpId="0" nodeType="withEffect">
                                  <p:stCondLst>
                                    <p:cond delay="91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700"/>
                                        <p:tgtEl>
                                          <p:spTgt spid="14"/>
                                        </p:tgtEl>
                                      </p:cBhvr>
                                    </p:animEffect>
                                    <p:anim calcmode="lin" valueType="num">
                                      <p:cBhvr additive="base">
                                        <p:cTn id="45" dur="700" fill="hold"/>
                                        <p:tgtEl>
                                          <p:spTgt spid="14"/>
                                        </p:tgtEl>
                                        <p:attrNameLst>
                                          <p:attrName>ppt_y</p:attrName>
                                        </p:attrNameLst>
                                      </p:cBhvr>
                                      <p:tavLst>
                                        <p:tav tm="0">
                                          <p:val>
                                            <p:strVal val="#ppt_y+0.03"/>
                                          </p:val>
                                        </p:tav>
                                        <p:tav tm="100000">
                                          <p:val>
                                            <p:strVal val="#ppt_y"/>
                                          </p:val>
                                        </p:tav>
                                      </p:tavLst>
                                    </p:anim>
                                  </p:childTnLst>
                                </p:cTn>
                              </p:par>
                              <p:par>
                                <p:cTn id="46" presetID="42" presetClass="entr" presetSubtype="0" decel="100000" fill="hold" grpId="0" nodeType="withEffect">
                                  <p:stCondLst>
                                    <p:cond delay="91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700"/>
                                        <p:tgtEl>
                                          <p:spTgt spid="15"/>
                                        </p:tgtEl>
                                      </p:cBhvr>
                                    </p:animEffect>
                                    <p:anim calcmode="lin" valueType="num">
                                      <p:cBhvr additive="base">
                                        <p:cTn id="49" dur="700" fill="hold"/>
                                        <p:tgtEl>
                                          <p:spTgt spid="15"/>
                                        </p:tgtEl>
                                        <p:attrNameLst>
                                          <p:attrName>ppt_y</p:attrName>
                                        </p:attrNameLst>
                                      </p:cBhvr>
                                      <p:tavLst>
                                        <p:tav tm="0">
                                          <p:val>
                                            <p:strVal val="#ppt_y+0.03"/>
                                          </p:val>
                                        </p:tav>
                                        <p:tav tm="100000">
                                          <p:val>
                                            <p:strVal val="#ppt_y"/>
                                          </p:val>
                                        </p:tav>
                                      </p:tavLst>
                                    </p:anim>
                                  </p:childTnLst>
                                </p:cTn>
                              </p:par>
                              <p:par>
                                <p:cTn id="50" presetID="42" presetClass="entr" presetSubtype="0" decel="100000" fill="hold" grpId="0" nodeType="withEffect">
                                  <p:stCondLst>
                                    <p:cond delay="91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700"/>
                                        <p:tgtEl>
                                          <p:spTgt spid="16"/>
                                        </p:tgtEl>
                                      </p:cBhvr>
                                    </p:animEffect>
                                    <p:anim calcmode="lin" valueType="num">
                                      <p:cBhvr additive="base">
                                        <p:cTn id="53" dur="700" fill="hold"/>
                                        <p:tgtEl>
                                          <p:spTgt spid="16"/>
                                        </p:tgtEl>
                                        <p:attrNameLst>
                                          <p:attrName>ppt_y</p:attrName>
                                        </p:attrNameLst>
                                      </p:cBhvr>
                                      <p:tavLst>
                                        <p:tav tm="0">
                                          <p:val>
                                            <p:strVal val="#ppt_y+0.03"/>
                                          </p:val>
                                        </p:tav>
                                        <p:tav tm="100000">
                                          <p:val>
                                            <p:strVal val="#ppt_y"/>
                                          </p:val>
                                        </p:tav>
                                      </p:tavLst>
                                    </p:anim>
                                  </p:childTnLst>
                                </p:cTn>
                              </p:par>
                              <p:par>
                                <p:cTn id="54" presetID="42" presetClass="entr" presetSubtype="0" decel="100000" fill="hold" grpId="0" nodeType="withEffect">
                                  <p:stCondLst>
                                    <p:cond delay="91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700"/>
                                        <p:tgtEl>
                                          <p:spTgt spid="17"/>
                                        </p:tgtEl>
                                      </p:cBhvr>
                                    </p:animEffect>
                                    <p:anim calcmode="lin" valueType="num">
                                      <p:cBhvr additive="base">
                                        <p:cTn id="57" dur="700" fill="hold"/>
                                        <p:tgtEl>
                                          <p:spTgt spid="17"/>
                                        </p:tgtEl>
                                        <p:attrNameLst>
                                          <p:attrName>ppt_y</p:attrName>
                                        </p:attrNameLst>
                                      </p:cBhvr>
                                      <p:tavLst>
                                        <p:tav tm="0">
                                          <p:val>
                                            <p:strVal val="#ppt_y+0.03"/>
                                          </p:val>
                                        </p:tav>
                                        <p:tav tm="100000">
                                          <p:val>
                                            <p:strVal val="#ppt_y"/>
                                          </p:val>
                                        </p:tav>
                                      </p:tavLst>
                                    </p:anim>
                                  </p:childTnLst>
                                </p:cTn>
                              </p:par>
                              <p:par>
                                <p:cTn id="58" presetID="42" presetClass="entr" presetSubtype="0" decel="100000" fill="hold" grpId="0" nodeType="withEffect">
                                  <p:stCondLst>
                                    <p:cond delay="91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700"/>
                                        <p:tgtEl>
                                          <p:spTgt spid="18"/>
                                        </p:tgtEl>
                                      </p:cBhvr>
                                    </p:animEffect>
                                    <p:anim calcmode="lin" valueType="num">
                                      <p:cBhvr additive="base">
                                        <p:cTn id="61" dur="700" fill="hold"/>
                                        <p:tgtEl>
                                          <p:spTgt spid="18"/>
                                        </p:tgtEl>
                                        <p:attrNameLst>
                                          <p:attrName>ppt_y</p:attrName>
                                        </p:attrNameLst>
                                      </p:cBhvr>
                                      <p:tavLst>
                                        <p:tav tm="0">
                                          <p:val>
                                            <p:strVal val="#ppt_y+0.03"/>
                                          </p:val>
                                        </p:tav>
                                        <p:tav tm="100000">
                                          <p:val>
                                            <p:strVal val="#ppt_y"/>
                                          </p:val>
                                        </p:tav>
                                      </p:tavLst>
                                    </p:anim>
                                  </p:childTnLst>
                                </p:cTn>
                              </p:par>
                              <p:par>
                                <p:cTn id="62" presetID="42" presetClass="entr" presetSubtype="0" decel="100000" fill="hold" grpId="0" nodeType="withEffect">
                                  <p:stCondLst>
                                    <p:cond delay="113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700"/>
                                        <p:tgtEl>
                                          <p:spTgt spid="19"/>
                                        </p:tgtEl>
                                      </p:cBhvr>
                                    </p:animEffect>
                                    <p:anim calcmode="lin" valueType="num">
                                      <p:cBhvr additive="base">
                                        <p:cTn id="65" dur="700" fill="hold"/>
                                        <p:tgtEl>
                                          <p:spTgt spid="19"/>
                                        </p:tgtEl>
                                        <p:attrNameLst>
                                          <p:attrName>ppt_y</p:attrName>
                                        </p:attrNameLst>
                                      </p:cBhvr>
                                      <p:tavLst>
                                        <p:tav tm="0">
                                          <p:val>
                                            <p:strVal val="#ppt_y+0.03"/>
                                          </p:val>
                                        </p:tav>
                                        <p:tav tm="100000">
                                          <p:val>
                                            <p:strVal val="#ppt_y"/>
                                          </p:val>
                                        </p:tav>
                                      </p:tavLst>
                                    </p:anim>
                                  </p:childTnLst>
                                </p:cTn>
                              </p:par>
                              <p:par>
                                <p:cTn id="66" presetID="42" presetClass="entr" presetSubtype="0" decel="100000" fill="hold" grpId="0" nodeType="withEffect">
                                  <p:stCondLst>
                                    <p:cond delay="113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700"/>
                                        <p:tgtEl>
                                          <p:spTgt spid="20"/>
                                        </p:tgtEl>
                                      </p:cBhvr>
                                    </p:animEffect>
                                    <p:anim calcmode="lin" valueType="num">
                                      <p:cBhvr additive="base">
                                        <p:cTn id="69" dur="700" fill="hold"/>
                                        <p:tgtEl>
                                          <p:spTgt spid="20"/>
                                        </p:tgtEl>
                                        <p:attrNameLst>
                                          <p:attrName>ppt_y</p:attrName>
                                        </p:attrNameLst>
                                      </p:cBhvr>
                                      <p:tavLst>
                                        <p:tav tm="0">
                                          <p:val>
                                            <p:strVal val="#ppt_y+0.03"/>
                                          </p:val>
                                        </p:tav>
                                        <p:tav tm="100000">
                                          <p:val>
                                            <p:strVal val="#ppt_y"/>
                                          </p:val>
                                        </p:tav>
                                      </p:tavLst>
                                    </p:anim>
                                  </p:childTnLst>
                                </p:cTn>
                              </p:par>
                              <p:par>
                                <p:cTn id="70" presetID="42" presetClass="entr" presetSubtype="0" decel="100000" fill="hold" grpId="0" nodeType="withEffect">
                                  <p:stCondLst>
                                    <p:cond delay="113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700"/>
                                        <p:tgtEl>
                                          <p:spTgt spid="21"/>
                                        </p:tgtEl>
                                      </p:cBhvr>
                                    </p:animEffect>
                                    <p:anim calcmode="lin" valueType="num">
                                      <p:cBhvr additive="base">
                                        <p:cTn id="73" dur="700" fill="hold"/>
                                        <p:tgtEl>
                                          <p:spTgt spid="21"/>
                                        </p:tgtEl>
                                        <p:attrNameLst>
                                          <p:attrName>ppt_y</p:attrName>
                                        </p:attrNameLst>
                                      </p:cBhvr>
                                      <p:tavLst>
                                        <p:tav tm="0">
                                          <p:val>
                                            <p:strVal val="#ppt_y+0.03"/>
                                          </p:val>
                                        </p:tav>
                                        <p:tav tm="100000">
                                          <p:val>
                                            <p:strVal val="#ppt_y"/>
                                          </p:val>
                                        </p:tav>
                                      </p:tavLst>
                                    </p:anim>
                                  </p:childTnLst>
                                </p:cTn>
                              </p:par>
                              <p:par>
                                <p:cTn id="74" presetID="42" presetClass="entr" presetSubtype="0" decel="100000" fill="hold" grpId="0" nodeType="withEffect">
                                  <p:stCondLst>
                                    <p:cond delay="113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700"/>
                                        <p:tgtEl>
                                          <p:spTgt spid="22"/>
                                        </p:tgtEl>
                                      </p:cBhvr>
                                    </p:animEffect>
                                    <p:anim calcmode="lin" valueType="num">
                                      <p:cBhvr additive="base">
                                        <p:cTn id="77" dur="700" fill="hold"/>
                                        <p:tgtEl>
                                          <p:spTgt spid="22"/>
                                        </p:tgtEl>
                                        <p:attrNameLst>
                                          <p:attrName>ppt_y</p:attrName>
                                        </p:attrNameLst>
                                      </p:cBhvr>
                                      <p:tavLst>
                                        <p:tav tm="0">
                                          <p:val>
                                            <p:strVal val="#ppt_y+0.03"/>
                                          </p:val>
                                        </p:tav>
                                        <p:tav tm="100000">
                                          <p:val>
                                            <p:strVal val="#ppt_y"/>
                                          </p:val>
                                        </p:tav>
                                      </p:tavLst>
                                    </p:anim>
                                  </p:childTnLst>
                                </p:cTn>
                              </p:par>
                              <p:par>
                                <p:cTn id="78" presetID="42" presetClass="entr" presetSubtype="0" decel="100000" fill="hold" grpId="0" nodeType="withEffect">
                                  <p:stCondLst>
                                    <p:cond delay="1130"/>
                                  </p:stCondLst>
                                  <p:childTnLst>
                                    <p:set>
                                      <p:cBhvr>
                                        <p:cTn id="79" dur="1" fill="hold">
                                          <p:stCondLst>
                                            <p:cond delay="0"/>
                                          </p:stCondLst>
                                        </p:cTn>
                                        <p:tgtEl>
                                          <p:spTgt spid="23"/>
                                        </p:tgtEl>
                                        <p:attrNameLst>
                                          <p:attrName>style.visibility</p:attrName>
                                        </p:attrNameLst>
                                      </p:cBhvr>
                                      <p:to>
                                        <p:strVal val="visible"/>
                                      </p:to>
                                    </p:set>
                                    <p:animEffect transition="in" filter="fade">
                                      <p:cBhvr>
                                        <p:cTn id="80" dur="700"/>
                                        <p:tgtEl>
                                          <p:spTgt spid="23"/>
                                        </p:tgtEl>
                                      </p:cBhvr>
                                    </p:animEffect>
                                    <p:anim calcmode="lin" valueType="num">
                                      <p:cBhvr additive="base">
                                        <p:cTn id="81" dur="700" fill="hold"/>
                                        <p:tgtEl>
                                          <p:spTgt spid="23"/>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p:bldP spid="9" grpId="0" animBg="1"/>
      <p:bldP spid="10" grpId="0" animBg="1"/>
      <p:bldP spid="11" grpId="0"/>
      <p:bldP spid="12" grpId="0" animBg="1"/>
      <p:bldP spid="13" grpId="0" animBg="1"/>
      <p:bldP spid="14" grpId="0" animBg="1"/>
      <p:bldP spid="15" grpId="0" animBg="1"/>
      <p:bldP spid="16" grpId="0"/>
      <p:bldP spid="17" grpId="0" animBg="1"/>
      <p:bldP spid="18" grpId="0" animBg="1"/>
      <p:bldP spid="19" grpId="0" animBg="1"/>
      <p:bldP spid="20" grpId="0" animBg="1"/>
      <p:bldP spid="21" grpId="0"/>
      <p:bldP spid="22" grpId="0"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8412480" y="-228600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1371600" y="3474720"/>
            <a:ext cx="5029200" cy="50292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TECHNICAL INNOVATION 1</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The tide looks like tree loss — until you correct for it</a:t>
            </a:r>
            <a:endParaRPr lang="en-US" sz="3400" dirty="0"/>
          </a:p>
        </p:txBody>
      </p:sp>
      <p:sp>
        <p:nvSpPr>
          <p:cNvPr id="7" name="a1float_ill"/>
          <p:cNvSpPr/>
          <p:nvPr/>
        </p:nvSpPr>
        <p:spPr>
          <a:xfrm>
            <a:off x="548640" y="1691640"/>
            <a:ext cx="5486400" cy="3246120"/>
          </a:xfrm>
          <a:prstGeom prst="roundRect">
            <a:avLst>
              <a:gd name="adj" fmla="val 394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8" name="a1float_illl"/>
          <p:cNvSpPr txBox="1"/>
          <p:nvPr/>
        </p:nvSpPr>
        <p:spPr>
          <a:xfrm>
            <a:off x="777240" y="1847088"/>
            <a:ext cx="50292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WHY NAIVE MONITORS FAIL ON TIDAL FLATS</a:t>
            </a:r>
            <a:endParaRPr lang="en-US" sz="1100" dirty="0"/>
          </a:p>
        </p:txBody>
      </p:sp>
      <p:sp>
        <p:nvSpPr>
          <p:cNvPr id="9" name="a2fade_pn0"/>
          <p:cNvSpPr/>
          <p:nvPr/>
        </p:nvSpPr>
        <p:spPr>
          <a:xfrm>
            <a:off x="777240" y="2194560"/>
            <a:ext cx="2423160" cy="2148840"/>
          </a:xfrm>
          <a:prstGeom prst="roundRect">
            <a:avLst>
              <a:gd name="adj" fmla="val 4255"/>
            </a:avLst>
          </a:prstGeom>
          <a:solidFill>
            <a:srgbClr val="F3F7FB"/>
          </a:solidFill>
          <a:ln w="9525">
            <a:solidFill>
              <a:srgbClr val="D3E0EE"/>
            </a:solidFill>
            <a:prstDash val="solid"/>
          </a:ln>
        </p:spPr>
      </p:sp>
      <p:sp>
        <p:nvSpPr>
          <p:cNvPr id="10" name="a2fade_pt0"/>
          <p:cNvSpPr txBox="1"/>
          <p:nvPr/>
        </p:nvSpPr>
        <p:spPr>
          <a:xfrm>
            <a:off x="914400" y="2267712"/>
            <a:ext cx="1828800" cy="274320"/>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Low tide</a:t>
            </a:r>
            <a:endParaRPr lang="en-US" sz="1400" dirty="0"/>
          </a:p>
        </p:txBody>
      </p:sp>
      <p:sp>
        <p:nvSpPr>
          <p:cNvPr id="11" name="a2fade_tr0_0"/>
          <p:cNvSpPr/>
          <p:nvPr/>
        </p:nvSpPr>
        <p:spPr>
          <a:xfrm>
            <a:off x="1051560" y="3246120"/>
            <a:ext cx="36576" cy="1005840"/>
          </a:xfrm>
          <a:prstGeom prst="rect">
            <a:avLst/>
          </a:prstGeom>
          <a:solidFill>
            <a:srgbClr val="6B5B4B"/>
          </a:solidFill>
          <a:ln/>
        </p:spPr>
      </p:sp>
      <p:sp>
        <p:nvSpPr>
          <p:cNvPr id="12" name="a2fade_tc0_0"/>
          <p:cNvSpPr/>
          <p:nvPr/>
        </p:nvSpPr>
        <p:spPr>
          <a:xfrm>
            <a:off x="896112" y="2926080"/>
            <a:ext cx="347472" cy="347472"/>
          </a:xfrm>
          <a:prstGeom prst="ellipse">
            <a:avLst/>
          </a:prstGeom>
          <a:solidFill>
            <a:srgbClr val="5E977A"/>
          </a:solidFill>
          <a:ln/>
        </p:spPr>
      </p:sp>
      <p:sp>
        <p:nvSpPr>
          <p:cNvPr id="13" name="a2fade_tr0_1"/>
          <p:cNvSpPr/>
          <p:nvPr/>
        </p:nvSpPr>
        <p:spPr>
          <a:xfrm>
            <a:off x="1481328" y="3246120"/>
            <a:ext cx="36576" cy="1005840"/>
          </a:xfrm>
          <a:prstGeom prst="rect">
            <a:avLst/>
          </a:prstGeom>
          <a:solidFill>
            <a:srgbClr val="6B5B4B"/>
          </a:solidFill>
          <a:ln/>
        </p:spPr>
      </p:sp>
      <p:sp>
        <p:nvSpPr>
          <p:cNvPr id="14" name="a2fade_tc0_1"/>
          <p:cNvSpPr/>
          <p:nvPr/>
        </p:nvSpPr>
        <p:spPr>
          <a:xfrm>
            <a:off x="1325880" y="2926080"/>
            <a:ext cx="347472" cy="347472"/>
          </a:xfrm>
          <a:prstGeom prst="ellipse">
            <a:avLst/>
          </a:prstGeom>
          <a:solidFill>
            <a:srgbClr val="5E977A"/>
          </a:solidFill>
          <a:ln/>
        </p:spPr>
      </p:sp>
      <p:sp>
        <p:nvSpPr>
          <p:cNvPr id="15" name="a2fade_tr0_2"/>
          <p:cNvSpPr/>
          <p:nvPr/>
        </p:nvSpPr>
        <p:spPr>
          <a:xfrm>
            <a:off x="1911096" y="3246120"/>
            <a:ext cx="36576" cy="1005840"/>
          </a:xfrm>
          <a:prstGeom prst="rect">
            <a:avLst/>
          </a:prstGeom>
          <a:solidFill>
            <a:srgbClr val="6B5B4B"/>
          </a:solidFill>
          <a:ln/>
        </p:spPr>
      </p:sp>
      <p:sp>
        <p:nvSpPr>
          <p:cNvPr id="16" name="a2fade_tc0_2"/>
          <p:cNvSpPr/>
          <p:nvPr/>
        </p:nvSpPr>
        <p:spPr>
          <a:xfrm>
            <a:off x="1755648" y="2926080"/>
            <a:ext cx="347472" cy="347472"/>
          </a:xfrm>
          <a:prstGeom prst="ellipse">
            <a:avLst/>
          </a:prstGeom>
          <a:solidFill>
            <a:srgbClr val="5E977A"/>
          </a:solidFill>
          <a:ln/>
        </p:spPr>
      </p:sp>
      <p:sp>
        <p:nvSpPr>
          <p:cNvPr id="17" name="a2fade_tr0_3"/>
          <p:cNvSpPr/>
          <p:nvPr/>
        </p:nvSpPr>
        <p:spPr>
          <a:xfrm>
            <a:off x="2340864" y="3246120"/>
            <a:ext cx="36576" cy="1005840"/>
          </a:xfrm>
          <a:prstGeom prst="rect">
            <a:avLst/>
          </a:prstGeom>
          <a:solidFill>
            <a:srgbClr val="6B5B4B"/>
          </a:solidFill>
          <a:ln/>
        </p:spPr>
      </p:sp>
      <p:sp>
        <p:nvSpPr>
          <p:cNvPr id="18" name="a2fade_tc0_3"/>
          <p:cNvSpPr/>
          <p:nvPr/>
        </p:nvSpPr>
        <p:spPr>
          <a:xfrm>
            <a:off x="2185416" y="2926080"/>
            <a:ext cx="347472" cy="347472"/>
          </a:xfrm>
          <a:prstGeom prst="ellipse">
            <a:avLst/>
          </a:prstGeom>
          <a:solidFill>
            <a:srgbClr val="5E977A"/>
          </a:solidFill>
          <a:ln/>
        </p:spPr>
      </p:sp>
      <p:sp>
        <p:nvSpPr>
          <p:cNvPr id="19" name="a2fade_tr0_4"/>
          <p:cNvSpPr/>
          <p:nvPr/>
        </p:nvSpPr>
        <p:spPr>
          <a:xfrm>
            <a:off x="2770632" y="3246120"/>
            <a:ext cx="36576" cy="1005840"/>
          </a:xfrm>
          <a:prstGeom prst="rect">
            <a:avLst/>
          </a:prstGeom>
          <a:solidFill>
            <a:srgbClr val="6B5B4B"/>
          </a:solidFill>
          <a:ln/>
        </p:spPr>
      </p:sp>
      <p:sp>
        <p:nvSpPr>
          <p:cNvPr id="20" name="a2fade_tc0_4"/>
          <p:cNvSpPr/>
          <p:nvPr/>
        </p:nvSpPr>
        <p:spPr>
          <a:xfrm>
            <a:off x="2615184" y="2926080"/>
            <a:ext cx="347472" cy="347472"/>
          </a:xfrm>
          <a:prstGeom prst="ellipse">
            <a:avLst/>
          </a:prstGeom>
          <a:solidFill>
            <a:srgbClr val="5E977A"/>
          </a:solidFill>
          <a:ln/>
        </p:spPr>
      </p:sp>
      <p:sp>
        <p:nvSpPr>
          <p:cNvPr id="21" name="a3rise_w0"/>
          <p:cNvSpPr/>
          <p:nvPr/>
        </p:nvSpPr>
        <p:spPr>
          <a:xfrm>
            <a:off x="795528" y="4069080"/>
            <a:ext cx="2386584" cy="256032"/>
          </a:xfrm>
          <a:prstGeom prst="rect">
            <a:avLst/>
          </a:prstGeom>
          <a:solidFill>
            <a:srgbClr val="5C8DB8">
              <a:alpha val="55000"/>
            </a:srgbClr>
          </a:solidFill>
          <a:ln/>
        </p:spPr>
      </p:sp>
      <p:sp>
        <p:nvSpPr>
          <p:cNvPr id="22" name="a4fade_nv0"/>
          <p:cNvSpPr txBox="1"/>
          <p:nvPr/>
        </p:nvSpPr>
        <p:spPr>
          <a:xfrm>
            <a:off x="777240" y="4407408"/>
            <a:ext cx="2423160" cy="320040"/>
          </a:xfrm>
          <a:prstGeom prst="rect">
            <a:avLst/>
          </a:prstGeom>
          <a:noFill/>
          <a:ln/>
        </p:spPr>
        <p:txBody>
          <a:bodyPr wrap="square" lIns="0" tIns="0" rIns="0" bIns="0" rtlCol="0" anchor="t"/>
          <a:lstStyle/>
          <a:p>
            <a:pPr marL="0" indent="0" algn="ctr">
              <a:lnSpc>
                <a:spcPct val="105000"/>
              </a:lnSpc>
              <a:buNone/>
            </a:pPr>
            <a:r>
              <a:rPr lang="en-US" sz="1500" dirty="0">
                <a:solidFill>
                  <a:srgbClr val="5F738A"/>
                </a:solidFill>
                <a:latin typeface="Segoe UI" pitchFamily="34" charset="0"/>
                <a:ea typeface="Segoe UI" pitchFamily="34" charset="-122"/>
                <a:cs typeface="Segoe UI" pitchFamily="34" charset="-120"/>
              </a:rPr>
              <a:t>NDVI </a:t>
            </a:r>
            <a:r>
              <a:rPr lang="en-US" sz="1500" b="1" dirty="0">
                <a:solidFill>
                  <a:srgbClr val="2F5D8F"/>
                </a:solidFill>
                <a:latin typeface="Segoe UI" pitchFamily="34" charset="0"/>
                <a:ea typeface="Segoe UI" pitchFamily="34" charset="-122"/>
                <a:cs typeface="Segoe UI" pitchFamily="34" charset="-120"/>
              </a:rPr>
              <a:t>0.30</a:t>
            </a:r>
            <a:endParaRPr lang="en-US" sz="1500" dirty="0"/>
          </a:p>
        </p:txBody>
      </p:sp>
      <p:sp>
        <p:nvSpPr>
          <p:cNvPr id="23" name="a2fade_pn1"/>
          <p:cNvSpPr/>
          <p:nvPr/>
        </p:nvSpPr>
        <p:spPr>
          <a:xfrm>
            <a:off x="3383280" y="2194560"/>
            <a:ext cx="2423160" cy="2148840"/>
          </a:xfrm>
          <a:prstGeom prst="roundRect">
            <a:avLst>
              <a:gd name="adj" fmla="val 4255"/>
            </a:avLst>
          </a:prstGeom>
          <a:solidFill>
            <a:srgbClr val="F3F7FB"/>
          </a:solidFill>
          <a:ln w="9525">
            <a:solidFill>
              <a:srgbClr val="D3E0EE"/>
            </a:solidFill>
            <a:prstDash val="solid"/>
          </a:ln>
        </p:spPr>
      </p:sp>
      <p:sp>
        <p:nvSpPr>
          <p:cNvPr id="24" name="a2fade_pt1"/>
          <p:cNvSpPr txBox="1"/>
          <p:nvPr/>
        </p:nvSpPr>
        <p:spPr>
          <a:xfrm>
            <a:off x="3520440" y="2267712"/>
            <a:ext cx="1828800" cy="274320"/>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High tide</a:t>
            </a:r>
            <a:endParaRPr lang="en-US" sz="1400" dirty="0"/>
          </a:p>
        </p:txBody>
      </p:sp>
      <p:sp>
        <p:nvSpPr>
          <p:cNvPr id="25" name="a2fade_tr1_0"/>
          <p:cNvSpPr/>
          <p:nvPr/>
        </p:nvSpPr>
        <p:spPr>
          <a:xfrm>
            <a:off x="3657600" y="3246120"/>
            <a:ext cx="36576" cy="1005840"/>
          </a:xfrm>
          <a:prstGeom prst="rect">
            <a:avLst/>
          </a:prstGeom>
          <a:solidFill>
            <a:srgbClr val="6B5B4B"/>
          </a:solidFill>
          <a:ln/>
        </p:spPr>
      </p:sp>
      <p:sp>
        <p:nvSpPr>
          <p:cNvPr id="26" name="a2fade_tc1_0"/>
          <p:cNvSpPr/>
          <p:nvPr/>
        </p:nvSpPr>
        <p:spPr>
          <a:xfrm>
            <a:off x="3502152" y="2926080"/>
            <a:ext cx="347472" cy="347472"/>
          </a:xfrm>
          <a:prstGeom prst="ellipse">
            <a:avLst/>
          </a:prstGeom>
          <a:solidFill>
            <a:srgbClr val="5E977A"/>
          </a:solidFill>
          <a:ln/>
        </p:spPr>
      </p:sp>
      <p:sp>
        <p:nvSpPr>
          <p:cNvPr id="27" name="a2fade_tr1_1"/>
          <p:cNvSpPr/>
          <p:nvPr/>
        </p:nvSpPr>
        <p:spPr>
          <a:xfrm>
            <a:off x="4087368" y="3246120"/>
            <a:ext cx="36576" cy="1005840"/>
          </a:xfrm>
          <a:prstGeom prst="rect">
            <a:avLst/>
          </a:prstGeom>
          <a:solidFill>
            <a:srgbClr val="6B5B4B"/>
          </a:solidFill>
          <a:ln/>
        </p:spPr>
      </p:sp>
      <p:sp>
        <p:nvSpPr>
          <p:cNvPr id="28" name="a2fade_tc1_1"/>
          <p:cNvSpPr/>
          <p:nvPr/>
        </p:nvSpPr>
        <p:spPr>
          <a:xfrm>
            <a:off x="3931920" y="2926080"/>
            <a:ext cx="347472" cy="347472"/>
          </a:xfrm>
          <a:prstGeom prst="ellipse">
            <a:avLst/>
          </a:prstGeom>
          <a:solidFill>
            <a:srgbClr val="5E977A"/>
          </a:solidFill>
          <a:ln/>
        </p:spPr>
      </p:sp>
      <p:sp>
        <p:nvSpPr>
          <p:cNvPr id="29" name="a2fade_tr1_2"/>
          <p:cNvSpPr/>
          <p:nvPr/>
        </p:nvSpPr>
        <p:spPr>
          <a:xfrm>
            <a:off x="4517136" y="3246120"/>
            <a:ext cx="36576" cy="1005840"/>
          </a:xfrm>
          <a:prstGeom prst="rect">
            <a:avLst/>
          </a:prstGeom>
          <a:solidFill>
            <a:srgbClr val="6B5B4B"/>
          </a:solidFill>
          <a:ln/>
        </p:spPr>
      </p:sp>
      <p:sp>
        <p:nvSpPr>
          <p:cNvPr id="30" name="a2fade_tc1_2"/>
          <p:cNvSpPr/>
          <p:nvPr/>
        </p:nvSpPr>
        <p:spPr>
          <a:xfrm>
            <a:off x="4361688" y="2926080"/>
            <a:ext cx="347472" cy="347472"/>
          </a:xfrm>
          <a:prstGeom prst="ellipse">
            <a:avLst/>
          </a:prstGeom>
          <a:solidFill>
            <a:srgbClr val="5E977A"/>
          </a:solidFill>
          <a:ln/>
        </p:spPr>
      </p:sp>
      <p:sp>
        <p:nvSpPr>
          <p:cNvPr id="31" name="a2fade_tr1_3"/>
          <p:cNvSpPr/>
          <p:nvPr/>
        </p:nvSpPr>
        <p:spPr>
          <a:xfrm>
            <a:off x="4946904" y="3246120"/>
            <a:ext cx="36576" cy="1005840"/>
          </a:xfrm>
          <a:prstGeom prst="rect">
            <a:avLst/>
          </a:prstGeom>
          <a:solidFill>
            <a:srgbClr val="6B5B4B"/>
          </a:solidFill>
          <a:ln/>
        </p:spPr>
      </p:sp>
      <p:sp>
        <p:nvSpPr>
          <p:cNvPr id="32" name="a2fade_tc1_3"/>
          <p:cNvSpPr/>
          <p:nvPr/>
        </p:nvSpPr>
        <p:spPr>
          <a:xfrm>
            <a:off x="4791456" y="2926080"/>
            <a:ext cx="347472" cy="347472"/>
          </a:xfrm>
          <a:prstGeom prst="ellipse">
            <a:avLst/>
          </a:prstGeom>
          <a:solidFill>
            <a:srgbClr val="5E977A"/>
          </a:solidFill>
          <a:ln/>
        </p:spPr>
      </p:sp>
      <p:sp>
        <p:nvSpPr>
          <p:cNvPr id="33" name="a2fade_tr1_4"/>
          <p:cNvSpPr/>
          <p:nvPr/>
        </p:nvSpPr>
        <p:spPr>
          <a:xfrm>
            <a:off x="5376672" y="3246120"/>
            <a:ext cx="36576" cy="1005840"/>
          </a:xfrm>
          <a:prstGeom prst="rect">
            <a:avLst/>
          </a:prstGeom>
          <a:solidFill>
            <a:srgbClr val="6B5B4B"/>
          </a:solidFill>
          <a:ln/>
        </p:spPr>
      </p:sp>
      <p:sp>
        <p:nvSpPr>
          <p:cNvPr id="34" name="a2fade_tc1_4"/>
          <p:cNvSpPr/>
          <p:nvPr/>
        </p:nvSpPr>
        <p:spPr>
          <a:xfrm>
            <a:off x="5221224" y="2926080"/>
            <a:ext cx="347472" cy="347472"/>
          </a:xfrm>
          <a:prstGeom prst="ellipse">
            <a:avLst/>
          </a:prstGeom>
          <a:solidFill>
            <a:srgbClr val="5E977A"/>
          </a:solidFill>
          <a:ln/>
        </p:spPr>
      </p:sp>
      <p:sp>
        <p:nvSpPr>
          <p:cNvPr id="35" name="a3rise_w1"/>
          <p:cNvSpPr/>
          <p:nvPr/>
        </p:nvSpPr>
        <p:spPr>
          <a:xfrm>
            <a:off x="3401568" y="3337560"/>
            <a:ext cx="2386584" cy="987552"/>
          </a:xfrm>
          <a:prstGeom prst="rect">
            <a:avLst/>
          </a:prstGeom>
          <a:solidFill>
            <a:srgbClr val="5C8DB8">
              <a:alpha val="55000"/>
            </a:srgbClr>
          </a:solidFill>
          <a:ln/>
        </p:spPr>
      </p:sp>
      <p:sp>
        <p:nvSpPr>
          <p:cNvPr id="36" name="a4fade_nv1"/>
          <p:cNvSpPr txBox="1"/>
          <p:nvPr/>
        </p:nvSpPr>
        <p:spPr>
          <a:xfrm>
            <a:off x="3383280" y="4407408"/>
            <a:ext cx="2423160" cy="320040"/>
          </a:xfrm>
          <a:prstGeom prst="rect">
            <a:avLst/>
          </a:prstGeom>
          <a:noFill/>
          <a:ln/>
        </p:spPr>
        <p:txBody>
          <a:bodyPr wrap="square" lIns="0" tIns="0" rIns="0" bIns="0" rtlCol="0" anchor="t"/>
          <a:lstStyle/>
          <a:p>
            <a:pPr marL="0" indent="0" algn="ctr">
              <a:lnSpc>
                <a:spcPct val="105000"/>
              </a:lnSpc>
              <a:buNone/>
            </a:pPr>
            <a:r>
              <a:rPr lang="en-US" sz="1500" dirty="0">
                <a:solidFill>
                  <a:srgbClr val="5F738A"/>
                </a:solidFill>
                <a:latin typeface="Segoe UI" pitchFamily="34" charset="0"/>
                <a:ea typeface="Segoe UI" pitchFamily="34" charset="-122"/>
                <a:cs typeface="Segoe UI" pitchFamily="34" charset="-120"/>
              </a:rPr>
              <a:t>NDVI </a:t>
            </a:r>
            <a:r>
              <a:rPr lang="en-US" sz="1500" b="1" dirty="0">
                <a:solidFill>
                  <a:srgbClr val="BE5F6D"/>
                </a:solidFill>
                <a:latin typeface="Segoe UI" pitchFamily="34" charset="0"/>
                <a:ea typeface="Segoe UI" pitchFamily="34" charset="-122"/>
                <a:cs typeface="Segoe UI" pitchFamily="34" charset="-120"/>
              </a:rPr>
              <a:t>0.18</a:t>
            </a:r>
            <a:endParaRPr lang="en-US" sz="1500" dirty="0"/>
          </a:p>
        </p:txBody>
      </p:sp>
      <p:sp>
        <p:nvSpPr>
          <p:cNvPr id="37" name="a4fade_illc"/>
          <p:cNvSpPr txBox="1"/>
          <p:nvPr/>
        </p:nvSpPr>
        <p:spPr>
          <a:xfrm>
            <a:off x="777240" y="4645152"/>
            <a:ext cx="5120640" cy="256032"/>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Same trees, same season. Measured on our stands: noise vs wetness r ≈ −0.9.</a:t>
            </a:r>
            <a:endParaRPr lang="en-US" sz="1100" dirty="0"/>
          </a:p>
        </p:txBody>
      </p:sp>
      <p:sp>
        <p:nvSpPr>
          <p:cNvPr id="38" name="a1float_chc"/>
          <p:cNvSpPr/>
          <p:nvPr/>
        </p:nvSpPr>
        <p:spPr>
          <a:xfrm>
            <a:off x="6263640" y="1691640"/>
            <a:ext cx="5376672" cy="3246120"/>
          </a:xfrm>
          <a:prstGeom prst="roundRect">
            <a:avLst>
              <a:gd name="adj" fmla="val 394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graphicFrame>
        <p:nvGraphicFramePr>
          <p:cNvPr id="39" name="a3wipe_chart"/>
          <p:cNvGraphicFramePr/>
          <p:nvPr/>
        </p:nvGraphicFramePr>
        <p:xfrm>
          <a:off x="6400800" y="1828800"/>
          <a:ext cx="5120640" cy="3017520"/>
        </p:xfrm>
        <a:graphic>
          <a:graphicData uri="http://schemas.openxmlformats.org/drawingml/2006/chart">
            <c:chart xmlns:c="http://schemas.openxmlformats.org/drawingml/2006/chart" xmlns:r="http://schemas.openxmlformats.org/officeDocument/2006/relationships" r:id="rId5"/>
          </a:graphicData>
        </a:graphic>
      </p:graphicFrame>
      <p:sp>
        <p:nvSpPr>
          <p:cNvPr id="40" name="a5float_st"/>
          <p:cNvSpPr/>
          <p:nvPr/>
        </p:nvSpPr>
        <p:spPr>
          <a:xfrm>
            <a:off x="548640" y="5120640"/>
            <a:ext cx="5486400" cy="1051560"/>
          </a:xfrm>
          <a:prstGeom prst="roundRect">
            <a:avLst>
              <a:gd name="adj" fmla="val 12174"/>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sp>
      <p:sp>
        <p:nvSpPr>
          <p:cNvPr id="41" name="a5float_stic_c"/>
          <p:cNvSpPr/>
          <p:nvPr/>
        </p:nvSpPr>
        <p:spPr>
          <a:xfrm>
            <a:off x="777240" y="5376672"/>
            <a:ext cx="548640" cy="548640"/>
          </a:xfrm>
          <a:prstGeom prst="ellipse">
            <a:avLst/>
          </a:prstGeom>
          <a:solidFill>
            <a:srgbClr val="3F6E9E">
              <a:alpha val="18000"/>
            </a:srgbClr>
          </a:solidFill>
          <a:ln w="12700">
            <a:solidFill>
              <a:srgbClr val="3F6E9E"/>
            </a:solidFill>
            <a:prstDash val="solid"/>
          </a:ln>
        </p:spPr>
      </p:sp>
      <p:pic>
        <p:nvPicPr>
          <p:cNvPr id="42" name="a5float_stic_i" descr="preencoded.png"/>
          <p:cNvPicPr>
            <a:picLocks noChangeAspect="1"/>
          </p:cNvPicPr>
          <p:nvPr/>
        </p:nvPicPr>
        <p:blipFill>
          <a:blip r:embed="rId6"/>
          <a:stretch>
            <a:fillRect/>
          </a:stretch>
        </p:blipFill>
        <p:spPr>
          <a:xfrm>
            <a:off x="908914" y="5508346"/>
            <a:ext cx="285293" cy="285293"/>
          </a:xfrm>
          <a:prstGeom prst="rect">
            <a:avLst/>
          </a:prstGeom>
        </p:spPr>
      </p:pic>
      <p:sp>
        <p:nvSpPr>
          <p:cNvPr id="43" name="a5float_stn"/>
          <p:cNvSpPr txBox="1"/>
          <p:nvPr/>
        </p:nvSpPr>
        <p:spPr>
          <a:xfrm>
            <a:off x="1463040" y="5120640"/>
            <a:ext cx="2331720" cy="1051560"/>
          </a:xfrm>
          <a:prstGeom prst="rect">
            <a:avLst/>
          </a:prstGeom>
          <a:noFill/>
          <a:ln/>
        </p:spPr>
        <p:txBody>
          <a:bodyPr wrap="square" lIns="0" tIns="0" rIns="0" bIns="0" rtlCol="0" anchor="ctr"/>
          <a:lstStyle/>
          <a:p>
            <a:pPr marL="0" indent="0" algn="l">
              <a:lnSpc>
                <a:spcPct val="105000"/>
              </a:lnSpc>
              <a:buNone/>
            </a:pPr>
            <a:r>
              <a:rPr lang="en-US" sz="2800" dirty="0">
                <a:solidFill>
                  <a:srgbClr val="A9813A"/>
                </a:solidFill>
                <a:latin typeface="Segoe UI Light" pitchFamily="34" charset="0"/>
                <a:ea typeface="Segoe UI Light" pitchFamily="34" charset="-122"/>
                <a:cs typeface="Segoe UI Light" pitchFamily="34" charset="-120"/>
              </a:rPr>
              <a:t>−29 to −35 %</a:t>
            </a:r>
            <a:endParaRPr lang="en-US" sz="2800" dirty="0"/>
          </a:p>
        </p:txBody>
      </p:sp>
      <p:sp>
        <p:nvSpPr>
          <p:cNvPr id="44" name="a5float_stt"/>
          <p:cNvSpPr txBox="1"/>
          <p:nvPr/>
        </p:nvSpPr>
        <p:spPr>
          <a:xfrm>
            <a:off x="3749040" y="5120640"/>
            <a:ext cx="2194560" cy="1051560"/>
          </a:xfrm>
          <a:prstGeom prst="rect">
            <a:avLst/>
          </a:prstGeom>
          <a:noFill/>
          <a:ln/>
        </p:spPr>
        <p:txBody>
          <a:bodyPr wrap="square" lIns="0" tIns="0" rIns="0" bIns="0" rtlCol="0" anchor="ctr"/>
          <a:lstStyle/>
          <a:p>
            <a:pPr marL="0" indent="0" algn="l">
              <a:lnSpc>
                <a:spcPct val="105000"/>
              </a:lnSpc>
              <a:buNone/>
            </a:pPr>
            <a:r>
              <a:rPr lang="en-US" sz="1200" dirty="0">
                <a:solidFill>
                  <a:srgbClr val="1B2B40"/>
                </a:solidFill>
                <a:latin typeface="Segoe UI" pitchFamily="34" charset="0"/>
                <a:ea typeface="Segoe UI" pitchFamily="34" charset="-122"/>
                <a:cs typeface="Segoe UI" pitchFamily="34" charset="-120"/>
              </a:rPr>
              <a:t>less noise on every index: we model trend, season and the tide before flagging anything</a:t>
            </a:r>
            <a:endParaRPr lang="en-US" sz="1200" dirty="0"/>
          </a:p>
        </p:txBody>
      </p:sp>
      <p:sp>
        <p:nvSpPr>
          <p:cNvPr id="45" name="a6float_tb"/>
          <p:cNvSpPr/>
          <p:nvPr/>
        </p:nvSpPr>
        <p:spPr>
          <a:xfrm>
            <a:off x="6263640" y="5120640"/>
            <a:ext cx="5376672" cy="1051560"/>
          </a:xfrm>
          <a:prstGeom prst="roundRect">
            <a:avLst>
              <a:gd name="adj" fmla="val 12174"/>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sp>
      <p:sp>
        <p:nvSpPr>
          <p:cNvPr id="46" name="a6float_tbn"/>
          <p:cNvSpPr txBox="1"/>
          <p:nvPr/>
        </p:nvSpPr>
        <p:spPr>
          <a:xfrm>
            <a:off x="6446520" y="5120640"/>
            <a:ext cx="2331720" cy="1051560"/>
          </a:xfrm>
          <a:prstGeom prst="rect">
            <a:avLst/>
          </a:prstGeom>
          <a:noFill/>
          <a:ln/>
        </p:spPr>
        <p:txBody>
          <a:bodyPr wrap="square" lIns="0" tIns="0" rIns="0" bIns="0" rtlCol="0" anchor="ctr"/>
          <a:lstStyle/>
          <a:p>
            <a:pPr marL="0" indent="0" algn="l">
              <a:lnSpc>
                <a:spcPct val="105000"/>
              </a:lnSpc>
              <a:buNone/>
            </a:pPr>
            <a:r>
              <a:rPr lang="en-US" sz="2800" dirty="0">
                <a:solidFill>
                  <a:srgbClr val="A9813A"/>
                </a:solidFill>
                <a:latin typeface="Segoe UI Light" pitchFamily="34" charset="0"/>
                <a:ea typeface="Segoe UI Light" pitchFamily="34" charset="-122"/>
                <a:cs typeface="Segoe UI Light" pitchFamily="34" charset="-120"/>
              </a:rPr>
              <a:t>1.61 → 0.96</a:t>
            </a:r>
            <a:endParaRPr lang="en-US" sz="2800" dirty="0"/>
          </a:p>
        </p:txBody>
      </p:sp>
      <p:sp>
        <p:nvSpPr>
          <p:cNvPr id="47" name="a6float_tbt"/>
          <p:cNvSpPr txBox="1"/>
          <p:nvPr/>
        </p:nvSpPr>
        <p:spPr>
          <a:xfrm>
            <a:off x="8778240" y="5120640"/>
            <a:ext cx="2743200" cy="1051560"/>
          </a:xfrm>
          <a:prstGeom prst="rect">
            <a:avLst/>
          </a:prstGeom>
          <a:noFill/>
          <a:ln/>
        </p:spPr>
        <p:txBody>
          <a:bodyPr wrap="square" lIns="0" tIns="0" rIns="0" bIns="0" rtlCol="0" anchor="ctr"/>
          <a:lstStyle/>
          <a:p>
            <a:pPr marL="0" indent="0" algn="l">
              <a:lnSpc>
                <a:spcPct val="105000"/>
              </a:lnSpc>
              <a:buNone/>
            </a:pPr>
            <a:r>
              <a:rPr lang="en-US" sz="1200" dirty="0">
                <a:solidFill>
                  <a:srgbClr val="1B2B40"/>
                </a:solidFill>
                <a:latin typeface="Segoe UI" pitchFamily="34" charset="0"/>
                <a:ea typeface="Segoe UI" pitchFamily="34" charset="-122"/>
                <a:cs typeface="Segoe UI" pitchFamily="34" charset="-120"/>
              </a:rPr>
              <a:t>false alarms per stand-year: textbook NDVI-only vs our tide-aware monitor, same alert rule, same 25 stands (40 % fewer)</a:t>
            </a:r>
            <a:endParaRPr lang="en-US" sz="1200" dirty="0"/>
          </a:p>
        </p:txBody>
      </p:sp>
      <p:sp>
        <p:nvSpPr>
          <p:cNvPr id="48"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47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700"/>
                                        <p:tgtEl>
                                          <p:spTgt spid="38"/>
                                        </p:tgtEl>
                                      </p:cBhvr>
                                    </p:animEffect>
                                    <p:anim calcmode="lin" valueType="num">
                                      <p:cBhvr additive="base">
                                        <p:cTn id="23" dur="700" fill="hold"/>
                                        <p:tgtEl>
                                          <p:spTgt spid="38"/>
                                        </p:tgtEl>
                                        <p:attrNameLst>
                                          <p:attrName>ppt_y</p:attrName>
                                        </p:attrNameLst>
                                      </p:cBhvr>
                                      <p:tavLst>
                                        <p:tav tm="0">
                                          <p:val>
                                            <p:strVal val="#ppt_y+0.03"/>
                                          </p:val>
                                        </p:tav>
                                        <p:tav tm="100000">
                                          <p:val>
                                            <p:strVal val="#ppt_y"/>
                                          </p:val>
                                        </p:tav>
                                      </p:tavLst>
                                    </p:anim>
                                  </p:childTnLst>
                                </p:cTn>
                              </p:par>
                              <p:par>
                                <p:cTn id="24" presetID="10" presetClass="entr" presetSubtype="0" decel="100000" fill="hold" grpId="0" nodeType="withEffect">
                                  <p:stCondLst>
                                    <p:cond delay="69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childTnLst>
                                </p:cTn>
                              </p:par>
                              <p:par>
                                <p:cTn id="27" presetID="10" presetClass="entr" presetSubtype="0" decel="100000" fill="hold" grpId="0" nodeType="withEffect">
                                  <p:stCondLst>
                                    <p:cond delay="69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600"/>
                                        <p:tgtEl>
                                          <p:spTgt spid="10"/>
                                        </p:tgtEl>
                                      </p:cBhvr>
                                    </p:animEffect>
                                  </p:childTnLst>
                                </p:cTn>
                              </p:par>
                              <p:par>
                                <p:cTn id="30" presetID="10" presetClass="entr" presetSubtype="0" decel="100000" fill="hold" grpId="0" nodeType="withEffect">
                                  <p:stCondLst>
                                    <p:cond delay="69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childTnLst>
                                </p:cTn>
                              </p:par>
                              <p:par>
                                <p:cTn id="33" presetID="10" presetClass="entr" presetSubtype="0" decel="100000" fill="hold" grpId="0" nodeType="withEffect">
                                  <p:stCondLst>
                                    <p:cond delay="69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600"/>
                                        <p:tgtEl>
                                          <p:spTgt spid="12"/>
                                        </p:tgtEl>
                                      </p:cBhvr>
                                    </p:animEffect>
                                  </p:childTnLst>
                                </p:cTn>
                              </p:par>
                              <p:par>
                                <p:cTn id="36" presetID="10" presetClass="entr" presetSubtype="0" decel="100000" fill="hold" grpId="0" nodeType="withEffect">
                                  <p:stCondLst>
                                    <p:cond delay="69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600"/>
                                        <p:tgtEl>
                                          <p:spTgt spid="13"/>
                                        </p:tgtEl>
                                      </p:cBhvr>
                                    </p:animEffect>
                                  </p:childTnLst>
                                </p:cTn>
                              </p:par>
                              <p:par>
                                <p:cTn id="39" presetID="10" presetClass="entr" presetSubtype="0" decel="100000" fill="hold" grpId="0" nodeType="withEffect">
                                  <p:stCondLst>
                                    <p:cond delay="69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600"/>
                                        <p:tgtEl>
                                          <p:spTgt spid="14"/>
                                        </p:tgtEl>
                                      </p:cBhvr>
                                    </p:animEffect>
                                  </p:childTnLst>
                                </p:cTn>
                              </p:par>
                              <p:par>
                                <p:cTn id="42" presetID="10" presetClass="entr" presetSubtype="0" decel="100000" fill="hold" grpId="0" nodeType="withEffect">
                                  <p:stCondLst>
                                    <p:cond delay="69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600"/>
                                        <p:tgtEl>
                                          <p:spTgt spid="15"/>
                                        </p:tgtEl>
                                      </p:cBhvr>
                                    </p:animEffect>
                                  </p:childTnLst>
                                </p:cTn>
                              </p:par>
                              <p:par>
                                <p:cTn id="45" presetID="10" presetClass="entr" presetSubtype="0" decel="100000" fill="hold" grpId="0" nodeType="withEffect">
                                  <p:stCondLst>
                                    <p:cond delay="69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600"/>
                                        <p:tgtEl>
                                          <p:spTgt spid="16"/>
                                        </p:tgtEl>
                                      </p:cBhvr>
                                    </p:animEffect>
                                  </p:childTnLst>
                                </p:cTn>
                              </p:par>
                              <p:par>
                                <p:cTn id="48" presetID="10" presetClass="entr" presetSubtype="0" decel="100000" fill="hold" grpId="0" nodeType="withEffect">
                                  <p:stCondLst>
                                    <p:cond delay="69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childTnLst>
                                </p:cTn>
                              </p:par>
                              <p:par>
                                <p:cTn id="51" presetID="10" presetClass="entr" presetSubtype="0" decel="100000" fill="hold" grpId="0" nodeType="withEffect">
                                  <p:stCondLst>
                                    <p:cond delay="69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600"/>
                                        <p:tgtEl>
                                          <p:spTgt spid="18"/>
                                        </p:tgtEl>
                                      </p:cBhvr>
                                    </p:animEffect>
                                  </p:childTnLst>
                                </p:cTn>
                              </p:par>
                              <p:par>
                                <p:cTn id="54" presetID="10" presetClass="entr" presetSubtype="0" decel="100000" fill="hold" grpId="0" nodeType="withEffect">
                                  <p:stCondLst>
                                    <p:cond delay="69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600"/>
                                        <p:tgtEl>
                                          <p:spTgt spid="19"/>
                                        </p:tgtEl>
                                      </p:cBhvr>
                                    </p:animEffect>
                                  </p:childTnLst>
                                </p:cTn>
                              </p:par>
                              <p:par>
                                <p:cTn id="57" presetID="10" presetClass="entr" presetSubtype="0" decel="100000" fill="hold" grpId="0" nodeType="withEffect">
                                  <p:stCondLst>
                                    <p:cond delay="69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600"/>
                                        <p:tgtEl>
                                          <p:spTgt spid="20"/>
                                        </p:tgtEl>
                                      </p:cBhvr>
                                    </p:animEffect>
                                  </p:childTnLst>
                                </p:cTn>
                              </p:par>
                              <p:par>
                                <p:cTn id="60" presetID="10" presetClass="entr" presetSubtype="0" decel="100000" fill="hold" grpId="0" nodeType="withEffect">
                                  <p:stCondLst>
                                    <p:cond delay="69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600"/>
                                        <p:tgtEl>
                                          <p:spTgt spid="23"/>
                                        </p:tgtEl>
                                      </p:cBhvr>
                                    </p:animEffect>
                                  </p:childTnLst>
                                </p:cTn>
                              </p:par>
                              <p:par>
                                <p:cTn id="63" presetID="10" presetClass="entr" presetSubtype="0" decel="100000" fill="hold" grpId="0" nodeType="withEffect">
                                  <p:stCondLst>
                                    <p:cond delay="69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600"/>
                                        <p:tgtEl>
                                          <p:spTgt spid="24"/>
                                        </p:tgtEl>
                                      </p:cBhvr>
                                    </p:animEffect>
                                  </p:childTnLst>
                                </p:cTn>
                              </p:par>
                              <p:par>
                                <p:cTn id="66" presetID="10" presetClass="entr" presetSubtype="0" decel="100000" fill="hold" grpId="0" nodeType="withEffect">
                                  <p:stCondLst>
                                    <p:cond delay="69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600"/>
                                        <p:tgtEl>
                                          <p:spTgt spid="25"/>
                                        </p:tgtEl>
                                      </p:cBhvr>
                                    </p:animEffect>
                                  </p:childTnLst>
                                </p:cTn>
                              </p:par>
                              <p:par>
                                <p:cTn id="69" presetID="10" presetClass="entr" presetSubtype="0" decel="100000" fill="hold" grpId="0" nodeType="withEffect">
                                  <p:stCondLst>
                                    <p:cond delay="69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600"/>
                                        <p:tgtEl>
                                          <p:spTgt spid="26"/>
                                        </p:tgtEl>
                                      </p:cBhvr>
                                    </p:animEffect>
                                  </p:childTnLst>
                                </p:cTn>
                              </p:par>
                              <p:par>
                                <p:cTn id="72" presetID="10" presetClass="entr" presetSubtype="0" decel="100000" fill="hold" grpId="0" nodeType="withEffect">
                                  <p:stCondLst>
                                    <p:cond delay="69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600"/>
                                        <p:tgtEl>
                                          <p:spTgt spid="27"/>
                                        </p:tgtEl>
                                      </p:cBhvr>
                                    </p:animEffect>
                                  </p:childTnLst>
                                </p:cTn>
                              </p:par>
                              <p:par>
                                <p:cTn id="75" presetID="10" presetClass="entr" presetSubtype="0" decel="100000" fill="hold" grpId="0" nodeType="withEffect">
                                  <p:stCondLst>
                                    <p:cond delay="69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600"/>
                                        <p:tgtEl>
                                          <p:spTgt spid="28"/>
                                        </p:tgtEl>
                                      </p:cBhvr>
                                    </p:animEffect>
                                  </p:childTnLst>
                                </p:cTn>
                              </p:par>
                              <p:par>
                                <p:cTn id="78" presetID="10" presetClass="entr" presetSubtype="0" decel="100000" fill="hold" grpId="0" nodeType="withEffect">
                                  <p:stCondLst>
                                    <p:cond delay="69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600"/>
                                        <p:tgtEl>
                                          <p:spTgt spid="29"/>
                                        </p:tgtEl>
                                      </p:cBhvr>
                                    </p:animEffect>
                                  </p:childTnLst>
                                </p:cTn>
                              </p:par>
                              <p:par>
                                <p:cTn id="81" presetID="10" presetClass="entr" presetSubtype="0" decel="100000" fill="hold" grpId="0" nodeType="withEffect">
                                  <p:stCondLst>
                                    <p:cond delay="69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600"/>
                                        <p:tgtEl>
                                          <p:spTgt spid="30"/>
                                        </p:tgtEl>
                                      </p:cBhvr>
                                    </p:animEffect>
                                  </p:childTnLst>
                                </p:cTn>
                              </p:par>
                              <p:par>
                                <p:cTn id="84" presetID="10" presetClass="entr" presetSubtype="0" decel="100000" fill="hold" grpId="0" nodeType="withEffect">
                                  <p:stCondLst>
                                    <p:cond delay="69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600"/>
                                        <p:tgtEl>
                                          <p:spTgt spid="31"/>
                                        </p:tgtEl>
                                      </p:cBhvr>
                                    </p:animEffect>
                                  </p:childTnLst>
                                </p:cTn>
                              </p:par>
                              <p:par>
                                <p:cTn id="87" presetID="10" presetClass="entr" presetSubtype="0" decel="100000" fill="hold" grpId="0" nodeType="withEffect">
                                  <p:stCondLst>
                                    <p:cond delay="69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600"/>
                                        <p:tgtEl>
                                          <p:spTgt spid="32"/>
                                        </p:tgtEl>
                                      </p:cBhvr>
                                    </p:animEffect>
                                  </p:childTnLst>
                                </p:cTn>
                              </p:par>
                              <p:par>
                                <p:cTn id="90" presetID="10" presetClass="entr" presetSubtype="0" decel="100000" fill="hold" grpId="0" nodeType="withEffect">
                                  <p:stCondLst>
                                    <p:cond delay="69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600"/>
                                        <p:tgtEl>
                                          <p:spTgt spid="33"/>
                                        </p:tgtEl>
                                      </p:cBhvr>
                                    </p:animEffect>
                                  </p:childTnLst>
                                </p:cTn>
                              </p:par>
                              <p:par>
                                <p:cTn id="93" presetID="10" presetClass="entr" presetSubtype="0" decel="100000" fill="hold" grpId="0" nodeType="withEffect">
                                  <p:stCondLst>
                                    <p:cond delay="69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600"/>
                                        <p:tgtEl>
                                          <p:spTgt spid="34"/>
                                        </p:tgtEl>
                                      </p:cBhvr>
                                    </p:animEffect>
                                  </p:childTnLst>
                                </p:cTn>
                              </p:par>
                              <p:par>
                                <p:cTn id="96" presetID="42" presetClass="entr" presetSubtype="0" decel="100000" fill="hold" grpId="0" nodeType="withEffect">
                                  <p:stCondLst>
                                    <p:cond delay="91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700"/>
                                        <p:tgtEl>
                                          <p:spTgt spid="21"/>
                                        </p:tgtEl>
                                      </p:cBhvr>
                                    </p:animEffect>
                                    <p:anim calcmode="lin" valueType="num">
                                      <p:cBhvr additive="base">
                                        <p:cTn id="99" dur="1400" fill="hold"/>
                                        <p:tgtEl>
                                          <p:spTgt spid="21"/>
                                        </p:tgtEl>
                                        <p:attrNameLst>
                                          <p:attrName>ppt_y</p:attrName>
                                        </p:attrNameLst>
                                      </p:cBhvr>
                                      <p:tavLst>
                                        <p:tav tm="0">
                                          <p:val>
                                            <p:strVal val="#ppt_y+0.10"/>
                                          </p:val>
                                        </p:tav>
                                        <p:tav tm="100000">
                                          <p:val>
                                            <p:strVal val="#ppt_y"/>
                                          </p:val>
                                        </p:tav>
                                      </p:tavLst>
                                    </p:anim>
                                  </p:childTnLst>
                                </p:cTn>
                              </p:par>
                              <p:par>
                                <p:cTn id="100" presetID="42" presetClass="entr" presetSubtype="0" decel="100000" fill="hold" grpId="0" nodeType="withEffect">
                                  <p:stCondLst>
                                    <p:cond delay="91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700"/>
                                        <p:tgtEl>
                                          <p:spTgt spid="35"/>
                                        </p:tgtEl>
                                      </p:cBhvr>
                                    </p:animEffect>
                                    <p:anim calcmode="lin" valueType="num">
                                      <p:cBhvr additive="base">
                                        <p:cTn id="103" dur="1400" fill="hold"/>
                                        <p:tgtEl>
                                          <p:spTgt spid="35"/>
                                        </p:tgtEl>
                                        <p:attrNameLst>
                                          <p:attrName>ppt_y</p:attrName>
                                        </p:attrNameLst>
                                      </p:cBhvr>
                                      <p:tavLst>
                                        <p:tav tm="0">
                                          <p:val>
                                            <p:strVal val="#ppt_y+0.10"/>
                                          </p:val>
                                        </p:tav>
                                        <p:tav tm="100000">
                                          <p:val>
                                            <p:strVal val="#ppt_y"/>
                                          </p:val>
                                        </p:tav>
                                      </p:tavLst>
                                    </p:anim>
                                  </p:childTnLst>
                                </p:cTn>
                              </p:par>
                              <p:par>
                                <p:cTn id="104" presetID="22" presetClass="entr" presetSubtype="8" fill="hold" grpId="0" nodeType="withEffect">
                                  <p:stCondLst>
                                    <p:cond delay="910"/>
                                  </p:stCondLst>
                                  <p:childTnLst>
                                    <p:set>
                                      <p:cBhvr>
                                        <p:cTn id="105" dur="1" fill="hold">
                                          <p:stCondLst>
                                            <p:cond delay="0"/>
                                          </p:stCondLst>
                                        </p:cTn>
                                        <p:tgtEl>
                                          <p:spTgt spid="39"/>
                                        </p:tgtEl>
                                        <p:attrNameLst>
                                          <p:attrName>style.visibility</p:attrName>
                                        </p:attrNameLst>
                                      </p:cBhvr>
                                      <p:to>
                                        <p:strVal val="visible"/>
                                      </p:to>
                                    </p:set>
                                    <p:animEffect transition="in" filter="wipe(left)">
                                      <p:cBhvr>
                                        <p:cTn id="106" dur="900"/>
                                        <p:tgtEl>
                                          <p:spTgt spid="39"/>
                                        </p:tgtEl>
                                      </p:cBhvr>
                                    </p:animEffect>
                                  </p:childTnLst>
                                </p:cTn>
                              </p:par>
                              <p:par>
                                <p:cTn id="107" presetID="10" presetClass="entr" presetSubtype="0" decel="100000" fill="hold" grpId="0" nodeType="withEffect">
                                  <p:stCondLst>
                                    <p:cond delay="1130"/>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600"/>
                                        <p:tgtEl>
                                          <p:spTgt spid="22"/>
                                        </p:tgtEl>
                                      </p:cBhvr>
                                    </p:animEffect>
                                  </p:childTnLst>
                                </p:cTn>
                              </p:par>
                              <p:par>
                                <p:cTn id="110" presetID="10" presetClass="entr" presetSubtype="0" decel="100000" fill="hold" grpId="0" nodeType="withEffect">
                                  <p:stCondLst>
                                    <p:cond delay="113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600"/>
                                        <p:tgtEl>
                                          <p:spTgt spid="36"/>
                                        </p:tgtEl>
                                      </p:cBhvr>
                                    </p:animEffect>
                                  </p:childTnLst>
                                </p:cTn>
                              </p:par>
                              <p:par>
                                <p:cTn id="113" presetID="10" presetClass="entr" presetSubtype="0" decel="100000" fill="hold" grpId="0" nodeType="withEffect">
                                  <p:stCondLst>
                                    <p:cond delay="113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5" dur="600"/>
                                        <p:tgtEl>
                                          <p:spTgt spid="37"/>
                                        </p:tgtEl>
                                      </p:cBhvr>
                                    </p:animEffect>
                                  </p:childTnLst>
                                </p:cTn>
                              </p:par>
                              <p:par>
                                <p:cTn id="116" presetID="42" presetClass="entr" presetSubtype="0" decel="100000" fill="hold" grpId="0" nodeType="withEffect">
                                  <p:stCondLst>
                                    <p:cond delay="1350"/>
                                  </p:stCondLst>
                                  <p:childTnLst>
                                    <p:set>
                                      <p:cBhvr>
                                        <p:cTn id="117" dur="1" fill="hold">
                                          <p:stCondLst>
                                            <p:cond delay="0"/>
                                          </p:stCondLst>
                                        </p:cTn>
                                        <p:tgtEl>
                                          <p:spTgt spid="40"/>
                                        </p:tgtEl>
                                        <p:attrNameLst>
                                          <p:attrName>style.visibility</p:attrName>
                                        </p:attrNameLst>
                                      </p:cBhvr>
                                      <p:to>
                                        <p:strVal val="visible"/>
                                      </p:to>
                                    </p:set>
                                    <p:animEffect transition="in" filter="fade">
                                      <p:cBhvr>
                                        <p:cTn id="118" dur="700"/>
                                        <p:tgtEl>
                                          <p:spTgt spid="40"/>
                                        </p:tgtEl>
                                      </p:cBhvr>
                                    </p:animEffect>
                                    <p:anim calcmode="lin" valueType="num">
                                      <p:cBhvr additive="base">
                                        <p:cTn id="119" dur="700" fill="hold"/>
                                        <p:tgtEl>
                                          <p:spTgt spid="40"/>
                                        </p:tgtEl>
                                        <p:attrNameLst>
                                          <p:attrName>ppt_y</p:attrName>
                                        </p:attrNameLst>
                                      </p:cBhvr>
                                      <p:tavLst>
                                        <p:tav tm="0">
                                          <p:val>
                                            <p:strVal val="#ppt_y+0.03"/>
                                          </p:val>
                                        </p:tav>
                                        <p:tav tm="100000">
                                          <p:val>
                                            <p:strVal val="#ppt_y"/>
                                          </p:val>
                                        </p:tav>
                                      </p:tavLst>
                                    </p:anim>
                                  </p:childTnLst>
                                </p:cTn>
                              </p:par>
                              <p:par>
                                <p:cTn id="120" presetID="42" presetClass="entr" presetSubtype="0" decel="100000" fill="hold" grpId="0" nodeType="withEffect">
                                  <p:stCondLst>
                                    <p:cond delay="1350"/>
                                  </p:stCondLst>
                                  <p:childTnLst>
                                    <p:set>
                                      <p:cBhvr>
                                        <p:cTn id="121" dur="1" fill="hold">
                                          <p:stCondLst>
                                            <p:cond delay="0"/>
                                          </p:stCondLst>
                                        </p:cTn>
                                        <p:tgtEl>
                                          <p:spTgt spid="41"/>
                                        </p:tgtEl>
                                        <p:attrNameLst>
                                          <p:attrName>style.visibility</p:attrName>
                                        </p:attrNameLst>
                                      </p:cBhvr>
                                      <p:to>
                                        <p:strVal val="visible"/>
                                      </p:to>
                                    </p:set>
                                    <p:animEffect transition="in" filter="fade">
                                      <p:cBhvr>
                                        <p:cTn id="122" dur="700"/>
                                        <p:tgtEl>
                                          <p:spTgt spid="41"/>
                                        </p:tgtEl>
                                      </p:cBhvr>
                                    </p:animEffect>
                                    <p:anim calcmode="lin" valueType="num">
                                      <p:cBhvr additive="base">
                                        <p:cTn id="123" dur="700" fill="hold"/>
                                        <p:tgtEl>
                                          <p:spTgt spid="41"/>
                                        </p:tgtEl>
                                        <p:attrNameLst>
                                          <p:attrName>ppt_y</p:attrName>
                                        </p:attrNameLst>
                                      </p:cBhvr>
                                      <p:tavLst>
                                        <p:tav tm="0">
                                          <p:val>
                                            <p:strVal val="#ppt_y+0.03"/>
                                          </p:val>
                                        </p:tav>
                                        <p:tav tm="100000">
                                          <p:val>
                                            <p:strVal val="#ppt_y"/>
                                          </p:val>
                                        </p:tav>
                                      </p:tavLst>
                                    </p:anim>
                                  </p:childTnLst>
                                </p:cTn>
                              </p:par>
                              <p:par>
                                <p:cTn id="124" presetID="42" presetClass="entr" presetSubtype="0" decel="100000" fill="hold" grpId="0" nodeType="withEffect">
                                  <p:stCondLst>
                                    <p:cond delay="135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700"/>
                                        <p:tgtEl>
                                          <p:spTgt spid="42"/>
                                        </p:tgtEl>
                                      </p:cBhvr>
                                    </p:animEffect>
                                    <p:anim calcmode="lin" valueType="num">
                                      <p:cBhvr additive="base">
                                        <p:cTn id="127" dur="700" fill="hold"/>
                                        <p:tgtEl>
                                          <p:spTgt spid="42"/>
                                        </p:tgtEl>
                                        <p:attrNameLst>
                                          <p:attrName>ppt_y</p:attrName>
                                        </p:attrNameLst>
                                      </p:cBhvr>
                                      <p:tavLst>
                                        <p:tav tm="0">
                                          <p:val>
                                            <p:strVal val="#ppt_y+0.03"/>
                                          </p:val>
                                        </p:tav>
                                        <p:tav tm="100000">
                                          <p:val>
                                            <p:strVal val="#ppt_y"/>
                                          </p:val>
                                        </p:tav>
                                      </p:tavLst>
                                    </p:anim>
                                  </p:childTnLst>
                                </p:cTn>
                              </p:par>
                              <p:par>
                                <p:cTn id="128" presetID="42" presetClass="entr" presetSubtype="0" decel="100000" fill="hold" grpId="0" nodeType="withEffect">
                                  <p:stCondLst>
                                    <p:cond delay="135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700"/>
                                        <p:tgtEl>
                                          <p:spTgt spid="43"/>
                                        </p:tgtEl>
                                      </p:cBhvr>
                                    </p:animEffect>
                                    <p:anim calcmode="lin" valueType="num">
                                      <p:cBhvr additive="base">
                                        <p:cTn id="131" dur="700" fill="hold"/>
                                        <p:tgtEl>
                                          <p:spTgt spid="43"/>
                                        </p:tgtEl>
                                        <p:attrNameLst>
                                          <p:attrName>ppt_y</p:attrName>
                                        </p:attrNameLst>
                                      </p:cBhvr>
                                      <p:tavLst>
                                        <p:tav tm="0">
                                          <p:val>
                                            <p:strVal val="#ppt_y+0.03"/>
                                          </p:val>
                                        </p:tav>
                                        <p:tav tm="100000">
                                          <p:val>
                                            <p:strVal val="#ppt_y"/>
                                          </p:val>
                                        </p:tav>
                                      </p:tavLst>
                                    </p:anim>
                                  </p:childTnLst>
                                </p:cTn>
                              </p:par>
                              <p:par>
                                <p:cTn id="132" presetID="42" presetClass="entr" presetSubtype="0" decel="100000" fill="hold" grpId="0" nodeType="withEffect">
                                  <p:stCondLst>
                                    <p:cond delay="1350"/>
                                  </p:stCondLst>
                                  <p:childTnLst>
                                    <p:set>
                                      <p:cBhvr>
                                        <p:cTn id="133" dur="1" fill="hold">
                                          <p:stCondLst>
                                            <p:cond delay="0"/>
                                          </p:stCondLst>
                                        </p:cTn>
                                        <p:tgtEl>
                                          <p:spTgt spid="44"/>
                                        </p:tgtEl>
                                        <p:attrNameLst>
                                          <p:attrName>style.visibility</p:attrName>
                                        </p:attrNameLst>
                                      </p:cBhvr>
                                      <p:to>
                                        <p:strVal val="visible"/>
                                      </p:to>
                                    </p:set>
                                    <p:animEffect transition="in" filter="fade">
                                      <p:cBhvr>
                                        <p:cTn id="134" dur="700"/>
                                        <p:tgtEl>
                                          <p:spTgt spid="44"/>
                                        </p:tgtEl>
                                      </p:cBhvr>
                                    </p:animEffect>
                                    <p:anim calcmode="lin" valueType="num">
                                      <p:cBhvr additive="base">
                                        <p:cTn id="135" dur="700" fill="hold"/>
                                        <p:tgtEl>
                                          <p:spTgt spid="44"/>
                                        </p:tgtEl>
                                        <p:attrNameLst>
                                          <p:attrName>ppt_y</p:attrName>
                                        </p:attrNameLst>
                                      </p:cBhvr>
                                      <p:tavLst>
                                        <p:tav tm="0">
                                          <p:val>
                                            <p:strVal val="#ppt_y+0.03"/>
                                          </p:val>
                                        </p:tav>
                                        <p:tav tm="100000">
                                          <p:val>
                                            <p:strVal val="#ppt_y"/>
                                          </p:val>
                                        </p:tav>
                                      </p:tavLst>
                                    </p:anim>
                                  </p:childTnLst>
                                </p:cTn>
                              </p:par>
                              <p:par>
                                <p:cTn id="136" presetID="42" presetClass="entr" presetSubtype="0" decel="100000" fill="hold" grpId="0" nodeType="withEffect">
                                  <p:stCondLst>
                                    <p:cond delay="1570"/>
                                  </p:stCondLst>
                                  <p:childTnLst>
                                    <p:set>
                                      <p:cBhvr>
                                        <p:cTn id="137" dur="1" fill="hold">
                                          <p:stCondLst>
                                            <p:cond delay="0"/>
                                          </p:stCondLst>
                                        </p:cTn>
                                        <p:tgtEl>
                                          <p:spTgt spid="45"/>
                                        </p:tgtEl>
                                        <p:attrNameLst>
                                          <p:attrName>style.visibility</p:attrName>
                                        </p:attrNameLst>
                                      </p:cBhvr>
                                      <p:to>
                                        <p:strVal val="visible"/>
                                      </p:to>
                                    </p:set>
                                    <p:animEffect transition="in" filter="fade">
                                      <p:cBhvr>
                                        <p:cTn id="138" dur="700"/>
                                        <p:tgtEl>
                                          <p:spTgt spid="45"/>
                                        </p:tgtEl>
                                      </p:cBhvr>
                                    </p:animEffect>
                                    <p:anim calcmode="lin" valueType="num">
                                      <p:cBhvr additive="base">
                                        <p:cTn id="139" dur="700" fill="hold"/>
                                        <p:tgtEl>
                                          <p:spTgt spid="45"/>
                                        </p:tgtEl>
                                        <p:attrNameLst>
                                          <p:attrName>ppt_y</p:attrName>
                                        </p:attrNameLst>
                                      </p:cBhvr>
                                      <p:tavLst>
                                        <p:tav tm="0">
                                          <p:val>
                                            <p:strVal val="#ppt_y+0.03"/>
                                          </p:val>
                                        </p:tav>
                                        <p:tav tm="100000">
                                          <p:val>
                                            <p:strVal val="#ppt_y"/>
                                          </p:val>
                                        </p:tav>
                                      </p:tavLst>
                                    </p:anim>
                                  </p:childTnLst>
                                </p:cTn>
                              </p:par>
                              <p:par>
                                <p:cTn id="140" presetID="42" presetClass="entr" presetSubtype="0" decel="100000" fill="hold" grpId="0" nodeType="withEffect">
                                  <p:stCondLst>
                                    <p:cond delay="1570"/>
                                  </p:stCondLst>
                                  <p:childTnLst>
                                    <p:set>
                                      <p:cBhvr>
                                        <p:cTn id="141" dur="1" fill="hold">
                                          <p:stCondLst>
                                            <p:cond delay="0"/>
                                          </p:stCondLst>
                                        </p:cTn>
                                        <p:tgtEl>
                                          <p:spTgt spid="46"/>
                                        </p:tgtEl>
                                        <p:attrNameLst>
                                          <p:attrName>style.visibility</p:attrName>
                                        </p:attrNameLst>
                                      </p:cBhvr>
                                      <p:to>
                                        <p:strVal val="visible"/>
                                      </p:to>
                                    </p:set>
                                    <p:animEffect transition="in" filter="fade">
                                      <p:cBhvr>
                                        <p:cTn id="142" dur="700"/>
                                        <p:tgtEl>
                                          <p:spTgt spid="46"/>
                                        </p:tgtEl>
                                      </p:cBhvr>
                                    </p:animEffect>
                                    <p:anim calcmode="lin" valueType="num">
                                      <p:cBhvr additive="base">
                                        <p:cTn id="143" dur="700" fill="hold"/>
                                        <p:tgtEl>
                                          <p:spTgt spid="46"/>
                                        </p:tgtEl>
                                        <p:attrNameLst>
                                          <p:attrName>ppt_y</p:attrName>
                                        </p:attrNameLst>
                                      </p:cBhvr>
                                      <p:tavLst>
                                        <p:tav tm="0">
                                          <p:val>
                                            <p:strVal val="#ppt_y+0.03"/>
                                          </p:val>
                                        </p:tav>
                                        <p:tav tm="100000">
                                          <p:val>
                                            <p:strVal val="#ppt_y"/>
                                          </p:val>
                                        </p:tav>
                                      </p:tavLst>
                                    </p:anim>
                                  </p:childTnLst>
                                </p:cTn>
                              </p:par>
                              <p:par>
                                <p:cTn id="144" presetID="42" presetClass="entr" presetSubtype="0" decel="100000" fill="hold" grpId="0" nodeType="withEffect">
                                  <p:stCondLst>
                                    <p:cond delay="1570"/>
                                  </p:stCondLst>
                                  <p:childTnLst>
                                    <p:set>
                                      <p:cBhvr>
                                        <p:cTn id="145" dur="1" fill="hold">
                                          <p:stCondLst>
                                            <p:cond delay="0"/>
                                          </p:stCondLst>
                                        </p:cTn>
                                        <p:tgtEl>
                                          <p:spTgt spid="47"/>
                                        </p:tgtEl>
                                        <p:attrNameLst>
                                          <p:attrName>style.visibility</p:attrName>
                                        </p:attrNameLst>
                                      </p:cBhvr>
                                      <p:to>
                                        <p:strVal val="visible"/>
                                      </p:to>
                                    </p:set>
                                    <p:animEffect transition="in" filter="fade">
                                      <p:cBhvr>
                                        <p:cTn id="146" dur="700"/>
                                        <p:tgtEl>
                                          <p:spTgt spid="47"/>
                                        </p:tgtEl>
                                      </p:cBhvr>
                                    </p:animEffect>
                                    <p:anim calcmode="lin" valueType="num">
                                      <p:cBhvr additive="base">
                                        <p:cTn id="147" dur="700" fill="hold"/>
                                        <p:tgtEl>
                                          <p:spTgt spid="47"/>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p:bldP spid="40" grpId="0" animBg="1"/>
      <p:bldP spid="41" grpId="0" animBg="1"/>
      <p:bldP spid="42" grpId="0"/>
      <p:bldP spid="43" grpId="0" animBg="1"/>
      <p:bldP spid="44" grpId="0" animBg="1"/>
      <p:bldP spid="45" grpId="0" animBg="1"/>
      <p:bldP spid="46" grpId="0" animBg="1"/>
      <p:bldP spid="4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5">
            <a:alphaModFix amt="38000"/>
          </a:blip>
          <a:stretch>
            <a:fillRect/>
          </a:stretch>
        </p:blipFill>
        <p:spPr>
          <a:xfrm>
            <a:off x="-1828800" y="-2560320"/>
            <a:ext cx="5486400" cy="5486400"/>
          </a:xfrm>
          <a:prstGeom prst="rect">
            <a:avLst/>
          </a:prstGeom>
        </p:spPr>
      </p:pic>
      <p:pic>
        <p:nvPicPr>
          <p:cNvPr id="3" name="!!glow2" descr="C:\Users\nahla\Desktop\UAE-Space-Hackatoon\deck_pptx\build\assets\glow_blue.png"/>
          <p:cNvPicPr>
            <a:picLocks noChangeAspect="1"/>
          </p:cNvPicPr>
          <p:nvPr/>
        </p:nvPicPr>
        <p:blipFill>
          <a:blip r:embed="rId6">
            <a:alphaModFix amt="35000"/>
          </a:blip>
          <a:stretch>
            <a:fillRect/>
          </a:stretch>
        </p:blipFill>
        <p:spPr>
          <a:xfrm>
            <a:off x="8229600" y="3108960"/>
            <a:ext cx="5943600" cy="59436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TECHNICAL INNOVATION 2</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A stand average hides partial loss. 200 m cells do not.</a:t>
            </a:r>
            <a:endParaRPr lang="en-US" sz="3400" dirty="0"/>
          </a:p>
        </p:txBody>
      </p:sp>
      <p:pic>
        <p:nvPicPr>
          <p:cNvPr id="6" name="video_cells">
            <a:hlinkClick r:id="" action="ppaction://media"/>
            <a:extLst>
              <a:ext uri="{FF2B5EF4-FFF2-40B4-BE49-F238E27FC236}">
                <a16:creationId xmlns:a16="http://schemas.microsoft.com/office/drawing/2014/main" id="{95D0BD3E-EC10-C364-E790-5951DB9B5D5F}"/>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548640" y="1691640"/>
            <a:ext cx="7038706" cy="3328416"/>
          </a:xfrm>
          <a:prstGeom prst="rect">
            <a:avLst/>
          </a:prstGeom>
        </p:spPr>
      </p:pic>
      <p:sp>
        <p:nvSpPr>
          <p:cNvPr id="8" name="a2fade_storyc"/>
          <p:cNvSpPr txBox="1"/>
          <p:nvPr/>
        </p:nvSpPr>
        <p:spPr>
          <a:xfrm>
            <a:off x="548640" y="5074920"/>
            <a:ext cx="704088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Real stand-5 data, 2022 → 2026: cells turn red while the stand average barely moves.</a:t>
            </a:r>
            <a:endParaRPr lang="en-US" sz="1100" dirty="0"/>
          </a:p>
        </p:txBody>
      </p:sp>
      <p:sp>
        <p:nvSpPr>
          <p:cNvPr id="9" name="a5fade_bl"/>
          <p:cNvSpPr txBox="1"/>
          <p:nvPr/>
        </p:nvSpPr>
        <p:spPr>
          <a:xfrm>
            <a:off x="548640" y="5468112"/>
            <a:ext cx="2834640" cy="548640"/>
          </a:xfrm>
          <a:prstGeom prst="rect">
            <a:avLst/>
          </a:prstGeom>
          <a:noFill/>
          <a:ln/>
        </p:spPr>
        <p:txBody>
          <a:bodyPr wrap="square" lIns="0" tIns="0" rIns="0" bIns="0" rtlCol="0" anchor="t"/>
          <a:lstStyle/>
          <a:p>
            <a:pPr marL="0" indent="0" algn="l">
              <a:lnSpc>
                <a:spcPct val="105000"/>
              </a:lnSpc>
              <a:buNone/>
            </a:pPr>
            <a:r>
              <a:rPr lang="en-US" sz="1300" dirty="0">
                <a:solidFill>
                  <a:srgbClr val="1B2B40"/>
                </a:solidFill>
                <a:latin typeface="Segoe UI Semibold" pitchFamily="34" charset="0"/>
                <a:ea typeface="Segoe UI Semibold" pitchFamily="34" charset="-122"/>
                <a:cs typeface="Segoe UI Semibold" pitchFamily="34" charset="-120"/>
              </a:rPr>
              <a:t>Partial loss caught within 60 days (simulated)</a:t>
            </a:r>
            <a:endParaRPr lang="en-US" sz="1300" dirty="0"/>
          </a:p>
        </p:txBody>
      </p:sp>
      <p:sp>
        <p:nvSpPr>
          <p:cNvPr id="10" name="a6wipe_b0"/>
          <p:cNvSpPr/>
          <p:nvPr/>
        </p:nvSpPr>
        <p:spPr>
          <a:xfrm>
            <a:off x="3566160" y="5486400"/>
            <a:ext cx="1234440" cy="182880"/>
          </a:xfrm>
          <a:prstGeom prst="roundRect">
            <a:avLst>
              <a:gd name="adj" fmla="val 50000"/>
            </a:avLst>
          </a:prstGeom>
          <a:solidFill>
            <a:srgbClr val="3F6E9E"/>
          </a:solidFill>
          <a:ln/>
        </p:spPr>
      </p:sp>
      <p:sp>
        <p:nvSpPr>
          <p:cNvPr id="11" name="a6fade_bt0"/>
          <p:cNvSpPr txBox="1"/>
          <p:nvPr/>
        </p:nvSpPr>
        <p:spPr>
          <a:xfrm>
            <a:off x="3566160" y="5742432"/>
            <a:ext cx="1325880" cy="411480"/>
          </a:xfrm>
          <a:prstGeom prst="rect">
            <a:avLst/>
          </a:prstGeom>
          <a:noFill/>
          <a:ln/>
        </p:spPr>
        <p:txBody>
          <a:bodyPr wrap="square" lIns="0" tIns="0" rIns="0" bIns="0" rtlCol="0" anchor="t"/>
          <a:lstStyle/>
          <a:p>
            <a:pPr marL="0" indent="0" algn="l">
              <a:lnSpc>
                <a:spcPct val="105000"/>
              </a:lnSpc>
              <a:buNone/>
            </a:pPr>
            <a:r>
              <a:rPr lang="en-US" sz="1100" b="1" dirty="0">
                <a:solidFill>
                  <a:srgbClr val="2F5D8F"/>
                </a:solidFill>
                <a:latin typeface="Segoe UI" pitchFamily="34" charset="0"/>
                <a:ea typeface="Segoe UI" pitchFamily="34" charset="-122"/>
                <a:cs typeface="Segoe UI" pitchFamily="34" charset="-120"/>
              </a:rPr>
              <a:t>73 %  </a:t>
            </a:r>
            <a:r>
              <a:rPr lang="en-US" sz="1100" dirty="0">
                <a:solidFill>
                  <a:srgbClr val="5F738A"/>
                </a:solidFill>
                <a:latin typeface="Segoe UI" pitchFamily="34" charset="0"/>
                <a:ea typeface="Segoe UI" pitchFamily="34" charset="-122"/>
                <a:cs typeface="Segoe UI" pitchFamily="34" charset="-120"/>
              </a:rPr>
              <a:t>stand + cells</a:t>
            </a:r>
            <a:endParaRPr lang="en-US" sz="1100" dirty="0"/>
          </a:p>
        </p:txBody>
      </p:sp>
      <p:sp>
        <p:nvSpPr>
          <p:cNvPr id="12" name="a7wipe_b1"/>
          <p:cNvSpPr/>
          <p:nvPr/>
        </p:nvSpPr>
        <p:spPr>
          <a:xfrm>
            <a:off x="4937760" y="5486400"/>
            <a:ext cx="422753" cy="182880"/>
          </a:xfrm>
          <a:prstGeom prst="roundRect">
            <a:avLst>
              <a:gd name="adj" fmla="val 50000"/>
            </a:avLst>
          </a:prstGeom>
          <a:solidFill>
            <a:srgbClr val="5C8DB8"/>
          </a:solidFill>
          <a:ln/>
        </p:spPr>
      </p:sp>
      <p:sp>
        <p:nvSpPr>
          <p:cNvPr id="13" name="a7fade_bt1"/>
          <p:cNvSpPr txBox="1"/>
          <p:nvPr/>
        </p:nvSpPr>
        <p:spPr>
          <a:xfrm>
            <a:off x="4937760" y="5742432"/>
            <a:ext cx="1325880" cy="411480"/>
          </a:xfrm>
          <a:prstGeom prst="rect">
            <a:avLst/>
          </a:prstGeom>
          <a:noFill/>
          <a:ln/>
        </p:spPr>
        <p:txBody>
          <a:bodyPr wrap="square" lIns="0" tIns="0" rIns="0" bIns="0" rtlCol="0" anchor="t"/>
          <a:lstStyle/>
          <a:p>
            <a:pPr marL="0" indent="0" algn="l">
              <a:lnSpc>
                <a:spcPct val="105000"/>
              </a:lnSpc>
              <a:buNone/>
            </a:pPr>
            <a:r>
              <a:rPr lang="en-US" sz="1100" b="1" dirty="0">
                <a:solidFill>
                  <a:srgbClr val="1B2B40"/>
                </a:solidFill>
                <a:latin typeface="Segoe UI" pitchFamily="34" charset="0"/>
                <a:ea typeface="Segoe UI" pitchFamily="34" charset="-122"/>
                <a:cs typeface="Segoe UI" pitchFamily="34" charset="-120"/>
              </a:rPr>
              <a:t>25 %  </a:t>
            </a:r>
            <a:r>
              <a:rPr lang="en-US" sz="1100" dirty="0">
                <a:solidFill>
                  <a:srgbClr val="5F738A"/>
                </a:solidFill>
                <a:latin typeface="Segoe UI" pitchFamily="34" charset="0"/>
                <a:ea typeface="Segoe UI" pitchFamily="34" charset="-122"/>
                <a:cs typeface="Segoe UI" pitchFamily="34" charset="-120"/>
              </a:rPr>
              <a:t>stand alone</a:t>
            </a:r>
            <a:endParaRPr lang="en-US" sz="1100" dirty="0"/>
          </a:p>
        </p:txBody>
      </p:sp>
      <p:sp>
        <p:nvSpPr>
          <p:cNvPr id="14" name="a8wipe_b2"/>
          <p:cNvSpPr/>
          <p:nvPr/>
        </p:nvSpPr>
        <p:spPr>
          <a:xfrm>
            <a:off x="6309360" y="5486400"/>
            <a:ext cx="219832" cy="182880"/>
          </a:xfrm>
          <a:prstGeom prst="roundRect">
            <a:avLst>
              <a:gd name="adj" fmla="val 50000"/>
            </a:avLst>
          </a:prstGeom>
          <a:solidFill>
            <a:srgbClr val="B9C6D4"/>
          </a:solidFill>
          <a:ln/>
        </p:spPr>
      </p:sp>
      <p:sp>
        <p:nvSpPr>
          <p:cNvPr id="15" name="a8fade_bt2"/>
          <p:cNvSpPr txBox="1"/>
          <p:nvPr/>
        </p:nvSpPr>
        <p:spPr>
          <a:xfrm>
            <a:off x="6309360" y="5742432"/>
            <a:ext cx="1325880" cy="411480"/>
          </a:xfrm>
          <a:prstGeom prst="rect">
            <a:avLst/>
          </a:prstGeom>
          <a:noFill/>
          <a:ln/>
        </p:spPr>
        <p:txBody>
          <a:bodyPr wrap="square" lIns="0" tIns="0" rIns="0" bIns="0" rtlCol="0" anchor="t"/>
          <a:lstStyle/>
          <a:p>
            <a:pPr marL="0" indent="0" algn="l">
              <a:lnSpc>
                <a:spcPct val="105000"/>
              </a:lnSpc>
              <a:buNone/>
            </a:pPr>
            <a:r>
              <a:rPr lang="en-US" sz="1100" b="1" dirty="0">
                <a:solidFill>
                  <a:srgbClr val="1B2B40"/>
                </a:solidFill>
                <a:latin typeface="Segoe UI" pitchFamily="34" charset="0"/>
                <a:ea typeface="Segoe UI" pitchFamily="34" charset="-122"/>
                <a:cs typeface="Segoe UI" pitchFamily="34" charset="-120"/>
              </a:rPr>
              <a:t>13 %  </a:t>
            </a:r>
            <a:r>
              <a:rPr lang="en-US" sz="1100" dirty="0">
                <a:solidFill>
                  <a:srgbClr val="5F738A"/>
                </a:solidFill>
                <a:latin typeface="Segoe UI" pitchFamily="34" charset="0"/>
                <a:ea typeface="Segoe UI" pitchFamily="34" charset="-122"/>
                <a:cs typeface="Segoe UI" pitchFamily="34" charset="-120"/>
              </a:rPr>
              <a:t>by chance</a:t>
            </a:r>
            <a:endParaRPr lang="en-US" sz="1100" dirty="0"/>
          </a:p>
        </p:txBody>
      </p:sp>
      <p:sp>
        <p:nvSpPr>
          <p:cNvPr id="16" name="a2float_c0"/>
          <p:cNvSpPr/>
          <p:nvPr/>
        </p:nvSpPr>
        <p:spPr>
          <a:xfrm>
            <a:off x="7818120" y="1691640"/>
            <a:ext cx="3822192" cy="1353312"/>
          </a:xfrm>
          <a:prstGeom prst="roundRect">
            <a:avLst>
              <a:gd name="adj" fmla="val 9459"/>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7" name="a2float_c0n"/>
          <p:cNvSpPr txBox="1"/>
          <p:nvPr/>
        </p:nvSpPr>
        <p:spPr>
          <a:xfrm>
            <a:off x="8046720" y="1828800"/>
            <a:ext cx="3474720" cy="594360"/>
          </a:xfrm>
          <a:prstGeom prst="rect">
            <a:avLst/>
          </a:prstGeom>
          <a:noFill/>
          <a:ln/>
        </p:spPr>
        <p:txBody>
          <a:bodyPr wrap="square" lIns="0" tIns="0" rIns="0" bIns="0" rtlCol="0" anchor="t"/>
          <a:lstStyle/>
          <a:p>
            <a:pPr marL="0" indent="0" algn="l">
              <a:lnSpc>
                <a:spcPct val="105000"/>
              </a:lnSpc>
              <a:buNone/>
            </a:pPr>
            <a:r>
              <a:rPr lang="en-US" sz="3400" dirty="0">
                <a:solidFill>
                  <a:srgbClr val="BE5F6D"/>
                </a:solidFill>
                <a:latin typeface="Segoe UI Light" pitchFamily="34" charset="0"/>
                <a:ea typeface="Segoe UI Light" pitchFamily="34" charset="-122"/>
                <a:cs typeface="Segoe UI Light" pitchFamily="34" charset="-120"/>
              </a:rPr>
              <a:t>8 of 28</a:t>
            </a:r>
            <a:endParaRPr lang="en-US" sz="3400" dirty="0"/>
          </a:p>
        </p:txBody>
      </p:sp>
      <p:sp>
        <p:nvSpPr>
          <p:cNvPr id="18" name="a2float_c0t"/>
          <p:cNvSpPr txBox="1"/>
          <p:nvPr/>
        </p:nvSpPr>
        <p:spPr>
          <a:xfrm>
            <a:off x="8046720" y="2441448"/>
            <a:ext cx="3429000" cy="548640"/>
          </a:xfrm>
          <a:prstGeom prst="rect">
            <a:avLst/>
          </a:prstGeom>
          <a:noFill/>
          <a:ln/>
        </p:spPr>
        <p:txBody>
          <a:bodyPr wrap="square" lIns="0" tIns="0" rIns="0" bIns="0" rtlCol="0" anchor="t"/>
          <a:lstStyle/>
          <a:p>
            <a:pPr marL="0" indent="0" algn="l">
              <a:lnSpc>
                <a:spcPct val="105000"/>
              </a:lnSpc>
              <a:buNone/>
            </a:pPr>
            <a:r>
              <a:rPr lang="en-US" sz="1300" dirty="0">
                <a:solidFill>
                  <a:srgbClr val="1B2B40"/>
                </a:solidFill>
                <a:latin typeface="Segoe UI" pitchFamily="34" charset="0"/>
                <a:ea typeface="Segoe UI" pitchFamily="34" charset="-122"/>
                <a:cs typeface="Segoe UI" pitchFamily="34" charset="-120"/>
              </a:rPr>
              <a:t>cells of stand 9 in severe decline while its average reads “stable”</a:t>
            </a:r>
            <a:endParaRPr lang="en-US" sz="1300" dirty="0"/>
          </a:p>
        </p:txBody>
      </p:sp>
      <p:sp>
        <p:nvSpPr>
          <p:cNvPr id="19" name="a3float_c1"/>
          <p:cNvSpPr/>
          <p:nvPr/>
        </p:nvSpPr>
        <p:spPr>
          <a:xfrm>
            <a:off x="7818120" y="3172968"/>
            <a:ext cx="3822192" cy="1353312"/>
          </a:xfrm>
          <a:prstGeom prst="roundRect">
            <a:avLst>
              <a:gd name="adj" fmla="val 9459"/>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20" name="a3float_c1n"/>
          <p:cNvSpPr txBox="1"/>
          <p:nvPr/>
        </p:nvSpPr>
        <p:spPr>
          <a:xfrm>
            <a:off x="8046720" y="3310128"/>
            <a:ext cx="3474720" cy="594360"/>
          </a:xfrm>
          <a:prstGeom prst="rect">
            <a:avLst/>
          </a:prstGeom>
          <a:noFill/>
          <a:ln/>
        </p:spPr>
        <p:txBody>
          <a:bodyPr wrap="square" lIns="0" tIns="0" rIns="0" bIns="0" rtlCol="0" anchor="t"/>
          <a:lstStyle/>
          <a:p>
            <a:pPr marL="0" indent="0" algn="l">
              <a:lnSpc>
                <a:spcPct val="105000"/>
              </a:lnSpc>
              <a:buNone/>
            </a:pPr>
            <a:r>
              <a:rPr lang="en-US" sz="3400" dirty="0">
                <a:solidFill>
                  <a:srgbClr val="A9813A"/>
                </a:solidFill>
                <a:latin typeface="Segoe UI Light" pitchFamily="34" charset="0"/>
                <a:ea typeface="Segoe UI Light" pitchFamily="34" charset="-122"/>
                <a:cs typeface="Segoe UI Light" pitchFamily="34" charset="-120"/>
              </a:rPr>
              <a:t>3 of 5</a:t>
            </a:r>
            <a:endParaRPr lang="en-US" sz="3400" dirty="0"/>
          </a:p>
        </p:txBody>
      </p:sp>
      <p:sp>
        <p:nvSpPr>
          <p:cNvPr id="21" name="a3float_c1t"/>
          <p:cNvSpPr txBox="1"/>
          <p:nvPr/>
        </p:nvSpPr>
        <p:spPr>
          <a:xfrm>
            <a:off x="8046720" y="3922776"/>
            <a:ext cx="3429000" cy="548640"/>
          </a:xfrm>
          <a:prstGeom prst="rect">
            <a:avLst/>
          </a:prstGeom>
          <a:noFill/>
          <a:ln/>
        </p:spPr>
        <p:txBody>
          <a:bodyPr wrap="square" lIns="0" tIns="0" rIns="0" bIns="0" rtlCol="0" anchor="t"/>
          <a:lstStyle/>
          <a:p>
            <a:pPr marL="0" indent="0" algn="l">
              <a:lnSpc>
                <a:spcPct val="105000"/>
              </a:lnSpc>
              <a:buNone/>
            </a:pPr>
            <a:r>
              <a:rPr lang="en-US" sz="1300" dirty="0">
                <a:solidFill>
                  <a:srgbClr val="1B2B40"/>
                </a:solidFill>
                <a:latin typeface="Segoe UI" pitchFamily="34" charset="0"/>
                <a:ea typeface="Segoe UI" pitchFamily="34" charset="-122"/>
                <a:cs typeface="Segoe UI" pitchFamily="34" charset="-120"/>
              </a:rPr>
              <a:t>real conversions found only by the cells (stands 12, 18, 6)</a:t>
            </a:r>
            <a:endParaRPr lang="en-US" sz="1300" dirty="0"/>
          </a:p>
        </p:txBody>
      </p:sp>
      <p:sp>
        <p:nvSpPr>
          <p:cNvPr id="22" name="a4float_rule"/>
          <p:cNvSpPr/>
          <p:nvPr/>
        </p:nvSpPr>
        <p:spPr>
          <a:xfrm>
            <a:off x="7818120" y="4654296"/>
            <a:ext cx="3822192" cy="1517904"/>
          </a:xfrm>
          <a:prstGeom prst="roundRect">
            <a:avLst>
              <a:gd name="adj" fmla="val 8434"/>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sp>
      <p:sp>
        <p:nvSpPr>
          <p:cNvPr id="23" name="a4float_rulel"/>
          <p:cNvSpPr txBox="1"/>
          <p:nvPr/>
        </p:nvSpPr>
        <p:spPr>
          <a:xfrm>
            <a:off x="8046720" y="4791456"/>
            <a:ext cx="32004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ONE ALERT RULE</a:t>
            </a:r>
            <a:endParaRPr lang="en-US" sz="1100" dirty="0"/>
          </a:p>
        </p:txBody>
      </p:sp>
      <p:sp>
        <p:nvSpPr>
          <p:cNvPr id="24" name="a4float_r1_bg"/>
          <p:cNvSpPr/>
          <p:nvPr/>
        </p:nvSpPr>
        <p:spPr>
          <a:xfrm>
            <a:off x="8046720" y="5120640"/>
            <a:ext cx="1463040" cy="365760"/>
          </a:xfrm>
          <a:prstGeom prst="roundRect">
            <a:avLst>
              <a:gd name="adj" fmla="val 50000"/>
            </a:avLst>
          </a:prstGeom>
          <a:solidFill>
            <a:srgbClr val="3F6E9E">
              <a:alpha val="15000"/>
            </a:srgbClr>
          </a:solidFill>
          <a:ln w="9525">
            <a:solidFill>
              <a:srgbClr val="3F6E9E"/>
            </a:solidFill>
            <a:prstDash val="solid"/>
          </a:ln>
        </p:spPr>
      </p:sp>
      <p:sp>
        <p:nvSpPr>
          <p:cNvPr id="25" name="a4float_r1"/>
          <p:cNvSpPr txBox="1"/>
          <p:nvPr/>
        </p:nvSpPr>
        <p:spPr>
          <a:xfrm>
            <a:off x="8046720" y="5120640"/>
            <a:ext cx="1463040" cy="365760"/>
          </a:xfrm>
          <a:prstGeom prst="rect">
            <a:avLst/>
          </a:prstGeom>
          <a:noFill/>
          <a:ln/>
        </p:spPr>
        <p:txBody>
          <a:bodyPr wrap="square" lIns="0" tIns="0" rIns="0" bIns="0" rtlCol="0" anchor="ctr"/>
          <a:lstStyle/>
          <a:p>
            <a:pPr marL="0" indent="0" algn="ctr">
              <a:lnSpc>
                <a:spcPct val="105000"/>
              </a:lnSpc>
              <a:buNone/>
            </a:pPr>
            <a:r>
              <a:rPr lang="en-US" sz="1300" dirty="0">
                <a:solidFill>
                  <a:srgbClr val="2F5D8F"/>
                </a:solidFill>
                <a:latin typeface="Segoe UI Semibold" pitchFamily="34" charset="0"/>
                <a:ea typeface="Segoe UI Semibold" pitchFamily="34" charset="-122"/>
                <a:cs typeface="Segoe UI Semibold" pitchFamily="34" charset="-120"/>
              </a:rPr>
              <a:t>stand ≤ −1.5σ</a:t>
            </a:r>
            <a:endParaRPr lang="en-US" sz="1300" dirty="0"/>
          </a:p>
        </p:txBody>
      </p:sp>
      <p:sp>
        <p:nvSpPr>
          <p:cNvPr id="26" name="a4float_or"/>
          <p:cNvSpPr txBox="1"/>
          <p:nvPr/>
        </p:nvSpPr>
        <p:spPr>
          <a:xfrm>
            <a:off x="9555480" y="5120640"/>
            <a:ext cx="411480" cy="365760"/>
          </a:xfrm>
          <a:prstGeom prst="rect">
            <a:avLst/>
          </a:prstGeom>
          <a:noFill/>
          <a:ln/>
        </p:spPr>
        <p:txBody>
          <a:bodyPr wrap="square" lIns="0" tIns="0" rIns="0" bIns="0" rtlCol="0" anchor="ctr"/>
          <a:lstStyle/>
          <a:p>
            <a:pPr marL="0" indent="0" algn="ctr">
              <a:lnSpc>
                <a:spcPct val="105000"/>
              </a:lnSpc>
              <a:buNone/>
            </a:pPr>
            <a:r>
              <a:rPr lang="en-US" sz="1300" dirty="0">
                <a:solidFill>
                  <a:srgbClr val="A9813A"/>
                </a:solidFill>
                <a:latin typeface="Segoe UI Semibold" pitchFamily="34" charset="0"/>
                <a:ea typeface="Segoe UI Semibold" pitchFamily="34" charset="-122"/>
                <a:cs typeface="Segoe UI Semibold" pitchFamily="34" charset="-120"/>
              </a:rPr>
              <a:t>OR</a:t>
            </a:r>
            <a:endParaRPr lang="en-US" sz="1300" dirty="0"/>
          </a:p>
        </p:txBody>
      </p:sp>
      <p:sp>
        <p:nvSpPr>
          <p:cNvPr id="27" name="a4float_r2_bg"/>
          <p:cNvSpPr/>
          <p:nvPr/>
        </p:nvSpPr>
        <p:spPr>
          <a:xfrm>
            <a:off x="10012680" y="5120640"/>
            <a:ext cx="1481328" cy="365760"/>
          </a:xfrm>
          <a:prstGeom prst="roundRect">
            <a:avLst>
              <a:gd name="adj" fmla="val 50000"/>
            </a:avLst>
          </a:prstGeom>
          <a:solidFill>
            <a:srgbClr val="BE5F6D">
              <a:alpha val="15000"/>
            </a:srgbClr>
          </a:solidFill>
          <a:ln w="9525">
            <a:solidFill>
              <a:srgbClr val="BE5F6D"/>
            </a:solidFill>
            <a:prstDash val="solid"/>
          </a:ln>
        </p:spPr>
      </p:sp>
      <p:sp>
        <p:nvSpPr>
          <p:cNvPr id="28" name="a4float_r2"/>
          <p:cNvSpPr txBox="1"/>
          <p:nvPr/>
        </p:nvSpPr>
        <p:spPr>
          <a:xfrm>
            <a:off x="10012680" y="5120640"/>
            <a:ext cx="1481328" cy="365760"/>
          </a:xfrm>
          <a:prstGeom prst="rect">
            <a:avLst/>
          </a:prstGeom>
          <a:noFill/>
          <a:ln/>
        </p:spPr>
        <p:txBody>
          <a:bodyPr wrap="square" lIns="0" tIns="0" rIns="0" bIns="0" rtlCol="0" anchor="ctr"/>
          <a:lstStyle/>
          <a:p>
            <a:pPr marL="0" indent="0" algn="ctr">
              <a:lnSpc>
                <a:spcPct val="105000"/>
              </a:lnSpc>
              <a:buNone/>
            </a:pPr>
            <a:r>
              <a:rPr lang="en-US" sz="1300" dirty="0">
                <a:solidFill>
                  <a:srgbClr val="A04B58"/>
                </a:solidFill>
                <a:latin typeface="Segoe UI Semibold" pitchFamily="34" charset="0"/>
                <a:ea typeface="Segoe UI Semibold" pitchFamily="34" charset="-122"/>
                <a:cs typeface="Segoe UI Semibold" pitchFamily="34" charset="-120"/>
              </a:rPr>
              <a:t>any cell ≤ −3.5σ</a:t>
            </a:r>
            <a:endParaRPr lang="en-US" sz="1300" dirty="0"/>
          </a:p>
        </p:txBody>
      </p:sp>
      <p:sp>
        <p:nvSpPr>
          <p:cNvPr id="29" name="a4float_rulet"/>
          <p:cNvSpPr txBox="1"/>
          <p:nvPr/>
        </p:nvSpPr>
        <p:spPr>
          <a:xfrm>
            <a:off x="8046720" y="5596128"/>
            <a:ext cx="347472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calibrated together: 0.96 false-alarm episodes per stand-year</a:t>
            </a:r>
            <a:endParaRPr lang="en-US" sz="1200" dirty="0"/>
          </a:p>
        </p:txBody>
      </p:sp>
      <p:sp>
        <p:nvSpPr>
          <p:cNvPr id="30"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300"/>
                                  </p:stCondLst>
                                  <p:childTnLst>
                                    <p:cmd type="call" cmd="playFrom(0.0)">
                                      <p:cBhvr>
                                        <p:cTn id="6" dur="14000" fill="hold"/>
                                        <p:tgtEl>
                                          <p:spTgt spid="6"/>
                                        </p:tgtEl>
                                      </p:cBhvr>
                                    </p:cmd>
                                  </p:childTnLst>
                                </p:cTn>
                              </p:par>
                              <p:par>
                                <p:cTn id="7" presetID="10" presetClass="entr" presetSubtype="0" decel="100000" fill="hold" grpId="0" nodeType="withEffect">
                                  <p:stCondLst>
                                    <p:cond delay="25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42" presetClass="entr" presetSubtype="0" decel="10000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700"/>
                                        <p:tgtEl>
                                          <p:spTgt spid="5"/>
                                        </p:tgtEl>
                                      </p:cBhvr>
                                    </p:animEffect>
                                    <p:anim calcmode="lin" valueType="num">
                                      <p:cBhvr additive="base">
                                        <p:cTn id="13" dur="700" fill="hold"/>
                                        <p:tgtEl>
                                          <p:spTgt spid="5"/>
                                        </p:tgtEl>
                                        <p:attrNameLst>
                                          <p:attrName>ppt_y</p:attrName>
                                        </p:attrNameLst>
                                      </p:cBhvr>
                                      <p:tavLst>
                                        <p:tav tm="0">
                                          <p:val>
                                            <p:strVal val="#ppt_y+0.03"/>
                                          </p:val>
                                        </p:tav>
                                        <p:tav tm="100000">
                                          <p:val>
                                            <p:strVal val="#ppt_y"/>
                                          </p:val>
                                        </p:tav>
                                      </p:tavLst>
                                    </p:anim>
                                  </p:childTnLst>
                                </p:cTn>
                              </p:par>
                              <p:par>
                                <p:cTn id="14" presetID="10" presetClass="entr" presetSubtype="0" decel="100000" fill="hold" grpId="0" nodeType="withEffect">
                                  <p:stCondLst>
                                    <p:cond delay="69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600"/>
                                        <p:tgtEl>
                                          <p:spTgt spid="8"/>
                                        </p:tgtEl>
                                      </p:cBhvr>
                                    </p:animEffect>
                                  </p:childTnLst>
                                </p:cTn>
                              </p:par>
                              <p:par>
                                <p:cTn id="17" presetID="42" presetClass="entr" presetSubtype="0" decel="100000" fill="hold" grpId="0" nodeType="withEffect">
                                  <p:stCondLst>
                                    <p:cond delay="69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700"/>
                                        <p:tgtEl>
                                          <p:spTgt spid="16"/>
                                        </p:tgtEl>
                                      </p:cBhvr>
                                    </p:animEffect>
                                    <p:anim calcmode="lin" valueType="num">
                                      <p:cBhvr additive="base">
                                        <p:cTn id="20" dur="700" fill="hold"/>
                                        <p:tgtEl>
                                          <p:spTgt spid="16"/>
                                        </p:tgtEl>
                                        <p:attrNameLst>
                                          <p:attrName>ppt_y</p:attrName>
                                        </p:attrNameLst>
                                      </p:cBhvr>
                                      <p:tavLst>
                                        <p:tav tm="0">
                                          <p:val>
                                            <p:strVal val="#ppt_y+0.03"/>
                                          </p:val>
                                        </p:tav>
                                        <p:tav tm="100000">
                                          <p:val>
                                            <p:strVal val="#ppt_y"/>
                                          </p:val>
                                        </p:tav>
                                      </p:tavLst>
                                    </p:anim>
                                  </p:childTnLst>
                                </p:cTn>
                              </p:par>
                              <p:par>
                                <p:cTn id="21" presetID="42" presetClass="entr" presetSubtype="0" decel="100000" fill="hold" grpId="0" nodeType="withEffect">
                                  <p:stCondLst>
                                    <p:cond delay="69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700"/>
                                        <p:tgtEl>
                                          <p:spTgt spid="17"/>
                                        </p:tgtEl>
                                      </p:cBhvr>
                                    </p:animEffect>
                                    <p:anim calcmode="lin" valueType="num">
                                      <p:cBhvr additive="base">
                                        <p:cTn id="24" dur="700" fill="hold"/>
                                        <p:tgtEl>
                                          <p:spTgt spid="17"/>
                                        </p:tgtEl>
                                        <p:attrNameLst>
                                          <p:attrName>ppt_y</p:attrName>
                                        </p:attrNameLst>
                                      </p:cBhvr>
                                      <p:tavLst>
                                        <p:tav tm="0">
                                          <p:val>
                                            <p:strVal val="#ppt_y+0.03"/>
                                          </p:val>
                                        </p:tav>
                                        <p:tav tm="100000">
                                          <p:val>
                                            <p:strVal val="#ppt_y"/>
                                          </p:val>
                                        </p:tav>
                                      </p:tavLst>
                                    </p:anim>
                                  </p:childTnLst>
                                </p:cTn>
                              </p:par>
                              <p:par>
                                <p:cTn id="25" presetID="42" presetClass="entr" presetSubtype="0" decel="100000" fill="hold" grpId="0" nodeType="withEffect">
                                  <p:stCondLst>
                                    <p:cond delay="69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700"/>
                                        <p:tgtEl>
                                          <p:spTgt spid="18"/>
                                        </p:tgtEl>
                                      </p:cBhvr>
                                    </p:animEffect>
                                    <p:anim calcmode="lin" valueType="num">
                                      <p:cBhvr additive="base">
                                        <p:cTn id="28" dur="700" fill="hold"/>
                                        <p:tgtEl>
                                          <p:spTgt spid="18"/>
                                        </p:tgtEl>
                                        <p:attrNameLst>
                                          <p:attrName>ppt_y</p:attrName>
                                        </p:attrNameLst>
                                      </p:cBhvr>
                                      <p:tavLst>
                                        <p:tav tm="0">
                                          <p:val>
                                            <p:strVal val="#ppt_y+0.03"/>
                                          </p:val>
                                        </p:tav>
                                        <p:tav tm="100000">
                                          <p:val>
                                            <p:strVal val="#ppt_y"/>
                                          </p:val>
                                        </p:tav>
                                      </p:tavLst>
                                    </p:anim>
                                  </p:childTnLst>
                                </p:cTn>
                              </p:par>
                              <p:par>
                                <p:cTn id="29" presetID="42" presetClass="entr" presetSubtype="0" decel="100000" fill="hold" grpId="0" nodeType="withEffect">
                                  <p:stCondLst>
                                    <p:cond delay="91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700"/>
                                        <p:tgtEl>
                                          <p:spTgt spid="19"/>
                                        </p:tgtEl>
                                      </p:cBhvr>
                                    </p:animEffect>
                                    <p:anim calcmode="lin" valueType="num">
                                      <p:cBhvr additive="base">
                                        <p:cTn id="32" dur="700" fill="hold"/>
                                        <p:tgtEl>
                                          <p:spTgt spid="19"/>
                                        </p:tgtEl>
                                        <p:attrNameLst>
                                          <p:attrName>ppt_y</p:attrName>
                                        </p:attrNameLst>
                                      </p:cBhvr>
                                      <p:tavLst>
                                        <p:tav tm="0">
                                          <p:val>
                                            <p:strVal val="#ppt_y+0.03"/>
                                          </p:val>
                                        </p:tav>
                                        <p:tav tm="100000">
                                          <p:val>
                                            <p:strVal val="#ppt_y"/>
                                          </p:val>
                                        </p:tav>
                                      </p:tavLst>
                                    </p:anim>
                                  </p:childTnLst>
                                </p:cTn>
                              </p:par>
                              <p:par>
                                <p:cTn id="33" presetID="42" presetClass="entr" presetSubtype="0" decel="100000" fill="hold" grpId="0" nodeType="withEffect">
                                  <p:stCondLst>
                                    <p:cond delay="91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700"/>
                                        <p:tgtEl>
                                          <p:spTgt spid="20"/>
                                        </p:tgtEl>
                                      </p:cBhvr>
                                    </p:animEffect>
                                    <p:anim calcmode="lin" valueType="num">
                                      <p:cBhvr additive="base">
                                        <p:cTn id="36" dur="700" fill="hold"/>
                                        <p:tgtEl>
                                          <p:spTgt spid="20"/>
                                        </p:tgtEl>
                                        <p:attrNameLst>
                                          <p:attrName>ppt_y</p:attrName>
                                        </p:attrNameLst>
                                      </p:cBhvr>
                                      <p:tavLst>
                                        <p:tav tm="0">
                                          <p:val>
                                            <p:strVal val="#ppt_y+0.03"/>
                                          </p:val>
                                        </p:tav>
                                        <p:tav tm="100000">
                                          <p:val>
                                            <p:strVal val="#ppt_y"/>
                                          </p:val>
                                        </p:tav>
                                      </p:tavLst>
                                    </p:anim>
                                  </p:childTnLst>
                                </p:cTn>
                              </p:par>
                              <p:par>
                                <p:cTn id="37" presetID="42" presetClass="entr" presetSubtype="0" decel="100000" fill="hold" grpId="0" nodeType="withEffect">
                                  <p:stCondLst>
                                    <p:cond delay="91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700"/>
                                        <p:tgtEl>
                                          <p:spTgt spid="21"/>
                                        </p:tgtEl>
                                      </p:cBhvr>
                                    </p:animEffect>
                                    <p:anim calcmode="lin" valueType="num">
                                      <p:cBhvr additive="base">
                                        <p:cTn id="40" dur="700" fill="hold"/>
                                        <p:tgtEl>
                                          <p:spTgt spid="21"/>
                                        </p:tgtEl>
                                        <p:attrNameLst>
                                          <p:attrName>ppt_y</p:attrName>
                                        </p:attrNameLst>
                                      </p:cBhvr>
                                      <p:tavLst>
                                        <p:tav tm="0">
                                          <p:val>
                                            <p:strVal val="#ppt_y+0.03"/>
                                          </p:val>
                                        </p:tav>
                                        <p:tav tm="100000">
                                          <p:val>
                                            <p:strVal val="#ppt_y"/>
                                          </p:val>
                                        </p:tav>
                                      </p:tavLst>
                                    </p:anim>
                                  </p:childTnLst>
                                </p:cTn>
                              </p:par>
                              <p:par>
                                <p:cTn id="41" presetID="42" presetClass="entr" presetSubtype="0" decel="100000" fill="hold" grpId="0" nodeType="withEffect">
                                  <p:stCondLst>
                                    <p:cond delay="113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700"/>
                                        <p:tgtEl>
                                          <p:spTgt spid="22"/>
                                        </p:tgtEl>
                                      </p:cBhvr>
                                    </p:animEffect>
                                    <p:anim calcmode="lin" valueType="num">
                                      <p:cBhvr additive="base">
                                        <p:cTn id="44" dur="700" fill="hold"/>
                                        <p:tgtEl>
                                          <p:spTgt spid="22"/>
                                        </p:tgtEl>
                                        <p:attrNameLst>
                                          <p:attrName>ppt_y</p:attrName>
                                        </p:attrNameLst>
                                      </p:cBhvr>
                                      <p:tavLst>
                                        <p:tav tm="0">
                                          <p:val>
                                            <p:strVal val="#ppt_y+0.03"/>
                                          </p:val>
                                        </p:tav>
                                        <p:tav tm="100000">
                                          <p:val>
                                            <p:strVal val="#ppt_y"/>
                                          </p:val>
                                        </p:tav>
                                      </p:tavLst>
                                    </p:anim>
                                  </p:childTnLst>
                                </p:cTn>
                              </p:par>
                              <p:par>
                                <p:cTn id="45" presetID="42" presetClass="entr" presetSubtype="0" decel="100000" fill="hold" grpId="0" nodeType="withEffect">
                                  <p:stCondLst>
                                    <p:cond delay="113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700"/>
                                        <p:tgtEl>
                                          <p:spTgt spid="23"/>
                                        </p:tgtEl>
                                      </p:cBhvr>
                                    </p:animEffect>
                                    <p:anim calcmode="lin" valueType="num">
                                      <p:cBhvr additive="base">
                                        <p:cTn id="48" dur="700" fill="hold"/>
                                        <p:tgtEl>
                                          <p:spTgt spid="23"/>
                                        </p:tgtEl>
                                        <p:attrNameLst>
                                          <p:attrName>ppt_y</p:attrName>
                                        </p:attrNameLst>
                                      </p:cBhvr>
                                      <p:tavLst>
                                        <p:tav tm="0">
                                          <p:val>
                                            <p:strVal val="#ppt_y+0.03"/>
                                          </p:val>
                                        </p:tav>
                                        <p:tav tm="100000">
                                          <p:val>
                                            <p:strVal val="#ppt_y"/>
                                          </p:val>
                                        </p:tav>
                                      </p:tavLst>
                                    </p:anim>
                                  </p:childTnLst>
                                </p:cTn>
                              </p:par>
                              <p:par>
                                <p:cTn id="49" presetID="42" presetClass="entr" presetSubtype="0" decel="100000" fill="hold" grpId="0" nodeType="withEffect">
                                  <p:stCondLst>
                                    <p:cond delay="113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700"/>
                                        <p:tgtEl>
                                          <p:spTgt spid="24"/>
                                        </p:tgtEl>
                                      </p:cBhvr>
                                    </p:animEffect>
                                    <p:anim calcmode="lin" valueType="num">
                                      <p:cBhvr additive="base">
                                        <p:cTn id="52" dur="700" fill="hold"/>
                                        <p:tgtEl>
                                          <p:spTgt spid="24"/>
                                        </p:tgtEl>
                                        <p:attrNameLst>
                                          <p:attrName>ppt_y</p:attrName>
                                        </p:attrNameLst>
                                      </p:cBhvr>
                                      <p:tavLst>
                                        <p:tav tm="0">
                                          <p:val>
                                            <p:strVal val="#ppt_y+0.03"/>
                                          </p:val>
                                        </p:tav>
                                        <p:tav tm="100000">
                                          <p:val>
                                            <p:strVal val="#ppt_y"/>
                                          </p:val>
                                        </p:tav>
                                      </p:tavLst>
                                    </p:anim>
                                  </p:childTnLst>
                                </p:cTn>
                              </p:par>
                              <p:par>
                                <p:cTn id="53" presetID="42" presetClass="entr" presetSubtype="0" decel="100000" fill="hold" grpId="0" nodeType="withEffect">
                                  <p:stCondLst>
                                    <p:cond delay="113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700"/>
                                        <p:tgtEl>
                                          <p:spTgt spid="25"/>
                                        </p:tgtEl>
                                      </p:cBhvr>
                                    </p:animEffect>
                                    <p:anim calcmode="lin" valueType="num">
                                      <p:cBhvr additive="base">
                                        <p:cTn id="56" dur="700" fill="hold"/>
                                        <p:tgtEl>
                                          <p:spTgt spid="25"/>
                                        </p:tgtEl>
                                        <p:attrNameLst>
                                          <p:attrName>ppt_y</p:attrName>
                                        </p:attrNameLst>
                                      </p:cBhvr>
                                      <p:tavLst>
                                        <p:tav tm="0">
                                          <p:val>
                                            <p:strVal val="#ppt_y+0.03"/>
                                          </p:val>
                                        </p:tav>
                                        <p:tav tm="100000">
                                          <p:val>
                                            <p:strVal val="#ppt_y"/>
                                          </p:val>
                                        </p:tav>
                                      </p:tavLst>
                                    </p:anim>
                                  </p:childTnLst>
                                </p:cTn>
                              </p:par>
                              <p:par>
                                <p:cTn id="57" presetID="42" presetClass="entr" presetSubtype="0" decel="100000" fill="hold" grpId="0" nodeType="withEffect">
                                  <p:stCondLst>
                                    <p:cond delay="113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700"/>
                                        <p:tgtEl>
                                          <p:spTgt spid="26"/>
                                        </p:tgtEl>
                                      </p:cBhvr>
                                    </p:animEffect>
                                    <p:anim calcmode="lin" valueType="num">
                                      <p:cBhvr additive="base">
                                        <p:cTn id="60" dur="700" fill="hold"/>
                                        <p:tgtEl>
                                          <p:spTgt spid="26"/>
                                        </p:tgtEl>
                                        <p:attrNameLst>
                                          <p:attrName>ppt_y</p:attrName>
                                        </p:attrNameLst>
                                      </p:cBhvr>
                                      <p:tavLst>
                                        <p:tav tm="0">
                                          <p:val>
                                            <p:strVal val="#ppt_y+0.03"/>
                                          </p:val>
                                        </p:tav>
                                        <p:tav tm="100000">
                                          <p:val>
                                            <p:strVal val="#ppt_y"/>
                                          </p:val>
                                        </p:tav>
                                      </p:tavLst>
                                    </p:anim>
                                  </p:childTnLst>
                                </p:cTn>
                              </p:par>
                              <p:par>
                                <p:cTn id="61" presetID="42" presetClass="entr" presetSubtype="0" decel="100000" fill="hold" grpId="0" nodeType="withEffect">
                                  <p:stCondLst>
                                    <p:cond delay="113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700"/>
                                        <p:tgtEl>
                                          <p:spTgt spid="27"/>
                                        </p:tgtEl>
                                      </p:cBhvr>
                                    </p:animEffect>
                                    <p:anim calcmode="lin" valueType="num">
                                      <p:cBhvr additive="base">
                                        <p:cTn id="64" dur="700" fill="hold"/>
                                        <p:tgtEl>
                                          <p:spTgt spid="27"/>
                                        </p:tgtEl>
                                        <p:attrNameLst>
                                          <p:attrName>ppt_y</p:attrName>
                                        </p:attrNameLst>
                                      </p:cBhvr>
                                      <p:tavLst>
                                        <p:tav tm="0">
                                          <p:val>
                                            <p:strVal val="#ppt_y+0.03"/>
                                          </p:val>
                                        </p:tav>
                                        <p:tav tm="100000">
                                          <p:val>
                                            <p:strVal val="#ppt_y"/>
                                          </p:val>
                                        </p:tav>
                                      </p:tavLst>
                                    </p:anim>
                                  </p:childTnLst>
                                </p:cTn>
                              </p:par>
                              <p:par>
                                <p:cTn id="65" presetID="42" presetClass="entr" presetSubtype="0" decel="100000" fill="hold" grpId="0" nodeType="withEffect">
                                  <p:stCondLst>
                                    <p:cond delay="113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700"/>
                                        <p:tgtEl>
                                          <p:spTgt spid="28"/>
                                        </p:tgtEl>
                                      </p:cBhvr>
                                    </p:animEffect>
                                    <p:anim calcmode="lin" valueType="num">
                                      <p:cBhvr additive="base">
                                        <p:cTn id="68" dur="700" fill="hold"/>
                                        <p:tgtEl>
                                          <p:spTgt spid="28"/>
                                        </p:tgtEl>
                                        <p:attrNameLst>
                                          <p:attrName>ppt_y</p:attrName>
                                        </p:attrNameLst>
                                      </p:cBhvr>
                                      <p:tavLst>
                                        <p:tav tm="0">
                                          <p:val>
                                            <p:strVal val="#ppt_y+0.03"/>
                                          </p:val>
                                        </p:tav>
                                        <p:tav tm="100000">
                                          <p:val>
                                            <p:strVal val="#ppt_y"/>
                                          </p:val>
                                        </p:tav>
                                      </p:tavLst>
                                    </p:anim>
                                  </p:childTnLst>
                                </p:cTn>
                              </p:par>
                              <p:par>
                                <p:cTn id="69" presetID="42" presetClass="entr" presetSubtype="0" decel="100000" fill="hold" grpId="0" nodeType="withEffect">
                                  <p:stCondLst>
                                    <p:cond delay="113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700"/>
                                        <p:tgtEl>
                                          <p:spTgt spid="29"/>
                                        </p:tgtEl>
                                      </p:cBhvr>
                                    </p:animEffect>
                                    <p:anim calcmode="lin" valueType="num">
                                      <p:cBhvr additive="base">
                                        <p:cTn id="72" dur="700" fill="hold"/>
                                        <p:tgtEl>
                                          <p:spTgt spid="29"/>
                                        </p:tgtEl>
                                        <p:attrNameLst>
                                          <p:attrName>ppt_y</p:attrName>
                                        </p:attrNameLst>
                                      </p:cBhvr>
                                      <p:tavLst>
                                        <p:tav tm="0">
                                          <p:val>
                                            <p:strVal val="#ppt_y+0.03"/>
                                          </p:val>
                                        </p:tav>
                                        <p:tav tm="100000">
                                          <p:val>
                                            <p:strVal val="#ppt_y"/>
                                          </p:val>
                                        </p:tav>
                                      </p:tavLst>
                                    </p:anim>
                                  </p:childTnLst>
                                </p:cTn>
                              </p:par>
                              <p:par>
                                <p:cTn id="73" presetID="10" presetClass="entr" presetSubtype="0" decel="100000" fill="hold" grpId="0" nodeType="withEffect">
                                  <p:stCondLst>
                                    <p:cond delay="1350"/>
                                  </p:stCondLst>
                                  <p:childTnLst>
                                    <p:set>
                                      <p:cBhvr>
                                        <p:cTn id="74" dur="1" fill="hold">
                                          <p:stCondLst>
                                            <p:cond delay="0"/>
                                          </p:stCondLst>
                                        </p:cTn>
                                        <p:tgtEl>
                                          <p:spTgt spid="9"/>
                                        </p:tgtEl>
                                        <p:attrNameLst>
                                          <p:attrName>style.visibility</p:attrName>
                                        </p:attrNameLst>
                                      </p:cBhvr>
                                      <p:to>
                                        <p:strVal val="visible"/>
                                      </p:to>
                                    </p:set>
                                    <p:animEffect transition="in" filter="fade">
                                      <p:cBhvr>
                                        <p:cTn id="75" dur="600"/>
                                        <p:tgtEl>
                                          <p:spTgt spid="9"/>
                                        </p:tgtEl>
                                      </p:cBhvr>
                                    </p:animEffect>
                                  </p:childTnLst>
                                </p:cTn>
                              </p:par>
                              <p:par>
                                <p:cTn id="76" presetID="22" presetClass="entr" presetSubtype="8" fill="hold" grpId="0" nodeType="withEffect">
                                  <p:stCondLst>
                                    <p:cond delay="1570"/>
                                  </p:stCondLst>
                                  <p:childTnLst>
                                    <p:set>
                                      <p:cBhvr>
                                        <p:cTn id="77" dur="1" fill="hold">
                                          <p:stCondLst>
                                            <p:cond delay="0"/>
                                          </p:stCondLst>
                                        </p:cTn>
                                        <p:tgtEl>
                                          <p:spTgt spid="10"/>
                                        </p:tgtEl>
                                        <p:attrNameLst>
                                          <p:attrName>style.visibility</p:attrName>
                                        </p:attrNameLst>
                                      </p:cBhvr>
                                      <p:to>
                                        <p:strVal val="visible"/>
                                      </p:to>
                                    </p:set>
                                    <p:animEffect transition="in" filter="wipe(left)">
                                      <p:cBhvr>
                                        <p:cTn id="78" dur="900"/>
                                        <p:tgtEl>
                                          <p:spTgt spid="10"/>
                                        </p:tgtEl>
                                      </p:cBhvr>
                                    </p:animEffect>
                                  </p:childTnLst>
                                </p:cTn>
                              </p:par>
                              <p:par>
                                <p:cTn id="79" presetID="10" presetClass="entr" presetSubtype="0" decel="100000" fill="hold" grpId="0" nodeType="withEffect">
                                  <p:stCondLst>
                                    <p:cond delay="1570"/>
                                  </p:stCondLst>
                                  <p:childTnLst>
                                    <p:set>
                                      <p:cBhvr>
                                        <p:cTn id="80" dur="1" fill="hold">
                                          <p:stCondLst>
                                            <p:cond delay="0"/>
                                          </p:stCondLst>
                                        </p:cTn>
                                        <p:tgtEl>
                                          <p:spTgt spid="11"/>
                                        </p:tgtEl>
                                        <p:attrNameLst>
                                          <p:attrName>style.visibility</p:attrName>
                                        </p:attrNameLst>
                                      </p:cBhvr>
                                      <p:to>
                                        <p:strVal val="visible"/>
                                      </p:to>
                                    </p:set>
                                    <p:animEffect transition="in" filter="fade">
                                      <p:cBhvr>
                                        <p:cTn id="81" dur="600"/>
                                        <p:tgtEl>
                                          <p:spTgt spid="11"/>
                                        </p:tgtEl>
                                      </p:cBhvr>
                                    </p:animEffect>
                                  </p:childTnLst>
                                </p:cTn>
                              </p:par>
                              <p:par>
                                <p:cTn id="82" presetID="22" presetClass="entr" presetSubtype="8" fill="hold" grpId="0" nodeType="withEffect">
                                  <p:stCondLst>
                                    <p:cond delay="1790"/>
                                  </p:stCondLst>
                                  <p:childTnLst>
                                    <p:set>
                                      <p:cBhvr>
                                        <p:cTn id="83" dur="1" fill="hold">
                                          <p:stCondLst>
                                            <p:cond delay="0"/>
                                          </p:stCondLst>
                                        </p:cTn>
                                        <p:tgtEl>
                                          <p:spTgt spid="12"/>
                                        </p:tgtEl>
                                        <p:attrNameLst>
                                          <p:attrName>style.visibility</p:attrName>
                                        </p:attrNameLst>
                                      </p:cBhvr>
                                      <p:to>
                                        <p:strVal val="visible"/>
                                      </p:to>
                                    </p:set>
                                    <p:animEffect transition="in" filter="wipe(left)">
                                      <p:cBhvr>
                                        <p:cTn id="84" dur="900"/>
                                        <p:tgtEl>
                                          <p:spTgt spid="12"/>
                                        </p:tgtEl>
                                      </p:cBhvr>
                                    </p:animEffect>
                                  </p:childTnLst>
                                </p:cTn>
                              </p:par>
                              <p:par>
                                <p:cTn id="85" presetID="10" presetClass="entr" presetSubtype="0" decel="100000" fill="hold" grpId="0" nodeType="withEffect">
                                  <p:stCondLst>
                                    <p:cond delay="1790"/>
                                  </p:stCondLst>
                                  <p:childTnLst>
                                    <p:set>
                                      <p:cBhvr>
                                        <p:cTn id="86" dur="1" fill="hold">
                                          <p:stCondLst>
                                            <p:cond delay="0"/>
                                          </p:stCondLst>
                                        </p:cTn>
                                        <p:tgtEl>
                                          <p:spTgt spid="13"/>
                                        </p:tgtEl>
                                        <p:attrNameLst>
                                          <p:attrName>style.visibility</p:attrName>
                                        </p:attrNameLst>
                                      </p:cBhvr>
                                      <p:to>
                                        <p:strVal val="visible"/>
                                      </p:to>
                                    </p:set>
                                    <p:animEffect transition="in" filter="fade">
                                      <p:cBhvr>
                                        <p:cTn id="87" dur="600"/>
                                        <p:tgtEl>
                                          <p:spTgt spid="13"/>
                                        </p:tgtEl>
                                      </p:cBhvr>
                                    </p:animEffect>
                                  </p:childTnLst>
                                </p:cTn>
                              </p:par>
                              <p:par>
                                <p:cTn id="88" presetID="22" presetClass="entr" presetSubtype="8" fill="hold" grpId="0" nodeType="withEffect">
                                  <p:stCondLst>
                                    <p:cond delay="2010"/>
                                  </p:stCondLst>
                                  <p:childTnLst>
                                    <p:set>
                                      <p:cBhvr>
                                        <p:cTn id="89" dur="1" fill="hold">
                                          <p:stCondLst>
                                            <p:cond delay="0"/>
                                          </p:stCondLst>
                                        </p:cTn>
                                        <p:tgtEl>
                                          <p:spTgt spid="14"/>
                                        </p:tgtEl>
                                        <p:attrNameLst>
                                          <p:attrName>style.visibility</p:attrName>
                                        </p:attrNameLst>
                                      </p:cBhvr>
                                      <p:to>
                                        <p:strVal val="visible"/>
                                      </p:to>
                                    </p:set>
                                    <p:animEffect transition="in" filter="wipe(left)">
                                      <p:cBhvr>
                                        <p:cTn id="90" dur="900"/>
                                        <p:tgtEl>
                                          <p:spTgt spid="14"/>
                                        </p:tgtEl>
                                      </p:cBhvr>
                                    </p:animEffect>
                                  </p:childTnLst>
                                </p:cTn>
                              </p:par>
                              <p:par>
                                <p:cTn id="91" presetID="10" presetClass="entr" presetSubtype="0" decel="100000" fill="hold" grpId="0" nodeType="withEffect">
                                  <p:stCondLst>
                                    <p:cond delay="2010"/>
                                  </p:stCondLst>
                                  <p:childTnLst>
                                    <p:set>
                                      <p:cBhvr>
                                        <p:cTn id="92" dur="1" fill="hold">
                                          <p:stCondLst>
                                            <p:cond delay="0"/>
                                          </p:stCondLst>
                                        </p:cTn>
                                        <p:tgtEl>
                                          <p:spTgt spid="15"/>
                                        </p:tgtEl>
                                        <p:attrNameLst>
                                          <p:attrName>style.visibility</p:attrName>
                                        </p:attrNameLst>
                                      </p:cBhvr>
                                      <p:to>
                                        <p:strVal val="visible"/>
                                      </p:to>
                                    </p:set>
                                    <p:animEffect transition="in" filter="fade">
                                      <p:cBhvr>
                                        <p:cTn id="93"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94" restart="whenNotActive" fill="hold" evtFilter="cancelBubble" nodeType="interactiveSeq">
                <p:stCondLst>
                  <p:cond evt="onClick" delay="0">
                    <p:tgtEl>
                      <p:spTgt spid="6"/>
                    </p:tgtEl>
                  </p:cond>
                </p:stCondLst>
                <p:endSync evt="end" delay="0">
                  <p:rtn val="all"/>
                </p:endSync>
                <p:childTnLst>
                  <p:par>
                    <p:cTn id="95" fill="hold">
                      <p:stCondLst>
                        <p:cond delay="0"/>
                      </p:stCondLst>
                      <p:childTnLst>
                        <p:par>
                          <p:cTn id="96" fill="hold">
                            <p:stCondLst>
                              <p:cond delay="0"/>
                            </p:stCondLst>
                            <p:childTnLst>
                              <p:par>
                                <p:cTn id="97" presetID="2" presetClass="mediacall" presetSubtype="0" fill="hold" nodeType="clickEffect">
                                  <p:stCondLst>
                                    <p:cond delay="0"/>
                                  </p:stCondLst>
                                  <p:childTnLst>
                                    <p:cmd type="call" cmd="togglePause">
                                      <p:cBhvr>
                                        <p:cTn id="98" dur="1" fill="hold"/>
                                        <p:tgtEl>
                                          <p:spTgt spid="6"/>
                                        </p:tgtEl>
                                      </p:cBhvr>
                                    </p:cmd>
                                  </p:childTnLst>
                                </p:cTn>
                              </p:par>
                            </p:childTnLst>
                          </p:cTn>
                        </p:par>
                      </p:childTnLst>
                    </p:cTn>
                  </p:par>
                </p:childTnLst>
              </p:cTn>
              <p:nextCondLst>
                <p:cond evt="onClick" delay="0">
                  <p:tgtEl>
                    <p:spTgt spid="6"/>
                  </p:tgtEl>
                </p:cond>
              </p:nextCondLst>
            </p:seq>
            <p:video>
              <p:cMediaNode vol="80000" mute="1">
                <p:cTn id="99" repeatCount="indefinite" fill="hold" display="0">
                  <p:stCondLst>
                    <p:cond delay="indefinite"/>
                  </p:stCondLst>
                </p:cTn>
                <p:tgtEl>
                  <p:spTgt spid="6"/>
                </p:tgtEl>
              </p:cMediaNode>
            </p:video>
          </p:childTnLst>
        </p:cTn>
      </p:par>
    </p:tnLst>
    <p:bldLst>
      <p:bldP spid="4" grpId="0" animBg="1"/>
      <p:bldP spid="5"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194560" y="-2194560"/>
            <a:ext cx="5943600" cy="59436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8046720" y="3291840"/>
            <a:ext cx="5943600" cy="59436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INNOVATION &amp; DIFFERENTIATION</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How we differ from what exists today</a:t>
            </a:r>
            <a:endParaRPr lang="en-US" sz="3400" dirty="0"/>
          </a:p>
        </p:txBody>
      </p:sp>
      <p:graphicFrame>
        <p:nvGraphicFramePr>
          <p:cNvPr id="14" name="a1float_tbl"/>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7432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450592">
                  <a:extLst>
                    <a:ext uri="{9D8B030D-6E8A-4147-A177-3AD203B41FA5}">
                      <a16:colId xmlns:a16="http://schemas.microsoft.com/office/drawing/2014/main" val="20004"/>
                    </a:ext>
                  </a:extLst>
                </a:gridCol>
              </a:tblGrid>
              <a:tr h="475488">
                <a:tc>
                  <a:txBody>
                    <a:bodyPr/>
                    <a:lstStyle/>
                    <a:p>
                      <a:pPr marL="0" indent="0" algn="l">
                        <a:buNone/>
                      </a:pP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Field surveys</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One-off satellite maps</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Free loss alerts (Global Mangrove Watch)</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Blue Carbon Guardian</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2F5D8F"/>
                    </a:solidFill>
                  </a:tcPr>
                </a:tc>
                <a:extLst>
                  <a:ext uri="{0D108BD9-81ED-4DB2-BD59-A6C34878D82A}">
                    <a16:rowId xmlns:a16="http://schemas.microsoft.com/office/drawing/2014/main" val="10000"/>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How often</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campaigns</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yearly or less</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monthly</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every ~5 days</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extLst>
                  <a:ext uri="{0D108BD9-81ED-4DB2-BD59-A6C34878D82A}">
                    <a16:rowId xmlns:a16="http://schemas.microsoft.com/office/drawing/2014/main" val="10001"/>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Corrects for the tide</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n/a</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not usually</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not documented</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  tide model</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extLst>
                  <a:ext uri="{0D108BD9-81ED-4DB2-BD59-A6C34878D82A}">
                    <a16:rowId xmlns:a16="http://schemas.microsoft.com/office/drawing/2014/main" val="10002"/>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Says where inside a stand</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  200 m cells</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extLst>
                  <a:ext uri="{0D108BD9-81ED-4DB2-BD59-A6C34878D82A}">
                    <a16:rowId xmlns:a16="http://schemas.microsoft.com/office/drawing/2014/main" val="10003"/>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Published false-alarm rate</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n/a</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n/a</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accuracy only</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  ≈ 1 per stand-year</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extLst>
                  <a:ext uri="{0D108BD9-81ED-4DB2-BD59-A6C34878D82A}">
                    <a16:rowId xmlns:a16="http://schemas.microsoft.com/office/drawing/2014/main" val="10004"/>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Carbon at stake per alert</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  field-based</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extLst>
                  <a:ext uri="{0D108BD9-81ED-4DB2-BD59-A6C34878D82A}">
                    <a16:rowId xmlns:a16="http://schemas.microsoft.com/office/drawing/2014/main" val="10005"/>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Gulf coverage</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not confirmed</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  Abu Dhabi + Tarut Bay</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extLst>
                  <a:ext uri="{0D108BD9-81ED-4DB2-BD59-A6C34878D82A}">
                    <a16:rowId xmlns:a16="http://schemas.microsoft.com/office/drawing/2014/main" val="10006"/>
                  </a:ext>
                </a:extLst>
              </a:tr>
            </a:tbl>
          </a:graphicData>
        </a:graphic>
      </p:graphicFrame>
      <p:sp>
        <p:nvSpPr>
          <p:cNvPr id="8" name="a3float_dm"/>
          <p:cNvSpPr/>
          <p:nvPr/>
        </p:nvSpPr>
        <p:spPr>
          <a:xfrm>
            <a:off x="548640" y="5257800"/>
            <a:ext cx="11091672" cy="914400"/>
          </a:xfrm>
          <a:prstGeom prst="roundRect">
            <a:avLst>
              <a:gd name="adj" fmla="val 14000"/>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sp>
      <p:sp>
        <p:nvSpPr>
          <p:cNvPr id="9" name="a3float_dmt"/>
          <p:cNvSpPr txBox="1"/>
          <p:nvPr/>
        </p:nvSpPr>
        <p:spPr>
          <a:xfrm>
            <a:off x="777240" y="5257800"/>
            <a:ext cx="10698480" cy="914400"/>
          </a:xfrm>
          <a:prstGeom prst="rect">
            <a:avLst/>
          </a:prstGeom>
          <a:noFill/>
          <a:ln/>
        </p:spPr>
        <p:txBody>
          <a:bodyPr wrap="square" lIns="0" tIns="0" rIns="0" bIns="0" rtlCol="0" anchor="ctr"/>
          <a:lstStyle/>
          <a:p>
            <a:pPr marL="0" indent="0" algn="l">
              <a:lnSpc>
                <a:spcPct val="105000"/>
              </a:lnSpc>
              <a:buNone/>
            </a:pPr>
            <a:r>
              <a:rPr lang="en-US" sz="1400" b="1" dirty="0">
                <a:solidFill>
                  <a:srgbClr val="2F5D8F"/>
                </a:solidFill>
                <a:latin typeface="Segoe UI" pitchFamily="34" charset="0"/>
                <a:ea typeface="Segoe UI" pitchFamily="34" charset="-122"/>
                <a:cs typeface="Segoe UI" pitchFamily="34" charset="-120"/>
              </a:rPr>
              <a:t>Complementary, not competing: </a:t>
            </a:r>
            <a:r>
              <a:rPr lang="en-US" sz="1400" dirty="0">
                <a:solidFill>
                  <a:srgbClr val="1B2B40"/>
                </a:solidFill>
                <a:latin typeface="Segoe UI" pitchFamily="34" charset="0"/>
                <a:ea typeface="Segoe UI" pitchFamily="34" charset="-122"/>
                <a:cs typeface="Segoe UI" pitchFamily="34" charset="-120"/>
              </a:rPr>
              <a:t>Global Mangrove Watch flags loss worldwide; we add the tide model, the 200 m cells, a measured false-alarm rate and the carbon at stake — built and tested for the Gulf.</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700"/>
                                        <p:tgtEl>
                                          <p:spTgt spid="14"/>
                                        </p:tgtEl>
                                      </p:cBhvr>
                                    </p:animEffect>
                                    <p:anim calcmode="lin" valueType="num">
                                      <p:cBhvr additive="base">
                                        <p:cTn id="15" dur="700" fill="hold"/>
                                        <p:tgtEl>
                                          <p:spTgt spid="14"/>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91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91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700"/>
                                        <p:tgtEl>
                                          <p:spTgt spid="9"/>
                                        </p:tgtEl>
                                      </p:cBhvr>
                                    </p:animEffect>
                                    <p:anim calcmode="lin" valueType="num">
                                      <p:cBhvr additive="base">
                                        <p:cTn id="23" dur="700" fill="hold"/>
                                        <p:tgtEl>
                                          <p:spTgt spid="9"/>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14" grpId="0">
        <p:bldAsOne/>
      </p:bldGraphic>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011680" y="-237744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8412480" y="329184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VALIDATION 1 · REAL EVENTS</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Five real conversions, confirmed on sub-metre imagery</a:t>
            </a:r>
            <a:endParaRPr lang="en-US" sz="3400" dirty="0"/>
          </a:p>
        </p:txBody>
      </p:sp>
      <p:sp>
        <p:nvSpPr>
          <p:cNvPr id="7" name="a1zoom_t0"/>
          <p:cNvSpPr/>
          <p:nvPr/>
        </p:nvSpPr>
        <p:spPr>
          <a:xfrm>
            <a:off x="548640" y="1691640"/>
            <a:ext cx="3291840" cy="2670048"/>
          </a:xfrm>
          <a:prstGeom prst="roundRect">
            <a:avLst>
              <a:gd name="adj" fmla="val 3425"/>
            </a:avLst>
          </a:prstGeom>
          <a:solidFill>
            <a:srgbClr val="FFFFFF"/>
          </a:solidFill>
          <a:ln/>
          <a:effectLst>
            <a:outerShdw blurRad="152400" dist="38100" dir="5400000" algn="bl" rotWithShape="0">
              <a:srgbClr val="1B2B40">
                <a:alpha val="12000"/>
              </a:srgbClr>
            </a:outerShdw>
          </a:effectLst>
        </p:spPr>
      </p:sp>
      <p:pic>
        <p:nvPicPr>
          <p:cNvPr id="8" name="a1zoom_t0i" descr="C:\Users\nahla\Desktop\UAE-Space-Hackatoon\deck_source\images\stand5_before_after_2021_2026.png"/>
          <p:cNvPicPr>
            <a:picLocks noChangeAspect="1"/>
          </p:cNvPicPr>
          <p:nvPr/>
        </p:nvPicPr>
        <p:blipFill>
          <a:blip r:embed="rId5"/>
          <a:stretch>
            <a:fillRect/>
          </a:stretch>
        </p:blipFill>
        <p:spPr>
          <a:xfrm>
            <a:off x="640080" y="2144334"/>
            <a:ext cx="3108960" cy="1380612"/>
          </a:xfrm>
          <a:prstGeom prst="rect">
            <a:avLst/>
          </a:prstGeom>
        </p:spPr>
      </p:pic>
      <p:sp>
        <p:nvSpPr>
          <p:cNvPr id="9" name="a1zoom_t0l"/>
          <p:cNvSpPr txBox="1"/>
          <p:nvPr/>
        </p:nvSpPr>
        <p:spPr>
          <a:xfrm>
            <a:off x="685800" y="3950208"/>
            <a:ext cx="3017520" cy="320040"/>
          </a:xfrm>
          <a:prstGeom prst="rect">
            <a:avLst/>
          </a:prstGeom>
          <a:noFill/>
          <a:ln/>
        </p:spPr>
        <p:txBody>
          <a:bodyPr wrap="square" lIns="0" tIns="0" rIns="0" bIns="0" rtlCol="0" anchor="ctr"/>
          <a:lstStyle/>
          <a:p>
            <a:pPr marL="0" indent="0" algn="l">
              <a:lnSpc>
                <a:spcPct val="105000"/>
              </a:lnSpc>
              <a:buNone/>
            </a:pPr>
            <a:r>
              <a:rPr lang="en-US" sz="1200" b="1" dirty="0">
                <a:solidFill>
                  <a:srgbClr val="0B2236"/>
                </a:solidFill>
                <a:latin typeface="Segoe UI" pitchFamily="34" charset="0"/>
                <a:ea typeface="Segoe UI" pitchFamily="34" charset="-122"/>
                <a:cs typeface="Segoe UI" pitchFamily="34" charset="-120"/>
              </a:rPr>
              <a:t>Stand 5  </a:t>
            </a:r>
            <a:r>
              <a:rPr lang="en-US" sz="1200" dirty="0">
                <a:solidFill>
                  <a:srgbClr val="4A5F75"/>
                </a:solidFill>
                <a:latin typeface="Segoe UI" pitchFamily="34" charset="0"/>
                <a:ea typeface="Segoe UI" pitchFamily="34" charset="-122"/>
                <a:cs typeface="Segoe UI" pitchFamily="34" charset="-120"/>
              </a:rPr>
              <a:t>reclamation with finger canals</a:t>
            </a:r>
            <a:endParaRPr lang="en-US" sz="1200" dirty="0"/>
          </a:p>
        </p:txBody>
      </p:sp>
      <p:sp>
        <p:nvSpPr>
          <p:cNvPr id="10" name="a2zoom_t1"/>
          <p:cNvSpPr/>
          <p:nvPr/>
        </p:nvSpPr>
        <p:spPr>
          <a:xfrm>
            <a:off x="3977640" y="1691640"/>
            <a:ext cx="3291840" cy="2670048"/>
          </a:xfrm>
          <a:prstGeom prst="roundRect">
            <a:avLst>
              <a:gd name="adj" fmla="val 3425"/>
            </a:avLst>
          </a:prstGeom>
          <a:solidFill>
            <a:srgbClr val="FFFFFF"/>
          </a:solidFill>
          <a:ln/>
          <a:effectLst>
            <a:outerShdw blurRad="152400" dist="38100" dir="5400000" algn="bl" rotWithShape="0">
              <a:srgbClr val="1B2B40">
                <a:alpha val="12000"/>
              </a:srgbClr>
            </a:outerShdw>
          </a:effectLst>
        </p:spPr>
      </p:sp>
      <p:pic>
        <p:nvPicPr>
          <p:cNvPr id="11" name="a2zoom_t1i" descr="C:\Users\nahla\Desktop\UAE-Space-Hackatoon\deck_source\images\stand9_before_after_2020_2026.png"/>
          <p:cNvPicPr>
            <a:picLocks noChangeAspect="1"/>
          </p:cNvPicPr>
          <p:nvPr/>
        </p:nvPicPr>
        <p:blipFill>
          <a:blip r:embed="rId6"/>
          <a:stretch>
            <a:fillRect/>
          </a:stretch>
        </p:blipFill>
        <p:spPr>
          <a:xfrm>
            <a:off x="4069080" y="1800199"/>
            <a:ext cx="3108960" cy="2068882"/>
          </a:xfrm>
          <a:prstGeom prst="rect">
            <a:avLst/>
          </a:prstGeom>
        </p:spPr>
      </p:pic>
      <p:sp>
        <p:nvSpPr>
          <p:cNvPr id="12" name="a2zoom_t1l"/>
          <p:cNvSpPr txBox="1"/>
          <p:nvPr/>
        </p:nvSpPr>
        <p:spPr>
          <a:xfrm>
            <a:off x="4114800" y="3950208"/>
            <a:ext cx="3017520" cy="320040"/>
          </a:xfrm>
          <a:prstGeom prst="rect">
            <a:avLst/>
          </a:prstGeom>
          <a:noFill/>
          <a:ln/>
        </p:spPr>
        <p:txBody>
          <a:bodyPr wrap="square" lIns="0" tIns="0" rIns="0" bIns="0" rtlCol="0" anchor="ctr"/>
          <a:lstStyle/>
          <a:p>
            <a:pPr marL="0" indent="0" algn="l">
              <a:lnSpc>
                <a:spcPct val="105000"/>
              </a:lnSpc>
              <a:buNone/>
            </a:pPr>
            <a:r>
              <a:rPr lang="en-US" sz="1200" b="1" dirty="0">
                <a:solidFill>
                  <a:srgbClr val="0B2236"/>
                </a:solidFill>
                <a:latin typeface="Segoe UI" pitchFamily="34" charset="0"/>
                <a:ea typeface="Segoe UI" pitchFamily="34" charset="-122"/>
                <a:cs typeface="Segoe UI" pitchFamily="34" charset="-120"/>
              </a:rPr>
              <a:t>Stand 9  </a:t>
            </a:r>
            <a:r>
              <a:rPr lang="en-US" sz="1200" dirty="0">
                <a:solidFill>
                  <a:srgbClr val="4A5F75"/>
                </a:solidFill>
                <a:latin typeface="Segoe UI" pitchFamily="34" charset="0"/>
                <a:ea typeface="Segoe UI" pitchFamily="34" charset="-122"/>
                <a:cs typeface="Segoe UI" pitchFamily="34" charset="-120"/>
              </a:rPr>
              <a:t>canal development, south-east</a:t>
            </a:r>
            <a:endParaRPr lang="en-US" sz="1200" dirty="0"/>
          </a:p>
        </p:txBody>
      </p:sp>
      <p:sp>
        <p:nvSpPr>
          <p:cNvPr id="13" name="a3zoom_t2"/>
          <p:cNvSpPr/>
          <p:nvPr/>
        </p:nvSpPr>
        <p:spPr>
          <a:xfrm>
            <a:off x="548640" y="4498848"/>
            <a:ext cx="3291840" cy="1673352"/>
          </a:xfrm>
          <a:prstGeom prst="roundRect">
            <a:avLst>
              <a:gd name="adj" fmla="val 5464"/>
            </a:avLst>
          </a:prstGeom>
          <a:solidFill>
            <a:srgbClr val="FFFFFF"/>
          </a:solidFill>
          <a:ln/>
          <a:effectLst>
            <a:outerShdw blurRad="152400" dist="38100" dir="5400000" algn="bl" rotWithShape="0">
              <a:srgbClr val="1B2B40">
                <a:alpha val="12000"/>
              </a:srgbClr>
            </a:outerShdw>
          </a:effectLst>
        </p:spPr>
      </p:sp>
      <p:pic>
        <p:nvPicPr>
          <p:cNvPr id="14" name="a3zoom_t2i" descr="C:\Users\nahla\Desktop\UAE-Space-Hackatoon\deck_source\images\stand12_key_years.png"/>
          <p:cNvPicPr>
            <a:picLocks noChangeAspect="1"/>
          </p:cNvPicPr>
          <p:nvPr/>
        </p:nvPicPr>
        <p:blipFill>
          <a:blip r:embed="rId7"/>
          <a:stretch>
            <a:fillRect/>
          </a:stretch>
        </p:blipFill>
        <p:spPr>
          <a:xfrm>
            <a:off x="640080" y="4686235"/>
            <a:ext cx="3108960" cy="914530"/>
          </a:xfrm>
          <a:prstGeom prst="rect">
            <a:avLst/>
          </a:prstGeom>
        </p:spPr>
      </p:pic>
      <p:sp>
        <p:nvSpPr>
          <p:cNvPr id="15" name="a3zoom_t2l"/>
          <p:cNvSpPr txBox="1"/>
          <p:nvPr/>
        </p:nvSpPr>
        <p:spPr>
          <a:xfrm>
            <a:off x="685800" y="5760720"/>
            <a:ext cx="3017520" cy="320040"/>
          </a:xfrm>
          <a:prstGeom prst="rect">
            <a:avLst/>
          </a:prstGeom>
          <a:noFill/>
          <a:ln/>
        </p:spPr>
        <p:txBody>
          <a:bodyPr wrap="square" lIns="0" tIns="0" rIns="0" bIns="0" rtlCol="0" anchor="ctr"/>
          <a:lstStyle/>
          <a:p>
            <a:pPr marL="0" indent="0" algn="l">
              <a:lnSpc>
                <a:spcPct val="105000"/>
              </a:lnSpc>
              <a:buNone/>
            </a:pPr>
            <a:r>
              <a:rPr lang="en-US" sz="1200" b="1" dirty="0">
                <a:solidFill>
                  <a:srgbClr val="0B2236"/>
                </a:solidFill>
                <a:latin typeface="Segoe UI" pitchFamily="34" charset="0"/>
                <a:ea typeface="Segoe UI" pitchFamily="34" charset="-122"/>
                <a:cs typeface="Segoe UI" pitchFamily="34" charset="-120"/>
              </a:rPr>
              <a:t>Stand 12  </a:t>
            </a:r>
            <a:r>
              <a:rPr lang="en-US" sz="1200" dirty="0">
                <a:solidFill>
                  <a:srgbClr val="4A5F75"/>
                </a:solidFill>
                <a:latin typeface="Segoe UI" pitchFamily="34" charset="0"/>
                <a:ea typeface="Segoe UI" pitchFamily="34" charset="-122"/>
                <a:cs typeface="Segoe UI" pitchFamily="34" charset="-120"/>
              </a:rPr>
              <a:t>found only by the cells</a:t>
            </a:r>
            <a:endParaRPr lang="en-US" sz="1200" dirty="0"/>
          </a:p>
        </p:txBody>
      </p:sp>
      <p:sp>
        <p:nvSpPr>
          <p:cNvPr id="16" name="a4zoom_t3"/>
          <p:cNvSpPr/>
          <p:nvPr/>
        </p:nvSpPr>
        <p:spPr>
          <a:xfrm>
            <a:off x="3977640" y="4498848"/>
            <a:ext cx="3291840" cy="1673352"/>
          </a:xfrm>
          <a:prstGeom prst="roundRect">
            <a:avLst>
              <a:gd name="adj" fmla="val 5464"/>
            </a:avLst>
          </a:prstGeom>
          <a:solidFill>
            <a:srgbClr val="FFFFFF"/>
          </a:solidFill>
          <a:ln/>
          <a:effectLst>
            <a:outerShdw blurRad="152400" dist="38100" dir="5400000" algn="bl" rotWithShape="0">
              <a:srgbClr val="1B2B40">
                <a:alpha val="12000"/>
              </a:srgbClr>
            </a:outerShdw>
          </a:effectLst>
        </p:spPr>
      </p:sp>
      <p:pic>
        <p:nvPicPr>
          <p:cNvPr id="17" name="a4zoom_t3i" descr="C:\Users\nahla\Desktop\UAE-Space-Hackatoon\deck_source\images\stand18_key_years.png"/>
          <p:cNvPicPr>
            <a:picLocks noChangeAspect="1"/>
          </p:cNvPicPr>
          <p:nvPr/>
        </p:nvPicPr>
        <p:blipFill>
          <a:blip r:embed="rId8"/>
          <a:stretch>
            <a:fillRect/>
          </a:stretch>
        </p:blipFill>
        <p:spPr>
          <a:xfrm>
            <a:off x="4069080" y="4686235"/>
            <a:ext cx="3108960" cy="914530"/>
          </a:xfrm>
          <a:prstGeom prst="rect">
            <a:avLst/>
          </a:prstGeom>
        </p:spPr>
      </p:pic>
      <p:sp>
        <p:nvSpPr>
          <p:cNvPr id="18" name="a4zoom_t3l"/>
          <p:cNvSpPr txBox="1"/>
          <p:nvPr/>
        </p:nvSpPr>
        <p:spPr>
          <a:xfrm>
            <a:off x="4114800" y="5760720"/>
            <a:ext cx="3017520" cy="320040"/>
          </a:xfrm>
          <a:prstGeom prst="rect">
            <a:avLst/>
          </a:prstGeom>
          <a:noFill/>
          <a:ln/>
        </p:spPr>
        <p:txBody>
          <a:bodyPr wrap="square" lIns="0" tIns="0" rIns="0" bIns="0" rtlCol="0" anchor="ctr"/>
          <a:lstStyle/>
          <a:p>
            <a:pPr marL="0" indent="0" algn="l">
              <a:lnSpc>
                <a:spcPct val="105000"/>
              </a:lnSpc>
              <a:buNone/>
            </a:pPr>
            <a:r>
              <a:rPr lang="en-US" sz="1200" b="1" dirty="0">
                <a:solidFill>
                  <a:srgbClr val="0B2236"/>
                </a:solidFill>
                <a:latin typeface="Segoe UI" pitchFamily="34" charset="0"/>
                <a:ea typeface="Segoe UI" pitchFamily="34" charset="-122"/>
                <a:cs typeface="Segoe UI" pitchFamily="34" charset="-120"/>
              </a:rPr>
              <a:t>Stand 18  </a:t>
            </a:r>
            <a:r>
              <a:rPr lang="en-US" sz="1200" dirty="0">
                <a:solidFill>
                  <a:srgbClr val="4A5F75"/>
                </a:solidFill>
                <a:latin typeface="Segoe UI" pitchFamily="34" charset="0"/>
                <a:ea typeface="Segoe UI" pitchFamily="34" charset="-122"/>
                <a:cs typeface="Segoe UI" pitchFamily="34" charset="-120"/>
              </a:rPr>
              <a:t>found only by the cells, 2025</a:t>
            </a:r>
            <a:endParaRPr lang="en-US" sz="1200" dirty="0"/>
          </a:p>
        </p:txBody>
      </p:sp>
      <p:sp>
        <p:nvSpPr>
          <p:cNvPr id="19" name="a1float_gc"/>
          <p:cNvSpPr/>
          <p:nvPr/>
        </p:nvSpPr>
        <p:spPr>
          <a:xfrm>
            <a:off x="7543800" y="1691640"/>
            <a:ext cx="4096512" cy="3429000"/>
          </a:xfrm>
          <a:prstGeom prst="roundRect">
            <a:avLst>
              <a:gd name="adj" fmla="val 3733"/>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20" name="a1float_gl"/>
          <p:cNvSpPr txBox="1"/>
          <p:nvPr/>
        </p:nvSpPr>
        <p:spPr>
          <a:xfrm>
            <a:off x="7726680" y="1810512"/>
            <a:ext cx="36576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WHEN DID THE ALERT START?</a:t>
            </a:r>
            <a:endParaRPr lang="en-US" sz="1100" dirty="0"/>
          </a:p>
        </p:txBody>
      </p:sp>
      <p:sp>
        <p:nvSpPr>
          <p:cNvPr id="21" name="a1float_gy2022"/>
          <p:cNvSpPr/>
          <p:nvPr/>
        </p:nvSpPr>
        <p:spPr>
          <a:xfrm>
            <a:off x="8503920" y="2148840"/>
            <a:ext cx="0" cy="2423160"/>
          </a:xfrm>
          <a:prstGeom prst="line">
            <a:avLst/>
          </a:prstGeom>
          <a:noFill/>
          <a:ln w="9525">
            <a:solidFill>
              <a:srgbClr val="D3E0EE"/>
            </a:solidFill>
            <a:prstDash val="dash"/>
          </a:ln>
        </p:spPr>
      </p:sp>
      <p:sp>
        <p:nvSpPr>
          <p:cNvPr id="22" name="a1float_gyt2022"/>
          <p:cNvSpPr txBox="1"/>
          <p:nvPr/>
        </p:nvSpPr>
        <p:spPr>
          <a:xfrm>
            <a:off x="8229600" y="4599432"/>
            <a:ext cx="548640" cy="228600"/>
          </a:xfrm>
          <a:prstGeom prst="rect">
            <a:avLst/>
          </a:prstGeom>
          <a:noFill/>
          <a:ln/>
        </p:spPr>
        <p:txBody>
          <a:bodyPr wrap="square" lIns="0" tIns="0" rIns="0" bIns="0" rtlCol="0" anchor="t"/>
          <a:lstStyle/>
          <a:p>
            <a:pPr marL="0" indent="0" algn="ctr">
              <a:lnSpc>
                <a:spcPct val="105000"/>
              </a:lnSpc>
              <a:buNone/>
            </a:pPr>
            <a:r>
              <a:rPr lang="en-US" sz="1000" dirty="0">
                <a:solidFill>
                  <a:srgbClr val="5F738A"/>
                </a:solidFill>
                <a:latin typeface="Segoe UI" pitchFamily="34" charset="0"/>
                <a:ea typeface="Segoe UI" pitchFamily="34" charset="-122"/>
                <a:cs typeface="Segoe UI" pitchFamily="34" charset="-120"/>
              </a:rPr>
              <a:t>2022</a:t>
            </a:r>
            <a:endParaRPr lang="en-US" sz="1000" dirty="0"/>
          </a:p>
        </p:txBody>
      </p:sp>
      <p:sp>
        <p:nvSpPr>
          <p:cNvPr id="23" name="a1float_gy2023"/>
          <p:cNvSpPr/>
          <p:nvPr/>
        </p:nvSpPr>
        <p:spPr>
          <a:xfrm>
            <a:off x="9418513" y="2148840"/>
            <a:ext cx="0" cy="2423160"/>
          </a:xfrm>
          <a:prstGeom prst="line">
            <a:avLst/>
          </a:prstGeom>
          <a:noFill/>
          <a:ln w="9525">
            <a:solidFill>
              <a:srgbClr val="D3E0EE"/>
            </a:solidFill>
            <a:prstDash val="dash"/>
          </a:ln>
        </p:spPr>
      </p:sp>
      <p:sp>
        <p:nvSpPr>
          <p:cNvPr id="24" name="a1float_gyt2023"/>
          <p:cNvSpPr txBox="1"/>
          <p:nvPr/>
        </p:nvSpPr>
        <p:spPr>
          <a:xfrm>
            <a:off x="9144193" y="4599432"/>
            <a:ext cx="548640" cy="228600"/>
          </a:xfrm>
          <a:prstGeom prst="rect">
            <a:avLst/>
          </a:prstGeom>
          <a:noFill/>
          <a:ln/>
        </p:spPr>
        <p:txBody>
          <a:bodyPr wrap="square" lIns="0" tIns="0" rIns="0" bIns="0" rtlCol="0" anchor="t"/>
          <a:lstStyle/>
          <a:p>
            <a:pPr marL="0" indent="0" algn="ctr">
              <a:lnSpc>
                <a:spcPct val="105000"/>
              </a:lnSpc>
              <a:buNone/>
            </a:pPr>
            <a:r>
              <a:rPr lang="en-US" sz="1000" dirty="0">
                <a:solidFill>
                  <a:srgbClr val="5F738A"/>
                </a:solidFill>
                <a:latin typeface="Segoe UI" pitchFamily="34" charset="0"/>
                <a:ea typeface="Segoe UI" pitchFamily="34" charset="-122"/>
                <a:cs typeface="Segoe UI" pitchFamily="34" charset="-120"/>
              </a:rPr>
              <a:t>2023</a:t>
            </a:r>
            <a:endParaRPr lang="en-US" sz="1000" dirty="0"/>
          </a:p>
        </p:txBody>
      </p:sp>
      <p:sp>
        <p:nvSpPr>
          <p:cNvPr id="25" name="a1float_gy2024"/>
          <p:cNvSpPr/>
          <p:nvPr/>
        </p:nvSpPr>
        <p:spPr>
          <a:xfrm>
            <a:off x="10333105" y="2148840"/>
            <a:ext cx="0" cy="2423160"/>
          </a:xfrm>
          <a:prstGeom prst="line">
            <a:avLst/>
          </a:prstGeom>
          <a:noFill/>
          <a:ln w="9525">
            <a:solidFill>
              <a:srgbClr val="D3E0EE"/>
            </a:solidFill>
            <a:prstDash val="dash"/>
          </a:ln>
        </p:spPr>
      </p:sp>
      <p:sp>
        <p:nvSpPr>
          <p:cNvPr id="26" name="a1float_gyt2024"/>
          <p:cNvSpPr txBox="1"/>
          <p:nvPr/>
        </p:nvSpPr>
        <p:spPr>
          <a:xfrm>
            <a:off x="10058785" y="4599432"/>
            <a:ext cx="548640" cy="228600"/>
          </a:xfrm>
          <a:prstGeom prst="rect">
            <a:avLst/>
          </a:prstGeom>
          <a:noFill/>
          <a:ln/>
        </p:spPr>
        <p:txBody>
          <a:bodyPr wrap="square" lIns="0" tIns="0" rIns="0" bIns="0" rtlCol="0" anchor="t"/>
          <a:lstStyle/>
          <a:p>
            <a:pPr marL="0" indent="0" algn="ctr">
              <a:lnSpc>
                <a:spcPct val="105000"/>
              </a:lnSpc>
              <a:buNone/>
            </a:pPr>
            <a:r>
              <a:rPr lang="en-US" sz="1000" dirty="0">
                <a:solidFill>
                  <a:srgbClr val="5F738A"/>
                </a:solidFill>
                <a:latin typeface="Segoe UI" pitchFamily="34" charset="0"/>
                <a:ea typeface="Segoe UI" pitchFamily="34" charset="-122"/>
                <a:cs typeface="Segoe UI" pitchFamily="34" charset="-120"/>
              </a:rPr>
              <a:t>2024</a:t>
            </a:r>
            <a:endParaRPr lang="en-US" sz="1000" dirty="0"/>
          </a:p>
        </p:txBody>
      </p:sp>
      <p:sp>
        <p:nvSpPr>
          <p:cNvPr id="27" name="a1float_gy2025"/>
          <p:cNvSpPr/>
          <p:nvPr/>
        </p:nvSpPr>
        <p:spPr>
          <a:xfrm>
            <a:off x="11250204" y="2148840"/>
            <a:ext cx="0" cy="2423160"/>
          </a:xfrm>
          <a:prstGeom prst="line">
            <a:avLst/>
          </a:prstGeom>
          <a:noFill/>
          <a:ln w="9525">
            <a:solidFill>
              <a:srgbClr val="D3E0EE"/>
            </a:solidFill>
            <a:prstDash val="dash"/>
          </a:ln>
        </p:spPr>
      </p:sp>
      <p:sp>
        <p:nvSpPr>
          <p:cNvPr id="28" name="a1float_gyt2025"/>
          <p:cNvSpPr txBox="1"/>
          <p:nvPr/>
        </p:nvSpPr>
        <p:spPr>
          <a:xfrm>
            <a:off x="10975884" y="4599432"/>
            <a:ext cx="548640" cy="228600"/>
          </a:xfrm>
          <a:prstGeom prst="rect">
            <a:avLst/>
          </a:prstGeom>
          <a:noFill/>
          <a:ln/>
        </p:spPr>
        <p:txBody>
          <a:bodyPr wrap="square" lIns="0" tIns="0" rIns="0" bIns="0" rtlCol="0" anchor="t"/>
          <a:lstStyle/>
          <a:p>
            <a:pPr marL="0" indent="0" algn="ctr">
              <a:lnSpc>
                <a:spcPct val="105000"/>
              </a:lnSpc>
              <a:buNone/>
            </a:pPr>
            <a:r>
              <a:rPr lang="en-US" sz="1000" dirty="0">
                <a:solidFill>
                  <a:srgbClr val="5F738A"/>
                </a:solidFill>
                <a:latin typeface="Segoe UI" pitchFamily="34" charset="0"/>
                <a:ea typeface="Segoe UI" pitchFamily="34" charset="-122"/>
                <a:cs typeface="Segoe UI" pitchFamily="34" charset="-120"/>
              </a:rPr>
              <a:t>2025</a:t>
            </a:r>
            <a:endParaRPr lang="en-US" sz="1000" dirty="0"/>
          </a:p>
        </p:txBody>
      </p:sp>
      <p:sp>
        <p:nvSpPr>
          <p:cNvPr id="29" name="a2fade_gn0"/>
          <p:cNvSpPr txBox="1"/>
          <p:nvPr/>
        </p:nvSpPr>
        <p:spPr>
          <a:xfrm>
            <a:off x="7726680" y="2240280"/>
            <a:ext cx="777240" cy="274320"/>
          </a:xfrm>
          <a:prstGeom prst="rect">
            <a:avLst/>
          </a:prstGeom>
          <a:noFill/>
          <a:ln/>
        </p:spPr>
        <p:txBody>
          <a:bodyPr wrap="square" lIns="0" tIns="0" rIns="0" bIns="0" rtlCol="0" anchor="ctr"/>
          <a:lstStyle/>
          <a:p>
            <a:pPr marL="0" indent="0" algn="l">
              <a:lnSpc>
                <a:spcPct val="105000"/>
              </a:lnSpc>
              <a:buNone/>
            </a:pPr>
            <a:r>
              <a:rPr lang="en-US" sz="1100" dirty="0">
                <a:solidFill>
                  <a:srgbClr val="1B2B40"/>
                </a:solidFill>
                <a:latin typeface="Segoe UI Semibold" pitchFamily="34" charset="0"/>
                <a:ea typeface="Segoe UI Semibold" pitchFamily="34" charset="-122"/>
                <a:cs typeface="Segoe UI Semibold" pitchFamily="34" charset="-120"/>
              </a:rPr>
              <a:t>Stand 5</a:t>
            </a:r>
            <a:endParaRPr lang="en-US" sz="1100" dirty="0"/>
          </a:p>
        </p:txBody>
      </p:sp>
      <p:sp>
        <p:nvSpPr>
          <p:cNvPr id="30" name="a2fade_gw0"/>
          <p:cNvSpPr/>
          <p:nvPr/>
        </p:nvSpPr>
        <p:spPr>
          <a:xfrm>
            <a:off x="8719413" y="2286000"/>
            <a:ext cx="829398" cy="182880"/>
          </a:xfrm>
          <a:prstGeom prst="roundRect">
            <a:avLst>
              <a:gd name="adj" fmla="val 30000"/>
            </a:avLst>
          </a:prstGeom>
          <a:solidFill>
            <a:srgbClr val="5C8DB8">
              <a:alpha val="45000"/>
            </a:srgbClr>
          </a:solidFill>
          <a:ln w="9525">
            <a:solidFill>
              <a:srgbClr val="5C8DB8"/>
            </a:solidFill>
            <a:prstDash val="solid"/>
          </a:ln>
        </p:spPr>
      </p:sp>
      <p:sp>
        <p:nvSpPr>
          <p:cNvPr id="31" name="a3pop_gd0"/>
          <p:cNvSpPr/>
          <p:nvPr/>
        </p:nvSpPr>
        <p:spPr>
          <a:xfrm>
            <a:off x="9129251" y="2258568"/>
            <a:ext cx="237744" cy="237744"/>
          </a:xfrm>
          <a:prstGeom prst="diamond">
            <a:avLst/>
          </a:prstGeom>
          <a:solidFill>
            <a:srgbClr val="BE5F6D"/>
          </a:solidFill>
          <a:ln w="12700">
            <a:solidFill>
              <a:srgbClr val="FFFFFF"/>
            </a:solidFill>
            <a:prstDash val="solid"/>
          </a:ln>
        </p:spPr>
      </p:sp>
      <p:sp>
        <p:nvSpPr>
          <p:cNvPr id="32" name="a2fade_gn1"/>
          <p:cNvSpPr txBox="1"/>
          <p:nvPr/>
        </p:nvSpPr>
        <p:spPr>
          <a:xfrm>
            <a:off x="7726680" y="2697480"/>
            <a:ext cx="777240" cy="274320"/>
          </a:xfrm>
          <a:prstGeom prst="rect">
            <a:avLst/>
          </a:prstGeom>
          <a:noFill/>
          <a:ln/>
        </p:spPr>
        <p:txBody>
          <a:bodyPr wrap="square" lIns="0" tIns="0" rIns="0" bIns="0" rtlCol="0" anchor="ctr"/>
          <a:lstStyle/>
          <a:p>
            <a:pPr marL="0" indent="0" algn="l">
              <a:lnSpc>
                <a:spcPct val="105000"/>
              </a:lnSpc>
              <a:buNone/>
            </a:pPr>
            <a:r>
              <a:rPr lang="en-US" sz="1100" dirty="0">
                <a:solidFill>
                  <a:srgbClr val="1B2B40"/>
                </a:solidFill>
                <a:latin typeface="Segoe UI Semibold" pitchFamily="34" charset="0"/>
                <a:ea typeface="Segoe UI Semibold" pitchFamily="34" charset="-122"/>
                <a:cs typeface="Segoe UI Semibold" pitchFamily="34" charset="-120"/>
              </a:rPr>
              <a:t>Stand 9</a:t>
            </a:r>
            <a:endParaRPr lang="en-US" sz="1100" dirty="0"/>
          </a:p>
        </p:txBody>
      </p:sp>
      <p:sp>
        <p:nvSpPr>
          <p:cNvPr id="33" name="a2fade_gw1"/>
          <p:cNvSpPr/>
          <p:nvPr/>
        </p:nvSpPr>
        <p:spPr>
          <a:xfrm>
            <a:off x="8719413" y="2743200"/>
            <a:ext cx="829398" cy="182880"/>
          </a:xfrm>
          <a:prstGeom prst="roundRect">
            <a:avLst>
              <a:gd name="adj" fmla="val 30000"/>
            </a:avLst>
          </a:prstGeom>
          <a:solidFill>
            <a:srgbClr val="5C8DB8">
              <a:alpha val="45000"/>
            </a:srgbClr>
          </a:solidFill>
          <a:ln w="9525">
            <a:solidFill>
              <a:srgbClr val="5C8DB8"/>
            </a:solidFill>
            <a:prstDash val="solid"/>
          </a:ln>
        </p:spPr>
      </p:sp>
      <p:sp>
        <p:nvSpPr>
          <p:cNvPr id="34" name="a4pop_gd1"/>
          <p:cNvSpPr/>
          <p:nvPr/>
        </p:nvSpPr>
        <p:spPr>
          <a:xfrm>
            <a:off x="9236997" y="2715768"/>
            <a:ext cx="237744" cy="237744"/>
          </a:xfrm>
          <a:prstGeom prst="diamond">
            <a:avLst/>
          </a:prstGeom>
          <a:solidFill>
            <a:srgbClr val="BE5F6D"/>
          </a:solidFill>
          <a:ln w="12700">
            <a:solidFill>
              <a:srgbClr val="FFFFFF"/>
            </a:solidFill>
            <a:prstDash val="solid"/>
          </a:ln>
        </p:spPr>
      </p:sp>
      <p:sp>
        <p:nvSpPr>
          <p:cNvPr id="35" name="a2fade_gn2"/>
          <p:cNvSpPr txBox="1"/>
          <p:nvPr/>
        </p:nvSpPr>
        <p:spPr>
          <a:xfrm>
            <a:off x="7726680" y="3154680"/>
            <a:ext cx="777240" cy="274320"/>
          </a:xfrm>
          <a:prstGeom prst="rect">
            <a:avLst/>
          </a:prstGeom>
          <a:noFill/>
          <a:ln/>
        </p:spPr>
        <p:txBody>
          <a:bodyPr wrap="square" lIns="0" tIns="0" rIns="0" bIns="0" rtlCol="0" anchor="ctr"/>
          <a:lstStyle/>
          <a:p>
            <a:pPr marL="0" indent="0" algn="l">
              <a:lnSpc>
                <a:spcPct val="105000"/>
              </a:lnSpc>
              <a:buNone/>
            </a:pPr>
            <a:r>
              <a:rPr lang="en-US" sz="1100" dirty="0">
                <a:solidFill>
                  <a:srgbClr val="1B2B40"/>
                </a:solidFill>
                <a:latin typeface="Segoe UI Semibold" pitchFamily="34" charset="0"/>
                <a:ea typeface="Segoe UI Semibold" pitchFamily="34" charset="-122"/>
                <a:cs typeface="Segoe UI Semibold" pitchFamily="34" charset="-120"/>
              </a:rPr>
              <a:t>Stand 12</a:t>
            </a:r>
            <a:endParaRPr lang="en-US" sz="1100" dirty="0"/>
          </a:p>
        </p:txBody>
      </p:sp>
      <p:sp>
        <p:nvSpPr>
          <p:cNvPr id="36" name="a2fade_gw2"/>
          <p:cNvSpPr/>
          <p:nvPr/>
        </p:nvSpPr>
        <p:spPr>
          <a:xfrm>
            <a:off x="8719413" y="3200400"/>
            <a:ext cx="829398" cy="182880"/>
          </a:xfrm>
          <a:prstGeom prst="roundRect">
            <a:avLst>
              <a:gd name="adj" fmla="val 30000"/>
            </a:avLst>
          </a:prstGeom>
          <a:solidFill>
            <a:srgbClr val="5C8DB8">
              <a:alpha val="45000"/>
            </a:srgbClr>
          </a:solidFill>
          <a:ln w="9525">
            <a:solidFill>
              <a:srgbClr val="5C8DB8"/>
            </a:solidFill>
            <a:prstDash val="solid"/>
          </a:ln>
        </p:spPr>
      </p:sp>
      <p:sp>
        <p:nvSpPr>
          <p:cNvPr id="37" name="a5pop_gd2"/>
          <p:cNvSpPr/>
          <p:nvPr/>
        </p:nvSpPr>
        <p:spPr>
          <a:xfrm>
            <a:off x="9262055" y="3172968"/>
            <a:ext cx="237744" cy="237744"/>
          </a:xfrm>
          <a:prstGeom prst="diamond">
            <a:avLst/>
          </a:prstGeom>
          <a:solidFill>
            <a:srgbClr val="BE5F6D"/>
          </a:solidFill>
          <a:ln w="12700">
            <a:solidFill>
              <a:srgbClr val="FFFFFF"/>
            </a:solidFill>
            <a:prstDash val="solid"/>
          </a:ln>
        </p:spPr>
      </p:sp>
      <p:sp>
        <p:nvSpPr>
          <p:cNvPr id="38" name="a2fade_gn3"/>
          <p:cNvSpPr txBox="1"/>
          <p:nvPr/>
        </p:nvSpPr>
        <p:spPr>
          <a:xfrm>
            <a:off x="7726680" y="3611880"/>
            <a:ext cx="777240" cy="274320"/>
          </a:xfrm>
          <a:prstGeom prst="rect">
            <a:avLst/>
          </a:prstGeom>
          <a:noFill/>
          <a:ln/>
        </p:spPr>
        <p:txBody>
          <a:bodyPr wrap="square" lIns="0" tIns="0" rIns="0" bIns="0" rtlCol="0" anchor="ctr"/>
          <a:lstStyle/>
          <a:p>
            <a:pPr marL="0" indent="0" algn="l">
              <a:lnSpc>
                <a:spcPct val="105000"/>
              </a:lnSpc>
              <a:buNone/>
            </a:pPr>
            <a:r>
              <a:rPr lang="en-US" sz="1100" dirty="0">
                <a:solidFill>
                  <a:srgbClr val="1B2B40"/>
                </a:solidFill>
                <a:latin typeface="Segoe UI Semibold" pitchFamily="34" charset="0"/>
                <a:ea typeface="Segoe UI Semibold" pitchFamily="34" charset="-122"/>
                <a:cs typeface="Segoe UI Semibold" pitchFamily="34" charset="-120"/>
              </a:rPr>
              <a:t>Stand 6</a:t>
            </a:r>
            <a:endParaRPr lang="en-US" sz="1100" dirty="0"/>
          </a:p>
        </p:txBody>
      </p:sp>
      <p:sp>
        <p:nvSpPr>
          <p:cNvPr id="39" name="a2fade_gw3"/>
          <p:cNvSpPr/>
          <p:nvPr/>
        </p:nvSpPr>
        <p:spPr>
          <a:xfrm>
            <a:off x="8719413" y="3657600"/>
            <a:ext cx="829398" cy="182880"/>
          </a:xfrm>
          <a:prstGeom prst="roundRect">
            <a:avLst>
              <a:gd name="adj" fmla="val 30000"/>
            </a:avLst>
          </a:prstGeom>
          <a:solidFill>
            <a:srgbClr val="5C8DB8">
              <a:alpha val="45000"/>
            </a:srgbClr>
          </a:solidFill>
          <a:ln w="9525">
            <a:solidFill>
              <a:srgbClr val="5C8DB8"/>
            </a:solidFill>
            <a:prstDash val="solid"/>
          </a:ln>
        </p:spPr>
      </p:sp>
      <p:sp>
        <p:nvSpPr>
          <p:cNvPr id="40" name="a6pop_gd3"/>
          <p:cNvSpPr/>
          <p:nvPr/>
        </p:nvSpPr>
        <p:spPr>
          <a:xfrm>
            <a:off x="9417410" y="3630168"/>
            <a:ext cx="237744" cy="237744"/>
          </a:xfrm>
          <a:prstGeom prst="diamond">
            <a:avLst/>
          </a:prstGeom>
          <a:solidFill>
            <a:srgbClr val="BE5F6D"/>
          </a:solidFill>
          <a:ln w="12700">
            <a:solidFill>
              <a:srgbClr val="FFFFFF"/>
            </a:solidFill>
            <a:prstDash val="solid"/>
          </a:ln>
        </p:spPr>
      </p:sp>
      <p:sp>
        <p:nvSpPr>
          <p:cNvPr id="41" name="a2fade_gn4"/>
          <p:cNvSpPr txBox="1"/>
          <p:nvPr/>
        </p:nvSpPr>
        <p:spPr>
          <a:xfrm>
            <a:off x="7726680" y="4069080"/>
            <a:ext cx="777240" cy="274320"/>
          </a:xfrm>
          <a:prstGeom prst="rect">
            <a:avLst/>
          </a:prstGeom>
          <a:noFill/>
          <a:ln/>
        </p:spPr>
        <p:txBody>
          <a:bodyPr wrap="square" lIns="0" tIns="0" rIns="0" bIns="0" rtlCol="0" anchor="ctr"/>
          <a:lstStyle/>
          <a:p>
            <a:pPr marL="0" indent="0" algn="l">
              <a:lnSpc>
                <a:spcPct val="105000"/>
              </a:lnSpc>
              <a:buNone/>
            </a:pPr>
            <a:r>
              <a:rPr lang="en-US" sz="1100" dirty="0">
                <a:solidFill>
                  <a:srgbClr val="1B2B40"/>
                </a:solidFill>
                <a:latin typeface="Segoe UI Semibold" pitchFamily="34" charset="0"/>
                <a:ea typeface="Segoe UI Semibold" pitchFamily="34" charset="-122"/>
                <a:cs typeface="Segoe UI Semibold" pitchFamily="34" charset="-120"/>
              </a:rPr>
              <a:t>Stand 18</a:t>
            </a:r>
            <a:endParaRPr lang="en-US" sz="1100" dirty="0"/>
          </a:p>
        </p:txBody>
      </p:sp>
      <p:sp>
        <p:nvSpPr>
          <p:cNvPr id="42" name="a2fade_gw4"/>
          <p:cNvSpPr/>
          <p:nvPr/>
        </p:nvSpPr>
        <p:spPr>
          <a:xfrm>
            <a:off x="10212830" y="4114800"/>
            <a:ext cx="1049902" cy="182880"/>
          </a:xfrm>
          <a:prstGeom prst="roundRect">
            <a:avLst>
              <a:gd name="adj" fmla="val 30000"/>
            </a:avLst>
          </a:prstGeom>
          <a:solidFill>
            <a:srgbClr val="5C8DB8">
              <a:alpha val="45000"/>
            </a:srgbClr>
          </a:solidFill>
          <a:ln w="9525">
            <a:solidFill>
              <a:srgbClr val="5C8DB8"/>
            </a:solidFill>
            <a:prstDash val="solid"/>
          </a:ln>
        </p:spPr>
      </p:sp>
      <p:sp>
        <p:nvSpPr>
          <p:cNvPr id="43" name="a7pop_gd4"/>
          <p:cNvSpPr/>
          <p:nvPr/>
        </p:nvSpPr>
        <p:spPr>
          <a:xfrm>
            <a:off x="10970965" y="4087368"/>
            <a:ext cx="237744" cy="237744"/>
          </a:xfrm>
          <a:prstGeom prst="diamond">
            <a:avLst/>
          </a:prstGeom>
          <a:solidFill>
            <a:srgbClr val="BE5F6D"/>
          </a:solidFill>
          <a:ln w="12700">
            <a:solidFill>
              <a:srgbClr val="FFFFFF"/>
            </a:solidFill>
            <a:prstDash val="solid"/>
          </a:ln>
        </p:spPr>
      </p:sp>
      <p:sp>
        <p:nvSpPr>
          <p:cNvPr id="44" name="a8ping_d0"/>
          <p:cNvSpPr/>
          <p:nvPr/>
        </p:nvSpPr>
        <p:spPr>
          <a:xfrm>
            <a:off x="9101819" y="2231136"/>
            <a:ext cx="292608" cy="292608"/>
          </a:xfrm>
          <a:prstGeom prst="ellipse">
            <a:avLst/>
          </a:prstGeom>
          <a:ln w="25400">
            <a:solidFill>
              <a:srgbClr val="BE5F6D"/>
            </a:solidFill>
            <a:prstDash val="solid"/>
          </a:ln>
        </p:spPr>
      </p:sp>
      <p:sp>
        <p:nvSpPr>
          <p:cNvPr id="45" name="a8fade_lg1"/>
          <p:cNvSpPr/>
          <p:nvPr/>
        </p:nvSpPr>
        <p:spPr>
          <a:xfrm>
            <a:off x="7726680" y="4873752"/>
            <a:ext cx="274320" cy="128016"/>
          </a:xfrm>
          <a:prstGeom prst="roundRect">
            <a:avLst>
              <a:gd name="adj" fmla="val 35714"/>
            </a:avLst>
          </a:prstGeom>
          <a:solidFill>
            <a:srgbClr val="5C8DB8">
              <a:alpha val="45000"/>
            </a:srgbClr>
          </a:solidFill>
          <a:ln w="9525">
            <a:solidFill>
              <a:srgbClr val="5C8DB8"/>
            </a:solidFill>
            <a:prstDash val="solid"/>
          </a:ln>
        </p:spPr>
      </p:sp>
      <p:sp>
        <p:nvSpPr>
          <p:cNvPr id="46" name="a8fade_lg1t"/>
          <p:cNvSpPr txBox="1"/>
          <p:nvPr/>
        </p:nvSpPr>
        <p:spPr>
          <a:xfrm>
            <a:off x="8065008" y="4818888"/>
            <a:ext cx="2194560" cy="237744"/>
          </a:xfrm>
          <a:prstGeom prst="rect">
            <a:avLst/>
          </a:prstGeom>
          <a:noFill/>
          <a:ln/>
        </p:spPr>
        <p:txBody>
          <a:bodyPr wrap="square" lIns="0" tIns="0" rIns="0" bIns="0" rtlCol="0" anchor="t"/>
          <a:lstStyle/>
          <a:p>
            <a:pPr marL="0" indent="0" algn="l">
              <a:lnSpc>
                <a:spcPct val="105000"/>
              </a:lnSpc>
              <a:buNone/>
            </a:pPr>
            <a:r>
              <a:rPr lang="en-US" sz="1000" dirty="0">
                <a:solidFill>
                  <a:srgbClr val="5F738A"/>
                </a:solidFill>
                <a:latin typeface="Segoe UI" pitchFamily="34" charset="0"/>
                <a:ea typeface="Segoe UI" pitchFamily="34" charset="-122"/>
                <a:cs typeface="Segoe UI" pitchFamily="34" charset="-120"/>
              </a:rPr>
              <a:t>last intact → first capture with works</a:t>
            </a:r>
            <a:endParaRPr lang="en-US" sz="1000" dirty="0"/>
          </a:p>
        </p:txBody>
      </p:sp>
      <p:sp>
        <p:nvSpPr>
          <p:cNvPr id="47" name="a8fade_lg2"/>
          <p:cNvSpPr/>
          <p:nvPr/>
        </p:nvSpPr>
        <p:spPr>
          <a:xfrm>
            <a:off x="10332720" y="4846320"/>
            <a:ext cx="164592" cy="164592"/>
          </a:xfrm>
          <a:prstGeom prst="diamond">
            <a:avLst/>
          </a:prstGeom>
          <a:solidFill>
            <a:srgbClr val="BE5F6D"/>
          </a:solidFill>
          <a:ln/>
        </p:spPr>
      </p:sp>
      <p:sp>
        <p:nvSpPr>
          <p:cNvPr id="48" name="a8fade_lg2t"/>
          <p:cNvSpPr txBox="1"/>
          <p:nvPr/>
        </p:nvSpPr>
        <p:spPr>
          <a:xfrm>
            <a:off x="10543032" y="4818888"/>
            <a:ext cx="1005840" cy="237744"/>
          </a:xfrm>
          <a:prstGeom prst="rect">
            <a:avLst/>
          </a:prstGeom>
          <a:noFill/>
          <a:ln/>
        </p:spPr>
        <p:txBody>
          <a:bodyPr wrap="square" lIns="0" tIns="0" rIns="0" bIns="0" rtlCol="0" anchor="t"/>
          <a:lstStyle/>
          <a:p>
            <a:pPr marL="0" indent="0" algn="l">
              <a:lnSpc>
                <a:spcPct val="105000"/>
              </a:lnSpc>
              <a:buNone/>
            </a:pPr>
            <a:r>
              <a:rPr lang="en-US" sz="1000" dirty="0">
                <a:solidFill>
                  <a:srgbClr val="5F738A"/>
                </a:solidFill>
                <a:latin typeface="Segoe UI" pitchFamily="34" charset="0"/>
                <a:ea typeface="Segoe UI" pitchFamily="34" charset="-122"/>
                <a:cs typeface="Segoe UI" pitchFamily="34" charset="-120"/>
              </a:rPr>
              <a:t>our alert starts</a:t>
            </a:r>
            <a:endParaRPr lang="en-US" sz="1000" dirty="0"/>
          </a:p>
        </p:txBody>
      </p:sp>
      <p:sp>
        <p:nvSpPr>
          <p:cNvPr id="49" name="a9float_msg"/>
          <p:cNvSpPr/>
          <p:nvPr/>
        </p:nvSpPr>
        <p:spPr>
          <a:xfrm>
            <a:off x="7543800" y="5257800"/>
            <a:ext cx="4096512" cy="914400"/>
          </a:xfrm>
          <a:prstGeom prst="roundRect">
            <a:avLst>
              <a:gd name="adj" fmla="val 14000"/>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sp>
      <p:sp>
        <p:nvSpPr>
          <p:cNvPr id="50" name="a9float_msgt"/>
          <p:cNvSpPr txBox="1"/>
          <p:nvPr/>
        </p:nvSpPr>
        <p:spPr>
          <a:xfrm>
            <a:off x="7726680" y="5257800"/>
            <a:ext cx="3794760" cy="914400"/>
          </a:xfrm>
          <a:prstGeom prst="rect">
            <a:avLst/>
          </a:prstGeom>
          <a:noFill/>
          <a:ln/>
        </p:spPr>
        <p:txBody>
          <a:bodyPr wrap="square" lIns="0" tIns="0" rIns="0" bIns="0" rtlCol="0" anchor="ctr"/>
          <a:lstStyle/>
          <a:p>
            <a:pPr marL="0" indent="0" algn="l">
              <a:lnSpc>
                <a:spcPct val="105000"/>
              </a:lnSpc>
              <a:buNone/>
            </a:pPr>
            <a:r>
              <a:rPr lang="en-US" sz="1300" b="1" dirty="0">
                <a:solidFill>
                  <a:srgbClr val="2F5D8F"/>
                </a:solidFill>
                <a:latin typeface="Segoe UI" pitchFamily="34" charset="0"/>
                <a:ea typeface="Segoe UI" pitchFamily="34" charset="-122"/>
                <a:cs typeface="Segoe UI" pitchFamily="34" charset="-120"/>
              </a:rPr>
              <a:t>Every alert began inside the window. </a:t>
            </a:r>
            <a:r>
              <a:rPr lang="en-US" sz="1300" dirty="0">
                <a:solidFill>
                  <a:srgbClr val="1B2B40"/>
                </a:solidFill>
                <a:latin typeface="Segoe UI" pitchFamily="34" charset="0"/>
                <a:ea typeface="Segoe UI" pitchFamily="34" charset="-122"/>
                <a:cs typeface="Segoe UI" pitchFamily="34" charset="-120"/>
              </a:rPr>
              <a:t>Detection as works happen, not advance warning.</a:t>
            </a:r>
            <a:endParaRPr lang="en-US" sz="1300" dirty="0"/>
          </a:p>
        </p:txBody>
      </p:sp>
      <p:sp>
        <p:nvSpPr>
          <p:cNvPr id="51"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53" presetClass="entr" presetSubtype="16"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800" fill="hold"/>
                                        <p:tgtEl>
                                          <p:spTgt spid="7"/>
                                        </p:tgtEl>
                                        <p:attrNameLst>
                                          <p:attrName>ppt_w</p:attrName>
                                        </p:attrNameLst>
                                      </p:cBhvr>
                                      <p:tavLst>
                                        <p:tav tm="0">
                                          <p:val>
                                            <p:strVal val="#ppt_w*0.85"/>
                                          </p:val>
                                        </p:tav>
                                        <p:tav tm="100000">
                                          <p:val>
                                            <p:strVal val="#ppt_w"/>
                                          </p:val>
                                        </p:tav>
                                      </p:tavLst>
                                    </p:anim>
                                    <p:anim calcmode="lin" valueType="num">
                                      <p:cBhvr additive="base">
                                        <p:cTn id="16" dur="800" fill="hold"/>
                                        <p:tgtEl>
                                          <p:spTgt spid="7"/>
                                        </p:tgtEl>
                                        <p:attrNameLst>
                                          <p:attrName>ppt_h</p:attrName>
                                        </p:attrNameLst>
                                      </p:cBhvr>
                                      <p:tavLst>
                                        <p:tav tm="0">
                                          <p:val>
                                            <p:strVal val="#ppt_h*0.85"/>
                                          </p:val>
                                        </p:tav>
                                        <p:tav tm="100000">
                                          <p:val>
                                            <p:strVal val="#ppt_h"/>
                                          </p:val>
                                        </p:tav>
                                      </p:tavLst>
                                    </p:anim>
                                  </p:childTnLst>
                                </p:cTn>
                              </p:par>
                              <p:par>
                                <p:cTn id="17" presetID="53" presetClass="entr" presetSubtype="16" decel="100000" fill="hold" grpId="0" nodeType="withEffect">
                                  <p:stCondLst>
                                    <p:cond delay="47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00"/>
                                        <p:tgtEl>
                                          <p:spTgt spid="8"/>
                                        </p:tgtEl>
                                      </p:cBhvr>
                                    </p:animEffect>
                                    <p:anim calcmode="lin" valueType="num">
                                      <p:cBhvr additive="base">
                                        <p:cTn id="20" dur="800" fill="hold"/>
                                        <p:tgtEl>
                                          <p:spTgt spid="8"/>
                                        </p:tgtEl>
                                        <p:attrNameLst>
                                          <p:attrName>ppt_w</p:attrName>
                                        </p:attrNameLst>
                                      </p:cBhvr>
                                      <p:tavLst>
                                        <p:tav tm="0">
                                          <p:val>
                                            <p:strVal val="#ppt_w*0.85"/>
                                          </p:val>
                                        </p:tav>
                                        <p:tav tm="100000">
                                          <p:val>
                                            <p:strVal val="#ppt_w"/>
                                          </p:val>
                                        </p:tav>
                                      </p:tavLst>
                                    </p:anim>
                                    <p:anim calcmode="lin" valueType="num">
                                      <p:cBhvr additive="base">
                                        <p:cTn id="21" dur="800" fill="hold"/>
                                        <p:tgtEl>
                                          <p:spTgt spid="8"/>
                                        </p:tgtEl>
                                        <p:attrNameLst>
                                          <p:attrName>ppt_h</p:attrName>
                                        </p:attrNameLst>
                                      </p:cBhvr>
                                      <p:tavLst>
                                        <p:tav tm="0">
                                          <p:val>
                                            <p:strVal val="#ppt_h*0.85"/>
                                          </p:val>
                                        </p:tav>
                                        <p:tav tm="100000">
                                          <p:val>
                                            <p:strVal val="#ppt_h"/>
                                          </p:val>
                                        </p:tav>
                                      </p:tavLst>
                                    </p:anim>
                                  </p:childTnLst>
                                </p:cTn>
                              </p:par>
                              <p:par>
                                <p:cTn id="22" presetID="53" presetClass="entr" presetSubtype="16" decel="100000" fill="hold" grpId="0" nodeType="withEffect">
                                  <p:stCondLst>
                                    <p:cond delay="47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700"/>
                                        <p:tgtEl>
                                          <p:spTgt spid="9"/>
                                        </p:tgtEl>
                                      </p:cBhvr>
                                    </p:animEffect>
                                    <p:anim calcmode="lin" valueType="num">
                                      <p:cBhvr additive="base">
                                        <p:cTn id="25" dur="800" fill="hold"/>
                                        <p:tgtEl>
                                          <p:spTgt spid="9"/>
                                        </p:tgtEl>
                                        <p:attrNameLst>
                                          <p:attrName>ppt_w</p:attrName>
                                        </p:attrNameLst>
                                      </p:cBhvr>
                                      <p:tavLst>
                                        <p:tav tm="0">
                                          <p:val>
                                            <p:strVal val="#ppt_w*0.85"/>
                                          </p:val>
                                        </p:tav>
                                        <p:tav tm="100000">
                                          <p:val>
                                            <p:strVal val="#ppt_w"/>
                                          </p:val>
                                        </p:tav>
                                      </p:tavLst>
                                    </p:anim>
                                    <p:anim calcmode="lin" valueType="num">
                                      <p:cBhvr additive="base">
                                        <p:cTn id="26" dur="800" fill="hold"/>
                                        <p:tgtEl>
                                          <p:spTgt spid="9"/>
                                        </p:tgtEl>
                                        <p:attrNameLst>
                                          <p:attrName>ppt_h</p:attrName>
                                        </p:attrNameLst>
                                      </p:cBhvr>
                                      <p:tavLst>
                                        <p:tav tm="0">
                                          <p:val>
                                            <p:strVal val="#ppt_h*0.85"/>
                                          </p:val>
                                        </p:tav>
                                        <p:tav tm="100000">
                                          <p:val>
                                            <p:strVal val="#ppt_h"/>
                                          </p:val>
                                        </p:tav>
                                      </p:tavLst>
                                    </p:anim>
                                  </p:childTnLst>
                                </p:cTn>
                              </p:par>
                              <p:par>
                                <p:cTn id="27" presetID="42" presetClass="entr" presetSubtype="0" decel="100000" fill="hold" grpId="0" nodeType="withEffect">
                                  <p:stCondLst>
                                    <p:cond delay="47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700"/>
                                        <p:tgtEl>
                                          <p:spTgt spid="19"/>
                                        </p:tgtEl>
                                      </p:cBhvr>
                                    </p:animEffect>
                                    <p:anim calcmode="lin" valueType="num">
                                      <p:cBhvr additive="base">
                                        <p:cTn id="30" dur="700" fill="hold"/>
                                        <p:tgtEl>
                                          <p:spTgt spid="19"/>
                                        </p:tgtEl>
                                        <p:attrNameLst>
                                          <p:attrName>ppt_y</p:attrName>
                                        </p:attrNameLst>
                                      </p:cBhvr>
                                      <p:tavLst>
                                        <p:tav tm="0">
                                          <p:val>
                                            <p:strVal val="#ppt_y+0.03"/>
                                          </p:val>
                                        </p:tav>
                                        <p:tav tm="100000">
                                          <p:val>
                                            <p:strVal val="#ppt_y"/>
                                          </p:val>
                                        </p:tav>
                                      </p:tavLst>
                                    </p:anim>
                                  </p:childTnLst>
                                </p:cTn>
                              </p:par>
                              <p:par>
                                <p:cTn id="31" presetID="42" presetClass="entr" presetSubtype="0" decel="100000" fill="hold" grpId="0" nodeType="withEffect">
                                  <p:stCondLst>
                                    <p:cond delay="47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700"/>
                                        <p:tgtEl>
                                          <p:spTgt spid="20"/>
                                        </p:tgtEl>
                                      </p:cBhvr>
                                    </p:animEffect>
                                    <p:anim calcmode="lin" valueType="num">
                                      <p:cBhvr additive="base">
                                        <p:cTn id="34" dur="700" fill="hold"/>
                                        <p:tgtEl>
                                          <p:spTgt spid="20"/>
                                        </p:tgtEl>
                                        <p:attrNameLst>
                                          <p:attrName>ppt_y</p:attrName>
                                        </p:attrNameLst>
                                      </p:cBhvr>
                                      <p:tavLst>
                                        <p:tav tm="0">
                                          <p:val>
                                            <p:strVal val="#ppt_y+0.03"/>
                                          </p:val>
                                        </p:tav>
                                        <p:tav tm="100000">
                                          <p:val>
                                            <p:strVal val="#ppt_y"/>
                                          </p:val>
                                        </p:tav>
                                      </p:tavLst>
                                    </p:anim>
                                  </p:childTnLst>
                                </p:cTn>
                              </p:par>
                              <p:par>
                                <p:cTn id="35" presetID="42" presetClass="entr" presetSubtype="0" decel="100000" fill="hold" grpId="0" nodeType="withEffect">
                                  <p:stCondLst>
                                    <p:cond delay="47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700"/>
                                        <p:tgtEl>
                                          <p:spTgt spid="21"/>
                                        </p:tgtEl>
                                      </p:cBhvr>
                                    </p:animEffect>
                                    <p:anim calcmode="lin" valueType="num">
                                      <p:cBhvr additive="base">
                                        <p:cTn id="38" dur="700" fill="hold"/>
                                        <p:tgtEl>
                                          <p:spTgt spid="21"/>
                                        </p:tgtEl>
                                        <p:attrNameLst>
                                          <p:attrName>ppt_y</p:attrName>
                                        </p:attrNameLst>
                                      </p:cBhvr>
                                      <p:tavLst>
                                        <p:tav tm="0">
                                          <p:val>
                                            <p:strVal val="#ppt_y+0.03"/>
                                          </p:val>
                                        </p:tav>
                                        <p:tav tm="100000">
                                          <p:val>
                                            <p:strVal val="#ppt_y"/>
                                          </p:val>
                                        </p:tav>
                                      </p:tavLst>
                                    </p:anim>
                                  </p:childTnLst>
                                </p:cTn>
                              </p:par>
                              <p:par>
                                <p:cTn id="39" presetID="42" presetClass="entr" presetSubtype="0" decel="100000" fill="hold" grpId="0" nodeType="withEffect">
                                  <p:stCondLst>
                                    <p:cond delay="47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700"/>
                                        <p:tgtEl>
                                          <p:spTgt spid="22"/>
                                        </p:tgtEl>
                                      </p:cBhvr>
                                    </p:animEffect>
                                    <p:anim calcmode="lin" valueType="num">
                                      <p:cBhvr additive="base">
                                        <p:cTn id="42" dur="700" fill="hold"/>
                                        <p:tgtEl>
                                          <p:spTgt spid="22"/>
                                        </p:tgtEl>
                                        <p:attrNameLst>
                                          <p:attrName>ppt_y</p:attrName>
                                        </p:attrNameLst>
                                      </p:cBhvr>
                                      <p:tavLst>
                                        <p:tav tm="0">
                                          <p:val>
                                            <p:strVal val="#ppt_y+0.03"/>
                                          </p:val>
                                        </p:tav>
                                        <p:tav tm="100000">
                                          <p:val>
                                            <p:strVal val="#ppt_y"/>
                                          </p:val>
                                        </p:tav>
                                      </p:tavLst>
                                    </p:anim>
                                  </p:childTnLst>
                                </p:cTn>
                              </p:par>
                              <p:par>
                                <p:cTn id="43" presetID="42" presetClass="entr" presetSubtype="0" decel="100000" fill="hold" grpId="0" nodeType="withEffect">
                                  <p:stCondLst>
                                    <p:cond delay="47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700"/>
                                        <p:tgtEl>
                                          <p:spTgt spid="23"/>
                                        </p:tgtEl>
                                      </p:cBhvr>
                                    </p:animEffect>
                                    <p:anim calcmode="lin" valueType="num">
                                      <p:cBhvr additive="base">
                                        <p:cTn id="46" dur="700" fill="hold"/>
                                        <p:tgtEl>
                                          <p:spTgt spid="23"/>
                                        </p:tgtEl>
                                        <p:attrNameLst>
                                          <p:attrName>ppt_y</p:attrName>
                                        </p:attrNameLst>
                                      </p:cBhvr>
                                      <p:tavLst>
                                        <p:tav tm="0">
                                          <p:val>
                                            <p:strVal val="#ppt_y+0.03"/>
                                          </p:val>
                                        </p:tav>
                                        <p:tav tm="100000">
                                          <p:val>
                                            <p:strVal val="#ppt_y"/>
                                          </p:val>
                                        </p:tav>
                                      </p:tavLst>
                                    </p:anim>
                                  </p:childTnLst>
                                </p:cTn>
                              </p:par>
                              <p:par>
                                <p:cTn id="47" presetID="42" presetClass="entr" presetSubtype="0" decel="100000" fill="hold" grpId="0" nodeType="withEffect">
                                  <p:stCondLst>
                                    <p:cond delay="47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700"/>
                                        <p:tgtEl>
                                          <p:spTgt spid="24"/>
                                        </p:tgtEl>
                                      </p:cBhvr>
                                    </p:animEffect>
                                    <p:anim calcmode="lin" valueType="num">
                                      <p:cBhvr additive="base">
                                        <p:cTn id="50" dur="700" fill="hold"/>
                                        <p:tgtEl>
                                          <p:spTgt spid="24"/>
                                        </p:tgtEl>
                                        <p:attrNameLst>
                                          <p:attrName>ppt_y</p:attrName>
                                        </p:attrNameLst>
                                      </p:cBhvr>
                                      <p:tavLst>
                                        <p:tav tm="0">
                                          <p:val>
                                            <p:strVal val="#ppt_y+0.03"/>
                                          </p:val>
                                        </p:tav>
                                        <p:tav tm="100000">
                                          <p:val>
                                            <p:strVal val="#ppt_y"/>
                                          </p:val>
                                        </p:tav>
                                      </p:tavLst>
                                    </p:anim>
                                  </p:childTnLst>
                                </p:cTn>
                              </p:par>
                              <p:par>
                                <p:cTn id="51" presetID="42" presetClass="entr" presetSubtype="0" decel="100000" fill="hold" grpId="0" nodeType="withEffect">
                                  <p:stCondLst>
                                    <p:cond delay="47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700"/>
                                        <p:tgtEl>
                                          <p:spTgt spid="25"/>
                                        </p:tgtEl>
                                      </p:cBhvr>
                                    </p:animEffect>
                                    <p:anim calcmode="lin" valueType="num">
                                      <p:cBhvr additive="base">
                                        <p:cTn id="54" dur="700" fill="hold"/>
                                        <p:tgtEl>
                                          <p:spTgt spid="25"/>
                                        </p:tgtEl>
                                        <p:attrNameLst>
                                          <p:attrName>ppt_y</p:attrName>
                                        </p:attrNameLst>
                                      </p:cBhvr>
                                      <p:tavLst>
                                        <p:tav tm="0">
                                          <p:val>
                                            <p:strVal val="#ppt_y+0.03"/>
                                          </p:val>
                                        </p:tav>
                                        <p:tav tm="100000">
                                          <p:val>
                                            <p:strVal val="#ppt_y"/>
                                          </p:val>
                                        </p:tav>
                                      </p:tavLst>
                                    </p:anim>
                                  </p:childTnLst>
                                </p:cTn>
                              </p:par>
                              <p:par>
                                <p:cTn id="55" presetID="42" presetClass="entr" presetSubtype="0" decel="100000" fill="hold" grpId="0" nodeType="withEffect">
                                  <p:stCondLst>
                                    <p:cond delay="47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700"/>
                                        <p:tgtEl>
                                          <p:spTgt spid="26"/>
                                        </p:tgtEl>
                                      </p:cBhvr>
                                    </p:animEffect>
                                    <p:anim calcmode="lin" valueType="num">
                                      <p:cBhvr additive="base">
                                        <p:cTn id="58" dur="700" fill="hold"/>
                                        <p:tgtEl>
                                          <p:spTgt spid="26"/>
                                        </p:tgtEl>
                                        <p:attrNameLst>
                                          <p:attrName>ppt_y</p:attrName>
                                        </p:attrNameLst>
                                      </p:cBhvr>
                                      <p:tavLst>
                                        <p:tav tm="0">
                                          <p:val>
                                            <p:strVal val="#ppt_y+0.03"/>
                                          </p:val>
                                        </p:tav>
                                        <p:tav tm="100000">
                                          <p:val>
                                            <p:strVal val="#ppt_y"/>
                                          </p:val>
                                        </p:tav>
                                      </p:tavLst>
                                    </p:anim>
                                  </p:childTnLst>
                                </p:cTn>
                              </p:par>
                              <p:par>
                                <p:cTn id="59" presetID="42" presetClass="entr" presetSubtype="0" decel="100000" fill="hold" grpId="0" nodeType="withEffect">
                                  <p:stCondLst>
                                    <p:cond delay="47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700"/>
                                        <p:tgtEl>
                                          <p:spTgt spid="27"/>
                                        </p:tgtEl>
                                      </p:cBhvr>
                                    </p:animEffect>
                                    <p:anim calcmode="lin" valueType="num">
                                      <p:cBhvr additive="base">
                                        <p:cTn id="62" dur="700" fill="hold"/>
                                        <p:tgtEl>
                                          <p:spTgt spid="27"/>
                                        </p:tgtEl>
                                        <p:attrNameLst>
                                          <p:attrName>ppt_y</p:attrName>
                                        </p:attrNameLst>
                                      </p:cBhvr>
                                      <p:tavLst>
                                        <p:tav tm="0">
                                          <p:val>
                                            <p:strVal val="#ppt_y+0.03"/>
                                          </p:val>
                                        </p:tav>
                                        <p:tav tm="100000">
                                          <p:val>
                                            <p:strVal val="#ppt_y"/>
                                          </p:val>
                                        </p:tav>
                                      </p:tavLst>
                                    </p:anim>
                                  </p:childTnLst>
                                </p:cTn>
                              </p:par>
                              <p:par>
                                <p:cTn id="63" presetID="42" presetClass="entr" presetSubtype="0" decel="100000" fill="hold" grpId="0" nodeType="withEffect">
                                  <p:stCondLst>
                                    <p:cond delay="47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700"/>
                                        <p:tgtEl>
                                          <p:spTgt spid="28"/>
                                        </p:tgtEl>
                                      </p:cBhvr>
                                    </p:animEffect>
                                    <p:anim calcmode="lin" valueType="num">
                                      <p:cBhvr additive="base">
                                        <p:cTn id="66" dur="700" fill="hold"/>
                                        <p:tgtEl>
                                          <p:spTgt spid="28"/>
                                        </p:tgtEl>
                                        <p:attrNameLst>
                                          <p:attrName>ppt_y</p:attrName>
                                        </p:attrNameLst>
                                      </p:cBhvr>
                                      <p:tavLst>
                                        <p:tav tm="0">
                                          <p:val>
                                            <p:strVal val="#ppt_y+0.03"/>
                                          </p:val>
                                        </p:tav>
                                        <p:tav tm="100000">
                                          <p:val>
                                            <p:strVal val="#ppt_y"/>
                                          </p:val>
                                        </p:tav>
                                      </p:tavLst>
                                    </p:anim>
                                  </p:childTnLst>
                                </p:cTn>
                              </p:par>
                              <p:par>
                                <p:cTn id="67" presetID="53" presetClass="entr" presetSubtype="16" decel="100000" fill="hold" grpId="0" nodeType="withEffect">
                                  <p:stCondLst>
                                    <p:cond delay="690"/>
                                  </p:stCondLst>
                                  <p:childTnLst>
                                    <p:set>
                                      <p:cBhvr>
                                        <p:cTn id="68" dur="1" fill="hold">
                                          <p:stCondLst>
                                            <p:cond delay="0"/>
                                          </p:stCondLst>
                                        </p:cTn>
                                        <p:tgtEl>
                                          <p:spTgt spid="10"/>
                                        </p:tgtEl>
                                        <p:attrNameLst>
                                          <p:attrName>style.visibility</p:attrName>
                                        </p:attrNameLst>
                                      </p:cBhvr>
                                      <p:to>
                                        <p:strVal val="visible"/>
                                      </p:to>
                                    </p:set>
                                    <p:animEffect transition="in" filter="fade">
                                      <p:cBhvr>
                                        <p:cTn id="69" dur="700"/>
                                        <p:tgtEl>
                                          <p:spTgt spid="10"/>
                                        </p:tgtEl>
                                      </p:cBhvr>
                                    </p:animEffect>
                                    <p:anim calcmode="lin" valueType="num">
                                      <p:cBhvr additive="base">
                                        <p:cTn id="70" dur="800" fill="hold"/>
                                        <p:tgtEl>
                                          <p:spTgt spid="10"/>
                                        </p:tgtEl>
                                        <p:attrNameLst>
                                          <p:attrName>ppt_w</p:attrName>
                                        </p:attrNameLst>
                                      </p:cBhvr>
                                      <p:tavLst>
                                        <p:tav tm="0">
                                          <p:val>
                                            <p:strVal val="#ppt_w*0.85"/>
                                          </p:val>
                                        </p:tav>
                                        <p:tav tm="100000">
                                          <p:val>
                                            <p:strVal val="#ppt_w"/>
                                          </p:val>
                                        </p:tav>
                                      </p:tavLst>
                                    </p:anim>
                                    <p:anim calcmode="lin" valueType="num">
                                      <p:cBhvr additive="base">
                                        <p:cTn id="71" dur="800" fill="hold"/>
                                        <p:tgtEl>
                                          <p:spTgt spid="10"/>
                                        </p:tgtEl>
                                        <p:attrNameLst>
                                          <p:attrName>ppt_h</p:attrName>
                                        </p:attrNameLst>
                                      </p:cBhvr>
                                      <p:tavLst>
                                        <p:tav tm="0">
                                          <p:val>
                                            <p:strVal val="#ppt_h*0.85"/>
                                          </p:val>
                                        </p:tav>
                                        <p:tav tm="100000">
                                          <p:val>
                                            <p:strVal val="#ppt_h"/>
                                          </p:val>
                                        </p:tav>
                                      </p:tavLst>
                                    </p:anim>
                                  </p:childTnLst>
                                </p:cTn>
                              </p:par>
                              <p:par>
                                <p:cTn id="72" presetID="53" presetClass="entr" presetSubtype="16" decel="100000" fill="hold" grpId="0" nodeType="withEffect">
                                  <p:stCondLst>
                                    <p:cond delay="690"/>
                                  </p:stCondLst>
                                  <p:childTnLst>
                                    <p:set>
                                      <p:cBhvr>
                                        <p:cTn id="73" dur="1" fill="hold">
                                          <p:stCondLst>
                                            <p:cond delay="0"/>
                                          </p:stCondLst>
                                        </p:cTn>
                                        <p:tgtEl>
                                          <p:spTgt spid="11"/>
                                        </p:tgtEl>
                                        <p:attrNameLst>
                                          <p:attrName>style.visibility</p:attrName>
                                        </p:attrNameLst>
                                      </p:cBhvr>
                                      <p:to>
                                        <p:strVal val="visible"/>
                                      </p:to>
                                    </p:set>
                                    <p:animEffect transition="in" filter="fade">
                                      <p:cBhvr>
                                        <p:cTn id="74" dur="700"/>
                                        <p:tgtEl>
                                          <p:spTgt spid="11"/>
                                        </p:tgtEl>
                                      </p:cBhvr>
                                    </p:animEffect>
                                    <p:anim calcmode="lin" valueType="num">
                                      <p:cBhvr additive="base">
                                        <p:cTn id="75" dur="800" fill="hold"/>
                                        <p:tgtEl>
                                          <p:spTgt spid="11"/>
                                        </p:tgtEl>
                                        <p:attrNameLst>
                                          <p:attrName>ppt_w</p:attrName>
                                        </p:attrNameLst>
                                      </p:cBhvr>
                                      <p:tavLst>
                                        <p:tav tm="0">
                                          <p:val>
                                            <p:strVal val="#ppt_w*0.85"/>
                                          </p:val>
                                        </p:tav>
                                        <p:tav tm="100000">
                                          <p:val>
                                            <p:strVal val="#ppt_w"/>
                                          </p:val>
                                        </p:tav>
                                      </p:tavLst>
                                    </p:anim>
                                    <p:anim calcmode="lin" valueType="num">
                                      <p:cBhvr additive="base">
                                        <p:cTn id="76" dur="800" fill="hold"/>
                                        <p:tgtEl>
                                          <p:spTgt spid="11"/>
                                        </p:tgtEl>
                                        <p:attrNameLst>
                                          <p:attrName>ppt_h</p:attrName>
                                        </p:attrNameLst>
                                      </p:cBhvr>
                                      <p:tavLst>
                                        <p:tav tm="0">
                                          <p:val>
                                            <p:strVal val="#ppt_h*0.85"/>
                                          </p:val>
                                        </p:tav>
                                        <p:tav tm="100000">
                                          <p:val>
                                            <p:strVal val="#ppt_h"/>
                                          </p:val>
                                        </p:tav>
                                      </p:tavLst>
                                    </p:anim>
                                  </p:childTnLst>
                                </p:cTn>
                              </p:par>
                              <p:par>
                                <p:cTn id="77" presetID="53" presetClass="entr" presetSubtype="16" decel="100000" fill="hold" grpId="0" nodeType="withEffect">
                                  <p:stCondLst>
                                    <p:cond delay="690"/>
                                  </p:stCondLst>
                                  <p:childTnLst>
                                    <p:set>
                                      <p:cBhvr>
                                        <p:cTn id="78" dur="1" fill="hold">
                                          <p:stCondLst>
                                            <p:cond delay="0"/>
                                          </p:stCondLst>
                                        </p:cTn>
                                        <p:tgtEl>
                                          <p:spTgt spid="12"/>
                                        </p:tgtEl>
                                        <p:attrNameLst>
                                          <p:attrName>style.visibility</p:attrName>
                                        </p:attrNameLst>
                                      </p:cBhvr>
                                      <p:to>
                                        <p:strVal val="visible"/>
                                      </p:to>
                                    </p:set>
                                    <p:animEffect transition="in" filter="fade">
                                      <p:cBhvr>
                                        <p:cTn id="79" dur="700"/>
                                        <p:tgtEl>
                                          <p:spTgt spid="12"/>
                                        </p:tgtEl>
                                      </p:cBhvr>
                                    </p:animEffect>
                                    <p:anim calcmode="lin" valueType="num">
                                      <p:cBhvr additive="base">
                                        <p:cTn id="80" dur="800" fill="hold"/>
                                        <p:tgtEl>
                                          <p:spTgt spid="12"/>
                                        </p:tgtEl>
                                        <p:attrNameLst>
                                          <p:attrName>ppt_w</p:attrName>
                                        </p:attrNameLst>
                                      </p:cBhvr>
                                      <p:tavLst>
                                        <p:tav tm="0">
                                          <p:val>
                                            <p:strVal val="#ppt_w*0.85"/>
                                          </p:val>
                                        </p:tav>
                                        <p:tav tm="100000">
                                          <p:val>
                                            <p:strVal val="#ppt_w"/>
                                          </p:val>
                                        </p:tav>
                                      </p:tavLst>
                                    </p:anim>
                                    <p:anim calcmode="lin" valueType="num">
                                      <p:cBhvr additive="base">
                                        <p:cTn id="81" dur="800" fill="hold"/>
                                        <p:tgtEl>
                                          <p:spTgt spid="12"/>
                                        </p:tgtEl>
                                        <p:attrNameLst>
                                          <p:attrName>ppt_h</p:attrName>
                                        </p:attrNameLst>
                                      </p:cBhvr>
                                      <p:tavLst>
                                        <p:tav tm="0">
                                          <p:val>
                                            <p:strVal val="#ppt_h*0.85"/>
                                          </p:val>
                                        </p:tav>
                                        <p:tav tm="100000">
                                          <p:val>
                                            <p:strVal val="#ppt_h"/>
                                          </p:val>
                                        </p:tav>
                                      </p:tavLst>
                                    </p:anim>
                                  </p:childTnLst>
                                </p:cTn>
                              </p:par>
                              <p:par>
                                <p:cTn id="82" presetID="10" presetClass="entr" presetSubtype="0" decel="100000" fill="hold" grpId="0" nodeType="withEffect">
                                  <p:stCondLst>
                                    <p:cond delay="69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decel="100000" fill="hold" grpId="0" nodeType="withEffect">
                                  <p:stCondLst>
                                    <p:cond delay="69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decel="100000" fill="hold" grpId="0" nodeType="withEffect">
                                  <p:stCondLst>
                                    <p:cond delay="69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600"/>
                                        <p:tgtEl>
                                          <p:spTgt spid="32"/>
                                        </p:tgtEl>
                                      </p:cBhvr>
                                    </p:animEffect>
                                  </p:childTnLst>
                                </p:cTn>
                              </p:par>
                              <p:par>
                                <p:cTn id="91" presetID="10" presetClass="entr" presetSubtype="0" decel="100000" fill="hold" grpId="0" nodeType="withEffect">
                                  <p:stCondLst>
                                    <p:cond delay="69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600"/>
                                        <p:tgtEl>
                                          <p:spTgt spid="33"/>
                                        </p:tgtEl>
                                      </p:cBhvr>
                                    </p:animEffect>
                                  </p:childTnLst>
                                </p:cTn>
                              </p:par>
                              <p:par>
                                <p:cTn id="94" presetID="10" presetClass="entr" presetSubtype="0" decel="100000" fill="hold" grpId="0" nodeType="withEffect">
                                  <p:stCondLst>
                                    <p:cond delay="69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600"/>
                                        <p:tgtEl>
                                          <p:spTgt spid="35"/>
                                        </p:tgtEl>
                                      </p:cBhvr>
                                    </p:animEffect>
                                  </p:childTnLst>
                                </p:cTn>
                              </p:par>
                              <p:par>
                                <p:cTn id="97" presetID="10" presetClass="entr" presetSubtype="0" decel="100000" fill="hold" grpId="0" nodeType="withEffect">
                                  <p:stCondLst>
                                    <p:cond delay="69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600"/>
                                        <p:tgtEl>
                                          <p:spTgt spid="36"/>
                                        </p:tgtEl>
                                      </p:cBhvr>
                                    </p:animEffect>
                                  </p:childTnLst>
                                </p:cTn>
                              </p:par>
                              <p:par>
                                <p:cTn id="100" presetID="10" presetClass="entr" presetSubtype="0" decel="100000" fill="hold" grpId="0" nodeType="withEffect">
                                  <p:stCondLst>
                                    <p:cond delay="69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600"/>
                                        <p:tgtEl>
                                          <p:spTgt spid="38"/>
                                        </p:tgtEl>
                                      </p:cBhvr>
                                    </p:animEffect>
                                  </p:childTnLst>
                                </p:cTn>
                              </p:par>
                              <p:par>
                                <p:cTn id="103" presetID="10" presetClass="entr" presetSubtype="0" decel="100000" fill="hold" grpId="0" nodeType="withEffect">
                                  <p:stCondLst>
                                    <p:cond delay="690"/>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600"/>
                                        <p:tgtEl>
                                          <p:spTgt spid="39"/>
                                        </p:tgtEl>
                                      </p:cBhvr>
                                    </p:animEffect>
                                  </p:childTnLst>
                                </p:cTn>
                              </p:par>
                              <p:par>
                                <p:cTn id="106" presetID="10" presetClass="entr" presetSubtype="0" decel="100000" fill="hold" grpId="0" nodeType="withEffect">
                                  <p:stCondLst>
                                    <p:cond delay="69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8" dur="600"/>
                                        <p:tgtEl>
                                          <p:spTgt spid="41"/>
                                        </p:tgtEl>
                                      </p:cBhvr>
                                    </p:animEffect>
                                  </p:childTnLst>
                                </p:cTn>
                              </p:par>
                              <p:par>
                                <p:cTn id="109" presetID="10" presetClass="entr" presetSubtype="0" decel="100000" fill="hold" grpId="0" nodeType="withEffect">
                                  <p:stCondLst>
                                    <p:cond delay="69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1" dur="600"/>
                                        <p:tgtEl>
                                          <p:spTgt spid="42"/>
                                        </p:tgtEl>
                                      </p:cBhvr>
                                    </p:animEffect>
                                  </p:childTnLst>
                                </p:cTn>
                              </p:par>
                              <p:par>
                                <p:cTn id="112" presetID="53" presetClass="entr" presetSubtype="16" decel="100000" fill="hold" grpId="0" nodeType="withEffect">
                                  <p:stCondLst>
                                    <p:cond delay="910"/>
                                  </p:stCondLst>
                                  <p:childTnLst>
                                    <p:set>
                                      <p:cBhvr>
                                        <p:cTn id="113" dur="1" fill="hold">
                                          <p:stCondLst>
                                            <p:cond delay="0"/>
                                          </p:stCondLst>
                                        </p:cTn>
                                        <p:tgtEl>
                                          <p:spTgt spid="13"/>
                                        </p:tgtEl>
                                        <p:attrNameLst>
                                          <p:attrName>style.visibility</p:attrName>
                                        </p:attrNameLst>
                                      </p:cBhvr>
                                      <p:to>
                                        <p:strVal val="visible"/>
                                      </p:to>
                                    </p:set>
                                    <p:animEffect transition="in" filter="fade">
                                      <p:cBhvr>
                                        <p:cTn id="114" dur="700"/>
                                        <p:tgtEl>
                                          <p:spTgt spid="13"/>
                                        </p:tgtEl>
                                      </p:cBhvr>
                                    </p:animEffect>
                                    <p:anim calcmode="lin" valueType="num">
                                      <p:cBhvr additive="base">
                                        <p:cTn id="115" dur="800" fill="hold"/>
                                        <p:tgtEl>
                                          <p:spTgt spid="13"/>
                                        </p:tgtEl>
                                        <p:attrNameLst>
                                          <p:attrName>ppt_w</p:attrName>
                                        </p:attrNameLst>
                                      </p:cBhvr>
                                      <p:tavLst>
                                        <p:tav tm="0">
                                          <p:val>
                                            <p:strVal val="#ppt_w*0.85"/>
                                          </p:val>
                                        </p:tav>
                                        <p:tav tm="100000">
                                          <p:val>
                                            <p:strVal val="#ppt_w"/>
                                          </p:val>
                                        </p:tav>
                                      </p:tavLst>
                                    </p:anim>
                                    <p:anim calcmode="lin" valueType="num">
                                      <p:cBhvr additive="base">
                                        <p:cTn id="116" dur="800" fill="hold"/>
                                        <p:tgtEl>
                                          <p:spTgt spid="13"/>
                                        </p:tgtEl>
                                        <p:attrNameLst>
                                          <p:attrName>ppt_h</p:attrName>
                                        </p:attrNameLst>
                                      </p:cBhvr>
                                      <p:tavLst>
                                        <p:tav tm="0">
                                          <p:val>
                                            <p:strVal val="#ppt_h*0.85"/>
                                          </p:val>
                                        </p:tav>
                                        <p:tav tm="100000">
                                          <p:val>
                                            <p:strVal val="#ppt_h"/>
                                          </p:val>
                                        </p:tav>
                                      </p:tavLst>
                                    </p:anim>
                                  </p:childTnLst>
                                </p:cTn>
                              </p:par>
                              <p:par>
                                <p:cTn id="117" presetID="53" presetClass="entr" presetSubtype="16" decel="100000" fill="hold" grpId="0" nodeType="withEffect">
                                  <p:stCondLst>
                                    <p:cond delay="910"/>
                                  </p:stCondLst>
                                  <p:childTnLst>
                                    <p:set>
                                      <p:cBhvr>
                                        <p:cTn id="118" dur="1" fill="hold">
                                          <p:stCondLst>
                                            <p:cond delay="0"/>
                                          </p:stCondLst>
                                        </p:cTn>
                                        <p:tgtEl>
                                          <p:spTgt spid="14"/>
                                        </p:tgtEl>
                                        <p:attrNameLst>
                                          <p:attrName>style.visibility</p:attrName>
                                        </p:attrNameLst>
                                      </p:cBhvr>
                                      <p:to>
                                        <p:strVal val="visible"/>
                                      </p:to>
                                    </p:set>
                                    <p:animEffect transition="in" filter="fade">
                                      <p:cBhvr>
                                        <p:cTn id="119" dur="700"/>
                                        <p:tgtEl>
                                          <p:spTgt spid="14"/>
                                        </p:tgtEl>
                                      </p:cBhvr>
                                    </p:animEffect>
                                    <p:anim calcmode="lin" valueType="num">
                                      <p:cBhvr additive="base">
                                        <p:cTn id="120" dur="800" fill="hold"/>
                                        <p:tgtEl>
                                          <p:spTgt spid="14"/>
                                        </p:tgtEl>
                                        <p:attrNameLst>
                                          <p:attrName>ppt_w</p:attrName>
                                        </p:attrNameLst>
                                      </p:cBhvr>
                                      <p:tavLst>
                                        <p:tav tm="0">
                                          <p:val>
                                            <p:strVal val="#ppt_w*0.85"/>
                                          </p:val>
                                        </p:tav>
                                        <p:tav tm="100000">
                                          <p:val>
                                            <p:strVal val="#ppt_w"/>
                                          </p:val>
                                        </p:tav>
                                      </p:tavLst>
                                    </p:anim>
                                    <p:anim calcmode="lin" valueType="num">
                                      <p:cBhvr additive="base">
                                        <p:cTn id="121" dur="800" fill="hold"/>
                                        <p:tgtEl>
                                          <p:spTgt spid="14"/>
                                        </p:tgtEl>
                                        <p:attrNameLst>
                                          <p:attrName>ppt_h</p:attrName>
                                        </p:attrNameLst>
                                      </p:cBhvr>
                                      <p:tavLst>
                                        <p:tav tm="0">
                                          <p:val>
                                            <p:strVal val="#ppt_h*0.85"/>
                                          </p:val>
                                        </p:tav>
                                        <p:tav tm="100000">
                                          <p:val>
                                            <p:strVal val="#ppt_h"/>
                                          </p:val>
                                        </p:tav>
                                      </p:tavLst>
                                    </p:anim>
                                  </p:childTnLst>
                                </p:cTn>
                              </p:par>
                              <p:par>
                                <p:cTn id="122" presetID="53" presetClass="entr" presetSubtype="16" decel="100000" fill="hold" grpId="0" nodeType="withEffect">
                                  <p:stCondLst>
                                    <p:cond delay="910"/>
                                  </p:stCondLst>
                                  <p:childTnLst>
                                    <p:set>
                                      <p:cBhvr>
                                        <p:cTn id="123" dur="1" fill="hold">
                                          <p:stCondLst>
                                            <p:cond delay="0"/>
                                          </p:stCondLst>
                                        </p:cTn>
                                        <p:tgtEl>
                                          <p:spTgt spid="15"/>
                                        </p:tgtEl>
                                        <p:attrNameLst>
                                          <p:attrName>style.visibility</p:attrName>
                                        </p:attrNameLst>
                                      </p:cBhvr>
                                      <p:to>
                                        <p:strVal val="visible"/>
                                      </p:to>
                                    </p:set>
                                    <p:animEffect transition="in" filter="fade">
                                      <p:cBhvr>
                                        <p:cTn id="124" dur="700"/>
                                        <p:tgtEl>
                                          <p:spTgt spid="15"/>
                                        </p:tgtEl>
                                      </p:cBhvr>
                                    </p:animEffect>
                                    <p:anim calcmode="lin" valueType="num">
                                      <p:cBhvr additive="base">
                                        <p:cTn id="125" dur="800" fill="hold"/>
                                        <p:tgtEl>
                                          <p:spTgt spid="15"/>
                                        </p:tgtEl>
                                        <p:attrNameLst>
                                          <p:attrName>ppt_w</p:attrName>
                                        </p:attrNameLst>
                                      </p:cBhvr>
                                      <p:tavLst>
                                        <p:tav tm="0">
                                          <p:val>
                                            <p:strVal val="#ppt_w*0.85"/>
                                          </p:val>
                                        </p:tav>
                                        <p:tav tm="100000">
                                          <p:val>
                                            <p:strVal val="#ppt_w"/>
                                          </p:val>
                                        </p:tav>
                                      </p:tavLst>
                                    </p:anim>
                                    <p:anim calcmode="lin" valueType="num">
                                      <p:cBhvr additive="base">
                                        <p:cTn id="126" dur="800" fill="hold"/>
                                        <p:tgtEl>
                                          <p:spTgt spid="15"/>
                                        </p:tgtEl>
                                        <p:attrNameLst>
                                          <p:attrName>ppt_h</p:attrName>
                                        </p:attrNameLst>
                                      </p:cBhvr>
                                      <p:tavLst>
                                        <p:tav tm="0">
                                          <p:val>
                                            <p:strVal val="#ppt_h*0.85"/>
                                          </p:val>
                                        </p:tav>
                                        <p:tav tm="100000">
                                          <p:val>
                                            <p:strVal val="#ppt_h"/>
                                          </p:val>
                                        </p:tav>
                                      </p:tavLst>
                                    </p:anim>
                                  </p:childTnLst>
                                </p:cTn>
                              </p:par>
                              <p:par>
                                <p:cTn id="127" presetID="53" presetClass="entr" presetSubtype="16" decel="100000" fill="hold" grpId="0" nodeType="withEffect">
                                  <p:stCondLst>
                                    <p:cond delay="910"/>
                                  </p:stCondLst>
                                  <p:childTnLst>
                                    <p:set>
                                      <p:cBhvr>
                                        <p:cTn id="128" dur="1" fill="hold">
                                          <p:stCondLst>
                                            <p:cond delay="0"/>
                                          </p:stCondLst>
                                        </p:cTn>
                                        <p:tgtEl>
                                          <p:spTgt spid="31"/>
                                        </p:tgtEl>
                                        <p:attrNameLst>
                                          <p:attrName>style.visibility</p:attrName>
                                        </p:attrNameLst>
                                      </p:cBhvr>
                                      <p:to>
                                        <p:strVal val="visible"/>
                                      </p:to>
                                    </p:set>
                                    <p:animEffect transition="in" filter="fade">
                                      <p:cBhvr>
                                        <p:cTn id="129" dur="450"/>
                                        <p:tgtEl>
                                          <p:spTgt spid="31"/>
                                        </p:tgtEl>
                                      </p:cBhvr>
                                    </p:animEffect>
                                    <p:anim calcmode="lin" valueType="num">
                                      <p:cBhvr additive="base">
                                        <p:cTn id="130" dur="450" fill="hold"/>
                                        <p:tgtEl>
                                          <p:spTgt spid="31"/>
                                        </p:tgtEl>
                                        <p:attrNameLst>
                                          <p:attrName>ppt_w</p:attrName>
                                        </p:attrNameLst>
                                      </p:cBhvr>
                                      <p:tavLst>
                                        <p:tav tm="0">
                                          <p:val>
                                            <p:strVal val="#ppt_w*0.2"/>
                                          </p:val>
                                        </p:tav>
                                        <p:tav tm="100000">
                                          <p:val>
                                            <p:strVal val="#ppt_w"/>
                                          </p:val>
                                        </p:tav>
                                      </p:tavLst>
                                    </p:anim>
                                    <p:anim calcmode="lin" valueType="num">
                                      <p:cBhvr additive="base">
                                        <p:cTn id="131" dur="450" fill="hold"/>
                                        <p:tgtEl>
                                          <p:spTgt spid="31"/>
                                        </p:tgtEl>
                                        <p:attrNameLst>
                                          <p:attrName>ppt_h</p:attrName>
                                        </p:attrNameLst>
                                      </p:cBhvr>
                                      <p:tavLst>
                                        <p:tav tm="0">
                                          <p:val>
                                            <p:strVal val="#ppt_h*0.2"/>
                                          </p:val>
                                        </p:tav>
                                        <p:tav tm="100000">
                                          <p:val>
                                            <p:strVal val="#ppt_h"/>
                                          </p:val>
                                        </p:tav>
                                      </p:tavLst>
                                    </p:anim>
                                  </p:childTnLst>
                                </p:cTn>
                              </p:par>
                              <p:par>
                                <p:cTn id="132" presetID="53" presetClass="entr" presetSubtype="16" decel="100000" fill="hold" grpId="0" nodeType="withEffect">
                                  <p:stCondLst>
                                    <p:cond delay="1130"/>
                                  </p:stCondLst>
                                  <p:childTnLst>
                                    <p:set>
                                      <p:cBhvr>
                                        <p:cTn id="133" dur="1" fill="hold">
                                          <p:stCondLst>
                                            <p:cond delay="0"/>
                                          </p:stCondLst>
                                        </p:cTn>
                                        <p:tgtEl>
                                          <p:spTgt spid="16"/>
                                        </p:tgtEl>
                                        <p:attrNameLst>
                                          <p:attrName>style.visibility</p:attrName>
                                        </p:attrNameLst>
                                      </p:cBhvr>
                                      <p:to>
                                        <p:strVal val="visible"/>
                                      </p:to>
                                    </p:set>
                                    <p:animEffect transition="in" filter="fade">
                                      <p:cBhvr>
                                        <p:cTn id="134" dur="700"/>
                                        <p:tgtEl>
                                          <p:spTgt spid="16"/>
                                        </p:tgtEl>
                                      </p:cBhvr>
                                    </p:animEffect>
                                    <p:anim calcmode="lin" valueType="num">
                                      <p:cBhvr additive="base">
                                        <p:cTn id="135" dur="800" fill="hold"/>
                                        <p:tgtEl>
                                          <p:spTgt spid="16"/>
                                        </p:tgtEl>
                                        <p:attrNameLst>
                                          <p:attrName>ppt_w</p:attrName>
                                        </p:attrNameLst>
                                      </p:cBhvr>
                                      <p:tavLst>
                                        <p:tav tm="0">
                                          <p:val>
                                            <p:strVal val="#ppt_w*0.85"/>
                                          </p:val>
                                        </p:tav>
                                        <p:tav tm="100000">
                                          <p:val>
                                            <p:strVal val="#ppt_w"/>
                                          </p:val>
                                        </p:tav>
                                      </p:tavLst>
                                    </p:anim>
                                    <p:anim calcmode="lin" valueType="num">
                                      <p:cBhvr additive="base">
                                        <p:cTn id="136" dur="800" fill="hold"/>
                                        <p:tgtEl>
                                          <p:spTgt spid="16"/>
                                        </p:tgtEl>
                                        <p:attrNameLst>
                                          <p:attrName>ppt_h</p:attrName>
                                        </p:attrNameLst>
                                      </p:cBhvr>
                                      <p:tavLst>
                                        <p:tav tm="0">
                                          <p:val>
                                            <p:strVal val="#ppt_h*0.85"/>
                                          </p:val>
                                        </p:tav>
                                        <p:tav tm="100000">
                                          <p:val>
                                            <p:strVal val="#ppt_h"/>
                                          </p:val>
                                        </p:tav>
                                      </p:tavLst>
                                    </p:anim>
                                  </p:childTnLst>
                                </p:cTn>
                              </p:par>
                              <p:par>
                                <p:cTn id="137" presetID="53" presetClass="entr" presetSubtype="16" decel="100000" fill="hold" grpId="0" nodeType="withEffect">
                                  <p:stCondLst>
                                    <p:cond delay="1130"/>
                                  </p:stCondLst>
                                  <p:childTnLst>
                                    <p:set>
                                      <p:cBhvr>
                                        <p:cTn id="138" dur="1" fill="hold">
                                          <p:stCondLst>
                                            <p:cond delay="0"/>
                                          </p:stCondLst>
                                        </p:cTn>
                                        <p:tgtEl>
                                          <p:spTgt spid="17"/>
                                        </p:tgtEl>
                                        <p:attrNameLst>
                                          <p:attrName>style.visibility</p:attrName>
                                        </p:attrNameLst>
                                      </p:cBhvr>
                                      <p:to>
                                        <p:strVal val="visible"/>
                                      </p:to>
                                    </p:set>
                                    <p:animEffect transition="in" filter="fade">
                                      <p:cBhvr>
                                        <p:cTn id="139" dur="700"/>
                                        <p:tgtEl>
                                          <p:spTgt spid="17"/>
                                        </p:tgtEl>
                                      </p:cBhvr>
                                    </p:animEffect>
                                    <p:anim calcmode="lin" valueType="num">
                                      <p:cBhvr additive="base">
                                        <p:cTn id="140" dur="800" fill="hold"/>
                                        <p:tgtEl>
                                          <p:spTgt spid="17"/>
                                        </p:tgtEl>
                                        <p:attrNameLst>
                                          <p:attrName>ppt_w</p:attrName>
                                        </p:attrNameLst>
                                      </p:cBhvr>
                                      <p:tavLst>
                                        <p:tav tm="0">
                                          <p:val>
                                            <p:strVal val="#ppt_w*0.85"/>
                                          </p:val>
                                        </p:tav>
                                        <p:tav tm="100000">
                                          <p:val>
                                            <p:strVal val="#ppt_w"/>
                                          </p:val>
                                        </p:tav>
                                      </p:tavLst>
                                    </p:anim>
                                    <p:anim calcmode="lin" valueType="num">
                                      <p:cBhvr additive="base">
                                        <p:cTn id="141" dur="800" fill="hold"/>
                                        <p:tgtEl>
                                          <p:spTgt spid="17"/>
                                        </p:tgtEl>
                                        <p:attrNameLst>
                                          <p:attrName>ppt_h</p:attrName>
                                        </p:attrNameLst>
                                      </p:cBhvr>
                                      <p:tavLst>
                                        <p:tav tm="0">
                                          <p:val>
                                            <p:strVal val="#ppt_h*0.85"/>
                                          </p:val>
                                        </p:tav>
                                        <p:tav tm="100000">
                                          <p:val>
                                            <p:strVal val="#ppt_h"/>
                                          </p:val>
                                        </p:tav>
                                      </p:tavLst>
                                    </p:anim>
                                  </p:childTnLst>
                                </p:cTn>
                              </p:par>
                              <p:par>
                                <p:cTn id="142" presetID="53" presetClass="entr" presetSubtype="16" decel="100000" fill="hold" grpId="0" nodeType="withEffect">
                                  <p:stCondLst>
                                    <p:cond delay="1130"/>
                                  </p:stCondLst>
                                  <p:childTnLst>
                                    <p:set>
                                      <p:cBhvr>
                                        <p:cTn id="143" dur="1" fill="hold">
                                          <p:stCondLst>
                                            <p:cond delay="0"/>
                                          </p:stCondLst>
                                        </p:cTn>
                                        <p:tgtEl>
                                          <p:spTgt spid="18"/>
                                        </p:tgtEl>
                                        <p:attrNameLst>
                                          <p:attrName>style.visibility</p:attrName>
                                        </p:attrNameLst>
                                      </p:cBhvr>
                                      <p:to>
                                        <p:strVal val="visible"/>
                                      </p:to>
                                    </p:set>
                                    <p:animEffect transition="in" filter="fade">
                                      <p:cBhvr>
                                        <p:cTn id="144" dur="700"/>
                                        <p:tgtEl>
                                          <p:spTgt spid="18"/>
                                        </p:tgtEl>
                                      </p:cBhvr>
                                    </p:animEffect>
                                    <p:anim calcmode="lin" valueType="num">
                                      <p:cBhvr additive="base">
                                        <p:cTn id="145" dur="800" fill="hold"/>
                                        <p:tgtEl>
                                          <p:spTgt spid="18"/>
                                        </p:tgtEl>
                                        <p:attrNameLst>
                                          <p:attrName>ppt_w</p:attrName>
                                        </p:attrNameLst>
                                      </p:cBhvr>
                                      <p:tavLst>
                                        <p:tav tm="0">
                                          <p:val>
                                            <p:strVal val="#ppt_w*0.85"/>
                                          </p:val>
                                        </p:tav>
                                        <p:tav tm="100000">
                                          <p:val>
                                            <p:strVal val="#ppt_w"/>
                                          </p:val>
                                        </p:tav>
                                      </p:tavLst>
                                    </p:anim>
                                    <p:anim calcmode="lin" valueType="num">
                                      <p:cBhvr additive="base">
                                        <p:cTn id="146" dur="800" fill="hold"/>
                                        <p:tgtEl>
                                          <p:spTgt spid="18"/>
                                        </p:tgtEl>
                                        <p:attrNameLst>
                                          <p:attrName>ppt_h</p:attrName>
                                        </p:attrNameLst>
                                      </p:cBhvr>
                                      <p:tavLst>
                                        <p:tav tm="0">
                                          <p:val>
                                            <p:strVal val="#ppt_h*0.85"/>
                                          </p:val>
                                        </p:tav>
                                        <p:tav tm="100000">
                                          <p:val>
                                            <p:strVal val="#ppt_h"/>
                                          </p:val>
                                        </p:tav>
                                      </p:tavLst>
                                    </p:anim>
                                  </p:childTnLst>
                                </p:cTn>
                              </p:par>
                              <p:par>
                                <p:cTn id="147" presetID="53" presetClass="entr" presetSubtype="16" decel="100000" fill="hold" grpId="0" nodeType="withEffect">
                                  <p:stCondLst>
                                    <p:cond delay="1130"/>
                                  </p:stCondLst>
                                  <p:childTnLst>
                                    <p:set>
                                      <p:cBhvr>
                                        <p:cTn id="148" dur="1" fill="hold">
                                          <p:stCondLst>
                                            <p:cond delay="0"/>
                                          </p:stCondLst>
                                        </p:cTn>
                                        <p:tgtEl>
                                          <p:spTgt spid="34"/>
                                        </p:tgtEl>
                                        <p:attrNameLst>
                                          <p:attrName>style.visibility</p:attrName>
                                        </p:attrNameLst>
                                      </p:cBhvr>
                                      <p:to>
                                        <p:strVal val="visible"/>
                                      </p:to>
                                    </p:set>
                                    <p:animEffect transition="in" filter="fade">
                                      <p:cBhvr>
                                        <p:cTn id="149" dur="450"/>
                                        <p:tgtEl>
                                          <p:spTgt spid="34"/>
                                        </p:tgtEl>
                                      </p:cBhvr>
                                    </p:animEffect>
                                    <p:anim calcmode="lin" valueType="num">
                                      <p:cBhvr additive="base">
                                        <p:cTn id="150" dur="450" fill="hold"/>
                                        <p:tgtEl>
                                          <p:spTgt spid="34"/>
                                        </p:tgtEl>
                                        <p:attrNameLst>
                                          <p:attrName>ppt_w</p:attrName>
                                        </p:attrNameLst>
                                      </p:cBhvr>
                                      <p:tavLst>
                                        <p:tav tm="0">
                                          <p:val>
                                            <p:strVal val="#ppt_w*0.2"/>
                                          </p:val>
                                        </p:tav>
                                        <p:tav tm="100000">
                                          <p:val>
                                            <p:strVal val="#ppt_w"/>
                                          </p:val>
                                        </p:tav>
                                      </p:tavLst>
                                    </p:anim>
                                    <p:anim calcmode="lin" valueType="num">
                                      <p:cBhvr additive="base">
                                        <p:cTn id="151" dur="450" fill="hold"/>
                                        <p:tgtEl>
                                          <p:spTgt spid="34"/>
                                        </p:tgtEl>
                                        <p:attrNameLst>
                                          <p:attrName>ppt_h</p:attrName>
                                        </p:attrNameLst>
                                      </p:cBhvr>
                                      <p:tavLst>
                                        <p:tav tm="0">
                                          <p:val>
                                            <p:strVal val="#ppt_h*0.2"/>
                                          </p:val>
                                        </p:tav>
                                        <p:tav tm="100000">
                                          <p:val>
                                            <p:strVal val="#ppt_h"/>
                                          </p:val>
                                        </p:tav>
                                      </p:tavLst>
                                    </p:anim>
                                  </p:childTnLst>
                                </p:cTn>
                              </p:par>
                              <p:par>
                                <p:cTn id="152" presetID="53" presetClass="entr" presetSubtype="16" decel="100000" fill="hold" grpId="0" nodeType="withEffect">
                                  <p:stCondLst>
                                    <p:cond delay="1350"/>
                                  </p:stCondLst>
                                  <p:childTnLst>
                                    <p:set>
                                      <p:cBhvr>
                                        <p:cTn id="153" dur="1" fill="hold">
                                          <p:stCondLst>
                                            <p:cond delay="0"/>
                                          </p:stCondLst>
                                        </p:cTn>
                                        <p:tgtEl>
                                          <p:spTgt spid="37"/>
                                        </p:tgtEl>
                                        <p:attrNameLst>
                                          <p:attrName>style.visibility</p:attrName>
                                        </p:attrNameLst>
                                      </p:cBhvr>
                                      <p:to>
                                        <p:strVal val="visible"/>
                                      </p:to>
                                    </p:set>
                                    <p:animEffect transition="in" filter="fade">
                                      <p:cBhvr>
                                        <p:cTn id="154" dur="450"/>
                                        <p:tgtEl>
                                          <p:spTgt spid="37"/>
                                        </p:tgtEl>
                                      </p:cBhvr>
                                    </p:animEffect>
                                    <p:anim calcmode="lin" valueType="num">
                                      <p:cBhvr additive="base">
                                        <p:cTn id="155" dur="450" fill="hold"/>
                                        <p:tgtEl>
                                          <p:spTgt spid="37"/>
                                        </p:tgtEl>
                                        <p:attrNameLst>
                                          <p:attrName>ppt_w</p:attrName>
                                        </p:attrNameLst>
                                      </p:cBhvr>
                                      <p:tavLst>
                                        <p:tav tm="0">
                                          <p:val>
                                            <p:strVal val="#ppt_w*0.2"/>
                                          </p:val>
                                        </p:tav>
                                        <p:tav tm="100000">
                                          <p:val>
                                            <p:strVal val="#ppt_w"/>
                                          </p:val>
                                        </p:tav>
                                      </p:tavLst>
                                    </p:anim>
                                    <p:anim calcmode="lin" valueType="num">
                                      <p:cBhvr additive="base">
                                        <p:cTn id="156" dur="450" fill="hold"/>
                                        <p:tgtEl>
                                          <p:spTgt spid="37"/>
                                        </p:tgtEl>
                                        <p:attrNameLst>
                                          <p:attrName>ppt_h</p:attrName>
                                        </p:attrNameLst>
                                      </p:cBhvr>
                                      <p:tavLst>
                                        <p:tav tm="0">
                                          <p:val>
                                            <p:strVal val="#ppt_h*0.2"/>
                                          </p:val>
                                        </p:tav>
                                        <p:tav tm="100000">
                                          <p:val>
                                            <p:strVal val="#ppt_h"/>
                                          </p:val>
                                        </p:tav>
                                      </p:tavLst>
                                    </p:anim>
                                  </p:childTnLst>
                                </p:cTn>
                              </p:par>
                              <p:par>
                                <p:cTn id="157" presetID="53" presetClass="entr" presetSubtype="16" decel="100000" fill="hold" grpId="0" nodeType="withEffect">
                                  <p:stCondLst>
                                    <p:cond delay="1570"/>
                                  </p:stCondLst>
                                  <p:childTnLst>
                                    <p:set>
                                      <p:cBhvr>
                                        <p:cTn id="158" dur="1" fill="hold">
                                          <p:stCondLst>
                                            <p:cond delay="0"/>
                                          </p:stCondLst>
                                        </p:cTn>
                                        <p:tgtEl>
                                          <p:spTgt spid="40"/>
                                        </p:tgtEl>
                                        <p:attrNameLst>
                                          <p:attrName>style.visibility</p:attrName>
                                        </p:attrNameLst>
                                      </p:cBhvr>
                                      <p:to>
                                        <p:strVal val="visible"/>
                                      </p:to>
                                    </p:set>
                                    <p:animEffect transition="in" filter="fade">
                                      <p:cBhvr>
                                        <p:cTn id="159" dur="450"/>
                                        <p:tgtEl>
                                          <p:spTgt spid="40"/>
                                        </p:tgtEl>
                                      </p:cBhvr>
                                    </p:animEffect>
                                    <p:anim calcmode="lin" valueType="num">
                                      <p:cBhvr additive="base">
                                        <p:cTn id="160" dur="450" fill="hold"/>
                                        <p:tgtEl>
                                          <p:spTgt spid="40"/>
                                        </p:tgtEl>
                                        <p:attrNameLst>
                                          <p:attrName>ppt_w</p:attrName>
                                        </p:attrNameLst>
                                      </p:cBhvr>
                                      <p:tavLst>
                                        <p:tav tm="0">
                                          <p:val>
                                            <p:strVal val="#ppt_w*0.2"/>
                                          </p:val>
                                        </p:tav>
                                        <p:tav tm="100000">
                                          <p:val>
                                            <p:strVal val="#ppt_w"/>
                                          </p:val>
                                        </p:tav>
                                      </p:tavLst>
                                    </p:anim>
                                    <p:anim calcmode="lin" valueType="num">
                                      <p:cBhvr additive="base">
                                        <p:cTn id="161" dur="450" fill="hold"/>
                                        <p:tgtEl>
                                          <p:spTgt spid="40"/>
                                        </p:tgtEl>
                                        <p:attrNameLst>
                                          <p:attrName>ppt_h</p:attrName>
                                        </p:attrNameLst>
                                      </p:cBhvr>
                                      <p:tavLst>
                                        <p:tav tm="0">
                                          <p:val>
                                            <p:strVal val="#ppt_h*0.2"/>
                                          </p:val>
                                        </p:tav>
                                        <p:tav tm="100000">
                                          <p:val>
                                            <p:strVal val="#ppt_h"/>
                                          </p:val>
                                        </p:tav>
                                      </p:tavLst>
                                    </p:anim>
                                  </p:childTnLst>
                                </p:cTn>
                              </p:par>
                              <p:par>
                                <p:cTn id="162" presetID="53" presetClass="entr" presetSubtype="16" decel="100000" fill="hold" grpId="0" nodeType="withEffect">
                                  <p:stCondLst>
                                    <p:cond delay="1790"/>
                                  </p:stCondLst>
                                  <p:childTnLst>
                                    <p:set>
                                      <p:cBhvr>
                                        <p:cTn id="163" dur="1" fill="hold">
                                          <p:stCondLst>
                                            <p:cond delay="0"/>
                                          </p:stCondLst>
                                        </p:cTn>
                                        <p:tgtEl>
                                          <p:spTgt spid="43"/>
                                        </p:tgtEl>
                                        <p:attrNameLst>
                                          <p:attrName>style.visibility</p:attrName>
                                        </p:attrNameLst>
                                      </p:cBhvr>
                                      <p:to>
                                        <p:strVal val="visible"/>
                                      </p:to>
                                    </p:set>
                                    <p:animEffect transition="in" filter="fade">
                                      <p:cBhvr>
                                        <p:cTn id="164" dur="450"/>
                                        <p:tgtEl>
                                          <p:spTgt spid="43"/>
                                        </p:tgtEl>
                                      </p:cBhvr>
                                    </p:animEffect>
                                    <p:anim calcmode="lin" valueType="num">
                                      <p:cBhvr additive="base">
                                        <p:cTn id="165" dur="450" fill="hold"/>
                                        <p:tgtEl>
                                          <p:spTgt spid="43"/>
                                        </p:tgtEl>
                                        <p:attrNameLst>
                                          <p:attrName>ppt_w</p:attrName>
                                        </p:attrNameLst>
                                      </p:cBhvr>
                                      <p:tavLst>
                                        <p:tav tm="0">
                                          <p:val>
                                            <p:strVal val="#ppt_w*0.2"/>
                                          </p:val>
                                        </p:tav>
                                        <p:tav tm="100000">
                                          <p:val>
                                            <p:strVal val="#ppt_w"/>
                                          </p:val>
                                        </p:tav>
                                      </p:tavLst>
                                    </p:anim>
                                    <p:anim calcmode="lin" valueType="num">
                                      <p:cBhvr additive="base">
                                        <p:cTn id="166" dur="450" fill="hold"/>
                                        <p:tgtEl>
                                          <p:spTgt spid="43"/>
                                        </p:tgtEl>
                                        <p:attrNameLst>
                                          <p:attrName>ppt_h</p:attrName>
                                        </p:attrNameLst>
                                      </p:cBhvr>
                                      <p:tavLst>
                                        <p:tav tm="0">
                                          <p:val>
                                            <p:strVal val="#ppt_h*0.2"/>
                                          </p:val>
                                        </p:tav>
                                        <p:tav tm="100000">
                                          <p:val>
                                            <p:strVal val="#ppt_h"/>
                                          </p:val>
                                        </p:tav>
                                      </p:tavLst>
                                    </p:anim>
                                  </p:childTnLst>
                                </p:cTn>
                              </p:par>
                              <p:par>
                                <p:cTn id="167" presetID="6" presetClass="emph" presetSubtype="0" repeatCount="indefinite" fill="hold" grpId="0" nodeType="withEffect">
                                  <p:stCondLst>
                                    <p:cond delay="2010"/>
                                  </p:stCondLst>
                                  <p:childTnLst>
                                    <p:animScale>
                                      <p:cBhvr>
                                        <p:cTn id="168" dur="1600" fill="hold"/>
                                        <p:tgtEl>
                                          <p:spTgt spid="44"/>
                                        </p:tgtEl>
                                      </p:cBhvr>
                                      <p:by x="160000" y="160000"/>
                                    </p:animScale>
                                    <p:anim calcmode="lin" valueType="num">
                                      <p:cBhvr>
                                        <p:cTn id="169" dur="1600" fill="hold"/>
                                        <p:tgtEl>
                                          <p:spTgt spid="44"/>
                                        </p:tgtEl>
                                        <p:attrNameLst>
                                          <p:attrName>style.opacity</p:attrName>
                                        </p:attrNameLst>
                                      </p:cBhvr>
                                      <p:tavLst>
                                        <p:tav tm="0">
                                          <p:val>
                                            <p:fltVal val="1"/>
                                          </p:val>
                                        </p:tav>
                                        <p:tav tm="100000">
                                          <p:val>
                                            <p:fltVal val="0"/>
                                          </p:val>
                                        </p:tav>
                                      </p:tavLst>
                                    </p:anim>
                                  </p:childTnLst>
                                </p:cTn>
                              </p:par>
                              <p:par>
                                <p:cTn id="170" presetID="10" presetClass="entr" presetSubtype="0" decel="100000" fill="hold" grpId="0" nodeType="withEffect">
                                  <p:stCondLst>
                                    <p:cond delay="2010"/>
                                  </p:stCondLst>
                                  <p:childTnLst>
                                    <p:set>
                                      <p:cBhvr>
                                        <p:cTn id="171" dur="1" fill="hold">
                                          <p:stCondLst>
                                            <p:cond delay="0"/>
                                          </p:stCondLst>
                                        </p:cTn>
                                        <p:tgtEl>
                                          <p:spTgt spid="45"/>
                                        </p:tgtEl>
                                        <p:attrNameLst>
                                          <p:attrName>style.visibility</p:attrName>
                                        </p:attrNameLst>
                                      </p:cBhvr>
                                      <p:to>
                                        <p:strVal val="visible"/>
                                      </p:to>
                                    </p:set>
                                    <p:animEffect transition="in" filter="fade">
                                      <p:cBhvr>
                                        <p:cTn id="172" dur="600"/>
                                        <p:tgtEl>
                                          <p:spTgt spid="45"/>
                                        </p:tgtEl>
                                      </p:cBhvr>
                                    </p:animEffect>
                                  </p:childTnLst>
                                </p:cTn>
                              </p:par>
                              <p:par>
                                <p:cTn id="173" presetID="10" presetClass="entr" presetSubtype="0" decel="100000" fill="hold" grpId="0" nodeType="withEffect">
                                  <p:stCondLst>
                                    <p:cond delay="2010"/>
                                  </p:stCondLst>
                                  <p:childTnLst>
                                    <p:set>
                                      <p:cBhvr>
                                        <p:cTn id="174" dur="1" fill="hold">
                                          <p:stCondLst>
                                            <p:cond delay="0"/>
                                          </p:stCondLst>
                                        </p:cTn>
                                        <p:tgtEl>
                                          <p:spTgt spid="46"/>
                                        </p:tgtEl>
                                        <p:attrNameLst>
                                          <p:attrName>style.visibility</p:attrName>
                                        </p:attrNameLst>
                                      </p:cBhvr>
                                      <p:to>
                                        <p:strVal val="visible"/>
                                      </p:to>
                                    </p:set>
                                    <p:animEffect transition="in" filter="fade">
                                      <p:cBhvr>
                                        <p:cTn id="175" dur="600"/>
                                        <p:tgtEl>
                                          <p:spTgt spid="46"/>
                                        </p:tgtEl>
                                      </p:cBhvr>
                                    </p:animEffect>
                                  </p:childTnLst>
                                </p:cTn>
                              </p:par>
                              <p:par>
                                <p:cTn id="176" presetID="10" presetClass="entr" presetSubtype="0" decel="100000" fill="hold" grpId="0" nodeType="withEffect">
                                  <p:stCondLst>
                                    <p:cond delay="2010"/>
                                  </p:stCondLst>
                                  <p:childTnLst>
                                    <p:set>
                                      <p:cBhvr>
                                        <p:cTn id="177" dur="1" fill="hold">
                                          <p:stCondLst>
                                            <p:cond delay="0"/>
                                          </p:stCondLst>
                                        </p:cTn>
                                        <p:tgtEl>
                                          <p:spTgt spid="47"/>
                                        </p:tgtEl>
                                        <p:attrNameLst>
                                          <p:attrName>style.visibility</p:attrName>
                                        </p:attrNameLst>
                                      </p:cBhvr>
                                      <p:to>
                                        <p:strVal val="visible"/>
                                      </p:to>
                                    </p:set>
                                    <p:animEffect transition="in" filter="fade">
                                      <p:cBhvr>
                                        <p:cTn id="178" dur="600"/>
                                        <p:tgtEl>
                                          <p:spTgt spid="47"/>
                                        </p:tgtEl>
                                      </p:cBhvr>
                                    </p:animEffect>
                                  </p:childTnLst>
                                </p:cTn>
                              </p:par>
                              <p:par>
                                <p:cTn id="179" presetID="10" presetClass="entr" presetSubtype="0" decel="100000" fill="hold" grpId="0" nodeType="withEffect">
                                  <p:stCondLst>
                                    <p:cond delay="2010"/>
                                  </p:stCondLst>
                                  <p:childTnLst>
                                    <p:set>
                                      <p:cBhvr>
                                        <p:cTn id="180" dur="1" fill="hold">
                                          <p:stCondLst>
                                            <p:cond delay="0"/>
                                          </p:stCondLst>
                                        </p:cTn>
                                        <p:tgtEl>
                                          <p:spTgt spid="48"/>
                                        </p:tgtEl>
                                        <p:attrNameLst>
                                          <p:attrName>style.visibility</p:attrName>
                                        </p:attrNameLst>
                                      </p:cBhvr>
                                      <p:to>
                                        <p:strVal val="visible"/>
                                      </p:to>
                                    </p:set>
                                    <p:animEffect transition="in" filter="fade">
                                      <p:cBhvr>
                                        <p:cTn id="181" dur="600"/>
                                        <p:tgtEl>
                                          <p:spTgt spid="48"/>
                                        </p:tgtEl>
                                      </p:cBhvr>
                                    </p:animEffect>
                                  </p:childTnLst>
                                </p:cTn>
                              </p:par>
                              <p:par>
                                <p:cTn id="182" presetID="42" presetClass="entr" presetSubtype="0" decel="100000" fill="hold" grpId="0" nodeType="withEffect">
                                  <p:stCondLst>
                                    <p:cond delay="2230"/>
                                  </p:stCondLst>
                                  <p:childTnLst>
                                    <p:set>
                                      <p:cBhvr>
                                        <p:cTn id="183" dur="1" fill="hold">
                                          <p:stCondLst>
                                            <p:cond delay="0"/>
                                          </p:stCondLst>
                                        </p:cTn>
                                        <p:tgtEl>
                                          <p:spTgt spid="49"/>
                                        </p:tgtEl>
                                        <p:attrNameLst>
                                          <p:attrName>style.visibility</p:attrName>
                                        </p:attrNameLst>
                                      </p:cBhvr>
                                      <p:to>
                                        <p:strVal val="visible"/>
                                      </p:to>
                                    </p:set>
                                    <p:animEffect transition="in" filter="fade">
                                      <p:cBhvr>
                                        <p:cTn id="184" dur="700"/>
                                        <p:tgtEl>
                                          <p:spTgt spid="49"/>
                                        </p:tgtEl>
                                      </p:cBhvr>
                                    </p:animEffect>
                                    <p:anim calcmode="lin" valueType="num">
                                      <p:cBhvr additive="base">
                                        <p:cTn id="185" dur="700" fill="hold"/>
                                        <p:tgtEl>
                                          <p:spTgt spid="49"/>
                                        </p:tgtEl>
                                        <p:attrNameLst>
                                          <p:attrName>ppt_y</p:attrName>
                                        </p:attrNameLst>
                                      </p:cBhvr>
                                      <p:tavLst>
                                        <p:tav tm="0">
                                          <p:val>
                                            <p:strVal val="#ppt_y+0.03"/>
                                          </p:val>
                                        </p:tav>
                                        <p:tav tm="100000">
                                          <p:val>
                                            <p:strVal val="#ppt_y"/>
                                          </p:val>
                                        </p:tav>
                                      </p:tavLst>
                                    </p:anim>
                                  </p:childTnLst>
                                </p:cTn>
                              </p:par>
                              <p:par>
                                <p:cTn id="186" presetID="42" presetClass="entr" presetSubtype="0" decel="100000" fill="hold" grpId="0" nodeType="withEffect">
                                  <p:stCondLst>
                                    <p:cond delay="2230"/>
                                  </p:stCondLst>
                                  <p:childTnLst>
                                    <p:set>
                                      <p:cBhvr>
                                        <p:cTn id="187" dur="1" fill="hold">
                                          <p:stCondLst>
                                            <p:cond delay="0"/>
                                          </p:stCondLst>
                                        </p:cTn>
                                        <p:tgtEl>
                                          <p:spTgt spid="50"/>
                                        </p:tgtEl>
                                        <p:attrNameLst>
                                          <p:attrName>style.visibility</p:attrName>
                                        </p:attrNameLst>
                                      </p:cBhvr>
                                      <p:to>
                                        <p:strVal val="visible"/>
                                      </p:to>
                                    </p:set>
                                    <p:animEffect transition="in" filter="fade">
                                      <p:cBhvr>
                                        <p:cTn id="188" dur="700"/>
                                        <p:tgtEl>
                                          <p:spTgt spid="50"/>
                                        </p:tgtEl>
                                      </p:cBhvr>
                                    </p:animEffect>
                                    <p:anim calcmode="lin" valueType="num">
                                      <p:cBhvr additive="base">
                                        <p:cTn id="189" dur="700" fill="hold"/>
                                        <p:tgtEl>
                                          <p:spTgt spid="50"/>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p:bldP spid="9" grpId="0" animBg="1"/>
      <p:bldP spid="10" grpId="0" animBg="1"/>
      <p:bldP spid="11" grpId="0"/>
      <p:bldP spid="12" grpId="0" animBg="1"/>
      <p:bldP spid="13" grpId="0" animBg="1"/>
      <p:bldP spid="14" grpId="0"/>
      <p:bldP spid="15" grpId="0" animBg="1"/>
      <p:bldP spid="16" grpId="0" animBg="1"/>
      <p:bldP spid="17" grpId="0"/>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3657600" y="-310896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194560" y="347472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VALIDATION 2 · CHANCE, UNSEEN STANDS, SECOND SENSOR</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Every rate next to its chance rate</a:t>
            </a:r>
            <a:endParaRPr lang="en-US" sz="3400" dirty="0"/>
          </a:p>
        </p:txBody>
      </p:sp>
      <p:sp>
        <p:nvSpPr>
          <p:cNvPr id="7" name="a1float_cc"/>
          <p:cNvSpPr/>
          <p:nvPr/>
        </p:nvSpPr>
        <p:spPr>
          <a:xfrm>
            <a:off x="548640" y="1691640"/>
            <a:ext cx="6812280" cy="3611880"/>
          </a:xfrm>
          <a:prstGeom prst="roundRect">
            <a:avLst>
              <a:gd name="adj" fmla="val 354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graphicFrame>
        <p:nvGraphicFramePr>
          <p:cNvPr id="8" name="a2wipe_sim"/>
          <p:cNvGraphicFramePr/>
          <p:nvPr/>
        </p:nvGraphicFramePr>
        <p:xfrm>
          <a:off x="685800" y="1783080"/>
          <a:ext cx="6537960" cy="3429000"/>
        </p:xfrm>
        <a:graphic>
          <a:graphicData uri="http://schemas.openxmlformats.org/drawingml/2006/chart">
            <c:chart xmlns:c="http://schemas.openxmlformats.org/drawingml/2006/chart" xmlns:r="http://schemas.openxmlformats.org/officeDocument/2006/relationships" r:id="rId5"/>
          </a:graphicData>
        </a:graphic>
      </p:graphicFrame>
      <p:sp>
        <p:nvSpPr>
          <p:cNvPr id="9" name="a3fade_simc"/>
          <p:cNvSpPr txBox="1"/>
          <p:nvPr/>
        </p:nvSpPr>
        <p:spPr>
          <a:xfrm>
            <a:off x="548640" y="5376672"/>
            <a:ext cx="681228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A detection counts only if a new alert starts after the loss begins. ~160–240 trials per row.</a:t>
            </a:r>
            <a:endParaRPr lang="en-US" sz="1100" dirty="0"/>
          </a:p>
        </p:txBody>
      </p:sp>
      <p:sp>
        <p:nvSpPr>
          <p:cNvPr id="10" name="a3float_k0"/>
          <p:cNvSpPr/>
          <p:nvPr/>
        </p:nvSpPr>
        <p:spPr>
          <a:xfrm>
            <a:off x="7589520" y="1691640"/>
            <a:ext cx="4050792" cy="1133856"/>
          </a:xfrm>
          <a:prstGeom prst="roundRect">
            <a:avLst>
              <a:gd name="adj" fmla="val 1129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1" name="a3float_k0l"/>
          <p:cNvSpPr txBox="1"/>
          <p:nvPr/>
        </p:nvSpPr>
        <p:spPr>
          <a:xfrm>
            <a:off x="7790688" y="1801368"/>
            <a:ext cx="374904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CALIBRATED · 25 STANDS</a:t>
            </a:r>
            <a:endParaRPr lang="en-US" sz="1100" dirty="0"/>
          </a:p>
        </p:txBody>
      </p:sp>
      <p:sp>
        <p:nvSpPr>
          <p:cNvPr id="12" name="a3float_k0n"/>
          <p:cNvSpPr txBox="1"/>
          <p:nvPr/>
        </p:nvSpPr>
        <p:spPr>
          <a:xfrm>
            <a:off x="7790688" y="2039112"/>
            <a:ext cx="3749040" cy="457200"/>
          </a:xfrm>
          <a:prstGeom prst="rect">
            <a:avLst/>
          </a:prstGeom>
          <a:noFill/>
          <a:ln/>
        </p:spPr>
        <p:txBody>
          <a:bodyPr wrap="square" lIns="0" tIns="0" rIns="0" bIns="0" rtlCol="0" anchor="t"/>
          <a:lstStyle/>
          <a:p>
            <a:pPr marL="0" indent="0" algn="l">
              <a:lnSpc>
                <a:spcPct val="105000"/>
              </a:lnSpc>
              <a:buNone/>
            </a:pPr>
            <a:r>
              <a:rPr lang="en-US" sz="2600" dirty="0">
                <a:solidFill>
                  <a:srgbClr val="A9813A"/>
                </a:solidFill>
                <a:latin typeface="Segoe UI Light" pitchFamily="34" charset="0"/>
                <a:ea typeface="Segoe UI Light" pitchFamily="34" charset="-122"/>
                <a:cs typeface="Segoe UI Light" pitchFamily="34" charset="-120"/>
              </a:rPr>
              <a:t>0.96</a:t>
            </a:r>
            <a:endParaRPr lang="en-US" sz="2600" dirty="0"/>
          </a:p>
        </p:txBody>
      </p:sp>
      <p:sp>
        <p:nvSpPr>
          <p:cNvPr id="13" name="a3float_k0t"/>
          <p:cNvSpPr txBox="1"/>
          <p:nvPr/>
        </p:nvSpPr>
        <p:spPr>
          <a:xfrm>
            <a:off x="7790688" y="2478024"/>
            <a:ext cx="3749040" cy="292608"/>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false-alarm episodes per stand-year</a:t>
            </a:r>
            <a:endParaRPr lang="en-US" sz="1100" dirty="0"/>
          </a:p>
        </p:txBody>
      </p:sp>
      <p:sp>
        <p:nvSpPr>
          <p:cNvPr id="14" name="a4float_k1"/>
          <p:cNvSpPr/>
          <p:nvPr/>
        </p:nvSpPr>
        <p:spPr>
          <a:xfrm>
            <a:off x="7589520" y="2935224"/>
            <a:ext cx="4050792" cy="1133856"/>
          </a:xfrm>
          <a:prstGeom prst="roundRect">
            <a:avLst>
              <a:gd name="adj" fmla="val 11290"/>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sp>
      <p:sp>
        <p:nvSpPr>
          <p:cNvPr id="15" name="a4float_k1l"/>
          <p:cNvSpPr txBox="1"/>
          <p:nvPr/>
        </p:nvSpPr>
        <p:spPr>
          <a:xfrm>
            <a:off x="7790688" y="3044952"/>
            <a:ext cx="374904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UNSEEN · 65 STANDS</a:t>
            </a:r>
            <a:endParaRPr lang="en-US" sz="1100" dirty="0"/>
          </a:p>
        </p:txBody>
      </p:sp>
      <p:sp>
        <p:nvSpPr>
          <p:cNvPr id="16" name="a4float_k1n"/>
          <p:cNvSpPr txBox="1"/>
          <p:nvPr/>
        </p:nvSpPr>
        <p:spPr>
          <a:xfrm>
            <a:off x="7790688" y="3282696"/>
            <a:ext cx="3749040" cy="457200"/>
          </a:xfrm>
          <a:prstGeom prst="rect">
            <a:avLst/>
          </a:prstGeom>
          <a:noFill/>
          <a:ln/>
        </p:spPr>
        <p:txBody>
          <a:bodyPr wrap="square" lIns="0" tIns="0" rIns="0" bIns="0" rtlCol="0" anchor="t"/>
          <a:lstStyle/>
          <a:p>
            <a:pPr marL="0" indent="0" algn="l">
              <a:lnSpc>
                <a:spcPct val="105000"/>
              </a:lnSpc>
              <a:buNone/>
            </a:pPr>
            <a:r>
              <a:rPr lang="en-US" sz="2600" dirty="0">
                <a:solidFill>
                  <a:srgbClr val="2F5D8F"/>
                </a:solidFill>
                <a:latin typeface="Segoe UI Light" pitchFamily="34" charset="0"/>
                <a:ea typeface="Segoe UI Light" pitchFamily="34" charset="-122"/>
                <a:cs typeface="Segoe UI Light" pitchFamily="34" charset="-120"/>
              </a:rPr>
              <a:t>0.79</a:t>
            </a:r>
            <a:endParaRPr lang="en-US" sz="2600" dirty="0"/>
          </a:p>
        </p:txBody>
      </p:sp>
      <p:sp>
        <p:nvSpPr>
          <p:cNvPr id="17" name="a4float_k1t"/>
          <p:cNvSpPr txBox="1"/>
          <p:nvPr/>
        </p:nvSpPr>
        <p:spPr>
          <a:xfrm>
            <a:off x="7790688" y="3721608"/>
            <a:ext cx="3749040" cy="292608"/>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per stand-year, 305 stand-years, incl. Saudi Tarut Bay</a:t>
            </a:r>
            <a:endParaRPr lang="en-US" sz="1100" dirty="0"/>
          </a:p>
        </p:txBody>
      </p:sp>
      <p:sp>
        <p:nvSpPr>
          <p:cNvPr id="18" name="a5float_k2"/>
          <p:cNvSpPr/>
          <p:nvPr/>
        </p:nvSpPr>
        <p:spPr>
          <a:xfrm>
            <a:off x="7589520" y="4178808"/>
            <a:ext cx="4050792" cy="1133856"/>
          </a:xfrm>
          <a:prstGeom prst="roundRect">
            <a:avLst>
              <a:gd name="adj" fmla="val 1129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9" name="a5float_k2l"/>
          <p:cNvSpPr txBox="1"/>
          <p:nvPr/>
        </p:nvSpPr>
        <p:spPr>
          <a:xfrm>
            <a:off x="7790688" y="4288536"/>
            <a:ext cx="374904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6E60A8"/>
                </a:solidFill>
                <a:latin typeface="Segoe UI Semibold" pitchFamily="34" charset="0"/>
                <a:ea typeface="Segoe UI Semibold" pitchFamily="34" charset="-122"/>
                <a:cs typeface="Segoe UI Semibold" pitchFamily="34" charset="-120"/>
              </a:rPr>
              <a:t>ENMAP · SAME DATES</a:t>
            </a:r>
            <a:endParaRPr lang="en-US" sz="1100" dirty="0"/>
          </a:p>
        </p:txBody>
      </p:sp>
      <p:sp>
        <p:nvSpPr>
          <p:cNvPr id="20" name="a5float_k2n"/>
          <p:cNvSpPr txBox="1"/>
          <p:nvPr/>
        </p:nvSpPr>
        <p:spPr>
          <a:xfrm>
            <a:off x="7790688" y="4526280"/>
            <a:ext cx="3749040" cy="457200"/>
          </a:xfrm>
          <a:prstGeom prst="rect">
            <a:avLst/>
          </a:prstGeom>
          <a:noFill/>
          <a:ln/>
        </p:spPr>
        <p:txBody>
          <a:bodyPr wrap="square" lIns="0" tIns="0" rIns="0" bIns="0" rtlCol="0" anchor="t"/>
          <a:lstStyle/>
          <a:p>
            <a:pPr marL="0" indent="0" algn="l">
              <a:lnSpc>
                <a:spcPct val="105000"/>
              </a:lnSpc>
              <a:buNone/>
            </a:pPr>
            <a:r>
              <a:rPr lang="en-US" sz="2600" dirty="0">
                <a:solidFill>
                  <a:srgbClr val="6E60A8"/>
                </a:solidFill>
                <a:latin typeface="Segoe UI Light" pitchFamily="34" charset="0"/>
                <a:ea typeface="Segoe UI Light" pitchFamily="34" charset="-122"/>
                <a:cs typeface="Segoe UI Light" pitchFamily="34" charset="-120"/>
              </a:rPr>
              <a:t>r = 0.84–0.99</a:t>
            </a:r>
            <a:endParaRPr lang="en-US" sz="2600" dirty="0"/>
          </a:p>
        </p:txBody>
      </p:sp>
      <p:sp>
        <p:nvSpPr>
          <p:cNvPr id="21" name="a5float_k2t"/>
          <p:cNvSpPr txBox="1"/>
          <p:nvPr/>
        </p:nvSpPr>
        <p:spPr>
          <a:xfrm>
            <a:off x="7790688" y="4965192"/>
            <a:ext cx="3749040" cy="292608"/>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vs our Sentinel-2 indices; stand-5 loss 62 ha vs our 26 ha</a:t>
            </a:r>
            <a:endParaRPr lang="en-US" sz="1100" dirty="0"/>
          </a:p>
        </p:txBody>
      </p:sp>
      <p:sp>
        <p:nvSpPr>
          <p:cNvPr id="22" name="a6float_claim"/>
          <p:cNvSpPr/>
          <p:nvPr/>
        </p:nvSpPr>
        <p:spPr>
          <a:xfrm>
            <a:off x="548640" y="5687568"/>
            <a:ext cx="11091672" cy="548640"/>
          </a:xfrm>
          <a:prstGeom prst="roundRect">
            <a:avLst>
              <a:gd name="adj" fmla="val 23333"/>
            </a:avLst>
          </a:prstGeom>
          <a:solidFill>
            <a:srgbClr val="A9813A">
              <a:alpha val="12000"/>
            </a:srgbClr>
          </a:solidFill>
          <a:ln w="9525">
            <a:solidFill>
              <a:srgbClr val="A9813A"/>
            </a:solidFill>
            <a:prstDash val="solid"/>
          </a:ln>
          <a:effectLst>
            <a:outerShdw blurRad="152400" dist="38100" dir="5400000" algn="bl" rotWithShape="0">
              <a:srgbClr val="1B2B40">
                <a:alpha val="12000"/>
              </a:srgbClr>
            </a:outerShdw>
          </a:effectLst>
        </p:spPr>
      </p:sp>
      <p:sp>
        <p:nvSpPr>
          <p:cNvPr id="23" name="a6float_claimt"/>
          <p:cNvSpPr txBox="1"/>
          <p:nvPr/>
        </p:nvSpPr>
        <p:spPr>
          <a:xfrm>
            <a:off x="777240" y="5687568"/>
            <a:ext cx="10698480" cy="548640"/>
          </a:xfrm>
          <a:prstGeom prst="rect">
            <a:avLst/>
          </a:prstGeom>
          <a:noFill/>
          <a:ln/>
        </p:spPr>
        <p:txBody>
          <a:bodyPr wrap="square" lIns="0" tIns="0" rIns="0" bIns="0" rtlCol="0" anchor="ctr"/>
          <a:lstStyle/>
          <a:p>
            <a:pPr marL="0" indent="0" algn="l">
              <a:lnSpc>
                <a:spcPct val="105000"/>
              </a:lnSpc>
              <a:buNone/>
            </a:pPr>
            <a:r>
              <a:rPr lang="en-US" sz="1200" b="1" dirty="0">
                <a:solidFill>
                  <a:srgbClr val="A9813A"/>
                </a:solidFill>
                <a:latin typeface="Segoe UI" pitchFamily="34" charset="0"/>
                <a:ea typeface="Segoe UI" pitchFamily="34" charset="-122"/>
                <a:cs typeface="Segoe UI" pitchFamily="34" charset="-120"/>
              </a:rPr>
              <a:t>What we do not claim: </a:t>
            </a:r>
            <a:r>
              <a:rPr lang="en-US" sz="1200" dirty="0">
                <a:solidFill>
                  <a:srgbClr val="1B2B40"/>
                </a:solidFill>
                <a:latin typeface="Segoe UI" pitchFamily="34" charset="0"/>
                <a:ea typeface="Segoe UI" pitchFamily="34" charset="-122"/>
                <a:cs typeface="Segoe UI" pitchFamily="34" charset="-120"/>
              </a:rPr>
              <a:t>advance warning, field verification, species discrimination, or that hyperspectral classifies better (F1 0.74 vs 0.72). We withdrew our own first test (58 % / 90 %): it had no chance baseline.</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22" presetClass="entr" presetSubtype="8" fill="hold" grpId="0" nodeType="withEffect">
                                  <p:stCondLst>
                                    <p:cond delay="69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900"/>
                                        <p:tgtEl>
                                          <p:spTgt spid="8"/>
                                        </p:tgtEl>
                                      </p:cBhvr>
                                    </p:animEffect>
                                  </p:childTnLst>
                                </p:cTn>
                              </p:par>
                              <p:par>
                                <p:cTn id="19" presetID="10" presetClass="entr" presetSubtype="0" decel="100000" fill="hold" grpId="0" nodeType="withEffect">
                                  <p:stCondLst>
                                    <p:cond delay="91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600"/>
                                        <p:tgtEl>
                                          <p:spTgt spid="9"/>
                                        </p:tgtEl>
                                      </p:cBhvr>
                                    </p:animEffect>
                                  </p:childTnLst>
                                </p:cTn>
                              </p:par>
                              <p:par>
                                <p:cTn id="22" presetID="42" presetClass="entr" presetSubtype="0" decel="100000" fill="hold" grpId="0" nodeType="withEffect">
                                  <p:stCondLst>
                                    <p:cond delay="91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700"/>
                                        <p:tgtEl>
                                          <p:spTgt spid="10"/>
                                        </p:tgtEl>
                                      </p:cBhvr>
                                    </p:animEffect>
                                    <p:anim calcmode="lin" valueType="num">
                                      <p:cBhvr additive="base">
                                        <p:cTn id="25" dur="700" fill="hold"/>
                                        <p:tgtEl>
                                          <p:spTgt spid="10"/>
                                        </p:tgtEl>
                                        <p:attrNameLst>
                                          <p:attrName>ppt_y</p:attrName>
                                        </p:attrNameLst>
                                      </p:cBhvr>
                                      <p:tavLst>
                                        <p:tav tm="0">
                                          <p:val>
                                            <p:strVal val="#ppt_y+0.03"/>
                                          </p:val>
                                        </p:tav>
                                        <p:tav tm="100000">
                                          <p:val>
                                            <p:strVal val="#ppt_y"/>
                                          </p:val>
                                        </p:tav>
                                      </p:tavLst>
                                    </p:anim>
                                  </p:childTnLst>
                                </p:cTn>
                              </p:par>
                              <p:par>
                                <p:cTn id="26" presetID="42" presetClass="entr" presetSubtype="0" decel="100000" fill="hold" grpId="0" nodeType="withEffect">
                                  <p:stCondLst>
                                    <p:cond delay="91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700"/>
                                        <p:tgtEl>
                                          <p:spTgt spid="11"/>
                                        </p:tgtEl>
                                      </p:cBhvr>
                                    </p:animEffect>
                                    <p:anim calcmode="lin" valueType="num">
                                      <p:cBhvr additive="base">
                                        <p:cTn id="29" dur="700" fill="hold"/>
                                        <p:tgtEl>
                                          <p:spTgt spid="11"/>
                                        </p:tgtEl>
                                        <p:attrNameLst>
                                          <p:attrName>ppt_y</p:attrName>
                                        </p:attrNameLst>
                                      </p:cBhvr>
                                      <p:tavLst>
                                        <p:tav tm="0">
                                          <p:val>
                                            <p:strVal val="#ppt_y+0.03"/>
                                          </p:val>
                                        </p:tav>
                                        <p:tav tm="100000">
                                          <p:val>
                                            <p:strVal val="#ppt_y"/>
                                          </p:val>
                                        </p:tav>
                                      </p:tavLst>
                                    </p:anim>
                                  </p:childTnLst>
                                </p:cTn>
                              </p:par>
                              <p:par>
                                <p:cTn id="30" presetID="42" presetClass="entr" presetSubtype="0" decel="100000" fill="hold" grpId="0" nodeType="withEffect">
                                  <p:stCondLst>
                                    <p:cond delay="91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700"/>
                                        <p:tgtEl>
                                          <p:spTgt spid="12"/>
                                        </p:tgtEl>
                                      </p:cBhvr>
                                    </p:animEffect>
                                    <p:anim calcmode="lin" valueType="num">
                                      <p:cBhvr additive="base">
                                        <p:cTn id="33" dur="700" fill="hold"/>
                                        <p:tgtEl>
                                          <p:spTgt spid="12"/>
                                        </p:tgtEl>
                                        <p:attrNameLst>
                                          <p:attrName>ppt_y</p:attrName>
                                        </p:attrNameLst>
                                      </p:cBhvr>
                                      <p:tavLst>
                                        <p:tav tm="0">
                                          <p:val>
                                            <p:strVal val="#ppt_y+0.03"/>
                                          </p:val>
                                        </p:tav>
                                        <p:tav tm="100000">
                                          <p:val>
                                            <p:strVal val="#ppt_y"/>
                                          </p:val>
                                        </p:tav>
                                      </p:tavLst>
                                    </p:anim>
                                  </p:childTnLst>
                                </p:cTn>
                              </p:par>
                              <p:par>
                                <p:cTn id="34" presetID="42" presetClass="entr" presetSubtype="0" decel="100000" fill="hold" grpId="0" nodeType="withEffect">
                                  <p:stCondLst>
                                    <p:cond delay="91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700"/>
                                        <p:tgtEl>
                                          <p:spTgt spid="13"/>
                                        </p:tgtEl>
                                      </p:cBhvr>
                                    </p:animEffect>
                                    <p:anim calcmode="lin" valueType="num">
                                      <p:cBhvr additive="base">
                                        <p:cTn id="37" dur="700" fill="hold"/>
                                        <p:tgtEl>
                                          <p:spTgt spid="13"/>
                                        </p:tgtEl>
                                        <p:attrNameLst>
                                          <p:attrName>ppt_y</p:attrName>
                                        </p:attrNameLst>
                                      </p:cBhvr>
                                      <p:tavLst>
                                        <p:tav tm="0">
                                          <p:val>
                                            <p:strVal val="#ppt_y+0.03"/>
                                          </p:val>
                                        </p:tav>
                                        <p:tav tm="100000">
                                          <p:val>
                                            <p:strVal val="#ppt_y"/>
                                          </p:val>
                                        </p:tav>
                                      </p:tavLst>
                                    </p:anim>
                                  </p:childTnLst>
                                </p:cTn>
                              </p:par>
                              <p:par>
                                <p:cTn id="38" presetID="42" presetClass="entr" presetSubtype="0" decel="100000" fill="hold" grpId="0" nodeType="withEffect">
                                  <p:stCondLst>
                                    <p:cond delay="113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700"/>
                                        <p:tgtEl>
                                          <p:spTgt spid="14"/>
                                        </p:tgtEl>
                                      </p:cBhvr>
                                    </p:animEffect>
                                    <p:anim calcmode="lin" valueType="num">
                                      <p:cBhvr additive="base">
                                        <p:cTn id="41" dur="700" fill="hold"/>
                                        <p:tgtEl>
                                          <p:spTgt spid="14"/>
                                        </p:tgtEl>
                                        <p:attrNameLst>
                                          <p:attrName>ppt_y</p:attrName>
                                        </p:attrNameLst>
                                      </p:cBhvr>
                                      <p:tavLst>
                                        <p:tav tm="0">
                                          <p:val>
                                            <p:strVal val="#ppt_y+0.03"/>
                                          </p:val>
                                        </p:tav>
                                        <p:tav tm="100000">
                                          <p:val>
                                            <p:strVal val="#ppt_y"/>
                                          </p:val>
                                        </p:tav>
                                      </p:tavLst>
                                    </p:anim>
                                  </p:childTnLst>
                                </p:cTn>
                              </p:par>
                              <p:par>
                                <p:cTn id="42" presetID="42" presetClass="entr" presetSubtype="0" decel="100000" fill="hold" grpId="0" nodeType="withEffect">
                                  <p:stCondLst>
                                    <p:cond delay="113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700"/>
                                        <p:tgtEl>
                                          <p:spTgt spid="15"/>
                                        </p:tgtEl>
                                      </p:cBhvr>
                                    </p:animEffect>
                                    <p:anim calcmode="lin" valueType="num">
                                      <p:cBhvr additive="base">
                                        <p:cTn id="45" dur="700" fill="hold"/>
                                        <p:tgtEl>
                                          <p:spTgt spid="15"/>
                                        </p:tgtEl>
                                        <p:attrNameLst>
                                          <p:attrName>ppt_y</p:attrName>
                                        </p:attrNameLst>
                                      </p:cBhvr>
                                      <p:tavLst>
                                        <p:tav tm="0">
                                          <p:val>
                                            <p:strVal val="#ppt_y+0.03"/>
                                          </p:val>
                                        </p:tav>
                                        <p:tav tm="100000">
                                          <p:val>
                                            <p:strVal val="#ppt_y"/>
                                          </p:val>
                                        </p:tav>
                                      </p:tavLst>
                                    </p:anim>
                                  </p:childTnLst>
                                </p:cTn>
                              </p:par>
                              <p:par>
                                <p:cTn id="46" presetID="42" presetClass="entr" presetSubtype="0" decel="100000" fill="hold" grpId="0" nodeType="withEffect">
                                  <p:stCondLst>
                                    <p:cond delay="113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700"/>
                                        <p:tgtEl>
                                          <p:spTgt spid="16"/>
                                        </p:tgtEl>
                                      </p:cBhvr>
                                    </p:animEffect>
                                    <p:anim calcmode="lin" valueType="num">
                                      <p:cBhvr additive="base">
                                        <p:cTn id="49" dur="700" fill="hold"/>
                                        <p:tgtEl>
                                          <p:spTgt spid="16"/>
                                        </p:tgtEl>
                                        <p:attrNameLst>
                                          <p:attrName>ppt_y</p:attrName>
                                        </p:attrNameLst>
                                      </p:cBhvr>
                                      <p:tavLst>
                                        <p:tav tm="0">
                                          <p:val>
                                            <p:strVal val="#ppt_y+0.03"/>
                                          </p:val>
                                        </p:tav>
                                        <p:tav tm="100000">
                                          <p:val>
                                            <p:strVal val="#ppt_y"/>
                                          </p:val>
                                        </p:tav>
                                      </p:tavLst>
                                    </p:anim>
                                  </p:childTnLst>
                                </p:cTn>
                              </p:par>
                              <p:par>
                                <p:cTn id="50" presetID="42" presetClass="entr" presetSubtype="0" decel="100000" fill="hold" grpId="0" nodeType="withEffect">
                                  <p:stCondLst>
                                    <p:cond delay="113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700"/>
                                        <p:tgtEl>
                                          <p:spTgt spid="17"/>
                                        </p:tgtEl>
                                      </p:cBhvr>
                                    </p:animEffect>
                                    <p:anim calcmode="lin" valueType="num">
                                      <p:cBhvr additive="base">
                                        <p:cTn id="53" dur="700" fill="hold"/>
                                        <p:tgtEl>
                                          <p:spTgt spid="17"/>
                                        </p:tgtEl>
                                        <p:attrNameLst>
                                          <p:attrName>ppt_y</p:attrName>
                                        </p:attrNameLst>
                                      </p:cBhvr>
                                      <p:tavLst>
                                        <p:tav tm="0">
                                          <p:val>
                                            <p:strVal val="#ppt_y+0.03"/>
                                          </p:val>
                                        </p:tav>
                                        <p:tav tm="100000">
                                          <p:val>
                                            <p:strVal val="#ppt_y"/>
                                          </p:val>
                                        </p:tav>
                                      </p:tavLst>
                                    </p:anim>
                                  </p:childTnLst>
                                </p:cTn>
                              </p:par>
                              <p:par>
                                <p:cTn id="54" presetID="42" presetClass="entr" presetSubtype="0" decel="100000" fill="hold" grpId="0" nodeType="withEffect">
                                  <p:stCondLst>
                                    <p:cond delay="135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700"/>
                                        <p:tgtEl>
                                          <p:spTgt spid="18"/>
                                        </p:tgtEl>
                                      </p:cBhvr>
                                    </p:animEffect>
                                    <p:anim calcmode="lin" valueType="num">
                                      <p:cBhvr additive="base">
                                        <p:cTn id="57" dur="700" fill="hold"/>
                                        <p:tgtEl>
                                          <p:spTgt spid="18"/>
                                        </p:tgtEl>
                                        <p:attrNameLst>
                                          <p:attrName>ppt_y</p:attrName>
                                        </p:attrNameLst>
                                      </p:cBhvr>
                                      <p:tavLst>
                                        <p:tav tm="0">
                                          <p:val>
                                            <p:strVal val="#ppt_y+0.03"/>
                                          </p:val>
                                        </p:tav>
                                        <p:tav tm="100000">
                                          <p:val>
                                            <p:strVal val="#ppt_y"/>
                                          </p:val>
                                        </p:tav>
                                      </p:tavLst>
                                    </p:anim>
                                  </p:childTnLst>
                                </p:cTn>
                              </p:par>
                              <p:par>
                                <p:cTn id="58" presetID="42" presetClass="entr" presetSubtype="0" decel="100000" fill="hold" grpId="0" nodeType="withEffect">
                                  <p:stCondLst>
                                    <p:cond delay="135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700"/>
                                        <p:tgtEl>
                                          <p:spTgt spid="19"/>
                                        </p:tgtEl>
                                      </p:cBhvr>
                                    </p:animEffect>
                                    <p:anim calcmode="lin" valueType="num">
                                      <p:cBhvr additive="base">
                                        <p:cTn id="61" dur="700" fill="hold"/>
                                        <p:tgtEl>
                                          <p:spTgt spid="19"/>
                                        </p:tgtEl>
                                        <p:attrNameLst>
                                          <p:attrName>ppt_y</p:attrName>
                                        </p:attrNameLst>
                                      </p:cBhvr>
                                      <p:tavLst>
                                        <p:tav tm="0">
                                          <p:val>
                                            <p:strVal val="#ppt_y+0.03"/>
                                          </p:val>
                                        </p:tav>
                                        <p:tav tm="100000">
                                          <p:val>
                                            <p:strVal val="#ppt_y"/>
                                          </p:val>
                                        </p:tav>
                                      </p:tavLst>
                                    </p:anim>
                                  </p:childTnLst>
                                </p:cTn>
                              </p:par>
                              <p:par>
                                <p:cTn id="62" presetID="42" presetClass="entr" presetSubtype="0" decel="100000" fill="hold" grpId="0" nodeType="withEffect">
                                  <p:stCondLst>
                                    <p:cond delay="135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700"/>
                                        <p:tgtEl>
                                          <p:spTgt spid="20"/>
                                        </p:tgtEl>
                                      </p:cBhvr>
                                    </p:animEffect>
                                    <p:anim calcmode="lin" valueType="num">
                                      <p:cBhvr additive="base">
                                        <p:cTn id="65" dur="700" fill="hold"/>
                                        <p:tgtEl>
                                          <p:spTgt spid="20"/>
                                        </p:tgtEl>
                                        <p:attrNameLst>
                                          <p:attrName>ppt_y</p:attrName>
                                        </p:attrNameLst>
                                      </p:cBhvr>
                                      <p:tavLst>
                                        <p:tav tm="0">
                                          <p:val>
                                            <p:strVal val="#ppt_y+0.03"/>
                                          </p:val>
                                        </p:tav>
                                        <p:tav tm="100000">
                                          <p:val>
                                            <p:strVal val="#ppt_y"/>
                                          </p:val>
                                        </p:tav>
                                      </p:tavLst>
                                    </p:anim>
                                  </p:childTnLst>
                                </p:cTn>
                              </p:par>
                              <p:par>
                                <p:cTn id="66" presetID="42" presetClass="entr" presetSubtype="0" decel="100000" fill="hold" grpId="0" nodeType="withEffect">
                                  <p:stCondLst>
                                    <p:cond delay="135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700"/>
                                        <p:tgtEl>
                                          <p:spTgt spid="21"/>
                                        </p:tgtEl>
                                      </p:cBhvr>
                                    </p:animEffect>
                                    <p:anim calcmode="lin" valueType="num">
                                      <p:cBhvr additive="base">
                                        <p:cTn id="69" dur="700" fill="hold"/>
                                        <p:tgtEl>
                                          <p:spTgt spid="21"/>
                                        </p:tgtEl>
                                        <p:attrNameLst>
                                          <p:attrName>ppt_y</p:attrName>
                                        </p:attrNameLst>
                                      </p:cBhvr>
                                      <p:tavLst>
                                        <p:tav tm="0">
                                          <p:val>
                                            <p:strVal val="#ppt_y+0.03"/>
                                          </p:val>
                                        </p:tav>
                                        <p:tav tm="100000">
                                          <p:val>
                                            <p:strVal val="#ppt_y"/>
                                          </p:val>
                                        </p:tav>
                                      </p:tavLst>
                                    </p:anim>
                                  </p:childTnLst>
                                </p:cTn>
                              </p:par>
                              <p:par>
                                <p:cTn id="70" presetID="42" presetClass="entr" presetSubtype="0" decel="100000" fill="hold" grpId="0" nodeType="withEffect">
                                  <p:stCondLst>
                                    <p:cond delay="157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700"/>
                                        <p:tgtEl>
                                          <p:spTgt spid="22"/>
                                        </p:tgtEl>
                                      </p:cBhvr>
                                    </p:animEffect>
                                    <p:anim calcmode="lin" valueType="num">
                                      <p:cBhvr additive="base">
                                        <p:cTn id="73" dur="700" fill="hold"/>
                                        <p:tgtEl>
                                          <p:spTgt spid="22"/>
                                        </p:tgtEl>
                                        <p:attrNameLst>
                                          <p:attrName>ppt_y</p:attrName>
                                        </p:attrNameLst>
                                      </p:cBhvr>
                                      <p:tavLst>
                                        <p:tav tm="0">
                                          <p:val>
                                            <p:strVal val="#ppt_y+0.03"/>
                                          </p:val>
                                        </p:tav>
                                        <p:tav tm="100000">
                                          <p:val>
                                            <p:strVal val="#ppt_y"/>
                                          </p:val>
                                        </p:tav>
                                      </p:tavLst>
                                    </p:anim>
                                  </p:childTnLst>
                                </p:cTn>
                              </p:par>
                              <p:par>
                                <p:cTn id="74" presetID="42" presetClass="entr" presetSubtype="0" decel="100000" fill="hold" grpId="0" nodeType="withEffect">
                                  <p:stCondLst>
                                    <p:cond delay="157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700"/>
                                        <p:tgtEl>
                                          <p:spTgt spid="23"/>
                                        </p:tgtEl>
                                      </p:cBhvr>
                                    </p:animEffect>
                                    <p:anim calcmode="lin" valueType="num">
                                      <p:cBhvr additive="base">
                                        <p:cTn id="77" dur="700" fill="hold"/>
                                        <p:tgtEl>
                                          <p:spTgt spid="23"/>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7680960" y="-2743200"/>
            <a:ext cx="5943600" cy="59436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377440" y="310896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IMPACT &amp; BUSINESS VIABILITY</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Carbon at stake, and who pays to protect it</a:t>
            </a:r>
            <a:endParaRPr lang="en-US" sz="3400" dirty="0"/>
          </a:p>
        </p:txBody>
      </p:sp>
      <p:sp>
        <p:nvSpPr>
          <p:cNvPr id="7" name="a1float_kp0"/>
          <p:cNvSpPr/>
          <p:nvPr/>
        </p:nvSpPr>
        <p:spPr>
          <a:xfrm>
            <a:off x="548640" y="1691640"/>
            <a:ext cx="3593592" cy="1280160"/>
          </a:xfrm>
          <a:prstGeom prst="roundRect">
            <a:avLst>
              <a:gd name="adj" fmla="val 10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8" name="a1float_kp0n"/>
          <p:cNvSpPr txBox="1"/>
          <p:nvPr/>
        </p:nvSpPr>
        <p:spPr>
          <a:xfrm>
            <a:off x="777240" y="1783080"/>
            <a:ext cx="3200400" cy="566928"/>
          </a:xfrm>
          <a:prstGeom prst="rect">
            <a:avLst/>
          </a:prstGeom>
          <a:noFill/>
          <a:ln/>
        </p:spPr>
        <p:txBody>
          <a:bodyPr wrap="square" lIns="0" tIns="0" rIns="0" bIns="0" rtlCol="0" anchor="t"/>
          <a:lstStyle/>
          <a:p>
            <a:pPr marL="0" indent="0" algn="l">
              <a:lnSpc>
                <a:spcPct val="105000"/>
              </a:lnSpc>
              <a:buNone/>
            </a:pPr>
            <a:r>
              <a:rPr lang="en-US" sz="3200" dirty="0">
                <a:solidFill>
                  <a:srgbClr val="A9813A"/>
                </a:solidFill>
                <a:latin typeface="Segoe UI Light" pitchFamily="34" charset="0"/>
                <a:ea typeface="Segoe UI Light" pitchFamily="34" charset="-122"/>
                <a:cs typeface="Segoe UI Light" pitchFamily="34" charset="-120"/>
              </a:rPr>
              <a:t>108 t C/ha</a:t>
            </a:r>
            <a:endParaRPr lang="en-US" sz="3200" dirty="0"/>
          </a:p>
        </p:txBody>
      </p:sp>
      <p:sp>
        <p:nvSpPr>
          <p:cNvPr id="9" name="a1float_kp0t"/>
          <p:cNvSpPr txBox="1"/>
          <p:nvPr/>
        </p:nvSpPr>
        <p:spPr>
          <a:xfrm>
            <a:off x="777240" y="2377440"/>
            <a:ext cx="3200400" cy="54864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field density near the stands (90 % CI 79–138); 82 % of it is in the soil</a:t>
            </a:r>
            <a:endParaRPr lang="en-US" sz="1200" dirty="0"/>
          </a:p>
        </p:txBody>
      </p:sp>
      <p:sp>
        <p:nvSpPr>
          <p:cNvPr id="10" name="a2float_kp1"/>
          <p:cNvSpPr/>
          <p:nvPr/>
        </p:nvSpPr>
        <p:spPr>
          <a:xfrm>
            <a:off x="4297680" y="1691640"/>
            <a:ext cx="3593592" cy="1280160"/>
          </a:xfrm>
          <a:prstGeom prst="roundRect">
            <a:avLst>
              <a:gd name="adj" fmla="val 10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1" name="a2float_kp1n"/>
          <p:cNvSpPr txBox="1"/>
          <p:nvPr/>
        </p:nvSpPr>
        <p:spPr>
          <a:xfrm>
            <a:off x="4526280" y="1783080"/>
            <a:ext cx="3200400" cy="566928"/>
          </a:xfrm>
          <a:prstGeom prst="rect">
            <a:avLst/>
          </a:prstGeom>
          <a:noFill/>
          <a:ln/>
        </p:spPr>
        <p:txBody>
          <a:bodyPr wrap="square" lIns="0" tIns="0" rIns="0" bIns="0" rtlCol="0" anchor="t"/>
          <a:lstStyle/>
          <a:p>
            <a:pPr marL="0" indent="0" algn="l">
              <a:lnSpc>
                <a:spcPct val="105000"/>
              </a:lnSpc>
              <a:buNone/>
            </a:pPr>
            <a:r>
              <a:rPr lang="en-US" sz="3200" dirty="0">
                <a:solidFill>
                  <a:srgbClr val="A9813A"/>
                </a:solidFill>
                <a:latin typeface="Segoe UI Light" pitchFamily="34" charset="0"/>
                <a:ea typeface="Segoe UI Light" pitchFamily="34" charset="-122"/>
                <a:cs typeface="Segoe UI Light" pitchFamily="34" charset="-120"/>
              </a:rPr>
              <a:t>247 kt C</a:t>
            </a:r>
            <a:endParaRPr lang="en-US" sz="3200" dirty="0"/>
          </a:p>
        </p:txBody>
      </p:sp>
      <p:sp>
        <p:nvSpPr>
          <p:cNvPr id="12" name="a2float_kp1t"/>
          <p:cNvSpPr txBox="1"/>
          <p:nvPr/>
        </p:nvSpPr>
        <p:spPr>
          <a:xfrm>
            <a:off x="4526280" y="2377440"/>
            <a:ext cx="3200400" cy="54864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pilot stock, 2,281 ha (range 180–316) ≈ 907 kt CO₂e</a:t>
            </a:r>
            <a:endParaRPr lang="en-US" sz="1200" dirty="0"/>
          </a:p>
        </p:txBody>
      </p:sp>
      <p:sp>
        <p:nvSpPr>
          <p:cNvPr id="13" name="a3float_kp2"/>
          <p:cNvSpPr/>
          <p:nvPr/>
        </p:nvSpPr>
        <p:spPr>
          <a:xfrm>
            <a:off x="8046720" y="1691640"/>
            <a:ext cx="3593592" cy="1280160"/>
          </a:xfrm>
          <a:prstGeom prst="roundRect">
            <a:avLst>
              <a:gd name="adj" fmla="val 10000"/>
            </a:avLst>
          </a:prstGeom>
          <a:solidFill>
            <a:srgbClr val="FBEDEF">
              <a:alpha val="80000"/>
            </a:srgbClr>
          </a:solidFill>
          <a:ln w="9525">
            <a:solidFill>
              <a:srgbClr val="E8C4CA"/>
            </a:solidFill>
            <a:prstDash val="solid"/>
          </a:ln>
          <a:effectLst>
            <a:outerShdw blurRad="152400" dist="38100" dir="5400000" algn="bl" rotWithShape="0">
              <a:srgbClr val="1B2B40">
                <a:alpha val="12000"/>
              </a:srgbClr>
            </a:outerShdw>
          </a:effectLst>
        </p:spPr>
      </p:sp>
      <p:sp>
        <p:nvSpPr>
          <p:cNvPr id="14" name="a3float_kp2n"/>
          <p:cNvSpPr txBox="1"/>
          <p:nvPr/>
        </p:nvSpPr>
        <p:spPr>
          <a:xfrm>
            <a:off x="8275320" y="1783080"/>
            <a:ext cx="3200400" cy="566928"/>
          </a:xfrm>
          <a:prstGeom prst="rect">
            <a:avLst/>
          </a:prstGeom>
          <a:noFill/>
          <a:ln/>
        </p:spPr>
        <p:txBody>
          <a:bodyPr wrap="square" lIns="0" tIns="0" rIns="0" bIns="0" rtlCol="0" anchor="t"/>
          <a:lstStyle/>
          <a:p>
            <a:pPr marL="0" indent="0" algn="l">
              <a:lnSpc>
                <a:spcPct val="105000"/>
              </a:lnSpc>
              <a:buNone/>
            </a:pPr>
            <a:r>
              <a:rPr lang="en-US" sz="3200" dirty="0">
                <a:solidFill>
                  <a:srgbClr val="BE5F6D"/>
                </a:solidFill>
                <a:latin typeface="Segoe UI Light" pitchFamily="34" charset="0"/>
                <a:ea typeface="Segoe UI Light" pitchFamily="34" charset="-122"/>
                <a:cs typeface="Segoe UI Light" pitchFamily="34" charset="-120"/>
              </a:rPr>
              <a:t>2.8–6.7 kt C</a:t>
            </a:r>
            <a:endParaRPr lang="en-US" sz="3200" dirty="0"/>
          </a:p>
        </p:txBody>
      </p:sp>
      <p:sp>
        <p:nvSpPr>
          <p:cNvPr id="15" name="a3float_kp2t"/>
          <p:cNvSpPr txBox="1"/>
          <p:nvPr/>
        </p:nvSpPr>
        <p:spPr>
          <a:xfrm>
            <a:off x="8275320" y="2377440"/>
            <a:ext cx="3200400" cy="54864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stock on the 26–62 ha lost at stand 5: what one alert puts on the table</a:t>
            </a:r>
            <a:endParaRPr lang="en-US" sz="1200" dirty="0"/>
          </a:p>
        </p:txBody>
      </p:sp>
      <p:sp>
        <p:nvSpPr>
          <p:cNvPr id="16" name="a4float_tc"/>
          <p:cNvSpPr/>
          <p:nvPr/>
        </p:nvSpPr>
        <p:spPr>
          <a:xfrm>
            <a:off x="548640" y="3154680"/>
            <a:ext cx="6629400" cy="3017520"/>
          </a:xfrm>
          <a:prstGeom prst="roundRect">
            <a:avLst>
              <a:gd name="adj" fmla="val 4242"/>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7" name="a4float_tl"/>
          <p:cNvSpPr txBox="1"/>
          <p:nvPr/>
        </p:nvSpPr>
        <p:spPr>
          <a:xfrm>
            <a:off x="777240" y="3291840"/>
            <a:ext cx="621792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SERVICE TIERS (PRICES ARE PILOT HYPOTHESES)</a:t>
            </a:r>
            <a:endParaRPr lang="en-US" sz="1100" dirty="0"/>
          </a:p>
        </p:txBody>
      </p:sp>
      <p:sp>
        <p:nvSpPr>
          <p:cNvPr id="18" name="a5pop_t0"/>
          <p:cNvSpPr/>
          <p:nvPr/>
        </p:nvSpPr>
        <p:spPr>
          <a:xfrm>
            <a:off x="777240" y="3639312"/>
            <a:ext cx="1965960" cy="1737360"/>
          </a:xfrm>
          <a:prstGeom prst="roundRect">
            <a:avLst>
              <a:gd name="adj" fmla="val 5263"/>
            </a:avLst>
          </a:prstGeom>
          <a:solidFill>
            <a:srgbClr val="3F6E9E">
              <a:alpha val="22000"/>
            </a:srgbClr>
          </a:solidFill>
          <a:ln w="9525">
            <a:solidFill>
              <a:srgbClr val="3F6E9E">
                <a:alpha val="60000"/>
              </a:srgbClr>
            </a:solidFill>
            <a:prstDash val="solid"/>
          </a:ln>
        </p:spPr>
      </p:sp>
      <p:sp>
        <p:nvSpPr>
          <p:cNvPr id="19" name="a5pop_t0n"/>
          <p:cNvSpPr txBox="1"/>
          <p:nvPr/>
        </p:nvSpPr>
        <p:spPr>
          <a:xfrm>
            <a:off x="914400" y="3712464"/>
            <a:ext cx="1737360" cy="274320"/>
          </a:xfrm>
          <a:prstGeom prst="rect">
            <a:avLst/>
          </a:prstGeom>
          <a:noFill/>
          <a:ln/>
        </p:spPr>
        <p:txBody>
          <a:bodyPr wrap="square" lIns="0" tIns="0" rIns="0" bIns="0" rtlCol="0" anchor="t"/>
          <a:lstStyle/>
          <a:p>
            <a:pPr marL="0" indent="0" algn="l">
              <a:lnSpc>
                <a:spcPct val="105000"/>
              </a:lnSpc>
              <a:buNone/>
            </a:pPr>
            <a:r>
              <a:rPr lang="en-US" sz="1300" dirty="0">
                <a:solidFill>
                  <a:srgbClr val="1B2B40"/>
                </a:solidFill>
                <a:latin typeface="Segoe UI Semibold" pitchFamily="34" charset="0"/>
                <a:ea typeface="Segoe UI Semibold" pitchFamily="34" charset="-122"/>
                <a:cs typeface="Segoe UI Semibold" pitchFamily="34" charset="-120"/>
              </a:rPr>
              <a:t>Monitor</a:t>
            </a:r>
            <a:endParaRPr lang="en-US" sz="1300" dirty="0"/>
          </a:p>
        </p:txBody>
      </p:sp>
      <p:sp>
        <p:nvSpPr>
          <p:cNvPr id="20" name="a5pop_t0p"/>
          <p:cNvSpPr txBox="1"/>
          <p:nvPr/>
        </p:nvSpPr>
        <p:spPr>
          <a:xfrm>
            <a:off x="914400" y="3986784"/>
            <a:ext cx="1737360" cy="502920"/>
          </a:xfrm>
          <a:prstGeom prst="rect">
            <a:avLst/>
          </a:prstGeom>
          <a:noFill/>
          <a:ln/>
        </p:spPr>
        <p:txBody>
          <a:bodyPr wrap="square" lIns="0" tIns="0" rIns="0" bIns="0" rtlCol="0" anchor="t"/>
          <a:lstStyle/>
          <a:p>
            <a:pPr marL="0" indent="0" algn="l">
              <a:lnSpc>
                <a:spcPct val="105000"/>
              </a:lnSpc>
              <a:buNone/>
            </a:pPr>
            <a:r>
              <a:rPr lang="en-US" sz="2800" dirty="0">
                <a:solidFill>
                  <a:srgbClr val="2F5D8F"/>
                </a:solidFill>
                <a:latin typeface="Segoe UI Light" pitchFamily="34" charset="0"/>
                <a:ea typeface="Segoe UI Light" pitchFamily="34" charset="-122"/>
                <a:cs typeface="Segoe UI Light" pitchFamily="34" charset="-120"/>
              </a:rPr>
              <a:t>$12k</a:t>
            </a:r>
            <a:endParaRPr lang="en-US" sz="2800" dirty="0"/>
          </a:p>
        </p:txBody>
      </p:sp>
      <p:sp>
        <p:nvSpPr>
          <p:cNvPr id="21" name="a5pop_t0u"/>
          <p:cNvSpPr txBox="1"/>
          <p:nvPr/>
        </p:nvSpPr>
        <p:spPr>
          <a:xfrm>
            <a:off x="914400" y="4480560"/>
            <a:ext cx="1737360" cy="22860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per site / yr</a:t>
            </a:r>
            <a:endParaRPr lang="en-US" sz="1100" dirty="0"/>
          </a:p>
        </p:txBody>
      </p:sp>
      <p:sp>
        <p:nvSpPr>
          <p:cNvPr id="22" name="a5pop_t0d"/>
          <p:cNvSpPr txBox="1"/>
          <p:nvPr/>
        </p:nvSpPr>
        <p:spPr>
          <a:xfrm>
            <a:off x="914400" y="4736592"/>
            <a:ext cx="1737360" cy="594360"/>
          </a:xfrm>
          <a:prstGeom prst="rect">
            <a:avLst/>
          </a:prstGeom>
          <a:noFill/>
          <a:ln/>
        </p:spPr>
        <p:txBody>
          <a:bodyPr wrap="square" lIns="0" tIns="0" rIns="0" bIns="0" rtlCol="0" anchor="t"/>
          <a:lstStyle/>
          <a:p>
            <a:pPr marL="0" indent="0" algn="l">
              <a:lnSpc>
                <a:spcPct val="105000"/>
              </a:lnSpc>
              <a:buNone/>
            </a:pPr>
            <a:r>
              <a:rPr lang="en-US" sz="1100" dirty="0">
                <a:solidFill>
                  <a:srgbClr val="1B2B40"/>
                </a:solidFill>
                <a:latin typeface="Segoe UI" pitchFamily="34" charset="0"/>
                <a:ea typeface="Segoe UI" pitchFamily="34" charset="-122"/>
                <a:cs typeface="Segoe UI" pitchFamily="34" charset="-120"/>
              </a:rPr>
              <a:t>alert, cell map, condition, carbon, monthly reports</a:t>
            </a:r>
            <a:endParaRPr lang="en-US" sz="1100" dirty="0"/>
          </a:p>
        </p:txBody>
      </p:sp>
      <p:sp>
        <p:nvSpPr>
          <p:cNvPr id="23" name="a6pop_t1"/>
          <p:cNvSpPr/>
          <p:nvPr/>
        </p:nvSpPr>
        <p:spPr>
          <a:xfrm>
            <a:off x="2862072" y="3639312"/>
            <a:ext cx="1965960" cy="1737360"/>
          </a:xfrm>
          <a:prstGeom prst="roundRect">
            <a:avLst>
              <a:gd name="adj" fmla="val 5263"/>
            </a:avLst>
          </a:prstGeom>
          <a:solidFill>
            <a:srgbClr val="3F6E9E">
              <a:alpha val="10000"/>
            </a:srgbClr>
          </a:solidFill>
          <a:ln w="9525">
            <a:solidFill>
              <a:srgbClr val="3F6E9E">
                <a:alpha val="60000"/>
              </a:srgbClr>
            </a:solidFill>
            <a:prstDash val="solid"/>
          </a:ln>
        </p:spPr>
      </p:sp>
      <p:sp>
        <p:nvSpPr>
          <p:cNvPr id="24" name="a6pop_t1n"/>
          <p:cNvSpPr txBox="1"/>
          <p:nvPr/>
        </p:nvSpPr>
        <p:spPr>
          <a:xfrm>
            <a:off x="2999232" y="3712464"/>
            <a:ext cx="1737360" cy="274320"/>
          </a:xfrm>
          <a:prstGeom prst="rect">
            <a:avLst/>
          </a:prstGeom>
          <a:noFill/>
          <a:ln/>
        </p:spPr>
        <p:txBody>
          <a:bodyPr wrap="square" lIns="0" tIns="0" rIns="0" bIns="0" rtlCol="0" anchor="t"/>
          <a:lstStyle/>
          <a:p>
            <a:pPr marL="0" indent="0" algn="l">
              <a:lnSpc>
                <a:spcPct val="105000"/>
              </a:lnSpc>
              <a:buNone/>
            </a:pPr>
            <a:r>
              <a:rPr lang="en-US" sz="1300" dirty="0">
                <a:solidFill>
                  <a:srgbClr val="1B2B40"/>
                </a:solidFill>
                <a:latin typeface="Segoe UI Semibold" pitchFamily="34" charset="0"/>
                <a:ea typeface="Segoe UI Semibold" pitchFamily="34" charset="-122"/>
                <a:cs typeface="Segoe UI Semibold" pitchFamily="34" charset="-120"/>
              </a:rPr>
              <a:t>Evidence</a:t>
            </a:r>
            <a:endParaRPr lang="en-US" sz="1300" dirty="0"/>
          </a:p>
        </p:txBody>
      </p:sp>
      <p:sp>
        <p:nvSpPr>
          <p:cNvPr id="25" name="a6pop_t1p"/>
          <p:cNvSpPr txBox="1"/>
          <p:nvPr/>
        </p:nvSpPr>
        <p:spPr>
          <a:xfrm>
            <a:off x="2999232" y="3986784"/>
            <a:ext cx="1737360" cy="502920"/>
          </a:xfrm>
          <a:prstGeom prst="rect">
            <a:avLst/>
          </a:prstGeom>
          <a:noFill/>
          <a:ln/>
        </p:spPr>
        <p:txBody>
          <a:bodyPr wrap="square" lIns="0" tIns="0" rIns="0" bIns="0" rtlCol="0" anchor="t"/>
          <a:lstStyle/>
          <a:p>
            <a:pPr marL="0" indent="0" algn="l">
              <a:lnSpc>
                <a:spcPct val="105000"/>
              </a:lnSpc>
              <a:buNone/>
            </a:pPr>
            <a:r>
              <a:rPr lang="en-US" sz="2800" dirty="0">
                <a:solidFill>
                  <a:srgbClr val="2F5D8F"/>
                </a:solidFill>
                <a:latin typeface="Segoe UI Light" pitchFamily="34" charset="0"/>
                <a:ea typeface="Segoe UI Light" pitchFamily="34" charset="-122"/>
                <a:cs typeface="Segoe UI Light" pitchFamily="34" charset="-120"/>
              </a:rPr>
              <a:t>$25k</a:t>
            </a:r>
            <a:endParaRPr lang="en-US" sz="2800" dirty="0"/>
          </a:p>
        </p:txBody>
      </p:sp>
      <p:sp>
        <p:nvSpPr>
          <p:cNvPr id="26" name="a6pop_t1u"/>
          <p:cNvSpPr txBox="1"/>
          <p:nvPr/>
        </p:nvSpPr>
        <p:spPr>
          <a:xfrm>
            <a:off x="2999232" y="4480560"/>
            <a:ext cx="1737360" cy="22860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per site / yr</a:t>
            </a:r>
            <a:endParaRPr lang="en-US" sz="1100" dirty="0"/>
          </a:p>
        </p:txBody>
      </p:sp>
      <p:sp>
        <p:nvSpPr>
          <p:cNvPr id="27" name="a6pop_t1d"/>
          <p:cNvSpPr txBox="1"/>
          <p:nvPr/>
        </p:nvSpPr>
        <p:spPr>
          <a:xfrm>
            <a:off x="2999232" y="4736592"/>
            <a:ext cx="1737360" cy="594360"/>
          </a:xfrm>
          <a:prstGeom prst="rect">
            <a:avLst/>
          </a:prstGeom>
          <a:noFill/>
          <a:ln/>
        </p:spPr>
        <p:txBody>
          <a:bodyPr wrap="square" lIns="0" tIns="0" rIns="0" bIns="0" rtlCol="0" anchor="t"/>
          <a:lstStyle/>
          <a:p>
            <a:pPr marL="0" indent="0" algn="l">
              <a:lnSpc>
                <a:spcPct val="105000"/>
              </a:lnSpc>
              <a:buNone/>
            </a:pPr>
            <a:r>
              <a:rPr lang="en-US" sz="1100" dirty="0">
                <a:solidFill>
                  <a:srgbClr val="1B2B40"/>
                </a:solidFill>
                <a:latin typeface="Segoe UI" pitchFamily="34" charset="0"/>
                <a:ea typeface="Segoe UI" pitchFamily="34" charset="-122"/>
                <a:cs typeface="Segoe UI" pitchFamily="34" charset="-120"/>
              </a:rPr>
              <a:t>+ sub-metre check of every alert, audit pack</a:t>
            </a:r>
            <a:endParaRPr lang="en-US" sz="1100" dirty="0"/>
          </a:p>
        </p:txBody>
      </p:sp>
      <p:sp>
        <p:nvSpPr>
          <p:cNvPr id="28" name="a7pop_t2"/>
          <p:cNvSpPr/>
          <p:nvPr/>
        </p:nvSpPr>
        <p:spPr>
          <a:xfrm>
            <a:off x="4946904" y="3639312"/>
            <a:ext cx="1965960" cy="1737360"/>
          </a:xfrm>
          <a:prstGeom prst="roundRect">
            <a:avLst>
              <a:gd name="adj" fmla="val 5263"/>
            </a:avLst>
          </a:prstGeom>
          <a:solidFill>
            <a:srgbClr val="3F6E9E">
              <a:alpha val="10000"/>
            </a:srgbClr>
          </a:solidFill>
          <a:ln w="9525">
            <a:solidFill>
              <a:srgbClr val="3F6E9E">
                <a:alpha val="60000"/>
              </a:srgbClr>
            </a:solidFill>
            <a:prstDash val="solid"/>
          </a:ln>
        </p:spPr>
      </p:sp>
      <p:sp>
        <p:nvSpPr>
          <p:cNvPr id="29" name="a7pop_t2n"/>
          <p:cNvSpPr txBox="1"/>
          <p:nvPr/>
        </p:nvSpPr>
        <p:spPr>
          <a:xfrm>
            <a:off x="5084064" y="3712464"/>
            <a:ext cx="1737360" cy="274320"/>
          </a:xfrm>
          <a:prstGeom prst="rect">
            <a:avLst/>
          </a:prstGeom>
          <a:noFill/>
          <a:ln/>
        </p:spPr>
        <p:txBody>
          <a:bodyPr wrap="square" lIns="0" tIns="0" rIns="0" bIns="0" rtlCol="0" anchor="t"/>
          <a:lstStyle/>
          <a:p>
            <a:pPr marL="0" indent="0" algn="l">
              <a:lnSpc>
                <a:spcPct val="105000"/>
              </a:lnSpc>
              <a:buNone/>
            </a:pPr>
            <a:r>
              <a:rPr lang="en-US" sz="1300" dirty="0">
                <a:solidFill>
                  <a:srgbClr val="1B2B40"/>
                </a:solidFill>
                <a:latin typeface="Segoe UI Semibold" pitchFamily="34" charset="0"/>
                <a:ea typeface="Segoe UI Semibold" pitchFamily="34" charset="-122"/>
                <a:cs typeface="Segoe UI Semibold" pitchFamily="34" charset="-120"/>
              </a:rPr>
              <a:t>Development watch</a:t>
            </a:r>
            <a:endParaRPr lang="en-US" sz="1300" dirty="0"/>
          </a:p>
        </p:txBody>
      </p:sp>
      <p:sp>
        <p:nvSpPr>
          <p:cNvPr id="30" name="a7pop_t2p"/>
          <p:cNvSpPr txBox="1"/>
          <p:nvPr/>
        </p:nvSpPr>
        <p:spPr>
          <a:xfrm>
            <a:off x="5084064" y="3986784"/>
            <a:ext cx="1737360" cy="502920"/>
          </a:xfrm>
          <a:prstGeom prst="rect">
            <a:avLst/>
          </a:prstGeom>
          <a:noFill/>
          <a:ln/>
        </p:spPr>
        <p:txBody>
          <a:bodyPr wrap="square" lIns="0" tIns="0" rIns="0" bIns="0" rtlCol="0" anchor="t"/>
          <a:lstStyle/>
          <a:p>
            <a:pPr marL="0" indent="0" algn="l">
              <a:lnSpc>
                <a:spcPct val="105000"/>
              </a:lnSpc>
              <a:buNone/>
            </a:pPr>
            <a:r>
              <a:rPr lang="en-US" sz="2800" dirty="0">
                <a:solidFill>
                  <a:srgbClr val="2F5D8F"/>
                </a:solidFill>
                <a:latin typeface="Segoe UI Light" pitchFamily="34" charset="0"/>
                <a:ea typeface="Segoe UI Light" pitchFamily="34" charset="-122"/>
                <a:cs typeface="Segoe UI Light" pitchFamily="34" charset="-120"/>
              </a:rPr>
              <a:t>$8k</a:t>
            </a:r>
            <a:endParaRPr lang="en-US" sz="2800" dirty="0"/>
          </a:p>
        </p:txBody>
      </p:sp>
      <p:sp>
        <p:nvSpPr>
          <p:cNvPr id="31" name="a7pop_t2u"/>
          <p:cNvSpPr txBox="1"/>
          <p:nvPr/>
        </p:nvSpPr>
        <p:spPr>
          <a:xfrm>
            <a:off x="5084064" y="4480560"/>
            <a:ext cx="1737360" cy="22860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per project / yr</a:t>
            </a:r>
            <a:endParaRPr lang="en-US" sz="1100" dirty="0"/>
          </a:p>
        </p:txBody>
      </p:sp>
      <p:sp>
        <p:nvSpPr>
          <p:cNvPr id="32" name="a7pop_t2d"/>
          <p:cNvSpPr txBox="1"/>
          <p:nvPr/>
        </p:nvSpPr>
        <p:spPr>
          <a:xfrm>
            <a:off x="5084064" y="4736592"/>
            <a:ext cx="1737360" cy="594360"/>
          </a:xfrm>
          <a:prstGeom prst="rect">
            <a:avLst/>
          </a:prstGeom>
          <a:noFill/>
          <a:ln/>
        </p:spPr>
        <p:txBody>
          <a:bodyPr wrap="square" lIns="0" tIns="0" rIns="0" bIns="0" rtlCol="0" anchor="t"/>
          <a:lstStyle/>
          <a:p>
            <a:pPr marL="0" indent="0" algn="l">
              <a:lnSpc>
                <a:spcPct val="105000"/>
              </a:lnSpc>
              <a:buNone/>
            </a:pPr>
            <a:r>
              <a:rPr lang="en-US" sz="1100" dirty="0">
                <a:solidFill>
                  <a:srgbClr val="1B2B40"/>
                </a:solidFill>
                <a:latin typeface="Segoe UI" pitchFamily="34" charset="0"/>
                <a:ea typeface="Segoe UI" pitchFamily="34" charset="-122"/>
                <a:cs typeface="Segoe UI" pitchFamily="34" charset="-120"/>
              </a:rPr>
              <a:t>for coastal developers and EIA consultants</a:t>
            </a:r>
            <a:endParaRPr lang="en-US" sz="1100" dirty="0"/>
          </a:p>
        </p:txBody>
      </p:sp>
      <p:sp>
        <p:nvSpPr>
          <p:cNvPr id="33" name="a8fade_cost"/>
          <p:cNvSpPr txBox="1"/>
          <p:nvPr/>
        </p:nvSpPr>
        <p:spPr>
          <a:xfrm>
            <a:off x="777240" y="5504688"/>
            <a:ext cx="6217920" cy="548640"/>
          </a:xfrm>
          <a:prstGeom prst="rect">
            <a:avLst/>
          </a:prstGeom>
          <a:noFill/>
          <a:ln/>
        </p:spPr>
        <p:txBody>
          <a:bodyPr wrap="square" lIns="0" tIns="0" rIns="0" bIns="0" rtlCol="0" anchor="t"/>
          <a:lstStyle/>
          <a:p>
            <a:pPr marL="0" indent="0" algn="l">
              <a:lnSpc>
                <a:spcPct val="105000"/>
              </a:lnSpc>
              <a:buNone/>
            </a:pPr>
            <a:r>
              <a:rPr lang="en-US" sz="1200" b="1" dirty="0">
                <a:solidFill>
                  <a:srgbClr val="3A4D63"/>
                </a:solidFill>
                <a:latin typeface="Segoe UI" pitchFamily="34" charset="0"/>
                <a:ea typeface="Segoe UI" pitchFamily="34" charset="-122"/>
                <a:cs typeface="Segoe UI" pitchFamily="34" charset="-120"/>
              </a:rPr>
              <a:t>Cost to serve ≈ $3.3k / site / yr: </a:t>
            </a:r>
            <a:r>
              <a:rPr lang="en-US" sz="1200" dirty="0">
                <a:solidFill>
                  <a:srgbClr val="3A4D63"/>
                </a:solidFill>
                <a:latin typeface="Segoe UI" pitchFamily="34" charset="0"/>
                <a:ea typeface="Segoe UI" pitchFamily="34" charset="-122"/>
                <a:cs typeface="Segoe UI" pitchFamily="34" charset="-120"/>
              </a:rPr>
              <a:t>compute &lt; $5 (measured), sub-metre checks $500–750, analyst $2k (assumption).</a:t>
            </a:r>
            <a:endParaRPr lang="en-US" sz="1200" dirty="0"/>
          </a:p>
        </p:txBody>
      </p:sp>
      <p:sp>
        <p:nvSpPr>
          <p:cNvPr id="34" name="a6float_comp"/>
          <p:cNvSpPr/>
          <p:nvPr/>
        </p:nvSpPr>
        <p:spPr>
          <a:xfrm>
            <a:off x="7360920" y="3154680"/>
            <a:ext cx="4279392" cy="1417320"/>
          </a:xfrm>
          <a:prstGeom prst="roundRect">
            <a:avLst>
              <a:gd name="adj" fmla="val 9032"/>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35" name="a6float_compl"/>
          <p:cNvSpPr txBox="1"/>
          <p:nvPr/>
        </p:nvSpPr>
        <p:spPr>
          <a:xfrm>
            <a:off x="7589520" y="3291840"/>
            <a:ext cx="36576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COMPETITION</a:t>
            </a:r>
            <a:endParaRPr lang="en-US" sz="1100" dirty="0"/>
          </a:p>
        </p:txBody>
      </p:sp>
      <p:sp>
        <p:nvSpPr>
          <p:cNvPr id="36" name="a6float_compt"/>
          <p:cNvSpPr txBox="1"/>
          <p:nvPr/>
        </p:nvSpPr>
        <p:spPr>
          <a:xfrm>
            <a:off x="7589520" y="3566160"/>
            <a:ext cx="3886200" cy="960120"/>
          </a:xfrm>
          <a:prstGeom prst="rect">
            <a:avLst/>
          </a:prstGeom>
          <a:noFill/>
          <a:ln/>
        </p:spPr>
        <p:txBody>
          <a:bodyPr wrap="square" lIns="0" tIns="0" rIns="0" bIns="0" rtlCol="0" anchor="t"/>
          <a:lstStyle/>
          <a:p>
            <a:pPr marL="0" indent="0" algn="l">
              <a:lnSpc>
                <a:spcPct val="105000"/>
              </a:lnSpc>
              <a:buNone/>
            </a:pPr>
            <a:r>
              <a:rPr lang="en-US" sz="1200" dirty="0">
                <a:solidFill>
                  <a:srgbClr val="1B2B40"/>
                </a:solidFill>
                <a:latin typeface="Segoe UI" pitchFamily="34" charset="0"/>
                <a:ea typeface="Segoe UI" pitchFamily="34" charset="-122"/>
                <a:cs typeface="Segoe UI" pitchFamily="34" charset="-120"/>
              </a:rPr>
              <a:t>Global Mangrove Watch sends free monthly loss alerts (Gulf coverage not confirmed). We are complementary: tide-aware, calibrated, stand + cell, carbon and reports.</a:t>
            </a:r>
            <a:endParaRPr lang="en-US" sz="1200" dirty="0"/>
          </a:p>
        </p:txBody>
      </p:sp>
      <p:sp>
        <p:nvSpPr>
          <p:cNvPr id="37" name="a7float_mk"/>
          <p:cNvSpPr/>
          <p:nvPr/>
        </p:nvSpPr>
        <p:spPr>
          <a:xfrm>
            <a:off x="7360920" y="4709160"/>
            <a:ext cx="4279392" cy="1463040"/>
          </a:xfrm>
          <a:prstGeom prst="roundRect">
            <a:avLst>
              <a:gd name="adj" fmla="val 8750"/>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sp>
      <p:sp>
        <p:nvSpPr>
          <p:cNvPr id="38" name="a7float_mkl"/>
          <p:cNvSpPr txBox="1"/>
          <p:nvPr/>
        </p:nvSpPr>
        <p:spPr>
          <a:xfrm>
            <a:off x="7589520" y="4828032"/>
            <a:ext cx="36576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THE HONEST MARKET</a:t>
            </a:r>
            <a:endParaRPr lang="en-US" sz="1100" dirty="0"/>
          </a:p>
        </p:txBody>
      </p:sp>
      <p:sp>
        <p:nvSpPr>
          <p:cNvPr id="39" name="a7float_mkt"/>
          <p:cNvSpPr txBox="1"/>
          <p:nvPr/>
        </p:nvSpPr>
        <p:spPr>
          <a:xfrm>
            <a:off x="7589520" y="5102352"/>
            <a:ext cx="3886200" cy="1005840"/>
          </a:xfrm>
          <a:prstGeom prst="rect">
            <a:avLst/>
          </a:prstGeom>
          <a:noFill/>
          <a:ln/>
        </p:spPr>
        <p:txBody>
          <a:bodyPr wrap="square" lIns="0" tIns="0" rIns="0" bIns="0" rtlCol="0" anchor="t"/>
          <a:lstStyle/>
          <a:p>
            <a:pPr marL="0" indent="0" algn="l">
              <a:lnSpc>
                <a:spcPct val="105000"/>
              </a:lnSpc>
              <a:buNone/>
            </a:pPr>
            <a:r>
              <a:rPr lang="en-US" sz="1300" dirty="0">
                <a:solidFill>
                  <a:srgbClr val="1B2B40"/>
                </a:solidFill>
                <a:latin typeface="Segoe UI" pitchFamily="34" charset="0"/>
                <a:ea typeface="Segoe UI" pitchFamily="34" charset="-122"/>
                <a:cs typeface="Segoe UI" pitchFamily="34" charset="-120"/>
              </a:rPr>
              <a:t>Gulf + Red Sea subscriptions ≈ $0.2–0.4 M / yr. The real prize: a </a:t>
            </a:r>
            <a:r>
              <a:rPr lang="en-US" sz="1300" b="1" dirty="0">
                <a:solidFill>
                  <a:srgbClr val="A9813A"/>
                </a:solidFill>
                <a:latin typeface="Segoe UI" pitchFamily="34" charset="0"/>
                <a:ea typeface="Segoe UI" pitchFamily="34" charset="-122"/>
                <a:cs typeface="Segoe UI" pitchFamily="34" charset="-120"/>
              </a:rPr>
              <a:t>national MRV contract</a:t>
            </a:r>
            <a:r>
              <a:rPr lang="en-US" sz="1300" dirty="0">
                <a:solidFill>
                  <a:srgbClr val="1B2B40"/>
                </a:solidFill>
                <a:latin typeface="Segoe UI" pitchFamily="34" charset="0"/>
                <a:ea typeface="Segoe UI" pitchFamily="34" charset="-122"/>
                <a:cs typeface="Segoe UI" pitchFamily="34" charset="-120"/>
              </a:rPr>
              <a:t> or a monitoring layer on </a:t>
            </a:r>
            <a:r>
              <a:rPr lang="en-US" sz="1300" b="1" dirty="0">
                <a:solidFill>
                  <a:srgbClr val="A9813A"/>
                </a:solidFill>
                <a:latin typeface="Segoe UI" pitchFamily="34" charset="0"/>
                <a:ea typeface="Segoe UI" pitchFamily="34" charset="-122"/>
                <a:cs typeface="Segoe UI" pitchFamily="34" charset="-120"/>
              </a:rPr>
              <a:t>gIQ</a:t>
            </a:r>
            <a:r>
              <a:rPr lang="en-US" sz="1300" dirty="0">
                <a:solidFill>
                  <a:srgbClr val="1B2B40"/>
                </a:solidFill>
                <a:latin typeface="Segoe UI" pitchFamily="34" charset="0"/>
                <a:ea typeface="Segoe UI" pitchFamily="34" charset="-122"/>
                <a:cs typeface="Segoe UI" pitchFamily="34" charset="-120"/>
              </a:rPr>
              <a:t>. SDG 13 · 14 · 15.</a:t>
            </a:r>
            <a:endParaRPr lang="en-US" sz="1300" dirty="0"/>
          </a:p>
        </p:txBody>
      </p:sp>
      <p:sp>
        <p:nvSpPr>
          <p:cNvPr id="40"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47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700"/>
                                        <p:tgtEl>
                                          <p:spTgt spid="9"/>
                                        </p:tgtEl>
                                      </p:cBhvr>
                                    </p:animEffect>
                                    <p:anim calcmode="lin" valueType="num">
                                      <p:cBhvr additive="base">
                                        <p:cTn id="23" dur="700" fill="hold"/>
                                        <p:tgtEl>
                                          <p:spTgt spid="9"/>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69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700"/>
                                        <p:tgtEl>
                                          <p:spTgt spid="10"/>
                                        </p:tgtEl>
                                      </p:cBhvr>
                                    </p:animEffect>
                                    <p:anim calcmode="lin" valueType="num">
                                      <p:cBhvr additive="base">
                                        <p:cTn id="27" dur="700" fill="hold"/>
                                        <p:tgtEl>
                                          <p:spTgt spid="10"/>
                                        </p:tgtEl>
                                        <p:attrNameLst>
                                          <p:attrName>ppt_y</p:attrName>
                                        </p:attrNameLst>
                                      </p:cBhvr>
                                      <p:tavLst>
                                        <p:tav tm="0">
                                          <p:val>
                                            <p:strVal val="#ppt_y+0.03"/>
                                          </p:val>
                                        </p:tav>
                                        <p:tav tm="100000">
                                          <p:val>
                                            <p:strVal val="#ppt_y"/>
                                          </p:val>
                                        </p:tav>
                                      </p:tavLst>
                                    </p:anim>
                                  </p:childTnLst>
                                </p:cTn>
                              </p:par>
                              <p:par>
                                <p:cTn id="28" presetID="42" presetClass="entr" presetSubtype="0" decel="100000" fill="hold" grpId="0" nodeType="withEffect">
                                  <p:stCondLst>
                                    <p:cond delay="69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00"/>
                                        <p:tgtEl>
                                          <p:spTgt spid="11"/>
                                        </p:tgtEl>
                                      </p:cBhvr>
                                    </p:animEffect>
                                    <p:anim calcmode="lin" valueType="num">
                                      <p:cBhvr additive="base">
                                        <p:cTn id="31" dur="700" fill="hold"/>
                                        <p:tgtEl>
                                          <p:spTgt spid="11"/>
                                        </p:tgtEl>
                                        <p:attrNameLst>
                                          <p:attrName>ppt_y</p:attrName>
                                        </p:attrNameLst>
                                      </p:cBhvr>
                                      <p:tavLst>
                                        <p:tav tm="0">
                                          <p:val>
                                            <p:strVal val="#ppt_y+0.03"/>
                                          </p:val>
                                        </p:tav>
                                        <p:tav tm="100000">
                                          <p:val>
                                            <p:strVal val="#ppt_y"/>
                                          </p:val>
                                        </p:tav>
                                      </p:tavLst>
                                    </p:anim>
                                  </p:childTnLst>
                                </p:cTn>
                              </p:par>
                              <p:par>
                                <p:cTn id="32" presetID="42" presetClass="entr" presetSubtype="0" decel="100000" fill="hold" grpId="0" nodeType="withEffect">
                                  <p:stCondLst>
                                    <p:cond delay="69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700"/>
                                        <p:tgtEl>
                                          <p:spTgt spid="12"/>
                                        </p:tgtEl>
                                      </p:cBhvr>
                                    </p:animEffect>
                                    <p:anim calcmode="lin" valueType="num">
                                      <p:cBhvr additive="base">
                                        <p:cTn id="35" dur="700" fill="hold"/>
                                        <p:tgtEl>
                                          <p:spTgt spid="12"/>
                                        </p:tgtEl>
                                        <p:attrNameLst>
                                          <p:attrName>ppt_y</p:attrName>
                                        </p:attrNameLst>
                                      </p:cBhvr>
                                      <p:tavLst>
                                        <p:tav tm="0">
                                          <p:val>
                                            <p:strVal val="#ppt_y+0.03"/>
                                          </p:val>
                                        </p:tav>
                                        <p:tav tm="100000">
                                          <p:val>
                                            <p:strVal val="#ppt_y"/>
                                          </p:val>
                                        </p:tav>
                                      </p:tavLst>
                                    </p:anim>
                                  </p:childTnLst>
                                </p:cTn>
                              </p:par>
                              <p:par>
                                <p:cTn id="36" presetID="42" presetClass="entr" presetSubtype="0" decel="100000" fill="hold" grpId="0" nodeType="withEffect">
                                  <p:stCondLst>
                                    <p:cond delay="91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700"/>
                                        <p:tgtEl>
                                          <p:spTgt spid="13"/>
                                        </p:tgtEl>
                                      </p:cBhvr>
                                    </p:animEffect>
                                    <p:anim calcmode="lin" valueType="num">
                                      <p:cBhvr additive="base">
                                        <p:cTn id="39" dur="700" fill="hold"/>
                                        <p:tgtEl>
                                          <p:spTgt spid="13"/>
                                        </p:tgtEl>
                                        <p:attrNameLst>
                                          <p:attrName>ppt_y</p:attrName>
                                        </p:attrNameLst>
                                      </p:cBhvr>
                                      <p:tavLst>
                                        <p:tav tm="0">
                                          <p:val>
                                            <p:strVal val="#ppt_y+0.03"/>
                                          </p:val>
                                        </p:tav>
                                        <p:tav tm="100000">
                                          <p:val>
                                            <p:strVal val="#ppt_y"/>
                                          </p:val>
                                        </p:tav>
                                      </p:tavLst>
                                    </p:anim>
                                  </p:childTnLst>
                                </p:cTn>
                              </p:par>
                              <p:par>
                                <p:cTn id="40" presetID="42" presetClass="entr" presetSubtype="0" decel="100000" fill="hold" grpId="0" nodeType="withEffect">
                                  <p:stCondLst>
                                    <p:cond delay="91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700"/>
                                        <p:tgtEl>
                                          <p:spTgt spid="14"/>
                                        </p:tgtEl>
                                      </p:cBhvr>
                                    </p:animEffect>
                                    <p:anim calcmode="lin" valueType="num">
                                      <p:cBhvr additive="base">
                                        <p:cTn id="43" dur="700" fill="hold"/>
                                        <p:tgtEl>
                                          <p:spTgt spid="14"/>
                                        </p:tgtEl>
                                        <p:attrNameLst>
                                          <p:attrName>ppt_y</p:attrName>
                                        </p:attrNameLst>
                                      </p:cBhvr>
                                      <p:tavLst>
                                        <p:tav tm="0">
                                          <p:val>
                                            <p:strVal val="#ppt_y+0.03"/>
                                          </p:val>
                                        </p:tav>
                                        <p:tav tm="100000">
                                          <p:val>
                                            <p:strVal val="#ppt_y"/>
                                          </p:val>
                                        </p:tav>
                                      </p:tavLst>
                                    </p:anim>
                                  </p:childTnLst>
                                </p:cTn>
                              </p:par>
                              <p:par>
                                <p:cTn id="44" presetID="42" presetClass="entr" presetSubtype="0" decel="100000" fill="hold" grpId="0" nodeType="withEffect">
                                  <p:stCondLst>
                                    <p:cond delay="91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700"/>
                                        <p:tgtEl>
                                          <p:spTgt spid="15"/>
                                        </p:tgtEl>
                                      </p:cBhvr>
                                    </p:animEffect>
                                    <p:anim calcmode="lin" valueType="num">
                                      <p:cBhvr additive="base">
                                        <p:cTn id="47" dur="700" fill="hold"/>
                                        <p:tgtEl>
                                          <p:spTgt spid="15"/>
                                        </p:tgtEl>
                                        <p:attrNameLst>
                                          <p:attrName>ppt_y</p:attrName>
                                        </p:attrNameLst>
                                      </p:cBhvr>
                                      <p:tavLst>
                                        <p:tav tm="0">
                                          <p:val>
                                            <p:strVal val="#ppt_y+0.03"/>
                                          </p:val>
                                        </p:tav>
                                        <p:tav tm="100000">
                                          <p:val>
                                            <p:strVal val="#ppt_y"/>
                                          </p:val>
                                        </p:tav>
                                      </p:tavLst>
                                    </p:anim>
                                  </p:childTnLst>
                                </p:cTn>
                              </p:par>
                              <p:par>
                                <p:cTn id="48" presetID="42" presetClass="entr" presetSubtype="0" decel="100000" fill="hold" grpId="0" nodeType="withEffect">
                                  <p:stCondLst>
                                    <p:cond delay="113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additive="base">
                                        <p:cTn id="51" dur="700" fill="hold"/>
                                        <p:tgtEl>
                                          <p:spTgt spid="16"/>
                                        </p:tgtEl>
                                        <p:attrNameLst>
                                          <p:attrName>ppt_y</p:attrName>
                                        </p:attrNameLst>
                                      </p:cBhvr>
                                      <p:tavLst>
                                        <p:tav tm="0">
                                          <p:val>
                                            <p:strVal val="#ppt_y+0.03"/>
                                          </p:val>
                                        </p:tav>
                                        <p:tav tm="100000">
                                          <p:val>
                                            <p:strVal val="#ppt_y"/>
                                          </p:val>
                                        </p:tav>
                                      </p:tavLst>
                                    </p:anim>
                                  </p:childTnLst>
                                </p:cTn>
                              </p:par>
                              <p:par>
                                <p:cTn id="52" presetID="42" presetClass="entr" presetSubtype="0" decel="100000" fill="hold" grpId="0" nodeType="withEffect">
                                  <p:stCondLst>
                                    <p:cond delay="113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700"/>
                                        <p:tgtEl>
                                          <p:spTgt spid="17"/>
                                        </p:tgtEl>
                                      </p:cBhvr>
                                    </p:animEffect>
                                    <p:anim calcmode="lin" valueType="num">
                                      <p:cBhvr additive="base">
                                        <p:cTn id="55" dur="700" fill="hold"/>
                                        <p:tgtEl>
                                          <p:spTgt spid="17"/>
                                        </p:tgtEl>
                                        <p:attrNameLst>
                                          <p:attrName>ppt_y</p:attrName>
                                        </p:attrNameLst>
                                      </p:cBhvr>
                                      <p:tavLst>
                                        <p:tav tm="0">
                                          <p:val>
                                            <p:strVal val="#ppt_y+0.03"/>
                                          </p:val>
                                        </p:tav>
                                        <p:tav tm="100000">
                                          <p:val>
                                            <p:strVal val="#ppt_y"/>
                                          </p:val>
                                        </p:tav>
                                      </p:tavLst>
                                    </p:anim>
                                  </p:childTnLst>
                                </p:cTn>
                              </p:par>
                              <p:par>
                                <p:cTn id="56" presetID="53" presetClass="entr" presetSubtype="16" decel="100000" fill="hold" grpId="0" nodeType="withEffect">
                                  <p:stCondLst>
                                    <p:cond delay="135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450"/>
                                        <p:tgtEl>
                                          <p:spTgt spid="18"/>
                                        </p:tgtEl>
                                      </p:cBhvr>
                                    </p:animEffect>
                                    <p:anim calcmode="lin" valueType="num">
                                      <p:cBhvr additive="base">
                                        <p:cTn id="59" dur="450" fill="hold"/>
                                        <p:tgtEl>
                                          <p:spTgt spid="18"/>
                                        </p:tgtEl>
                                        <p:attrNameLst>
                                          <p:attrName>ppt_w</p:attrName>
                                        </p:attrNameLst>
                                      </p:cBhvr>
                                      <p:tavLst>
                                        <p:tav tm="0">
                                          <p:val>
                                            <p:strVal val="#ppt_w*0.2"/>
                                          </p:val>
                                        </p:tav>
                                        <p:tav tm="100000">
                                          <p:val>
                                            <p:strVal val="#ppt_w"/>
                                          </p:val>
                                        </p:tav>
                                      </p:tavLst>
                                    </p:anim>
                                    <p:anim calcmode="lin" valueType="num">
                                      <p:cBhvr additive="base">
                                        <p:cTn id="60" dur="450" fill="hold"/>
                                        <p:tgtEl>
                                          <p:spTgt spid="18"/>
                                        </p:tgtEl>
                                        <p:attrNameLst>
                                          <p:attrName>ppt_h</p:attrName>
                                        </p:attrNameLst>
                                      </p:cBhvr>
                                      <p:tavLst>
                                        <p:tav tm="0">
                                          <p:val>
                                            <p:strVal val="#ppt_h*0.2"/>
                                          </p:val>
                                        </p:tav>
                                        <p:tav tm="100000">
                                          <p:val>
                                            <p:strVal val="#ppt_h"/>
                                          </p:val>
                                        </p:tav>
                                      </p:tavLst>
                                    </p:anim>
                                  </p:childTnLst>
                                </p:cTn>
                              </p:par>
                              <p:par>
                                <p:cTn id="61" presetID="53" presetClass="entr" presetSubtype="16" decel="100000" fill="hold" grpId="0" nodeType="withEffect">
                                  <p:stCondLst>
                                    <p:cond delay="135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450"/>
                                        <p:tgtEl>
                                          <p:spTgt spid="19"/>
                                        </p:tgtEl>
                                      </p:cBhvr>
                                    </p:animEffect>
                                    <p:anim calcmode="lin" valueType="num">
                                      <p:cBhvr additive="base">
                                        <p:cTn id="64" dur="450" fill="hold"/>
                                        <p:tgtEl>
                                          <p:spTgt spid="19"/>
                                        </p:tgtEl>
                                        <p:attrNameLst>
                                          <p:attrName>ppt_w</p:attrName>
                                        </p:attrNameLst>
                                      </p:cBhvr>
                                      <p:tavLst>
                                        <p:tav tm="0">
                                          <p:val>
                                            <p:strVal val="#ppt_w*0.2"/>
                                          </p:val>
                                        </p:tav>
                                        <p:tav tm="100000">
                                          <p:val>
                                            <p:strVal val="#ppt_w"/>
                                          </p:val>
                                        </p:tav>
                                      </p:tavLst>
                                    </p:anim>
                                    <p:anim calcmode="lin" valueType="num">
                                      <p:cBhvr additive="base">
                                        <p:cTn id="65" dur="450" fill="hold"/>
                                        <p:tgtEl>
                                          <p:spTgt spid="19"/>
                                        </p:tgtEl>
                                        <p:attrNameLst>
                                          <p:attrName>ppt_h</p:attrName>
                                        </p:attrNameLst>
                                      </p:cBhvr>
                                      <p:tavLst>
                                        <p:tav tm="0">
                                          <p:val>
                                            <p:strVal val="#ppt_h*0.2"/>
                                          </p:val>
                                        </p:tav>
                                        <p:tav tm="100000">
                                          <p:val>
                                            <p:strVal val="#ppt_h"/>
                                          </p:val>
                                        </p:tav>
                                      </p:tavLst>
                                    </p:anim>
                                  </p:childTnLst>
                                </p:cTn>
                              </p:par>
                              <p:par>
                                <p:cTn id="66" presetID="53" presetClass="entr" presetSubtype="16" decel="100000" fill="hold" grpId="0" nodeType="withEffect">
                                  <p:stCondLst>
                                    <p:cond delay="135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450"/>
                                        <p:tgtEl>
                                          <p:spTgt spid="20"/>
                                        </p:tgtEl>
                                      </p:cBhvr>
                                    </p:animEffect>
                                    <p:anim calcmode="lin" valueType="num">
                                      <p:cBhvr additive="base">
                                        <p:cTn id="69" dur="450" fill="hold"/>
                                        <p:tgtEl>
                                          <p:spTgt spid="20"/>
                                        </p:tgtEl>
                                        <p:attrNameLst>
                                          <p:attrName>ppt_w</p:attrName>
                                        </p:attrNameLst>
                                      </p:cBhvr>
                                      <p:tavLst>
                                        <p:tav tm="0">
                                          <p:val>
                                            <p:strVal val="#ppt_w*0.2"/>
                                          </p:val>
                                        </p:tav>
                                        <p:tav tm="100000">
                                          <p:val>
                                            <p:strVal val="#ppt_w"/>
                                          </p:val>
                                        </p:tav>
                                      </p:tavLst>
                                    </p:anim>
                                    <p:anim calcmode="lin" valueType="num">
                                      <p:cBhvr additive="base">
                                        <p:cTn id="70" dur="450" fill="hold"/>
                                        <p:tgtEl>
                                          <p:spTgt spid="20"/>
                                        </p:tgtEl>
                                        <p:attrNameLst>
                                          <p:attrName>ppt_h</p:attrName>
                                        </p:attrNameLst>
                                      </p:cBhvr>
                                      <p:tavLst>
                                        <p:tav tm="0">
                                          <p:val>
                                            <p:strVal val="#ppt_h*0.2"/>
                                          </p:val>
                                        </p:tav>
                                        <p:tav tm="100000">
                                          <p:val>
                                            <p:strVal val="#ppt_h"/>
                                          </p:val>
                                        </p:tav>
                                      </p:tavLst>
                                    </p:anim>
                                  </p:childTnLst>
                                </p:cTn>
                              </p:par>
                              <p:par>
                                <p:cTn id="71" presetID="53" presetClass="entr" presetSubtype="16" decel="100000" fill="hold" grpId="0" nodeType="withEffect">
                                  <p:stCondLst>
                                    <p:cond delay="135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450"/>
                                        <p:tgtEl>
                                          <p:spTgt spid="21"/>
                                        </p:tgtEl>
                                      </p:cBhvr>
                                    </p:animEffect>
                                    <p:anim calcmode="lin" valueType="num">
                                      <p:cBhvr additive="base">
                                        <p:cTn id="74" dur="450" fill="hold"/>
                                        <p:tgtEl>
                                          <p:spTgt spid="21"/>
                                        </p:tgtEl>
                                        <p:attrNameLst>
                                          <p:attrName>ppt_w</p:attrName>
                                        </p:attrNameLst>
                                      </p:cBhvr>
                                      <p:tavLst>
                                        <p:tav tm="0">
                                          <p:val>
                                            <p:strVal val="#ppt_w*0.2"/>
                                          </p:val>
                                        </p:tav>
                                        <p:tav tm="100000">
                                          <p:val>
                                            <p:strVal val="#ppt_w"/>
                                          </p:val>
                                        </p:tav>
                                      </p:tavLst>
                                    </p:anim>
                                    <p:anim calcmode="lin" valueType="num">
                                      <p:cBhvr additive="base">
                                        <p:cTn id="75" dur="450" fill="hold"/>
                                        <p:tgtEl>
                                          <p:spTgt spid="21"/>
                                        </p:tgtEl>
                                        <p:attrNameLst>
                                          <p:attrName>ppt_h</p:attrName>
                                        </p:attrNameLst>
                                      </p:cBhvr>
                                      <p:tavLst>
                                        <p:tav tm="0">
                                          <p:val>
                                            <p:strVal val="#ppt_h*0.2"/>
                                          </p:val>
                                        </p:tav>
                                        <p:tav tm="100000">
                                          <p:val>
                                            <p:strVal val="#ppt_h"/>
                                          </p:val>
                                        </p:tav>
                                      </p:tavLst>
                                    </p:anim>
                                  </p:childTnLst>
                                </p:cTn>
                              </p:par>
                              <p:par>
                                <p:cTn id="76" presetID="53" presetClass="entr" presetSubtype="16" decel="100000" fill="hold" grpId="0" nodeType="withEffect">
                                  <p:stCondLst>
                                    <p:cond delay="135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450"/>
                                        <p:tgtEl>
                                          <p:spTgt spid="22"/>
                                        </p:tgtEl>
                                      </p:cBhvr>
                                    </p:animEffect>
                                    <p:anim calcmode="lin" valueType="num">
                                      <p:cBhvr additive="base">
                                        <p:cTn id="79" dur="450" fill="hold"/>
                                        <p:tgtEl>
                                          <p:spTgt spid="22"/>
                                        </p:tgtEl>
                                        <p:attrNameLst>
                                          <p:attrName>ppt_w</p:attrName>
                                        </p:attrNameLst>
                                      </p:cBhvr>
                                      <p:tavLst>
                                        <p:tav tm="0">
                                          <p:val>
                                            <p:strVal val="#ppt_w*0.2"/>
                                          </p:val>
                                        </p:tav>
                                        <p:tav tm="100000">
                                          <p:val>
                                            <p:strVal val="#ppt_w"/>
                                          </p:val>
                                        </p:tav>
                                      </p:tavLst>
                                    </p:anim>
                                    <p:anim calcmode="lin" valueType="num">
                                      <p:cBhvr additive="base">
                                        <p:cTn id="80" dur="450" fill="hold"/>
                                        <p:tgtEl>
                                          <p:spTgt spid="22"/>
                                        </p:tgtEl>
                                        <p:attrNameLst>
                                          <p:attrName>ppt_h</p:attrName>
                                        </p:attrNameLst>
                                      </p:cBhvr>
                                      <p:tavLst>
                                        <p:tav tm="0">
                                          <p:val>
                                            <p:strVal val="#ppt_h*0.2"/>
                                          </p:val>
                                        </p:tav>
                                        <p:tav tm="100000">
                                          <p:val>
                                            <p:strVal val="#ppt_h"/>
                                          </p:val>
                                        </p:tav>
                                      </p:tavLst>
                                    </p:anim>
                                  </p:childTnLst>
                                </p:cTn>
                              </p:par>
                              <p:par>
                                <p:cTn id="81" presetID="53" presetClass="entr" presetSubtype="16" decel="100000" fill="hold" grpId="0" nodeType="withEffect">
                                  <p:stCondLst>
                                    <p:cond delay="157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450"/>
                                        <p:tgtEl>
                                          <p:spTgt spid="23"/>
                                        </p:tgtEl>
                                      </p:cBhvr>
                                    </p:animEffect>
                                    <p:anim calcmode="lin" valueType="num">
                                      <p:cBhvr additive="base">
                                        <p:cTn id="84" dur="450" fill="hold"/>
                                        <p:tgtEl>
                                          <p:spTgt spid="23"/>
                                        </p:tgtEl>
                                        <p:attrNameLst>
                                          <p:attrName>ppt_w</p:attrName>
                                        </p:attrNameLst>
                                      </p:cBhvr>
                                      <p:tavLst>
                                        <p:tav tm="0">
                                          <p:val>
                                            <p:strVal val="#ppt_w*0.2"/>
                                          </p:val>
                                        </p:tav>
                                        <p:tav tm="100000">
                                          <p:val>
                                            <p:strVal val="#ppt_w"/>
                                          </p:val>
                                        </p:tav>
                                      </p:tavLst>
                                    </p:anim>
                                    <p:anim calcmode="lin" valueType="num">
                                      <p:cBhvr additive="base">
                                        <p:cTn id="85" dur="450" fill="hold"/>
                                        <p:tgtEl>
                                          <p:spTgt spid="23"/>
                                        </p:tgtEl>
                                        <p:attrNameLst>
                                          <p:attrName>ppt_h</p:attrName>
                                        </p:attrNameLst>
                                      </p:cBhvr>
                                      <p:tavLst>
                                        <p:tav tm="0">
                                          <p:val>
                                            <p:strVal val="#ppt_h*0.2"/>
                                          </p:val>
                                        </p:tav>
                                        <p:tav tm="100000">
                                          <p:val>
                                            <p:strVal val="#ppt_h"/>
                                          </p:val>
                                        </p:tav>
                                      </p:tavLst>
                                    </p:anim>
                                  </p:childTnLst>
                                </p:cTn>
                              </p:par>
                              <p:par>
                                <p:cTn id="86" presetID="53" presetClass="entr" presetSubtype="16" decel="100000" fill="hold" grpId="0" nodeType="withEffect">
                                  <p:stCondLst>
                                    <p:cond delay="1570"/>
                                  </p:stCondLst>
                                  <p:childTnLst>
                                    <p:set>
                                      <p:cBhvr>
                                        <p:cTn id="87" dur="1" fill="hold">
                                          <p:stCondLst>
                                            <p:cond delay="0"/>
                                          </p:stCondLst>
                                        </p:cTn>
                                        <p:tgtEl>
                                          <p:spTgt spid="24"/>
                                        </p:tgtEl>
                                        <p:attrNameLst>
                                          <p:attrName>style.visibility</p:attrName>
                                        </p:attrNameLst>
                                      </p:cBhvr>
                                      <p:to>
                                        <p:strVal val="visible"/>
                                      </p:to>
                                    </p:set>
                                    <p:animEffect transition="in" filter="fade">
                                      <p:cBhvr>
                                        <p:cTn id="88" dur="450"/>
                                        <p:tgtEl>
                                          <p:spTgt spid="24"/>
                                        </p:tgtEl>
                                      </p:cBhvr>
                                    </p:animEffect>
                                    <p:anim calcmode="lin" valueType="num">
                                      <p:cBhvr additive="base">
                                        <p:cTn id="89" dur="450" fill="hold"/>
                                        <p:tgtEl>
                                          <p:spTgt spid="24"/>
                                        </p:tgtEl>
                                        <p:attrNameLst>
                                          <p:attrName>ppt_w</p:attrName>
                                        </p:attrNameLst>
                                      </p:cBhvr>
                                      <p:tavLst>
                                        <p:tav tm="0">
                                          <p:val>
                                            <p:strVal val="#ppt_w*0.2"/>
                                          </p:val>
                                        </p:tav>
                                        <p:tav tm="100000">
                                          <p:val>
                                            <p:strVal val="#ppt_w"/>
                                          </p:val>
                                        </p:tav>
                                      </p:tavLst>
                                    </p:anim>
                                    <p:anim calcmode="lin" valueType="num">
                                      <p:cBhvr additive="base">
                                        <p:cTn id="90" dur="450" fill="hold"/>
                                        <p:tgtEl>
                                          <p:spTgt spid="24"/>
                                        </p:tgtEl>
                                        <p:attrNameLst>
                                          <p:attrName>ppt_h</p:attrName>
                                        </p:attrNameLst>
                                      </p:cBhvr>
                                      <p:tavLst>
                                        <p:tav tm="0">
                                          <p:val>
                                            <p:strVal val="#ppt_h*0.2"/>
                                          </p:val>
                                        </p:tav>
                                        <p:tav tm="100000">
                                          <p:val>
                                            <p:strVal val="#ppt_h"/>
                                          </p:val>
                                        </p:tav>
                                      </p:tavLst>
                                    </p:anim>
                                  </p:childTnLst>
                                </p:cTn>
                              </p:par>
                              <p:par>
                                <p:cTn id="91" presetID="53" presetClass="entr" presetSubtype="16" decel="100000" fill="hold" grpId="0" nodeType="withEffect">
                                  <p:stCondLst>
                                    <p:cond delay="1570"/>
                                  </p:stCondLst>
                                  <p:childTnLst>
                                    <p:set>
                                      <p:cBhvr>
                                        <p:cTn id="92" dur="1" fill="hold">
                                          <p:stCondLst>
                                            <p:cond delay="0"/>
                                          </p:stCondLst>
                                        </p:cTn>
                                        <p:tgtEl>
                                          <p:spTgt spid="25"/>
                                        </p:tgtEl>
                                        <p:attrNameLst>
                                          <p:attrName>style.visibility</p:attrName>
                                        </p:attrNameLst>
                                      </p:cBhvr>
                                      <p:to>
                                        <p:strVal val="visible"/>
                                      </p:to>
                                    </p:set>
                                    <p:animEffect transition="in" filter="fade">
                                      <p:cBhvr>
                                        <p:cTn id="93" dur="450"/>
                                        <p:tgtEl>
                                          <p:spTgt spid="25"/>
                                        </p:tgtEl>
                                      </p:cBhvr>
                                    </p:animEffect>
                                    <p:anim calcmode="lin" valueType="num">
                                      <p:cBhvr additive="base">
                                        <p:cTn id="94" dur="450" fill="hold"/>
                                        <p:tgtEl>
                                          <p:spTgt spid="25"/>
                                        </p:tgtEl>
                                        <p:attrNameLst>
                                          <p:attrName>ppt_w</p:attrName>
                                        </p:attrNameLst>
                                      </p:cBhvr>
                                      <p:tavLst>
                                        <p:tav tm="0">
                                          <p:val>
                                            <p:strVal val="#ppt_w*0.2"/>
                                          </p:val>
                                        </p:tav>
                                        <p:tav tm="100000">
                                          <p:val>
                                            <p:strVal val="#ppt_w"/>
                                          </p:val>
                                        </p:tav>
                                      </p:tavLst>
                                    </p:anim>
                                    <p:anim calcmode="lin" valueType="num">
                                      <p:cBhvr additive="base">
                                        <p:cTn id="95" dur="450" fill="hold"/>
                                        <p:tgtEl>
                                          <p:spTgt spid="25"/>
                                        </p:tgtEl>
                                        <p:attrNameLst>
                                          <p:attrName>ppt_h</p:attrName>
                                        </p:attrNameLst>
                                      </p:cBhvr>
                                      <p:tavLst>
                                        <p:tav tm="0">
                                          <p:val>
                                            <p:strVal val="#ppt_h*0.2"/>
                                          </p:val>
                                        </p:tav>
                                        <p:tav tm="100000">
                                          <p:val>
                                            <p:strVal val="#ppt_h"/>
                                          </p:val>
                                        </p:tav>
                                      </p:tavLst>
                                    </p:anim>
                                  </p:childTnLst>
                                </p:cTn>
                              </p:par>
                              <p:par>
                                <p:cTn id="96" presetID="53" presetClass="entr" presetSubtype="16" decel="100000" fill="hold" grpId="0" nodeType="withEffect">
                                  <p:stCondLst>
                                    <p:cond delay="157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450"/>
                                        <p:tgtEl>
                                          <p:spTgt spid="26"/>
                                        </p:tgtEl>
                                      </p:cBhvr>
                                    </p:animEffect>
                                    <p:anim calcmode="lin" valueType="num">
                                      <p:cBhvr additive="base">
                                        <p:cTn id="99" dur="450" fill="hold"/>
                                        <p:tgtEl>
                                          <p:spTgt spid="26"/>
                                        </p:tgtEl>
                                        <p:attrNameLst>
                                          <p:attrName>ppt_w</p:attrName>
                                        </p:attrNameLst>
                                      </p:cBhvr>
                                      <p:tavLst>
                                        <p:tav tm="0">
                                          <p:val>
                                            <p:strVal val="#ppt_w*0.2"/>
                                          </p:val>
                                        </p:tav>
                                        <p:tav tm="100000">
                                          <p:val>
                                            <p:strVal val="#ppt_w"/>
                                          </p:val>
                                        </p:tav>
                                      </p:tavLst>
                                    </p:anim>
                                    <p:anim calcmode="lin" valueType="num">
                                      <p:cBhvr additive="base">
                                        <p:cTn id="100" dur="450" fill="hold"/>
                                        <p:tgtEl>
                                          <p:spTgt spid="26"/>
                                        </p:tgtEl>
                                        <p:attrNameLst>
                                          <p:attrName>ppt_h</p:attrName>
                                        </p:attrNameLst>
                                      </p:cBhvr>
                                      <p:tavLst>
                                        <p:tav tm="0">
                                          <p:val>
                                            <p:strVal val="#ppt_h*0.2"/>
                                          </p:val>
                                        </p:tav>
                                        <p:tav tm="100000">
                                          <p:val>
                                            <p:strVal val="#ppt_h"/>
                                          </p:val>
                                        </p:tav>
                                      </p:tavLst>
                                    </p:anim>
                                  </p:childTnLst>
                                </p:cTn>
                              </p:par>
                              <p:par>
                                <p:cTn id="101" presetID="53" presetClass="entr" presetSubtype="16" decel="100000" fill="hold" grpId="0" nodeType="withEffect">
                                  <p:stCondLst>
                                    <p:cond delay="1570"/>
                                  </p:stCondLst>
                                  <p:childTnLst>
                                    <p:set>
                                      <p:cBhvr>
                                        <p:cTn id="102" dur="1" fill="hold">
                                          <p:stCondLst>
                                            <p:cond delay="0"/>
                                          </p:stCondLst>
                                        </p:cTn>
                                        <p:tgtEl>
                                          <p:spTgt spid="27"/>
                                        </p:tgtEl>
                                        <p:attrNameLst>
                                          <p:attrName>style.visibility</p:attrName>
                                        </p:attrNameLst>
                                      </p:cBhvr>
                                      <p:to>
                                        <p:strVal val="visible"/>
                                      </p:to>
                                    </p:set>
                                    <p:animEffect transition="in" filter="fade">
                                      <p:cBhvr>
                                        <p:cTn id="103" dur="450"/>
                                        <p:tgtEl>
                                          <p:spTgt spid="27"/>
                                        </p:tgtEl>
                                      </p:cBhvr>
                                    </p:animEffect>
                                    <p:anim calcmode="lin" valueType="num">
                                      <p:cBhvr additive="base">
                                        <p:cTn id="104" dur="450" fill="hold"/>
                                        <p:tgtEl>
                                          <p:spTgt spid="27"/>
                                        </p:tgtEl>
                                        <p:attrNameLst>
                                          <p:attrName>ppt_w</p:attrName>
                                        </p:attrNameLst>
                                      </p:cBhvr>
                                      <p:tavLst>
                                        <p:tav tm="0">
                                          <p:val>
                                            <p:strVal val="#ppt_w*0.2"/>
                                          </p:val>
                                        </p:tav>
                                        <p:tav tm="100000">
                                          <p:val>
                                            <p:strVal val="#ppt_w"/>
                                          </p:val>
                                        </p:tav>
                                      </p:tavLst>
                                    </p:anim>
                                    <p:anim calcmode="lin" valueType="num">
                                      <p:cBhvr additive="base">
                                        <p:cTn id="105" dur="450" fill="hold"/>
                                        <p:tgtEl>
                                          <p:spTgt spid="27"/>
                                        </p:tgtEl>
                                        <p:attrNameLst>
                                          <p:attrName>ppt_h</p:attrName>
                                        </p:attrNameLst>
                                      </p:cBhvr>
                                      <p:tavLst>
                                        <p:tav tm="0">
                                          <p:val>
                                            <p:strVal val="#ppt_h*0.2"/>
                                          </p:val>
                                        </p:tav>
                                        <p:tav tm="100000">
                                          <p:val>
                                            <p:strVal val="#ppt_h"/>
                                          </p:val>
                                        </p:tav>
                                      </p:tavLst>
                                    </p:anim>
                                  </p:childTnLst>
                                </p:cTn>
                              </p:par>
                              <p:par>
                                <p:cTn id="106" presetID="42" presetClass="entr" presetSubtype="0" decel="100000" fill="hold" grpId="0" nodeType="withEffect">
                                  <p:stCondLst>
                                    <p:cond delay="1570"/>
                                  </p:stCondLst>
                                  <p:childTnLst>
                                    <p:set>
                                      <p:cBhvr>
                                        <p:cTn id="107" dur="1" fill="hold">
                                          <p:stCondLst>
                                            <p:cond delay="0"/>
                                          </p:stCondLst>
                                        </p:cTn>
                                        <p:tgtEl>
                                          <p:spTgt spid="34"/>
                                        </p:tgtEl>
                                        <p:attrNameLst>
                                          <p:attrName>style.visibility</p:attrName>
                                        </p:attrNameLst>
                                      </p:cBhvr>
                                      <p:to>
                                        <p:strVal val="visible"/>
                                      </p:to>
                                    </p:set>
                                    <p:animEffect transition="in" filter="fade">
                                      <p:cBhvr>
                                        <p:cTn id="108" dur="700"/>
                                        <p:tgtEl>
                                          <p:spTgt spid="34"/>
                                        </p:tgtEl>
                                      </p:cBhvr>
                                    </p:animEffect>
                                    <p:anim calcmode="lin" valueType="num">
                                      <p:cBhvr additive="base">
                                        <p:cTn id="109" dur="700" fill="hold"/>
                                        <p:tgtEl>
                                          <p:spTgt spid="34"/>
                                        </p:tgtEl>
                                        <p:attrNameLst>
                                          <p:attrName>ppt_y</p:attrName>
                                        </p:attrNameLst>
                                      </p:cBhvr>
                                      <p:tavLst>
                                        <p:tav tm="0">
                                          <p:val>
                                            <p:strVal val="#ppt_y+0.03"/>
                                          </p:val>
                                        </p:tav>
                                        <p:tav tm="100000">
                                          <p:val>
                                            <p:strVal val="#ppt_y"/>
                                          </p:val>
                                        </p:tav>
                                      </p:tavLst>
                                    </p:anim>
                                  </p:childTnLst>
                                </p:cTn>
                              </p:par>
                              <p:par>
                                <p:cTn id="110" presetID="42" presetClass="entr" presetSubtype="0" decel="100000" fill="hold" grpId="0" nodeType="withEffect">
                                  <p:stCondLst>
                                    <p:cond delay="1570"/>
                                  </p:stCondLst>
                                  <p:childTnLst>
                                    <p:set>
                                      <p:cBhvr>
                                        <p:cTn id="111" dur="1" fill="hold">
                                          <p:stCondLst>
                                            <p:cond delay="0"/>
                                          </p:stCondLst>
                                        </p:cTn>
                                        <p:tgtEl>
                                          <p:spTgt spid="35"/>
                                        </p:tgtEl>
                                        <p:attrNameLst>
                                          <p:attrName>style.visibility</p:attrName>
                                        </p:attrNameLst>
                                      </p:cBhvr>
                                      <p:to>
                                        <p:strVal val="visible"/>
                                      </p:to>
                                    </p:set>
                                    <p:animEffect transition="in" filter="fade">
                                      <p:cBhvr>
                                        <p:cTn id="112" dur="700"/>
                                        <p:tgtEl>
                                          <p:spTgt spid="35"/>
                                        </p:tgtEl>
                                      </p:cBhvr>
                                    </p:animEffect>
                                    <p:anim calcmode="lin" valueType="num">
                                      <p:cBhvr additive="base">
                                        <p:cTn id="113" dur="700" fill="hold"/>
                                        <p:tgtEl>
                                          <p:spTgt spid="35"/>
                                        </p:tgtEl>
                                        <p:attrNameLst>
                                          <p:attrName>ppt_y</p:attrName>
                                        </p:attrNameLst>
                                      </p:cBhvr>
                                      <p:tavLst>
                                        <p:tav tm="0">
                                          <p:val>
                                            <p:strVal val="#ppt_y+0.03"/>
                                          </p:val>
                                        </p:tav>
                                        <p:tav tm="100000">
                                          <p:val>
                                            <p:strVal val="#ppt_y"/>
                                          </p:val>
                                        </p:tav>
                                      </p:tavLst>
                                    </p:anim>
                                  </p:childTnLst>
                                </p:cTn>
                              </p:par>
                              <p:par>
                                <p:cTn id="114" presetID="42" presetClass="entr" presetSubtype="0" decel="100000" fill="hold" grpId="0" nodeType="withEffect">
                                  <p:stCondLst>
                                    <p:cond delay="1570"/>
                                  </p:stCondLst>
                                  <p:childTnLst>
                                    <p:set>
                                      <p:cBhvr>
                                        <p:cTn id="115" dur="1" fill="hold">
                                          <p:stCondLst>
                                            <p:cond delay="0"/>
                                          </p:stCondLst>
                                        </p:cTn>
                                        <p:tgtEl>
                                          <p:spTgt spid="36"/>
                                        </p:tgtEl>
                                        <p:attrNameLst>
                                          <p:attrName>style.visibility</p:attrName>
                                        </p:attrNameLst>
                                      </p:cBhvr>
                                      <p:to>
                                        <p:strVal val="visible"/>
                                      </p:to>
                                    </p:set>
                                    <p:animEffect transition="in" filter="fade">
                                      <p:cBhvr>
                                        <p:cTn id="116" dur="700"/>
                                        <p:tgtEl>
                                          <p:spTgt spid="36"/>
                                        </p:tgtEl>
                                      </p:cBhvr>
                                    </p:animEffect>
                                    <p:anim calcmode="lin" valueType="num">
                                      <p:cBhvr additive="base">
                                        <p:cTn id="117" dur="700" fill="hold"/>
                                        <p:tgtEl>
                                          <p:spTgt spid="36"/>
                                        </p:tgtEl>
                                        <p:attrNameLst>
                                          <p:attrName>ppt_y</p:attrName>
                                        </p:attrNameLst>
                                      </p:cBhvr>
                                      <p:tavLst>
                                        <p:tav tm="0">
                                          <p:val>
                                            <p:strVal val="#ppt_y+0.03"/>
                                          </p:val>
                                        </p:tav>
                                        <p:tav tm="100000">
                                          <p:val>
                                            <p:strVal val="#ppt_y"/>
                                          </p:val>
                                        </p:tav>
                                      </p:tavLst>
                                    </p:anim>
                                  </p:childTnLst>
                                </p:cTn>
                              </p:par>
                              <p:par>
                                <p:cTn id="118" presetID="53" presetClass="entr" presetSubtype="16" decel="100000" fill="hold" grpId="0" nodeType="withEffect">
                                  <p:stCondLst>
                                    <p:cond delay="1790"/>
                                  </p:stCondLst>
                                  <p:childTnLst>
                                    <p:set>
                                      <p:cBhvr>
                                        <p:cTn id="119" dur="1" fill="hold">
                                          <p:stCondLst>
                                            <p:cond delay="0"/>
                                          </p:stCondLst>
                                        </p:cTn>
                                        <p:tgtEl>
                                          <p:spTgt spid="28"/>
                                        </p:tgtEl>
                                        <p:attrNameLst>
                                          <p:attrName>style.visibility</p:attrName>
                                        </p:attrNameLst>
                                      </p:cBhvr>
                                      <p:to>
                                        <p:strVal val="visible"/>
                                      </p:to>
                                    </p:set>
                                    <p:animEffect transition="in" filter="fade">
                                      <p:cBhvr>
                                        <p:cTn id="120" dur="450"/>
                                        <p:tgtEl>
                                          <p:spTgt spid="28"/>
                                        </p:tgtEl>
                                      </p:cBhvr>
                                    </p:animEffect>
                                    <p:anim calcmode="lin" valueType="num">
                                      <p:cBhvr additive="base">
                                        <p:cTn id="121" dur="450" fill="hold"/>
                                        <p:tgtEl>
                                          <p:spTgt spid="28"/>
                                        </p:tgtEl>
                                        <p:attrNameLst>
                                          <p:attrName>ppt_w</p:attrName>
                                        </p:attrNameLst>
                                      </p:cBhvr>
                                      <p:tavLst>
                                        <p:tav tm="0">
                                          <p:val>
                                            <p:strVal val="#ppt_w*0.2"/>
                                          </p:val>
                                        </p:tav>
                                        <p:tav tm="100000">
                                          <p:val>
                                            <p:strVal val="#ppt_w"/>
                                          </p:val>
                                        </p:tav>
                                      </p:tavLst>
                                    </p:anim>
                                    <p:anim calcmode="lin" valueType="num">
                                      <p:cBhvr additive="base">
                                        <p:cTn id="122" dur="450" fill="hold"/>
                                        <p:tgtEl>
                                          <p:spTgt spid="28"/>
                                        </p:tgtEl>
                                        <p:attrNameLst>
                                          <p:attrName>ppt_h</p:attrName>
                                        </p:attrNameLst>
                                      </p:cBhvr>
                                      <p:tavLst>
                                        <p:tav tm="0">
                                          <p:val>
                                            <p:strVal val="#ppt_h*0.2"/>
                                          </p:val>
                                        </p:tav>
                                        <p:tav tm="100000">
                                          <p:val>
                                            <p:strVal val="#ppt_h"/>
                                          </p:val>
                                        </p:tav>
                                      </p:tavLst>
                                    </p:anim>
                                  </p:childTnLst>
                                </p:cTn>
                              </p:par>
                              <p:par>
                                <p:cTn id="123" presetID="53" presetClass="entr" presetSubtype="16" decel="100000" fill="hold" grpId="0" nodeType="withEffect">
                                  <p:stCondLst>
                                    <p:cond delay="1790"/>
                                  </p:stCondLst>
                                  <p:childTnLst>
                                    <p:set>
                                      <p:cBhvr>
                                        <p:cTn id="124" dur="1" fill="hold">
                                          <p:stCondLst>
                                            <p:cond delay="0"/>
                                          </p:stCondLst>
                                        </p:cTn>
                                        <p:tgtEl>
                                          <p:spTgt spid="29"/>
                                        </p:tgtEl>
                                        <p:attrNameLst>
                                          <p:attrName>style.visibility</p:attrName>
                                        </p:attrNameLst>
                                      </p:cBhvr>
                                      <p:to>
                                        <p:strVal val="visible"/>
                                      </p:to>
                                    </p:set>
                                    <p:animEffect transition="in" filter="fade">
                                      <p:cBhvr>
                                        <p:cTn id="125" dur="450"/>
                                        <p:tgtEl>
                                          <p:spTgt spid="29"/>
                                        </p:tgtEl>
                                      </p:cBhvr>
                                    </p:animEffect>
                                    <p:anim calcmode="lin" valueType="num">
                                      <p:cBhvr additive="base">
                                        <p:cTn id="126" dur="450" fill="hold"/>
                                        <p:tgtEl>
                                          <p:spTgt spid="29"/>
                                        </p:tgtEl>
                                        <p:attrNameLst>
                                          <p:attrName>ppt_w</p:attrName>
                                        </p:attrNameLst>
                                      </p:cBhvr>
                                      <p:tavLst>
                                        <p:tav tm="0">
                                          <p:val>
                                            <p:strVal val="#ppt_w*0.2"/>
                                          </p:val>
                                        </p:tav>
                                        <p:tav tm="100000">
                                          <p:val>
                                            <p:strVal val="#ppt_w"/>
                                          </p:val>
                                        </p:tav>
                                      </p:tavLst>
                                    </p:anim>
                                    <p:anim calcmode="lin" valueType="num">
                                      <p:cBhvr additive="base">
                                        <p:cTn id="127" dur="450" fill="hold"/>
                                        <p:tgtEl>
                                          <p:spTgt spid="29"/>
                                        </p:tgtEl>
                                        <p:attrNameLst>
                                          <p:attrName>ppt_h</p:attrName>
                                        </p:attrNameLst>
                                      </p:cBhvr>
                                      <p:tavLst>
                                        <p:tav tm="0">
                                          <p:val>
                                            <p:strVal val="#ppt_h*0.2"/>
                                          </p:val>
                                        </p:tav>
                                        <p:tav tm="100000">
                                          <p:val>
                                            <p:strVal val="#ppt_h"/>
                                          </p:val>
                                        </p:tav>
                                      </p:tavLst>
                                    </p:anim>
                                  </p:childTnLst>
                                </p:cTn>
                              </p:par>
                              <p:par>
                                <p:cTn id="128" presetID="53" presetClass="entr" presetSubtype="16" decel="100000" fill="hold" grpId="0" nodeType="withEffect">
                                  <p:stCondLst>
                                    <p:cond delay="179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450"/>
                                        <p:tgtEl>
                                          <p:spTgt spid="30"/>
                                        </p:tgtEl>
                                      </p:cBhvr>
                                    </p:animEffect>
                                    <p:anim calcmode="lin" valueType="num">
                                      <p:cBhvr additive="base">
                                        <p:cTn id="131" dur="450" fill="hold"/>
                                        <p:tgtEl>
                                          <p:spTgt spid="30"/>
                                        </p:tgtEl>
                                        <p:attrNameLst>
                                          <p:attrName>ppt_w</p:attrName>
                                        </p:attrNameLst>
                                      </p:cBhvr>
                                      <p:tavLst>
                                        <p:tav tm="0">
                                          <p:val>
                                            <p:strVal val="#ppt_w*0.2"/>
                                          </p:val>
                                        </p:tav>
                                        <p:tav tm="100000">
                                          <p:val>
                                            <p:strVal val="#ppt_w"/>
                                          </p:val>
                                        </p:tav>
                                      </p:tavLst>
                                    </p:anim>
                                    <p:anim calcmode="lin" valueType="num">
                                      <p:cBhvr additive="base">
                                        <p:cTn id="132" dur="450" fill="hold"/>
                                        <p:tgtEl>
                                          <p:spTgt spid="30"/>
                                        </p:tgtEl>
                                        <p:attrNameLst>
                                          <p:attrName>ppt_h</p:attrName>
                                        </p:attrNameLst>
                                      </p:cBhvr>
                                      <p:tavLst>
                                        <p:tav tm="0">
                                          <p:val>
                                            <p:strVal val="#ppt_h*0.2"/>
                                          </p:val>
                                        </p:tav>
                                        <p:tav tm="100000">
                                          <p:val>
                                            <p:strVal val="#ppt_h"/>
                                          </p:val>
                                        </p:tav>
                                      </p:tavLst>
                                    </p:anim>
                                  </p:childTnLst>
                                </p:cTn>
                              </p:par>
                              <p:par>
                                <p:cTn id="133" presetID="53" presetClass="entr" presetSubtype="16" decel="100000" fill="hold" grpId="0" nodeType="withEffect">
                                  <p:stCondLst>
                                    <p:cond delay="1790"/>
                                  </p:stCondLst>
                                  <p:childTnLst>
                                    <p:set>
                                      <p:cBhvr>
                                        <p:cTn id="134" dur="1" fill="hold">
                                          <p:stCondLst>
                                            <p:cond delay="0"/>
                                          </p:stCondLst>
                                        </p:cTn>
                                        <p:tgtEl>
                                          <p:spTgt spid="31"/>
                                        </p:tgtEl>
                                        <p:attrNameLst>
                                          <p:attrName>style.visibility</p:attrName>
                                        </p:attrNameLst>
                                      </p:cBhvr>
                                      <p:to>
                                        <p:strVal val="visible"/>
                                      </p:to>
                                    </p:set>
                                    <p:animEffect transition="in" filter="fade">
                                      <p:cBhvr>
                                        <p:cTn id="135" dur="450"/>
                                        <p:tgtEl>
                                          <p:spTgt spid="31"/>
                                        </p:tgtEl>
                                      </p:cBhvr>
                                    </p:animEffect>
                                    <p:anim calcmode="lin" valueType="num">
                                      <p:cBhvr additive="base">
                                        <p:cTn id="136" dur="450" fill="hold"/>
                                        <p:tgtEl>
                                          <p:spTgt spid="31"/>
                                        </p:tgtEl>
                                        <p:attrNameLst>
                                          <p:attrName>ppt_w</p:attrName>
                                        </p:attrNameLst>
                                      </p:cBhvr>
                                      <p:tavLst>
                                        <p:tav tm="0">
                                          <p:val>
                                            <p:strVal val="#ppt_w*0.2"/>
                                          </p:val>
                                        </p:tav>
                                        <p:tav tm="100000">
                                          <p:val>
                                            <p:strVal val="#ppt_w"/>
                                          </p:val>
                                        </p:tav>
                                      </p:tavLst>
                                    </p:anim>
                                    <p:anim calcmode="lin" valueType="num">
                                      <p:cBhvr additive="base">
                                        <p:cTn id="137" dur="450" fill="hold"/>
                                        <p:tgtEl>
                                          <p:spTgt spid="31"/>
                                        </p:tgtEl>
                                        <p:attrNameLst>
                                          <p:attrName>ppt_h</p:attrName>
                                        </p:attrNameLst>
                                      </p:cBhvr>
                                      <p:tavLst>
                                        <p:tav tm="0">
                                          <p:val>
                                            <p:strVal val="#ppt_h*0.2"/>
                                          </p:val>
                                        </p:tav>
                                        <p:tav tm="100000">
                                          <p:val>
                                            <p:strVal val="#ppt_h"/>
                                          </p:val>
                                        </p:tav>
                                      </p:tavLst>
                                    </p:anim>
                                  </p:childTnLst>
                                </p:cTn>
                              </p:par>
                              <p:par>
                                <p:cTn id="138" presetID="53" presetClass="entr" presetSubtype="16" decel="100000" fill="hold" grpId="0" nodeType="withEffect">
                                  <p:stCondLst>
                                    <p:cond delay="179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450"/>
                                        <p:tgtEl>
                                          <p:spTgt spid="32"/>
                                        </p:tgtEl>
                                      </p:cBhvr>
                                    </p:animEffect>
                                    <p:anim calcmode="lin" valueType="num">
                                      <p:cBhvr additive="base">
                                        <p:cTn id="141" dur="450" fill="hold"/>
                                        <p:tgtEl>
                                          <p:spTgt spid="32"/>
                                        </p:tgtEl>
                                        <p:attrNameLst>
                                          <p:attrName>ppt_w</p:attrName>
                                        </p:attrNameLst>
                                      </p:cBhvr>
                                      <p:tavLst>
                                        <p:tav tm="0">
                                          <p:val>
                                            <p:strVal val="#ppt_w*0.2"/>
                                          </p:val>
                                        </p:tav>
                                        <p:tav tm="100000">
                                          <p:val>
                                            <p:strVal val="#ppt_w"/>
                                          </p:val>
                                        </p:tav>
                                      </p:tavLst>
                                    </p:anim>
                                    <p:anim calcmode="lin" valueType="num">
                                      <p:cBhvr additive="base">
                                        <p:cTn id="142" dur="450" fill="hold"/>
                                        <p:tgtEl>
                                          <p:spTgt spid="32"/>
                                        </p:tgtEl>
                                        <p:attrNameLst>
                                          <p:attrName>ppt_h</p:attrName>
                                        </p:attrNameLst>
                                      </p:cBhvr>
                                      <p:tavLst>
                                        <p:tav tm="0">
                                          <p:val>
                                            <p:strVal val="#ppt_h*0.2"/>
                                          </p:val>
                                        </p:tav>
                                        <p:tav tm="100000">
                                          <p:val>
                                            <p:strVal val="#ppt_h"/>
                                          </p:val>
                                        </p:tav>
                                      </p:tavLst>
                                    </p:anim>
                                  </p:childTnLst>
                                </p:cTn>
                              </p:par>
                              <p:par>
                                <p:cTn id="143" presetID="42" presetClass="entr" presetSubtype="0" decel="100000" fill="hold" grpId="0" nodeType="withEffect">
                                  <p:stCondLst>
                                    <p:cond delay="1790"/>
                                  </p:stCondLst>
                                  <p:childTnLst>
                                    <p:set>
                                      <p:cBhvr>
                                        <p:cTn id="144" dur="1" fill="hold">
                                          <p:stCondLst>
                                            <p:cond delay="0"/>
                                          </p:stCondLst>
                                        </p:cTn>
                                        <p:tgtEl>
                                          <p:spTgt spid="37"/>
                                        </p:tgtEl>
                                        <p:attrNameLst>
                                          <p:attrName>style.visibility</p:attrName>
                                        </p:attrNameLst>
                                      </p:cBhvr>
                                      <p:to>
                                        <p:strVal val="visible"/>
                                      </p:to>
                                    </p:set>
                                    <p:animEffect transition="in" filter="fade">
                                      <p:cBhvr>
                                        <p:cTn id="145" dur="700"/>
                                        <p:tgtEl>
                                          <p:spTgt spid="37"/>
                                        </p:tgtEl>
                                      </p:cBhvr>
                                    </p:animEffect>
                                    <p:anim calcmode="lin" valueType="num">
                                      <p:cBhvr additive="base">
                                        <p:cTn id="146" dur="700" fill="hold"/>
                                        <p:tgtEl>
                                          <p:spTgt spid="37"/>
                                        </p:tgtEl>
                                        <p:attrNameLst>
                                          <p:attrName>ppt_y</p:attrName>
                                        </p:attrNameLst>
                                      </p:cBhvr>
                                      <p:tavLst>
                                        <p:tav tm="0">
                                          <p:val>
                                            <p:strVal val="#ppt_y+0.03"/>
                                          </p:val>
                                        </p:tav>
                                        <p:tav tm="100000">
                                          <p:val>
                                            <p:strVal val="#ppt_y"/>
                                          </p:val>
                                        </p:tav>
                                      </p:tavLst>
                                    </p:anim>
                                  </p:childTnLst>
                                </p:cTn>
                              </p:par>
                              <p:par>
                                <p:cTn id="147" presetID="42" presetClass="entr" presetSubtype="0" decel="100000" fill="hold" grpId="0" nodeType="withEffect">
                                  <p:stCondLst>
                                    <p:cond delay="1790"/>
                                  </p:stCondLst>
                                  <p:childTnLst>
                                    <p:set>
                                      <p:cBhvr>
                                        <p:cTn id="148" dur="1" fill="hold">
                                          <p:stCondLst>
                                            <p:cond delay="0"/>
                                          </p:stCondLst>
                                        </p:cTn>
                                        <p:tgtEl>
                                          <p:spTgt spid="38"/>
                                        </p:tgtEl>
                                        <p:attrNameLst>
                                          <p:attrName>style.visibility</p:attrName>
                                        </p:attrNameLst>
                                      </p:cBhvr>
                                      <p:to>
                                        <p:strVal val="visible"/>
                                      </p:to>
                                    </p:set>
                                    <p:animEffect transition="in" filter="fade">
                                      <p:cBhvr>
                                        <p:cTn id="149" dur="700"/>
                                        <p:tgtEl>
                                          <p:spTgt spid="38"/>
                                        </p:tgtEl>
                                      </p:cBhvr>
                                    </p:animEffect>
                                    <p:anim calcmode="lin" valueType="num">
                                      <p:cBhvr additive="base">
                                        <p:cTn id="150" dur="700" fill="hold"/>
                                        <p:tgtEl>
                                          <p:spTgt spid="38"/>
                                        </p:tgtEl>
                                        <p:attrNameLst>
                                          <p:attrName>ppt_y</p:attrName>
                                        </p:attrNameLst>
                                      </p:cBhvr>
                                      <p:tavLst>
                                        <p:tav tm="0">
                                          <p:val>
                                            <p:strVal val="#ppt_y+0.03"/>
                                          </p:val>
                                        </p:tav>
                                        <p:tav tm="100000">
                                          <p:val>
                                            <p:strVal val="#ppt_y"/>
                                          </p:val>
                                        </p:tav>
                                      </p:tavLst>
                                    </p:anim>
                                  </p:childTnLst>
                                </p:cTn>
                              </p:par>
                              <p:par>
                                <p:cTn id="151" presetID="42" presetClass="entr" presetSubtype="0" decel="100000" fill="hold" grpId="0" nodeType="withEffect">
                                  <p:stCondLst>
                                    <p:cond delay="1790"/>
                                  </p:stCondLst>
                                  <p:childTnLst>
                                    <p:set>
                                      <p:cBhvr>
                                        <p:cTn id="152" dur="1" fill="hold">
                                          <p:stCondLst>
                                            <p:cond delay="0"/>
                                          </p:stCondLst>
                                        </p:cTn>
                                        <p:tgtEl>
                                          <p:spTgt spid="39"/>
                                        </p:tgtEl>
                                        <p:attrNameLst>
                                          <p:attrName>style.visibility</p:attrName>
                                        </p:attrNameLst>
                                      </p:cBhvr>
                                      <p:to>
                                        <p:strVal val="visible"/>
                                      </p:to>
                                    </p:set>
                                    <p:animEffect transition="in" filter="fade">
                                      <p:cBhvr>
                                        <p:cTn id="153" dur="700"/>
                                        <p:tgtEl>
                                          <p:spTgt spid="39"/>
                                        </p:tgtEl>
                                      </p:cBhvr>
                                    </p:animEffect>
                                    <p:anim calcmode="lin" valueType="num">
                                      <p:cBhvr additive="base">
                                        <p:cTn id="154" dur="700" fill="hold"/>
                                        <p:tgtEl>
                                          <p:spTgt spid="39"/>
                                        </p:tgtEl>
                                        <p:attrNameLst>
                                          <p:attrName>ppt_y</p:attrName>
                                        </p:attrNameLst>
                                      </p:cBhvr>
                                      <p:tavLst>
                                        <p:tav tm="0">
                                          <p:val>
                                            <p:strVal val="#ppt_y+0.03"/>
                                          </p:val>
                                        </p:tav>
                                        <p:tav tm="100000">
                                          <p:val>
                                            <p:strVal val="#ppt_y"/>
                                          </p:val>
                                        </p:tav>
                                      </p:tavLst>
                                    </p:anim>
                                  </p:childTnLst>
                                </p:cTn>
                              </p:par>
                              <p:par>
                                <p:cTn id="155" presetID="10" presetClass="entr" presetSubtype="0" decel="100000" fill="hold" grpId="0" nodeType="withEffect">
                                  <p:stCondLst>
                                    <p:cond delay="2010"/>
                                  </p:stCondLst>
                                  <p:childTnLst>
                                    <p:set>
                                      <p:cBhvr>
                                        <p:cTn id="156" dur="1" fill="hold">
                                          <p:stCondLst>
                                            <p:cond delay="0"/>
                                          </p:stCondLst>
                                        </p:cTn>
                                        <p:tgtEl>
                                          <p:spTgt spid="33"/>
                                        </p:tgtEl>
                                        <p:attrNameLst>
                                          <p:attrName>style.visibility</p:attrName>
                                        </p:attrNameLst>
                                      </p:cBhvr>
                                      <p:to>
                                        <p:strVal val="visible"/>
                                      </p:to>
                                    </p:set>
                                    <p:animEffect transition="in" filter="fade">
                                      <p:cBhvr>
                                        <p:cTn id="157" dur="6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377440" y="-2011680"/>
            <a:ext cx="5943600" cy="59436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8138160" y="3108960"/>
            <a:ext cx="5943600" cy="59436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BONUS CRITERIA · BEYOND THE PROOF OF CONCEPT</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Reproducible today, built to scale tomorrow</a:t>
            </a:r>
            <a:endParaRPr lang="en-US" sz="3400" dirty="0"/>
          </a:p>
        </p:txBody>
      </p:sp>
      <p:sp>
        <p:nvSpPr>
          <p:cNvPr id="7" name="a1float_rc"/>
          <p:cNvSpPr/>
          <p:nvPr/>
        </p:nvSpPr>
        <p:spPr>
          <a:xfrm>
            <a:off x="548640" y="1691640"/>
            <a:ext cx="5440680" cy="4480560"/>
          </a:xfrm>
          <a:prstGeom prst="roundRect">
            <a:avLst>
              <a:gd name="adj" fmla="val 2857"/>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8" name="a1float_rl"/>
          <p:cNvSpPr txBox="1"/>
          <p:nvPr/>
        </p:nvSpPr>
        <p:spPr>
          <a:xfrm>
            <a:off x="777240" y="1828800"/>
            <a:ext cx="512064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BONUS · DOCUMENTATION &amp; REPRODUCIBILITY</a:t>
            </a:r>
            <a:endParaRPr lang="en-US" sz="1100" dirty="0"/>
          </a:p>
        </p:txBody>
      </p:sp>
      <p:sp>
        <p:nvSpPr>
          <p:cNvPr id="9" name="a2float_r0_c"/>
          <p:cNvSpPr/>
          <p:nvPr/>
        </p:nvSpPr>
        <p:spPr>
          <a:xfrm>
            <a:off x="777240" y="2212848"/>
            <a:ext cx="493776" cy="493776"/>
          </a:xfrm>
          <a:prstGeom prst="ellipse">
            <a:avLst/>
          </a:prstGeom>
          <a:solidFill>
            <a:srgbClr val="3F6E9E">
              <a:alpha val="18000"/>
            </a:srgbClr>
          </a:solidFill>
          <a:ln w="12700">
            <a:solidFill>
              <a:srgbClr val="3F6E9E"/>
            </a:solidFill>
            <a:prstDash val="solid"/>
          </a:ln>
        </p:spPr>
      </p:sp>
      <p:pic>
        <p:nvPicPr>
          <p:cNvPr id="10" name="a2float_r0_i" descr="preencoded.png"/>
          <p:cNvPicPr>
            <a:picLocks noChangeAspect="1"/>
          </p:cNvPicPr>
          <p:nvPr/>
        </p:nvPicPr>
        <p:blipFill>
          <a:blip r:embed="rId5"/>
          <a:stretch>
            <a:fillRect/>
          </a:stretch>
        </p:blipFill>
        <p:spPr>
          <a:xfrm>
            <a:off x="895746" y="2331354"/>
            <a:ext cx="256764" cy="256764"/>
          </a:xfrm>
          <a:prstGeom prst="rect">
            <a:avLst/>
          </a:prstGeom>
        </p:spPr>
      </p:pic>
      <p:sp>
        <p:nvSpPr>
          <p:cNvPr id="11" name="a2float_r0t"/>
          <p:cNvSpPr txBox="1"/>
          <p:nvPr/>
        </p:nvSpPr>
        <p:spPr>
          <a:xfrm>
            <a:off x="1417320" y="2194560"/>
            <a:ext cx="438912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Public repository, MIT licence</a:t>
            </a:r>
            <a:endParaRPr lang="en-US" sz="1500" dirty="0"/>
          </a:p>
        </p:txBody>
      </p:sp>
      <p:sp>
        <p:nvSpPr>
          <p:cNvPr id="12" name="a2float_r0d"/>
          <p:cNvSpPr txBox="1"/>
          <p:nvPr/>
        </p:nvSpPr>
        <p:spPr>
          <a:xfrm>
            <a:off x="1417320" y="2487168"/>
            <a:ext cx="443484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code, notebook, figures, provenance and licences</a:t>
            </a:r>
            <a:endParaRPr lang="en-US" sz="1200" dirty="0"/>
          </a:p>
        </p:txBody>
      </p:sp>
      <p:sp>
        <p:nvSpPr>
          <p:cNvPr id="13" name="a3float_r1_c"/>
          <p:cNvSpPr/>
          <p:nvPr/>
        </p:nvSpPr>
        <p:spPr>
          <a:xfrm>
            <a:off x="777240" y="2980944"/>
            <a:ext cx="493776" cy="493776"/>
          </a:xfrm>
          <a:prstGeom prst="ellipse">
            <a:avLst/>
          </a:prstGeom>
          <a:solidFill>
            <a:srgbClr val="3F6E9E">
              <a:alpha val="18000"/>
            </a:srgbClr>
          </a:solidFill>
          <a:ln w="12700">
            <a:solidFill>
              <a:srgbClr val="3F6E9E"/>
            </a:solidFill>
            <a:prstDash val="solid"/>
          </a:ln>
        </p:spPr>
      </p:sp>
      <p:pic>
        <p:nvPicPr>
          <p:cNvPr id="14" name="a3float_r1_i" descr="preencoded.png"/>
          <p:cNvPicPr>
            <a:picLocks noChangeAspect="1"/>
          </p:cNvPicPr>
          <p:nvPr/>
        </p:nvPicPr>
        <p:blipFill>
          <a:blip r:embed="rId6"/>
          <a:stretch>
            <a:fillRect/>
          </a:stretch>
        </p:blipFill>
        <p:spPr>
          <a:xfrm>
            <a:off x="895746" y="3099450"/>
            <a:ext cx="256764" cy="256764"/>
          </a:xfrm>
          <a:prstGeom prst="rect">
            <a:avLst/>
          </a:prstGeom>
        </p:spPr>
      </p:pic>
      <p:sp>
        <p:nvSpPr>
          <p:cNvPr id="15" name="a3float_r1t"/>
          <p:cNvSpPr txBox="1"/>
          <p:nvPr/>
        </p:nvSpPr>
        <p:spPr>
          <a:xfrm>
            <a:off x="1417320" y="2962656"/>
            <a:ext cx="438912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Re-runs end to end in ~24 s</a:t>
            </a:r>
            <a:endParaRPr lang="en-US" sz="1500" dirty="0"/>
          </a:p>
        </p:txBody>
      </p:sp>
      <p:sp>
        <p:nvSpPr>
          <p:cNvPr id="16" name="a3float_r1d"/>
          <p:cNvSpPr txBox="1"/>
          <p:nvPr/>
        </p:nvSpPr>
        <p:spPr>
          <a:xfrm>
            <a:off x="1417320" y="3255264"/>
            <a:ext cx="443484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outputs committed · pinned requirements · example in/out</a:t>
            </a:r>
            <a:endParaRPr lang="en-US" sz="1200" dirty="0"/>
          </a:p>
        </p:txBody>
      </p:sp>
      <p:sp>
        <p:nvSpPr>
          <p:cNvPr id="17" name="a4float_r2_c"/>
          <p:cNvSpPr/>
          <p:nvPr/>
        </p:nvSpPr>
        <p:spPr>
          <a:xfrm>
            <a:off x="777240" y="3749040"/>
            <a:ext cx="493776" cy="493776"/>
          </a:xfrm>
          <a:prstGeom prst="ellipse">
            <a:avLst/>
          </a:prstGeom>
          <a:solidFill>
            <a:srgbClr val="3F6E9E">
              <a:alpha val="18000"/>
            </a:srgbClr>
          </a:solidFill>
          <a:ln w="12700">
            <a:solidFill>
              <a:srgbClr val="3F6E9E"/>
            </a:solidFill>
            <a:prstDash val="solid"/>
          </a:ln>
        </p:spPr>
      </p:sp>
      <p:pic>
        <p:nvPicPr>
          <p:cNvPr id="18" name="a4float_r2_i" descr="preencoded.png"/>
          <p:cNvPicPr>
            <a:picLocks noChangeAspect="1"/>
          </p:cNvPicPr>
          <p:nvPr/>
        </p:nvPicPr>
        <p:blipFill>
          <a:blip r:embed="rId7"/>
          <a:stretch>
            <a:fillRect/>
          </a:stretch>
        </p:blipFill>
        <p:spPr>
          <a:xfrm>
            <a:off x="895746" y="3867546"/>
            <a:ext cx="256764" cy="256764"/>
          </a:xfrm>
          <a:prstGeom prst="rect">
            <a:avLst/>
          </a:prstGeom>
        </p:spPr>
      </p:pic>
      <p:sp>
        <p:nvSpPr>
          <p:cNvPr id="19" name="a4float_r2t"/>
          <p:cNvSpPr txBox="1"/>
          <p:nvPr/>
        </p:nvSpPr>
        <p:spPr>
          <a:xfrm>
            <a:off x="1417320" y="3730752"/>
            <a:ext cx="438912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Clean-machine test passed</a:t>
            </a:r>
            <a:endParaRPr lang="en-US" sz="1500" dirty="0"/>
          </a:p>
        </p:txBody>
      </p:sp>
      <p:sp>
        <p:nvSpPr>
          <p:cNvPr id="20" name="a4float_r2d"/>
          <p:cNvSpPr txBox="1"/>
          <p:nvPr/>
        </p:nvSpPr>
        <p:spPr>
          <a:xfrm>
            <a:off x="1417320" y="4023360"/>
            <a:ext cx="443484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fresh environment, same numbers, 0 errors</a:t>
            </a:r>
            <a:endParaRPr lang="en-US" sz="1200" dirty="0"/>
          </a:p>
        </p:txBody>
      </p:sp>
      <p:sp>
        <p:nvSpPr>
          <p:cNvPr id="21" name="a5float_r3_c"/>
          <p:cNvSpPr/>
          <p:nvPr/>
        </p:nvSpPr>
        <p:spPr>
          <a:xfrm>
            <a:off x="777240" y="4517136"/>
            <a:ext cx="493776" cy="493776"/>
          </a:xfrm>
          <a:prstGeom prst="ellipse">
            <a:avLst/>
          </a:prstGeom>
          <a:solidFill>
            <a:srgbClr val="3F6E9E">
              <a:alpha val="18000"/>
            </a:srgbClr>
          </a:solidFill>
          <a:ln w="12700">
            <a:solidFill>
              <a:srgbClr val="3F6E9E"/>
            </a:solidFill>
            <a:prstDash val="solid"/>
          </a:ln>
        </p:spPr>
      </p:sp>
      <p:pic>
        <p:nvPicPr>
          <p:cNvPr id="22" name="a5float_r3_i" descr="preencoded.png"/>
          <p:cNvPicPr>
            <a:picLocks noChangeAspect="1"/>
          </p:cNvPicPr>
          <p:nvPr/>
        </p:nvPicPr>
        <p:blipFill>
          <a:blip r:embed="rId8"/>
          <a:stretch>
            <a:fillRect/>
          </a:stretch>
        </p:blipFill>
        <p:spPr>
          <a:xfrm>
            <a:off x="895746" y="4635642"/>
            <a:ext cx="256764" cy="256764"/>
          </a:xfrm>
          <a:prstGeom prst="rect">
            <a:avLst/>
          </a:prstGeom>
        </p:spPr>
      </p:pic>
      <p:sp>
        <p:nvSpPr>
          <p:cNvPr id="23" name="a5float_r3t"/>
          <p:cNvSpPr txBox="1"/>
          <p:nvPr/>
        </p:nvSpPr>
        <p:spPr>
          <a:xfrm>
            <a:off x="1417320" y="4498848"/>
            <a:ext cx="438912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Every number traceable</a:t>
            </a:r>
            <a:endParaRPr lang="en-US" sz="1500" dirty="0"/>
          </a:p>
        </p:txBody>
      </p:sp>
      <p:sp>
        <p:nvSpPr>
          <p:cNvPr id="24" name="a5float_r3d"/>
          <p:cNvSpPr txBox="1"/>
          <p:nvPr/>
        </p:nvSpPr>
        <p:spPr>
          <a:xfrm>
            <a:off x="1417320" y="4791456"/>
            <a:ext cx="443484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each figure comes from a script and a written summary</a:t>
            </a:r>
            <a:endParaRPr lang="en-US" sz="1200" dirty="0"/>
          </a:p>
        </p:txBody>
      </p:sp>
      <p:sp>
        <p:nvSpPr>
          <p:cNvPr id="25" name="a6float_r4_c"/>
          <p:cNvSpPr/>
          <p:nvPr/>
        </p:nvSpPr>
        <p:spPr>
          <a:xfrm>
            <a:off x="777240" y="5285232"/>
            <a:ext cx="493776" cy="493776"/>
          </a:xfrm>
          <a:prstGeom prst="ellipse">
            <a:avLst/>
          </a:prstGeom>
          <a:solidFill>
            <a:srgbClr val="3F6E9E">
              <a:alpha val="18000"/>
            </a:srgbClr>
          </a:solidFill>
          <a:ln w="12700">
            <a:solidFill>
              <a:srgbClr val="3F6E9E"/>
            </a:solidFill>
            <a:prstDash val="solid"/>
          </a:ln>
        </p:spPr>
      </p:sp>
      <p:pic>
        <p:nvPicPr>
          <p:cNvPr id="26" name="a6float_r4_i" descr="preencoded.png"/>
          <p:cNvPicPr>
            <a:picLocks noChangeAspect="1"/>
          </p:cNvPicPr>
          <p:nvPr/>
        </p:nvPicPr>
        <p:blipFill>
          <a:blip r:embed="rId9"/>
          <a:stretch>
            <a:fillRect/>
          </a:stretch>
        </p:blipFill>
        <p:spPr>
          <a:xfrm>
            <a:off x="895746" y="5403738"/>
            <a:ext cx="256764" cy="256764"/>
          </a:xfrm>
          <a:prstGeom prst="rect">
            <a:avLst/>
          </a:prstGeom>
        </p:spPr>
      </p:pic>
      <p:sp>
        <p:nvSpPr>
          <p:cNvPr id="27" name="a6float_r4t"/>
          <p:cNvSpPr txBox="1"/>
          <p:nvPr/>
        </p:nvSpPr>
        <p:spPr>
          <a:xfrm>
            <a:off x="1417320" y="5266944"/>
            <a:ext cx="438912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Live website + site reports</a:t>
            </a:r>
            <a:endParaRPr lang="en-US" sz="1500" dirty="0"/>
          </a:p>
        </p:txBody>
      </p:sp>
      <p:sp>
        <p:nvSpPr>
          <p:cNvPr id="28" name="a6float_r4d"/>
          <p:cNvSpPr txBox="1"/>
          <p:nvPr/>
        </p:nvSpPr>
        <p:spPr>
          <a:xfrm>
            <a:off x="1417320" y="5559552"/>
            <a:ext cx="443484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anyone can open the monitor and check a stand</a:t>
            </a:r>
            <a:endParaRPr lang="en-US" sz="1200" dirty="0"/>
          </a:p>
        </p:txBody>
      </p:sp>
      <p:sp>
        <p:nvSpPr>
          <p:cNvPr id="29" name="a1fade_sl"/>
          <p:cNvSpPr txBox="1"/>
          <p:nvPr/>
        </p:nvSpPr>
        <p:spPr>
          <a:xfrm>
            <a:off x="6263640" y="1691640"/>
            <a:ext cx="530352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BONUS · SCALABILITY BEYOND THE POC</a:t>
            </a:r>
            <a:endParaRPr lang="en-US" sz="1100" dirty="0"/>
          </a:p>
        </p:txBody>
      </p:sp>
      <p:sp>
        <p:nvSpPr>
          <p:cNvPr id="30" name="a2fade_spine"/>
          <p:cNvSpPr/>
          <p:nvPr/>
        </p:nvSpPr>
        <p:spPr>
          <a:xfrm>
            <a:off x="6583680" y="2377440"/>
            <a:ext cx="0" cy="2926080"/>
          </a:xfrm>
          <a:prstGeom prst="line">
            <a:avLst/>
          </a:prstGeom>
          <a:noFill/>
          <a:ln w="19050">
            <a:solidFill>
              <a:srgbClr val="3F6E9E"/>
            </a:solidFill>
            <a:prstDash val="dash"/>
          </a:ln>
        </p:spPr>
      </p:sp>
      <p:sp>
        <p:nvSpPr>
          <p:cNvPr id="31" name="a3float_p0"/>
          <p:cNvSpPr/>
          <p:nvPr/>
        </p:nvSpPr>
        <p:spPr>
          <a:xfrm>
            <a:off x="6903720" y="2029968"/>
            <a:ext cx="4736592" cy="1261872"/>
          </a:xfrm>
          <a:prstGeom prst="roundRect">
            <a:avLst>
              <a:gd name="adj" fmla="val 10145"/>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sp>
      <p:sp>
        <p:nvSpPr>
          <p:cNvPr id="32" name="a3pop_p0ic_c"/>
          <p:cNvSpPr/>
          <p:nvPr/>
        </p:nvSpPr>
        <p:spPr>
          <a:xfrm>
            <a:off x="6327648" y="2404872"/>
            <a:ext cx="512064" cy="512064"/>
          </a:xfrm>
          <a:prstGeom prst="ellipse">
            <a:avLst/>
          </a:prstGeom>
          <a:solidFill>
            <a:srgbClr val="A9813A">
              <a:alpha val="18000"/>
            </a:srgbClr>
          </a:solidFill>
          <a:ln w="12700">
            <a:solidFill>
              <a:srgbClr val="A9813A"/>
            </a:solidFill>
            <a:prstDash val="solid"/>
          </a:ln>
        </p:spPr>
      </p:sp>
      <p:pic>
        <p:nvPicPr>
          <p:cNvPr id="33" name="a3pop_p0ic_i" descr="preencoded.png"/>
          <p:cNvPicPr>
            <a:picLocks noChangeAspect="1"/>
          </p:cNvPicPr>
          <p:nvPr/>
        </p:nvPicPr>
        <p:blipFill>
          <a:blip r:embed="rId10"/>
          <a:stretch>
            <a:fillRect/>
          </a:stretch>
        </p:blipFill>
        <p:spPr>
          <a:xfrm>
            <a:off x="6450543" y="2527767"/>
            <a:ext cx="266273" cy="266273"/>
          </a:xfrm>
          <a:prstGeom prst="rect">
            <a:avLst/>
          </a:prstGeom>
        </p:spPr>
      </p:pic>
      <p:sp>
        <p:nvSpPr>
          <p:cNvPr id="34" name="a3float_p0t"/>
          <p:cNvSpPr txBox="1"/>
          <p:nvPr/>
        </p:nvSpPr>
        <p:spPr>
          <a:xfrm>
            <a:off x="7132320" y="2139696"/>
            <a:ext cx="4297680" cy="310896"/>
          </a:xfrm>
          <a:prstGeom prst="rect">
            <a:avLst/>
          </a:prstGeom>
          <a:noFill/>
          <a:ln/>
        </p:spPr>
        <p:txBody>
          <a:bodyPr wrap="square" lIns="0" tIns="0" rIns="0" bIns="0" rtlCol="0" anchor="t"/>
          <a:lstStyle/>
          <a:p>
            <a:pPr marL="0" indent="0" algn="l">
              <a:lnSpc>
                <a:spcPct val="105000"/>
              </a:lnSpc>
              <a:buNone/>
            </a:pPr>
            <a:r>
              <a:rPr lang="en-US" sz="1500" dirty="0">
                <a:solidFill>
                  <a:srgbClr val="A9813A"/>
                </a:solidFill>
                <a:latin typeface="Segoe UI Semibold" pitchFamily="34" charset="0"/>
                <a:ea typeface="Segoe UI Semibold" pitchFamily="34" charset="-122"/>
                <a:cs typeface="Segoe UI Semibold" pitchFamily="34" charset="-120"/>
              </a:rPr>
              <a:t>Proven now</a:t>
            </a:r>
            <a:endParaRPr lang="en-US" sz="1500" dirty="0"/>
          </a:p>
        </p:txBody>
      </p:sp>
      <p:sp>
        <p:nvSpPr>
          <p:cNvPr id="35" name="a3float_p0d"/>
          <p:cNvSpPr txBox="1"/>
          <p:nvPr/>
        </p:nvSpPr>
        <p:spPr>
          <a:xfrm>
            <a:off x="7132320" y="2468880"/>
            <a:ext cx="4343400" cy="777240"/>
          </a:xfrm>
          <a:prstGeom prst="rect">
            <a:avLst/>
          </a:prstGeom>
          <a:noFill/>
          <a:ln/>
        </p:spPr>
        <p:txBody>
          <a:bodyPr wrap="square" lIns="0" tIns="0" rIns="0" bIns="0" rtlCol="0" anchor="t"/>
          <a:lstStyle/>
          <a:p>
            <a:pPr marL="0" indent="0" algn="l">
              <a:lnSpc>
                <a:spcPct val="105000"/>
              </a:lnSpc>
              <a:buNone/>
            </a:pPr>
            <a:r>
              <a:rPr lang="en-US" sz="1200" dirty="0">
                <a:solidFill>
                  <a:srgbClr val="3A4D63"/>
                </a:solidFill>
                <a:latin typeface="Segoe UI" pitchFamily="34" charset="0"/>
                <a:ea typeface="Segoe UI" pitchFamily="34" charset="-122"/>
                <a:cs typeface="Segoe UI" pitchFamily="34" charset="-120"/>
              </a:rPr>
              <a:t>91 stands · 2 countries · 2 Sentinel-2 tiles · 65 unseen stands at 0.79 false alarms / stand-yr · compute &lt; $5 per site per year</a:t>
            </a:r>
            <a:endParaRPr lang="en-US" sz="1200" dirty="0"/>
          </a:p>
        </p:txBody>
      </p:sp>
      <p:sp>
        <p:nvSpPr>
          <p:cNvPr id="36" name="a5float_p1"/>
          <p:cNvSpPr/>
          <p:nvPr/>
        </p:nvSpPr>
        <p:spPr>
          <a:xfrm>
            <a:off x="6903720" y="3429000"/>
            <a:ext cx="4736592" cy="1261872"/>
          </a:xfrm>
          <a:prstGeom prst="roundRect">
            <a:avLst>
              <a:gd name="adj" fmla="val 10145"/>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37" name="a5pop_p1ic_c"/>
          <p:cNvSpPr/>
          <p:nvPr/>
        </p:nvSpPr>
        <p:spPr>
          <a:xfrm>
            <a:off x="6327648" y="3803904"/>
            <a:ext cx="512064" cy="512064"/>
          </a:xfrm>
          <a:prstGeom prst="ellipse">
            <a:avLst/>
          </a:prstGeom>
          <a:solidFill>
            <a:srgbClr val="3F6E9E">
              <a:alpha val="18000"/>
            </a:srgbClr>
          </a:solidFill>
          <a:ln w="12700">
            <a:solidFill>
              <a:srgbClr val="3F6E9E"/>
            </a:solidFill>
            <a:prstDash val="solid"/>
          </a:ln>
        </p:spPr>
      </p:sp>
      <p:pic>
        <p:nvPicPr>
          <p:cNvPr id="38" name="a5pop_p1ic_i" descr="preencoded.png"/>
          <p:cNvPicPr>
            <a:picLocks noChangeAspect="1"/>
          </p:cNvPicPr>
          <p:nvPr/>
        </p:nvPicPr>
        <p:blipFill>
          <a:blip r:embed="rId11"/>
          <a:stretch>
            <a:fillRect/>
          </a:stretch>
        </p:blipFill>
        <p:spPr>
          <a:xfrm>
            <a:off x="6450543" y="3926799"/>
            <a:ext cx="266273" cy="266273"/>
          </a:xfrm>
          <a:prstGeom prst="rect">
            <a:avLst/>
          </a:prstGeom>
        </p:spPr>
      </p:pic>
      <p:sp>
        <p:nvSpPr>
          <p:cNvPr id="39" name="a5float_p1t"/>
          <p:cNvSpPr txBox="1"/>
          <p:nvPr/>
        </p:nvSpPr>
        <p:spPr>
          <a:xfrm>
            <a:off x="7132320" y="3538728"/>
            <a:ext cx="429768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Incubation</a:t>
            </a:r>
            <a:endParaRPr lang="en-US" sz="1500" dirty="0"/>
          </a:p>
        </p:txBody>
      </p:sp>
      <p:sp>
        <p:nvSpPr>
          <p:cNvPr id="40" name="a5float_p1d"/>
          <p:cNvSpPr txBox="1"/>
          <p:nvPr/>
        </p:nvSpPr>
        <p:spPr>
          <a:xfrm>
            <a:off x="7132320" y="3867912"/>
            <a:ext cx="4343400" cy="777240"/>
          </a:xfrm>
          <a:prstGeom prst="rect">
            <a:avLst/>
          </a:prstGeom>
          <a:noFill/>
          <a:ln/>
        </p:spPr>
        <p:txBody>
          <a:bodyPr wrap="square" lIns="0" tIns="0" rIns="0" bIns="0" rtlCol="0" anchor="t"/>
          <a:lstStyle/>
          <a:p>
            <a:pPr marL="0" indent="0" algn="l">
              <a:lnSpc>
                <a:spcPct val="105000"/>
              </a:lnSpc>
              <a:buNone/>
            </a:pPr>
            <a:r>
              <a:rPr lang="en-US" sz="1200" dirty="0">
                <a:solidFill>
                  <a:srgbClr val="3A4D63"/>
                </a:solidFill>
                <a:latin typeface="Segoe UI" pitchFamily="34" charset="0"/>
                <a:ea typeface="Segoe UI" pitchFamily="34" charset="-122"/>
                <a:cs typeface="Segoe UI" pitchFamily="34" charset="-120"/>
              </a:rPr>
              <a:t>Satellite 813 in the spectral step · deployment on gIQ · a pilot customer + site records · more EnMAP dates</a:t>
            </a:r>
            <a:endParaRPr lang="en-US" sz="1200" dirty="0"/>
          </a:p>
        </p:txBody>
      </p:sp>
      <p:sp>
        <p:nvSpPr>
          <p:cNvPr id="41" name="a7float_p2"/>
          <p:cNvSpPr/>
          <p:nvPr/>
        </p:nvSpPr>
        <p:spPr>
          <a:xfrm>
            <a:off x="6903720" y="4828032"/>
            <a:ext cx="4736592" cy="1261872"/>
          </a:xfrm>
          <a:prstGeom prst="roundRect">
            <a:avLst>
              <a:gd name="adj" fmla="val 10145"/>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42" name="a7pop_p2ic_c"/>
          <p:cNvSpPr/>
          <p:nvPr/>
        </p:nvSpPr>
        <p:spPr>
          <a:xfrm>
            <a:off x="6327648" y="5202936"/>
            <a:ext cx="512064" cy="512064"/>
          </a:xfrm>
          <a:prstGeom prst="ellipse">
            <a:avLst/>
          </a:prstGeom>
          <a:solidFill>
            <a:srgbClr val="3F6E9E">
              <a:alpha val="18000"/>
            </a:srgbClr>
          </a:solidFill>
          <a:ln w="12700">
            <a:solidFill>
              <a:srgbClr val="3F6E9E"/>
            </a:solidFill>
            <a:prstDash val="solid"/>
          </a:ln>
        </p:spPr>
      </p:sp>
      <p:pic>
        <p:nvPicPr>
          <p:cNvPr id="43" name="a7pop_p2ic_i" descr="preencoded.png"/>
          <p:cNvPicPr>
            <a:picLocks noChangeAspect="1"/>
          </p:cNvPicPr>
          <p:nvPr/>
        </p:nvPicPr>
        <p:blipFill>
          <a:blip r:embed="rId12"/>
          <a:stretch>
            <a:fillRect/>
          </a:stretch>
        </p:blipFill>
        <p:spPr>
          <a:xfrm>
            <a:off x="6450543" y="5325831"/>
            <a:ext cx="266273" cy="266273"/>
          </a:xfrm>
          <a:prstGeom prst="rect">
            <a:avLst/>
          </a:prstGeom>
        </p:spPr>
      </p:pic>
      <p:sp>
        <p:nvSpPr>
          <p:cNvPr id="44" name="a7float_p2t"/>
          <p:cNvSpPr txBox="1"/>
          <p:nvPr/>
        </p:nvSpPr>
        <p:spPr>
          <a:xfrm>
            <a:off x="7132320" y="4937760"/>
            <a:ext cx="429768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Scale</a:t>
            </a:r>
            <a:endParaRPr lang="en-US" sz="1500" dirty="0"/>
          </a:p>
        </p:txBody>
      </p:sp>
      <p:sp>
        <p:nvSpPr>
          <p:cNvPr id="45" name="a7float_p2d"/>
          <p:cNvSpPr txBox="1"/>
          <p:nvPr/>
        </p:nvSpPr>
        <p:spPr>
          <a:xfrm>
            <a:off x="7132320" y="5266944"/>
            <a:ext cx="4343400" cy="777240"/>
          </a:xfrm>
          <a:prstGeom prst="rect">
            <a:avLst/>
          </a:prstGeom>
          <a:noFill/>
          <a:ln/>
        </p:spPr>
        <p:txBody>
          <a:bodyPr wrap="square" lIns="0" tIns="0" rIns="0" bIns="0" rtlCol="0" anchor="t"/>
          <a:lstStyle/>
          <a:p>
            <a:pPr marL="0" indent="0" algn="l">
              <a:lnSpc>
                <a:spcPct val="105000"/>
              </a:lnSpc>
              <a:buNone/>
            </a:pPr>
            <a:r>
              <a:rPr lang="en-US" sz="1200" dirty="0">
                <a:solidFill>
                  <a:srgbClr val="3A4D63"/>
                </a:solidFill>
                <a:latin typeface="Segoe UI" pitchFamily="34" charset="0"/>
                <a:ea typeface="Segoe UI" pitchFamily="34" charset="-122"/>
                <a:cs typeface="Segoe UI" pitchFamily="34" charset="-120"/>
              </a:rPr>
              <a:t>Gulf ≈ 165 km² + Red Sea ≈ 200 km² of mangrove · sub-metre data for small stands (Bahrain) · national MRV, licensing</a:t>
            </a:r>
            <a:endParaRPr lang="en-US" sz="1200" dirty="0"/>
          </a:p>
        </p:txBody>
      </p:sp>
      <p:sp>
        <p:nvSpPr>
          <p:cNvPr id="46" name="a8fade_src"/>
          <p:cNvSpPr txBox="1"/>
          <p:nvPr/>
        </p:nvSpPr>
        <p:spPr>
          <a:xfrm>
            <a:off x="6263640" y="6172200"/>
            <a:ext cx="4754880" cy="201168"/>
          </a:xfrm>
          <a:prstGeom prst="rect">
            <a:avLst/>
          </a:prstGeom>
          <a:noFill/>
          <a:ln/>
        </p:spPr>
        <p:txBody>
          <a:bodyPr wrap="square" lIns="0" tIns="0" rIns="0" bIns="0" rtlCol="0" anchor="t"/>
          <a:lstStyle/>
          <a:p>
            <a:pPr marL="0" indent="0" algn="l">
              <a:lnSpc>
                <a:spcPct val="105000"/>
              </a:lnSpc>
              <a:buNone/>
            </a:pPr>
            <a:r>
              <a:rPr lang="en-US" sz="900" dirty="0">
                <a:solidFill>
                  <a:srgbClr val="8A9BB0"/>
                </a:solidFill>
                <a:latin typeface="Segoe UI" pitchFamily="34" charset="0"/>
                <a:ea typeface="Segoe UI" pitchFamily="34" charset="-122"/>
                <a:cs typeface="Segoe UI" pitchFamily="34" charset="-120"/>
              </a:rPr>
              <a:t>Areas: Frontiers in Marine Science 2025. Compute measured; prices assumed.</a:t>
            </a:r>
            <a:endParaRPr lang="en-US" sz="900" dirty="0"/>
          </a:p>
        </p:txBody>
      </p:sp>
      <p:sp>
        <p:nvSpPr>
          <p:cNvPr id="47"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10" presetClass="entr" presetSubtype="0" decel="100000" fill="hold" grpId="0" nodeType="withEffect">
                                  <p:stCondLst>
                                    <p:cond delay="47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par>
                                <p:cTn id="23" presetID="42" presetClass="entr" presetSubtype="0" decel="100000" fill="hold" grpId="0" nodeType="withEffect">
                                  <p:stCondLst>
                                    <p:cond delay="69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700"/>
                                        <p:tgtEl>
                                          <p:spTgt spid="9"/>
                                        </p:tgtEl>
                                      </p:cBhvr>
                                    </p:animEffect>
                                    <p:anim calcmode="lin" valueType="num">
                                      <p:cBhvr additive="base">
                                        <p:cTn id="26" dur="700" fill="hold"/>
                                        <p:tgtEl>
                                          <p:spTgt spid="9"/>
                                        </p:tgtEl>
                                        <p:attrNameLst>
                                          <p:attrName>ppt_y</p:attrName>
                                        </p:attrNameLst>
                                      </p:cBhvr>
                                      <p:tavLst>
                                        <p:tav tm="0">
                                          <p:val>
                                            <p:strVal val="#ppt_y+0.03"/>
                                          </p:val>
                                        </p:tav>
                                        <p:tav tm="100000">
                                          <p:val>
                                            <p:strVal val="#ppt_y"/>
                                          </p:val>
                                        </p:tav>
                                      </p:tavLst>
                                    </p:anim>
                                  </p:childTnLst>
                                </p:cTn>
                              </p:par>
                              <p:par>
                                <p:cTn id="27" presetID="42" presetClass="entr" presetSubtype="0" decel="100000" fill="hold" grpId="0" nodeType="withEffect">
                                  <p:stCondLst>
                                    <p:cond delay="69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700"/>
                                        <p:tgtEl>
                                          <p:spTgt spid="10"/>
                                        </p:tgtEl>
                                      </p:cBhvr>
                                    </p:animEffect>
                                    <p:anim calcmode="lin" valueType="num">
                                      <p:cBhvr additive="base">
                                        <p:cTn id="30" dur="700" fill="hold"/>
                                        <p:tgtEl>
                                          <p:spTgt spid="10"/>
                                        </p:tgtEl>
                                        <p:attrNameLst>
                                          <p:attrName>ppt_y</p:attrName>
                                        </p:attrNameLst>
                                      </p:cBhvr>
                                      <p:tavLst>
                                        <p:tav tm="0">
                                          <p:val>
                                            <p:strVal val="#ppt_y+0.03"/>
                                          </p:val>
                                        </p:tav>
                                        <p:tav tm="100000">
                                          <p:val>
                                            <p:strVal val="#ppt_y"/>
                                          </p:val>
                                        </p:tav>
                                      </p:tavLst>
                                    </p:anim>
                                  </p:childTnLst>
                                </p:cTn>
                              </p:par>
                              <p:par>
                                <p:cTn id="31" presetID="42" presetClass="entr" presetSubtype="0" decel="100000" fill="hold" grpId="0" nodeType="withEffect">
                                  <p:stCondLst>
                                    <p:cond delay="69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700"/>
                                        <p:tgtEl>
                                          <p:spTgt spid="11"/>
                                        </p:tgtEl>
                                      </p:cBhvr>
                                    </p:animEffect>
                                    <p:anim calcmode="lin" valueType="num">
                                      <p:cBhvr additive="base">
                                        <p:cTn id="34" dur="700" fill="hold"/>
                                        <p:tgtEl>
                                          <p:spTgt spid="11"/>
                                        </p:tgtEl>
                                        <p:attrNameLst>
                                          <p:attrName>ppt_y</p:attrName>
                                        </p:attrNameLst>
                                      </p:cBhvr>
                                      <p:tavLst>
                                        <p:tav tm="0">
                                          <p:val>
                                            <p:strVal val="#ppt_y+0.03"/>
                                          </p:val>
                                        </p:tav>
                                        <p:tav tm="100000">
                                          <p:val>
                                            <p:strVal val="#ppt_y"/>
                                          </p:val>
                                        </p:tav>
                                      </p:tavLst>
                                    </p:anim>
                                  </p:childTnLst>
                                </p:cTn>
                              </p:par>
                              <p:par>
                                <p:cTn id="35" presetID="42" presetClass="entr" presetSubtype="0" decel="100000" fill="hold" grpId="0" nodeType="withEffect">
                                  <p:stCondLst>
                                    <p:cond delay="69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700"/>
                                        <p:tgtEl>
                                          <p:spTgt spid="12"/>
                                        </p:tgtEl>
                                      </p:cBhvr>
                                    </p:animEffect>
                                    <p:anim calcmode="lin" valueType="num">
                                      <p:cBhvr additive="base">
                                        <p:cTn id="38" dur="700" fill="hold"/>
                                        <p:tgtEl>
                                          <p:spTgt spid="12"/>
                                        </p:tgtEl>
                                        <p:attrNameLst>
                                          <p:attrName>ppt_y</p:attrName>
                                        </p:attrNameLst>
                                      </p:cBhvr>
                                      <p:tavLst>
                                        <p:tav tm="0">
                                          <p:val>
                                            <p:strVal val="#ppt_y+0.03"/>
                                          </p:val>
                                        </p:tav>
                                        <p:tav tm="100000">
                                          <p:val>
                                            <p:strVal val="#ppt_y"/>
                                          </p:val>
                                        </p:tav>
                                      </p:tavLst>
                                    </p:anim>
                                  </p:childTnLst>
                                </p:cTn>
                              </p:par>
                              <p:par>
                                <p:cTn id="39" presetID="10" presetClass="entr" presetSubtype="0" decel="100000" fill="hold" grpId="0" nodeType="withEffect">
                                  <p:stCondLst>
                                    <p:cond delay="69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600"/>
                                        <p:tgtEl>
                                          <p:spTgt spid="30"/>
                                        </p:tgtEl>
                                      </p:cBhvr>
                                    </p:animEffect>
                                  </p:childTnLst>
                                </p:cTn>
                              </p:par>
                              <p:par>
                                <p:cTn id="42" presetID="42" presetClass="entr" presetSubtype="0" decel="100000" fill="hold" grpId="0" nodeType="withEffect">
                                  <p:stCondLst>
                                    <p:cond delay="91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700"/>
                                        <p:tgtEl>
                                          <p:spTgt spid="13"/>
                                        </p:tgtEl>
                                      </p:cBhvr>
                                    </p:animEffect>
                                    <p:anim calcmode="lin" valueType="num">
                                      <p:cBhvr additive="base">
                                        <p:cTn id="45" dur="700" fill="hold"/>
                                        <p:tgtEl>
                                          <p:spTgt spid="13"/>
                                        </p:tgtEl>
                                        <p:attrNameLst>
                                          <p:attrName>ppt_y</p:attrName>
                                        </p:attrNameLst>
                                      </p:cBhvr>
                                      <p:tavLst>
                                        <p:tav tm="0">
                                          <p:val>
                                            <p:strVal val="#ppt_y+0.03"/>
                                          </p:val>
                                        </p:tav>
                                        <p:tav tm="100000">
                                          <p:val>
                                            <p:strVal val="#ppt_y"/>
                                          </p:val>
                                        </p:tav>
                                      </p:tavLst>
                                    </p:anim>
                                  </p:childTnLst>
                                </p:cTn>
                              </p:par>
                              <p:par>
                                <p:cTn id="46" presetID="42" presetClass="entr" presetSubtype="0" decel="100000" fill="hold" grpId="0" nodeType="withEffect">
                                  <p:stCondLst>
                                    <p:cond delay="91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700"/>
                                        <p:tgtEl>
                                          <p:spTgt spid="14"/>
                                        </p:tgtEl>
                                      </p:cBhvr>
                                    </p:animEffect>
                                    <p:anim calcmode="lin" valueType="num">
                                      <p:cBhvr additive="base">
                                        <p:cTn id="49" dur="700" fill="hold"/>
                                        <p:tgtEl>
                                          <p:spTgt spid="14"/>
                                        </p:tgtEl>
                                        <p:attrNameLst>
                                          <p:attrName>ppt_y</p:attrName>
                                        </p:attrNameLst>
                                      </p:cBhvr>
                                      <p:tavLst>
                                        <p:tav tm="0">
                                          <p:val>
                                            <p:strVal val="#ppt_y+0.03"/>
                                          </p:val>
                                        </p:tav>
                                        <p:tav tm="100000">
                                          <p:val>
                                            <p:strVal val="#ppt_y"/>
                                          </p:val>
                                        </p:tav>
                                      </p:tavLst>
                                    </p:anim>
                                  </p:childTnLst>
                                </p:cTn>
                              </p:par>
                              <p:par>
                                <p:cTn id="50" presetID="42" presetClass="entr" presetSubtype="0" decel="100000" fill="hold" grpId="0" nodeType="withEffect">
                                  <p:stCondLst>
                                    <p:cond delay="91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700"/>
                                        <p:tgtEl>
                                          <p:spTgt spid="15"/>
                                        </p:tgtEl>
                                      </p:cBhvr>
                                    </p:animEffect>
                                    <p:anim calcmode="lin" valueType="num">
                                      <p:cBhvr additive="base">
                                        <p:cTn id="53" dur="700" fill="hold"/>
                                        <p:tgtEl>
                                          <p:spTgt spid="15"/>
                                        </p:tgtEl>
                                        <p:attrNameLst>
                                          <p:attrName>ppt_y</p:attrName>
                                        </p:attrNameLst>
                                      </p:cBhvr>
                                      <p:tavLst>
                                        <p:tav tm="0">
                                          <p:val>
                                            <p:strVal val="#ppt_y+0.03"/>
                                          </p:val>
                                        </p:tav>
                                        <p:tav tm="100000">
                                          <p:val>
                                            <p:strVal val="#ppt_y"/>
                                          </p:val>
                                        </p:tav>
                                      </p:tavLst>
                                    </p:anim>
                                  </p:childTnLst>
                                </p:cTn>
                              </p:par>
                              <p:par>
                                <p:cTn id="54" presetID="42" presetClass="entr" presetSubtype="0" decel="100000" fill="hold" grpId="0" nodeType="withEffect">
                                  <p:stCondLst>
                                    <p:cond delay="91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700"/>
                                        <p:tgtEl>
                                          <p:spTgt spid="16"/>
                                        </p:tgtEl>
                                      </p:cBhvr>
                                    </p:animEffect>
                                    <p:anim calcmode="lin" valueType="num">
                                      <p:cBhvr additive="base">
                                        <p:cTn id="57" dur="700" fill="hold"/>
                                        <p:tgtEl>
                                          <p:spTgt spid="16"/>
                                        </p:tgtEl>
                                        <p:attrNameLst>
                                          <p:attrName>ppt_y</p:attrName>
                                        </p:attrNameLst>
                                      </p:cBhvr>
                                      <p:tavLst>
                                        <p:tav tm="0">
                                          <p:val>
                                            <p:strVal val="#ppt_y+0.03"/>
                                          </p:val>
                                        </p:tav>
                                        <p:tav tm="100000">
                                          <p:val>
                                            <p:strVal val="#ppt_y"/>
                                          </p:val>
                                        </p:tav>
                                      </p:tavLst>
                                    </p:anim>
                                  </p:childTnLst>
                                </p:cTn>
                              </p:par>
                              <p:par>
                                <p:cTn id="58" presetID="42" presetClass="entr" presetSubtype="0" decel="100000" fill="hold" grpId="0" nodeType="withEffect">
                                  <p:stCondLst>
                                    <p:cond delay="91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700"/>
                                        <p:tgtEl>
                                          <p:spTgt spid="31"/>
                                        </p:tgtEl>
                                      </p:cBhvr>
                                    </p:animEffect>
                                    <p:anim calcmode="lin" valueType="num">
                                      <p:cBhvr additive="base">
                                        <p:cTn id="61" dur="700" fill="hold"/>
                                        <p:tgtEl>
                                          <p:spTgt spid="31"/>
                                        </p:tgtEl>
                                        <p:attrNameLst>
                                          <p:attrName>ppt_y</p:attrName>
                                        </p:attrNameLst>
                                      </p:cBhvr>
                                      <p:tavLst>
                                        <p:tav tm="0">
                                          <p:val>
                                            <p:strVal val="#ppt_y+0.03"/>
                                          </p:val>
                                        </p:tav>
                                        <p:tav tm="100000">
                                          <p:val>
                                            <p:strVal val="#ppt_y"/>
                                          </p:val>
                                        </p:tav>
                                      </p:tavLst>
                                    </p:anim>
                                  </p:childTnLst>
                                </p:cTn>
                              </p:par>
                              <p:par>
                                <p:cTn id="62" presetID="53" presetClass="entr" presetSubtype="16" decel="100000" fill="hold" grpId="0" nodeType="withEffect">
                                  <p:stCondLst>
                                    <p:cond delay="91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450"/>
                                        <p:tgtEl>
                                          <p:spTgt spid="32"/>
                                        </p:tgtEl>
                                      </p:cBhvr>
                                    </p:animEffect>
                                    <p:anim calcmode="lin" valueType="num">
                                      <p:cBhvr additive="base">
                                        <p:cTn id="65" dur="450" fill="hold"/>
                                        <p:tgtEl>
                                          <p:spTgt spid="32"/>
                                        </p:tgtEl>
                                        <p:attrNameLst>
                                          <p:attrName>ppt_w</p:attrName>
                                        </p:attrNameLst>
                                      </p:cBhvr>
                                      <p:tavLst>
                                        <p:tav tm="0">
                                          <p:val>
                                            <p:strVal val="#ppt_w*0.2"/>
                                          </p:val>
                                        </p:tav>
                                        <p:tav tm="100000">
                                          <p:val>
                                            <p:strVal val="#ppt_w"/>
                                          </p:val>
                                        </p:tav>
                                      </p:tavLst>
                                    </p:anim>
                                    <p:anim calcmode="lin" valueType="num">
                                      <p:cBhvr additive="base">
                                        <p:cTn id="66" dur="450" fill="hold"/>
                                        <p:tgtEl>
                                          <p:spTgt spid="32"/>
                                        </p:tgtEl>
                                        <p:attrNameLst>
                                          <p:attrName>ppt_h</p:attrName>
                                        </p:attrNameLst>
                                      </p:cBhvr>
                                      <p:tavLst>
                                        <p:tav tm="0">
                                          <p:val>
                                            <p:strVal val="#ppt_h*0.2"/>
                                          </p:val>
                                        </p:tav>
                                        <p:tav tm="100000">
                                          <p:val>
                                            <p:strVal val="#ppt_h"/>
                                          </p:val>
                                        </p:tav>
                                      </p:tavLst>
                                    </p:anim>
                                  </p:childTnLst>
                                </p:cTn>
                              </p:par>
                              <p:par>
                                <p:cTn id="67" presetID="53" presetClass="entr" presetSubtype="16" decel="100000" fill="hold" grpId="0" nodeType="withEffect">
                                  <p:stCondLst>
                                    <p:cond delay="91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450"/>
                                        <p:tgtEl>
                                          <p:spTgt spid="33"/>
                                        </p:tgtEl>
                                      </p:cBhvr>
                                    </p:animEffect>
                                    <p:anim calcmode="lin" valueType="num">
                                      <p:cBhvr additive="base">
                                        <p:cTn id="70" dur="450" fill="hold"/>
                                        <p:tgtEl>
                                          <p:spTgt spid="33"/>
                                        </p:tgtEl>
                                        <p:attrNameLst>
                                          <p:attrName>ppt_w</p:attrName>
                                        </p:attrNameLst>
                                      </p:cBhvr>
                                      <p:tavLst>
                                        <p:tav tm="0">
                                          <p:val>
                                            <p:strVal val="#ppt_w*0.2"/>
                                          </p:val>
                                        </p:tav>
                                        <p:tav tm="100000">
                                          <p:val>
                                            <p:strVal val="#ppt_w"/>
                                          </p:val>
                                        </p:tav>
                                      </p:tavLst>
                                    </p:anim>
                                    <p:anim calcmode="lin" valueType="num">
                                      <p:cBhvr additive="base">
                                        <p:cTn id="71" dur="450" fill="hold"/>
                                        <p:tgtEl>
                                          <p:spTgt spid="33"/>
                                        </p:tgtEl>
                                        <p:attrNameLst>
                                          <p:attrName>ppt_h</p:attrName>
                                        </p:attrNameLst>
                                      </p:cBhvr>
                                      <p:tavLst>
                                        <p:tav tm="0">
                                          <p:val>
                                            <p:strVal val="#ppt_h*0.2"/>
                                          </p:val>
                                        </p:tav>
                                        <p:tav tm="100000">
                                          <p:val>
                                            <p:strVal val="#ppt_h"/>
                                          </p:val>
                                        </p:tav>
                                      </p:tavLst>
                                    </p:anim>
                                  </p:childTnLst>
                                </p:cTn>
                              </p:par>
                              <p:par>
                                <p:cTn id="72" presetID="42" presetClass="entr" presetSubtype="0" decel="100000" fill="hold" grpId="0" nodeType="withEffect">
                                  <p:stCondLst>
                                    <p:cond delay="91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700"/>
                                        <p:tgtEl>
                                          <p:spTgt spid="34"/>
                                        </p:tgtEl>
                                      </p:cBhvr>
                                    </p:animEffect>
                                    <p:anim calcmode="lin" valueType="num">
                                      <p:cBhvr additive="base">
                                        <p:cTn id="75" dur="700" fill="hold"/>
                                        <p:tgtEl>
                                          <p:spTgt spid="34"/>
                                        </p:tgtEl>
                                        <p:attrNameLst>
                                          <p:attrName>ppt_y</p:attrName>
                                        </p:attrNameLst>
                                      </p:cBhvr>
                                      <p:tavLst>
                                        <p:tav tm="0">
                                          <p:val>
                                            <p:strVal val="#ppt_y+0.03"/>
                                          </p:val>
                                        </p:tav>
                                        <p:tav tm="100000">
                                          <p:val>
                                            <p:strVal val="#ppt_y"/>
                                          </p:val>
                                        </p:tav>
                                      </p:tavLst>
                                    </p:anim>
                                  </p:childTnLst>
                                </p:cTn>
                              </p:par>
                              <p:par>
                                <p:cTn id="76" presetID="42" presetClass="entr" presetSubtype="0" decel="100000" fill="hold" grpId="0" nodeType="withEffect">
                                  <p:stCondLst>
                                    <p:cond delay="91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700"/>
                                        <p:tgtEl>
                                          <p:spTgt spid="35"/>
                                        </p:tgtEl>
                                      </p:cBhvr>
                                    </p:animEffect>
                                    <p:anim calcmode="lin" valueType="num">
                                      <p:cBhvr additive="base">
                                        <p:cTn id="79" dur="700" fill="hold"/>
                                        <p:tgtEl>
                                          <p:spTgt spid="35"/>
                                        </p:tgtEl>
                                        <p:attrNameLst>
                                          <p:attrName>ppt_y</p:attrName>
                                        </p:attrNameLst>
                                      </p:cBhvr>
                                      <p:tavLst>
                                        <p:tav tm="0">
                                          <p:val>
                                            <p:strVal val="#ppt_y+0.03"/>
                                          </p:val>
                                        </p:tav>
                                        <p:tav tm="100000">
                                          <p:val>
                                            <p:strVal val="#ppt_y"/>
                                          </p:val>
                                        </p:tav>
                                      </p:tavLst>
                                    </p:anim>
                                  </p:childTnLst>
                                </p:cTn>
                              </p:par>
                              <p:par>
                                <p:cTn id="80" presetID="42" presetClass="entr" presetSubtype="0" decel="100000" fill="hold" grpId="0" nodeType="withEffect">
                                  <p:stCondLst>
                                    <p:cond delay="113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700"/>
                                        <p:tgtEl>
                                          <p:spTgt spid="17"/>
                                        </p:tgtEl>
                                      </p:cBhvr>
                                    </p:animEffect>
                                    <p:anim calcmode="lin" valueType="num">
                                      <p:cBhvr additive="base">
                                        <p:cTn id="83" dur="700" fill="hold"/>
                                        <p:tgtEl>
                                          <p:spTgt spid="17"/>
                                        </p:tgtEl>
                                        <p:attrNameLst>
                                          <p:attrName>ppt_y</p:attrName>
                                        </p:attrNameLst>
                                      </p:cBhvr>
                                      <p:tavLst>
                                        <p:tav tm="0">
                                          <p:val>
                                            <p:strVal val="#ppt_y+0.03"/>
                                          </p:val>
                                        </p:tav>
                                        <p:tav tm="100000">
                                          <p:val>
                                            <p:strVal val="#ppt_y"/>
                                          </p:val>
                                        </p:tav>
                                      </p:tavLst>
                                    </p:anim>
                                  </p:childTnLst>
                                </p:cTn>
                              </p:par>
                              <p:par>
                                <p:cTn id="84" presetID="42" presetClass="entr" presetSubtype="0" decel="100000" fill="hold" grpId="0" nodeType="withEffect">
                                  <p:stCondLst>
                                    <p:cond delay="113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700"/>
                                        <p:tgtEl>
                                          <p:spTgt spid="18"/>
                                        </p:tgtEl>
                                      </p:cBhvr>
                                    </p:animEffect>
                                    <p:anim calcmode="lin" valueType="num">
                                      <p:cBhvr additive="base">
                                        <p:cTn id="87" dur="700" fill="hold"/>
                                        <p:tgtEl>
                                          <p:spTgt spid="18"/>
                                        </p:tgtEl>
                                        <p:attrNameLst>
                                          <p:attrName>ppt_y</p:attrName>
                                        </p:attrNameLst>
                                      </p:cBhvr>
                                      <p:tavLst>
                                        <p:tav tm="0">
                                          <p:val>
                                            <p:strVal val="#ppt_y+0.03"/>
                                          </p:val>
                                        </p:tav>
                                        <p:tav tm="100000">
                                          <p:val>
                                            <p:strVal val="#ppt_y"/>
                                          </p:val>
                                        </p:tav>
                                      </p:tavLst>
                                    </p:anim>
                                  </p:childTnLst>
                                </p:cTn>
                              </p:par>
                              <p:par>
                                <p:cTn id="88" presetID="42" presetClass="entr" presetSubtype="0" decel="100000" fill="hold" grpId="0" nodeType="withEffect">
                                  <p:stCondLst>
                                    <p:cond delay="1130"/>
                                  </p:stCondLst>
                                  <p:childTnLst>
                                    <p:set>
                                      <p:cBhvr>
                                        <p:cTn id="89" dur="1" fill="hold">
                                          <p:stCondLst>
                                            <p:cond delay="0"/>
                                          </p:stCondLst>
                                        </p:cTn>
                                        <p:tgtEl>
                                          <p:spTgt spid="19"/>
                                        </p:tgtEl>
                                        <p:attrNameLst>
                                          <p:attrName>style.visibility</p:attrName>
                                        </p:attrNameLst>
                                      </p:cBhvr>
                                      <p:to>
                                        <p:strVal val="visible"/>
                                      </p:to>
                                    </p:set>
                                    <p:animEffect transition="in" filter="fade">
                                      <p:cBhvr>
                                        <p:cTn id="90" dur="700"/>
                                        <p:tgtEl>
                                          <p:spTgt spid="19"/>
                                        </p:tgtEl>
                                      </p:cBhvr>
                                    </p:animEffect>
                                    <p:anim calcmode="lin" valueType="num">
                                      <p:cBhvr additive="base">
                                        <p:cTn id="91" dur="700" fill="hold"/>
                                        <p:tgtEl>
                                          <p:spTgt spid="19"/>
                                        </p:tgtEl>
                                        <p:attrNameLst>
                                          <p:attrName>ppt_y</p:attrName>
                                        </p:attrNameLst>
                                      </p:cBhvr>
                                      <p:tavLst>
                                        <p:tav tm="0">
                                          <p:val>
                                            <p:strVal val="#ppt_y+0.03"/>
                                          </p:val>
                                        </p:tav>
                                        <p:tav tm="100000">
                                          <p:val>
                                            <p:strVal val="#ppt_y"/>
                                          </p:val>
                                        </p:tav>
                                      </p:tavLst>
                                    </p:anim>
                                  </p:childTnLst>
                                </p:cTn>
                              </p:par>
                              <p:par>
                                <p:cTn id="92" presetID="42" presetClass="entr" presetSubtype="0" decel="100000" fill="hold" grpId="0" nodeType="withEffect">
                                  <p:stCondLst>
                                    <p:cond delay="1130"/>
                                  </p:stCondLst>
                                  <p:childTnLst>
                                    <p:set>
                                      <p:cBhvr>
                                        <p:cTn id="93" dur="1" fill="hold">
                                          <p:stCondLst>
                                            <p:cond delay="0"/>
                                          </p:stCondLst>
                                        </p:cTn>
                                        <p:tgtEl>
                                          <p:spTgt spid="20"/>
                                        </p:tgtEl>
                                        <p:attrNameLst>
                                          <p:attrName>style.visibility</p:attrName>
                                        </p:attrNameLst>
                                      </p:cBhvr>
                                      <p:to>
                                        <p:strVal val="visible"/>
                                      </p:to>
                                    </p:set>
                                    <p:animEffect transition="in" filter="fade">
                                      <p:cBhvr>
                                        <p:cTn id="94" dur="700"/>
                                        <p:tgtEl>
                                          <p:spTgt spid="20"/>
                                        </p:tgtEl>
                                      </p:cBhvr>
                                    </p:animEffect>
                                    <p:anim calcmode="lin" valueType="num">
                                      <p:cBhvr additive="base">
                                        <p:cTn id="95" dur="700" fill="hold"/>
                                        <p:tgtEl>
                                          <p:spTgt spid="20"/>
                                        </p:tgtEl>
                                        <p:attrNameLst>
                                          <p:attrName>ppt_y</p:attrName>
                                        </p:attrNameLst>
                                      </p:cBhvr>
                                      <p:tavLst>
                                        <p:tav tm="0">
                                          <p:val>
                                            <p:strVal val="#ppt_y+0.03"/>
                                          </p:val>
                                        </p:tav>
                                        <p:tav tm="100000">
                                          <p:val>
                                            <p:strVal val="#ppt_y"/>
                                          </p:val>
                                        </p:tav>
                                      </p:tavLst>
                                    </p:anim>
                                  </p:childTnLst>
                                </p:cTn>
                              </p:par>
                              <p:par>
                                <p:cTn id="96" presetID="42" presetClass="entr" presetSubtype="0" decel="100000" fill="hold" grpId="0" nodeType="withEffect">
                                  <p:stCondLst>
                                    <p:cond delay="135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700"/>
                                        <p:tgtEl>
                                          <p:spTgt spid="21"/>
                                        </p:tgtEl>
                                      </p:cBhvr>
                                    </p:animEffect>
                                    <p:anim calcmode="lin" valueType="num">
                                      <p:cBhvr additive="base">
                                        <p:cTn id="99" dur="700" fill="hold"/>
                                        <p:tgtEl>
                                          <p:spTgt spid="21"/>
                                        </p:tgtEl>
                                        <p:attrNameLst>
                                          <p:attrName>ppt_y</p:attrName>
                                        </p:attrNameLst>
                                      </p:cBhvr>
                                      <p:tavLst>
                                        <p:tav tm="0">
                                          <p:val>
                                            <p:strVal val="#ppt_y+0.03"/>
                                          </p:val>
                                        </p:tav>
                                        <p:tav tm="100000">
                                          <p:val>
                                            <p:strVal val="#ppt_y"/>
                                          </p:val>
                                        </p:tav>
                                      </p:tavLst>
                                    </p:anim>
                                  </p:childTnLst>
                                </p:cTn>
                              </p:par>
                              <p:par>
                                <p:cTn id="100" presetID="42" presetClass="entr" presetSubtype="0" decel="100000" fill="hold" grpId="0" nodeType="withEffect">
                                  <p:stCondLst>
                                    <p:cond delay="1350"/>
                                  </p:stCondLst>
                                  <p:childTnLst>
                                    <p:set>
                                      <p:cBhvr>
                                        <p:cTn id="101" dur="1" fill="hold">
                                          <p:stCondLst>
                                            <p:cond delay="0"/>
                                          </p:stCondLst>
                                        </p:cTn>
                                        <p:tgtEl>
                                          <p:spTgt spid="22"/>
                                        </p:tgtEl>
                                        <p:attrNameLst>
                                          <p:attrName>style.visibility</p:attrName>
                                        </p:attrNameLst>
                                      </p:cBhvr>
                                      <p:to>
                                        <p:strVal val="visible"/>
                                      </p:to>
                                    </p:set>
                                    <p:animEffect transition="in" filter="fade">
                                      <p:cBhvr>
                                        <p:cTn id="102" dur="700"/>
                                        <p:tgtEl>
                                          <p:spTgt spid="22"/>
                                        </p:tgtEl>
                                      </p:cBhvr>
                                    </p:animEffect>
                                    <p:anim calcmode="lin" valueType="num">
                                      <p:cBhvr additive="base">
                                        <p:cTn id="103" dur="700" fill="hold"/>
                                        <p:tgtEl>
                                          <p:spTgt spid="22"/>
                                        </p:tgtEl>
                                        <p:attrNameLst>
                                          <p:attrName>ppt_y</p:attrName>
                                        </p:attrNameLst>
                                      </p:cBhvr>
                                      <p:tavLst>
                                        <p:tav tm="0">
                                          <p:val>
                                            <p:strVal val="#ppt_y+0.03"/>
                                          </p:val>
                                        </p:tav>
                                        <p:tav tm="100000">
                                          <p:val>
                                            <p:strVal val="#ppt_y"/>
                                          </p:val>
                                        </p:tav>
                                      </p:tavLst>
                                    </p:anim>
                                  </p:childTnLst>
                                </p:cTn>
                              </p:par>
                              <p:par>
                                <p:cTn id="104" presetID="42" presetClass="entr" presetSubtype="0" decel="100000" fill="hold" grpId="0" nodeType="withEffect">
                                  <p:stCondLst>
                                    <p:cond delay="1350"/>
                                  </p:stCondLst>
                                  <p:childTnLst>
                                    <p:set>
                                      <p:cBhvr>
                                        <p:cTn id="105" dur="1" fill="hold">
                                          <p:stCondLst>
                                            <p:cond delay="0"/>
                                          </p:stCondLst>
                                        </p:cTn>
                                        <p:tgtEl>
                                          <p:spTgt spid="23"/>
                                        </p:tgtEl>
                                        <p:attrNameLst>
                                          <p:attrName>style.visibility</p:attrName>
                                        </p:attrNameLst>
                                      </p:cBhvr>
                                      <p:to>
                                        <p:strVal val="visible"/>
                                      </p:to>
                                    </p:set>
                                    <p:animEffect transition="in" filter="fade">
                                      <p:cBhvr>
                                        <p:cTn id="106" dur="700"/>
                                        <p:tgtEl>
                                          <p:spTgt spid="23"/>
                                        </p:tgtEl>
                                      </p:cBhvr>
                                    </p:animEffect>
                                    <p:anim calcmode="lin" valueType="num">
                                      <p:cBhvr additive="base">
                                        <p:cTn id="107" dur="700" fill="hold"/>
                                        <p:tgtEl>
                                          <p:spTgt spid="23"/>
                                        </p:tgtEl>
                                        <p:attrNameLst>
                                          <p:attrName>ppt_y</p:attrName>
                                        </p:attrNameLst>
                                      </p:cBhvr>
                                      <p:tavLst>
                                        <p:tav tm="0">
                                          <p:val>
                                            <p:strVal val="#ppt_y+0.03"/>
                                          </p:val>
                                        </p:tav>
                                        <p:tav tm="100000">
                                          <p:val>
                                            <p:strVal val="#ppt_y"/>
                                          </p:val>
                                        </p:tav>
                                      </p:tavLst>
                                    </p:anim>
                                  </p:childTnLst>
                                </p:cTn>
                              </p:par>
                              <p:par>
                                <p:cTn id="108" presetID="42" presetClass="entr" presetSubtype="0" decel="100000" fill="hold" grpId="0" nodeType="withEffect">
                                  <p:stCondLst>
                                    <p:cond delay="135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700"/>
                                        <p:tgtEl>
                                          <p:spTgt spid="24"/>
                                        </p:tgtEl>
                                      </p:cBhvr>
                                    </p:animEffect>
                                    <p:anim calcmode="lin" valueType="num">
                                      <p:cBhvr additive="base">
                                        <p:cTn id="111" dur="700" fill="hold"/>
                                        <p:tgtEl>
                                          <p:spTgt spid="24"/>
                                        </p:tgtEl>
                                        <p:attrNameLst>
                                          <p:attrName>ppt_y</p:attrName>
                                        </p:attrNameLst>
                                      </p:cBhvr>
                                      <p:tavLst>
                                        <p:tav tm="0">
                                          <p:val>
                                            <p:strVal val="#ppt_y+0.03"/>
                                          </p:val>
                                        </p:tav>
                                        <p:tav tm="100000">
                                          <p:val>
                                            <p:strVal val="#ppt_y"/>
                                          </p:val>
                                        </p:tav>
                                      </p:tavLst>
                                    </p:anim>
                                  </p:childTnLst>
                                </p:cTn>
                              </p:par>
                              <p:par>
                                <p:cTn id="112" presetID="42" presetClass="entr" presetSubtype="0" decel="100000" fill="hold" grpId="0" nodeType="withEffect">
                                  <p:stCondLst>
                                    <p:cond delay="1350"/>
                                  </p:stCondLst>
                                  <p:childTnLst>
                                    <p:set>
                                      <p:cBhvr>
                                        <p:cTn id="113" dur="1" fill="hold">
                                          <p:stCondLst>
                                            <p:cond delay="0"/>
                                          </p:stCondLst>
                                        </p:cTn>
                                        <p:tgtEl>
                                          <p:spTgt spid="36"/>
                                        </p:tgtEl>
                                        <p:attrNameLst>
                                          <p:attrName>style.visibility</p:attrName>
                                        </p:attrNameLst>
                                      </p:cBhvr>
                                      <p:to>
                                        <p:strVal val="visible"/>
                                      </p:to>
                                    </p:set>
                                    <p:animEffect transition="in" filter="fade">
                                      <p:cBhvr>
                                        <p:cTn id="114" dur="700"/>
                                        <p:tgtEl>
                                          <p:spTgt spid="36"/>
                                        </p:tgtEl>
                                      </p:cBhvr>
                                    </p:animEffect>
                                    <p:anim calcmode="lin" valueType="num">
                                      <p:cBhvr additive="base">
                                        <p:cTn id="115" dur="700" fill="hold"/>
                                        <p:tgtEl>
                                          <p:spTgt spid="36"/>
                                        </p:tgtEl>
                                        <p:attrNameLst>
                                          <p:attrName>ppt_y</p:attrName>
                                        </p:attrNameLst>
                                      </p:cBhvr>
                                      <p:tavLst>
                                        <p:tav tm="0">
                                          <p:val>
                                            <p:strVal val="#ppt_y+0.03"/>
                                          </p:val>
                                        </p:tav>
                                        <p:tav tm="100000">
                                          <p:val>
                                            <p:strVal val="#ppt_y"/>
                                          </p:val>
                                        </p:tav>
                                      </p:tavLst>
                                    </p:anim>
                                  </p:childTnLst>
                                </p:cTn>
                              </p:par>
                              <p:par>
                                <p:cTn id="116" presetID="53" presetClass="entr" presetSubtype="16" decel="100000" fill="hold" grpId="0" nodeType="withEffect">
                                  <p:stCondLst>
                                    <p:cond delay="1350"/>
                                  </p:stCondLst>
                                  <p:childTnLst>
                                    <p:set>
                                      <p:cBhvr>
                                        <p:cTn id="117" dur="1" fill="hold">
                                          <p:stCondLst>
                                            <p:cond delay="0"/>
                                          </p:stCondLst>
                                        </p:cTn>
                                        <p:tgtEl>
                                          <p:spTgt spid="37"/>
                                        </p:tgtEl>
                                        <p:attrNameLst>
                                          <p:attrName>style.visibility</p:attrName>
                                        </p:attrNameLst>
                                      </p:cBhvr>
                                      <p:to>
                                        <p:strVal val="visible"/>
                                      </p:to>
                                    </p:set>
                                    <p:animEffect transition="in" filter="fade">
                                      <p:cBhvr>
                                        <p:cTn id="118" dur="450"/>
                                        <p:tgtEl>
                                          <p:spTgt spid="37"/>
                                        </p:tgtEl>
                                      </p:cBhvr>
                                    </p:animEffect>
                                    <p:anim calcmode="lin" valueType="num">
                                      <p:cBhvr additive="base">
                                        <p:cTn id="119" dur="450" fill="hold"/>
                                        <p:tgtEl>
                                          <p:spTgt spid="37"/>
                                        </p:tgtEl>
                                        <p:attrNameLst>
                                          <p:attrName>ppt_w</p:attrName>
                                        </p:attrNameLst>
                                      </p:cBhvr>
                                      <p:tavLst>
                                        <p:tav tm="0">
                                          <p:val>
                                            <p:strVal val="#ppt_w*0.2"/>
                                          </p:val>
                                        </p:tav>
                                        <p:tav tm="100000">
                                          <p:val>
                                            <p:strVal val="#ppt_w"/>
                                          </p:val>
                                        </p:tav>
                                      </p:tavLst>
                                    </p:anim>
                                    <p:anim calcmode="lin" valueType="num">
                                      <p:cBhvr additive="base">
                                        <p:cTn id="120" dur="450" fill="hold"/>
                                        <p:tgtEl>
                                          <p:spTgt spid="37"/>
                                        </p:tgtEl>
                                        <p:attrNameLst>
                                          <p:attrName>ppt_h</p:attrName>
                                        </p:attrNameLst>
                                      </p:cBhvr>
                                      <p:tavLst>
                                        <p:tav tm="0">
                                          <p:val>
                                            <p:strVal val="#ppt_h*0.2"/>
                                          </p:val>
                                        </p:tav>
                                        <p:tav tm="100000">
                                          <p:val>
                                            <p:strVal val="#ppt_h"/>
                                          </p:val>
                                        </p:tav>
                                      </p:tavLst>
                                    </p:anim>
                                  </p:childTnLst>
                                </p:cTn>
                              </p:par>
                              <p:par>
                                <p:cTn id="121" presetID="53" presetClass="entr" presetSubtype="16" decel="100000" fill="hold" grpId="0" nodeType="withEffect">
                                  <p:stCondLst>
                                    <p:cond delay="135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3" dur="450"/>
                                        <p:tgtEl>
                                          <p:spTgt spid="38"/>
                                        </p:tgtEl>
                                      </p:cBhvr>
                                    </p:animEffect>
                                    <p:anim calcmode="lin" valueType="num">
                                      <p:cBhvr additive="base">
                                        <p:cTn id="124" dur="450" fill="hold"/>
                                        <p:tgtEl>
                                          <p:spTgt spid="38"/>
                                        </p:tgtEl>
                                        <p:attrNameLst>
                                          <p:attrName>ppt_w</p:attrName>
                                        </p:attrNameLst>
                                      </p:cBhvr>
                                      <p:tavLst>
                                        <p:tav tm="0">
                                          <p:val>
                                            <p:strVal val="#ppt_w*0.2"/>
                                          </p:val>
                                        </p:tav>
                                        <p:tav tm="100000">
                                          <p:val>
                                            <p:strVal val="#ppt_w"/>
                                          </p:val>
                                        </p:tav>
                                      </p:tavLst>
                                    </p:anim>
                                    <p:anim calcmode="lin" valueType="num">
                                      <p:cBhvr additive="base">
                                        <p:cTn id="125" dur="450" fill="hold"/>
                                        <p:tgtEl>
                                          <p:spTgt spid="38"/>
                                        </p:tgtEl>
                                        <p:attrNameLst>
                                          <p:attrName>ppt_h</p:attrName>
                                        </p:attrNameLst>
                                      </p:cBhvr>
                                      <p:tavLst>
                                        <p:tav tm="0">
                                          <p:val>
                                            <p:strVal val="#ppt_h*0.2"/>
                                          </p:val>
                                        </p:tav>
                                        <p:tav tm="100000">
                                          <p:val>
                                            <p:strVal val="#ppt_h"/>
                                          </p:val>
                                        </p:tav>
                                      </p:tavLst>
                                    </p:anim>
                                  </p:childTnLst>
                                </p:cTn>
                              </p:par>
                              <p:par>
                                <p:cTn id="126" presetID="42" presetClass="entr" presetSubtype="0" decel="100000" fill="hold" grpId="0" nodeType="withEffect">
                                  <p:stCondLst>
                                    <p:cond delay="1350"/>
                                  </p:stCondLst>
                                  <p:childTnLst>
                                    <p:set>
                                      <p:cBhvr>
                                        <p:cTn id="127" dur="1" fill="hold">
                                          <p:stCondLst>
                                            <p:cond delay="0"/>
                                          </p:stCondLst>
                                        </p:cTn>
                                        <p:tgtEl>
                                          <p:spTgt spid="39"/>
                                        </p:tgtEl>
                                        <p:attrNameLst>
                                          <p:attrName>style.visibility</p:attrName>
                                        </p:attrNameLst>
                                      </p:cBhvr>
                                      <p:to>
                                        <p:strVal val="visible"/>
                                      </p:to>
                                    </p:set>
                                    <p:animEffect transition="in" filter="fade">
                                      <p:cBhvr>
                                        <p:cTn id="128" dur="700"/>
                                        <p:tgtEl>
                                          <p:spTgt spid="39"/>
                                        </p:tgtEl>
                                      </p:cBhvr>
                                    </p:animEffect>
                                    <p:anim calcmode="lin" valueType="num">
                                      <p:cBhvr additive="base">
                                        <p:cTn id="129" dur="700" fill="hold"/>
                                        <p:tgtEl>
                                          <p:spTgt spid="39"/>
                                        </p:tgtEl>
                                        <p:attrNameLst>
                                          <p:attrName>ppt_y</p:attrName>
                                        </p:attrNameLst>
                                      </p:cBhvr>
                                      <p:tavLst>
                                        <p:tav tm="0">
                                          <p:val>
                                            <p:strVal val="#ppt_y+0.03"/>
                                          </p:val>
                                        </p:tav>
                                        <p:tav tm="100000">
                                          <p:val>
                                            <p:strVal val="#ppt_y"/>
                                          </p:val>
                                        </p:tav>
                                      </p:tavLst>
                                    </p:anim>
                                  </p:childTnLst>
                                </p:cTn>
                              </p:par>
                              <p:par>
                                <p:cTn id="130" presetID="42" presetClass="entr" presetSubtype="0" decel="100000" fill="hold" grpId="0" nodeType="withEffect">
                                  <p:stCondLst>
                                    <p:cond delay="1350"/>
                                  </p:stCondLst>
                                  <p:childTnLst>
                                    <p:set>
                                      <p:cBhvr>
                                        <p:cTn id="131" dur="1" fill="hold">
                                          <p:stCondLst>
                                            <p:cond delay="0"/>
                                          </p:stCondLst>
                                        </p:cTn>
                                        <p:tgtEl>
                                          <p:spTgt spid="40"/>
                                        </p:tgtEl>
                                        <p:attrNameLst>
                                          <p:attrName>style.visibility</p:attrName>
                                        </p:attrNameLst>
                                      </p:cBhvr>
                                      <p:to>
                                        <p:strVal val="visible"/>
                                      </p:to>
                                    </p:set>
                                    <p:animEffect transition="in" filter="fade">
                                      <p:cBhvr>
                                        <p:cTn id="132" dur="700"/>
                                        <p:tgtEl>
                                          <p:spTgt spid="40"/>
                                        </p:tgtEl>
                                      </p:cBhvr>
                                    </p:animEffect>
                                    <p:anim calcmode="lin" valueType="num">
                                      <p:cBhvr additive="base">
                                        <p:cTn id="133" dur="700" fill="hold"/>
                                        <p:tgtEl>
                                          <p:spTgt spid="40"/>
                                        </p:tgtEl>
                                        <p:attrNameLst>
                                          <p:attrName>ppt_y</p:attrName>
                                        </p:attrNameLst>
                                      </p:cBhvr>
                                      <p:tavLst>
                                        <p:tav tm="0">
                                          <p:val>
                                            <p:strVal val="#ppt_y+0.03"/>
                                          </p:val>
                                        </p:tav>
                                        <p:tav tm="100000">
                                          <p:val>
                                            <p:strVal val="#ppt_y"/>
                                          </p:val>
                                        </p:tav>
                                      </p:tavLst>
                                    </p:anim>
                                  </p:childTnLst>
                                </p:cTn>
                              </p:par>
                              <p:par>
                                <p:cTn id="134" presetID="42" presetClass="entr" presetSubtype="0" decel="100000" fill="hold" grpId="0" nodeType="withEffect">
                                  <p:stCondLst>
                                    <p:cond delay="1570"/>
                                  </p:stCondLst>
                                  <p:childTnLst>
                                    <p:set>
                                      <p:cBhvr>
                                        <p:cTn id="135" dur="1" fill="hold">
                                          <p:stCondLst>
                                            <p:cond delay="0"/>
                                          </p:stCondLst>
                                        </p:cTn>
                                        <p:tgtEl>
                                          <p:spTgt spid="25"/>
                                        </p:tgtEl>
                                        <p:attrNameLst>
                                          <p:attrName>style.visibility</p:attrName>
                                        </p:attrNameLst>
                                      </p:cBhvr>
                                      <p:to>
                                        <p:strVal val="visible"/>
                                      </p:to>
                                    </p:set>
                                    <p:animEffect transition="in" filter="fade">
                                      <p:cBhvr>
                                        <p:cTn id="136" dur="700"/>
                                        <p:tgtEl>
                                          <p:spTgt spid="25"/>
                                        </p:tgtEl>
                                      </p:cBhvr>
                                    </p:animEffect>
                                    <p:anim calcmode="lin" valueType="num">
                                      <p:cBhvr additive="base">
                                        <p:cTn id="137" dur="700" fill="hold"/>
                                        <p:tgtEl>
                                          <p:spTgt spid="25"/>
                                        </p:tgtEl>
                                        <p:attrNameLst>
                                          <p:attrName>ppt_y</p:attrName>
                                        </p:attrNameLst>
                                      </p:cBhvr>
                                      <p:tavLst>
                                        <p:tav tm="0">
                                          <p:val>
                                            <p:strVal val="#ppt_y+0.03"/>
                                          </p:val>
                                        </p:tav>
                                        <p:tav tm="100000">
                                          <p:val>
                                            <p:strVal val="#ppt_y"/>
                                          </p:val>
                                        </p:tav>
                                      </p:tavLst>
                                    </p:anim>
                                  </p:childTnLst>
                                </p:cTn>
                              </p:par>
                              <p:par>
                                <p:cTn id="138" presetID="42" presetClass="entr" presetSubtype="0" decel="100000" fill="hold" grpId="0" nodeType="withEffect">
                                  <p:stCondLst>
                                    <p:cond delay="1570"/>
                                  </p:stCondLst>
                                  <p:childTnLst>
                                    <p:set>
                                      <p:cBhvr>
                                        <p:cTn id="139" dur="1" fill="hold">
                                          <p:stCondLst>
                                            <p:cond delay="0"/>
                                          </p:stCondLst>
                                        </p:cTn>
                                        <p:tgtEl>
                                          <p:spTgt spid="26"/>
                                        </p:tgtEl>
                                        <p:attrNameLst>
                                          <p:attrName>style.visibility</p:attrName>
                                        </p:attrNameLst>
                                      </p:cBhvr>
                                      <p:to>
                                        <p:strVal val="visible"/>
                                      </p:to>
                                    </p:set>
                                    <p:animEffect transition="in" filter="fade">
                                      <p:cBhvr>
                                        <p:cTn id="140" dur="700"/>
                                        <p:tgtEl>
                                          <p:spTgt spid="26"/>
                                        </p:tgtEl>
                                      </p:cBhvr>
                                    </p:animEffect>
                                    <p:anim calcmode="lin" valueType="num">
                                      <p:cBhvr additive="base">
                                        <p:cTn id="141" dur="700" fill="hold"/>
                                        <p:tgtEl>
                                          <p:spTgt spid="26"/>
                                        </p:tgtEl>
                                        <p:attrNameLst>
                                          <p:attrName>ppt_y</p:attrName>
                                        </p:attrNameLst>
                                      </p:cBhvr>
                                      <p:tavLst>
                                        <p:tav tm="0">
                                          <p:val>
                                            <p:strVal val="#ppt_y+0.03"/>
                                          </p:val>
                                        </p:tav>
                                        <p:tav tm="100000">
                                          <p:val>
                                            <p:strVal val="#ppt_y"/>
                                          </p:val>
                                        </p:tav>
                                      </p:tavLst>
                                    </p:anim>
                                  </p:childTnLst>
                                </p:cTn>
                              </p:par>
                              <p:par>
                                <p:cTn id="142" presetID="42" presetClass="entr" presetSubtype="0" decel="100000" fill="hold" grpId="0" nodeType="withEffect">
                                  <p:stCondLst>
                                    <p:cond delay="1570"/>
                                  </p:stCondLst>
                                  <p:childTnLst>
                                    <p:set>
                                      <p:cBhvr>
                                        <p:cTn id="143" dur="1" fill="hold">
                                          <p:stCondLst>
                                            <p:cond delay="0"/>
                                          </p:stCondLst>
                                        </p:cTn>
                                        <p:tgtEl>
                                          <p:spTgt spid="27"/>
                                        </p:tgtEl>
                                        <p:attrNameLst>
                                          <p:attrName>style.visibility</p:attrName>
                                        </p:attrNameLst>
                                      </p:cBhvr>
                                      <p:to>
                                        <p:strVal val="visible"/>
                                      </p:to>
                                    </p:set>
                                    <p:animEffect transition="in" filter="fade">
                                      <p:cBhvr>
                                        <p:cTn id="144" dur="700"/>
                                        <p:tgtEl>
                                          <p:spTgt spid="27"/>
                                        </p:tgtEl>
                                      </p:cBhvr>
                                    </p:animEffect>
                                    <p:anim calcmode="lin" valueType="num">
                                      <p:cBhvr additive="base">
                                        <p:cTn id="145" dur="700" fill="hold"/>
                                        <p:tgtEl>
                                          <p:spTgt spid="27"/>
                                        </p:tgtEl>
                                        <p:attrNameLst>
                                          <p:attrName>ppt_y</p:attrName>
                                        </p:attrNameLst>
                                      </p:cBhvr>
                                      <p:tavLst>
                                        <p:tav tm="0">
                                          <p:val>
                                            <p:strVal val="#ppt_y+0.03"/>
                                          </p:val>
                                        </p:tav>
                                        <p:tav tm="100000">
                                          <p:val>
                                            <p:strVal val="#ppt_y"/>
                                          </p:val>
                                        </p:tav>
                                      </p:tavLst>
                                    </p:anim>
                                  </p:childTnLst>
                                </p:cTn>
                              </p:par>
                              <p:par>
                                <p:cTn id="146" presetID="42" presetClass="entr" presetSubtype="0" decel="100000" fill="hold" grpId="0" nodeType="withEffect">
                                  <p:stCondLst>
                                    <p:cond delay="1570"/>
                                  </p:stCondLst>
                                  <p:childTnLst>
                                    <p:set>
                                      <p:cBhvr>
                                        <p:cTn id="147" dur="1" fill="hold">
                                          <p:stCondLst>
                                            <p:cond delay="0"/>
                                          </p:stCondLst>
                                        </p:cTn>
                                        <p:tgtEl>
                                          <p:spTgt spid="28"/>
                                        </p:tgtEl>
                                        <p:attrNameLst>
                                          <p:attrName>style.visibility</p:attrName>
                                        </p:attrNameLst>
                                      </p:cBhvr>
                                      <p:to>
                                        <p:strVal val="visible"/>
                                      </p:to>
                                    </p:set>
                                    <p:animEffect transition="in" filter="fade">
                                      <p:cBhvr>
                                        <p:cTn id="148" dur="700"/>
                                        <p:tgtEl>
                                          <p:spTgt spid="28"/>
                                        </p:tgtEl>
                                      </p:cBhvr>
                                    </p:animEffect>
                                    <p:anim calcmode="lin" valueType="num">
                                      <p:cBhvr additive="base">
                                        <p:cTn id="149" dur="700" fill="hold"/>
                                        <p:tgtEl>
                                          <p:spTgt spid="28"/>
                                        </p:tgtEl>
                                        <p:attrNameLst>
                                          <p:attrName>ppt_y</p:attrName>
                                        </p:attrNameLst>
                                      </p:cBhvr>
                                      <p:tavLst>
                                        <p:tav tm="0">
                                          <p:val>
                                            <p:strVal val="#ppt_y+0.03"/>
                                          </p:val>
                                        </p:tav>
                                        <p:tav tm="100000">
                                          <p:val>
                                            <p:strVal val="#ppt_y"/>
                                          </p:val>
                                        </p:tav>
                                      </p:tavLst>
                                    </p:anim>
                                  </p:childTnLst>
                                </p:cTn>
                              </p:par>
                              <p:par>
                                <p:cTn id="150" presetID="42" presetClass="entr" presetSubtype="0" decel="100000" fill="hold" grpId="0" nodeType="withEffect">
                                  <p:stCondLst>
                                    <p:cond delay="1790"/>
                                  </p:stCondLst>
                                  <p:childTnLst>
                                    <p:set>
                                      <p:cBhvr>
                                        <p:cTn id="151" dur="1" fill="hold">
                                          <p:stCondLst>
                                            <p:cond delay="0"/>
                                          </p:stCondLst>
                                        </p:cTn>
                                        <p:tgtEl>
                                          <p:spTgt spid="41"/>
                                        </p:tgtEl>
                                        <p:attrNameLst>
                                          <p:attrName>style.visibility</p:attrName>
                                        </p:attrNameLst>
                                      </p:cBhvr>
                                      <p:to>
                                        <p:strVal val="visible"/>
                                      </p:to>
                                    </p:set>
                                    <p:animEffect transition="in" filter="fade">
                                      <p:cBhvr>
                                        <p:cTn id="152" dur="700"/>
                                        <p:tgtEl>
                                          <p:spTgt spid="41"/>
                                        </p:tgtEl>
                                      </p:cBhvr>
                                    </p:animEffect>
                                    <p:anim calcmode="lin" valueType="num">
                                      <p:cBhvr additive="base">
                                        <p:cTn id="153" dur="700" fill="hold"/>
                                        <p:tgtEl>
                                          <p:spTgt spid="41"/>
                                        </p:tgtEl>
                                        <p:attrNameLst>
                                          <p:attrName>ppt_y</p:attrName>
                                        </p:attrNameLst>
                                      </p:cBhvr>
                                      <p:tavLst>
                                        <p:tav tm="0">
                                          <p:val>
                                            <p:strVal val="#ppt_y+0.03"/>
                                          </p:val>
                                        </p:tav>
                                        <p:tav tm="100000">
                                          <p:val>
                                            <p:strVal val="#ppt_y"/>
                                          </p:val>
                                        </p:tav>
                                      </p:tavLst>
                                    </p:anim>
                                  </p:childTnLst>
                                </p:cTn>
                              </p:par>
                              <p:par>
                                <p:cTn id="154" presetID="53" presetClass="entr" presetSubtype="16" decel="100000" fill="hold" grpId="0" nodeType="withEffect">
                                  <p:stCondLst>
                                    <p:cond delay="1790"/>
                                  </p:stCondLst>
                                  <p:childTnLst>
                                    <p:set>
                                      <p:cBhvr>
                                        <p:cTn id="155" dur="1" fill="hold">
                                          <p:stCondLst>
                                            <p:cond delay="0"/>
                                          </p:stCondLst>
                                        </p:cTn>
                                        <p:tgtEl>
                                          <p:spTgt spid="42"/>
                                        </p:tgtEl>
                                        <p:attrNameLst>
                                          <p:attrName>style.visibility</p:attrName>
                                        </p:attrNameLst>
                                      </p:cBhvr>
                                      <p:to>
                                        <p:strVal val="visible"/>
                                      </p:to>
                                    </p:set>
                                    <p:animEffect transition="in" filter="fade">
                                      <p:cBhvr>
                                        <p:cTn id="156" dur="450"/>
                                        <p:tgtEl>
                                          <p:spTgt spid="42"/>
                                        </p:tgtEl>
                                      </p:cBhvr>
                                    </p:animEffect>
                                    <p:anim calcmode="lin" valueType="num">
                                      <p:cBhvr additive="base">
                                        <p:cTn id="157" dur="450" fill="hold"/>
                                        <p:tgtEl>
                                          <p:spTgt spid="42"/>
                                        </p:tgtEl>
                                        <p:attrNameLst>
                                          <p:attrName>ppt_w</p:attrName>
                                        </p:attrNameLst>
                                      </p:cBhvr>
                                      <p:tavLst>
                                        <p:tav tm="0">
                                          <p:val>
                                            <p:strVal val="#ppt_w*0.2"/>
                                          </p:val>
                                        </p:tav>
                                        <p:tav tm="100000">
                                          <p:val>
                                            <p:strVal val="#ppt_w"/>
                                          </p:val>
                                        </p:tav>
                                      </p:tavLst>
                                    </p:anim>
                                    <p:anim calcmode="lin" valueType="num">
                                      <p:cBhvr additive="base">
                                        <p:cTn id="158" dur="450" fill="hold"/>
                                        <p:tgtEl>
                                          <p:spTgt spid="42"/>
                                        </p:tgtEl>
                                        <p:attrNameLst>
                                          <p:attrName>ppt_h</p:attrName>
                                        </p:attrNameLst>
                                      </p:cBhvr>
                                      <p:tavLst>
                                        <p:tav tm="0">
                                          <p:val>
                                            <p:strVal val="#ppt_h*0.2"/>
                                          </p:val>
                                        </p:tav>
                                        <p:tav tm="100000">
                                          <p:val>
                                            <p:strVal val="#ppt_h"/>
                                          </p:val>
                                        </p:tav>
                                      </p:tavLst>
                                    </p:anim>
                                  </p:childTnLst>
                                </p:cTn>
                              </p:par>
                              <p:par>
                                <p:cTn id="159" presetID="53" presetClass="entr" presetSubtype="16" decel="100000" fill="hold" grpId="0" nodeType="withEffect">
                                  <p:stCondLst>
                                    <p:cond delay="1790"/>
                                  </p:stCondLst>
                                  <p:childTnLst>
                                    <p:set>
                                      <p:cBhvr>
                                        <p:cTn id="160" dur="1" fill="hold">
                                          <p:stCondLst>
                                            <p:cond delay="0"/>
                                          </p:stCondLst>
                                        </p:cTn>
                                        <p:tgtEl>
                                          <p:spTgt spid="43"/>
                                        </p:tgtEl>
                                        <p:attrNameLst>
                                          <p:attrName>style.visibility</p:attrName>
                                        </p:attrNameLst>
                                      </p:cBhvr>
                                      <p:to>
                                        <p:strVal val="visible"/>
                                      </p:to>
                                    </p:set>
                                    <p:animEffect transition="in" filter="fade">
                                      <p:cBhvr>
                                        <p:cTn id="161" dur="450"/>
                                        <p:tgtEl>
                                          <p:spTgt spid="43"/>
                                        </p:tgtEl>
                                      </p:cBhvr>
                                    </p:animEffect>
                                    <p:anim calcmode="lin" valueType="num">
                                      <p:cBhvr additive="base">
                                        <p:cTn id="162" dur="450" fill="hold"/>
                                        <p:tgtEl>
                                          <p:spTgt spid="43"/>
                                        </p:tgtEl>
                                        <p:attrNameLst>
                                          <p:attrName>ppt_w</p:attrName>
                                        </p:attrNameLst>
                                      </p:cBhvr>
                                      <p:tavLst>
                                        <p:tav tm="0">
                                          <p:val>
                                            <p:strVal val="#ppt_w*0.2"/>
                                          </p:val>
                                        </p:tav>
                                        <p:tav tm="100000">
                                          <p:val>
                                            <p:strVal val="#ppt_w"/>
                                          </p:val>
                                        </p:tav>
                                      </p:tavLst>
                                    </p:anim>
                                    <p:anim calcmode="lin" valueType="num">
                                      <p:cBhvr additive="base">
                                        <p:cTn id="163" dur="450" fill="hold"/>
                                        <p:tgtEl>
                                          <p:spTgt spid="43"/>
                                        </p:tgtEl>
                                        <p:attrNameLst>
                                          <p:attrName>ppt_h</p:attrName>
                                        </p:attrNameLst>
                                      </p:cBhvr>
                                      <p:tavLst>
                                        <p:tav tm="0">
                                          <p:val>
                                            <p:strVal val="#ppt_h*0.2"/>
                                          </p:val>
                                        </p:tav>
                                        <p:tav tm="100000">
                                          <p:val>
                                            <p:strVal val="#ppt_h"/>
                                          </p:val>
                                        </p:tav>
                                      </p:tavLst>
                                    </p:anim>
                                  </p:childTnLst>
                                </p:cTn>
                              </p:par>
                              <p:par>
                                <p:cTn id="164" presetID="42" presetClass="entr" presetSubtype="0" decel="100000" fill="hold" grpId="0" nodeType="withEffect">
                                  <p:stCondLst>
                                    <p:cond delay="1790"/>
                                  </p:stCondLst>
                                  <p:childTnLst>
                                    <p:set>
                                      <p:cBhvr>
                                        <p:cTn id="165" dur="1" fill="hold">
                                          <p:stCondLst>
                                            <p:cond delay="0"/>
                                          </p:stCondLst>
                                        </p:cTn>
                                        <p:tgtEl>
                                          <p:spTgt spid="44"/>
                                        </p:tgtEl>
                                        <p:attrNameLst>
                                          <p:attrName>style.visibility</p:attrName>
                                        </p:attrNameLst>
                                      </p:cBhvr>
                                      <p:to>
                                        <p:strVal val="visible"/>
                                      </p:to>
                                    </p:set>
                                    <p:animEffect transition="in" filter="fade">
                                      <p:cBhvr>
                                        <p:cTn id="166" dur="700"/>
                                        <p:tgtEl>
                                          <p:spTgt spid="44"/>
                                        </p:tgtEl>
                                      </p:cBhvr>
                                    </p:animEffect>
                                    <p:anim calcmode="lin" valueType="num">
                                      <p:cBhvr additive="base">
                                        <p:cTn id="167" dur="700" fill="hold"/>
                                        <p:tgtEl>
                                          <p:spTgt spid="44"/>
                                        </p:tgtEl>
                                        <p:attrNameLst>
                                          <p:attrName>ppt_y</p:attrName>
                                        </p:attrNameLst>
                                      </p:cBhvr>
                                      <p:tavLst>
                                        <p:tav tm="0">
                                          <p:val>
                                            <p:strVal val="#ppt_y+0.03"/>
                                          </p:val>
                                        </p:tav>
                                        <p:tav tm="100000">
                                          <p:val>
                                            <p:strVal val="#ppt_y"/>
                                          </p:val>
                                        </p:tav>
                                      </p:tavLst>
                                    </p:anim>
                                  </p:childTnLst>
                                </p:cTn>
                              </p:par>
                              <p:par>
                                <p:cTn id="168" presetID="42" presetClass="entr" presetSubtype="0" decel="100000" fill="hold" grpId="0" nodeType="withEffect">
                                  <p:stCondLst>
                                    <p:cond delay="1790"/>
                                  </p:stCondLst>
                                  <p:childTnLst>
                                    <p:set>
                                      <p:cBhvr>
                                        <p:cTn id="169" dur="1" fill="hold">
                                          <p:stCondLst>
                                            <p:cond delay="0"/>
                                          </p:stCondLst>
                                        </p:cTn>
                                        <p:tgtEl>
                                          <p:spTgt spid="45"/>
                                        </p:tgtEl>
                                        <p:attrNameLst>
                                          <p:attrName>style.visibility</p:attrName>
                                        </p:attrNameLst>
                                      </p:cBhvr>
                                      <p:to>
                                        <p:strVal val="visible"/>
                                      </p:to>
                                    </p:set>
                                    <p:animEffect transition="in" filter="fade">
                                      <p:cBhvr>
                                        <p:cTn id="170" dur="700"/>
                                        <p:tgtEl>
                                          <p:spTgt spid="45"/>
                                        </p:tgtEl>
                                      </p:cBhvr>
                                    </p:animEffect>
                                    <p:anim calcmode="lin" valueType="num">
                                      <p:cBhvr additive="base">
                                        <p:cTn id="171" dur="700" fill="hold"/>
                                        <p:tgtEl>
                                          <p:spTgt spid="45"/>
                                        </p:tgtEl>
                                        <p:attrNameLst>
                                          <p:attrName>ppt_y</p:attrName>
                                        </p:attrNameLst>
                                      </p:cBhvr>
                                      <p:tavLst>
                                        <p:tav tm="0">
                                          <p:val>
                                            <p:strVal val="#ppt_y+0.03"/>
                                          </p:val>
                                        </p:tav>
                                        <p:tav tm="100000">
                                          <p:val>
                                            <p:strVal val="#ppt_y"/>
                                          </p:val>
                                        </p:tav>
                                      </p:tavLst>
                                    </p:anim>
                                  </p:childTnLst>
                                </p:cTn>
                              </p:par>
                              <p:par>
                                <p:cTn id="172" presetID="10" presetClass="entr" presetSubtype="0" decel="100000" fill="hold" grpId="0" nodeType="withEffect">
                                  <p:stCondLst>
                                    <p:cond delay="2010"/>
                                  </p:stCondLst>
                                  <p:childTnLst>
                                    <p:set>
                                      <p:cBhvr>
                                        <p:cTn id="173" dur="1" fill="hold">
                                          <p:stCondLst>
                                            <p:cond delay="0"/>
                                          </p:stCondLst>
                                        </p:cTn>
                                        <p:tgtEl>
                                          <p:spTgt spid="46"/>
                                        </p:tgtEl>
                                        <p:attrNameLst>
                                          <p:attrName>style.visibility</p:attrName>
                                        </p:attrNameLst>
                                      </p:cBhvr>
                                      <p:to>
                                        <p:strVal val="visible"/>
                                      </p:to>
                                    </p:set>
                                    <p:animEffect transition="in" filter="fade">
                                      <p:cBhvr>
                                        <p:cTn id="174" dur="6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p:bldP spid="11" grpId="0" animBg="1"/>
      <p:bldP spid="12" grpId="0" animBg="1"/>
      <p:bldP spid="13" grpId="0" animBg="1"/>
      <p:bldP spid="14" grpId="0"/>
      <p:bldP spid="15" grpId="0" animBg="1"/>
      <p:bldP spid="16" grpId="0" animBg="1"/>
      <p:bldP spid="17" grpId="0" animBg="1"/>
      <p:bldP spid="18" grpId="0"/>
      <p:bldP spid="19" grpId="0" animBg="1"/>
      <p:bldP spid="20" grpId="0" animBg="1"/>
      <p:bldP spid="21" grpId="0" animBg="1"/>
      <p:bldP spid="22" grpId="0"/>
      <p:bldP spid="23" grpId="0" animBg="1"/>
      <p:bldP spid="24" grpId="0" animBg="1"/>
      <p:bldP spid="25" grpId="0" animBg="1"/>
      <p:bldP spid="26" grpId="0"/>
      <p:bldP spid="27" grpId="0" animBg="1"/>
      <p:bldP spid="28" grpId="0" animBg="1"/>
      <p:bldP spid="29" grpId="0" animBg="1"/>
      <p:bldP spid="30" grpId="0" animBg="1"/>
      <p:bldP spid="31" grpId="0" animBg="1"/>
      <p:bldP spid="32" grpId="0" animBg="1"/>
      <p:bldP spid="33" grpId="0"/>
      <p:bldP spid="34" grpId="0" animBg="1"/>
      <p:bldP spid="35" grpId="0" animBg="1"/>
      <p:bldP spid="36" grpId="0" animBg="1"/>
      <p:bldP spid="37" grpId="0" animBg="1"/>
      <p:bldP spid="38" grpId="0"/>
      <p:bldP spid="39" grpId="0" animBg="1"/>
      <p:bldP spid="40" grpId="0" animBg="1"/>
      <p:bldP spid="41" grpId="0" animBg="1"/>
      <p:bldP spid="42" grpId="0" animBg="1"/>
      <p:bldP spid="43" grpId="0"/>
      <p:bldP spid="44" grpId="0" animBg="1"/>
      <p:bldP spid="45" grpId="0" animBg="1"/>
      <p:bldP spid="4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194560" y="-2743200"/>
            <a:ext cx="6858000" cy="68580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7132320" y="2377440"/>
            <a:ext cx="6858000" cy="6858000"/>
          </a:xfrm>
          <a:prstGeom prst="rect">
            <a:avLst/>
          </a:prstGeom>
        </p:spPr>
      </p:pic>
      <p:sp>
        <p:nvSpPr>
          <p:cNvPr id="5" name="a0fade_k"/>
          <p:cNvSpPr txBox="1"/>
          <p:nvPr/>
        </p:nvSpPr>
        <p:spPr>
          <a:xfrm>
            <a:off x="731520" y="960120"/>
            <a:ext cx="7315200" cy="329184"/>
          </a:xfrm>
          <a:prstGeom prst="rect">
            <a:avLst/>
          </a:prstGeom>
          <a:noFill/>
          <a:ln/>
        </p:spPr>
        <p:txBody>
          <a:bodyPr wrap="square" lIns="0" tIns="0" rIns="0" bIns="0" rtlCol="0" anchor="t"/>
          <a:lstStyle/>
          <a:p>
            <a:pPr marL="0" indent="0" algn="l">
              <a:lnSpc>
                <a:spcPct val="105000"/>
              </a:lnSpc>
              <a:buNone/>
            </a:pPr>
            <a:r>
              <a:rPr lang="en-US" sz="1300" kern="0" spc="400" dirty="0">
                <a:solidFill>
                  <a:srgbClr val="BCD3EC"/>
                </a:solidFill>
                <a:latin typeface="Segoe UI Semibold" pitchFamily="34" charset="0"/>
                <a:ea typeface="Segoe UI Semibold" pitchFamily="34" charset="-122"/>
                <a:cs typeface="Segoe UI Semibold" pitchFamily="34" charset="-120"/>
              </a:rPr>
              <a:t>TEAM BLUE ATHAR  ·  </a:t>
            </a:r>
            <a:r>
              <a:rPr lang="en-US" sz="1300" dirty="0">
                <a:solidFill>
                  <a:srgbClr val="BCD3EC"/>
                </a:solidFill>
                <a:latin typeface="Segoe UI Semibold" pitchFamily="34" charset="0"/>
                <a:ea typeface="Segoe UI Semibold" pitchFamily="34" charset="-122"/>
                <a:cs typeface="Segoe UI Semibold" pitchFamily="34" charset="-120"/>
              </a:rPr>
              <a:t>الأثر الأزرق</a:t>
            </a:r>
            <a:endParaRPr lang="en-US" sz="1300" dirty="0"/>
          </a:p>
        </p:txBody>
      </p:sp>
      <p:sp>
        <p:nvSpPr>
          <p:cNvPr id="6" name="a1float_tag"/>
          <p:cNvSpPr txBox="1"/>
          <p:nvPr/>
        </p:nvSpPr>
        <p:spPr>
          <a:xfrm>
            <a:off x="694944" y="1371600"/>
            <a:ext cx="10515600" cy="1600200"/>
          </a:xfrm>
          <a:prstGeom prst="rect">
            <a:avLst/>
          </a:prstGeom>
          <a:noFill/>
          <a:ln/>
        </p:spPr>
        <p:txBody>
          <a:bodyPr wrap="square" lIns="0" tIns="0" rIns="0" bIns="0" rtlCol="0" anchor="t"/>
          <a:lstStyle/>
          <a:p>
            <a:pPr marL="0" indent="0" algn="l">
              <a:lnSpc>
                <a:spcPct val="100000"/>
              </a:lnSpc>
              <a:buNone/>
            </a:pPr>
            <a:r>
              <a:rPr lang="en-US" sz="4600" dirty="0">
                <a:solidFill>
                  <a:srgbClr val="FFFFFF"/>
                </a:solidFill>
                <a:latin typeface="Segoe UI Semibold" pitchFamily="34" charset="0"/>
                <a:ea typeface="Segoe UI Semibold" pitchFamily="34" charset="-122"/>
                <a:cs typeface="Segoe UI Semibold" pitchFamily="34" charset="-120"/>
              </a:rPr>
              <a:t>Every lost mangrove leaves a trace.</a:t>
            </a:r>
            <a:endParaRPr lang="en-US" sz="4600" dirty="0"/>
          </a:p>
          <a:p>
            <a:pPr marL="0" indent="0" algn="l">
              <a:lnSpc>
                <a:spcPct val="100000"/>
              </a:lnSpc>
              <a:buNone/>
            </a:pPr>
            <a:r>
              <a:rPr lang="en-US" sz="4600" dirty="0">
                <a:solidFill>
                  <a:srgbClr val="FFFFFF"/>
                </a:solidFill>
                <a:latin typeface="Segoe UI Semibold" pitchFamily="34" charset="0"/>
                <a:ea typeface="Segoe UI Semibold" pitchFamily="34" charset="-122"/>
                <a:cs typeface="Segoe UI Semibold" pitchFamily="34" charset="-120"/>
              </a:rPr>
              <a:t>We find it from space.</a:t>
            </a:r>
            <a:endParaRPr lang="en-US" sz="4600" dirty="0"/>
          </a:p>
        </p:txBody>
      </p:sp>
      <p:sp>
        <p:nvSpPr>
          <p:cNvPr id="7" name="a1float_merit"/>
          <p:cNvSpPr txBox="1"/>
          <p:nvPr/>
        </p:nvSpPr>
        <p:spPr>
          <a:xfrm>
            <a:off x="731520" y="2852928"/>
            <a:ext cx="10698480" cy="365760"/>
          </a:xfrm>
          <a:prstGeom prst="rect">
            <a:avLst/>
          </a:prstGeom>
          <a:noFill/>
          <a:ln/>
        </p:spPr>
        <p:txBody>
          <a:bodyPr wrap="square" lIns="0" tIns="0" rIns="0" bIns="0" rtlCol="0" anchor="t"/>
          <a:lstStyle/>
          <a:p>
            <a:pPr marL="0" indent="0" algn="l">
              <a:lnSpc>
                <a:spcPct val="105000"/>
              </a:lnSpc>
              <a:buNone/>
            </a:pPr>
            <a:r>
              <a:rPr lang="en-US" sz="1600" dirty="0">
                <a:solidFill>
                  <a:srgbClr val="F1D9A0"/>
                </a:solidFill>
                <a:latin typeface="Segoe UI Semibold" pitchFamily="34" charset="0"/>
                <a:ea typeface="Segoe UI Semibold" pitchFamily="34" charset="-122"/>
                <a:cs typeface="Segoe UI Semibold" pitchFamily="34" charset="-120"/>
              </a:rPr>
              <a:t>Overall value:  a working product  ·  five real events confirmed  ·  every number reproducible</a:t>
            </a:r>
            <a:endParaRPr lang="en-US" sz="1600" dirty="0"/>
          </a:p>
        </p:txBody>
      </p:sp>
      <p:sp>
        <p:nvSpPr>
          <p:cNvPr id="8" name="a2float_c0"/>
          <p:cNvSpPr/>
          <p:nvPr/>
        </p:nvSpPr>
        <p:spPr>
          <a:xfrm>
            <a:off x="731520" y="3429000"/>
            <a:ext cx="2560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sp>
      <p:sp>
        <p:nvSpPr>
          <p:cNvPr id="9" name="a2float_c0n"/>
          <p:cNvSpPr txBox="1"/>
          <p:nvPr/>
        </p:nvSpPr>
        <p:spPr>
          <a:xfrm>
            <a:off x="932688" y="3502152"/>
            <a:ext cx="2194560" cy="502920"/>
          </a:xfrm>
          <a:prstGeom prst="rect">
            <a:avLst/>
          </a:prstGeom>
          <a:noFill/>
          <a:ln/>
        </p:spPr>
        <p:txBody>
          <a:bodyPr wrap="square" lIns="0" tIns="0" rIns="0" bIns="0" rtlCol="0" anchor="t"/>
          <a:lstStyle/>
          <a:p>
            <a:pPr marL="0" indent="0" algn="l">
              <a:lnSpc>
                <a:spcPct val="105000"/>
              </a:lnSpc>
              <a:buNone/>
            </a:pPr>
            <a:r>
              <a:rPr lang="en-US" sz="2800" dirty="0">
                <a:solidFill>
                  <a:srgbClr val="F1D9A0"/>
                </a:solidFill>
                <a:latin typeface="Segoe UI Light" pitchFamily="34" charset="0"/>
                <a:ea typeface="Segoe UI Light" pitchFamily="34" charset="-122"/>
                <a:cs typeface="Segoe UI Light" pitchFamily="34" charset="-120"/>
              </a:rPr>
              <a:t>Tide-aware</a:t>
            </a:r>
            <a:endParaRPr lang="en-US" sz="2800" dirty="0"/>
          </a:p>
        </p:txBody>
      </p:sp>
      <p:sp>
        <p:nvSpPr>
          <p:cNvPr id="10" name="a2float_c0t"/>
          <p:cNvSpPr txBox="1"/>
          <p:nvPr/>
        </p:nvSpPr>
        <p:spPr>
          <a:xfrm>
            <a:off x="932688" y="4023360"/>
            <a:ext cx="2240280" cy="548640"/>
          </a:xfrm>
          <a:prstGeom prst="rect">
            <a:avLst/>
          </a:prstGeom>
          <a:noFill/>
          <a:ln/>
        </p:spPr>
        <p:txBody>
          <a:bodyPr wrap="square" lIns="0" tIns="0" rIns="0" bIns="0" rtlCol="0" anchor="t"/>
          <a:lstStyle/>
          <a:p>
            <a:pPr marL="0" indent="0" algn="l">
              <a:lnSpc>
                <a:spcPct val="105000"/>
              </a:lnSpc>
              <a:buNone/>
            </a:pPr>
            <a:r>
              <a:rPr lang="en-US" sz="1200" dirty="0">
                <a:solidFill>
                  <a:srgbClr val="CFDCE8"/>
                </a:solidFill>
                <a:latin typeface="Segoe UI" pitchFamily="34" charset="0"/>
                <a:ea typeface="Segoe UI" pitchFamily="34" charset="-122"/>
                <a:cs typeface="Segoe UI" pitchFamily="34" charset="-120"/>
              </a:rPr>
              <a:t>29–35 % less noise</a:t>
            </a:r>
            <a:endParaRPr lang="en-US" sz="1200" dirty="0"/>
          </a:p>
        </p:txBody>
      </p:sp>
      <p:sp>
        <p:nvSpPr>
          <p:cNvPr id="11" name="a3float_c1"/>
          <p:cNvSpPr/>
          <p:nvPr/>
        </p:nvSpPr>
        <p:spPr>
          <a:xfrm>
            <a:off x="3447288" y="3429000"/>
            <a:ext cx="2560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sp>
      <p:sp>
        <p:nvSpPr>
          <p:cNvPr id="12" name="a3float_c1n"/>
          <p:cNvSpPr txBox="1"/>
          <p:nvPr/>
        </p:nvSpPr>
        <p:spPr>
          <a:xfrm>
            <a:off x="3648456" y="3502152"/>
            <a:ext cx="2194560" cy="502920"/>
          </a:xfrm>
          <a:prstGeom prst="rect">
            <a:avLst/>
          </a:prstGeom>
          <a:noFill/>
          <a:ln/>
        </p:spPr>
        <p:txBody>
          <a:bodyPr wrap="square" lIns="0" tIns="0" rIns="0" bIns="0" rtlCol="0" anchor="t"/>
          <a:lstStyle/>
          <a:p>
            <a:pPr marL="0" indent="0" algn="l">
              <a:lnSpc>
                <a:spcPct val="105000"/>
              </a:lnSpc>
              <a:buNone/>
            </a:pPr>
            <a:r>
              <a:rPr lang="en-US" sz="2800" dirty="0">
                <a:solidFill>
                  <a:srgbClr val="F4BCC4"/>
                </a:solidFill>
                <a:latin typeface="Segoe UI Light" pitchFamily="34" charset="0"/>
                <a:ea typeface="Segoe UI Light" pitchFamily="34" charset="-122"/>
                <a:cs typeface="Segoe UI Light" pitchFamily="34" charset="-120"/>
              </a:rPr>
              <a:t>5 of 5</a:t>
            </a:r>
            <a:endParaRPr lang="en-US" sz="2800" dirty="0"/>
          </a:p>
        </p:txBody>
      </p:sp>
      <p:sp>
        <p:nvSpPr>
          <p:cNvPr id="13" name="a3float_c1t"/>
          <p:cNvSpPr txBox="1"/>
          <p:nvPr/>
        </p:nvSpPr>
        <p:spPr>
          <a:xfrm>
            <a:off x="3648456" y="4023360"/>
            <a:ext cx="2240280" cy="548640"/>
          </a:xfrm>
          <a:prstGeom prst="rect">
            <a:avLst/>
          </a:prstGeom>
          <a:noFill/>
          <a:ln/>
        </p:spPr>
        <p:txBody>
          <a:bodyPr wrap="square" lIns="0" tIns="0" rIns="0" bIns="0" rtlCol="0" anchor="t"/>
          <a:lstStyle/>
          <a:p>
            <a:pPr marL="0" indent="0" algn="l">
              <a:lnSpc>
                <a:spcPct val="105000"/>
              </a:lnSpc>
              <a:buNone/>
            </a:pPr>
            <a:r>
              <a:rPr lang="en-US" sz="1200" dirty="0">
                <a:solidFill>
                  <a:srgbClr val="CFDCE8"/>
                </a:solidFill>
                <a:latin typeface="Segoe UI" pitchFamily="34" charset="0"/>
                <a:ea typeface="Segoe UI" pitchFamily="34" charset="-122"/>
                <a:cs typeface="Segoe UI" pitchFamily="34" charset="-120"/>
              </a:rPr>
              <a:t>conversions alerted during the works, 3 only by cells</a:t>
            </a:r>
            <a:endParaRPr lang="en-US" sz="1200" dirty="0"/>
          </a:p>
        </p:txBody>
      </p:sp>
      <p:sp>
        <p:nvSpPr>
          <p:cNvPr id="14" name="a4float_c2"/>
          <p:cNvSpPr/>
          <p:nvPr/>
        </p:nvSpPr>
        <p:spPr>
          <a:xfrm>
            <a:off x="6163056" y="3429000"/>
            <a:ext cx="2560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sp>
      <p:sp>
        <p:nvSpPr>
          <p:cNvPr id="15" name="a4float_c2n"/>
          <p:cNvSpPr txBox="1"/>
          <p:nvPr/>
        </p:nvSpPr>
        <p:spPr>
          <a:xfrm>
            <a:off x="6364224" y="3502152"/>
            <a:ext cx="2194560" cy="502920"/>
          </a:xfrm>
          <a:prstGeom prst="rect">
            <a:avLst/>
          </a:prstGeom>
          <a:noFill/>
          <a:ln/>
        </p:spPr>
        <p:txBody>
          <a:bodyPr wrap="square" lIns="0" tIns="0" rIns="0" bIns="0" rtlCol="0" anchor="t"/>
          <a:lstStyle/>
          <a:p>
            <a:pPr marL="0" indent="0" algn="l">
              <a:lnSpc>
                <a:spcPct val="105000"/>
              </a:lnSpc>
              <a:buNone/>
            </a:pPr>
            <a:r>
              <a:rPr lang="en-US" sz="2800" dirty="0">
                <a:solidFill>
                  <a:srgbClr val="F1D9A0"/>
                </a:solidFill>
                <a:latin typeface="Segoe UI Light" pitchFamily="34" charset="0"/>
                <a:ea typeface="Segoe UI Light" pitchFamily="34" charset="-122"/>
                <a:cs typeface="Segoe UI Light" pitchFamily="34" charset="-120"/>
              </a:rPr>
              <a:t>0.79</a:t>
            </a:r>
            <a:endParaRPr lang="en-US" sz="2800" dirty="0"/>
          </a:p>
        </p:txBody>
      </p:sp>
      <p:sp>
        <p:nvSpPr>
          <p:cNvPr id="16" name="a4float_c2t"/>
          <p:cNvSpPr txBox="1"/>
          <p:nvPr/>
        </p:nvSpPr>
        <p:spPr>
          <a:xfrm>
            <a:off x="6364224" y="4023360"/>
            <a:ext cx="2240280" cy="548640"/>
          </a:xfrm>
          <a:prstGeom prst="rect">
            <a:avLst/>
          </a:prstGeom>
          <a:noFill/>
          <a:ln/>
        </p:spPr>
        <p:txBody>
          <a:bodyPr wrap="square" lIns="0" tIns="0" rIns="0" bIns="0" rtlCol="0" anchor="t"/>
          <a:lstStyle/>
          <a:p>
            <a:pPr marL="0" indent="0" algn="l">
              <a:lnSpc>
                <a:spcPct val="105000"/>
              </a:lnSpc>
              <a:buNone/>
            </a:pPr>
            <a:r>
              <a:rPr lang="en-US" sz="1200" dirty="0">
                <a:solidFill>
                  <a:srgbClr val="CFDCE8"/>
                </a:solidFill>
                <a:latin typeface="Segoe UI" pitchFamily="34" charset="0"/>
                <a:ea typeface="Segoe UI" pitchFamily="34" charset="-122"/>
                <a:cs typeface="Segoe UI" pitchFamily="34" charset="-120"/>
              </a:rPr>
              <a:t>false alarms / stand-yr on unseen stands</a:t>
            </a:r>
            <a:endParaRPr lang="en-US" sz="1200" dirty="0"/>
          </a:p>
        </p:txBody>
      </p:sp>
      <p:sp>
        <p:nvSpPr>
          <p:cNvPr id="17" name="a5float_c3"/>
          <p:cNvSpPr/>
          <p:nvPr/>
        </p:nvSpPr>
        <p:spPr>
          <a:xfrm>
            <a:off x="8878824" y="3429000"/>
            <a:ext cx="2560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sp>
      <p:sp>
        <p:nvSpPr>
          <p:cNvPr id="18" name="a5float_c3n"/>
          <p:cNvSpPr txBox="1"/>
          <p:nvPr/>
        </p:nvSpPr>
        <p:spPr>
          <a:xfrm>
            <a:off x="9079992" y="3502152"/>
            <a:ext cx="2194560" cy="502920"/>
          </a:xfrm>
          <a:prstGeom prst="rect">
            <a:avLst/>
          </a:prstGeom>
          <a:noFill/>
          <a:ln/>
        </p:spPr>
        <p:txBody>
          <a:bodyPr wrap="square" lIns="0" tIns="0" rIns="0" bIns="0" rtlCol="0" anchor="t"/>
          <a:lstStyle/>
          <a:p>
            <a:pPr marL="0" indent="0" algn="l">
              <a:lnSpc>
                <a:spcPct val="105000"/>
              </a:lnSpc>
              <a:buNone/>
            </a:pPr>
            <a:r>
              <a:rPr lang="en-US" sz="2800" dirty="0">
                <a:solidFill>
                  <a:srgbClr val="F1D9A0"/>
                </a:solidFill>
                <a:latin typeface="Segoe UI Light" pitchFamily="34" charset="0"/>
                <a:ea typeface="Segoe UI Light" pitchFamily="34" charset="-122"/>
                <a:cs typeface="Segoe UI Light" pitchFamily="34" charset="-120"/>
              </a:rPr>
              <a:t>Open</a:t>
            </a:r>
            <a:endParaRPr lang="en-US" sz="2800" dirty="0"/>
          </a:p>
        </p:txBody>
      </p:sp>
      <p:sp>
        <p:nvSpPr>
          <p:cNvPr id="19" name="a5float_c3t"/>
          <p:cNvSpPr txBox="1"/>
          <p:nvPr/>
        </p:nvSpPr>
        <p:spPr>
          <a:xfrm>
            <a:off x="9079992" y="4023360"/>
            <a:ext cx="2240280" cy="548640"/>
          </a:xfrm>
          <a:prstGeom prst="rect">
            <a:avLst/>
          </a:prstGeom>
          <a:noFill/>
          <a:ln/>
        </p:spPr>
        <p:txBody>
          <a:bodyPr wrap="square" lIns="0" tIns="0" rIns="0" bIns="0" rtlCol="0" anchor="t"/>
          <a:lstStyle/>
          <a:p>
            <a:pPr marL="0" indent="0" algn="l">
              <a:lnSpc>
                <a:spcPct val="105000"/>
              </a:lnSpc>
              <a:buNone/>
            </a:pPr>
            <a:r>
              <a:rPr lang="en-US" sz="1200" dirty="0">
                <a:solidFill>
                  <a:srgbClr val="CFDCE8"/>
                </a:solidFill>
                <a:latin typeface="Segoe UI" pitchFamily="34" charset="0"/>
                <a:ea typeface="Segoe UI" pitchFamily="34" charset="-122"/>
                <a:cs typeface="Segoe UI" pitchFamily="34" charset="-120"/>
              </a:rPr>
              <a:t>public code, re-runs in ~24 s</a:t>
            </a:r>
            <a:endParaRPr lang="en-US" sz="1200" dirty="0"/>
          </a:p>
        </p:txBody>
      </p:sp>
      <p:sp>
        <p:nvSpPr>
          <p:cNvPr id="20" name="a6float_ask"/>
          <p:cNvSpPr/>
          <p:nvPr/>
        </p:nvSpPr>
        <p:spPr>
          <a:xfrm>
            <a:off x="731520" y="4800600"/>
            <a:ext cx="10716768" cy="868680"/>
          </a:xfrm>
          <a:prstGeom prst="roundRect">
            <a:avLst>
              <a:gd name="adj" fmla="val 14737"/>
            </a:avLst>
          </a:prstGeom>
          <a:solidFill>
            <a:srgbClr val="BCD3EC">
              <a:alpha val="16000"/>
            </a:srgbClr>
          </a:solidFill>
          <a:ln w="9525">
            <a:solidFill>
              <a:srgbClr val="BCD3EC"/>
            </a:solidFill>
            <a:prstDash val="solid"/>
          </a:ln>
          <a:effectLst>
            <a:outerShdw blurRad="152400" dist="38100" dir="5400000" algn="bl" rotWithShape="0">
              <a:srgbClr val="1B2B40">
                <a:alpha val="25000"/>
              </a:srgbClr>
            </a:outerShdw>
          </a:effectLst>
        </p:spPr>
      </p:sp>
      <p:sp>
        <p:nvSpPr>
          <p:cNvPr id="21" name="a6float_askt"/>
          <p:cNvSpPr txBox="1"/>
          <p:nvPr/>
        </p:nvSpPr>
        <p:spPr>
          <a:xfrm>
            <a:off x="960120" y="4800600"/>
            <a:ext cx="10332720" cy="868680"/>
          </a:xfrm>
          <a:prstGeom prst="rect">
            <a:avLst/>
          </a:prstGeom>
          <a:noFill/>
          <a:ln/>
        </p:spPr>
        <p:txBody>
          <a:bodyPr wrap="square" lIns="0" tIns="0" rIns="0" bIns="0" rtlCol="0" anchor="ctr"/>
          <a:lstStyle/>
          <a:p>
            <a:pPr marL="0" indent="0" algn="l">
              <a:lnSpc>
                <a:spcPct val="105000"/>
              </a:lnSpc>
              <a:buNone/>
            </a:pPr>
            <a:r>
              <a:rPr lang="en-US" sz="1500" b="1" dirty="0">
                <a:solidFill>
                  <a:srgbClr val="E3EDF8"/>
                </a:solidFill>
                <a:latin typeface="Segoe UI" pitchFamily="34" charset="0"/>
                <a:ea typeface="Segoe UI" pitchFamily="34" charset="-122"/>
                <a:cs typeface="Segoe UI" pitchFamily="34" charset="-120"/>
              </a:rPr>
              <a:t>Our ask:  </a:t>
            </a:r>
            <a:r>
              <a:rPr lang="en-US" sz="1500" dirty="0">
                <a:solidFill>
                  <a:srgbClr val="FFFFFF"/>
                </a:solidFill>
                <a:latin typeface="Segoe UI" pitchFamily="34" charset="0"/>
                <a:ea typeface="Segoe UI" pitchFamily="34" charset="-122"/>
                <a:cs typeface="Segoe UI" pitchFamily="34" charset="-120"/>
              </a:rPr>
              <a:t>incubation to run a pilot with a Gulf agency or planting programme, mentor access on hyperspectral reading of mangroves, and Satellite 813 scenes when available.</a:t>
            </a:r>
            <a:endParaRPr lang="en-US" sz="1500" dirty="0"/>
          </a:p>
        </p:txBody>
      </p:sp>
      <p:sp>
        <p:nvSpPr>
          <p:cNvPr id="22" name="a7fade_links"/>
          <p:cNvSpPr txBox="1"/>
          <p:nvPr/>
        </p:nvSpPr>
        <p:spPr>
          <a:xfrm>
            <a:off x="731520" y="5897880"/>
            <a:ext cx="8229600" cy="320040"/>
          </a:xfrm>
          <a:prstGeom prst="rect">
            <a:avLst/>
          </a:prstGeom>
          <a:noFill/>
          <a:ln/>
        </p:spPr>
        <p:txBody>
          <a:bodyPr wrap="square" lIns="0" tIns="0" rIns="0" bIns="0" rtlCol="0" anchor="t"/>
          <a:lstStyle/>
          <a:p>
            <a:pPr marL="0" indent="0" algn="l">
              <a:lnSpc>
                <a:spcPct val="105000"/>
              </a:lnSpc>
              <a:buNone/>
            </a:pPr>
            <a:r>
              <a:rPr lang="en-US" sz="1300" dirty="0">
                <a:solidFill>
                  <a:srgbClr val="D5E2F0"/>
                </a:solidFill>
                <a:latin typeface="Segoe UI" pitchFamily="34" charset="0"/>
                <a:ea typeface="Segoe UI" pitchFamily="34" charset="-122"/>
                <a:cs typeface="Segoe UI" pitchFamily="34" charset="-120"/>
              </a:rPr>
              <a:t>nahla-nabil.github.io/blue-carbon-guardian   ·   github.com/Nahla-Nabil/blue-carbon-guardian</a:t>
            </a:r>
            <a:endParaRPr lang="en-US" sz="1300" dirty="0"/>
          </a:p>
        </p:txBody>
      </p:sp>
      <p:sp>
        <p:nvSpPr>
          <p:cNvPr id="23" name="a7fade_ty"/>
          <p:cNvSpPr txBox="1"/>
          <p:nvPr/>
        </p:nvSpPr>
        <p:spPr>
          <a:xfrm>
            <a:off x="9052560" y="5833872"/>
            <a:ext cx="2395728" cy="411480"/>
          </a:xfrm>
          <a:prstGeom prst="rect">
            <a:avLst/>
          </a:prstGeom>
          <a:noFill/>
          <a:ln/>
        </p:spPr>
        <p:txBody>
          <a:bodyPr wrap="square" lIns="0" tIns="0" rIns="0" bIns="0" rtlCol="0" anchor="t"/>
          <a:lstStyle/>
          <a:p>
            <a:pPr marL="0" indent="0" algn="r">
              <a:lnSpc>
                <a:spcPct val="105000"/>
              </a:lnSpc>
              <a:buNone/>
            </a:pPr>
            <a:r>
              <a:rPr lang="en-US" sz="2000" dirty="0">
                <a:solidFill>
                  <a:srgbClr val="F1D9A0"/>
                </a:solidFill>
                <a:latin typeface="Segoe UI Semibold" pitchFamily="34" charset="0"/>
                <a:ea typeface="Segoe UI Semibold" pitchFamily="34" charset="-122"/>
                <a:cs typeface="Segoe UI Semibold" pitchFamily="34" charset="-120"/>
              </a:rPr>
              <a:t>Thank you</a:t>
            </a:r>
            <a:endParaRPr lang="en-US" sz="2000" dirty="0"/>
          </a:p>
        </p:txBody>
      </p:sp>
      <p:pic>
        <p:nvPicPr>
          <p:cNvPr id="24" name="a7fade_fae" descr="C:\Users\nahla\Desktop\UAE-Space-Hackatoon\deck_pptx\flag_ae.png"/>
          <p:cNvPicPr>
            <a:picLocks noChangeAspect="1"/>
          </p:cNvPicPr>
          <p:nvPr/>
        </p:nvPicPr>
        <p:blipFill>
          <a:blip r:embed="rId5"/>
          <a:stretch>
            <a:fillRect/>
          </a:stretch>
        </p:blipFill>
        <p:spPr>
          <a:xfrm>
            <a:off x="9326880" y="5934456"/>
            <a:ext cx="402336" cy="201168"/>
          </a:xfrm>
          <a:prstGeom prst="rect">
            <a:avLst/>
          </a:prstGeom>
        </p:spPr>
      </p:pic>
      <p:pic>
        <p:nvPicPr>
          <p:cNvPr id="25" name="a7fade_fbh" descr="C:\Users\nahla\Desktop\UAE-Space-Hackatoon\deck_pptx\flag_bh.png"/>
          <p:cNvPicPr>
            <a:picLocks noChangeAspect="1"/>
          </p:cNvPicPr>
          <p:nvPr/>
        </p:nvPicPr>
        <p:blipFill>
          <a:blip r:embed="rId6"/>
          <a:stretch>
            <a:fillRect/>
          </a:stretch>
        </p:blipFill>
        <p:spPr>
          <a:xfrm>
            <a:off x="9802368" y="5934456"/>
            <a:ext cx="338328" cy="20116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42" presetClass="entr" presetSubtype="0" decel="100000" fill="hold" grpId="0" nodeType="withEffect">
                                  <p:stCondLst>
                                    <p:cond delay="47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anim calcmode="lin" valueType="num">
                                      <p:cBhvr additive="base">
                                        <p:cTn id="11" dur="700" fill="hold"/>
                                        <p:tgtEl>
                                          <p:spTgt spid="6"/>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69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69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700"/>
                                        <p:tgtEl>
                                          <p:spTgt spid="9"/>
                                        </p:tgtEl>
                                      </p:cBhvr>
                                    </p:animEffect>
                                    <p:anim calcmode="lin" valueType="num">
                                      <p:cBhvr additive="base">
                                        <p:cTn id="23" dur="700" fill="hold"/>
                                        <p:tgtEl>
                                          <p:spTgt spid="9"/>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69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700"/>
                                        <p:tgtEl>
                                          <p:spTgt spid="10"/>
                                        </p:tgtEl>
                                      </p:cBhvr>
                                    </p:animEffect>
                                    <p:anim calcmode="lin" valueType="num">
                                      <p:cBhvr additive="base">
                                        <p:cTn id="27" dur="700" fill="hold"/>
                                        <p:tgtEl>
                                          <p:spTgt spid="10"/>
                                        </p:tgtEl>
                                        <p:attrNameLst>
                                          <p:attrName>ppt_y</p:attrName>
                                        </p:attrNameLst>
                                      </p:cBhvr>
                                      <p:tavLst>
                                        <p:tav tm="0">
                                          <p:val>
                                            <p:strVal val="#ppt_y+0.03"/>
                                          </p:val>
                                        </p:tav>
                                        <p:tav tm="100000">
                                          <p:val>
                                            <p:strVal val="#ppt_y"/>
                                          </p:val>
                                        </p:tav>
                                      </p:tavLst>
                                    </p:anim>
                                  </p:childTnLst>
                                </p:cTn>
                              </p:par>
                              <p:par>
                                <p:cTn id="28" presetID="42" presetClass="entr" presetSubtype="0" decel="100000" fill="hold" grpId="0" nodeType="withEffect">
                                  <p:stCondLst>
                                    <p:cond delay="91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00"/>
                                        <p:tgtEl>
                                          <p:spTgt spid="11"/>
                                        </p:tgtEl>
                                      </p:cBhvr>
                                    </p:animEffect>
                                    <p:anim calcmode="lin" valueType="num">
                                      <p:cBhvr additive="base">
                                        <p:cTn id="31" dur="700" fill="hold"/>
                                        <p:tgtEl>
                                          <p:spTgt spid="11"/>
                                        </p:tgtEl>
                                        <p:attrNameLst>
                                          <p:attrName>ppt_y</p:attrName>
                                        </p:attrNameLst>
                                      </p:cBhvr>
                                      <p:tavLst>
                                        <p:tav tm="0">
                                          <p:val>
                                            <p:strVal val="#ppt_y+0.03"/>
                                          </p:val>
                                        </p:tav>
                                        <p:tav tm="100000">
                                          <p:val>
                                            <p:strVal val="#ppt_y"/>
                                          </p:val>
                                        </p:tav>
                                      </p:tavLst>
                                    </p:anim>
                                  </p:childTnLst>
                                </p:cTn>
                              </p:par>
                              <p:par>
                                <p:cTn id="32" presetID="42" presetClass="entr" presetSubtype="0" decel="100000" fill="hold" grpId="0" nodeType="withEffect">
                                  <p:stCondLst>
                                    <p:cond delay="91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700"/>
                                        <p:tgtEl>
                                          <p:spTgt spid="12"/>
                                        </p:tgtEl>
                                      </p:cBhvr>
                                    </p:animEffect>
                                    <p:anim calcmode="lin" valueType="num">
                                      <p:cBhvr additive="base">
                                        <p:cTn id="35" dur="700" fill="hold"/>
                                        <p:tgtEl>
                                          <p:spTgt spid="12"/>
                                        </p:tgtEl>
                                        <p:attrNameLst>
                                          <p:attrName>ppt_y</p:attrName>
                                        </p:attrNameLst>
                                      </p:cBhvr>
                                      <p:tavLst>
                                        <p:tav tm="0">
                                          <p:val>
                                            <p:strVal val="#ppt_y+0.03"/>
                                          </p:val>
                                        </p:tav>
                                        <p:tav tm="100000">
                                          <p:val>
                                            <p:strVal val="#ppt_y"/>
                                          </p:val>
                                        </p:tav>
                                      </p:tavLst>
                                    </p:anim>
                                  </p:childTnLst>
                                </p:cTn>
                              </p:par>
                              <p:par>
                                <p:cTn id="36" presetID="42" presetClass="entr" presetSubtype="0" decel="100000" fill="hold" grpId="0" nodeType="withEffect">
                                  <p:stCondLst>
                                    <p:cond delay="91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700"/>
                                        <p:tgtEl>
                                          <p:spTgt spid="13"/>
                                        </p:tgtEl>
                                      </p:cBhvr>
                                    </p:animEffect>
                                    <p:anim calcmode="lin" valueType="num">
                                      <p:cBhvr additive="base">
                                        <p:cTn id="39" dur="700" fill="hold"/>
                                        <p:tgtEl>
                                          <p:spTgt spid="13"/>
                                        </p:tgtEl>
                                        <p:attrNameLst>
                                          <p:attrName>ppt_y</p:attrName>
                                        </p:attrNameLst>
                                      </p:cBhvr>
                                      <p:tavLst>
                                        <p:tav tm="0">
                                          <p:val>
                                            <p:strVal val="#ppt_y+0.03"/>
                                          </p:val>
                                        </p:tav>
                                        <p:tav tm="100000">
                                          <p:val>
                                            <p:strVal val="#ppt_y"/>
                                          </p:val>
                                        </p:tav>
                                      </p:tavLst>
                                    </p:anim>
                                  </p:childTnLst>
                                </p:cTn>
                              </p:par>
                              <p:par>
                                <p:cTn id="40" presetID="42" presetClass="entr" presetSubtype="0" decel="100000" fill="hold" grpId="0" nodeType="withEffect">
                                  <p:stCondLst>
                                    <p:cond delay="113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700"/>
                                        <p:tgtEl>
                                          <p:spTgt spid="14"/>
                                        </p:tgtEl>
                                      </p:cBhvr>
                                    </p:animEffect>
                                    <p:anim calcmode="lin" valueType="num">
                                      <p:cBhvr additive="base">
                                        <p:cTn id="43" dur="700" fill="hold"/>
                                        <p:tgtEl>
                                          <p:spTgt spid="14"/>
                                        </p:tgtEl>
                                        <p:attrNameLst>
                                          <p:attrName>ppt_y</p:attrName>
                                        </p:attrNameLst>
                                      </p:cBhvr>
                                      <p:tavLst>
                                        <p:tav tm="0">
                                          <p:val>
                                            <p:strVal val="#ppt_y+0.03"/>
                                          </p:val>
                                        </p:tav>
                                        <p:tav tm="100000">
                                          <p:val>
                                            <p:strVal val="#ppt_y"/>
                                          </p:val>
                                        </p:tav>
                                      </p:tavLst>
                                    </p:anim>
                                  </p:childTnLst>
                                </p:cTn>
                              </p:par>
                              <p:par>
                                <p:cTn id="44" presetID="42" presetClass="entr" presetSubtype="0" decel="100000" fill="hold" grpId="0" nodeType="withEffect">
                                  <p:stCondLst>
                                    <p:cond delay="113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700"/>
                                        <p:tgtEl>
                                          <p:spTgt spid="15"/>
                                        </p:tgtEl>
                                      </p:cBhvr>
                                    </p:animEffect>
                                    <p:anim calcmode="lin" valueType="num">
                                      <p:cBhvr additive="base">
                                        <p:cTn id="47" dur="700" fill="hold"/>
                                        <p:tgtEl>
                                          <p:spTgt spid="15"/>
                                        </p:tgtEl>
                                        <p:attrNameLst>
                                          <p:attrName>ppt_y</p:attrName>
                                        </p:attrNameLst>
                                      </p:cBhvr>
                                      <p:tavLst>
                                        <p:tav tm="0">
                                          <p:val>
                                            <p:strVal val="#ppt_y+0.03"/>
                                          </p:val>
                                        </p:tav>
                                        <p:tav tm="100000">
                                          <p:val>
                                            <p:strVal val="#ppt_y"/>
                                          </p:val>
                                        </p:tav>
                                      </p:tavLst>
                                    </p:anim>
                                  </p:childTnLst>
                                </p:cTn>
                              </p:par>
                              <p:par>
                                <p:cTn id="48" presetID="42" presetClass="entr" presetSubtype="0" decel="100000" fill="hold" grpId="0" nodeType="withEffect">
                                  <p:stCondLst>
                                    <p:cond delay="113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additive="base">
                                        <p:cTn id="51" dur="700" fill="hold"/>
                                        <p:tgtEl>
                                          <p:spTgt spid="16"/>
                                        </p:tgtEl>
                                        <p:attrNameLst>
                                          <p:attrName>ppt_y</p:attrName>
                                        </p:attrNameLst>
                                      </p:cBhvr>
                                      <p:tavLst>
                                        <p:tav tm="0">
                                          <p:val>
                                            <p:strVal val="#ppt_y+0.03"/>
                                          </p:val>
                                        </p:tav>
                                        <p:tav tm="100000">
                                          <p:val>
                                            <p:strVal val="#ppt_y"/>
                                          </p:val>
                                        </p:tav>
                                      </p:tavLst>
                                    </p:anim>
                                  </p:childTnLst>
                                </p:cTn>
                              </p:par>
                              <p:par>
                                <p:cTn id="52" presetID="42" presetClass="entr" presetSubtype="0" decel="100000" fill="hold" grpId="0" nodeType="withEffect">
                                  <p:stCondLst>
                                    <p:cond delay="135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700"/>
                                        <p:tgtEl>
                                          <p:spTgt spid="17"/>
                                        </p:tgtEl>
                                      </p:cBhvr>
                                    </p:animEffect>
                                    <p:anim calcmode="lin" valueType="num">
                                      <p:cBhvr additive="base">
                                        <p:cTn id="55" dur="700" fill="hold"/>
                                        <p:tgtEl>
                                          <p:spTgt spid="17"/>
                                        </p:tgtEl>
                                        <p:attrNameLst>
                                          <p:attrName>ppt_y</p:attrName>
                                        </p:attrNameLst>
                                      </p:cBhvr>
                                      <p:tavLst>
                                        <p:tav tm="0">
                                          <p:val>
                                            <p:strVal val="#ppt_y+0.03"/>
                                          </p:val>
                                        </p:tav>
                                        <p:tav tm="100000">
                                          <p:val>
                                            <p:strVal val="#ppt_y"/>
                                          </p:val>
                                        </p:tav>
                                      </p:tavLst>
                                    </p:anim>
                                  </p:childTnLst>
                                </p:cTn>
                              </p:par>
                              <p:par>
                                <p:cTn id="56" presetID="42" presetClass="entr" presetSubtype="0" decel="100000" fill="hold" grpId="0" nodeType="withEffect">
                                  <p:stCondLst>
                                    <p:cond delay="135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700"/>
                                        <p:tgtEl>
                                          <p:spTgt spid="18"/>
                                        </p:tgtEl>
                                      </p:cBhvr>
                                    </p:animEffect>
                                    <p:anim calcmode="lin" valueType="num">
                                      <p:cBhvr additive="base">
                                        <p:cTn id="59" dur="700" fill="hold"/>
                                        <p:tgtEl>
                                          <p:spTgt spid="18"/>
                                        </p:tgtEl>
                                        <p:attrNameLst>
                                          <p:attrName>ppt_y</p:attrName>
                                        </p:attrNameLst>
                                      </p:cBhvr>
                                      <p:tavLst>
                                        <p:tav tm="0">
                                          <p:val>
                                            <p:strVal val="#ppt_y+0.03"/>
                                          </p:val>
                                        </p:tav>
                                        <p:tav tm="100000">
                                          <p:val>
                                            <p:strVal val="#ppt_y"/>
                                          </p:val>
                                        </p:tav>
                                      </p:tavLst>
                                    </p:anim>
                                  </p:childTnLst>
                                </p:cTn>
                              </p:par>
                              <p:par>
                                <p:cTn id="60" presetID="42" presetClass="entr" presetSubtype="0" decel="100000" fill="hold" grpId="0" nodeType="withEffect">
                                  <p:stCondLst>
                                    <p:cond delay="135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700"/>
                                        <p:tgtEl>
                                          <p:spTgt spid="19"/>
                                        </p:tgtEl>
                                      </p:cBhvr>
                                    </p:animEffect>
                                    <p:anim calcmode="lin" valueType="num">
                                      <p:cBhvr additive="base">
                                        <p:cTn id="63" dur="700" fill="hold"/>
                                        <p:tgtEl>
                                          <p:spTgt spid="19"/>
                                        </p:tgtEl>
                                        <p:attrNameLst>
                                          <p:attrName>ppt_y</p:attrName>
                                        </p:attrNameLst>
                                      </p:cBhvr>
                                      <p:tavLst>
                                        <p:tav tm="0">
                                          <p:val>
                                            <p:strVal val="#ppt_y+0.03"/>
                                          </p:val>
                                        </p:tav>
                                        <p:tav tm="100000">
                                          <p:val>
                                            <p:strVal val="#ppt_y"/>
                                          </p:val>
                                        </p:tav>
                                      </p:tavLst>
                                    </p:anim>
                                  </p:childTnLst>
                                </p:cTn>
                              </p:par>
                              <p:par>
                                <p:cTn id="64" presetID="42" presetClass="entr" presetSubtype="0" decel="100000" fill="hold" grpId="0" nodeType="withEffect">
                                  <p:stCondLst>
                                    <p:cond delay="157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700"/>
                                        <p:tgtEl>
                                          <p:spTgt spid="20"/>
                                        </p:tgtEl>
                                      </p:cBhvr>
                                    </p:animEffect>
                                    <p:anim calcmode="lin" valueType="num">
                                      <p:cBhvr additive="base">
                                        <p:cTn id="67" dur="700" fill="hold"/>
                                        <p:tgtEl>
                                          <p:spTgt spid="20"/>
                                        </p:tgtEl>
                                        <p:attrNameLst>
                                          <p:attrName>ppt_y</p:attrName>
                                        </p:attrNameLst>
                                      </p:cBhvr>
                                      <p:tavLst>
                                        <p:tav tm="0">
                                          <p:val>
                                            <p:strVal val="#ppt_y+0.03"/>
                                          </p:val>
                                        </p:tav>
                                        <p:tav tm="100000">
                                          <p:val>
                                            <p:strVal val="#ppt_y"/>
                                          </p:val>
                                        </p:tav>
                                      </p:tavLst>
                                    </p:anim>
                                  </p:childTnLst>
                                </p:cTn>
                              </p:par>
                              <p:par>
                                <p:cTn id="68" presetID="42" presetClass="entr" presetSubtype="0" decel="100000" fill="hold" grpId="0" nodeType="withEffect">
                                  <p:stCondLst>
                                    <p:cond delay="157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700"/>
                                        <p:tgtEl>
                                          <p:spTgt spid="21"/>
                                        </p:tgtEl>
                                      </p:cBhvr>
                                    </p:animEffect>
                                    <p:anim calcmode="lin" valueType="num">
                                      <p:cBhvr additive="base">
                                        <p:cTn id="71" dur="700" fill="hold"/>
                                        <p:tgtEl>
                                          <p:spTgt spid="21"/>
                                        </p:tgtEl>
                                        <p:attrNameLst>
                                          <p:attrName>ppt_y</p:attrName>
                                        </p:attrNameLst>
                                      </p:cBhvr>
                                      <p:tavLst>
                                        <p:tav tm="0">
                                          <p:val>
                                            <p:strVal val="#ppt_y+0.03"/>
                                          </p:val>
                                        </p:tav>
                                        <p:tav tm="100000">
                                          <p:val>
                                            <p:strVal val="#ppt_y"/>
                                          </p:val>
                                        </p:tav>
                                      </p:tavLst>
                                    </p:anim>
                                  </p:childTnLst>
                                </p:cTn>
                              </p:par>
                              <p:par>
                                <p:cTn id="72" presetID="10" presetClass="entr" presetSubtype="0" decel="100000" fill="hold" grpId="0" nodeType="withEffect">
                                  <p:stCondLst>
                                    <p:cond delay="179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600"/>
                                        <p:tgtEl>
                                          <p:spTgt spid="22"/>
                                        </p:tgtEl>
                                      </p:cBhvr>
                                    </p:animEffect>
                                  </p:childTnLst>
                                </p:cTn>
                              </p:par>
                              <p:par>
                                <p:cTn id="75" presetID="10" presetClass="entr" presetSubtype="0" decel="100000" fill="hold" grpId="0" nodeType="withEffect">
                                  <p:stCondLst>
                                    <p:cond delay="179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600"/>
                                        <p:tgtEl>
                                          <p:spTgt spid="23"/>
                                        </p:tgtEl>
                                      </p:cBhvr>
                                    </p:animEffect>
                                  </p:childTnLst>
                                </p:cTn>
                              </p:par>
                              <p:par>
                                <p:cTn id="78" presetID="10" presetClass="entr" presetSubtype="0" decel="100000" fill="hold" grpId="0" nodeType="withEffect">
                                  <p:stCondLst>
                                    <p:cond delay="179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600"/>
                                        <p:tgtEl>
                                          <p:spTgt spid="24"/>
                                        </p:tgtEl>
                                      </p:cBhvr>
                                    </p:animEffect>
                                  </p:childTnLst>
                                </p:cTn>
                              </p:par>
                              <p:par>
                                <p:cTn id="81" presetID="10" presetClass="entr" presetSubtype="0" decel="100000" fill="hold" grpId="0" nodeType="withEffect">
                                  <p:stCondLst>
                                    <p:cond delay="179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6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6949440" y="-2560320"/>
            <a:ext cx="6858000" cy="68580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560320" y="2926080"/>
            <a:ext cx="6858000" cy="6858000"/>
          </a:xfrm>
          <a:prstGeom prst="rect">
            <a:avLst/>
          </a:prstGeom>
        </p:spPr>
      </p:pic>
      <p:sp>
        <p:nvSpPr>
          <p:cNvPr id="5" name="a1zoom_flagbg"/>
          <p:cNvSpPr/>
          <p:nvPr/>
        </p:nvSpPr>
        <p:spPr>
          <a:xfrm>
            <a:off x="676656" y="1024128"/>
            <a:ext cx="2670048" cy="1353312"/>
          </a:xfrm>
          <a:prstGeom prst="roundRect">
            <a:avLst>
              <a:gd name="adj" fmla="val 4054"/>
            </a:avLst>
          </a:prstGeom>
          <a:solidFill>
            <a:srgbClr val="FFFFFF"/>
          </a:solidFill>
          <a:ln/>
          <a:effectLst>
            <a:outerShdw blurRad="152400" dist="38100" dir="5400000" algn="bl" rotWithShape="0">
              <a:srgbClr val="1B2B40">
                <a:alpha val="25000"/>
              </a:srgbClr>
            </a:outerShdw>
          </a:effectLst>
        </p:spPr>
      </p:sp>
      <p:pic>
        <p:nvPicPr>
          <p:cNvPr id="6" name="a1zoom_flag" descr="C:\Users\nahla\Desktop\UAE-Space-Hackatoon\deck_pptx\flag_ae.png"/>
          <p:cNvPicPr>
            <a:picLocks noChangeAspect="1"/>
          </p:cNvPicPr>
          <p:nvPr/>
        </p:nvPicPr>
        <p:blipFill>
          <a:blip r:embed="rId5"/>
          <a:stretch>
            <a:fillRect/>
          </a:stretch>
        </p:blipFill>
        <p:spPr>
          <a:xfrm>
            <a:off x="731520" y="1078992"/>
            <a:ext cx="2560320" cy="1243584"/>
          </a:xfrm>
          <a:prstGeom prst="rect">
            <a:avLst/>
          </a:prstGeom>
        </p:spPr>
      </p:pic>
      <p:sp>
        <p:nvSpPr>
          <p:cNvPr id="7" name="a2float_ty"/>
          <p:cNvSpPr txBox="1"/>
          <p:nvPr/>
        </p:nvSpPr>
        <p:spPr>
          <a:xfrm>
            <a:off x="3611880" y="896112"/>
            <a:ext cx="7863840" cy="960120"/>
          </a:xfrm>
          <a:prstGeom prst="rect">
            <a:avLst/>
          </a:prstGeom>
          <a:noFill/>
          <a:ln/>
        </p:spPr>
        <p:txBody>
          <a:bodyPr wrap="square" lIns="0" tIns="0" rIns="0" bIns="0" rtlCol="0" anchor="t"/>
          <a:lstStyle/>
          <a:p>
            <a:pPr marL="0" indent="0" algn="l">
              <a:lnSpc>
                <a:spcPct val="105000"/>
              </a:lnSpc>
              <a:buNone/>
            </a:pPr>
            <a:r>
              <a:rPr lang="en-US" sz="6000" dirty="0">
                <a:solidFill>
                  <a:srgbClr val="FFFFFF"/>
                </a:solidFill>
                <a:latin typeface="Segoe UI Semibold" pitchFamily="34" charset="0"/>
                <a:ea typeface="Segoe UI Semibold" pitchFamily="34" charset="-122"/>
                <a:cs typeface="Segoe UI Semibold" pitchFamily="34" charset="-120"/>
              </a:rPr>
              <a:t>Thank you</a:t>
            </a:r>
            <a:endParaRPr lang="en-US" sz="6000" dirty="0"/>
          </a:p>
        </p:txBody>
      </p:sp>
      <p:sp>
        <p:nvSpPr>
          <p:cNvPr id="8" name="a2float_tyar"/>
          <p:cNvSpPr txBox="1"/>
          <p:nvPr/>
        </p:nvSpPr>
        <p:spPr>
          <a:xfrm>
            <a:off x="3639312" y="1810512"/>
            <a:ext cx="7863840" cy="685800"/>
          </a:xfrm>
          <a:prstGeom prst="rect">
            <a:avLst/>
          </a:prstGeom>
          <a:noFill/>
          <a:ln/>
        </p:spPr>
        <p:txBody>
          <a:bodyPr wrap="square" lIns="0" tIns="0" rIns="0" bIns="0" rtlCol="0" anchor="t"/>
          <a:lstStyle/>
          <a:p>
            <a:pPr marL="0" indent="0" algn="l">
              <a:lnSpc>
                <a:spcPct val="105000"/>
              </a:lnSpc>
              <a:buNone/>
            </a:pPr>
            <a:r>
              <a:rPr lang="en-US" sz="3200" dirty="0">
                <a:solidFill>
                  <a:srgbClr val="D4E2EE"/>
                </a:solidFill>
                <a:latin typeface="Segoe UI Semibold" pitchFamily="34" charset="0"/>
                <a:ea typeface="Segoe UI Semibold" pitchFamily="34" charset="-122"/>
                <a:cs typeface="Segoe UI Semibold" pitchFamily="34" charset="-120"/>
              </a:rPr>
              <a:t>شكراً للإمارات</a:t>
            </a:r>
            <a:endParaRPr lang="en-US" sz="3200" dirty="0"/>
          </a:p>
        </p:txBody>
      </p:sp>
      <p:sp>
        <p:nvSpPr>
          <p:cNvPr id="9" name="a3float_uae"/>
          <p:cNvSpPr txBox="1"/>
          <p:nvPr/>
        </p:nvSpPr>
        <p:spPr>
          <a:xfrm>
            <a:off x="731520" y="2880360"/>
            <a:ext cx="10698480" cy="1051560"/>
          </a:xfrm>
          <a:prstGeom prst="rect">
            <a:avLst/>
          </a:prstGeom>
          <a:noFill/>
          <a:ln/>
        </p:spPr>
        <p:txBody>
          <a:bodyPr wrap="square" lIns="0" tIns="0" rIns="0" bIns="0" rtlCol="0" anchor="t"/>
          <a:lstStyle/>
          <a:p>
            <a:pPr marL="0" indent="0" algn="l">
              <a:lnSpc>
                <a:spcPct val="105000"/>
              </a:lnSpc>
              <a:buNone/>
            </a:pPr>
            <a:r>
              <a:rPr lang="en-US" sz="2400" dirty="0">
                <a:solidFill>
                  <a:srgbClr val="FFFFFF"/>
                </a:solidFill>
                <a:latin typeface="Segoe UI Light" pitchFamily="34" charset="0"/>
                <a:ea typeface="Segoe UI Light" pitchFamily="34" charset="-122"/>
                <a:cs typeface="Segoe UI Light" pitchFamily="34" charset="-120"/>
              </a:rPr>
              <a:t>To the </a:t>
            </a:r>
            <a:r>
              <a:rPr lang="en-US" sz="2400" b="1" dirty="0">
                <a:solidFill>
                  <a:srgbClr val="F1D9A0"/>
                </a:solidFill>
                <a:latin typeface="Segoe UI Light" pitchFamily="34" charset="0"/>
                <a:ea typeface="Segoe UI Light" pitchFamily="34" charset="-122"/>
                <a:cs typeface="Segoe UI Light" pitchFamily="34" charset="-120"/>
              </a:rPr>
              <a:t>United Arab Emirates</a:t>
            </a:r>
            <a:r>
              <a:rPr lang="en-US" sz="2400" dirty="0">
                <a:solidFill>
                  <a:srgbClr val="FFFFFF"/>
                </a:solidFill>
                <a:latin typeface="Segoe UI Light" pitchFamily="34" charset="0"/>
                <a:ea typeface="Segoe UI Light" pitchFamily="34" charset="-122"/>
                <a:cs typeface="Segoe UI Light" pitchFamily="34" charset="-120"/>
              </a:rPr>
              <a:t> — for leading the region in protecting its mangroves, and for opening space to Arab youth.</a:t>
            </a:r>
            <a:endParaRPr lang="en-US" sz="2400" dirty="0"/>
          </a:p>
        </p:txBody>
      </p:sp>
      <p:sp>
        <p:nvSpPr>
          <p:cNvPr id="10" name="a4float_org"/>
          <p:cNvSpPr/>
          <p:nvPr/>
        </p:nvSpPr>
        <p:spPr>
          <a:xfrm>
            <a:off x="731520" y="4160520"/>
            <a:ext cx="10716768" cy="868680"/>
          </a:xfrm>
          <a:prstGeom prst="roundRect">
            <a:avLst>
              <a:gd name="adj" fmla="val 14737"/>
            </a:avLst>
          </a:prstGeom>
          <a:solidFill>
            <a:srgbClr val="BCD3EC">
              <a:alpha val="16000"/>
            </a:srgbClr>
          </a:solidFill>
          <a:ln w="9525">
            <a:solidFill>
              <a:srgbClr val="BCD3EC"/>
            </a:solidFill>
            <a:prstDash val="solid"/>
          </a:ln>
          <a:effectLst>
            <a:outerShdw blurRad="152400" dist="38100" dir="5400000" algn="bl" rotWithShape="0">
              <a:srgbClr val="1B2B40">
                <a:alpha val="25000"/>
              </a:srgbClr>
            </a:outerShdw>
          </a:effectLst>
        </p:spPr>
      </p:sp>
      <p:sp>
        <p:nvSpPr>
          <p:cNvPr id="11" name="a4float_orgt"/>
          <p:cNvSpPr txBox="1"/>
          <p:nvPr/>
        </p:nvSpPr>
        <p:spPr>
          <a:xfrm>
            <a:off x="960120" y="4160520"/>
            <a:ext cx="10332720" cy="868680"/>
          </a:xfrm>
          <a:prstGeom prst="rect">
            <a:avLst/>
          </a:prstGeom>
          <a:noFill/>
          <a:ln/>
        </p:spPr>
        <p:txBody>
          <a:bodyPr wrap="square" lIns="0" tIns="0" rIns="0" bIns="0" rtlCol="0" anchor="ctr"/>
          <a:lstStyle/>
          <a:p>
            <a:pPr marL="0" indent="0" algn="l">
              <a:lnSpc>
                <a:spcPct val="105000"/>
              </a:lnSpc>
              <a:buNone/>
            </a:pPr>
            <a:r>
              <a:rPr lang="en-US" sz="1700" b="1" dirty="0">
                <a:solidFill>
                  <a:srgbClr val="E3EDF8"/>
                </a:solidFill>
                <a:latin typeface="Segoe UI" pitchFamily="34" charset="0"/>
                <a:ea typeface="Segoe UI" pitchFamily="34" charset="-122"/>
                <a:cs typeface="Segoe UI" pitchFamily="34" charset="-120"/>
              </a:rPr>
              <a:t>With thanks to:  </a:t>
            </a:r>
            <a:r>
              <a:rPr lang="en-US" sz="1700" dirty="0">
                <a:solidFill>
                  <a:srgbClr val="FFFFFF"/>
                </a:solidFill>
                <a:latin typeface="Segoe UI" pitchFamily="34" charset="0"/>
                <a:ea typeface="Segoe UI" pitchFamily="34" charset="-122"/>
                <a:cs typeface="Segoe UI" pitchFamily="34" charset="-120"/>
              </a:rPr>
              <a:t>UAE Space Agency  ·  National Space Academy  ·  Space42  ·  the mentors and the judges</a:t>
            </a:r>
            <a:endParaRPr lang="en-US" sz="1700" dirty="0"/>
          </a:p>
        </p:txBody>
      </p:sp>
      <p:pic>
        <p:nvPicPr>
          <p:cNvPr id="12" name="a5fade_fbh" descr="C:\Users\nahla\Desktop\UAE-Space-Hackatoon\deck_pptx\flag_bh.png"/>
          <p:cNvPicPr>
            <a:picLocks noChangeAspect="1"/>
          </p:cNvPicPr>
          <p:nvPr/>
        </p:nvPicPr>
        <p:blipFill>
          <a:blip r:embed="rId6"/>
          <a:stretch>
            <a:fillRect/>
          </a:stretch>
        </p:blipFill>
        <p:spPr>
          <a:xfrm>
            <a:off x="731520" y="5559552"/>
            <a:ext cx="384048" cy="228600"/>
          </a:xfrm>
          <a:prstGeom prst="rect">
            <a:avLst/>
          </a:prstGeom>
        </p:spPr>
      </p:pic>
      <p:sp>
        <p:nvSpPr>
          <p:cNvPr id="13" name="a5fade_from"/>
          <p:cNvSpPr txBox="1"/>
          <p:nvPr/>
        </p:nvSpPr>
        <p:spPr>
          <a:xfrm>
            <a:off x="1207008" y="5468112"/>
            <a:ext cx="8229600" cy="411480"/>
          </a:xfrm>
          <a:prstGeom prst="rect">
            <a:avLst/>
          </a:prstGeom>
          <a:noFill/>
          <a:ln/>
        </p:spPr>
        <p:txBody>
          <a:bodyPr wrap="square" lIns="0" tIns="0" rIns="0" bIns="0" rtlCol="0" anchor="ctr"/>
          <a:lstStyle/>
          <a:p>
            <a:pPr marL="0" indent="0" algn="l">
              <a:lnSpc>
                <a:spcPct val="105000"/>
              </a:lnSpc>
              <a:buNone/>
            </a:pPr>
            <a:r>
              <a:rPr lang="en-US" sz="1400" dirty="0">
                <a:solidFill>
                  <a:srgbClr val="D4E2EE"/>
                </a:solidFill>
                <a:latin typeface="Segoe UI" pitchFamily="34" charset="0"/>
                <a:ea typeface="Segoe UI" pitchFamily="34" charset="-122"/>
                <a:cs typeface="Segoe UI" pitchFamily="34" charset="-120"/>
              </a:rPr>
              <a:t>From Bahrain, with gratitude  —  Nahla Nabil  ·  Team Blue Athar</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decel="100000" fill="hold" grpId="0" nodeType="withEffect">
                                  <p:stCondLst>
                                    <p:cond delay="47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00"/>
                                        <p:tgtEl>
                                          <p:spTgt spid="5"/>
                                        </p:tgtEl>
                                      </p:cBhvr>
                                    </p:animEffect>
                                    <p:anim calcmode="lin" valueType="num">
                                      <p:cBhvr additive="base">
                                        <p:cTn id="8" dur="800" fill="hold"/>
                                        <p:tgtEl>
                                          <p:spTgt spid="5"/>
                                        </p:tgtEl>
                                        <p:attrNameLst>
                                          <p:attrName>ppt_w</p:attrName>
                                        </p:attrNameLst>
                                      </p:cBhvr>
                                      <p:tavLst>
                                        <p:tav tm="0">
                                          <p:val>
                                            <p:strVal val="#ppt_w*0.85"/>
                                          </p:val>
                                        </p:tav>
                                        <p:tav tm="100000">
                                          <p:val>
                                            <p:strVal val="#ppt_w"/>
                                          </p:val>
                                        </p:tav>
                                      </p:tavLst>
                                    </p:anim>
                                    <p:anim calcmode="lin" valueType="num">
                                      <p:cBhvr additive="base">
                                        <p:cTn id="9" dur="800" fill="hold"/>
                                        <p:tgtEl>
                                          <p:spTgt spid="5"/>
                                        </p:tgtEl>
                                        <p:attrNameLst>
                                          <p:attrName>ppt_h</p:attrName>
                                        </p:attrNameLst>
                                      </p:cBhvr>
                                      <p:tavLst>
                                        <p:tav tm="0">
                                          <p:val>
                                            <p:strVal val="#ppt_h*0.85"/>
                                          </p:val>
                                        </p:tav>
                                        <p:tav tm="100000">
                                          <p:val>
                                            <p:strVal val="#ppt_h"/>
                                          </p:val>
                                        </p:tav>
                                      </p:tavLst>
                                    </p:anim>
                                  </p:childTnLst>
                                </p:cTn>
                              </p:par>
                              <p:par>
                                <p:cTn id="10" presetID="53" presetClass="entr" presetSubtype="16" decel="100000" fill="hold" grpId="0" nodeType="withEffect">
                                  <p:stCondLst>
                                    <p:cond delay="47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700"/>
                                        <p:tgtEl>
                                          <p:spTgt spid="6"/>
                                        </p:tgtEl>
                                      </p:cBhvr>
                                    </p:animEffect>
                                    <p:anim calcmode="lin" valueType="num">
                                      <p:cBhvr additive="base">
                                        <p:cTn id="13" dur="800" fill="hold"/>
                                        <p:tgtEl>
                                          <p:spTgt spid="6"/>
                                        </p:tgtEl>
                                        <p:attrNameLst>
                                          <p:attrName>ppt_w</p:attrName>
                                        </p:attrNameLst>
                                      </p:cBhvr>
                                      <p:tavLst>
                                        <p:tav tm="0">
                                          <p:val>
                                            <p:strVal val="#ppt_w*0.85"/>
                                          </p:val>
                                        </p:tav>
                                        <p:tav tm="100000">
                                          <p:val>
                                            <p:strVal val="#ppt_w"/>
                                          </p:val>
                                        </p:tav>
                                      </p:tavLst>
                                    </p:anim>
                                    <p:anim calcmode="lin" valueType="num">
                                      <p:cBhvr additive="base">
                                        <p:cTn id="14" dur="800" fill="hold"/>
                                        <p:tgtEl>
                                          <p:spTgt spid="6"/>
                                        </p:tgtEl>
                                        <p:attrNameLst>
                                          <p:attrName>ppt_h</p:attrName>
                                        </p:attrNameLst>
                                      </p:cBhvr>
                                      <p:tavLst>
                                        <p:tav tm="0">
                                          <p:val>
                                            <p:strVal val="#ppt_h*0.85"/>
                                          </p:val>
                                        </p:tav>
                                        <p:tav tm="100000">
                                          <p:val>
                                            <p:strVal val="#ppt_h"/>
                                          </p:val>
                                        </p:tav>
                                      </p:tavLst>
                                    </p:anim>
                                  </p:childTnLst>
                                </p:cTn>
                              </p:par>
                              <p:par>
                                <p:cTn id="15" presetID="42" presetClass="entr" presetSubtype="0" decel="100000" fill="hold" grpId="0" nodeType="withEffect">
                                  <p:stCondLst>
                                    <p:cond delay="69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700"/>
                                        <p:tgtEl>
                                          <p:spTgt spid="7"/>
                                        </p:tgtEl>
                                      </p:cBhvr>
                                    </p:animEffect>
                                    <p:anim calcmode="lin" valueType="num">
                                      <p:cBhvr additive="base">
                                        <p:cTn id="18" dur="700" fill="hold"/>
                                        <p:tgtEl>
                                          <p:spTgt spid="7"/>
                                        </p:tgtEl>
                                        <p:attrNameLst>
                                          <p:attrName>ppt_y</p:attrName>
                                        </p:attrNameLst>
                                      </p:cBhvr>
                                      <p:tavLst>
                                        <p:tav tm="0">
                                          <p:val>
                                            <p:strVal val="#ppt_y+0.03"/>
                                          </p:val>
                                        </p:tav>
                                        <p:tav tm="100000">
                                          <p:val>
                                            <p:strVal val="#ppt_y"/>
                                          </p:val>
                                        </p:tav>
                                      </p:tavLst>
                                    </p:anim>
                                  </p:childTnLst>
                                </p:cTn>
                              </p:par>
                              <p:par>
                                <p:cTn id="19" presetID="42" presetClass="entr" presetSubtype="0" decel="100000" fill="hold" grpId="0" nodeType="withEffect">
                                  <p:stCondLst>
                                    <p:cond delay="69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700"/>
                                        <p:tgtEl>
                                          <p:spTgt spid="8"/>
                                        </p:tgtEl>
                                      </p:cBhvr>
                                    </p:animEffect>
                                    <p:anim calcmode="lin" valueType="num">
                                      <p:cBhvr additive="base">
                                        <p:cTn id="22" dur="700" fill="hold"/>
                                        <p:tgtEl>
                                          <p:spTgt spid="8"/>
                                        </p:tgtEl>
                                        <p:attrNameLst>
                                          <p:attrName>ppt_y</p:attrName>
                                        </p:attrNameLst>
                                      </p:cBhvr>
                                      <p:tavLst>
                                        <p:tav tm="0">
                                          <p:val>
                                            <p:strVal val="#ppt_y+0.03"/>
                                          </p:val>
                                        </p:tav>
                                        <p:tav tm="100000">
                                          <p:val>
                                            <p:strVal val="#ppt_y"/>
                                          </p:val>
                                        </p:tav>
                                      </p:tavLst>
                                    </p:anim>
                                  </p:childTnLst>
                                </p:cTn>
                              </p:par>
                              <p:par>
                                <p:cTn id="23" presetID="42" presetClass="entr" presetSubtype="0" decel="100000" fill="hold" grpId="0" nodeType="withEffect">
                                  <p:stCondLst>
                                    <p:cond delay="91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700"/>
                                        <p:tgtEl>
                                          <p:spTgt spid="9"/>
                                        </p:tgtEl>
                                      </p:cBhvr>
                                    </p:animEffect>
                                    <p:anim calcmode="lin" valueType="num">
                                      <p:cBhvr additive="base">
                                        <p:cTn id="26" dur="700" fill="hold"/>
                                        <p:tgtEl>
                                          <p:spTgt spid="9"/>
                                        </p:tgtEl>
                                        <p:attrNameLst>
                                          <p:attrName>ppt_y</p:attrName>
                                        </p:attrNameLst>
                                      </p:cBhvr>
                                      <p:tavLst>
                                        <p:tav tm="0">
                                          <p:val>
                                            <p:strVal val="#ppt_y+0.03"/>
                                          </p:val>
                                        </p:tav>
                                        <p:tav tm="100000">
                                          <p:val>
                                            <p:strVal val="#ppt_y"/>
                                          </p:val>
                                        </p:tav>
                                      </p:tavLst>
                                    </p:anim>
                                  </p:childTnLst>
                                </p:cTn>
                              </p:par>
                              <p:par>
                                <p:cTn id="27" presetID="42" presetClass="entr" presetSubtype="0" decel="100000" fill="hold" grpId="0" nodeType="withEffect">
                                  <p:stCondLst>
                                    <p:cond delay="113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700"/>
                                        <p:tgtEl>
                                          <p:spTgt spid="10"/>
                                        </p:tgtEl>
                                      </p:cBhvr>
                                    </p:animEffect>
                                    <p:anim calcmode="lin" valueType="num">
                                      <p:cBhvr additive="base">
                                        <p:cTn id="30" dur="700" fill="hold"/>
                                        <p:tgtEl>
                                          <p:spTgt spid="10"/>
                                        </p:tgtEl>
                                        <p:attrNameLst>
                                          <p:attrName>ppt_y</p:attrName>
                                        </p:attrNameLst>
                                      </p:cBhvr>
                                      <p:tavLst>
                                        <p:tav tm="0">
                                          <p:val>
                                            <p:strVal val="#ppt_y+0.03"/>
                                          </p:val>
                                        </p:tav>
                                        <p:tav tm="100000">
                                          <p:val>
                                            <p:strVal val="#ppt_y"/>
                                          </p:val>
                                        </p:tav>
                                      </p:tavLst>
                                    </p:anim>
                                  </p:childTnLst>
                                </p:cTn>
                              </p:par>
                              <p:par>
                                <p:cTn id="31" presetID="42" presetClass="entr" presetSubtype="0" decel="100000" fill="hold" grpId="0" nodeType="withEffect">
                                  <p:stCondLst>
                                    <p:cond delay="113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700"/>
                                        <p:tgtEl>
                                          <p:spTgt spid="11"/>
                                        </p:tgtEl>
                                      </p:cBhvr>
                                    </p:animEffect>
                                    <p:anim calcmode="lin" valueType="num">
                                      <p:cBhvr additive="base">
                                        <p:cTn id="34" dur="700" fill="hold"/>
                                        <p:tgtEl>
                                          <p:spTgt spid="11"/>
                                        </p:tgtEl>
                                        <p:attrNameLst>
                                          <p:attrName>ppt_y</p:attrName>
                                        </p:attrNameLst>
                                      </p:cBhvr>
                                      <p:tavLst>
                                        <p:tav tm="0">
                                          <p:val>
                                            <p:strVal val="#ppt_y+0.03"/>
                                          </p:val>
                                        </p:tav>
                                        <p:tav tm="100000">
                                          <p:val>
                                            <p:strVal val="#ppt_y"/>
                                          </p:val>
                                        </p:tav>
                                      </p:tavLst>
                                    </p:anim>
                                  </p:childTnLst>
                                </p:cTn>
                              </p:par>
                              <p:par>
                                <p:cTn id="35" presetID="10" presetClass="entr" presetSubtype="0" decel="100000" fill="hold" grpId="0" nodeType="withEffect">
                                  <p:stCondLst>
                                    <p:cond delay="13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600"/>
                                        <p:tgtEl>
                                          <p:spTgt spid="12"/>
                                        </p:tgtEl>
                                      </p:cBhvr>
                                    </p:animEffect>
                                  </p:childTnLst>
                                </p:cTn>
                              </p:par>
                              <p:par>
                                <p:cTn id="38" presetID="10" presetClass="entr" presetSubtype="0" decel="100000" fill="hold" grpId="0" nodeType="withEffect">
                                  <p:stCondLst>
                                    <p:cond delay="13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animBg="1"/>
      <p:bldP spid="9" grpId="0" animBg="1"/>
      <p:bldP spid="10" grpId="0" animBg="1"/>
      <p:bldP spid="11" grpId="0" animBg="1"/>
      <p:bldP spid="12" grpId="0"/>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8046720" y="-274320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377440" y="310896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BACKUP · FOR QUESTIONS</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The textbook approach against ours, same alert rule</a:t>
            </a:r>
            <a:endParaRPr lang="en-US" sz="3400" dirty="0"/>
          </a:p>
        </p:txBody>
      </p:sp>
      <p:graphicFrame>
        <p:nvGraphicFramePr>
          <p:cNvPr id="21" name="a1float_tbl"/>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0116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502920">
                <a:tc>
                  <a:txBody>
                    <a:bodyPr/>
                    <a:lstStyle/>
                    <a:p>
                      <a:pPr marL="0" indent="0" algn="l">
                        <a:buNone/>
                      </a:pPr>
                      <a:r>
                        <a:rPr lang="en-US" sz="1200" b="1" dirty="0">
                          <a:solidFill>
                            <a:srgbClr val="2F5D8F"/>
                          </a:solidFill>
                          <a:latin typeface="Segoe UI Semibold" pitchFamily="34" charset="0"/>
                          <a:ea typeface="Segoe UI Semibold" pitchFamily="34" charset="-122"/>
                          <a:cs typeface="Segoe UI Semibold" pitchFamily="34" charset="-120"/>
                        </a:rPr>
                        <a:t>Configuration</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l">
                        <a:buNone/>
                      </a:pPr>
                      <a:r>
                        <a:rPr lang="en-US" sz="1200" b="1" dirty="0">
                          <a:solidFill>
                            <a:srgbClr val="2F5D8F"/>
                          </a:solidFill>
                          <a:latin typeface="Segoe UI Semibold" pitchFamily="34" charset="0"/>
                          <a:ea typeface="Segoe UI Semibold" pitchFamily="34" charset="-122"/>
                          <a:cs typeface="Segoe UI Semibold" pitchFamily="34" charset="-120"/>
                        </a:rPr>
                        <a:t>Indices</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Tide model</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False alarms per stand-year</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Real conversions caught</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extLst>
                  <a:ext uri="{0D108BD9-81ED-4DB2-BD59-A6C34878D82A}">
                    <a16:rowId xmlns:a16="http://schemas.microsoft.com/office/drawing/2014/main" val="10000"/>
                  </a:ext>
                </a:extLst>
              </a:tr>
              <a:tr h="502920">
                <a:tc>
                  <a:txBody>
                    <a:bodyPr/>
                    <a:lstStyle/>
                    <a:p>
                      <a:pPr marL="0" indent="0" algn="l">
                        <a:buNone/>
                      </a:pPr>
                      <a:r>
                        <a:rPr lang="en-US" sz="1300" b="1" dirty="0">
                          <a:solidFill>
                            <a:srgbClr val="3A4D63"/>
                          </a:solidFill>
                          <a:latin typeface="Segoe UI Semibold" pitchFamily="34" charset="0"/>
                          <a:ea typeface="Segoe UI Semibold" pitchFamily="34" charset="-122"/>
                          <a:cs typeface="Segoe UI Semibold" pitchFamily="34" charset="-120"/>
                        </a:rPr>
                        <a:t>A · textbook</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A4D63"/>
                          </a:solidFill>
                          <a:latin typeface="Segoe UI" pitchFamily="34" charset="0"/>
                          <a:ea typeface="Segoe UI" pitchFamily="34" charset="-122"/>
                          <a:cs typeface="Segoe UI" pitchFamily="34" charset="-120"/>
                        </a:rPr>
                        <a:t>NDVI</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no</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E5F6D"/>
                          </a:solidFill>
                          <a:latin typeface="Segoe UI Semibold" pitchFamily="34" charset="0"/>
                          <a:ea typeface="Segoe UI Semibold" pitchFamily="34" charset="-122"/>
                          <a:cs typeface="Segoe UI Semibold" pitchFamily="34" charset="-120"/>
                        </a:rPr>
                        <a:t>1.61</a:t>
                      </a:r>
                      <a:endParaRPr lang="en-US" sz="16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5 of 5</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00" b="1" dirty="0">
                          <a:solidFill>
                            <a:srgbClr val="3A4D63"/>
                          </a:solidFill>
                          <a:latin typeface="Segoe UI Semibold" pitchFamily="34" charset="0"/>
                          <a:ea typeface="Segoe UI Semibold" pitchFamily="34" charset="-122"/>
                          <a:cs typeface="Segoe UI Semibold" pitchFamily="34" charset="-120"/>
                        </a:rPr>
                        <a:t>B</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l">
                        <a:buNone/>
                      </a:pPr>
                      <a:r>
                        <a:rPr lang="en-US" sz="1300" dirty="0">
                          <a:solidFill>
                            <a:srgbClr val="3A4D63"/>
                          </a:solidFill>
                          <a:latin typeface="Segoe UI" pitchFamily="34" charset="0"/>
                          <a:ea typeface="Segoe UI" pitchFamily="34" charset="-122"/>
                          <a:cs typeface="Segoe UI" pitchFamily="34" charset="-120"/>
                        </a:rPr>
                        <a:t>NDVI</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yes</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600" b="1" dirty="0">
                          <a:solidFill>
                            <a:srgbClr val="1B2B40"/>
                          </a:solidFill>
                          <a:latin typeface="Segoe UI Semibold" pitchFamily="34" charset="0"/>
                          <a:ea typeface="Segoe UI Semibold" pitchFamily="34" charset="-122"/>
                          <a:cs typeface="Segoe UI Semibold" pitchFamily="34" charset="-120"/>
                        </a:rPr>
                        <a:t>1.04</a:t>
                      </a:r>
                      <a:endParaRPr lang="en-US" sz="16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5 of 5</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502920">
                <a:tc>
                  <a:txBody>
                    <a:bodyPr/>
                    <a:lstStyle/>
                    <a:p>
                      <a:pPr marL="0" indent="0" algn="l">
                        <a:buNone/>
                      </a:pPr>
                      <a:r>
                        <a:rPr lang="en-US" sz="1300" b="1" dirty="0">
                          <a:solidFill>
                            <a:srgbClr val="3A4D63"/>
                          </a:solidFill>
                          <a:latin typeface="Segoe UI Semibold" pitchFamily="34" charset="0"/>
                          <a:ea typeface="Segoe UI Semibold" pitchFamily="34" charset="-122"/>
                          <a:cs typeface="Segoe UI Semibold" pitchFamily="34" charset="-120"/>
                        </a:rPr>
                        <a:t>C</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A4D63"/>
                          </a:solidFill>
                          <a:latin typeface="Segoe UI" pitchFamily="34" charset="0"/>
                          <a:ea typeface="Segoe UI" pitchFamily="34" charset="-122"/>
                          <a:cs typeface="Segoe UI" pitchFamily="34" charset="-120"/>
                        </a:rPr>
                        <a:t>NDVI + red edge + SWIR moisture</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no</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B2B40"/>
                          </a:solidFill>
                          <a:latin typeface="Segoe UI Semibold" pitchFamily="34" charset="0"/>
                          <a:ea typeface="Segoe UI Semibold" pitchFamily="34" charset="-122"/>
                          <a:cs typeface="Segoe UI Semibold" pitchFamily="34" charset="-120"/>
                        </a:rPr>
                        <a:t>1.36</a:t>
                      </a:r>
                      <a:endParaRPr lang="en-US" sz="16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5 of 5</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D · ours</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l">
                        <a:buNone/>
                      </a:pPr>
                      <a:r>
                        <a:rPr lang="en-US" sz="1300" dirty="0">
                          <a:solidFill>
                            <a:srgbClr val="1B2B40"/>
                          </a:solidFill>
                          <a:latin typeface="Segoe UI" pitchFamily="34" charset="0"/>
                          <a:ea typeface="Segoe UI" pitchFamily="34" charset="-122"/>
                          <a:cs typeface="Segoe UI" pitchFamily="34" charset="-120"/>
                        </a:rPr>
                        <a:t>NDVI + red edge + SWIR moisture</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300" dirty="0">
                          <a:solidFill>
                            <a:srgbClr val="1B2B40"/>
                          </a:solidFill>
                          <a:latin typeface="Segoe UI" pitchFamily="34" charset="0"/>
                          <a:ea typeface="Segoe UI" pitchFamily="34" charset="-122"/>
                          <a:cs typeface="Segoe UI" pitchFamily="34" charset="-120"/>
                        </a:rPr>
                        <a:t>yes</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600" b="1" dirty="0">
                          <a:solidFill>
                            <a:srgbClr val="2F5D8F"/>
                          </a:solidFill>
                          <a:latin typeface="Segoe UI Semibold" pitchFamily="34" charset="0"/>
                          <a:ea typeface="Segoe UI Semibold" pitchFamily="34" charset="-122"/>
                          <a:cs typeface="Segoe UI Semibold" pitchFamily="34" charset="-120"/>
                        </a:rPr>
                        <a:t>0.96</a:t>
                      </a:r>
                      <a:endParaRPr lang="en-US" sz="16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300" dirty="0">
                          <a:solidFill>
                            <a:srgbClr val="1B2B40"/>
                          </a:solidFill>
                          <a:latin typeface="Segoe UI" pitchFamily="34" charset="0"/>
                          <a:ea typeface="Segoe UI" pitchFamily="34" charset="-122"/>
                          <a:cs typeface="Segoe UI" pitchFamily="34" charset="-120"/>
                        </a:rPr>
                        <a:t>5 of 5</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extLst>
                  <a:ext uri="{0D108BD9-81ED-4DB2-BD59-A6C34878D82A}">
                    <a16:rowId xmlns:a16="http://schemas.microsoft.com/office/drawing/2014/main" val="10004"/>
                  </a:ext>
                </a:extLst>
              </a:tr>
            </a:tbl>
          </a:graphicData>
        </a:graphic>
      </p:graphicFrame>
      <p:sp>
        <p:nvSpPr>
          <p:cNvPr id="8" name="a2float_c0"/>
          <p:cNvSpPr/>
          <p:nvPr/>
        </p:nvSpPr>
        <p:spPr>
          <a:xfrm>
            <a:off x="548640" y="4572000"/>
            <a:ext cx="3593592" cy="1600200"/>
          </a:xfrm>
          <a:prstGeom prst="roundRect">
            <a:avLst>
              <a:gd name="adj" fmla="val 8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9" name="a2float_c0t"/>
          <p:cNvSpPr txBox="1"/>
          <p:nvPr/>
        </p:nvSpPr>
        <p:spPr>
          <a:xfrm>
            <a:off x="749808" y="4681728"/>
            <a:ext cx="3246120" cy="365760"/>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40 % fewer false alarms</a:t>
            </a:r>
            <a:endParaRPr lang="en-US" sz="1500" dirty="0"/>
          </a:p>
        </p:txBody>
      </p:sp>
      <p:sp>
        <p:nvSpPr>
          <p:cNvPr id="10" name="a2float_c0d"/>
          <p:cNvSpPr txBox="1"/>
          <p:nvPr/>
        </p:nvSpPr>
        <p:spPr>
          <a:xfrm>
            <a:off x="749808" y="5047488"/>
            <a:ext cx="3246120" cy="105156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20 stands with no known change, 93.9 stand-years: about 16 fewer unnecessary inspections a year for 25 stands.</a:t>
            </a:r>
            <a:endParaRPr lang="en-US" sz="1200" dirty="0"/>
          </a:p>
        </p:txBody>
      </p:sp>
      <p:sp>
        <p:nvSpPr>
          <p:cNvPr id="11" name="a3float_c1"/>
          <p:cNvSpPr/>
          <p:nvPr/>
        </p:nvSpPr>
        <p:spPr>
          <a:xfrm>
            <a:off x="4297680" y="4572000"/>
            <a:ext cx="3593592" cy="1600200"/>
          </a:xfrm>
          <a:prstGeom prst="roundRect">
            <a:avLst>
              <a:gd name="adj" fmla="val 8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2" name="a3float_c1t"/>
          <p:cNvSpPr txBox="1"/>
          <p:nvPr/>
        </p:nvSpPr>
        <p:spPr>
          <a:xfrm>
            <a:off x="4498848" y="4681728"/>
            <a:ext cx="3246120" cy="365760"/>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The tide model is most of the gain</a:t>
            </a:r>
            <a:endParaRPr lang="en-US" sz="1500" dirty="0"/>
          </a:p>
        </p:txBody>
      </p:sp>
      <p:sp>
        <p:nvSpPr>
          <p:cNvPr id="13" name="a3float_c1d"/>
          <p:cNvSpPr txBox="1"/>
          <p:nvPr/>
        </p:nvSpPr>
        <p:spPr>
          <a:xfrm>
            <a:off x="4498848" y="5047488"/>
            <a:ext cx="3246120" cy="105156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NDVI alone 1.61 → with tide terms 1.04; the extra indices bring it to 0.96.</a:t>
            </a:r>
            <a:endParaRPr lang="en-US" sz="1200" dirty="0"/>
          </a:p>
        </p:txBody>
      </p:sp>
      <p:sp>
        <p:nvSpPr>
          <p:cNvPr id="14" name="a4float_c2"/>
          <p:cNvSpPr/>
          <p:nvPr/>
        </p:nvSpPr>
        <p:spPr>
          <a:xfrm>
            <a:off x="8046720" y="4572000"/>
            <a:ext cx="3593592" cy="1600200"/>
          </a:xfrm>
          <a:prstGeom prst="roundRect">
            <a:avLst>
              <a:gd name="adj" fmla="val 8000"/>
            </a:avLst>
          </a:prstGeom>
          <a:solidFill>
            <a:srgbClr val="FBF5EA">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5" name="a4float_c2t"/>
          <p:cNvSpPr txBox="1"/>
          <p:nvPr/>
        </p:nvSpPr>
        <p:spPr>
          <a:xfrm>
            <a:off x="8247888" y="4681728"/>
            <a:ext cx="3246120" cy="365760"/>
          </a:xfrm>
          <a:prstGeom prst="rect">
            <a:avLst/>
          </a:prstGeom>
          <a:noFill/>
          <a:ln/>
        </p:spPr>
        <p:txBody>
          <a:bodyPr wrap="square" lIns="0" tIns="0" rIns="0" bIns="0" rtlCol="0" anchor="t"/>
          <a:lstStyle/>
          <a:p>
            <a:pPr marL="0" indent="0" algn="l">
              <a:lnSpc>
                <a:spcPct val="105000"/>
              </a:lnSpc>
              <a:buNone/>
            </a:pPr>
            <a:r>
              <a:rPr lang="en-US" sz="1500" dirty="0">
                <a:solidFill>
                  <a:srgbClr val="A9813A"/>
                </a:solidFill>
                <a:latin typeface="Segoe UI Semibold" pitchFamily="34" charset="0"/>
                <a:ea typeface="Segoe UI Semibold" pitchFamily="34" charset="-122"/>
                <a:cs typeface="Segoe UI Semibold" pitchFamily="34" charset="-120"/>
              </a:rPr>
              <a:t>Honest limit</a:t>
            </a:r>
            <a:endParaRPr lang="en-US" sz="1500" dirty="0"/>
          </a:p>
        </p:txBody>
      </p:sp>
      <p:sp>
        <p:nvSpPr>
          <p:cNvPr id="16" name="a4float_c2d"/>
          <p:cNvSpPr txBox="1"/>
          <p:nvPr/>
        </p:nvSpPr>
        <p:spPr>
          <a:xfrm>
            <a:off x="8247888" y="5047488"/>
            <a:ext cx="3246120" cy="105156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Thresholds calibrated for our monitor; all four catch the five conversions. The difference is the false-alarm cost, not detection.</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20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700"/>
                                        <p:tgtEl>
                                          <p:spTgt spid="21"/>
                                        </p:tgtEl>
                                      </p:cBhvr>
                                    </p:animEffect>
                                    <p:anim calcmode="lin" valueType="num">
                                      <p:cBhvr additive="base">
                                        <p:cTn id="15" dur="700" fill="hold"/>
                                        <p:tgtEl>
                                          <p:spTgt spid="21"/>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69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69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700"/>
                                        <p:tgtEl>
                                          <p:spTgt spid="9"/>
                                        </p:tgtEl>
                                      </p:cBhvr>
                                    </p:animEffect>
                                    <p:anim calcmode="lin" valueType="num">
                                      <p:cBhvr additive="base">
                                        <p:cTn id="23" dur="700" fill="hold"/>
                                        <p:tgtEl>
                                          <p:spTgt spid="9"/>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69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700"/>
                                        <p:tgtEl>
                                          <p:spTgt spid="10"/>
                                        </p:tgtEl>
                                      </p:cBhvr>
                                    </p:animEffect>
                                    <p:anim calcmode="lin" valueType="num">
                                      <p:cBhvr additive="base">
                                        <p:cTn id="27" dur="700" fill="hold"/>
                                        <p:tgtEl>
                                          <p:spTgt spid="10"/>
                                        </p:tgtEl>
                                        <p:attrNameLst>
                                          <p:attrName>ppt_y</p:attrName>
                                        </p:attrNameLst>
                                      </p:cBhvr>
                                      <p:tavLst>
                                        <p:tav tm="0">
                                          <p:val>
                                            <p:strVal val="#ppt_y+0.03"/>
                                          </p:val>
                                        </p:tav>
                                        <p:tav tm="100000">
                                          <p:val>
                                            <p:strVal val="#ppt_y"/>
                                          </p:val>
                                        </p:tav>
                                      </p:tavLst>
                                    </p:anim>
                                  </p:childTnLst>
                                </p:cTn>
                              </p:par>
                              <p:par>
                                <p:cTn id="28" presetID="42" presetClass="entr" presetSubtype="0" decel="100000" fill="hold" grpId="0" nodeType="withEffect">
                                  <p:stCondLst>
                                    <p:cond delay="91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00"/>
                                        <p:tgtEl>
                                          <p:spTgt spid="11"/>
                                        </p:tgtEl>
                                      </p:cBhvr>
                                    </p:animEffect>
                                    <p:anim calcmode="lin" valueType="num">
                                      <p:cBhvr additive="base">
                                        <p:cTn id="31" dur="700" fill="hold"/>
                                        <p:tgtEl>
                                          <p:spTgt spid="11"/>
                                        </p:tgtEl>
                                        <p:attrNameLst>
                                          <p:attrName>ppt_y</p:attrName>
                                        </p:attrNameLst>
                                      </p:cBhvr>
                                      <p:tavLst>
                                        <p:tav tm="0">
                                          <p:val>
                                            <p:strVal val="#ppt_y+0.03"/>
                                          </p:val>
                                        </p:tav>
                                        <p:tav tm="100000">
                                          <p:val>
                                            <p:strVal val="#ppt_y"/>
                                          </p:val>
                                        </p:tav>
                                      </p:tavLst>
                                    </p:anim>
                                  </p:childTnLst>
                                </p:cTn>
                              </p:par>
                              <p:par>
                                <p:cTn id="32" presetID="42" presetClass="entr" presetSubtype="0" decel="100000" fill="hold" grpId="0" nodeType="withEffect">
                                  <p:stCondLst>
                                    <p:cond delay="91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700"/>
                                        <p:tgtEl>
                                          <p:spTgt spid="12"/>
                                        </p:tgtEl>
                                      </p:cBhvr>
                                    </p:animEffect>
                                    <p:anim calcmode="lin" valueType="num">
                                      <p:cBhvr additive="base">
                                        <p:cTn id="35" dur="700" fill="hold"/>
                                        <p:tgtEl>
                                          <p:spTgt spid="12"/>
                                        </p:tgtEl>
                                        <p:attrNameLst>
                                          <p:attrName>ppt_y</p:attrName>
                                        </p:attrNameLst>
                                      </p:cBhvr>
                                      <p:tavLst>
                                        <p:tav tm="0">
                                          <p:val>
                                            <p:strVal val="#ppt_y+0.03"/>
                                          </p:val>
                                        </p:tav>
                                        <p:tav tm="100000">
                                          <p:val>
                                            <p:strVal val="#ppt_y"/>
                                          </p:val>
                                        </p:tav>
                                      </p:tavLst>
                                    </p:anim>
                                  </p:childTnLst>
                                </p:cTn>
                              </p:par>
                              <p:par>
                                <p:cTn id="36" presetID="42" presetClass="entr" presetSubtype="0" decel="100000" fill="hold" grpId="0" nodeType="withEffect">
                                  <p:stCondLst>
                                    <p:cond delay="91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700"/>
                                        <p:tgtEl>
                                          <p:spTgt spid="13"/>
                                        </p:tgtEl>
                                      </p:cBhvr>
                                    </p:animEffect>
                                    <p:anim calcmode="lin" valueType="num">
                                      <p:cBhvr additive="base">
                                        <p:cTn id="39" dur="700" fill="hold"/>
                                        <p:tgtEl>
                                          <p:spTgt spid="13"/>
                                        </p:tgtEl>
                                        <p:attrNameLst>
                                          <p:attrName>ppt_y</p:attrName>
                                        </p:attrNameLst>
                                      </p:cBhvr>
                                      <p:tavLst>
                                        <p:tav tm="0">
                                          <p:val>
                                            <p:strVal val="#ppt_y+0.03"/>
                                          </p:val>
                                        </p:tav>
                                        <p:tav tm="100000">
                                          <p:val>
                                            <p:strVal val="#ppt_y"/>
                                          </p:val>
                                        </p:tav>
                                      </p:tavLst>
                                    </p:anim>
                                  </p:childTnLst>
                                </p:cTn>
                              </p:par>
                              <p:par>
                                <p:cTn id="40" presetID="42" presetClass="entr" presetSubtype="0" decel="100000" fill="hold" grpId="0" nodeType="withEffect">
                                  <p:stCondLst>
                                    <p:cond delay="113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700"/>
                                        <p:tgtEl>
                                          <p:spTgt spid="14"/>
                                        </p:tgtEl>
                                      </p:cBhvr>
                                    </p:animEffect>
                                    <p:anim calcmode="lin" valueType="num">
                                      <p:cBhvr additive="base">
                                        <p:cTn id="43" dur="700" fill="hold"/>
                                        <p:tgtEl>
                                          <p:spTgt spid="14"/>
                                        </p:tgtEl>
                                        <p:attrNameLst>
                                          <p:attrName>ppt_y</p:attrName>
                                        </p:attrNameLst>
                                      </p:cBhvr>
                                      <p:tavLst>
                                        <p:tav tm="0">
                                          <p:val>
                                            <p:strVal val="#ppt_y+0.03"/>
                                          </p:val>
                                        </p:tav>
                                        <p:tav tm="100000">
                                          <p:val>
                                            <p:strVal val="#ppt_y"/>
                                          </p:val>
                                        </p:tav>
                                      </p:tavLst>
                                    </p:anim>
                                  </p:childTnLst>
                                </p:cTn>
                              </p:par>
                              <p:par>
                                <p:cTn id="44" presetID="42" presetClass="entr" presetSubtype="0" decel="100000" fill="hold" grpId="0" nodeType="withEffect">
                                  <p:stCondLst>
                                    <p:cond delay="113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700"/>
                                        <p:tgtEl>
                                          <p:spTgt spid="15"/>
                                        </p:tgtEl>
                                      </p:cBhvr>
                                    </p:animEffect>
                                    <p:anim calcmode="lin" valueType="num">
                                      <p:cBhvr additive="base">
                                        <p:cTn id="47" dur="700" fill="hold"/>
                                        <p:tgtEl>
                                          <p:spTgt spid="15"/>
                                        </p:tgtEl>
                                        <p:attrNameLst>
                                          <p:attrName>ppt_y</p:attrName>
                                        </p:attrNameLst>
                                      </p:cBhvr>
                                      <p:tavLst>
                                        <p:tav tm="0">
                                          <p:val>
                                            <p:strVal val="#ppt_y+0.03"/>
                                          </p:val>
                                        </p:tav>
                                        <p:tav tm="100000">
                                          <p:val>
                                            <p:strVal val="#ppt_y"/>
                                          </p:val>
                                        </p:tav>
                                      </p:tavLst>
                                    </p:anim>
                                  </p:childTnLst>
                                </p:cTn>
                              </p:par>
                              <p:par>
                                <p:cTn id="48" presetID="42" presetClass="entr" presetSubtype="0" decel="100000" fill="hold" grpId="0" nodeType="withEffect">
                                  <p:stCondLst>
                                    <p:cond delay="113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additive="base">
                                        <p:cTn id="51" dur="700" fill="hold"/>
                                        <p:tgtEl>
                                          <p:spTgt spid="16"/>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21" grpId="0">
        <p:bldAsOne/>
      </p:bldGraphic>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194560" y="-237744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8229600" y="329184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BACKUP · FOR QUESTIONS</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Where it breaks — and what we do not claim</a:t>
            </a:r>
            <a:endParaRPr lang="en-US" sz="3400" dirty="0"/>
          </a:p>
        </p:txBody>
      </p:sp>
      <p:sp>
        <p:nvSpPr>
          <p:cNvPr id="7" name="a1float_l0"/>
          <p:cNvSpPr/>
          <p:nvPr/>
        </p:nvSpPr>
        <p:spPr>
          <a:xfrm>
            <a:off x="548640" y="1691640"/>
            <a:ext cx="3593592" cy="1828800"/>
          </a:xfrm>
          <a:prstGeom prst="roundRect">
            <a:avLst>
              <a:gd name="adj" fmla="val 7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8" name="a1float_l0ic_c"/>
          <p:cNvSpPr/>
          <p:nvPr/>
        </p:nvSpPr>
        <p:spPr>
          <a:xfrm>
            <a:off x="749808" y="1892808"/>
            <a:ext cx="512064" cy="512064"/>
          </a:xfrm>
          <a:prstGeom prst="ellipse">
            <a:avLst/>
          </a:prstGeom>
          <a:solidFill>
            <a:srgbClr val="3F6E9E">
              <a:alpha val="18000"/>
            </a:srgbClr>
          </a:solidFill>
          <a:ln w="12700">
            <a:solidFill>
              <a:srgbClr val="3F6E9E"/>
            </a:solidFill>
            <a:prstDash val="solid"/>
          </a:ln>
        </p:spPr>
      </p:sp>
      <p:pic>
        <p:nvPicPr>
          <p:cNvPr id="9" name="a1float_l0ic_i" descr="preencoded.png"/>
          <p:cNvPicPr>
            <a:picLocks noChangeAspect="1"/>
          </p:cNvPicPr>
          <p:nvPr/>
        </p:nvPicPr>
        <p:blipFill>
          <a:blip r:embed="rId5"/>
          <a:stretch>
            <a:fillRect/>
          </a:stretch>
        </p:blipFill>
        <p:spPr>
          <a:xfrm>
            <a:off x="872703" y="2015703"/>
            <a:ext cx="266273" cy="266273"/>
          </a:xfrm>
          <a:prstGeom prst="rect">
            <a:avLst/>
          </a:prstGeom>
        </p:spPr>
      </p:pic>
      <p:sp>
        <p:nvSpPr>
          <p:cNvPr id="10" name="a1float_l0t"/>
          <p:cNvSpPr txBox="1"/>
          <p:nvPr/>
        </p:nvSpPr>
        <p:spPr>
          <a:xfrm>
            <a:off x="1417320" y="1892808"/>
            <a:ext cx="2606040" cy="512064"/>
          </a:xfrm>
          <a:prstGeom prst="rect">
            <a:avLst/>
          </a:prstGeom>
          <a:noFill/>
          <a:ln/>
        </p:spPr>
        <p:txBody>
          <a:bodyPr wrap="square" lIns="0" tIns="0" rIns="0" bIns="0" rtlCol="0" anchor="ctr"/>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Detection, not early warning</a:t>
            </a:r>
            <a:endParaRPr lang="en-US" sz="1500" dirty="0"/>
          </a:p>
        </p:txBody>
      </p:sp>
      <p:sp>
        <p:nvSpPr>
          <p:cNvPr id="11" name="a1float_l0d"/>
          <p:cNvSpPr txBox="1"/>
          <p:nvPr/>
        </p:nvSpPr>
        <p:spPr>
          <a:xfrm>
            <a:off x="749808" y="2532888"/>
            <a:ext cx="3246120" cy="9144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Alerts fire as works happen. We never claim to see stress before it is visible.</a:t>
            </a:r>
            <a:endParaRPr lang="en-US" sz="1200" dirty="0"/>
          </a:p>
        </p:txBody>
      </p:sp>
      <p:sp>
        <p:nvSpPr>
          <p:cNvPr id="12" name="a1float_l1"/>
          <p:cNvSpPr/>
          <p:nvPr/>
        </p:nvSpPr>
        <p:spPr>
          <a:xfrm>
            <a:off x="4297680" y="1691640"/>
            <a:ext cx="3593592" cy="1828800"/>
          </a:xfrm>
          <a:prstGeom prst="roundRect">
            <a:avLst>
              <a:gd name="adj" fmla="val 7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3" name="a1float_l1ic_c"/>
          <p:cNvSpPr/>
          <p:nvPr/>
        </p:nvSpPr>
        <p:spPr>
          <a:xfrm>
            <a:off x="4498848" y="1892808"/>
            <a:ext cx="512064" cy="512064"/>
          </a:xfrm>
          <a:prstGeom prst="ellipse">
            <a:avLst/>
          </a:prstGeom>
          <a:solidFill>
            <a:srgbClr val="3F6E9E">
              <a:alpha val="18000"/>
            </a:srgbClr>
          </a:solidFill>
          <a:ln w="12700">
            <a:solidFill>
              <a:srgbClr val="3F6E9E"/>
            </a:solidFill>
            <a:prstDash val="solid"/>
          </a:ln>
        </p:spPr>
      </p:sp>
      <p:pic>
        <p:nvPicPr>
          <p:cNvPr id="14" name="a1float_l1ic_i" descr="preencoded.png"/>
          <p:cNvPicPr>
            <a:picLocks noChangeAspect="1"/>
          </p:cNvPicPr>
          <p:nvPr/>
        </p:nvPicPr>
        <p:blipFill>
          <a:blip r:embed="rId6"/>
          <a:stretch>
            <a:fillRect/>
          </a:stretch>
        </p:blipFill>
        <p:spPr>
          <a:xfrm>
            <a:off x="4621743" y="2015703"/>
            <a:ext cx="266273" cy="266273"/>
          </a:xfrm>
          <a:prstGeom prst="rect">
            <a:avLst/>
          </a:prstGeom>
        </p:spPr>
      </p:pic>
      <p:sp>
        <p:nvSpPr>
          <p:cNvPr id="15" name="a1float_l1t"/>
          <p:cNvSpPr txBox="1"/>
          <p:nvPr/>
        </p:nvSpPr>
        <p:spPr>
          <a:xfrm>
            <a:off x="5166360" y="1892808"/>
            <a:ext cx="2606040" cy="512064"/>
          </a:xfrm>
          <a:prstGeom prst="rect">
            <a:avLst/>
          </a:prstGeom>
          <a:noFill/>
          <a:ln/>
        </p:spPr>
        <p:txBody>
          <a:bodyPr wrap="square" lIns="0" tIns="0" rIns="0" bIns="0" rtlCol="0" anchor="ctr"/>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10 m pixels</a:t>
            </a:r>
            <a:endParaRPr lang="en-US" sz="1500" dirty="0"/>
          </a:p>
        </p:txBody>
      </p:sp>
      <p:sp>
        <p:nvSpPr>
          <p:cNvPr id="16" name="a1float_l1d"/>
          <p:cNvSpPr txBox="1"/>
          <p:nvPr/>
        </p:nvSpPr>
        <p:spPr>
          <a:xfrm>
            <a:off x="4498848" y="2532888"/>
            <a:ext cx="3246120" cy="9144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Patches under ~0.6 ha and young plantings are missed, Bahrain's small stands included.</a:t>
            </a:r>
            <a:endParaRPr lang="en-US" sz="1200" dirty="0"/>
          </a:p>
        </p:txBody>
      </p:sp>
      <p:sp>
        <p:nvSpPr>
          <p:cNvPr id="17" name="a1float_l2"/>
          <p:cNvSpPr/>
          <p:nvPr/>
        </p:nvSpPr>
        <p:spPr>
          <a:xfrm>
            <a:off x="8046720" y="1691640"/>
            <a:ext cx="3593592" cy="1828800"/>
          </a:xfrm>
          <a:prstGeom prst="roundRect">
            <a:avLst>
              <a:gd name="adj" fmla="val 7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18" name="a1float_l2ic_c"/>
          <p:cNvSpPr/>
          <p:nvPr/>
        </p:nvSpPr>
        <p:spPr>
          <a:xfrm>
            <a:off x="8247888" y="1892808"/>
            <a:ext cx="512064" cy="512064"/>
          </a:xfrm>
          <a:prstGeom prst="ellipse">
            <a:avLst/>
          </a:prstGeom>
          <a:solidFill>
            <a:srgbClr val="3F6E9E">
              <a:alpha val="18000"/>
            </a:srgbClr>
          </a:solidFill>
          <a:ln w="12700">
            <a:solidFill>
              <a:srgbClr val="3F6E9E"/>
            </a:solidFill>
            <a:prstDash val="solid"/>
          </a:ln>
        </p:spPr>
      </p:sp>
      <p:pic>
        <p:nvPicPr>
          <p:cNvPr id="19" name="a1float_l2ic_i" descr="preencoded.png"/>
          <p:cNvPicPr>
            <a:picLocks noChangeAspect="1"/>
          </p:cNvPicPr>
          <p:nvPr/>
        </p:nvPicPr>
        <p:blipFill>
          <a:blip r:embed="rId7"/>
          <a:stretch>
            <a:fillRect/>
          </a:stretch>
        </p:blipFill>
        <p:spPr>
          <a:xfrm>
            <a:off x="8370783" y="2015703"/>
            <a:ext cx="266273" cy="266273"/>
          </a:xfrm>
          <a:prstGeom prst="rect">
            <a:avLst/>
          </a:prstGeom>
        </p:spPr>
      </p:pic>
      <p:sp>
        <p:nvSpPr>
          <p:cNvPr id="20" name="a1float_l2t"/>
          <p:cNvSpPr txBox="1"/>
          <p:nvPr/>
        </p:nvSpPr>
        <p:spPr>
          <a:xfrm>
            <a:off x="8915400" y="1892808"/>
            <a:ext cx="2606040" cy="512064"/>
          </a:xfrm>
          <a:prstGeom prst="rect">
            <a:avLst/>
          </a:prstGeom>
          <a:noFill/>
          <a:ln/>
        </p:spPr>
        <p:txBody>
          <a:bodyPr wrap="square" lIns="0" tIns="0" rIns="0" bIns="0" rtlCol="0" anchor="ctr"/>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Imagery, not site visits</a:t>
            </a:r>
            <a:endParaRPr lang="en-US" sz="1500" dirty="0"/>
          </a:p>
        </p:txBody>
      </p:sp>
      <p:sp>
        <p:nvSpPr>
          <p:cNvPr id="21" name="a1float_l2d"/>
          <p:cNvSpPr txBox="1"/>
          <p:nvPr/>
        </p:nvSpPr>
        <p:spPr>
          <a:xfrm>
            <a:off x="8247888" y="2532888"/>
            <a:ext cx="3246120" cy="9144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Conversions confirmed on dated sub-metre captures, not yet on permits or field records.</a:t>
            </a:r>
            <a:endParaRPr lang="en-US" sz="1200" dirty="0"/>
          </a:p>
        </p:txBody>
      </p:sp>
      <p:sp>
        <p:nvSpPr>
          <p:cNvPr id="22" name="a2float_l3"/>
          <p:cNvSpPr/>
          <p:nvPr/>
        </p:nvSpPr>
        <p:spPr>
          <a:xfrm>
            <a:off x="548640" y="3703320"/>
            <a:ext cx="3593592" cy="1828800"/>
          </a:xfrm>
          <a:prstGeom prst="roundRect">
            <a:avLst>
              <a:gd name="adj" fmla="val 7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23" name="a2float_l3ic_c"/>
          <p:cNvSpPr/>
          <p:nvPr/>
        </p:nvSpPr>
        <p:spPr>
          <a:xfrm>
            <a:off x="749808" y="3904488"/>
            <a:ext cx="512064" cy="512064"/>
          </a:xfrm>
          <a:prstGeom prst="ellipse">
            <a:avLst/>
          </a:prstGeom>
          <a:solidFill>
            <a:srgbClr val="3F6E9E">
              <a:alpha val="18000"/>
            </a:srgbClr>
          </a:solidFill>
          <a:ln w="12700">
            <a:solidFill>
              <a:srgbClr val="3F6E9E"/>
            </a:solidFill>
            <a:prstDash val="solid"/>
          </a:ln>
        </p:spPr>
      </p:sp>
      <p:pic>
        <p:nvPicPr>
          <p:cNvPr id="24" name="a2float_l3ic_i" descr="preencoded.png"/>
          <p:cNvPicPr>
            <a:picLocks noChangeAspect="1"/>
          </p:cNvPicPr>
          <p:nvPr/>
        </p:nvPicPr>
        <p:blipFill>
          <a:blip r:embed="rId8"/>
          <a:stretch>
            <a:fillRect/>
          </a:stretch>
        </p:blipFill>
        <p:spPr>
          <a:xfrm>
            <a:off x="872703" y="4027383"/>
            <a:ext cx="266273" cy="266273"/>
          </a:xfrm>
          <a:prstGeom prst="rect">
            <a:avLst/>
          </a:prstGeom>
        </p:spPr>
      </p:pic>
      <p:sp>
        <p:nvSpPr>
          <p:cNvPr id="25" name="a2float_l3t"/>
          <p:cNvSpPr txBox="1"/>
          <p:nvPr/>
        </p:nvSpPr>
        <p:spPr>
          <a:xfrm>
            <a:off x="1417320" y="3904488"/>
            <a:ext cx="2606040" cy="512064"/>
          </a:xfrm>
          <a:prstGeom prst="rect">
            <a:avLst/>
          </a:prstGeom>
          <a:noFill/>
          <a:ln/>
        </p:spPr>
        <p:txBody>
          <a:bodyPr wrap="square" lIns="0" tIns="0" rIns="0" bIns="0" rtlCol="0" anchor="ctr"/>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Simulated losses</a:t>
            </a:r>
            <a:endParaRPr lang="en-US" sz="1500" dirty="0"/>
          </a:p>
        </p:txBody>
      </p:sp>
      <p:sp>
        <p:nvSpPr>
          <p:cNvPr id="26" name="a2float_l3d"/>
          <p:cNvSpPr txBox="1"/>
          <p:nvPr/>
        </p:nvSpPr>
        <p:spPr>
          <a:xfrm>
            <a:off x="749808" y="4544568"/>
            <a:ext cx="3246120" cy="9144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Canopy-cover loss, not leaf stress; every rate shown next to its chance rate.</a:t>
            </a:r>
            <a:endParaRPr lang="en-US" sz="1200" dirty="0"/>
          </a:p>
        </p:txBody>
      </p:sp>
      <p:sp>
        <p:nvSpPr>
          <p:cNvPr id="27" name="a2float_l4"/>
          <p:cNvSpPr/>
          <p:nvPr/>
        </p:nvSpPr>
        <p:spPr>
          <a:xfrm>
            <a:off x="4297680" y="3703320"/>
            <a:ext cx="3593592" cy="1828800"/>
          </a:xfrm>
          <a:prstGeom prst="roundRect">
            <a:avLst>
              <a:gd name="adj" fmla="val 7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28" name="a2float_l4ic_c"/>
          <p:cNvSpPr/>
          <p:nvPr/>
        </p:nvSpPr>
        <p:spPr>
          <a:xfrm>
            <a:off x="4498848" y="3904488"/>
            <a:ext cx="512064" cy="512064"/>
          </a:xfrm>
          <a:prstGeom prst="ellipse">
            <a:avLst/>
          </a:prstGeom>
          <a:solidFill>
            <a:srgbClr val="3F6E9E">
              <a:alpha val="18000"/>
            </a:srgbClr>
          </a:solidFill>
          <a:ln w="12700">
            <a:solidFill>
              <a:srgbClr val="3F6E9E"/>
            </a:solidFill>
            <a:prstDash val="solid"/>
          </a:ln>
        </p:spPr>
      </p:sp>
      <p:pic>
        <p:nvPicPr>
          <p:cNvPr id="29" name="a2float_l4ic_i" descr="preencoded.png"/>
          <p:cNvPicPr>
            <a:picLocks noChangeAspect="1"/>
          </p:cNvPicPr>
          <p:nvPr/>
        </p:nvPicPr>
        <p:blipFill>
          <a:blip r:embed="rId9"/>
          <a:stretch>
            <a:fillRect/>
          </a:stretch>
        </p:blipFill>
        <p:spPr>
          <a:xfrm>
            <a:off x="4621743" y="4027383"/>
            <a:ext cx="266273" cy="266273"/>
          </a:xfrm>
          <a:prstGeom prst="rect">
            <a:avLst/>
          </a:prstGeom>
        </p:spPr>
      </p:pic>
      <p:sp>
        <p:nvSpPr>
          <p:cNvPr id="30" name="a2float_l4t"/>
          <p:cNvSpPr txBox="1"/>
          <p:nvPr/>
        </p:nvSpPr>
        <p:spPr>
          <a:xfrm>
            <a:off x="5166360" y="3904488"/>
            <a:ext cx="2606040" cy="512064"/>
          </a:xfrm>
          <a:prstGeom prst="rect">
            <a:avLst/>
          </a:prstGeom>
          <a:noFill/>
          <a:ln/>
        </p:spPr>
        <p:txBody>
          <a:bodyPr wrap="square" lIns="0" tIns="0" rIns="0" bIns="0" rtlCol="0" anchor="ctr"/>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Hyperspectral</a:t>
            </a:r>
            <a:endParaRPr lang="en-US" sz="1500" dirty="0"/>
          </a:p>
        </p:txBody>
      </p:sp>
      <p:sp>
        <p:nvSpPr>
          <p:cNvPr id="31" name="a2float_l4d"/>
          <p:cNvSpPr txBox="1"/>
          <p:nvPr/>
        </p:nvSpPr>
        <p:spPr>
          <a:xfrm>
            <a:off x="4498848" y="4544568"/>
            <a:ext cx="3246120" cy="9144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EnMAP confirms our indices but was not a better classifier (F1 0.74 vs 0.72).</a:t>
            </a:r>
            <a:endParaRPr lang="en-US" sz="1200" dirty="0"/>
          </a:p>
        </p:txBody>
      </p:sp>
      <p:sp>
        <p:nvSpPr>
          <p:cNvPr id="32" name="a2float_l5"/>
          <p:cNvSpPr/>
          <p:nvPr/>
        </p:nvSpPr>
        <p:spPr>
          <a:xfrm>
            <a:off x="8046720" y="3703320"/>
            <a:ext cx="3593592" cy="1828800"/>
          </a:xfrm>
          <a:prstGeom prst="roundRect">
            <a:avLst>
              <a:gd name="adj" fmla="val 7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sp>
      <p:sp>
        <p:nvSpPr>
          <p:cNvPr id="33" name="a2float_l5ic_c"/>
          <p:cNvSpPr/>
          <p:nvPr/>
        </p:nvSpPr>
        <p:spPr>
          <a:xfrm>
            <a:off x="8247888" y="3904488"/>
            <a:ext cx="512064" cy="512064"/>
          </a:xfrm>
          <a:prstGeom prst="ellipse">
            <a:avLst/>
          </a:prstGeom>
          <a:solidFill>
            <a:srgbClr val="3F6E9E">
              <a:alpha val="18000"/>
            </a:srgbClr>
          </a:solidFill>
          <a:ln w="12700">
            <a:solidFill>
              <a:srgbClr val="3F6E9E"/>
            </a:solidFill>
            <a:prstDash val="solid"/>
          </a:ln>
        </p:spPr>
      </p:sp>
      <p:pic>
        <p:nvPicPr>
          <p:cNvPr id="34" name="a2float_l5ic_i" descr="preencoded.png"/>
          <p:cNvPicPr>
            <a:picLocks noChangeAspect="1"/>
          </p:cNvPicPr>
          <p:nvPr/>
        </p:nvPicPr>
        <p:blipFill>
          <a:blip r:embed="rId10"/>
          <a:stretch>
            <a:fillRect/>
          </a:stretch>
        </p:blipFill>
        <p:spPr>
          <a:xfrm>
            <a:off x="8370783" y="4027383"/>
            <a:ext cx="266273" cy="266273"/>
          </a:xfrm>
          <a:prstGeom prst="rect">
            <a:avLst/>
          </a:prstGeom>
        </p:spPr>
      </p:pic>
      <p:sp>
        <p:nvSpPr>
          <p:cNvPr id="35" name="a2float_l5t"/>
          <p:cNvSpPr txBox="1"/>
          <p:nvPr/>
        </p:nvSpPr>
        <p:spPr>
          <a:xfrm>
            <a:off x="8915400" y="3904488"/>
            <a:ext cx="2606040" cy="512064"/>
          </a:xfrm>
          <a:prstGeom prst="rect">
            <a:avLst/>
          </a:prstGeom>
          <a:noFill/>
          <a:ln/>
        </p:spPr>
        <p:txBody>
          <a:bodyPr wrap="square" lIns="0" tIns="0" rIns="0" bIns="0" rtlCol="0" anchor="ctr"/>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Carbon</a:t>
            </a:r>
            <a:endParaRPr lang="en-US" sz="1500" dirty="0"/>
          </a:p>
        </p:txBody>
      </p:sp>
      <p:sp>
        <p:nvSpPr>
          <p:cNvPr id="36" name="a2float_l5d"/>
          <p:cNvSpPr txBox="1"/>
          <p:nvPr/>
        </p:nvSpPr>
        <p:spPr>
          <a:xfrm>
            <a:off x="8247888" y="4544568"/>
            <a:ext cx="3246120" cy="9144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Area × field density from four sites (2013–14): a stock with a range, never a sequestration rate.</a:t>
            </a:r>
            <a:endParaRPr lang="en-US" sz="1200" dirty="0"/>
          </a:p>
        </p:txBody>
      </p:sp>
      <p:sp>
        <p:nvSpPr>
          <p:cNvPr id="37" name="a3fade_rule"/>
          <p:cNvSpPr txBox="1"/>
          <p:nvPr/>
        </p:nvSpPr>
        <p:spPr>
          <a:xfrm>
            <a:off x="548640" y="5870448"/>
            <a:ext cx="11064240" cy="320040"/>
          </a:xfrm>
          <a:prstGeom prst="rect">
            <a:avLst/>
          </a:prstGeom>
          <a:noFill/>
          <a:ln/>
        </p:spPr>
        <p:txBody>
          <a:bodyPr wrap="square" lIns="0" tIns="0" rIns="0" bIns="0" rtlCol="0" anchor="t"/>
          <a:lstStyle/>
          <a:p>
            <a:pPr marL="0" indent="0" algn="l">
              <a:lnSpc>
                <a:spcPct val="105000"/>
              </a:lnSpc>
              <a:buNone/>
            </a:pPr>
            <a:r>
              <a:rPr lang="en-US" sz="1200" dirty="0">
                <a:solidFill>
                  <a:srgbClr val="2F5D8F"/>
                </a:solidFill>
                <a:latin typeface="Segoe UI" pitchFamily="34" charset="0"/>
                <a:ea typeface="Segoe UI" pitchFamily="34" charset="-122"/>
                <a:cs typeface="Segoe UI" pitchFamily="34" charset="-120"/>
              </a:rPr>
              <a:t>Rule we kept: no detection rate without its chance rate; no claim of advance warning, field verification or species discrimination.</a:t>
            </a:r>
            <a:endParaRPr lang="en-US" sz="1200" dirty="0"/>
          </a:p>
        </p:txBody>
      </p:sp>
      <p:sp>
        <p:nvSpPr>
          <p:cNvPr id="38"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21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47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700"/>
                                        <p:tgtEl>
                                          <p:spTgt spid="9"/>
                                        </p:tgtEl>
                                      </p:cBhvr>
                                    </p:animEffect>
                                    <p:anim calcmode="lin" valueType="num">
                                      <p:cBhvr additive="base">
                                        <p:cTn id="23" dur="700" fill="hold"/>
                                        <p:tgtEl>
                                          <p:spTgt spid="9"/>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47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700"/>
                                        <p:tgtEl>
                                          <p:spTgt spid="10"/>
                                        </p:tgtEl>
                                      </p:cBhvr>
                                    </p:animEffect>
                                    <p:anim calcmode="lin" valueType="num">
                                      <p:cBhvr additive="base">
                                        <p:cTn id="27" dur="700" fill="hold"/>
                                        <p:tgtEl>
                                          <p:spTgt spid="10"/>
                                        </p:tgtEl>
                                        <p:attrNameLst>
                                          <p:attrName>ppt_y</p:attrName>
                                        </p:attrNameLst>
                                      </p:cBhvr>
                                      <p:tavLst>
                                        <p:tav tm="0">
                                          <p:val>
                                            <p:strVal val="#ppt_y+0.03"/>
                                          </p:val>
                                        </p:tav>
                                        <p:tav tm="100000">
                                          <p:val>
                                            <p:strVal val="#ppt_y"/>
                                          </p:val>
                                        </p:tav>
                                      </p:tavLst>
                                    </p:anim>
                                  </p:childTnLst>
                                </p:cTn>
                              </p:par>
                              <p:par>
                                <p:cTn id="28" presetID="42" presetClass="entr" presetSubtype="0" decel="100000" fill="hold" grpId="0" nodeType="withEffect">
                                  <p:stCondLst>
                                    <p:cond delay="47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00"/>
                                        <p:tgtEl>
                                          <p:spTgt spid="11"/>
                                        </p:tgtEl>
                                      </p:cBhvr>
                                    </p:animEffect>
                                    <p:anim calcmode="lin" valueType="num">
                                      <p:cBhvr additive="base">
                                        <p:cTn id="31" dur="700" fill="hold"/>
                                        <p:tgtEl>
                                          <p:spTgt spid="11"/>
                                        </p:tgtEl>
                                        <p:attrNameLst>
                                          <p:attrName>ppt_y</p:attrName>
                                        </p:attrNameLst>
                                      </p:cBhvr>
                                      <p:tavLst>
                                        <p:tav tm="0">
                                          <p:val>
                                            <p:strVal val="#ppt_y+0.03"/>
                                          </p:val>
                                        </p:tav>
                                        <p:tav tm="100000">
                                          <p:val>
                                            <p:strVal val="#ppt_y"/>
                                          </p:val>
                                        </p:tav>
                                      </p:tavLst>
                                    </p:anim>
                                  </p:childTnLst>
                                </p:cTn>
                              </p:par>
                              <p:par>
                                <p:cTn id="32" presetID="42" presetClass="entr" presetSubtype="0" decel="100000" fill="hold" grpId="0" nodeType="withEffect">
                                  <p:stCondLst>
                                    <p:cond delay="47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700"/>
                                        <p:tgtEl>
                                          <p:spTgt spid="12"/>
                                        </p:tgtEl>
                                      </p:cBhvr>
                                    </p:animEffect>
                                    <p:anim calcmode="lin" valueType="num">
                                      <p:cBhvr additive="base">
                                        <p:cTn id="35" dur="700" fill="hold"/>
                                        <p:tgtEl>
                                          <p:spTgt spid="12"/>
                                        </p:tgtEl>
                                        <p:attrNameLst>
                                          <p:attrName>ppt_y</p:attrName>
                                        </p:attrNameLst>
                                      </p:cBhvr>
                                      <p:tavLst>
                                        <p:tav tm="0">
                                          <p:val>
                                            <p:strVal val="#ppt_y+0.03"/>
                                          </p:val>
                                        </p:tav>
                                        <p:tav tm="100000">
                                          <p:val>
                                            <p:strVal val="#ppt_y"/>
                                          </p:val>
                                        </p:tav>
                                      </p:tavLst>
                                    </p:anim>
                                  </p:childTnLst>
                                </p:cTn>
                              </p:par>
                              <p:par>
                                <p:cTn id="36" presetID="42" presetClass="entr" presetSubtype="0" decel="100000" fill="hold" grpId="0" nodeType="withEffect">
                                  <p:stCondLst>
                                    <p:cond delay="47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700"/>
                                        <p:tgtEl>
                                          <p:spTgt spid="13"/>
                                        </p:tgtEl>
                                      </p:cBhvr>
                                    </p:animEffect>
                                    <p:anim calcmode="lin" valueType="num">
                                      <p:cBhvr additive="base">
                                        <p:cTn id="39" dur="700" fill="hold"/>
                                        <p:tgtEl>
                                          <p:spTgt spid="13"/>
                                        </p:tgtEl>
                                        <p:attrNameLst>
                                          <p:attrName>ppt_y</p:attrName>
                                        </p:attrNameLst>
                                      </p:cBhvr>
                                      <p:tavLst>
                                        <p:tav tm="0">
                                          <p:val>
                                            <p:strVal val="#ppt_y+0.03"/>
                                          </p:val>
                                        </p:tav>
                                        <p:tav tm="100000">
                                          <p:val>
                                            <p:strVal val="#ppt_y"/>
                                          </p:val>
                                        </p:tav>
                                      </p:tavLst>
                                    </p:anim>
                                  </p:childTnLst>
                                </p:cTn>
                              </p:par>
                              <p:par>
                                <p:cTn id="40" presetID="42" presetClass="entr" presetSubtype="0" decel="100000" fill="hold" grpId="0" nodeType="withEffect">
                                  <p:stCondLst>
                                    <p:cond delay="47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700"/>
                                        <p:tgtEl>
                                          <p:spTgt spid="14"/>
                                        </p:tgtEl>
                                      </p:cBhvr>
                                    </p:animEffect>
                                    <p:anim calcmode="lin" valueType="num">
                                      <p:cBhvr additive="base">
                                        <p:cTn id="43" dur="700" fill="hold"/>
                                        <p:tgtEl>
                                          <p:spTgt spid="14"/>
                                        </p:tgtEl>
                                        <p:attrNameLst>
                                          <p:attrName>ppt_y</p:attrName>
                                        </p:attrNameLst>
                                      </p:cBhvr>
                                      <p:tavLst>
                                        <p:tav tm="0">
                                          <p:val>
                                            <p:strVal val="#ppt_y+0.03"/>
                                          </p:val>
                                        </p:tav>
                                        <p:tav tm="100000">
                                          <p:val>
                                            <p:strVal val="#ppt_y"/>
                                          </p:val>
                                        </p:tav>
                                      </p:tavLst>
                                    </p:anim>
                                  </p:childTnLst>
                                </p:cTn>
                              </p:par>
                              <p:par>
                                <p:cTn id="44" presetID="42" presetClass="entr" presetSubtype="0" decel="100000" fill="hold" grpId="0" nodeType="withEffect">
                                  <p:stCondLst>
                                    <p:cond delay="47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700"/>
                                        <p:tgtEl>
                                          <p:spTgt spid="15"/>
                                        </p:tgtEl>
                                      </p:cBhvr>
                                    </p:animEffect>
                                    <p:anim calcmode="lin" valueType="num">
                                      <p:cBhvr additive="base">
                                        <p:cTn id="47" dur="700" fill="hold"/>
                                        <p:tgtEl>
                                          <p:spTgt spid="15"/>
                                        </p:tgtEl>
                                        <p:attrNameLst>
                                          <p:attrName>ppt_y</p:attrName>
                                        </p:attrNameLst>
                                      </p:cBhvr>
                                      <p:tavLst>
                                        <p:tav tm="0">
                                          <p:val>
                                            <p:strVal val="#ppt_y+0.03"/>
                                          </p:val>
                                        </p:tav>
                                        <p:tav tm="100000">
                                          <p:val>
                                            <p:strVal val="#ppt_y"/>
                                          </p:val>
                                        </p:tav>
                                      </p:tavLst>
                                    </p:anim>
                                  </p:childTnLst>
                                </p:cTn>
                              </p:par>
                              <p:par>
                                <p:cTn id="48" presetID="42" presetClass="entr" presetSubtype="0" decel="100000" fill="hold" grpId="0" nodeType="withEffect">
                                  <p:stCondLst>
                                    <p:cond delay="47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additive="base">
                                        <p:cTn id="51" dur="700" fill="hold"/>
                                        <p:tgtEl>
                                          <p:spTgt spid="16"/>
                                        </p:tgtEl>
                                        <p:attrNameLst>
                                          <p:attrName>ppt_y</p:attrName>
                                        </p:attrNameLst>
                                      </p:cBhvr>
                                      <p:tavLst>
                                        <p:tav tm="0">
                                          <p:val>
                                            <p:strVal val="#ppt_y+0.03"/>
                                          </p:val>
                                        </p:tav>
                                        <p:tav tm="100000">
                                          <p:val>
                                            <p:strVal val="#ppt_y"/>
                                          </p:val>
                                        </p:tav>
                                      </p:tavLst>
                                    </p:anim>
                                  </p:childTnLst>
                                </p:cTn>
                              </p:par>
                              <p:par>
                                <p:cTn id="52" presetID="42" presetClass="entr" presetSubtype="0" decel="100000" fill="hold" grpId="0" nodeType="withEffect">
                                  <p:stCondLst>
                                    <p:cond delay="47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700"/>
                                        <p:tgtEl>
                                          <p:spTgt spid="17"/>
                                        </p:tgtEl>
                                      </p:cBhvr>
                                    </p:animEffect>
                                    <p:anim calcmode="lin" valueType="num">
                                      <p:cBhvr additive="base">
                                        <p:cTn id="55" dur="700" fill="hold"/>
                                        <p:tgtEl>
                                          <p:spTgt spid="17"/>
                                        </p:tgtEl>
                                        <p:attrNameLst>
                                          <p:attrName>ppt_y</p:attrName>
                                        </p:attrNameLst>
                                      </p:cBhvr>
                                      <p:tavLst>
                                        <p:tav tm="0">
                                          <p:val>
                                            <p:strVal val="#ppt_y+0.03"/>
                                          </p:val>
                                        </p:tav>
                                        <p:tav tm="100000">
                                          <p:val>
                                            <p:strVal val="#ppt_y"/>
                                          </p:val>
                                        </p:tav>
                                      </p:tavLst>
                                    </p:anim>
                                  </p:childTnLst>
                                </p:cTn>
                              </p:par>
                              <p:par>
                                <p:cTn id="56" presetID="42" presetClass="entr" presetSubtype="0" decel="100000" fill="hold" grpId="0" nodeType="withEffect">
                                  <p:stCondLst>
                                    <p:cond delay="47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700"/>
                                        <p:tgtEl>
                                          <p:spTgt spid="18"/>
                                        </p:tgtEl>
                                      </p:cBhvr>
                                    </p:animEffect>
                                    <p:anim calcmode="lin" valueType="num">
                                      <p:cBhvr additive="base">
                                        <p:cTn id="59" dur="700" fill="hold"/>
                                        <p:tgtEl>
                                          <p:spTgt spid="18"/>
                                        </p:tgtEl>
                                        <p:attrNameLst>
                                          <p:attrName>ppt_y</p:attrName>
                                        </p:attrNameLst>
                                      </p:cBhvr>
                                      <p:tavLst>
                                        <p:tav tm="0">
                                          <p:val>
                                            <p:strVal val="#ppt_y+0.03"/>
                                          </p:val>
                                        </p:tav>
                                        <p:tav tm="100000">
                                          <p:val>
                                            <p:strVal val="#ppt_y"/>
                                          </p:val>
                                        </p:tav>
                                      </p:tavLst>
                                    </p:anim>
                                  </p:childTnLst>
                                </p:cTn>
                              </p:par>
                              <p:par>
                                <p:cTn id="60" presetID="42" presetClass="entr" presetSubtype="0" decel="100000" fill="hold" grpId="0" nodeType="withEffect">
                                  <p:stCondLst>
                                    <p:cond delay="47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700"/>
                                        <p:tgtEl>
                                          <p:spTgt spid="19"/>
                                        </p:tgtEl>
                                      </p:cBhvr>
                                    </p:animEffect>
                                    <p:anim calcmode="lin" valueType="num">
                                      <p:cBhvr additive="base">
                                        <p:cTn id="63" dur="700" fill="hold"/>
                                        <p:tgtEl>
                                          <p:spTgt spid="19"/>
                                        </p:tgtEl>
                                        <p:attrNameLst>
                                          <p:attrName>ppt_y</p:attrName>
                                        </p:attrNameLst>
                                      </p:cBhvr>
                                      <p:tavLst>
                                        <p:tav tm="0">
                                          <p:val>
                                            <p:strVal val="#ppt_y+0.03"/>
                                          </p:val>
                                        </p:tav>
                                        <p:tav tm="100000">
                                          <p:val>
                                            <p:strVal val="#ppt_y"/>
                                          </p:val>
                                        </p:tav>
                                      </p:tavLst>
                                    </p:anim>
                                  </p:childTnLst>
                                </p:cTn>
                              </p:par>
                              <p:par>
                                <p:cTn id="64" presetID="42" presetClass="entr" presetSubtype="0" decel="100000" fill="hold" grpId="0" nodeType="withEffect">
                                  <p:stCondLst>
                                    <p:cond delay="47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700"/>
                                        <p:tgtEl>
                                          <p:spTgt spid="20"/>
                                        </p:tgtEl>
                                      </p:cBhvr>
                                    </p:animEffect>
                                    <p:anim calcmode="lin" valueType="num">
                                      <p:cBhvr additive="base">
                                        <p:cTn id="67" dur="700" fill="hold"/>
                                        <p:tgtEl>
                                          <p:spTgt spid="20"/>
                                        </p:tgtEl>
                                        <p:attrNameLst>
                                          <p:attrName>ppt_y</p:attrName>
                                        </p:attrNameLst>
                                      </p:cBhvr>
                                      <p:tavLst>
                                        <p:tav tm="0">
                                          <p:val>
                                            <p:strVal val="#ppt_y+0.03"/>
                                          </p:val>
                                        </p:tav>
                                        <p:tav tm="100000">
                                          <p:val>
                                            <p:strVal val="#ppt_y"/>
                                          </p:val>
                                        </p:tav>
                                      </p:tavLst>
                                    </p:anim>
                                  </p:childTnLst>
                                </p:cTn>
                              </p:par>
                              <p:par>
                                <p:cTn id="68" presetID="42" presetClass="entr" presetSubtype="0" decel="100000" fill="hold" grpId="0" nodeType="withEffect">
                                  <p:stCondLst>
                                    <p:cond delay="47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700"/>
                                        <p:tgtEl>
                                          <p:spTgt spid="21"/>
                                        </p:tgtEl>
                                      </p:cBhvr>
                                    </p:animEffect>
                                    <p:anim calcmode="lin" valueType="num">
                                      <p:cBhvr additive="base">
                                        <p:cTn id="71" dur="700" fill="hold"/>
                                        <p:tgtEl>
                                          <p:spTgt spid="21"/>
                                        </p:tgtEl>
                                        <p:attrNameLst>
                                          <p:attrName>ppt_y</p:attrName>
                                        </p:attrNameLst>
                                      </p:cBhvr>
                                      <p:tavLst>
                                        <p:tav tm="0">
                                          <p:val>
                                            <p:strVal val="#ppt_y+0.03"/>
                                          </p:val>
                                        </p:tav>
                                        <p:tav tm="100000">
                                          <p:val>
                                            <p:strVal val="#ppt_y"/>
                                          </p:val>
                                        </p:tav>
                                      </p:tavLst>
                                    </p:anim>
                                  </p:childTnLst>
                                </p:cTn>
                              </p:par>
                              <p:par>
                                <p:cTn id="72" presetID="42" presetClass="entr" presetSubtype="0" decel="100000" fill="hold" grpId="0" nodeType="withEffect">
                                  <p:stCondLst>
                                    <p:cond delay="69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700"/>
                                        <p:tgtEl>
                                          <p:spTgt spid="22"/>
                                        </p:tgtEl>
                                      </p:cBhvr>
                                    </p:animEffect>
                                    <p:anim calcmode="lin" valueType="num">
                                      <p:cBhvr additive="base">
                                        <p:cTn id="75" dur="700" fill="hold"/>
                                        <p:tgtEl>
                                          <p:spTgt spid="22"/>
                                        </p:tgtEl>
                                        <p:attrNameLst>
                                          <p:attrName>ppt_y</p:attrName>
                                        </p:attrNameLst>
                                      </p:cBhvr>
                                      <p:tavLst>
                                        <p:tav tm="0">
                                          <p:val>
                                            <p:strVal val="#ppt_y+0.03"/>
                                          </p:val>
                                        </p:tav>
                                        <p:tav tm="100000">
                                          <p:val>
                                            <p:strVal val="#ppt_y"/>
                                          </p:val>
                                        </p:tav>
                                      </p:tavLst>
                                    </p:anim>
                                  </p:childTnLst>
                                </p:cTn>
                              </p:par>
                              <p:par>
                                <p:cTn id="76" presetID="42" presetClass="entr" presetSubtype="0" decel="100000" fill="hold" grpId="0" nodeType="withEffect">
                                  <p:stCondLst>
                                    <p:cond delay="69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700"/>
                                        <p:tgtEl>
                                          <p:spTgt spid="23"/>
                                        </p:tgtEl>
                                      </p:cBhvr>
                                    </p:animEffect>
                                    <p:anim calcmode="lin" valueType="num">
                                      <p:cBhvr additive="base">
                                        <p:cTn id="79" dur="700" fill="hold"/>
                                        <p:tgtEl>
                                          <p:spTgt spid="23"/>
                                        </p:tgtEl>
                                        <p:attrNameLst>
                                          <p:attrName>ppt_y</p:attrName>
                                        </p:attrNameLst>
                                      </p:cBhvr>
                                      <p:tavLst>
                                        <p:tav tm="0">
                                          <p:val>
                                            <p:strVal val="#ppt_y+0.03"/>
                                          </p:val>
                                        </p:tav>
                                        <p:tav tm="100000">
                                          <p:val>
                                            <p:strVal val="#ppt_y"/>
                                          </p:val>
                                        </p:tav>
                                      </p:tavLst>
                                    </p:anim>
                                  </p:childTnLst>
                                </p:cTn>
                              </p:par>
                              <p:par>
                                <p:cTn id="80" presetID="42" presetClass="entr" presetSubtype="0" decel="100000" fill="hold" grpId="0" nodeType="withEffect">
                                  <p:stCondLst>
                                    <p:cond delay="69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700"/>
                                        <p:tgtEl>
                                          <p:spTgt spid="24"/>
                                        </p:tgtEl>
                                      </p:cBhvr>
                                    </p:animEffect>
                                    <p:anim calcmode="lin" valueType="num">
                                      <p:cBhvr additive="base">
                                        <p:cTn id="83" dur="700" fill="hold"/>
                                        <p:tgtEl>
                                          <p:spTgt spid="24"/>
                                        </p:tgtEl>
                                        <p:attrNameLst>
                                          <p:attrName>ppt_y</p:attrName>
                                        </p:attrNameLst>
                                      </p:cBhvr>
                                      <p:tavLst>
                                        <p:tav tm="0">
                                          <p:val>
                                            <p:strVal val="#ppt_y+0.03"/>
                                          </p:val>
                                        </p:tav>
                                        <p:tav tm="100000">
                                          <p:val>
                                            <p:strVal val="#ppt_y"/>
                                          </p:val>
                                        </p:tav>
                                      </p:tavLst>
                                    </p:anim>
                                  </p:childTnLst>
                                </p:cTn>
                              </p:par>
                              <p:par>
                                <p:cTn id="84" presetID="42" presetClass="entr" presetSubtype="0" decel="100000" fill="hold" grpId="0" nodeType="withEffect">
                                  <p:stCondLst>
                                    <p:cond delay="69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700"/>
                                        <p:tgtEl>
                                          <p:spTgt spid="25"/>
                                        </p:tgtEl>
                                      </p:cBhvr>
                                    </p:animEffect>
                                    <p:anim calcmode="lin" valueType="num">
                                      <p:cBhvr additive="base">
                                        <p:cTn id="87" dur="700" fill="hold"/>
                                        <p:tgtEl>
                                          <p:spTgt spid="25"/>
                                        </p:tgtEl>
                                        <p:attrNameLst>
                                          <p:attrName>ppt_y</p:attrName>
                                        </p:attrNameLst>
                                      </p:cBhvr>
                                      <p:tavLst>
                                        <p:tav tm="0">
                                          <p:val>
                                            <p:strVal val="#ppt_y+0.03"/>
                                          </p:val>
                                        </p:tav>
                                        <p:tav tm="100000">
                                          <p:val>
                                            <p:strVal val="#ppt_y"/>
                                          </p:val>
                                        </p:tav>
                                      </p:tavLst>
                                    </p:anim>
                                  </p:childTnLst>
                                </p:cTn>
                              </p:par>
                              <p:par>
                                <p:cTn id="88" presetID="42" presetClass="entr" presetSubtype="0" decel="100000" fill="hold" grpId="0" nodeType="withEffect">
                                  <p:stCondLst>
                                    <p:cond delay="69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700"/>
                                        <p:tgtEl>
                                          <p:spTgt spid="26"/>
                                        </p:tgtEl>
                                      </p:cBhvr>
                                    </p:animEffect>
                                    <p:anim calcmode="lin" valueType="num">
                                      <p:cBhvr additive="base">
                                        <p:cTn id="91" dur="700" fill="hold"/>
                                        <p:tgtEl>
                                          <p:spTgt spid="26"/>
                                        </p:tgtEl>
                                        <p:attrNameLst>
                                          <p:attrName>ppt_y</p:attrName>
                                        </p:attrNameLst>
                                      </p:cBhvr>
                                      <p:tavLst>
                                        <p:tav tm="0">
                                          <p:val>
                                            <p:strVal val="#ppt_y+0.03"/>
                                          </p:val>
                                        </p:tav>
                                        <p:tav tm="100000">
                                          <p:val>
                                            <p:strVal val="#ppt_y"/>
                                          </p:val>
                                        </p:tav>
                                      </p:tavLst>
                                    </p:anim>
                                  </p:childTnLst>
                                </p:cTn>
                              </p:par>
                              <p:par>
                                <p:cTn id="92" presetID="42" presetClass="entr" presetSubtype="0" decel="100000" fill="hold" grpId="0" nodeType="withEffect">
                                  <p:stCondLst>
                                    <p:cond delay="690"/>
                                  </p:stCondLst>
                                  <p:childTnLst>
                                    <p:set>
                                      <p:cBhvr>
                                        <p:cTn id="93" dur="1" fill="hold">
                                          <p:stCondLst>
                                            <p:cond delay="0"/>
                                          </p:stCondLst>
                                        </p:cTn>
                                        <p:tgtEl>
                                          <p:spTgt spid="27"/>
                                        </p:tgtEl>
                                        <p:attrNameLst>
                                          <p:attrName>style.visibility</p:attrName>
                                        </p:attrNameLst>
                                      </p:cBhvr>
                                      <p:to>
                                        <p:strVal val="visible"/>
                                      </p:to>
                                    </p:set>
                                    <p:animEffect transition="in" filter="fade">
                                      <p:cBhvr>
                                        <p:cTn id="94" dur="700"/>
                                        <p:tgtEl>
                                          <p:spTgt spid="27"/>
                                        </p:tgtEl>
                                      </p:cBhvr>
                                    </p:animEffect>
                                    <p:anim calcmode="lin" valueType="num">
                                      <p:cBhvr additive="base">
                                        <p:cTn id="95" dur="700" fill="hold"/>
                                        <p:tgtEl>
                                          <p:spTgt spid="27"/>
                                        </p:tgtEl>
                                        <p:attrNameLst>
                                          <p:attrName>ppt_y</p:attrName>
                                        </p:attrNameLst>
                                      </p:cBhvr>
                                      <p:tavLst>
                                        <p:tav tm="0">
                                          <p:val>
                                            <p:strVal val="#ppt_y+0.03"/>
                                          </p:val>
                                        </p:tav>
                                        <p:tav tm="100000">
                                          <p:val>
                                            <p:strVal val="#ppt_y"/>
                                          </p:val>
                                        </p:tav>
                                      </p:tavLst>
                                    </p:anim>
                                  </p:childTnLst>
                                </p:cTn>
                              </p:par>
                              <p:par>
                                <p:cTn id="96" presetID="42" presetClass="entr" presetSubtype="0" decel="100000" fill="hold" grpId="0" nodeType="withEffect">
                                  <p:stCondLst>
                                    <p:cond delay="690"/>
                                  </p:stCondLst>
                                  <p:childTnLst>
                                    <p:set>
                                      <p:cBhvr>
                                        <p:cTn id="97" dur="1" fill="hold">
                                          <p:stCondLst>
                                            <p:cond delay="0"/>
                                          </p:stCondLst>
                                        </p:cTn>
                                        <p:tgtEl>
                                          <p:spTgt spid="28"/>
                                        </p:tgtEl>
                                        <p:attrNameLst>
                                          <p:attrName>style.visibility</p:attrName>
                                        </p:attrNameLst>
                                      </p:cBhvr>
                                      <p:to>
                                        <p:strVal val="visible"/>
                                      </p:to>
                                    </p:set>
                                    <p:animEffect transition="in" filter="fade">
                                      <p:cBhvr>
                                        <p:cTn id="98" dur="700"/>
                                        <p:tgtEl>
                                          <p:spTgt spid="28"/>
                                        </p:tgtEl>
                                      </p:cBhvr>
                                    </p:animEffect>
                                    <p:anim calcmode="lin" valueType="num">
                                      <p:cBhvr additive="base">
                                        <p:cTn id="99" dur="700" fill="hold"/>
                                        <p:tgtEl>
                                          <p:spTgt spid="28"/>
                                        </p:tgtEl>
                                        <p:attrNameLst>
                                          <p:attrName>ppt_y</p:attrName>
                                        </p:attrNameLst>
                                      </p:cBhvr>
                                      <p:tavLst>
                                        <p:tav tm="0">
                                          <p:val>
                                            <p:strVal val="#ppt_y+0.03"/>
                                          </p:val>
                                        </p:tav>
                                        <p:tav tm="100000">
                                          <p:val>
                                            <p:strVal val="#ppt_y"/>
                                          </p:val>
                                        </p:tav>
                                      </p:tavLst>
                                    </p:anim>
                                  </p:childTnLst>
                                </p:cTn>
                              </p:par>
                              <p:par>
                                <p:cTn id="100" presetID="42" presetClass="entr" presetSubtype="0" decel="100000" fill="hold" grpId="0" nodeType="withEffect">
                                  <p:stCondLst>
                                    <p:cond delay="690"/>
                                  </p:stCondLst>
                                  <p:childTnLst>
                                    <p:set>
                                      <p:cBhvr>
                                        <p:cTn id="101" dur="1" fill="hold">
                                          <p:stCondLst>
                                            <p:cond delay="0"/>
                                          </p:stCondLst>
                                        </p:cTn>
                                        <p:tgtEl>
                                          <p:spTgt spid="29"/>
                                        </p:tgtEl>
                                        <p:attrNameLst>
                                          <p:attrName>style.visibility</p:attrName>
                                        </p:attrNameLst>
                                      </p:cBhvr>
                                      <p:to>
                                        <p:strVal val="visible"/>
                                      </p:to>
                                    </p:set>
                                    <p:animEffect transition="in" filter="fade">
                                      <p:cBhvr>
                                        <p:cTn id="102" dur="700"/>
                                        <p:tgtEl>
                                          <p:spTgt spid="29"/>
                                        </p:tgtEl>
                                      </p:cBhvr>
                                    </p:animEffect>
                                    <p:anim calcmode="lin" valueType="num">
                                      <p:cBhvr additive="base">
                                        <p:cTn id="103" dur="700" fill="hold"/>
                                        <p:tgtEl>
                                          <p:spTgt spid="29"/>
                                        </p:tgtEl>
                                        <p:attrNameLst>
                                          <p:attrName>ppt_y</p:attrName>
                                        </p:attrNameLst>
                                      </p:cBhvr>
                                      <p:tavLst>
                                        <p:tav tm="0">
                                          <p:val>
                                            <p:strVal val="#ppt_y+0.03"/>
                                          </p:val>
                                        </p:tav>
                                        <p:tav tm="100000">
                                          <p:val>
                                            <p:strVal val="#ppt_y"/>
                                          </p:val>
                                        </p:tav>
                                      </p:tavLst>
                                    </p:anim>
                                  </p:childTnLst>
                                </p:cTn>
                              </p:par>
                              <p:par>
                                <p:cTn id="104" presetID="42" presetClass="entr" presetSubtype="0" decel="100000" fill="hold" grpId="0" nodeType="withEffect">
                                  <p:stCondLst>
                                    <p:cond delay="690"/>
                                  </p:stCondLst>
                                  <p:childTnLst>
                                    <p:set>
                                      <p:cBhvr>
                                        <p:cTn id="105" dur="1" fill="hold">
                                          <p:stCondLst>
                                            <p:cond delay="0"/>
                                          </p:stCondLst>
                                        </p:cTn>
                                        <p:tgtEl>
                                          <p:spTgt spid="30"/>
                                        </p:tgtEl>
                                        <p:attrNameLst>
                                          <p:attrName>style.visibility</p:attrName>
                                        </p:attrNameLst>
                                      </p:cBhvr>
                                      <p:to>
                                        <p:strVal val="visible"/>
                                      </p:to>
                                    </p:set>
                                    <p:animEffect transition="in" filter="fade">
                                      <p:cBhvr>
                                        <p:cTn id="106" dur="700"/>
                                        <p:tgtEl>
                                          <p:spTgt spid="30"/>
                                        </p:tgtEl>
                                      </p:cBhvr>
                                    </p:animEffect>
                                    <p:anim calcmode="lin" valueType="num">
                                      <p:cBhvr additive="base">
                                        <p:cTn id="107" dur="700" fill="hold"/>
                                        <p:tgtEl>
                                          <p:spTgt spid="30"/>
                                        </p:tgtEl>
                                        <p:attrNameLst>
                                          <p:attrName>ppt_y</p:attrName>
                                        </p:attrNameLst>
                                      </p:cBhvr>
                                      <p:tavLst>
                                        <p:tav tm="0">
                                          <p:val>
                                            <p:strVal val="#ppt_y+0.03"/>
                                          </p:val>
                                        </p:tav>
                                        <p:tav tm="100000">
                                          <p:val>
                                            <p:strVal val="#ppt_y"/>
                                          </p:val>
                                        </p:tav>
                                      </p:tavLst>
                                    </p:anim>
                                  </p:childTnLst>
                                </p:cTn>
                              </p:par>
                              <p:par>
                                <p:cTn id="108" presetID="42" presetClass="entr" presetSubtype="0" decel="100000" fill="hold" grpId="0" nodeType="withEffect">
                                  <p:stCondLst>
                                    <p:cond delay="690"/>
                                  </p:stCondLst>
                                  <p:childTnLst>
                                    <p:set>
                                      <p:cBhvr>
                                        <p:cTn id="109" dur="1" fill="hold">
                                          <p:stCondLst>
                                            <p:cond delay="0"/>
                                          </p:stCondLst>
                                        </p:cTn>
                                        <p:tgtEl>
                                          <p:spTgt spid="31"/>
                                        </p:tgtEl>
                                        <p:attrNameLst>
                                          <p:attrName>style.visibility</p:attrName>
                                        </p:attrNameLst>
                                      </p:cBhvr>
                                      <p:to>
                                        <p:strVal val="visible"/>
                                      </p:to>
                                    </p:set>
                                    <p:animEffect transition="in" filter="fade">
                                      <p:cBhvr>
                                        <p:cTn id="110" dur="700"/>
                                        <p:tgtEl>
                                          <p:spTgt spid="31"/>
                                        </p:tgtEl>
                                      </p:cBhvr>
                                    </p:animEffect>
                                    <p:anim calcmode="lin" valueType="num">
                                      <p:cBhvr additive="base">
                                        <p:cTn id="111" dur="700" fill="hold"/>
                                        <p:tgtEl>
                                          <p:spTgt spid="31"/>
                                        </p:tgtEl>
                                        <p:attrNameLst>
                                          <p:attrName>ppt_y</p:attrName>
                                        </p:attrNameLst>
                                      </p:cBhvr>
                                      <p:tavLst>
                                        <p:tav tm="0">
                                          <p:val>
                                            <p:strVal val="#ppt_y+0.03"/>
                                          </p:val>
                                        </p:tav>
                                        <p:tav tm="100000">
                                          <p:val>
                                            <p:strVal val="#ppt_y"/>
                                          </p:val>
                                        </p:tav>
                                      </p:tavLst>
                                    </p:anim>
                                  </p:childTnLst>
                                </p:cTn>
                              </p:par>
                              <p:par>
                                <p:cTn id="112" presetID="42" presetClass="entr" presetSubtype="0" decel="100000" fill="hold" grpId="0" nodeType="withEffect">
                                  <p:stCondLst>
                                    <p:cond delay="690"/>
                                  </p:stCondLst>
                                  <p:childTnLst>
                                    <p:set>
                                      <p:cBhvr>
                                        <p:cTn id="113" dur="1" fill="hold">
                                          <p:stCondLst>
                                            <p:cond delay="0"/>
                                          </p:stCondLst>
                                        </p:cTn>
                                        <p:tgtEl>
                                          <p:spTgt spid="32"/>
                                        </p:tgtEl>
                                        <p:attrNameLst>
                                          <p:attrName>style.visibility</p:attrName>
                                        </p:attrNameLst>
                                      </p:cBhvr>
                                      <p:to>
                                        <p:strVal val="visible"/>
                                      </p:to>
                                    </p:set>
                                    <p:animEffect transition="in" filter="fade">
                                      <p:cBhvr>
                                        <p:cTn id="114" dur="700"/>
                                        <p:tgtEl>
                                          <p:spTgt spid="32"/>
                                        </p:tgtEl>
                                      </p:cBhvr>
                                    </p:animEffect>
                                    <p:anim calcmode="lin" valueType="num">
                                      <p:cBhvr additive="base">
                                        <p:cTn id="115" dur="700" fill="hold"/>
                                        <p:tgtEl>
                                          <p:spTgt spid="32"/>
                                        </p:tgtEl>
                                        <p:attrNameLst>
                                          <p:attrName>ppt_y</p:attrName>
                                        </p:attrNameLst>
                                      </p:cBhvr>
                                      <p:tavLst>
                                        <p:tav tm="0">
                                          <p:val>
                                            <p:strVal val="#ppt_y+0.03"/>
                                          </p:val>
                                        </p:tav>
                                        <p:tav tm="100000">
                                          <p:val>
                                            <p:strVal val="#ppt_y"/>
                                          </p:val>
                                        </p:tav>
                                      </p:tavLst>
                                    </p:anim>
                                  </p:childTnLst>
                                </p:cTn>
                              </p:par>
                              <p:par>
                                <p:cTn id="116" presetID="42" presetClass="entr" presetSubtype="0" decel="100000" fill="hold" grpId="0" nodeType="withEffect">
                                  <p:stCondLst>
                                    <p:cond delay="690"/>
                                  </p:stCondLst>
                                  <p:childTnLst>
                                    <p:set>
                                      <p:cBhvr>
                                        <p:cTn id="117" dur="1" fill="hold">
                                          <p:stCondLst>
                                            <p:cond delay="0"/>
                                          </p:stCondLst>
                                        </p:cTn>
                                        <p:tgtEl>
                                          <p:spTgt spid="33"/>
                                        </p:tgtEl>
                                        <p:attrNameLst>
                                          <p:attrName>style.visibility</p:attrName>
                                        </p:attrNameLst>
                                      </p:cBhvr>
                                      <p:to>
                                        <p:strVal val="visible"/>
                                      </p:to>
                                    </p:set>
                                    <p:animEffect transition="in" filter="fade">
                                      <p:cBhvr>
                                        <p:cTn id="118" dur="700"/>
                                        <p:tgtEl>
                                          <p:spTgt spid="33"/>
                                        </p:tgtEl>
                                      </p:cBhvr>
                                    </p:animEffect>
                                    <p:anim calcmode="lin" valueType="num">
                                      <p:cBhvr additive="base">
                                        <p:cTn id="119" dur="700" fill="hold"/>
                                        <p:tgtEl>
                                          <p:spTgt spid="33"/>
                                        </p:tgtEl>
                                        <p:attrNameLst>
                                          <p:attrName>ppt_y</p:attrName>
                                        </p:attrNameLst>
                                      </p:cBhvr>
                                      <p:tavLst>
                                        <p:tav tm="0">
                                          <p:val>
                                            <p:strVal val="#ppt_y+0.03"/>
                                          </p:val>
                                        </p:tav>
                                        <p:tav tm="100000">
                                          <p:val>
                                            <p:strVal val="#ppt_y"/>
                                          </p:val>
                                        </p:tav>
                                      </p:tavLst>
                                    </p:anim>
                                  </p:childTnLst>
                                </p:cTn>
                              </p:par>
                              <p:par>
                                <p:cTn id="120" presetID="42" presetClass="entr" presetSubtype="0" decel="100000" fill="hold" grpId="0" nodeType="withEffect">
                                  <p:stCondLst>
                                    <p:cond delay="690"/>
                                  </p:stCondLst>
                                  <p:childTnLst>
                                    <p:set>
                                      <p:cBhvr>
                                        <p:cTn id="121" dur="1" fill="hold">
                                          <p:stCondLst>
                                            <p:cond delay="0"/>
                                          </p:stCondLst>
                                        </p:cTn>
                                        <p:tgtEl>
                                          <p:spTgt spid="34"/>
                                        </p:tgtEl>
                                        <p:attrNameLst>
                                          <p:attrName>style.visibility</p:attrName>
                                        </p:attrNameLst>
                                      </p:cBhvr>
                                      <p:to>
                                        <p:strVal val="visible"/>
                                      </p:to>
                                    </p:set>
                                    <p:animEffect transition="in" filter="fade">
                                      <p:cBhvr>
                                        <p:cTn id="122" dur="700"/>
                                        <p:tgtEl>
                                          <p:spTgt spid="34"/>
                                        </p:tgtEl>
                                      </p:cBhvr>
                                    </p:animEffect>
                                    <p:anim calcmode="lin" valueType="num">
                                      <p:cBhvr additive="base">
                                        <p:cTn id="123" dur="700" fill="hold"/>
                                        <p:tgtEl>
                                          <p:spTgt spid="34"/>
                                        </p:tgtEl>
                                        <p:attrNameLst>
                                          <p:attrName>ppt_y</p:attrName>
                                        </p:attrNameLst>
                                      </p:cBhvr>
                                      <p:tavLst>
                                        <p:tav tm="0">
                                          <p:val>
                                            <p:strVal val="#ppt_y+0.03"/>
                                          </p:val>
                                        </p:tav>
                                        <p:tav tm="100000">
                                          <p:val>
                                            <p:strVal val="#ppt_y"/>
                                          </p:val>
                                        </p:tav>
                                      </p:tavLst>
                                    </p:anim>
                                  </p:childTnLst>
                                </p:cTn>
                              </p:par>
                              <p:par>
                                <p:cTn id="124" presetID="42" presetClass="entr" presetSubtype="0" decel="100000" fill="hold" grpId="0" nodeType="withEffect">
                                  <p:stCondLst>
                                    <p:cond delay="690"/>
                                  </p:stCondLst>
                                  <p:childTnLst>
                                    <p:set>
                                      <p:cBhvr>
                                        <p:cTn id="125" dur="1" fill="hold">
                                          <p:stCondLst>
                                            <p:cond delay="0"/>
                                          </p:stCondLst>
                                        </p:cTn>
                                        <p:tgtEl>
                                          <p:spTgt spid="35"/>
                                        </p:tgtEl>
                                        <p:attrNameLst>
                                          <p:attrName>style.visibility</p:attrName>
                                        </p:attrNameLst>
                                      </p:cBhvr>
                                      <p:to>
                                        <p:strVal val="visible"/>
                                      </p:to>
                                    </p:set>
                                    <p:animEffect transition="in" filter="fade">
                                      <p:cBhvr>
                                        <p:cTn id="126" dur="700"/>
                                        <p:tgtEl>
                                          <p:spTgt spid="35"/>
                                        </p:tgtEl>
                                      </p:cBhvr>
                                    </p:animEffect>
                                    <p:anim calcmode="lin" valueType="num">
                                      <p:cBhvr additive="base">
                                        <p:cTn id="127" dur="700" fill="hold"/>
                                        <p:tgtEl>
                                          <p:spTgt spid="35"/>
                                        </p:tgtEl>
                                        <p:attrNameLst>
                                          <p:attrName>ppt_y</p:attrName>
                                        </p:attrNameLst>
                                      </p:cBhvr>
                                      <p:tavLst>
                                        <p:tav tm="0">
                                          <p:val>
                                            <p:strVal val="#ppt_y+0.03"/>
                                          </p:val>
                                        </p:tav>
                                        <p:tav tm="100000">
                                          <p:val>
                                            <p:strVal val="#ppt_y"/>
                                          </p:val>
                                        </p:tav>
                                      </p:tavLst>
                                    </p:anim>
                                  </p:childTnLst>
                                </p:cTn>
                              </p:par>
                              <p:par>
                                <p:cTn id="128" presetID="42" presetClass="entr" presetSubtype="0" decel="100000" fill="hold" grpId="0" nodeType="withEffect">
                                  <p:stCondLst>
                                    <p:cond delay="690"/>
                                  </p:stCondLst>
                                  <p:childTnLst>
                                    <p:set>
                                      <p:cBhvr>
                                        <p:cTn id="129" dur="1" fill="hold">
                                          <p:stCondLst>
                                            <p:cond delay="0"/>
                                          </p:stCondLst>
                                        </p:cTn>
                                        <p:tgtEl>
                                          <p:spTgt spid="36"/>
                                        </p:tgtEl>
                                        <p:attrNameLst>
                                          <p:attrName>style.visibility</p:attrName>
                                        </p:attrNameLst>
                                      </p:cBhvr>
                                      <p:to>
                                        <p:strVal val="visible"/>
                                      </p:to>
                                    </p:set>
                                    <p:animEffect transition="in" filter="fade">
                                      <p:cBhvr>
                                        <p:cTn id="130" dur="700"/>
                                        <p:tgtEl>
                                          <p:spTgt spid="36"/>
                                        </p:tgtEl>
                                      </p:cBhvr>
                                    </p:animEffect>
                                    <p:anim calcmode="lin" valueType="num">
                                      <p:cBhvr additive="base">
                                        <p:cTn id="131" dur="700" fill="hold"/>
                                        <p:tgtEl>
                                          <p:spTgt spid="36"/>
                                        </p:tgtEl>
                                        <p:attrNameLst>
                                          <p:attrName>ppt_y</p:attrName>
                                        </p:attrNameLst>
                                      </p:cBhvr>
                                      <p:tavLst>
                                        <p:tav tm="0">
                                          <p:val>
                                            <p:strVal val="#ppt_y+0.03"/>
                                          </p:val>
                                        </p:tav>
                                        <p:tav tm="100000">
                                          <p:val>
                                            <p:strVal val="#ppt_y"/>
                                          </p:val>
                                        </p:tav>
                                      </p:tavLst>
                                    </p:anim>
                                  </p:childTnLst>
                                </p:cTn>
                              </p:par>
                              <p:par>
                                <p:cTn id="132" presetID="10" presetClass="entr" presetSubtype="0" decel="100000" fill="hold" grpId="0" nodeType="withEffect">
                                  <p:stCondLst>
                                    <p:cond delay="910"/>
                                  </p:stCondLst>
                                  <p:childTnLst>
                                    <p:set>
                                      <p:cBhvr>
                                        <p:cTn id="133" dur="1" fill="hold">
                                          <p:stCondLst>
                                            <p:cond delay="0"/>
                                          </p:stCondLst>
                                        </p:cTn>
                                        <p:tgtEl>
                                          <p:spTgt spid="37"/>
                                        </p:tgtEl>
                                        <p:attrNameLst>
                                          <p:attrName>style.visibility</p:attrName>
                                        </p:attrNameLst>
                                      </p:cBhvr>
                                      <p:to>
                                        <p:strVal val="visible"/>
                                      </p:to>
                                    </p:set>
                                    <p:animEffect transition="in" filter="fade">
                                      <p:cBhvr>
                                        <p:cTn id="134" dur="6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p:bldP spid="10" grpId="0" animBg="1"/>
      <p:bldP spid="11" grpId="0" animBg="1"/>
      <p:bldP spid="12" grpId="0" animBg="1"/>
      <p:bldP spid="13" grpId="0" animBg="1"/>
      <p:bldP spid="14" grpId="0"/>
      <p:bldP spid="15" grpId="0" animBg="1"/>
      <p:bldP spid="16" grpId="0" animBg="1"/>
      <p:bldP spid="17" grpId="0" animBg="1"/>
      <p:bldP spid="18" grpId="0" animBg="1"/>
      <p:bldP spid="19" grpId="0"/>
      <p:bldP spid="20" grpId="0" animBg="1"/>
      <p:bldP spid="21" grpId="0" animBg="1"/>
      <p:bldP spid="22" grpId="0" animBg="1"/>
      <p:bldP spid="23" grpId="0" animBg="1"/>
      <p:bldP spid="24" grpId="0"/>
      <p:bldP spid="25" grpId="0" animBg="1"/>
      <p:bldP spid="26" grpId="0" animBg="1"/>
      <p:bldP spid="27" grpId="0" animBg="1"/>
      <p:bldP spid="28" grpId="0" animBg="1"/>
      <p:bldP spid="29" grpId="0"/>
      <p:bldP spid="30" grpId="0" animBg="1"/>
      <p:bldP spid="31" grpId="0" animBg="1"/>
      <p:bldP spid="32" grpId="0" animBg="1"/>
      <p:bldP spid="33" grpId="0" animBg="1"/>
      <p:bldP spid="34" grpId="0"/>
      <p:bldP spid="35" grpId="0" animBg="1"/>
      <p:bldP spid="36" grpId="0" animBg="1"/>
      <p:bldP spid="3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5">
            <a:alphaModFix amt="38000"/>
          </a:blip>
          <a:stretch>
            <a:fillRect/>
          </a:stretch>
        </p:blipFill>
        <p:spPr>
          <a:xfrm>
            <a:off x="8046720" y="-2743200"/>
            <a:ext cx="5486400" cy="5486400"/>
          </a:xfrm>
          <a:prstGeom prst="rect">
            <a:avLst/>
          </a:prstGeom>
        </p:spPr>
      </p:pic>
      <p:pic>
        <p:nvPicPr>
          <p:cNvPr id="3" name="!!glow2" descr="C:\Users\nahla\Desktop\UAE-Space-Hackatoon\deck_pptx\build\assets\glow_blue.png"/>
          <p:cNvPicPr>
            <a:picLocks noChangeAspect="1"/>
          </p:cNvPicPr>
          <p:nvPr/>
        </p:nvPicPr>
        <p:blipFill>
          <a:blip r:embed="rId6">
            <a:alphaModFix amt="35000"/>
          </a:blip>
          <a:stretch>
            <a:fillRect/>
          </a:stretch>
        </p:blipFill>
        <p:spPr>
          <a:xfrm>
            <a:off x="-2377440" y="310896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BACKUP · FOR QUESTIONS</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The 2-minute product demo</a:t>
            </a:r>
            <a:endParaRPr lang="en-US" sz="3400" dirty="0"/>
          </a:p>
        </p:txBody>
      </p:sp>
      <p:sp>
        <p:nvSpPr>
          <p:cNvPr id="7" name="a1zoom_dframe"/>
          <p:cNvSpPr/>
          <p:nvPr/>
        </p:nvSpPr>
        <p:spPr>
          <a:xfrm>
            <a:off x="2154784" y="1636776"/>
            <a:ext cx="7882128" cy="4481703"/>
          </a:xfrm>
          <a:prstGeom prst="roundRect">
            <a:avLst>
              <a:gd name="adj" fmla="val 1632"/>
            </a:avLst>
          </a:prstGeom>
          <a:solidFill>
            <a:srgbClr val="FFFFFF"/>
          </a:solidFill>
          <a:ln w="15875">
            <a:solidFill>
              <a:srgbClr val="3F6E9E"/>
            </a:solidFill>
            <a:prstDash val="solid"/>
          </a:ln>
          <a:effectLst>
            <a:outerShdw blurRad="152400" dist="38100" dir="5400000" algn="bl" rotWithShape="0">
              <a:srgbClr val="1B2B40">
                <a:alpha val="12000"/>
              </a:srgbClr>
            </a:outerShdw>
          </a:effectLst>
        </p:spPr>
      </p:sp>
      <p:pic>
        <p:nvPicPr>
          <p:cNvPr id="6" name="video_demo">
            <a:hlinkClick r:id="" action="ppaction://media"/>
            <a:extLst>
              <a:ext uri="{FF2B5EF4-FFF2-40B4-BE49-F238E27FC236}">
                <a16:creationId xmlns:a16="http://schemas.microsoft.com/office/drawing/2014/main" id="{853CF340-3328-E74A-0DD8-8016D7A3E4AF}"/>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209648" y="1691641"/>
            <a:ext cx="7772400" cy="4371975"/>
          </a:xfrm>
          <a:prstGeom prst="rect">
            <a:avLst/>
          </a:prstGeom>
        </p:spPr>
      </p:pic>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22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53" presetClass="entr" presetSubtype="16"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800" fill="hold"/>
                                        <p:tgtEl>
                                          <p:spTgt spid="7"/>
                                        </p:tgtEl>
                                        <p:attrNameLst>
                                          <p:attrName>ppt_w</p:attrName>
                                        </p:attrNameLst>
                                      </p:cBhvr>
                                      <p:tavLst>
                                        <p:tav tm="0">
                                          <p:val>
                                            <p:strVal val="#ppt_w*0.85"/>
                                          </p:val>
                                        </p:tav>
                                        <p:tav tm="100000">
                                          <p:val>
                                            <p:strVal val="#ppt_w"/>
                                          </p:val>
                                        </p:tav>
                                      </p:tavLst>
                                    </p:anim>
                                    <p:anim calcmode="lin" valueType="num">
                                      <p:cBhvr additive="base">
                                        <p:cTn id="16" dur="800" fill="hold"/>
                                        <p:tgtEl>
                                          <p:spTgt spid="7"/>
                                        </p:tgtEl>
                                        <p:attrNameLst>
                                          <p:attrName>ppt_h</p:attrName>
                                        </p:attrNameLst>
                                      </p:cBhvr>
                                      <p:tavLst>
                                        <p:tav tm="0">
                                          <p:val>
                                            <p:strVal val="#ppt_h*0.85"/>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17" restart="whenNotActive" fill="hold" evtFilter="cancelBubble" nodeType="interactiveSeq">
                <p:stCondLst>
                  <p:cond evt="onClick" delay="0">
                    <p:tgtEl>
                      <p:spTgt spid="6"/>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6"/>
                                        </p:tgtEl>
                                      </p:cBhvr>
                                    </p:cmd>
                                  </p:childTnLst>
                                </p:cTn>
                              </p:par>
                            </p:childTnLst>
                          </p:cTn>
                        </p:par>
                      </p:childTnLst>
                    </p:cTn>
                  </p:par>
                </p:childTnLst>
              </p:cTn>
              <p:nextCondLst>
                <p:cond evt="onClick" delay="0">
                  <p:tgtEl>
                    <p:spTgt spid="6"/>
                  </p:tgtEl>
                </p:cond>
              </p:nextCondLst>
            </p:seq>
            <p:video>
              <p:cMediaNode vol="80000">
                <p:cTn id="22" fill="hold" display="0">
                  <p:stCondLst>
                    <p:cond delay="indefinite"/>
                  </p:stCondLst>
                </p:cTn>
                <p:tgtEl>
                  <p:spTgt spid="6"/>
                </p:tgtEl>
              </p:cMediaNode>
            </p:video>
          </p:childTnLst>
        </p:cTn>
      </p:par>
    </p:tnLst>
    <p:bldLst>
      <p:bldP spid="4" grpId="0" animBg="1"/>
      <p:bldP spid="5" grpId="0" animBg="1"/>
      <p:bldP spid="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4939</Words>
  <Application>Microsoft Office PowerPoint</Application>
  <PresentationFormat>Widescreen</PresentationFormat>
  <Paragraphs>464</Paragraphs>
  <Slides>22</Slides>
  <Notes>22</Notes>
  <HiddenSlides>0</HiddenSlides>
  <MMClips>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Segoe UI</vt:lpstr>
      <vt:lpstr>Segoe UI Light</vt:lpstr>
      <vt:lpstr>Segoe UI Semibold</vt:lpstr>
      <vt:lpstr>Office Theme</vt:lpstr>
      <vt:lpstr>PowerPoint Presentation</vt:lpstr>
      <vt:lpstr>One engineer, every role — delivered in the open</vt:lpstr>
      <vt:lpstr>Restoration is scaling faster than monitoring</vt:lpstr>
      <vt:lpstr>From signal to decision, in one screen</vt:lpstr>
      <vt:lpstr>Who uses it, and for which decision</vt:lpstr>
      <vt:lpstr>Five independent data sources, six years, 91 stands</vt:lpstr>
      <vt:lpstr>A second sensor shows what the mangrove became</vt:lpstr>
      <vt:lpstr>Sentinel-2 says when. Satellite 813 says what.</vt:lpstr>
      <vt:lpstr>From satellite pixels to a decision</vt:lpstr>
      <vt:lpstr>One alert, one message, one targeted visit</vt:lpstr>
      <vt:lpstr>The tide looks like tree loss — until you correct for it</vt:lpstr>
      <vt:lpstr>A stand average hides partial loss. 200 m cells do not.</vt:lpstr>
      <vt:lpstr>How we differ from what exists today</vt:lpstr>
      <vt:lpstr>Five real conversions, confirmed on sub-metre imagery</vt:lpstr>
      <vt:lpstr>Every rate next to its chance rate</vt:lpstr>
      <vt:lpstr>Carbon at stake, and who pays to protect it</vt:lpstr>
      <vt:lpstr>Reproducible today, built to scale tomorrow</vt:lpstr>
      <vt:lpstr>PowerPoint Presentation</vt:lpstr>
      <vt:lpstr>PowerPoint Presentation</vt:lpstr>
      <vt:lpstr>The textbook approach against ours, same alert rule</vt:lpstr>
      <vt:lpstr>Where it breaks — and what we do not claim</vt:lpstr>
      <vt:lpstr>The 2-minute product demo</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Carbon Guardian - final judging</dc:title>
  <dc:subject>PptxGenJS Presentation</dc:subject>
  <dc:creator>Nahla Nabil</dc:creator>
  <cp:lastModifiedBy>Nahla Nabil</cp:lastModifiedBy>
  <cp:revision>2</cp:revision>
  <dcterms:created xsi:type="dcterms:W3CDTF">2026-10-17T16:38:23Z</dcterms:created>
  <dcterms:modified xsi:type="dcterms:W3CDTF">2026-10-17T16:38:28Z</dcterms:modified>
</cp:coreProperties>
</file>