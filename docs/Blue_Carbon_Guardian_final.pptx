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566C82"/>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D676-4020-B79C-38960D33FC1D}"/>
            </c:ext>
          </c:extLst>
        </c:ser>
        <c:ser>
          <c:idx val="1"/>
          <c:order val="1"/>
          <c:tx>
            <c:strRef>
              <c:f>Sheet1!$C$1</c:f>
              <c:strCache>
                <c:ptCount val="1"/>
                <c:pt idx="0">
                  <c:v>with tide model</c:v>
                </c:pt>
              </c:strCache>
            </c:strRef>
          </c:tx>
          <c:spPr>
            <a:solidFill>
              <a:srgbClr val="8FB4DE"/>
            </a:solidFill>
            <a:effectLst/>
          </c:spPr>
          <c:invertIfNegative val="0"/>
          <c:dLbls>
            <c:numFmt formatCode="0.000" sourceLinked="0"/>
            <c:spPr>
              <a:noFill/>
              <a:ln>
                <a:noFill/>
              </a:ln>
              <a:effectLst/>
            </c:spPr>
            <c:txPr>
              <a:bodyPr/>
              <a:lstStyle/>
              <a:p>
                <a:pPr>
                  <a:defRPr sz="10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D676-4020-B79C-38960D33FC1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C4466"/>
            </a:solidFill>
            <a:prstDash val="solid"/>
            <a:round/>
          </a:ln>
        </c:spPr>
        <c:txPr>
          <a:bodyPr/>
          <a:lstStyle/>
          <a:p>
            <a:pPr>
              <a:defRPr sz="1100" b="0" i="0" u="none" strike="noStrike">
                <a:solidFill>
                  <a:srgbClr val="A3B8CB"/>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3F7FA"/>
                </a:solidFill>
                <a:latin typeface="Segoe UI"/>
              </a:defRPr>
            </a:pPr>
            <a:r>
              <a:rPr sz="1300" b="0" i="0" u="none" strike="noStrike">
                <a:solidFill>
                  <a:srgbClr val="F3F7FA"/>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8FB4DE"/>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4B86-449E-82A8-51685690BADE}"/>
            </c:ext>
          </c:extLst>
        </c:ser>
        <c:ser>
          <c:idx val="1"/>
          <c:order val="1"/>
          <c:tx>
            <c:strRef>
              <c:f>Sheet1!$C$1</c:f>
              <c:strCache>
                <c:ptCount val="1"/>
                <c:pt idx="0">
                  <c:v>by chance (same test, no loss)</c:v>
                </c:pt>
              </c:strCache>
            </c:strRef>
          </c:tx>
          <c:spPr>
            <a:solidFill>
              <a:srgbClr val="566C82"/>
            </a:solidFill>
            <a:effectLst/>
          </c:spPr>
          <c:invertIfNegative val="0"/>
          <c:dLbls>
            <c:numFmt formatCode="0&quot; %&quot;" sourceLinked="0"/>
            <c:spPr>
              <a:noFill/>
              <a:ln>
                <a:noFill/>
              </a:ln>
              <a:effectLst/>
            </c:spPr>
            <c:txPr>
              <a:bodyPr/>
              <a:lstStyle/>
              <a:p>
                <a:pPr>
                  <a:defRPr sz="1200" b="0" i="0" u="none" strike="noStrike">
                    <a:solidFill>
                      <a:srgbClr val="F3F7FA"/>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4B86-449E-82A8-51685690BADE}"/>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2C4466"/>
            </a:solidFill>
            <a:prstDash val="solid"/>
            <a:round/>
          </a:ln>
        </c:spPr>
        <c:txPr>
          <a:bodyPr/>
          <a:lstStyle/>
          <a:p>
            <a:pPr>
              <a:defRPr sz="1100" b="0" i="0" u="none" strike="noStrike">
                <a:solidFill>
                  <a:srgbClr val="F3F7FA"/>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A3B8CB"/>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22922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what the user experiences.
Every five days a new scene runs through the model. If an alert fires, we first check the flagged cells on sub-metre imagery, then send the alert with the cell map and the carbon at stake — and the inspector visits only those cells.
If nothing changes, the user still gets a monthly report. No dashboards to watch: the system comes to them."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"Who built this? A team of one. I held every role on this slide — satellite pipeline, statistics, product and business case.
My background is AI and machine-learning engineering,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8FB4D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8FB4D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8FB4D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F3F7FA"/>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6F89A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5.xml"/><Relationship Id="rId7" Type="http://schemas.openxmlformats.org/officeDocument/2006/relationships/image" Target="../media/image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5.png"/><Relationship Id="rId11" Type="http://schemas.openxmlformats.org/officeDocument/2006/relationships/image" Target="../media/image16.png"/><Relationship Id="rId5" Type="http://schemas.openxmlformats.org/officeDocument/2006/relationships/image" Target="../media/image4.png"/><Relationship Id="rId10" Type="http://schemas.openxmlformats.org/officeDocument/2006/relationships/image" Target="../media/image15.png"/><Relationship Id="rId4" Type="http://schemas.openxmlformats.org/officeDocument/2006/relationships/notesSlide" Target="../notesSlides/notesSlide3.xml"/><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4.png"/><Relationship Id="rId7" Type="http://schemas.openxmlformats.org/officeDocument/2006/relationships/image" Target="../media/image20.png"/><Relationship Id="rId12"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9.png"/><Relationship Id="rId11" Type="http://schemas.openxmlformats.org/officeDocument/2006/relationships/image" Target="../media/image22.png"/><Relationship Id="rId5" Type="http://schemas.openxmlformats.org/officeDocument/2006/relationships/image" Target="../media/image18.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4.png"/><Relationship Id="rId7"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3.png"/><Relationship Id="rId10" Type="http://schemas.openxmlformats.org/officeDocument/2006/relationships/image" Target="../media/image22.png"/><Relationship Id="rId4" Type="http://schemas.openxmlformats.org/officeDocument/2006/relationships/image" Target="../media/image5.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4.png"/><Relationship Id="rId7"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chart" Target="../charts/char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2.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png"/><Relationship Id="rId7"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4.png"/><Relationship Id="rId7" Type="http://schemas.openxmlformats.org/officeDocument/2006/relationships/image" Target="../media/image18.png"/><Relationship Id="rId12"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1.png"/><Relationship Id="rId5" Type="http://schemas.openxmlformats.org/officeDocument/2006/relationships/image" Target="../media/image37.png"/><Relationship Id="rId10" Type="http://schemas.openxmlformats.org/officeDocument/2006/relationships/image" Target="../media/image40.png"/><Relationship Id="rId4" Type="http://schemas.openxmlformats.org/officeDocument/2006/relationships/image" Target="../media/image5.png"/><Relationship Id="rId9" Type="http://schemas.openxmlformats.org/officeDocument/2006/relationships/image" Target="../media/image39.png"/></Relationships>
</file>

<file path=ppt/slides/_rels/slide1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4.png"/><Relationship Id="rId11" Type="http://schemas.openxmlformats.org/officeDocument/2006/relationships/image" Target="../media/image46.png"/><Relationship Id="rId5" Type="http://schemas.openxmlformats.org/officeDocument/2006/relationships/image" Target="../media/image43.png"/><Relationship Id="rId10" Type="http://schemas.openxmlformats.org/officeDocument/2006/relationships/image" Target="../media/image25.png"/><Relationship Id="rId4" Type="http://schemas.openxmlformats.org/officeDocument/2006/relationships/image" Target="../media/image5.png"/><Relationship Id="rId9"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7.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50800" dir="5400000" algn="bl" rotWithShape="0">
              <a:srgbClr val="000000">
                <a:alpha val="35000"/>
              </a:srgbClr>
            </a:outerShdw>
          </a:effectLst>
        </p:spPr>
      </p:sp>
      <p:pic>
        <p:nvPicPr>
          <p:cNvPr id="4" name="video_cover">
            <a:hlinkClick r:id="" action="ppaction://media"/>
            <a:extLst>
              <a:ext uri="{FF2B5EF4-FFF2-40B4-BE49-F238E27FC236}">
                <a16:creationId xmlns:a16="http://schemas.microsoft.com/office/drawing/2014/main" id="{7563BA81-1A4D-5C45-43E7-678C1C7C2D0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8FB4DE"/>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3F7FA"/>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8FB4DE">
              <a:alpha val="15000"/>
            </a:srgbClr>
          </a:solidFill>
          <a:ln w="9525">
            <a:solidFill>
              <a:srgbClr val="8FB4DE"/>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BDDF1"/>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86B3D3">
              <a:alpha val="15000"/>
            </a:srgbClr>
          </a:solidFill>
          <a:ln w="9525">
            <a:solidFill>
              <a:srgbClr val="86B3D3"/>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DE97A1"/>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15304F">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DE97A1"/>
                </a:solidFill>
                <a:latin typeface="Segoe UI Semibold" pitchFamily="34" charset="0"/>
                <a:ea typeface="Segoe UI Semibold" pitchFamily="34" charset="-122"/>
                <a:cs typeface="Segoe UI Semibold" pitchFamily="34" charset="-120"/>
              </a:rPr>
              <a:t>TODAY  </a:t>
            </a:r>
            <a:r>
              <a:rPr lang="en-US" sz="1300" dirty="0">
                <a:solidFill>
                  <a:srgbClr val="F3F7FA"/>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CBDDF1"/>
                </a:solidFill>
                <a:latin typeface="Segoe UI Semibold" pitchFamily="34" charset="0"/>
                <a:ea typeface="Segoe UI Semibold" pitchFamily="34" charset="-122"/>
                <a:cs typeface="Segoe UI Semibold" pitchFamily="34" charset="-120"/>
              </a:rPr>
              <a:t>WE SOLVE  </a:t>
            </a:r>
            <a:r>
              <a:rPr lang="en-US" sz="1300" dirty="0">
                <a:solidFill>
                  <a:srgbClr val="F3F7FA"/>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DE97A1"/>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2C4C70">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A554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2C4C70">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2C4C70">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DE97A1"/>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0B1D2E"/>
          </a:solidFill>
          <a:ln w="12700">
            <a:solidFill>
              <a:srgbClr val="2C4466"/>
            </a:solidFill>
            <a:prstDash val="solid"/>
          </a:ln>
          <a:effectLst>
            <a:outerShdw blurRad="152400" dist="50800" dir="5400000" algn="bl" rotWithShape="0">
              <a:srgbClr val="000000">
                <a:alpha val="35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4BB7DD91-C965-E965-AC70-1D5560AE80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8FB4DE">
              <a:alpha val="18000"/>
            </a:srgbClr>
          </a:solidFill>
          <a:ln w="12700">
            <a:solidFill>
              <a:srgbClr val="8FB4D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8FB4DE">
              <a:alpha val="18000"/>
            </a:srgbClr>
          </a:solidFill>
          <a:ln w="12700">
            <a:solidFill>
              <a:srgbClr val="8FB4D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8FB4DE">
              <a:alpha val="18000"/>
            </a:srgbClr>
          </a:solidFill>
          <a:ln w="12700">
            <a:solidFill>
              <a:srgbClr val="8FB4D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8FB4DE">
              <a:alpha val="18000"/>
            </a:srgbClr>
          </a:solidFill>
          <a:ln w="12700">
            <a:solidFill>
              <a:srgbClr val="8FB4D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8FB4DE">
              <a:alpha val="18000"/>
            </a:srgbClr>
          </a:solidFill>
          <a:ln w="12700">
            <a:solidFill>
              <a:srgbClr val="8FB4D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DE97A1"/>
            </a:solidFill>
            <a:prstDash val="solid"/>
          </a:ln>
        </p:spPr>
      </p:sp>
      <p:sp>
        <p:nvSpPr>
          <p:cNvPr id="34" name="a7pop_live_bg"/>
          <p:cNvSpPr/>
          <p:nvPr/>
        </p:nvSpPr>
        <p:spPr>
          <a:xfrm>
            <a:off x="7772400" y="5715000"/>
            <a:ext cx="3840480" cy="438912"/>
          </a:xfrm>
          <a:prstGeom prst="roundRect">
            <a:avLst>
              <a:gd name="adj" fmla="val 41667"/>
            </a:avLst>
          </a:prstGeom>
          <a:solidFill>
            <a:srgbClr val="DE97A1">
              <a:alpha val="20000"/>
            </a:srgbClr>
          </a:solidFill>
          <a:ln w="9525">
            <a:solidFill>
              <a:srgbClr val="DE97A1"/>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F1DDE0"/>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p0ic_c"/>
          <p:cNvSpPr/>
          <p:nvPr/>
        </p:nvSpPr>
        <p:spPr>
          <a:xfrm>
            <a:off x="777240" y="1892808"/>
            <a:ext cx="566928" cy="566928"/>
          </a:xfrm>
          <a:prstGeom prst="ellipse">
            <a:avLst/>
          </a:prstGeom>
          <a:solidFill>
            <a:srgbClr val="8FB4DE">
              <a:alpha val="18000"/>
            </a:srgbClr>
          </a:solidFill>
          <a:ln w="12700">
            <a:solidFill>
              <a:srgbClr val="8FB4D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8FB4D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CBDDF1"/>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8" name="a2float_p1ic_c"/>
          <p:cNvSpPr/>
          <p:nvPr/>
        </p:nvSpPr>
        <p:spPr>
          <a:xfrm>
            <a:off x="4526280" y="1892808"/>
            <a:ext cx="566928" cy="566928"/>
          </a:xfrm>
          <a:prstGeom prst="ellipse">
            <a:avLst/>
          </a:prstGeom>
          <a:solidFill>
            <a:srgbClr val="8FB4DE">
              <a:alpha val="18000"/>
            </a:srgbClr>
          </a:solidFill>
          <a:ln w="12700">
            <a:solidFill>
              <a:srgbClr val="8FB4D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8FB4D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CBDDF1"/>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8" name="a3float_p2ic_c"/>
          <p:cNvSpPr/>
          <p:nvPr/>
        </p:nvSpPr>
        <p:spPr>
          <a:xfrm>
            <a:off x="8275320" y="1892808"/>
            <a:ext cx="566928" cy="566928"/>
          </a:xfrm>
          <a:prstGeom prst="ellipse">
            <a:avLst/>
          </a:prstGeom>
          <a:solidFill>
            <a:srgbClr val="8FB4DE">
              <a:alpha val="18000"/>
            </a:srgbClr>
          </a:solidFill>
          <a:ln w="12700">
            <a:solidFill>
              <a:srgbClr val="8FB4D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E6EEF5"/>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A3B8CB"/>
                </a:solidFill>
                <a:latin typeface="Segoe UI" pitchFamily="34" charset="0"/>
                <a:ea typeface="Segoe UI" pitchFamily="34" charset="-122"/>
                <a:cs typeface="Segoe UI" pitchFamily="34" charset="-120"/>
              </a:rPr>
              <a:t>Today: </a:t>
            </a:r>
            <a:r>
              <a:rPr lang="en-US" sz="1200" dirty="0">
                <a:solidFill>
                  <a:srgbClr val="A3B8CB"/>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8FB4D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CBDDF1"/>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13294A">
              <a:alpha val="90000"/>
            </a:srgbClr>
          </a:solidFill>
          <a:ln w="9525">
            <a:solidFill>
              <a:srgbClr val="2C4466"/>
            </a:solidFill>
            <a:prstDash val="solid"/>
          </a:ln>
          <a:effectLst>
            <a:outerShdw blurRad="152400" dist="50800" dir="5400000" algn="bl" rotWithShape="0">
              <a:srgbClr val="000000">
                <a:alpha val="35000"/>
              </a:srgbClr>
            </a:outerShdw>
          </a:effectLst>
        </p:spPr>
      </p:sp>
      <p:sp>
        <p:nvSpPr>
          <p:cNvPr id="38" name="a5pop_f0_c"/>
          <p:cNvSpPr/>
          <p:nvPr/>
        </p:nvSpPr>
        <p:spPr>
          <a:xfrm>
            <a:off x="868680" y="5349240"/>
            <a:ext cx="566928" cy="566928"/>
          </a:xfrm>
          <a:prstGeom prst="ellipse">
            <a:avLst/>
          </a:prstGeom>
          <a:solidFill>
            <a:srgbClr val="8FB4DE">
              <a:alpha val="18000"/>
            </a:srgbClr>
          </a:solidFill>
          <a:ln w="12700">
            <a:solidFill>
              <a:srgbClr val="8FB4D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8FB4DE"/>
            </a:solidFill>
            <a:prstDash val="solid"/>
            <a:tailEnd type="triangle"/>
          </a:ln>
        </p:spPr>
      </p:sp>
      <p:sp>
        <p:nvSpPr>
          <p:cNvPr id="43" name="a6pop_f1_c"/>
          <p:cNvSpPr/>
          <p:nvPr/>
        </p:nvSpPr>
        <p:spPr>
          <a:xfrm>
            <a:off x="3081528" y="5349240"/>
            <a:ext cx="566928" cy="566928"/>
          </a:xfrm>
          <a:prstGeom prst="ellipse">
            <a:avLst/>
          </a:prstGeom>
          <a:solidFill>
            <a:srgbClr val="8FB4DE">
              <a:alpha val="18000"/>
            </a:srgbClr>
          </a:solidFill>
          <a:ln w="12700">
            <a:solidFill>
              <a:srgbClr val="8FB4D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8FB4DE"/>
            </a:solidFill>
            <a:prstDash val="solid"/>
            <a:tailEnd type="triangle"/>
          </a:ln>
        </p:spPr>
      </p:sp>
      <p:sp>
        <p:nvSpPr>
          <p:cNvPr id="48" name="a7pop_f2_c"/>
          <p:cNvSpPr/>
          <p:nvPr/>
        </p:nvSpPr>
        <p:spPr>
          <a:xfrm>
            <a:off x="5294376" y="5349240"/>
            <a:ext cx="566928" cy="566928"/>
          </a:xfrm>
          <a:prstGeom prst="ellipse">
            <a:avLst/>
          </a:prstGeom>
          <a:solidFill>
            <a:srgbClr val="8FB4DE">
              <a:alpha val="18000"/>
            </a:srgbClr>
          </a:solidFill>
          <a:ln w="12700">
            <a:solidFill>
              <a:srgbClr val="8FB4D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8FB4DE"/>
            </a:solidFill>
            <a:prstDash val="solid"/>
            <a:tailEnd type="triangle"/>
          </a:ln>
        </p:spPr>
      </p:sp>
      <p:sp>
        <p:nvSpPr>
          <p:cNvPr id="53" name="a8pop_f3_c"/>
          <p:cNvSpPr/>
          <p:nvPr/>
        </p:nvSpPr>
        <p:spPr>
          <a:xfrm>
            <a:off x="7507224" y="5349240"/>
            <a:ext cx="566928" cy="566928"/>
          </a:xfrm>
          <a:prstGeom prst="ellipse">
            <a:avLst/>
          </a:prstGeom>
          <a:solidFill>
            <a:srgbClr val="8FB4DE">
              <a:alpha val="18000"/>
            </a:srgbClr>
          </a:solidFill>
          <a:ln w="12700">
            <a:solidFill>
              <a:srgbClr val="8FB4D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8FB4DE"/>
            </a:solidFill>
            <a:prstDash val="solid"/>
            <a:tailEnd type="triangle"/>
          </a:ln>
        </p:spPr>
      </p:sp>
      <p:sp>
        <p:nvSpPr>
          <p:cNvPr id="58" name="a9pop_f4_c"/>
          <p:cNvSpPr/>
          <p:nvPr/>
        </p:nvSpPr>
        <p:spPr>
          <a:xfrm>
            <a:off x="9720072" y="5349240"/>
            <a:ext cx="566928" cy="566928"/>
          </a:xfrm>
          <a:prstGeom prst="ellipse">
            <a:avLst/>
          </a:prstGeom>
          <a:solidFill>
            <a:srgbClr val="8FB4DE">
              <a:alpha val="18000"/>
            </a:srgbClr>
          </a:solidFill>
          <a:ln w="12700">
            <a:solidFill>
              <a:srgbClr val="8FB4D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081B36">
              <a:alpha val="90000"/>
            </a:srgbClr>
          </a:solidFill>
          <a:ln w="9525">
            <a:solidFill>
              <a:srgbClr val="2C4466"/>
            </a:solidFill>
            <a:prstDash val="solid"/>
          </a:ln>
          <a:effectLst>
            <a:outerShdw blurRad="152400" dist="50800" dir="5400000" algn="bl" rotWithShape="0">
              <a:srgbClr val="000000">
                <a:alpha val="35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1" name="a2float_d0ic_c"/>
          <p:cNvSpPr/>
          <p:nvPr/>
        </p:nvSpPr>
        <p:spPr>
          <a:xfrm>
            <a:off x="5303520" y="1847088"/>
            <a:ext cx="475488" cy="475488"/>
          </a:xfrm>
          <a:prstGeom prst="ellipse">
            <a:avLst/>
          </a:prstGeom>
          <a:solidFill>
            <a:srgbClr val="8FB4DE">
              <a:alpha val="18000"/>
            </a:srgbClr>
          </a:solidFill>
          <a:ln w="12700">
            <a:solidFill>
              <a:srgbClr val="8FB4D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D8BE84">
              <a:alpha val="15000"/>
            </a:srgbClr>
          </a:solidFill>
          <a:ln w="9525">
            <a:solidFill>
              <a:srgbClr val="D8BE84"/>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EDE0C0"/>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8" name="a3float_d1ic_c"/>
          <p:cNvSpPr/>
          <p:nvPr/>
        </p:nvSpPr>
        <p:spPr>
          <a:xfrm>
            <a:off x="5303520" y="2752344"/>
            <a:ext cx="475488" cy="475488"/>
          </a:xfrm>
          <a:prstGeom prst="ellipse">
            <a:avLst/>
          </a:prstGeom>
          <a:solidFill>
            <a:srgbClr val="AFA3D3">
              <a:alpha val="18000"/>
            </a:srgbClr>
          </a:solidFill>
          <a:ln w="12700">
            <a:solidFill>
              <a:srgbClr val="AFA3D3"/>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AFA3D3">
              <a:alpha val="15000"/>
            </a:srgbClr>
          </a:solidFill>
          <a:ln w="9525">
            <a:solidFill>
              <a:srgbClr val="AFA3D3"/>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DED8EE"/>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5" name="a4float_d2ic_c"/>
          <p:cNvSpPr/>
          <p:nvPr/>
        </p:nvSpPr>
        <p:spPr>
          <a:xfrm>
            <a:off x="5303520" y="3657600"/>
            <a:ext cx="475488" cy="475488"/>
          </a:xfrm>
          <a:prstGeom prst="ellipse">
            <a:avLst/>
          </a:prstGeom>
          <a:solidFill>
            <a:srgbClr val="8FB4DE">
              <a:alpha val="18000"/>
            </a:srgbClr>
          </a:solidFill>
          <a:ln w="12700">
            <a:solidFill>
              <a:srgbClr val="8FB4D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D8BE84">
              <a:alpha val="15000"/>
            </a:srgbClr>
          </a:solidFill>
          <a:ln w="9525">
            <a:solidFill>
              <a:srgbClr val="D8BE84"/>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EDE0C0"/>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2" name="a5float_d3ic_c"/>
          <p:cNvSpPr/>
          <p:nvPr/>
        </p:nvSpPr>
        <p:spPr>
          <a:xfrm>
            <a:off x="5303520" y="4562856"/>
            <a:ext cx="475488" cy="475488"/>
          </a:xfrm>
          <a:prstGeom prst="ellipse">
            <a:avLst/>
          </a:prstGeom>
          <a:solidFill>
            <a:srgbClr val="8FB4DE">
              <a:alpha val="18000"/>
            </a:srgbClr>
          </a:solidFill>
          <a:ln w="12700">
            <a:solidFill>
              <a:srgbClr val="8FB4D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D8BE84">
              <a:alpha val="15000"/>
            </a:srgbClr>
          </a:solidFill>
          <a:ln w="9525">
            <a:solidFill>
              <a:srgbClr val="D8BE84"/>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EDE0C0"/>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9" name="a6float_d4ic_c"/>
          <p:cNvSpPr/>
          <p:nvPr/>
        </p:nvSpPr>
        <p:spPr>
          <a:xfrm>
            <a:off x="5303520" y="5468112"/>
            <a:ext cx="475488" cy="475488"/>
          </a:xfrm>
          <a:prstGeom prst="ellipse">
            <a:avLst/>
          </a:prstGeom>
          <a:solidFill>
            <a:srgbClr val="8FB4DE">
              <a:alpha val="18000"/>
            </a:srgbClr>
          </a:solidFill>
          <a:ln w="12700">
            <a:solidFill>
              <a:srgbClr val="8FB4D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D8BE84">
              <a:alpha val="15000"/>
            </a:srgbClr>
          </a:solidFill>
          <a:ln w="9525">
            <a:solidFill>
              <a:srgbClr val="D8BE84"/>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EDE0C0"/>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50800" dir="5400000" algn="bl" rotWithShape="0">
              <a:srgbClr val="000000">
                <a:alpha val="35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C9C1E3"/>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D8BE84"/>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DE97A1"/>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8AA3BC"/>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0B1B30">
              <a:alpha val="92000"/>
            </a:srgbClr>
          </a:solidFill>
          <a:ln w="9525">
            <a:solidFill>
              <a:srgbClr val="2C4466"/>
            </a:solidFill>
            <a:prstDash val="solid"/>
          </a:ln>
          <a:effectLst>
            <a:outerShdw blurRad="152400" dist="50800" dir="5400000" algn="bl" rotWithShape="0">
              <a:srgbClr val="000000">
                <a:alpha val="35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8FB4DE">
              <a:alpha val="70000"/>
            </a:srgbClr>
          </a:solidFill>
          <a:ln w="9525">
            <a:solidFill>
              <a:srgbClr val="8FB4DE"/>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DE97A1">
              <a:alpha val="70000"/>
            </a:srgbClr>
          </a:solidFill>
          <a:ln w="9525">
            <a:solidFill>
              <a:srgbClr val="DE97A1"/>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D8BE84">
              <a:alpha val="70000"/>
            </a:srgbClr>
          </a:solidFill>
          <a:ln w="9525">
            <a:solidFill>
              <a:srgbClr val="D8BE84"/>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7F9FC6">
              <a:alpha val="70000"/>
            </a:srgbClr>
          </a:solidFill>
          <a:ln w="9525">
            <a:solidFill>
              <a:srgbClr val="7F9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0B1B30">
              <a:alpha val="92000"/>
            </a:srgbClr>
          </a:solidFill>
          <a:ln w="9525">
            <a:solidFill>
              <a:srgbClr val="2C4466"/>
            </a:solidFill>
            <a:prstDash val="solid"/>
          </a:ln>
          <a:effectLst>
            <a:outerShdw blurRad="152400" dist="50800" dir="5400000" algn="bl" rotWithShape="0">
              <a:srgbClr val="000000">
                <a:alpha val="35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0" name="a2float_e0ic_c"/>
          <p:cNvSpPr/>
          <p:nvPr/>
        </p:nvSpPr>
        <p:spPr>
          <a:xfrm>
            <a:off x="8485632" y="1837944"/>
            <a:ext cx="438912" cy="438912"/>
          </a:xfrm>
          <a:prstGeom prst="ellipse">
            <a:avLst/>
          </a:prstGeom>
          <a:solidFill>
            <a:srgbClr val="8FB4DE">
              <a:alpha val="18000"/>
            </a:srgbClr>
          </a:solidFill>
          <a:ln w="12700">
            <a:solidFill>
              <a:srgbClr val="8FB4D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CFDCE8"/>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5" name="a3float_e1ic_c"/>
          <p:cNvSpPr/>
          <p:nvPr/>
        </p:nvSpPr>
        <p:spPr>
          <a:xfrm>
            <a:off x="8485632" y="3355848"/>
            <a:ext cx="438912" cy="438912"/>
          </a:xfrm>
          <a:prstGeom prst="ellipse">
            <a:avLst/>
          </a:prstGeom>
          <a:solidFill>
            <a:srgbClr val="DE97A1">
              <a:alpha val="18000"/>
            </a:srgbClr>
          </a:solidFill>
          <a:ln w="12700">
            <a:solidFill>
              <a:srgbClr val="DE97A1"/>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DE97A1"/>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CFDCE8"/>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0" name="a4float_e2ic_c"/>
          <p:cNvSpPr/>
          <p:nvPr/>
        </p:nvSpPr>
        <p:spPr>
          <a:xfrm>
            <a:off x="8485632" y="4873752"/>
            <a:ext cx="438912" cy="438912"/>
          </a:xfrm>
          <a:prstGeom prst="ellipse">
            <a:avLst/>
          </a:prstGeom>
          <a:solidFill>
            <a:srgbClr val="D8BE84">
              <a:alpha val="18000"/>
            </a:srgbClr>
          </a:solidFill>
          <a:ln w="12700">
            <a:solidFill>
              <a:srgbClr val="D8BE84"/>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D8BE84"/>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CFDCE8"/>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0A2133"/>
          </a:solidFill>
          <a:ln w="9525">
            <a:solidFill>
              <a:srgbClr val="2C4466"/>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86B3D3">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CBDDF1"/>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0A2133"/>
          </a:solidFill>
          <a:ln w="9525">
            <a:solidFill>
              <a:srgbClr val="2C4466"/>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86B3D3">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A3B8CB"/>
                </a:solidFill>
                <a:latin typeface="Segoe UI" pitchFamily="34" charset="0"/>
                <a:ea typeface="Segoe UI" pitchFamily="34" charset="-122"/>
                <a:cs typeface="Segoe UI" pitchFamily="34" charset="-120"/>
              </a:rPr>
              <a:t>NDVI </a:t>
            </a:r>
            <a:r>
              <a:rPr lang="en-US" sz="1500" b="1" dirty="0">
                <a:solidFill>
                  <a:srgbClr val="DE97A1"/>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11091672" cy="1051560"/>
          </a:xfrm>
          <a:prstGeom prst="roundRect">
            <a:avLst>
              <a:gd name="adj" fmla="val 12174"/>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41" name="a5float_stic_c"/>
          <p:cNvSpPr/>
          <p:nvPr/>
        </p:nvSpPr>
        <p:spPr>
          <a:xfrm>
            <a:off x="822960" y="5376672"/>
            <a:ext cx="548640" cy="548640"/>
          </a:xfrm>
          <a:prstGeom prst="ellipse">
            <a:avLst/>
          </a:prstGeom>
          <a:solidFill>
            <a:srgbClr val="8FB4DE">
              <a:alpha val="18000"/>
            </a:srgbClr>
          </a:solidFill>
          <a:ln w="12700">
            <a:solidFill>
              <a:srgbClr val="8FB4DE"/>
            </a:solidFill>
            <a:prstDash val="solid"/>
          </a:ln>
        </p:spPr>
      </p:sp>
      <p:pic>
        <p:nvPicPr>
          <p:cNvPr id="42" name="a5float_stic_i" descr="preencoded.png"/>
          <p:cNvPicPr>
            <a:picLocks noChangeAspect="1"/>
          </p:cNvPicPr>
          <p:nvPr/>
        </p:nvPicPr>
        <p:blipFill>
          <a:blip r:embed="rId6"/>
          <a:stretch>
            <a:fillRect/>
          </a:stretch>
        </p:blipFill>
        <p:spPr>
          <a:xfrm>
            <a:off x="954634" y="5508346"/>
            <a:ext cx="285293" cy="285293"/>
          </a:xfrm>
          <a:prstGeom prst="rect">
            <a:avLst/>
          </a:prstGeom>
        </p:spPr>
      </p:pic>
      <p:sp>
        <p:nvSpPr>
          <p:cNvPr id="43" name="a5float_stn"/>
          <p:cNvSpPr txBox="1"/>
          <p:nvPr/>
        </p:nvSpPr>
        <p:spPr>
          <a:xfrm>
            <a:off x="1554480" y="5120640"/>
            <a:ext cx="2834640" cy="1051560"/>
          </a:xfrm>
          <a:prstGeom prst="rect">
            <a:avLst/>
          </a:prstGeom>
          <a:noFill/>
          <a:ln/>
        </p:spPr>
        <p:txBody>
          <a:bodyPr wrap="square" lIns="0" tIns="0" rIns="0" bIns="0" rtlCol="0" anchor="ctr"/>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−29 to −35 %</a:t>
            </a:r>
            <a:endParaRPr lang="en-US" sz="3200" dirty="0"/>
          </a:p>
        </p:txBody>
      </p:sp>
      <p:sp>
        <p:nvSpPr>
          <p:cNvPr id="44" name="a5float_stt"/>
          <p:cNvSpPr txBox="1"/>
          <p:nvPr/>
        </p:nvSpPr>
        <p:spPr>
          <a:xfrm>
            <a:off x="4434840" y="5120640"/>
            <a:ext cx="7040880" cy="1051560"/>
          </a:xfrm>
          <a:prstGeom prst="rect">
            <a:avLst/>
          </a:prstGeom>
          <a:noFill/>
          <a:ln/>
        </p:spPr>
        <p:txBody>
          <a:bodyPr wrap="square" lIns="0" tIns="0" rIns="0" bIns="0" rtlCol="0" anchor="ctr"/>
          <a:lstStyle/>
          <a:p>
            <a:pPr marL="0" indent="0" algn="l">
              <a:lnSpc>
                <a:spcPct val="105000"/>
              </a:lnSpc>
              <a:buNone/>
            </a:pPr>
            <a:r>
              <a:rPr lang="en-US" sz="1500" dirty="0">
                <a:solidFill>
                  <a:srgbClr val="F3F7FA"/>
                </a:solidFill>
                <a:latin typeface="Segoe UI" pitchFamily="34" charset="0"/>
                <a:ea typeface="Segoe UI" pitchFamily="34" charset="-122"/>
                <a:cs typeface="Segoe UI" pitchFamily="34" charset="-120"/>
              </a:rPr>
              <a:t>We regress every index on trend, season and tidal state before flagging anything. Noise falls on every index.</a:t>
            </a:r>
            <a:endParaRPr lang="en-US" sz="1500" dirty="0"/>
          </a:p>
        </p:txBody>
      </p:sp>
      <p:sp>
        <p:nvSpPr>
          <p:cNvPr id="4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2758D6DD-009A-0653-D9B6-D95E03A66895}"/>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8FB4D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CBDDF1"/>
                </a:solidFill>
                <a:latin typeface="Segoe UI" pitchFamily="34" charset="0"/>
                <a:ea typeface="Segoe UI" pitchFamily="34" charset="-122"/>
                <a:cs typeface="Segoe UI" pitchFamily="34" charset="-120"/>
              </a:rPr>
              <a:t>73 %  </a:t>
            </a:r>
            <a:r>
              <a:rPr lang="en-US" sz="1100" dirty="0">
                <a:solidFill>
                  <a:srgbClr val="A3B8CB"/>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86B3D3"/>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25 %  </a:t>
            </a:r>
            <a:r>
              <a:rPr lang="en-US" sz="1100" dirty="0">
                <a:solidFill>
                  <a:srgbClr val="A3B8CB"/>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5B7188"/>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F3F7FA"/>
                </a:solidFill>
                <a:latin typeface="Segoe UI" pitchFamily="34" charset="0"/>
                <a:ea typeface="Segoe UI" pitchFamily="34" charset="-122"/>
                <a:cs typeface="Segoe UI" pitchFamily="34" charset="-120"/>
              </a:rPr>
              <a:t>13 %  </a:t>
            </a:r>
            <a:r>
              <a:rPr lang="en-US" sz="1100" dirty="0">
                <a:solidFill>
                  <a:srgbClr val="A3B8CB"/>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DE97A1"/>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D8BE84"/>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8FB4DE">
              <a:alpha val="15000"/>
            </a:srgbClr>
          </a:solidFill>
          <a:ln w="9525">
            <a:solidFill>
              <a:srgbClr val="8FB4D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CBDDF1"/>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D8BE84"/>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DE97A1">
              <a:alpha val="15000"/>
            </a:srgbClr>
          </a:solidFill>
          <a:ln w="9525">
            <a:solidFill>
              <a:srgbClr val="DE97A1"/>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EFD3D7"/>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2"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CBDDF1"/>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CBDDF1"/>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CBDDF1"/>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A1D3F"/>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34587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dirty="0">
                          <a:solidFill>
                            <a:srgbClr val="6F89A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112644"/>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F3F7FA"/>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dirty="0">
                          <a:solidFill>
                            <a:srgbClr val="CFDCE8"/>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0E2240"/>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2C4466"/>
                      </a:solidFill>
                      <a:prstDash val="solid"/>
                      <a:round/>
                      <a:headEnd type="none" w="med" len="med"/>
                      <a:tailEnd type="none" w="med" len="med"/>
                    </a:lnL>
                    <a:lnR w="9525" cap="flat" cmpd="sng" algn="ctr">
                      <a:solidFill>
                        <a:srgbClr val="2C4466"/>
                      </a:solidFill>
                      <a:prstDash val="solid"/>
                      <a:round/>
                      <a:headEnd type="none" w="med" len="med"/>
                      <a:tailEnd type="none" w="med" len="med"/>
                    </a:lnR>
                    <a:lnT w="9525" cap="flat" cmpd="sng" algn="ctr">
                      <a:solidFill>
                        <a:srgbClr val="2C4466"/>
                      </a:solidFill>
                      <a:prstDash val="solid"/>
                      <a:round/>
                      <a:headEnd type="none" w="med" len="med"/>
                      <a:tailEnd type="none" w="med" len="med"/>
                    </a:lnT>
                    <a:lnB w="9525" cap="flat" cmpd="sng" algn="ctr">
                      <a:solidFill>
                        <a:srgbClr val="2C4466"/>
                      </a:solidFill>
                      <a:prstDash val="solid"/>
                      <a:round/>
                      <a:headEnd type="none" w="med" len="med"/>
                      <a:tailEnd type="none" w="med" len="med"/>
                    </a:lnB>
                    <a:solidFill>
                      <a:srgbClr val="27466D"/>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CBDDF1"/>
                </a:solidFill>
                <a:latin typeface="Segoe UI" pitchFamily="34" charset="0"/>
                <a:ea typeface="Segoe UI" pitchFamily="34" charset="-122"/>
                <a:cs typeface="Segoe UI" pitchFamily="34" charset="-120"/>
              </a:rPr>
              <a:t>Complementary, not competing: </a:t>
            </a:r>
            <a:r>
              <a:rPr lang="en-US" sz="1400" dirty="0">
                <a:solidFill>
                  <a:srgbClr val="F3F7FA"/>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700"/>
                                        <p:tgtEl>
                                          <p:spTgt spid="12"/>
                                        </p:tgtEl>
                                      </p:cBhvr>
                                    </p:animEffect>
                                    <p:anim calcmode="lin" valueType="num">
                                      <p:cBhvr additive="base">
                                        <p:cTn id="15" dur="700" fill="hold"/>
                                        <p:tgtEl>
                                          <p:spTgt spid="12"/>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2" grpId="0">
        <p:bldAsOne/>
      </p:bldGraphic>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50800" dir="5400000" algn="bl" rotWithShape="0">
              <a:srgbClr val="000000">
                <a:alpha val="35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50800" dir="5400000" algn="bl" rotWithShape="0">
              <a:srgbClr val="000000">
                <a:alpha val="35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2C4466"/>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2C4466"/>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2C4466"/>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2C4466"/>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A3B8CB"/>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86B3D3">
              <a:alpha val="45000"/>
            </a:srgbClr>
          </a:solidFill>
          <a:ln w="9525">
            <a:solidFill>
              <a:srgbClr val="86B3D3"/>
            </a:solidFill>
            <a:prstDash val="solid"/>
          </a:ln>
        </p:spPr>
      </p:sp>
      <p:sp>
        <p:nvSpPr>
          <p:cNvPr id="31" name="a3pop_gd0"/>
          <p:cNvSpPr/>
          <p:nvPr/>
        </p:nvSpPr>
        <p:spPr>
          <a:xfrm>
            <a:off x="9129251" y="2258568"/>
            <a:ext cx="237744" cy="237744"/>
          </a:xfrm>
          <a:prstGeom prst="diamond">
            <a:avLst/>
          </a:prstGeom>
          <a:solidFill>
            <a:srgbClr val="DE97A1"/>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86B3D3">
              <a:alpha val="45000"/>
            </a:srgbClr>
          </a:solidFill>
          <a:ln w="9525">
            <a:solidFill>
              <a:srgbClr val="86B3D3"/>
            </a:solidFill>
            <a:prstDash val="solid"/>
          </a:ln>
        </p:spPr>
      </p:sp>
      <p:sp>
        <p:nvSpPr>
          <p:cNvPr id="34" name="a4pop_gd1"/>
          <p:cNvSpPr/>
          <p:nvPr/>
        </p:nvSpPr>
        <p:spPr>
          <a:xfrm>
            <a:off x="9236997" y="2715768"/>
            <a:ext cx="237744" cy="237744"/>
          </a:xfrm>
          <a:prstGeom prst="diamond">
            <a:avLst/>
          </a:prstGeom>
          <a:solidFill>
            <a:srgbClr val="DE97A1"/>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86B3D3">
              <a:alpha val="45000"/>
            </a:srgbClr>
          </a:solidFill>
          <a:ln w="9525">
            <a:solidFill>
              <a:srgbClr val="86B3D3"/>
            </a:solidFill>
            <a:prstDash val="solid"/>
          </a:ln>
        </p:spPr>
      </p:sp>
      <p:sp>
        <p:nvSpPr>
          <p:cNvPr id="37" name="a5pop_gd2"/>
          <p:cNvSpPr/>
          <p:nvPr/>
        </p:nvSpPr>
        <p:spPr>
          <a:xfrm>
            <a:off x="9262055" y="3172968"/>
            <a:ext cx="237744" cy="237744"/>
          </a:xfrm>
          <a:prstGeom prst="diamond">
            <a:avLst/>
          </a:prstGeom>
          <a:solidFill>
            <a:srgbClr val="DE97A1"/>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86B3D3">
              <a:alpha val="45000"/>
            </a:srgbClr>
          </a:solidFill>
          <a:ln w="9525">
            <a:solidFill>
              <a:srgbClr val="86B3D3"/>
            </a:solidFill>
            <a:prstDash val="solid"/>
          </a:ln>
        </p:spPr>
      </p:sp>
      <p:sp>
        <p:nvSpPr>
          <p:cNvPr id="40" name="a6pop_gd3"/>
          <p:cNvSpPr/>
          <p:nvPr/>
        </p:nvSpPr>
        <p:spPr>
          <a:xfrm>
            <a:off x="9417410" y="3630168"/>
            <a:ext cx="237744" cy="237744"/>
          </a:xfrm>
          <a:prstGeom prst="diamond">
            <a:avLst/>
          </a:prstGeom>
          <a:solidFill>
            <a:srgbClr val="DE97A1"/>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F3F7FA"/>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86B3D3">
              <a:alpha val="45000"/>
            </a:srgbClr>
          </a:solidFill>
          <a:ln w="9525">
            <a:solidFill>
              <a:srgbClr val="86B3D3"/>
            </a:solidFill>
            <a:prstDash val="solid"/>
          </a:ln>
        </p:spPr>
      </p:sp>
      <p:sp>
        <p:nvSpPr>
          <p:cNvPr id="43" name="a7pop_gd4"/>
          <p:cNvSpPr/>
          <p:nvPr/>
        </p:nvSpPr>
        <p:spPr>
          <a:xfrm>
            <a:off x="10970965" y="4087368"/>
            <a:ext cx="237744" cy="237744"/>
          </a:xfrm>
          <a:prstGeom prst="diamond">
            <a:avLst/>
          </a:prstGeom>
          <a:solidFill>
            <a:srgbClr val="DE97A1"/>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DE97A1"/>
            </a:solidFill>
            <a:prstDash val="solid"/>
          </a:ln>
        </p:spPr>
      </p:sp>
      <p:sp>
        <p:nvSpPr>
          <p:cNvPr id="45" name="a8fade_lg1"/>
          <p:cNvSpPr/>
          <p:nvPr/>
        </p:nvSpPr>
        <p:spPr>
          <a:xfrm>
            <a:off x="7726680" y="4873752"/>
            <a:ext cx="274320" cy="128016"/>
          </a:xfrm>
          <a:prstGeom prst="roundRect">
            <a:avLst>
              <a:gd name="adj" fmla="val 35714"/>
            </a:avLst>
          </a:prstGeom>
          <a:solidFill>
            <a:srgbClr val="86B3D3">
              <a:alpha val="45000"/>
            </a:srgbClr>
          </a:solidFill>
          <a:ln w="9525">
            <a:solidFill>
              <a:srgbClr val="86B3D3"/>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DE97A1"/>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A3B8CB"/>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CBDDF1"/>
                </a:solidFill>
                <a:latin typeface="Segoe UI" pitchFamily="34" charset="0"/>
                <a:ea typeface="Segoe UI" pitchFamily="34" charset="-122"/>
                <a:cs typeface="Segoe UI" pitchFamily="34" charset="-120"/>
              </a:rPr>
              <a:t>Every alert began inside the window. </a:t>
            </a:r>
            <a:r>
              <a:rPr lang="en-US" sz="1300" dirty="0">
                <a:solidFill>
                  <a:srgbClr val="F3F7FA"/>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D8BE84"/>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CBDDF1"/>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C9C1E3"/>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C9C1E3"/>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D8BE84">
              <a:alpha val="12000"/>
            </a:srgbClr>
          </a:solidFill>
          <a:ln w="9525">
            <a:solidFill>
              <a:srgbClr val="D8BE84"/>
            </a:solidFill>
            <a:prstDash val="solid"/>
          </a:ln>
          <a:effectLst>
            <a:outerShdw blurRad="152400" dist="50800" dir="5400000" algn="bl" rotWithShape="0">
              <a:srgbClr val="000000">
                <a:alpha val="35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D8BE84"/>
                </a:solidFill>
                <a:latin typeface="Segoe UI" pitchFamily="34" charset="0"/>
                <a:ea typeface="Segoe UI" pitchFamily="34" charset="-122"/>
                <a:cs typeface="Segoe UI" pitchFamily="34" charset="-120"/>
              </a:rPr>
              <a:t>What we do not claim: </a:t>
            </a:r>
            <a:r>
              <a:rPr lang="en-US" sz="1200" dirty="0">
                <a:solidFill>
                  <a:srgbClr val="F3F7FA"/>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D8BE84"/>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33252C">
              <a:alpha val="80000"/>
            </a:srgbClr>
          </a:solidFill>
          <a:ln w="9525">
            <a:solidFill>
              <a:srgbClr val="6A4A54"/>
            </a:solidFill>
            <a:prstDash val="solid"/>
          </a:ln>
          <a:effectLst>
            <a:outerShdw blurRad="152400" dist="50800" dir="5400000" algn="bl" rotWithShape="0">
              <a:srgbClr val="000000">
                <a:alpha val="35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DE97A1"/>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8FB4DE">
              <a:alpha val="22000"/>
            </a:srgbClr>
          </a:solidFill>
          <a:ln w="9525">
            <a:solidFill>
              <a:srgbClr val="8FB4D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CBDDF1"/>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8FB4DE">
              <a:alpha val="10000"/>
            </a:srgbClr>
          </a:solidFill>
          <a:ln w="9525">
            <a:solidFill>
              <a:srgbClr val="8FB4D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CBDDF1"/>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8FB4DE">
              <a:alpha val="10000"/>
            </a:srgbClr>
          </a:solidFill>
          <a:ln w="9525">
            <a:solidFill>
              <a:srgbClr val="8FB4D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CBDDF1"/>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A3B8CB"/>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F3F7FA"/>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CFDCE8"/>
                </a:solidFill>
                <a:latin typeface="Segoe UI" pitchFamily="34" charset="0"/>
                <a:ea typeface="Segoe UI" pitchFamily="34" charset="-122"/>
                <a:cs typeface="Segoe UI" pitchFamily="34" charset="-120"/>
              </a:rPr>
              <a:t>Cost to serve ≈ $3.3k / site / yr: </a:t>
            </a:r>
            <a:r>
              <a:rPr lang="en-US" sz="1200" dirty="0">
                <a:solidFill>
                  <a:srgbClr val="CFDCE8"/>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F3F7FA"/>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Gulf + Red Sea subscriptions ≈ $0.2–0.4 M / yr. The real prize: a </a:t>
            </a:r>
            <a:r>
              <a:rPr lang="en-US" sz="1300" b="1" dirty="0">
                <a:solidFill>
                  <a:srgbClr val="D8BE84"/>
                </a:solidFill>
                <a:latin typeface="Segoe UI" pitchFamily="34" charset="0"/>
                <a:ea typeface="Segoe UI" pitchFamily="34" charset="-122"/>
                <a:cs typeface="Segoe UI" pitchFamily="34" charset="-120"/>
              </a:rPr>
              <a:t>national MRV contract</a:t>
            </a:r>
            <a:r>
              <a:rPr lang="en-US" sz="1300" dirty="0">
                <a:solidFill>
                  <a:srgbClr val="F3F7FA"/>
                </a:solidFill>
                <a:latin typeface="Segoe UI" pitchFamily="34" charset="0"/>
                <a:ea typeface="Segoe UI" pitchFamily="34" charset="-122"/>
                <a:cs typeface="Segoe UI" pitchFamily="34" charset="-120"/>
              </a:rPr>
              <a:t> or a monitoring layer on </a:t>
            </a:r>
            <a:r>
              <a:rPr lang="en-US" sz="1300" b="1" dirty="0">
                <a:solidFill>
                  <a:srgbClr val="D8BE84"/>
                </a:solidFill>
                <a:latin typeface="Segoe UI" pitchFamily="34" charset="0"/>
                <a:ea typeface="Segoe UI" pitchFamily="34" charset="-122"/>
                <a:cs typeface="Segoe UI" pitchFamily="34" charset="-120"/>
              </a:rPr>
              <a:t>gIQ</a:t>
            </a:r>
            <a:r>
              <a:rPr lang="en-US" sz="1300" dirty="0">
                <a:solidFill>
                  <a:srgbClr val="F3F7FA"/>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rl"/>
          <p:cNvSpPr txBox="1"/>
          <p:nvPr/>
        </p:nvSpPr>
        <p:spPr>
          <a:xfrm>
            <a:off x="777240" y="1828800"/>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DOCUMENTATION &amp; REPRODUCIBILITY</a:t>
            </a:r>
            <a:endParaRPr lang="en-US" sz="1100" dirty="0"/>
          </a:p>
        </p:txBody>
      </p:sp>
      <p:sp>
        <p:nvSpPr>
          <p:cNvPr id="9" name="a2float_r0_c"/>
          <p:cNvSpPr/>
          <p:nvPr/>
        </p:nvSpPr>
        <p:spPr>
          <a:xfrm>
            <a:off x="777240" y="2212848"/>
            <a:ext cx="493776" cy="493776"/>
          </a:xfrm>
          <a:prstGeom prst="ellipse">
            <a:avLst/>
          </a:prstGeom>
          <a:solidFill>
            <a:srgbClr val="8FB4DE">
              <a:alpha val="18000"/>
            </a:srgbClr>
          </a:solidFill>
          <a:ln w="12700">
            <a:solidFill>
              <a:srgbClr val="8FB4D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8FB4DE">
              <a:alpha val="18000"/>
            </a:srgbClr>
          </a:solidFill>
          <a:ln w="12700">
            <a:solidFill>
              <a:srgbClr val="8FB4D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8FB4DE">
              <a:alpha val="18000"/>
            </a:srgbClr>
          </a:solidFill>
          <a:ln w="12700">
            <a:solidFill>
              <a:srgbClr val="8FB4D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8FB4DE">
              <a:alpha val="18000"/>
            </a:srgbClr>
          </a:solidFill>
          <a:ln w="12700">
            <a:solidFill>
              <a:srgbClr val="8FB4D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8FB4DE">
              <a:alpha val="18000"/>
            </a:srgbClr>
          </a:solidFill>
          <a:ln w="12700">
            <a:solidFill>
              <a:srgbClr val="8FB4D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SCALABILITY</a:t>
            </a:r>
            <a:endParaRPr lang="en-US" sz="1100" dirty="0"/>
          </a:p>
        </p:txBody>
      </p:sp>
      <p:sp>
        <p:nvSpPr>
          <p:cNvPr id="30" name="a2fade_spine"/>
          <p:cNvSpPr/>
          <p:nvPr/>
        </p:nvSpPr>
        <p:spPr>
          <a:xfrm>
            <a:off x="6583680" y="2377440"/>
            <a:ext cx="0" cy="2926080"/>
          </a:xfrm>
          <a:prstGeom prst="line">
            <a:avLst/>
          </a:prstGeom>
          <a:noFill/>
          <a:ln w="19050">
            <a:solidFill>
              <a:srgbClr val="8FB4DE"/>
            </a:solidFill>
            <a:prstDash val="dash"/>
          </a:ln>
        </p:spPr>
      </p:sp>
      <p:sp>
        <p:nvSpPr>
          <p:cNvPr id="31" name="a3float_p0"/>
          <p:cNvSpPr/>
          <p:nvPr/>
        </p:nvSpPr>
        <p:spPr>
          <a:xfrm>
            <a:off x="6903720" y="2029968"/>
            <a:ext cx="4736592" cy="1261872"/>
          </a:xfrm>
          <a:prstGeom prst="roundRect">
            <a:avLst>
              <a:gd name="adj" fmla="val 10145"/>
            </a:avLst>
          </a:prstGeom>
          <a:solidFill>
            <a:srgbClr val="13294A">
              <a:alpha val="95000"/>
            </a:srgbClr>
          </a:solidFill>
          <a:ln w="9525">
            <a:solidFill>
              <a:srgbClr val="2C4466"/>
            </a:solidFill>
            <a:prstDash val="solid"/>
          </a:ln>
          <a:effectLst>
            <a:outerShdw blurRad="152400" dist="50800" dir="5400000" algn="bl" rotWithShape="0">
              <a:srgbClr val="000000">
                <a:alpha val="35000"/>
              </a:srgbClr>
            </a:outerShdw>
          </a:effectLst>
        </p:spPr>
      </p:sp>
      <p:sp>
        <p:nvSpPr>
          <p:cNvPr id="32" name="a3pop_p0ic_c"/>
          <p:cNvSpPr/>
          <p:nvPr/>
        </p:nvSpPr>
        <p:spPr>
          <a:xfrm>
            <a:off x="6327648" y="2404872"/>
            <a:ext cx="512064" cy="512064"/>
          </a:xfrm>
          <a:prstGeom prst="ellipse">
            <a:avLst/>
          </a:prstGeom>
          <a:solidFill>
            <a:srgbClr val="D8BE84">
              <a:alpha val="18000"/>
            </a:srgbClr>
          </a:solidFill>
          <a:ln w="12700">
            <a:solidFill>
              <a:srgbClr val="D8BE84"/>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D8BE84"/>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7" name="a5pop_p1ic_c"/>
          <p:cNvSpPr/>
          <p:nvPr/>
        </p:nvSpPr>
        <p:spPr>
          <a:xfrm>
            <a:off x="6327648" y="3803904"/>
            <a:ext cx="512064" cy="512064"/>
          </a:xfrm>
          <a:prstGeom prst="ellipse">
            <a:avLst/>
          </a:prstGeom>
          <a:solidFill>
            <a:srgbClr val="8FB4DE">
              <a:alpha val="18000"/>
            </a:srgbClr>
          </a:solidFill>
          <a:ln w="12700">
            <a:solidFill>
              <a:srgbClr val="8FB4D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42" name="a7pop_p2ic_c"/>
          <p:cNvSpPr/>
          <p:nvPr/>
        </p:nvSpPr>
        <p:spPr>
          <a:xfrm>
            <a:off x="6327648" y="5202936"/>
            <a:ext cx="512064" cy="512064"/>
          </a:xfrm>
          <a:prstGeom prst="ellipse">
            <a:avLst/>
          </a:prstGeom>
          <a:solidFill>
            <a:srgbClr val="8FB4DE">
              <a:alpha val="18000"/>
            </a:srgbClr>
          </a:solidFill>
          <a:ln w="12700">
            <a:solidFill>
              <a:srgbClr val="8FB4D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F3F7FA"/>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6F89A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13294A">
              <a:alpha val="92000"/>
            </a:srgbClr>
          </a:solidFill>
          <a:ln w="9525">
            <a:solidFill>
              <a:srgbClr val="2C4466"/>
            </a:solidFill>
            <a:prstDash val="solid"/>
          </a:ln>
          <a:effectLst>
            <a:outerShdw blurRad="152400" dist="50800" dir="5400000" algn="bl" rotWithShape="0">
              <a:srgbClr val="000000">
                <a:alpha val="35000"/>
              </a:srgbClr>
            </a:outerShdw>
          </a:effectLst>
        </p:spPr>
      </p:sp>
      <p:sp>
        <p:nvSpPr>
          <p:cNvPr id="8" name="a1float_av_c"/>
          <p:cNvSpPr/>
          <p:nvPr/>
        </p:nvSpPr>
        <p:spPr>
          <a:xfrm>
            <a:off x="804672" y="1920240"/>
            <a:ext cx="658368" cy="658368"/>
          </a:xfrm>
          <a:prstGeom prst="ellipse">
            <a:avLst/>
          </a:prstGeom>
          <a:solidFill>
            <a:srgbClr val="8FB4DE">
              <a:alpha val="18000"/>
            </a:srgbClr>
          </a:solidFill>
          <a:ln w="12700">
            <a:solidFill>
              <a:srgbClr val="8FB4DE"/>
            </a:solidFill>
            <a:prstDash val="solid"/>
          </a:ln>
        </p:spPr>
      </p:sp>
      <p:pic>
        <p:nvPicPr>
          <p:cNvPr id="9" name="a1float_av_i" descr="preencoded.png"/>
          <p:cNvPicPr>
            <a:picLocks noChangeAspect="1"/>
          </p:cNvPicPr>
          <p:nvPr/>
        </p:nvPicPr>
        <p:blipFill>
          <a:blip r:embed="rId5"/>
          <a:stretch>
            <a:fillRect/>
          </a:stretch>
        </p:blipFill>
        <p:spPr>
          <a:xfrm>
            <a:off x="962680" y="2078248"/>
            <a:ext cx="342351" cy="342351"/>
          </a:xfrm>
          <a:prstGeom prst="rect">
            <a:avLst/>
          </a:prstGeom>
        </p:spPr>
      </p:pic>
      <p:sp>
        <p:nvSpPr>
          <p:cNvPr id="10" name="a1float_name"/>
          <p:cNvSpPr txBox="1"/>
          <p:nvPr/>
        </p:nvSpPr>
        <p:spPr>
          <a:xfrm>
            <a:off x="1627632" y="1892808"/>
            <a:ext cx="2926080" cy="438912"/>
          </a:xfrm>
          <a:prstGeom prst="rect">
            <a:avLst/>
          </a:prstGeom>
          <a:noFill/>
          <a:ln/>
        </p:spPr>
        <p:txBody>
          <a:bodyPr wrap="square" lIns="0" tIns="0" rIns="0" bIns="0" rtlCol="0" anchor="t"/>
          <a:lstStyle/>
          <a:p>
            <a:pPr marL="0" indent="0" algn="l">
              <a:lnSpc>
                <a:spcPct val="105000"/>
              </a:lnSpc>
              <a:buNone/>
            </a:pPr>
            <a:r>
              <a:rPr lang="en-US" sz="2400" dirty="0">
                <a:solidFill>
                  <a:srgbClr val="F3F7FA"/>
                </a:solidFill>
                <a:latin typeface="Segoe UI Semibold" pitchFamily="34" charset="0"/>
                <a:ea typeface="Segoe UI Semibold" pitchFamily="34" charset="-122"/>
                <a:cs typeface="Segoe UI Semibold" pitchFamily="34" charset="-120"/>
              </a:rPr>
              <a:t>Nahla Nabil</a:t>
            </a:r>
            <a:endParaRPr lang="en-US" sz="2400" dirty="0"/>
          </a:p>
        </p:txBody>
      </p:sp>
      <p:sp>
        <p:nvSpPr>
          <p:cNvPr id="11" name="a1float_role"/>
          <p:cNvSpPr txBox="1"/>
          <p:nvPr/>
        </p:nvSpPr>
        <p:spPr>
          <a:xfrm>
            <a:off x="1627632" y="2331720"/>
            <a:ext cx="2926080" cy="27432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Team lead  ·  Bahrain</a:t>
            </a:r>
            <a:endParaRPr lang="en-US" sz="1300" dirty="0"/>
          </a:p>
        </p:txBody>
      </p:sp>
      <p:sp>
        <p:nvSpPr>
          <p:cNvPr id="12" name="a2fade_l1"/>
          <p:cNvSpPr txBox="1"/>
          <p:nvPr/>
        </p:nvSpPr>
        <p:spPr>
          <a:xfrm>
            <a:off x="804672" y="280720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3" name="a2fade_skills"/>
          <p:cNvSpPr txBox="1"/>
          <p:nvPr/>
        </p:nvSpPr>
        <p:spPr>
          <a:xfrm>
            <a:off x="804672" y="3090672"/>
            <a:ext cx="3749040" cy="12344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AI / LLM backend engineering</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Machine learning &amp; computer vision (deepfake detection)</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Federated learning · semantic search systems</a:t>
            </a:r>
            <a:endParaRPr lang="en-US" sz="1300" dirty="0"/>
          </a:p>
          <a:p>
            <a:pPr marL="177800" indent="-177800">
              <a:spcAft>
                <a:spcPts val="400"/>
              </a:spcAft>
              <a:buSzPct val="100000"/>
              <a:buChar char="•"/>
            </a:pPr>
            <a:r>
              <a:rPr lang="en-US" sz="1300" dirty="0">
                <a:solidFill>
                  <a:srgbClr val="F3F7FA"/>
                </a:solidFill>
                <a:latin typeface="Segoe UI" pitchFamily="34" charset="0"/>
                <a:ea typeface="Segoe UI" pitchFamily="34" charset="-122"/>
                <a:cs typeface="Segoe UI" pitchFamily="34" charset="-120"/>
              </a:rPr>
              <a:t>Python geospatial stack</a:t>
            </a:r>
            <a:endParaRPr lang="en-US" sz="1300" dirty="0"/>
          </a:p>
        </p:txBody>
      </p:sp>
      <p:sp>
        <p:nvSpPr>
          <p:cNvPr id="14" name="a3fade_l2"/>
          <p:cNvSpPr txBox="1"/>
          <p:nvPr/>
        </p:nvSpPr>
        <p:spPr>
          <a:xfrm>
            <a:off x="804672" y="438912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COMMUNITY</a:t>
            </a:r>
            <a:endParaRPr lang="en-US" sz="1100" dirty="0"/>
          </a:p>
        </p:txBody>
      </p:sp>
      <p:sp>
        <p:nvSpPr>
          <p:cNvPr id="15" name="a3fade_comm"/>
          <p:cNvSpPr txBox="1"/>
          <p:nvPr/>
        </p:nvSpPr>
        <p:spPr>
          <a:xfrm>
            <a:off x="804672" y="4645152"/>
            <a:ext cx="3703320" cy="502920"/>
          </a:xfrm>
          <a:prstGeom prst="rect">
            <a:avLst/>
          </a:prstGeom>
          <a:noFill/>
          <a:ln/>
        </p:spPr>
        <p:txBody>
          <a:bodyPr wrap="square" lIns="0" tIns="0" rIns="0" bIns="0" rtlCol="0" anchor="t"/>
          <a:lstStyle/>
          <a:p>
            <a:pPr marL="0" indent="0" algn="l">
              <a:lnSpc>
                <a:spcPct val="105000"/>
              </a:lnSpc>
              <a:buNone/>
            </a:pPr>
            <a:r>
              <a:rPr lang="en-US" sz="1300" dirty="0">
                <a:solidFill>
                  <a:srgbClr val="F3F7FA"/>
                </a:solidFill>
                <a:latin typeface="Segoe UI" pitchFamily="34" charset="0"/>
                <a:ea typeface="Segoe UI" pitchFamily="34" charset="-122"/>
                <a:cs typeface="Segoe UI" pitchFamily="34" charset="-120"/>
              </a:rPr>
              <a:t>NASA Space Apps Challenge local lead: organising and mentoring space-data teams</a:t>
            </a:r>
            <a:endParaRPr lang="en-US" sz="1300" dirty="0"/>
          </a:p>
        </p:txBody>
      </p:sp>
      <p:sp>
        <p:nvSpPr>
          <p:cNvPr id="16" name="a3fade_l3"/>
          <p:cNvSpPr txBox="1"/>
          <p:nvPr/>
        </p:nvSpPr>
        <p:spPr>
          <a:xfrm>
            <a:off x="804672" y="523036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HOW ONE PERSON DELIVERED THIS</a:t>
            </a:r>
            <a:endParaRPr lang="en-US" sz="1100" dirty="0"/>
          </a:p>
        </p:txBody>
      </p:sp>
      <p:sp>
        <p:nvSpPr>
          <p:cNvPr id="17" name="a3fade_ai"/>
          <p:cNvSpPr txBox="1"/>
          <p:nvPr/>
        </p:nvSpPr>
        <p:spPr>
          <a:xfrm>
            <a:off x="804672" y="5486400"/>
            <a:ext cx="3703320" cy="64008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An AI-assisted engineering workflow (Claude Code) that I direct and review; every number is reproducible from the public code.</a:t>
            </a:r>
            <a:endParaRPr lang="en-US" sz="1200" dirty="0"/>
          </a:p>
        </p:txBody>
      </p:sp>
      <p:sp>
        <p:nvSpPr>
          <p:cNvPr id="18"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8FB4D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19" name="a2float_r0"/>
          <p:cNvSpPr/>
          <p:nvPr/>
        </p:nvSpPr>
        <p:spPr>
          <a:xfrm>
            <a:off x="4983480" y="202996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0" name="a2float_r0ic_c"/>
          <p:cNvSpPr/>
          <p:nvPr/>
        </p:nvSpPr>
        <p:spPr>
          <a:xfrm>
            <a:off x="5166360" y="2295144"/>
            <a:ext cx="512064" cy="512064"/>
          </a:xfrm>
          <a:prstGeom prst="ellipse">
            <a:avLst/>
          </a:prstGeom>
          <a:solidFill>
            <a:srgbClr val="8FB4DE">
              <a:alpha val="18000"/>
            </a:srgbClr>
          </a:solidFill>
          <a:ln w="12700">
            <a:solidFill>
              <a:srgbClr val="8FB4DE"/>
            </a:solidFill>
            <a:prstDash val="solid"/>
          </a:ln>
        </p:spPr>
      </p:sp>
      <p:pic>
        <p:nvPicPr>
          <p:cNvPr id="21"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2"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3"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4" name="a2float_r1"/>
          <p:cNvSpPr/>
          <p:nvPr/>
        </p:nvSpPr>
        <p:spPr>
          <a:xfrm>
            <a:off x="8366760" y="202996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25" name="a2float_r1ic_c"/>
          <p:cNvSpPr/>
          <p:nvPr/>
        </p:nvSpPr>
        <p:spPr>
          <a:xfrm>
            <a:off x="8549640" y="2295144"/>
            <a:ext cx="512064" cy="512064"/>
          </a:xfrm>
          <a:prstGeom prst="ellipse">
            <a:avLst/>
          </a:prstGeom>
          <a:solidFill>
            <a:srgbClr val="8FB4DE">
              <a:alpha val="18000"/>
            </a:srgbClr>
          </a:solidFill>
          <a:ln w="12700">
            <a:solidFill>
              <a:srgbClr val="8FB4DE"/>
            </a:solidFill>
            <a:prstDash val="solid"/>
          </a:ln>
        </p:spPr>
      </p:sp>
      <p:pic>
        <p:nvPicPr>
          <p:cNvPr id="26"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7"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EO data engineer</a:t>
            </a:r>
            <a:endParaRPr lang="en-US" sz="1400" dirty="0"/>
          </a:p>
        </p:txBody>
      </p:sp>
      <p:sp>
        <p:nvSpPr>
          <p:cNvPr id="28"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29" name="a3float_r2"/>
          <p:cNvSpPr/>
          <p:nvPr/>
        </p:nvSpPr>
        <p:spPr>
          <a:xfrm>
            <a:off x="4983480" y="321868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0" name="a3float_r2ic_c"/>
          <p:cNvSpPr/>
          <p:nvPr/>
        </p:nvSpPr>
        <p:spPr>
          <a:xfrm>
            <a:off x="5166360" y="3483864"/>
            <a:ext cx="512064" cy="512064"/>
          </a:xfrm>
          <a:prstGeom prst="ellipse">
            <a:avLst/>
          </a:prstGeom>
          <a:solidFill>
            <a:srgbClr val="8FB4DE">
              <a:alpha val="18000"/>
            </a:srgbClr>
          </a:solidFill>
          <a:ln w="12700">
            <a:solidFill>
              <a:srgbClr val="8FB4DE"/>
            </a:solidFill>
            <a:prstDash val="solid"/>
          </a:ln>
        </p:spPr>
      </p:sp>
      <p:pic>
        <p:nvPicPr>
          <p:cNvPr id="31"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2"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3"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4" name="a3float_r3"/>
          <p:cNvSpPr/>
          <p:nvPr/>
        </p:nvSpPr>
        <p:spPr>
          <a:xfrm>
            <a:off x="8366760" y="321868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35" name="a3float_r3ic_c"/>
          <p:cNvSpPr/>
          <p:nvPr/>
        </p:nvSpPr>
        <p:spPr>
          <a:xfrm>
            <a:off x="8549640" y="3483864"/>
            <a:ext cx="512064" cy="512064"/>
          </a:xfrm>
          <a:prstGeom prst="ellipse">
            <a:avLst/>
          </a:prstGeom>
          <a:solidFill>
            <a:srgbClr val="8FB4DE">
              <a:alpha val="18000"/>
            </a:srgbClr>
          </a:solidFill>
          <a:ln w="12700">
            <a:solidFill>
              <a:srgbClr val="8FB4DE"/>
            </a:solidFill>
            <a:prstDash val="solid"/>
          </a:ln>
        </p:spPr>
      </p:sp>
      <p:pic>
        <p:nvPicPr>
          <p:cNvPr id="36"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7"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8"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real events, simulations, unseen stands</a:t>
            </a:r>
            <a:endParaRPr lang="en-US" sz="1200" dirty="0"/>
          </a:p>
        </p:txBody>
      </p:sp>
      <p:sp>
        <p:nvSpPr>
          <p:cNvPr id="39" name="a4float_r4"/>
          <p:cNvSpPr/>
          <p:nvPr/>
        </p:nvSpPr>
        <p:spPr>
          <a:xfrm>
            <a:off x="4983480" y="440740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40" name="a4float_r4ic_c"/>
          <p:cNvSpPr/>
          <p:nvPr/>
        </p:nvSpPr>
        <p:spPr>
          <a:xfrm>
            <a:off x="5166360" y="4672584"/>
            <a:ext cx="512064" cy="512064"/>
          </a:xfrm>
          <a:prstGeom prst="ellipse">
            <a:avLst/>
          </a:prstGeom>
          <a:solidFill>
            <a:srgbClr val="8FB4DE">
              <a:alpha val="18000"/>
            </a:srgbClr>
          </a:solidFill>
          <a:ln w="12700">
            <a:solidFill>
              <a:srgbClr val="8FB4DE"/>
            </a:solidFill>
            <a:prstDash val="solid"/>
          </a:ln>
        </p:spPr>
      </p:sp>
      <p:pic>
        <p:nvPicPr>
          <p:cNvPr id="41"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2"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3"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dashboard, website, site reports, notebook</a:t>
            </a:r>
            <a:endParaRPr lang="en-US" sz="1200" dirty="0"/>
          </a:p>
        </p:txBody>
      </p:sp>
      <p:sp>
        <p:nvSpPr>
          <p:cNvPr id="44" name="a4float_r5"/>
          <p:cNvSpPr/>
          <p:nvPr/>
        </p:nvSpPr>
        <p:spPr>
          <a:xfrm>
            <a:off x="8366760" y="4407408"/>
            <a:ext cx="3255264" cy="1051560"/>
          </a:xfrm>
          <a:prstGeom prst="roundRect">
            <a:avLst>
              <a:gd name="adj" fmla="val 12174"/>
            </a:avLst>
          </a:prstGeom>
          <a:solidFill>
            <a:srgbClr val="0F2440">
              <a:alpha val="82000"/>
            </a:srgbClr>
          </a:solidFill>
          <a:ln w="9525">
            <a:solidFill>
              <a:srgbClr val="2C4466"/>
            </a:solidFill>
            <a:prstDash val="solid"/>
          </a:ln>
          <a:effectLst>
            <a:outerShdw blurRad="152400" dist="50800" dir="5400000" algn="bl" rotWithShape="0">
              <a:srgbClr val="000000">
                <a:alpha val="35000"/>
              </a:srgbClr>
            </a:outerShdw>
          </a:effectLst>
        </p:spPr>
      </p:sp>
      <p:sp>
        <p:nvSpPr>
          <p:cNvPr id="45" name="a4float_r5ic_c"/>
          <p:cNvSpPr/>
          <p:nvPr/>
        </p:nvSpPr>
        <p:spPr>
          <a:xfrm>
            <a:off x="8549640" y="4672584"/>
            <a:ext cx="512064" cy="512064"/>
          </a:xfrm>
          <a:prstGeom prst="ellipse">
            <a:avLst/>
          </a:prstGeom>
          <a:solidFill>
            <a:srgbClr val="8FB4DE">
              <a:alpha val="18000"/>
            </a:srgbClr>
          </a:solidFill>
          <a:ln w="12700">
            <a:solidFill>
              <a:srgbClr val="8FB4DE"/>
            </a:solidFill>
            <a:prstDash val="solid"/>
          </a:ln>
        </p:spPr>
      </p:sp>
      <p:pic>
        <p:nvPicPr>
          <p:cNvPr id="46"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7"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F3F7FA"/>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8"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A3B8CB"/>
                </a:solidFill>
                <a:latin typeface="Segoe UI" pitchFamily="34" charset="0"/>
                <a:ea typeface="Segoe UI" pitchFamily="34" charset="-122"/>
                <a:cs typeface="Segoe UI" pitchFamily="34" charset="-120"/>
              </a:rPr>
              <a:t>customers, pricing hypotheses, carbon ranges</a:t>
            </a:r>
            <a:endParaRPr lang="en-US" sz="1200" dirty="0"/>
          </a:p>
        </p:txBody>
      </p:sp>
      <p:sp>
        <p:nvSpPr>
          <p:cNvPr id="49" name="a5float_gap"/>
          <p:cNvSpPr/>
          <p:nvPr/>
        </p:nvSpPr>
        <p:spPr>
          <a:xfrm>
            <a:off x="4983480" y="5596128"/>
            <a:ext cx="6638544" cy="576072"/>
          </a:xfrm>
          <a:prstGeom prst="roundRect">
            <a:avLst>
              <a:gd name="adj" fmla="val 22222"/>
            </a:avLst>
          </a:prstGeom>
          <a:solidFill>
            <a:srgbClr val="8FB4DE">
              <a:alpha val="14000"/>
            </a:srgbClr>
          </a:solidFill>
          <a:ln w="9525">
            <a:solidFill>
              <a:srgbClr val="8FB4DE"/>
            </a:solidFill>
            <a:prstDash val="solid"/>
          </a:ln>
          <a:effectLst>
            <a:outerShdw blurRad="152400" dist="50800" dir="5400000" algn="bl" rotWithShape="0">
              <a:srgbClr val="000000">
                <a:alpha val="35000"/>
              </a:srgbClr>
            </a:outerShdw>
          </a:effectLst>
        </p:spPr>
      </p:sp>
      <p:sp>
        <p:nvSpPr>
          <p:cNvPr id="50"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CBDDF1"/>
                </a:solidFill>
                <a:latin typeface="Segoe UI" pitchFamily="34" charset="0"/>
                <a:ea typeface="Segoe UI" pitchFamily="34" charset="-122"/>
                <a:cs typeface="Segoe UI" pitchFamily="34" charset="-120"/>
              </a:rPr>
              <a:t>Incubation gap we will close:  </a:t>
            </a:r>
            <a:r>
              <a:rPr lang="en-US" sz="1300" dirty="0">
                <a:solidFill>
                  <a:srgbClr val="F3F7FA"/>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47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600"/>
                                        <p:tgtEl>
                                          <p:spTgt spid="18"/>
                                        </p:tgtEl>
                                      </p:cBhvr>
                                    </p:animEffect>
                                  </p:childTnLst>
                                </p:cTn>
                              </p:par>
                              <p:par>
                                <p:cTn id="35" presetID="10"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42" presetClass="entr" presetSubtype="0" decel="100000" fill="hold" grpId="0" nodeType="withEffect">
                                  <p:stCondLst>
                                    <p:cond delay="69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69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69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69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69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69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69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03"/>
                                          </p:val>
                                        </p:tav>
                                        <p:tav tm="100000">
                                          <p:val>
                                            <p:strVal val="#ppt_y"/>
                                          </p:val>
                                        </p:tav>
                                      </p:tavLst>
                                    </p:anim>
                                  </p:childTnLst>
                                </p:cTn>
                              </p:par>
                              <p:par>
                                <p:cTn id="81" presetID="10" presetClass="entr" presetSubtype="0" decel="100000" fill="hold" grpId="0" nodeType="withEffect">
                                  <p:stCondLst>
                                    <p:cond delay="91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decel="100000" fill="hold" grpId="0" nodeType="withEffect">
                                  <p:stCondLst>
                                    <p:cond delay="91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decel="100000" fill="hold" grpId="0" nodeType="withEffect">
                                  <p:stCondLst>
                                    <p:cond delay="91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decel="100000" fill="hold" grpId="0" nodeType="withEffect">
                                  <p:stCondLst>
                                    <p:cond delay="91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42" presetClass="entr" presetSubtype="0" decel="100000" fill="hold" grpId="0" nodeType="withEffect">
                                  <p:stCondLst>
                                    <p:cond delay="91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700"/>
                                        <p:tgtEl>
                                          <p:spTgt spid="29"/>
                                        </p:tgtEl>
                                      </p:cBhvr>
                                    </p:animEffect>
                                    <p:anim calcmode="lin" valueType="num">
                                      <p:cBhvr additive="base">
                                        <p:cTn id="96" dur="700" fill="hold"/>
                                        <p:tgtEl>
                                          <p:spTgt spid="2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1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35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p:bldP spid="27" grpId="0" animBg="1"/>
      <p:bldP spid="28" grpId="0" animBg="1"/>
      <p:bldP spid="29" grpId="0" animBg="1"/>
      <p:bldP spid="30" grpId="0" animBg="1"/>
      <p:bldP spid="31" grpId="0"/>
      <p:bldP spid="32" grpId="0" animBg="1"/>
      <p:bldP spid="33" grpId="0" animBg="1"/>
      <p:bldP spid="34" grpId="0" animBg="1"/>
      <p:bldP spid="35" grpId="0" animBg="1"/>
      <p:bldP spid="36" grpId="0"/>
      <p:bldP spid="37" grpId="0" animBg="1"/>
      <p:bldP spid="38" grpId="0" animBg="1"/>
      <p:bldP spid="39" grpId="0" animBg="1"/>
      <p:bldP spid="40" grpId="0" animBg="1"/>
      <p:bldP spid="41" grpId="0"/>
      <p:bldP spid="42" grpId="0" animBg="1"/>
      <p:bldP spid="43" grpId="0" animBg="1"/>
      <p:bldP spid="44" grpId="0" animBg="1"/>
      <p:bldP spid="45" grpId="0" animBg="1"/>
      <p:bldP spid="46" grpId="0"/>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8FB4DE"/>
                </a:solidFill>
                <a:latin typeface="Segoe UI Semibold" pitchFamily="34" charset="0"/>
                <a:ea typeface="Segoe UI Semibold" pitchFamily="34" charset="-122"/>
                <a:cs typeface="Segoe UI Semibold" pitchFamily="34" charset="-120"/>
              </a:rPr>
              <a:t>TEAM BLUE ATHAR  ·  </a:t>
            </a:r>
            <a:r>
              <a:rPr lang="en-US" sz="1300" dirty="0">
                <a:solidFill>
                  <a:srgbClr val="8FB4DE"/>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3F7FA"/>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D8BE84"/>
                </a:solidFill>
                <a:latin typeface="Segoe UI Semibold" pitchFamily="34" charset="0"/>
                <a:ea typeface="Segoe UI Semibold" pitchFamily="34" charset="-122"/>
                <a:cs typeface="Segoe UI Semibold" pitchFamily="34" charset="-120"/>
              </a:rPr>
              <a:t>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D8BE84"/>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DE97A1"/>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D8BE84"/>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0F2440">
              <a:alpha val="70000"/>
            </a:srgbClr>
          </a:solidFill>
          <a:ln w="9525">
            <a:solidFill>
              <a:srgbClr val="2C4466"/>
            </a:solidFill>
            <a:prstDash val="solid"/>
          </a:ln>
          <a:effectLst>
            <a:outerShdw blurRad="152400" dist="50800" dir="5400000" algn="bl" rotWithShape="0">
              <a:srgbClr val="000000">
                <a:alpha val="3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D8BE84"/>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8FB4DE">
              <a:alpha val="16000"/>
            </a:srgbClr>
          </a:solidFill>
          <a:ln w="9525">
            <a:solidFill>
              <a:srgbClr val="8FB4DE"/>
            </a:solidFill>
            <a:prstDash val="solid"/>
          </a:ln>
          <a:effectLst>
            <a:outerShdw blurRad="152400" dist="50800" dir="5400000" algn="bl" rotWithShape="0">
              <a:srgbClr val="000000">
                <a:alpha val="3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CBDDF1"/>
                </a:solidFill>
                <a:latin typeface="Segoe UI" pitchFamily="34" charset="0"/>
                <a:ea typeface="Segoe UI" pitchFamily="34" charset="-122"/>
                <a:cs typeface="Segoe UI" pitchFamily="34" charset="-120"/>
              </a:rPr>
              <a:t>Our ask:  </a:t>
            </a:r>
            <a:r>
              <a:rPr lang="en-US" sz="1500" dirty="0">
                <a:solidFill>
                  <a:srgbClr val="F3F7FA"/>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A3B8CB"/>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D8BE84"/>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8FB4D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F3F7FA"/>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0A1E3C"/>
          </a:solidFill>
          <a:ln w="15875">
            <a:solidFill>
              <a:srgbClr val="8FB4DE"/>
            </a:solidFill>
            <a:prstDash val="solid"/>
          </a:ln>
          <a:effectLst>
            <a:outerShdw blurRad="152400" dist="50800" dir="5400000" algn="bl" rotWithShape="0">
              <a:srgbClr val="000000">
                <a:alpha val="35000"/>
              </a:srgbClr>
            </a:outerShdw>
          </a:effectLst>
        </p:spPr>
      </p:sp>
      <p:pic>
        <p:nvPicPr>
          <p:cNvPr id="6" name="video_demo">
            <a:hlinkClick r:id="" action="ppaction://media"/>
            <a:extLst>
              <a:ext uri="{FF2B5EF4-FFF2-40B4-BE49-F238E27FC236}">
                <a16:creationId xmlns:a16="http://schemas.microsoft.com/office/drawing/2014/main" id="{779075EB-873A-FBE6-BF37-95272820915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FB4DE"/>
                </a:solidFill>
                <a:latin typeface="Segoe UI Semibold"/>
                <a:ea typeface="Segoe UI Semibold"/>
                <a:cs typeface="Segoe UI Semibold"/>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4020</Words>
  <Application>Microsoft Office PowerPoint</Application>
  <PresentationFormat>Widescreen</PresentationFormat>
  <Paragraphs>361</Paragraphs>
  <Slides>18</Slides>
  <Notes>18</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2026-10-16T20:33:07Z</dcterms:created>
  <dcterms:modified xsi:type="dcterms:W3CDTF">2026-10-16T20:33:16Z</dcterms:modified>
</cp:coreProperties>
</file>