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2.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F3F7FA"/>
                </a:solidFill>
                <a:latin typeface="Segoe UI"/>
              </a:defRPr>
            </a:pPr>
            <a:r>
              <a:rPr sz="1300" b="0" i="0" u="none" strike="noStrike">
                <a:solidFill>
                  <a:srgbClr val="F3F7FA"/>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4A6378"/>
            </a:solidFill>
            <a:effectLst/>
          </c:spPr>
          <c:invertIfNegative val="0"/>
          <c:dLbls>
            <c:numFmt formatCode="0.000" sourceLinked="0"/>
            <c:spPr>
              <a:noFill/>
              <a:ln>
                <a:noFill/>
              </a:ln>
              <a:effectLst/>
            </c:spPr>
            <c:txPr>
              <a:bodyPr/>
              <a:lstStyle/>
              <a:p>
                <a:pPr>
                  <a:defRPr sz="1000" b="0" i="0" u="none" strike="noStrike">
                    <a:solidFill>
                      <a:srgbClr val="F3F7FA"/>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E64F-42A0-BA26-DDF021CB4A11}"/>
            </c:ext>
          </c:extLst>
        </c:ser>
        <c:ser>
          <c:idx val="1"/>
          <c:order val="1"/>
          <c:tx>
            <c:strRef>
              <c:f>Sheet1!$C$1</c:f>
              <c:strCache>
                <c:ptCount val="1"/>
                <c:pt idx="0">
                  <c:v>with tide model</c:v>
                </c:pt>
              </c:strCache>
            </c:strRef>
          </c:tx>
          <c:spPr>
            <a:solidFill>
              <a:srgbClr val="4DA3FF"/>
            </a:solidFill>
            <a:effectLst/>
          </c:spPr>
          <c:invertIfNegative val="0"/>
          <c:dLbls>
            <c:numFmt formatCode="0.000" sourceLinked="0"/>
            <c:spPr>
              <a:noFill/>
              <a:ln>
                <a:noFill/>
              </a:ln>
              <a:effectLst/>
            </c:spPr>
            <c:txPr>
              <a:bodyPr/>
              <a:lstStyle/>
              <a:p>
                <a:pPr>
                  <a:defRPr sz="1000" b="0" i="0" u="none" strike="noStrike">
                    <a:solidFill>
                      <a:srgbClr val="F3F7FA"/>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E64F-42A0-BA26-DDF021CB4A11}"/>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A4F80"/>
            </a:solidFill>
            <a:prstDash val="solid"/>
            <a:round/>
          </a:ln>
        </c:spPr>
        <c:txPr>
          <a:bodyPr/>
          <a:lstStyle/>
          <a:p>
            <a:pPr>
              <a:defRPr sz="1100" b="0" i="0" u="none" strike="noStrike">
                <a:solidFill>
                  <a:srgbClr val="A3B8CB"/>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A3B8CB"/>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F3F7FA"/>
                </a:solidFill>
                <a:latin typeface="Segoe UI"/>
              </a:defRPr>
            </a:pPr>
            <a:r>
              <a:rPr sz="1300" b="0" i="0" u="none" strike="noStrike">
                <a:solidFill>
                  <a:srgbClr val="F3F7FA"/>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4DA3FF"/>
            </a:solidFill>
            <a:effectLst/>
          </c:spPr>
          <c:invertIfNegative val="0"/>
          <c:dLbls>
            <c:numFmt formatCode="0&quot; %&quot;" sourceLinked="0"/>
            <c:spPr>
              <a:noFill/>
              <a:ln>
                <a:noFill/>
              </a:ln>
              <a:effectLst/>
            </c:spPr>
            <c:txPr>
              <a:bodyPr/>
              <a:lstStyle/>
              <a:p>
                <a:pPr>
                  <a:defRPr sz="1200" b="0" i="0" u="none" strike="noStrike">
                    <a:solidFill>
                      <a:srgbClr val="F3F7FA"/>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8189-46DE-9BCC-301CB26F7320}"/>
            </c:ext>
          </c:extLst>
        </c:ser>
        <c:ser>
          <c:idx val="1"/>
          <c:order val="1"/>
          <c:tx>
            <c:strRef>
              <c:f>Sheet1!$C$1</c:f>
              <c:strCache>
                <c:ptCount val="1"/>
                <c:pt idx="0">
                  <c:v>by chance (same test, no loss)</c:v>
                </c:pt>
              </c:strCache>
            </c:strRef>
          </c:tx>
          <c:spPr>
            <a:solidFill>
              <a:srgbClr val="4A6378"/>
            </a:solidFill>
            <a:effectLst/>
          </c:spPr>
          <c:invertIfNegative val="0"/>
          <c:dLbls>
            <c:numFmt formatCode="0&quot; %&quot;" sourceLinked="0"/>
            <c:spPr>
              <a:noFill/>
              <a:ln>
                <a:noFill/>
              </a:ln>
              <a:effectLst/>
            </c:spPr>
            <c:txPr>
              <a:bodyPr/>
              <a:lstStyle/>
              <a:p>
                <a:pPr>
                  <a:defRPr sz="1200" b="0" i="0" u="none" strike="noStrike">
                    <a:solidFill>
                      <a:srgbClr val="F3F7FA"/>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8189-46DE-9BCC-301CB26F7320}"/>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2A4F80"/>
            </a:solidFill>
            <a:prstDash val="solid"/>
            <a:round/>
          </a:ln>
        </c:spPr>
        <c:txPr>
          <a:bodyPr/>
          <a:lstStyle/>
          <a:p>
            <a:pPr>
              <a:defRPr sz="1100" b="0" i="0" u="none" strike="noStrike">
                <a:solidFill>
                  <a:srgbClr val="F3F7FA"/>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A3B8CB"/>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366202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(calm, slow): "Good morning. I'm Nahla Nabil, team Blue Athar.
What you are watching is a satellite pass over 25 mangrove stands in Abu Dhabi.
The five in red were lost to construction between 2022 and 2025 — and our system raised an alert on every one of them while the works were happening.
This is Blue Carbon Guardian."
DO: let the scan run for one sweep, then press → .
BEFORE YOU START: PowerPoint in Slide Show (Presenter View); browser already open on nahla-nabil.github.io/blue-carbon-guardian/#monitor (page loaded, zoom 100 %); notifications off.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40 s
SAY: "The Gulf is planting mangroves at record scale: 100 million pledged by the UAE, more than 100 million by Saudi Arabia. In February the first GCC mangrove monitoring guide was published.
But planting is scaling faster than watching. Look at stand 5." (point at the images, left to right)
"November 2021: intact. October 2022: works start — and that is when our alert fired. 2023: canals. Today: a canal development.
Today, a loss like this is found at the next field survey — after the fact. What we solve: a calibrated alert every five days that says where to inspect, and what carbon is at stake."
DO: press → after "at stake".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75 s
SAY: "So here is what we built. Let me show you — live."
DO: Alt+Tab to the browser (monitor section).
SAY: "Every stand is coloured by its condition. Stand 5, in red: severe decline."
DO: click "200 m cells" above the map.
SAY: "Now the key idea: we split every stand into 200-metre cells."
DO: scroll down to the table → click the row "9" → scroll back up to the map.
SAY: "Stand 9. On average it reads 'stable'. But 8 of its 28 cells are in severe decline. That is exactly where you send the inspector."
DO: move the mouse over the alert-score chart.
SAY: "Blue is the stand average, red is the worst single cell. The red line plunges far below its threshold — the cells see the damage much more sharply than the average does."
DO (only if ahead of time): click "Open the site report" → new tab → 3 seconds → Ctrl+W.
SAY: "And every stand gets a one-page report with the carbon at stake."
DO: Alt+Tab back to PowerPoint → press → .
FALLBACK: if the site does not load, stay on this slide — the recording plays the same steps; narrate it with the same lines.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"Three users, three decisions.
Agencies: which stands do we inspect this month. Planting and carbon developers: is the carbon we report still there. Developers and regulators: did the works stay outside the mangrove line.
One flow for all three: new scene, alert, cell map, inspection, report."
DO: press →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"The analysis rests on five independent data sources: 778 Sentinel-2 dates over six years, EnMAP hyperspectral, ESA WorldCover, field carbon plots, and dated sub-metre imagery.
Every image is cloud-masked, we use only interior pixels, we model the tide, and every finding is cross-checked by a second source.
25 stands in depth — plus 66 the model never saw, including Saudi Arabia."
DO: press →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"Here is the second source at work: EnMAP hyperspectral, 224 bands.
On stand 5, the green curves are the vegetation in 2022; the red dashed curves are the same pixels in 2025 — the spectrum of sand and fill. That is reclamation, not dieback.
On the same dates, EnMAP agrees with our Sentinel-2 indices with r up to 0.99."
DO: press →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"Now the hard part — the one that breaks most monitors in the Gulf: the tide.
When the tide comes in, flooded mangroves look, from space, like dying mangroves. In this illustration the same trees drop from 0.30 to 0.18.
On our stands, index noise follows wetness with a correlation of minus 0.9.
So for every stand and every date we model trend, season — and the tide.
Noise falls by 29 to 35 percent on every index. That is what makes a reliable alert possible."
DO: wait for the water to rise in the illustration, then press → on "reliable alert".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 s
SAY: "Our second innovation: averages hide damage.
This is real data from stand 5. Watch the cells turn red while the stand average barely moves.
Three of our five real conversions were found only by the cells.
So the alert has one rule: the stand average OR any single cell — calibrated together to about one false alarm per stand per year.
In simulation, a partial loss is caught within 60 days 73 percent of the time — against 13 percent by chance."
DO: press →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"So how is this different from what exists?
Field surveys are periodic. Satellite maps are one-off. Global Mangrove Watch sends free monthly loss alerts — and we see it as complementary.
What we add" (point down the blue column) ": every five days, the tide removed, where inside the stand, a measured false-alarm rate, and the carbon at stake — built and tested for the Gulf."
DO: press → .</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40 s
SAY: "Does it work on real events? Five real conversions, all confirmed on 30-to-50-centimetre imagery.
On the right: the blue bar is the window between the last intact image and the first image showing works. The red diamond is when our alert started.
Every alert falls inside that window." (point at stand 5's diamond)
"To be precise: this is detection while the works happen — not a prediction before they start. We never claim advance warning."
DO: press →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"We also tested ourselves against pure chance — every rate has its chance rate next to it.
Partial loss: 73 percent caught, 13 by chance. A uniform 10-percent loss is harder: 63 versus 36, and we show that too.
On 65 stands the model never saw, thresholds frozen, false alarms stayed at 0.79 per stand-year.
And when we found a flaw in our own first test, we withdrew it. These are the numbers that survived."
DO: press → on "survived".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 s
SAY: "Why it matters. 108 tonnes of carbon per hectare in these stands — 82 percent in the soil, released when the stand is cleared. The pilot holds about 247 thousand tonnes; stand 5 alone lost 3 to 7 thousand.
As a service: about 12 thousand dollars per site per year, against a cost to serve of about 3 thousand. The real prize is a national MRV contract, or a monitoring layer on gIQ."
DO: press → .</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"Beyond the proof of concept: everything is public and reproducible — the notebook re-runs in 24 seconds, and a clean-machine test gives the same numbers.
It already transferred to unseen stands and a second country, at under five dollars of compute per site per year. Next: Satellite 813, gIQ, and a pilot customer."
DO: press → .</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"Who built this? A team of one. I held every role on this slide — satellite pipeline, statistics, product and business case.
My background is AI and machine-learning engineering, and I lead NASA Space Apps locally. I worked with an AI-assisted engineering workflow that I direct and review — and every number is public and checkable.
In incubation I will add what I don't have: a mangrove ecologist and a field partner."
DO: press → .</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(slow, look at the camera): "A working product, five real events confirmed, every number reproducible.
Every lost mangrove leaves a trace — and we find it from space.
Our ask: incubation, to run a pilot with a Gulf agency or planting programme. Thank you — I'm happy to take your questions."
DO: stop talking; stay on this slide during the Q&amp;A. If asked to see the product again: last slide (backup video) or Alt+Tab to the website.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only if a judge asks to see the product again, or the live demo failed.
DO: click the video to play it (sound on, 2 min). Press Esc to leave the slideshow afterwards.
SAY: "Here is the two-minute walkthrough of the product."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4DA3FF"/>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F3F7FA"/>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6F89A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4DA3FF"/>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F3F7FA"/>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6F89A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4DA3FF"/>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F3F7FA"/>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6F89A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5.xml"/><Relationship Id="rId7" Type="http://schemas.openxmlformats.org/officeDocument/2006/relationships/image" Target="../media/image6.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4.png"/><Relationship Id="rId7"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3.xml"/><Relationship Id="rId7" Type="http://schemas.openxmlformats.org/officeDocument/2006/relationships/image" Target="../media/image12.png"/><Relationship Id="rId12" Type="http://schemas.openxmlformats.org/officeDocument/2006/relationships/image" Target="../media/image17.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5.png"/><Relationship Id="rId11" Type="http://schemas.openxmlformats.org/officeDocument/2006/relationships/image" Target="../media/image16.png"/><Relationship Id="rId5" Type="http://schemas.openxmlformats.org/officeDocument/2006/relationships/image" Target="../media/image4.png"/><Relationship Id="rId10" Type="http://schemas.openxmlformats.org/officeDocument/2006/relationships/image" Target="../media/image15.png"/><Relationship Id="rId4" Type="http://schemas.openxmlformats.org/officeDocument/2006/relationships/notesSlide" Target="../notesSlides/notesSlide3.xml"/><Relationship Id="rId9" Type="http://schemas.openxmlformats.org/officeDocument/2006/relationships/image" Target="../media/image14.png"/></Relationships>
</file>

<file path=ppt/slides/_rels/slide4.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4.png"/><Relationship Id="rId7" Type="http://schemas.openxmlformats.org/officeDocument/2006/relationships/image" Target="../media/image20.png"/><Relationship Id="rId12"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19.png"/><Relationship Id="rId11" Type="http://schemas.openxmlformats.org/officeDocument/2006/relationships/image" Target="../media/image22.png"/><Relationship Id="rId5" Type="http://schemas.openxmlformats.org/officeDocument/2006/relationships/image" Target="../media/image18.png"/><Relationship Id="rId10" Type="http://schemas.openxmlformats.org/officeDocument/2006/relationships/image" Target="../media/image14.png"/><Relationship Id="rId4" Type="http://schemas.openxmlformats.org/officeDocument/2006/relationships/image" Target="../media/image5.png"/><Relationship Id="rId9"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4.png"/><Relationship Id="rId7" Type="http://schemas.openxmlformats.org/officeDocument/2006/relationships/image" Target="../media/image24.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21.png"/><Relationship Id="rId5" Type="http://schemas.openxmlformats.org/officeDocument/2006/relationships/image" Target="../media/image23.png"/><Relationship Id="rId10" Type="http://schemas.openxmlformats.org/officeDocument/2006/relationships/image" Target="../media/image22.png"/><Relationship Id="rId4" Type="http://schemas.openxmlformats.org/officeDocument/2006/relationships/image" Target="../media/image5.png"/><Relationship Id="rId9"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chart" Target="../charts/char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28.png"/><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4.png"/><Relationship Id="rId7" Type="http://schemas.openxmlformats.org/officeDocument/2006/relationships/image" Target="../media/image3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4.xml"/><Relationship Id="rId5" Type="http://schemas.openxmlformats.org/officeDocument/2006/relationships/chart" Target="../charts/char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4.png"/><Relationship Id="rId7" Type="http://schemas.openxmlformats.org/officeDocument/2006/relationships/image" Target="../media/image18.png"/><Relationship Id="rId12" Type="http://schemas.openxmlformats.org/officeDocument/2006/relationships/image" Target="../media/image38.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34.png"/><Relationship Id="rId11" Type="http://schemas.openxmlformats.org/officeDocument/2006/relationships/image" Target="../media/image37.png"/><Relationship Id="rId5" Type="http://schemas.openxmlformats.org/officeDocument/2006/relationships/image" Target="../media/image33.png"/><Relationship Id="rId10" Type="http://schemas.openxmlformats.org/officeDocument/2006/relationships/image" Target="../media/image36.png"/><Relationship Id="rId4" Type="http://schemas.openxmlformats.org/officeDocument/2006/relationships/image" Target="../media/image5.png"/><Relationship Id="rId9" Type="http://schemas.openxmlformats.org/officeDocument/2006/relationships/image" Target="../media/image35.png"/></Relationships>
</file>

<file path=ppt/slides/_rels/slide14.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4.png"/><Relationship Id="rId7"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40.png"/><Relationship Id="rId11" Type="http://schemas.openxmlformats.org/officeDocument/2006/relationships/image" Target="../media/image42.png"/><Relationship Id="rId5" Type="http://schemas.openxmlformats.org/officeDocument/2006/relationships/image" Target="../media/image39.png"/><Relationship Id="rId10" Type="http://schemas.openxmlformats.org/officeDocument/2006/relationships/image" Target="../media/image25.png"/><Relationship Id="rId4" Type="http://schemas.openxmlformats.org/officeDocument/2006/relationships/image" Target="../media/image5.png"/><Relationship Id="rId9"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5.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43.png"/><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70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60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4DA3FF"/>
            </a:solidFill>
            <a:prstDash val="solid"/>
          </a:ln>
          <a:effectLst>
            <a:outerShdw blurRad="152400" dist="50800" dir="5400000" algn="bl" rotWithShape="0">
              <a:srgbClr val="000000">
                <a:alpha val="35000"/>
              </a:srgbClr>
            </a:outerShdw>
          </a:effectLst>
        </p:spPr>
      </p:sp>
      <p:pic>
        <p:nvPicPr>
          <p:cNvPr id="4" name="video_cover">
            <a:hlinkClick r:id="" action="ppaction://media"/>
            <a:extLst>
              <a:ext uri="{FF2B5EF4-FFF2-40B4-BE49-F238E27FC236}">
                <a16:creationId xmlns:a16="http://schemas.microsoft.com/office/drawing/2014/main" id="{779D243B-C177-D0F4-9EE1-DA2A192A0E6B}"/>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4DA3FF"/>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3F7FA"/>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Gulf mangroves —</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4DA3FF">
              <a:alpha val="15000"/>
            </a:srgbClr>
          </a:solidFill>
          <a:ln w="9525">
            <a:solidFill>
              <a:srgbClr val="4DA3FF"/>
            </a:solidFill>
            <a:prstDash val="solid"/>
          </a:ln>
        </p:spPr>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dirty="0">
                <a:solidFill>
                  <a:srgbClr val="A8D1FF"/>
                </a:solidFill>
                <a:latin typeface="Segoe UI Semibold" pitchFamily="34" charset="0"/>
                <a:ea typeface="Segoe UI Semibold" pitchFamily="34" charset="-122"/>
                <a:cs typeface="Segoe UI Semibold" pitchFamily="34" charset="-120"/>
              </a:rPr>
              <a:t>Team 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38BDF8">
              <a:alpha val="15000"/>
            </a:srgbClr>
          </a:solidFill>
          <a:ln w="9525">
            <a:solidFill>
              <a:srgbClr val="38BDF8"/>
            </a:solidFill>
            <a:prstDash val="solid"/>
          </a:ln>
        </p:spPr>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0D2240">
              <a:alpha val="70000"/>
            </a:srgbClr>
          </a:solidFill>
          <a:ln w="9525">
            <a:solidFill>
              <a:srgbClr val="2A4F80"/>
            </a:solidFill>
            <a:prstDash val="solid"/>
          </a:ln>
          <a:effectLst>
            <a:outerShdw blurRad="152400" dist="50800" dir="5400000" algn="bl" rotWithShape="0">
              <a:srgbClr val="000000">
                <a:alpha val="35000"/>
              </a:srgbClr>
            </a:outerShdw>
          </a:effectLst>
        </p:spPr>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2C14E"/>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0D2240">
              <a:alpha val="70000"/>
            </a:srgbClr>
          </a:solidFill>
          <a:ln w="9525">
            <a:solidFill>
              <a:srgbClr val="2A4F80"/>
            </a:solidFill>
            <a:prstDash val="solid"/>
          </a:ln>
          <a:effectLst>
            <a:outerShdw blurRad="152400" dist="50800" dir="5400000" algn="bl" rotWithShape="0">
              <a:srgbClr val="000000">
                <a:alpha val="35000"/>
              </a:srgbClr>
            </a:outerShdw>
          </a:effectLst>
        </p:spPr>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F6B81"/>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0D2240">
              <a:alpha val="70000"/>
            </a:srgbClr>
          </a:solidFill>
          <a:ln w="9525">
            <a:solidFill>
              <a:srgbClr val="2A4F80"/>
            </a:solidFill>
            <a:prstDash val="solid"/>
          </a:ln>
          <a:effectLst>
            <a:outerShdw blurRad="152400" dist="50800" dir="5400000" algn="bl" rotWithShape="0">
              <a:srgbClr val="000000">
                <a:alpha val="35000"/>
              </a:srgbClr>
            </a:outerShdw>
          </a:effectLst>
        </p:spPr>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2C14E"/>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0D2240">
              <a:alpha val="70000"/>
            </a:srgbClr>
          </a:solidFill>
          <a:ln w="9525">
            <a:solidFill>
              <a:srgbClr val="2A4F80"/>
            </a:solidFill>
            <a:prstDash val="solid"/>
          </a:ln>
          <a:effectLst>
            <a:outerShdw blurRad="152400" dist="50800" dir="5400000" algn="bl" rotWithShape="0">
              <a:srgbClr val="000000">
                <a:alpha val="35000"/>
              </a:srgbClr>
            </a:outerShdw>
          </a:effectLst>
        </p:spPr>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2C14E"/>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8" restart="whenNotActive" fill="hold" evtFilter="cancelBubble" nodeType="interactiveSeq">
                <p:stCondLst>
                  <p:cond evt="onClick" delay="0">
                    <p:tgtEl>
                      <p:spTgt spid="4"/>
                    </p:tgtEl>
                  </p:cond>
                </p:stCondLst>
                <p:endSync evt="end" delay="0">
                  <p:rtn val="all"/>
                </p:endSync>
                <p:childTnLst>
                  <p:par>
                    <p:cTn id="89" fill="hold">
                      <p:stCondLst>
                        <p:cond delay="0"/>
                      </p:stCondLst>
                      <p:childTnLst>
                        <p:par>
                          <p:cTn id="90" fill="hold">
                            <p:stCondLst>
                              <p:cond delay="0"/>
                            </p:stCondLst>
                            <p:childTnLst>
                              <p:par>
                                <p:cTn id="91" presetID="2" presetClass="mediacall" presetSubtype="0" fill="hold" nodeType="clickEffect">
                                  <p:stCondLst>
                                    <p:cond delay="0"/>
                                  </p:stCondLst>
                                  <p:childTnLst>
                                    <p:cmd type="call" cmd="togglePause">
                                      <p:cBhvr>
                                        <p:cTn id="92" dur="1" fill="hold"/>
                                        <p:tgtEl>
                                          <p:spTgt spid="4"/>
                                        </p:tgtEl>
                                      </p:cBhvr>
                                    </p:cmd>
                                  </p:childTnLst>
                                </p:cTn>
                              </p:par>
                            </p:childTnLst>
                          </p:cTn>
                        </p:par>
                      </p:childTnLst>
                    </p:cTn>
                  </p:par>
                </p:childTnLst>
              </p:cTn>
              <p:nextCondLst>
                <p:cond evt="onClick" delay="0">
                  <p:tgtEl>
                    <p:spTgt spid="4"/>
                  </p:tgtEl>
                </p:cond>
              </p:nextCondLst>
            </p:seq>
            <p:video>
              <p:cMediaNode vol="80000" mute="1">
                <p:cTn id="93"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987552"/>
          </a:xfrm>
          <a:prstGeom prst="roundRect">
            <a:avLst>
              <a:gd name="adj" fmla="val 12963"/>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8" name="a1float_s0n"/>
          <p:cNvSpPr txBox="1"/>
          <p:nvPr/>
        </p:nvSpPr>
        <p:spPr>
          <a:xfrm>
            <a:off x="777240" y="187452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F2C14E"/>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87452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258568"/>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807208"/>
            <a:ext cx="5394960" cy="987552"/>
          </a:xfrm>
          <a:prstGeom prst="roundRect">
            <a:avLst>
              <a:gd name="adj" fmla="val 12963"/>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2" name="a2float_s1n"/>
          <p:cNvSpPr txBox="1"/>
          <p:nvPr/>
        </p:nvSpPr>
        <p:spPr>
          <a:xfrm>
            <a:off x="777240" y="2990088"/>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F2C14E"/>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990088"/>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3374136"/>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922776"/>
            <a:ext cx="5394960" cy="987552"/>
          </a:xfrm>
          <a:prstGeom prst="roundRect">
            <a:avLst>
              <a:gd name="adj" fmla="val 12963"/>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6" name="a3float_s2n"/>
          <p:cNvSpPr txBox="1"/>
          <p:nvPr/>
        </p:nvSpPr>
        <p:spPr>
          <a:xfrm>
            <a:off x="777240" y="4105656"/>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F2C14E"/>
                </a:solidFill>
                <a:latin typeface="Segoe UI Light" pitchFamily="34" charset="0"/>
                <a:ea typeface="Segoe UI Light" pitchFamily="34" charset="-122"/>
                <a:cs typeface="Segoe UI Light" pitchFamily="34" charset="-120"/>
              </a:rPr>
              <a:t>Feb 2026</a:t>
            </a:r>
            <a:endParaRPr lang="en-US" sz="3200" dirty="0"/>
          </a:p>
        </p:txBody>
      </p:sp>
      <p:sp>
        <p:nvSpPr>
          <p:cNvPr id="17" name="a3float_s2t"/>
          <p:cNvSpPr txBox="1"/>
          <p:nvPr/>
        </p:nvSpPr>
        <p:spPr>
          <a:xfrm>
            <a:off x="2743200" y="4105656"/>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18" name="a3float_s2c"/>
          <p:cNvSpPr txBox="1"/>
          <p:nvPr/>
        </p:nvSpPr>
        <p:spPr>
          <a:xfrm>
            <a:off x="2743200" y="4489704"/>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EAD + IUCN Mangrove Specialist Group</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10305C">
              <a:alpha val="95000"/>
            </a:srgbClr>
          </a:solidFill>
          <a:ln w="9525">
            <a:solidFill>
              <a:srgbClr val="2A4F80"/>
            </a:solidFill>
            <a:prstDash val="solid"/>
          </a:ln>
          <a:effectLst>
            <a:outerShdw blurRad="152400" dist="50800" dir="5400000" algn="bl" rotWithShape="0">
              <a:srgbClr val="000000">
                <a:alpha val="35000"/>
              </a:srgbClr>
            </a:outerShdw>
          </a:effectLst>
        </p:spPr>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FF6B81"/>
                </a:solidFill>
                <a:latin typeface="Segoe UI Semibold" pitchFamily="34" charset="0"/>
                <a:ea typeface="Segoe UI Semibold" pitchFamily="34" charset="-122"/>
                <a:cs typeface="Segoe UI Semibold" pitchFamily="34" charset="-120"/>
              </a:rPr>
              <a:t>TODAY  </a:t>
            </a:r>
            <a:r>
              <a:rPr lang="en-US" sz="1300" dirty="0">
                <a:solidFill>
                  <a:srgbClr val="F3F7FA"/>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A8D1FF"/>
                </a:solidFill>
                <a:latin typeface="Segoe UI Semibold" pitchFamily="34" charset="0"/>
                <a:ea typeface="Segoe UI Semibold" pitchFamily="34" charset="-122"/>
                <a:cs typeface="Segoe UI Semibold" pitchFamily="34" charset="-120"/>
              </a:rPr>
              <a:t>WE SOLVE  </a:t>
            </a:r>
            <a:r>
              <a:rPr lang="en-US" sz="1300" dirty="0">
                <a:solidFill>
                  <a:srgbClr val="F3F7FA"/>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FF6B81"/>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1F4E79">
              <a:alpha val="95000"/>
            </a:srgbClr>
          </a:solidFill>
          <a:ln/>
        </p:spPr>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C2334D">
              <a:alpha val="95000"/>
            </a:srgbClr>
          </a:solidFill>
          <a:ln/>
        </p:spPr>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1F4E79">
              <a:alpha val="95000"/>
            </a:srgbClr>
          </a:solidFill>
          <a:ln/>
        </p:spPr>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1F4E79">
              <a:alpha val="95000"/>
            </a:srgbClr>
          </a:solidFill>
          <a:ln/>
        </p:spPr>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FF6B81"/>
            </a:solidFill>
            <a:prstDash val="solid"/>
          </a:ln>
        </p:spPr>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700"/>
                                        <p:tgtEl>
                                          <p:spTgt spid="16"/>
                                        </p:tgtEl>
                                      </p:cBhvr>
                                    </p:animEffect>
                                    <p:anim calcmode="lin" valueType="num">
                                      <p:cBhvr additive="base">
                                        <p:cTn id="69" dur="700" fill="hold"/>
                                        <p:tgtEl>
                                          <p:spTgt spid="16"/>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700"/>
                                        <p:tgtEl>
                                          <p:spTgt spid="17"/>
                                        </p:tgtEl>
                                      </p:cBhvr>
                                    </p:animEffect>
                                    <p:anim calcmode="lin" valueType="num">
                                      <p:cBhvr additive="base">
                                        <p:cTn id="73" dur="700" fill="hold"/>
                                        <p:tgtEl>
                                          <p:spTgt spid="17"/>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18"/>
                                        </p:tgtEl>
                                        <p:attrNameLst>
                                          <p:attrName>style.visibility</p:attrName>
                                        </p:attrNameLst>
                                      </p:cBhvr>
                                      <p:to>
                                        <p:strVal val="visible"/>
                                      </p:to>
                                    </p:set>
                                    <p:animEffect transition="in" filter="fade">
                                      <p:cBhvr>
                                        <p:cTn id="76" dur="700"/>
                                        <p:tgtEl>
                                          <p:spTgt spid="18"/>
                                        </p:tgtEl>
                                      </p:cBhvr>
                                    </p:animEffect>
                                    <p:anim calcmode="lin" valueType="num">
                                      <p:cBhvr additive="base">
                                        <p:cTn id="77" dur="700" fill="hold"/>
                                        <p:tgtEl>
                                          <p:spTgt spid="18"/>
                                        </p:tgtEl>
                                        <p:attrNameLst>
                                          <p:attrName>ppt_y</p:attrName>
                                        </p:attrNameLst>
                                      </p:cBhvr>
                                      <p:tavLst>
                                        <p:tav tm="0">
                                          <p:val>
                                            <p:strVal val="#ppt_y+0.03"/>
                                          </p:val>
                                        </p:tav>
                                        <p:tav tm="100000">
                                          <p:val>
                                            <p:strVal val="#ppt_y"/>
                                          </p:val>
                                        </p:tav>
                                      </p:tavLst>
                                    </p:anim>
                                  </p:childTnLst>
                                </p:cTn>
                              </p:par>
                              <p:par>
                                <p:cTn id="78" presetID="53" presetClass="entr" presetSubtype="16" decel="100000" fill="hold" grpId="0" nodeType="withEffect">
                                  <p:stCondLst>
                                    <p:cond delay="91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700"/>
                                        <p:tgtEl>
                                          <p:spTgt spid="25"/>
                                        </p:tgtEl>
                                      </p:cBhvr>
                                    </p:animEffect>
                                    <p:anim calcmode="lin" valueType="num">
                                      <p:cBhvr additive="base">
                                        <p:cTn id="81" dur="800" fill="hold"/>
                                        <p:tgtEl>
                                          <p:spTgt spid="25"/>
                                        </p:tgtEl>
                                        <p:attrNameLst>
                                          <p:attrName>ppt_w</p:attrName>
                                        </p:attrNameLst>
                                      </p:cBhvr>
                                      <p:tavLst>
                                        <p:tav tm="0">
                                          <p:val>
                                            <p:strVal val="#ppt_w*0.85"/>
                                          </p:val>
                                        </p:tav>
                                        <p:tav tm="100000">
                                          <p:val>
                                            <p:strVal val="#ppt_w"/>
                                          </p:val>
                                        </p:tav>
                                      </p:tavLst>
                                    </p:anim>
                                    <p:anim calcmode="lin" valueType="num">
                                      <p:cBhvr additive="base">
                                        <p:cTn id="82" dur="800" fill="hold"/>
                                        <p:tgtEl>
                                          <p:spTgt spid="25"/>
                                        </p:tgtEl>
                                        <p:attrNameLst>
                                          <p:attrName>ppt_h</p:attrName>
                                        </p:attrNameLst>
                                      </p:cBhvr>
                                      <p:tavLst>
                                        <p:tav tm="0">
                                          <p:val>
                                            <p:strVal val="#ppt_h*0.85"/>
                                          </p:val>
                                        </p:tav>
                                        <p:tav tm="100000">
                                          <p:val>
                                            <p:strVal val="#ppt_h"/>
                                          </p:val>
                                        </p:tav>
                                      </p:tavLst>
                                    </p:anim>
                                  </p:childTnLst>
                                </p:cTn>
                              </p:par>
                              <p:par>
                                <p:cTn id="83" presetID="53" presetClass="entr" presetSubtype="16" decel="100000" fill="hold" grpId="0" nodeType="withEffect">
                                  <p:stCondLst>
                                    <p:cond delay="91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700"/>
                                        <p:tgtEl>
                                          <p:spTgt spid="26"/>
                                        </p:tgtEl>
                                      </p:cBhvr>
                                    </p:animEffect>
                                    <p:anim calcmode="lin" valueType="num">
                                      <p:cBhvr additive="base">
                                        <p:cTn id="86" dur="800" fill="hold"/>
                                        <p:tgtEl>
                                          <p:spTgt spid="26"/>
                                        </p:tgtEl>
                                        <p:attrNameLst>
                                          <p:attrName>ppt_w</p:attrName>
                                        </p:attrNameLst>
                                      </p:cBhvr>
                                      <p:tavLst>
                                        <p:tav tm="0">
                                          <p:val>
                                            <p:strVal val="#ppt_w*0.85"/>
                                          </p:val>
                                        </p:tav>
                                        <p:tav tm="100000">
                                          <p:val>
                                            <p:strVal val="#ppt_w"/>
                                          </p:val>
                                        </p:tav>
                                      </p:tavLst>
                                    </p:anim>
                                    <p:anim calcmode="lin" valueType="num">
                                      <p:cBhvr additive="base">
                                        <p:cTn id="87" dur="800" fill="hold"/>
                                        <p:tgtEl>
                                          <p:spTgt spid="26"/>
                                        </p:tgtEl>
                                        <p:attrNameLst>
                                          <p:attrName>ppt_h</p:attrName>
                                        </p:attrNameLst>
                                      </p:cBhvr>
                                      <p:tavLst>
                                        <p:tav tm="0">
                                          <p:val>
                                            <p:strVal val="#ppt_h*0.85"/>
                                          </p:val>
                                        </p:tav>
                                        <p:tav tm="100000">
                                          <p:val>
                                            <p:strVal val="#ppt_h"/>
                                          </p:val>
                                        </p:tav>
                                      </p:tavLst>
                                    </p:anim>
                                  </p:childTnLst>
                                </p:cTn>
                              </p:par>
                              <p:par>
                                <p:cTn id="88" presetID="53" presetClass="entr" presetSubtype="16" decel="100000" fill="hold" grpId="0" nodeType="withEffect">
                                  <p:stCondLst>
                                    <p:cond delay="91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700"/>
                                        <p:tgtEl>
                                          <p:spTgt spid="27"/>
                                        </p:tgtEl>
                                      </p:cBhvr>
                                    </p:animEffect>
                                    <p:anim calcmode="lin" valueType="num">
                                      <p:cBhvr additive="base">
                                        <p:cTn id="91" dur="800" fill="hold"/>
                                        <p:tgtEl>
                                          <p:spTgt spid="27"/>
                                        </p:tgtEl>
                                        <p:attrNameLst>
                                          <p:attrName>ppt_w</p:attrName>
                                        </p:attrNameLst>
                                      </p:cBhvr>
                                      <p:tavLst>
                                        <p:tav tm="0">
                                          <p:val>
                                            <p:strVal val="#ppt_w*0.85"/>
                                          </p:val>
                                        </p:tav>
                                        <p:tav tm="100000">
                                          <p:val>
                                            <p:strVal val="#ppt_w"/>
                                          </p:val>
                                        </p:tav>
                                      </p:tavLst>
                                    </p:anim>
                                    <p:anim calcmode="lin" valueType="num">
                                      <p:cBhvr additive="base">
                                        <p:cTn id="92" dur="800" fill="hold"/>
                                        <p:tgtEl>
                                          <p:spTgt spid="27"/>
                                        </p:tgtEl>
                                        <p:attrNameLst>
                                          <p:attrName>ppt_h</p:attrName>
                                        </p:attrNameLst>
                                      </p:cBhvr>
                                      <p:tavLst>
                                        <p:tav tm="0">
                                          <p:val>
                                            <p:strVal val="#ppt_h*0.85"/>
                                          </p:val>
                                        </p:tav>
                                        <p:tav tm="100000">
                                          <p:val>
                                            <p:strVal val="#ppt_h"/>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19"/>
                                        </p:tgtEl>
                                        <p:attrNameLst>
                                          <p:attrName>style.visibility</p:attrName>
                                        </p:attrNameLst>
                                      </p:cBhvr>
                                      <p:to>
                                        <p:strVal val="visible"/>
                                      </p:to>
                                    </p:set>
                                    <p:animEffect transition="in" filter="fade">
                                      <p:cBhvr>
                                        <p:cTn id="95" dur="700"/>
                                        <p:tgtEl>
                                          <p:spTgt spid="19"/>
                                        </p:tgtEl>
                                      </p:cBhvr>
                                    </p:animEffect>
                                    <p:anim calcmode="lin" valueType="num">
                                      <p:cBhvr additive="base">
                                        <p:cTn id="96" dur="700" fill="hold"/>
                                        <p:tgtEl>
                                          <p:spTgt spid="19"/>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0"/>
                                        </p:tgtEl>
                                        <p:attrNameLst>
                                          <p:attrName>style.visibility</p:attrName>
                                        </p:attrNameLst>
                                      </p:cBhvr>
                                      <p:to>
                                        <p:strVal val="visible"/>
                                      </p:to>
                                    </p:set>
                                    <p:animEffect transition="in" filter="fade">
                                      <p:cBhvr>
                                        <p:cTn id="99" dur="700"/>
                                        <p:tgtEl>
                                          <p:spTgt spid="20"/>
                                        </p:tgtEl>
                                      </p:cBhvr>
                                    </p:animEffect>
                                    <p:anim calcmode="lin" valueType="num">
                                      <p:cBhvr additive="base">
                                        <p:cTn id="100" dur="700" fill="hold"/>
                                        <p:tgtEl>
                                          <p:spTgt spid="20"/>
                                        </p:tgtEl>
                                        <p:attrNameLst>
                                          <p:attrName>ppt_y</p:attrName>
                                        </p:attrNameLst>
                                      </p:cBhvr>
                                      <p:tavLst>
                                        <p:tav tm="0">
                                          <p:val>
                                            <p:strVal val="#ppt_y+0.03"/>
                                          </p:val>
                                        </p:tav>
                                        <p:tav tm="100000">
                                          <p:val>
                                            <p:strVal val="#ppt_y"/>
                                          </p:val>
                                        </p:tav>
                                      </p:tavLst>
                                    </p:anim>
                                  </p:childTnLst>
                                </p:cTn>
                              </p:par>
                              <p:par>
                                <p:cTn id="101" presetID="53" presetClass="entr" presetSubtype="16" decel="100000" fill="hold" grpId="0" nodeType="withEffect">
                                  <p:stCondLst>
                                    <p:cond delay="1130"/>
                                  </p:stCondLst>
                                  <p:childTnLst>
                                    <p:set>
                                      <p:cBhvr>
                                        <p:cTn id="102" dur="1" fill="hold">
                                          <p:stCondLst>
                                            <p:cond delay="0"/>
                                          </p:stCondLst>
                                        </p:cTn>
                                        <p:tgtEl>
                                          <p:spTgt spid="28"/>
                                        </p:tgtEl>
                                        <p:attrNameLst>
                                          <p:attrName>style.visibility</p:attrName>
                                        </p:attrNameLst>
                                      </p:cBhvr>
                                      <p:to>
                                        <p:strVal val="visible"/>
                                      </p:to>
                                    </p:set>
                                    <p:animEffect transition="in" filter="fade">
                                      <p:cBhvr>
                                        <p:cTn id="103" dur="700"/>
                                        <p:tgtEl>
                                          <p:spTgt spid="28"/>
                                        </p:tgtEl>
                                      </p:cBhvr>
                                    </p:animEffect>
                                    <p:anim calcmode="lin" valueType="num">
                                      <p:cBhvr additive="base">
                                        <p:cTn id="104" dur="800" fill="hold"/>
                                        <p:tgtEl>
                                          <p:spTgt spid="28"/>
                                        </p:tgtEl>
                                        <p:attrNameLst>
                                          <p:attrName>ppt_w</p:attrName>
                                        </p:attrNameLst>
                                      </p:cBhvr>
                                      <p:tavLst>
                                        <p:tav tm="0">
                                          <p:val>
                                            <p:strVal val="#ppt_w*0.85"/>
                                          </p:val>
                                        </p:tav>
                                        <p:tav tm="100000">
                                          <p:val>
                                            <p:strVal val="#ppt_w"/>
                                          </p:val>
                                        </p:tav>
                                      </p:tavLst>
                                    </p:anim>
                                    <p:anim calcmode="lin" valueType="num">
                                      <p:cBhvr additive="base">
                                        <p:cTn id="105" dur="800" fill="hold"/>
                                        <p:tgtEl>
                                          <p:spTgt spid="28"/>
                                        </p:tgtEl>
                                        <p:attrNameLst>
                                          <p:attrName>ppt_h</p:attrName>
                                        </p:attrNameLst>
                                      </p:cBhvr>
                                      <p:tavLst>
                                        <p:tav tm="0">
                                          <p:val>
                                            <p:strVal val="#ppt_h*0.85"/>
                                          </p:val>
                                        </p:tav>
                                        <p:tav tm="100000">
                                          <p:val>
                                            <p:strVal val="#ppt_h"/>
                                          </p:val>
                                        </p:tav>
                                      </p:tavLst>
                                    </p:anim>
                                  </p:childTnLst>
                                </p:cTn>
                              </p:par>
                              <p:par>
                                <p:cTn id="106" presetID="53" presetClass="entr" presetSubtype="16" decel="100000" fill="hold" grpId="0" nodeType="withEffect">
                                  <p:stCondLst>
                                    <p:cond delay="1130"/>
                                  </p:stCondLst>
                                  <p:childTnLst>
                                    <p:set>
                                      <p:cBhvr>
                                        <p:cTn id="107" dur="1" fill="hold">
                                          <p:stCondLst>
                                            <p:cond delay="0"/>
                                          </p:stCondLst>
                                        </p:cTn>
                                        <p:tgtEl>
                                          <p:spTgt spid="29"/>
                                        </p:tgtEl>
                                        <p:attrNameLst>
                                          <p:attrName>style.visibility</p:attrName>
                                        </p:attrNameLst>
                                      </p:cBhvr>
                                      <p:to>
                                        <p:strVal val="visible"/>
                                      </p:to>
                                    </p:set>
                                    <p:animEffect transition="in" filter="fade">
                                      <p:cBhvr>
                                        <p:cTn id="108" dur="700"/>
                                        <p:tgtEl>
                                          <p:spTgt spid="29"/>
                                        </p:tgtEl>
                                      </p:cBhvr>
                                    </p:animEffect>
                                    <p:anim calcmode="lin" valueType="num">
                                      <p:cBhvr additive="base">
                                        <p:cTn id="109" dur="800" fill="hold"/>
                                        <p:tgtEl>
                                          <p:spTgt spid="29"/>
                                        </p:tgtEl>
                                        <p:attrNameLst>
                                          <p:attrName>ppt_w</p:attrName>
                                        </p:attrNameLst>
                                      </p:cBhvr>
                                      <p:tavLst>
                                        <p:tav tm="0">
                                          <p:val>
                                            <p:strVal val="#ppt_w*0.85"/>
                                          </p:val>
                                        </p:tav>
                                        <p:tav tm="100000">
                                          <p:val>
                                            <p:strVal val="#ppt_w"/>
                                          </p:val>
                                        </p:tav>
                                      </p:tavLst>
                                    </p:anim>
                                    <p:anim calcmode="lin" valueType="num">
                                      <p:cBhvr additive="base">
                                        <p:cTn id="110" dur="800" fill="hold"/>
                                        <p:tgtEl>
                                          <p:spTgt spid="29"/>
                                        </p:tgtEl>
                                        <p:attrNameLst>
                                          <p:attrName>ppt_h</p:attrName>
                                        </p:attrNameLst>
                                      </p:cBhvr>
                                      <p:tavLst>
                                        <p:tav tm="0">
                                          <p:val>
                                            <p:strVal val="#ppt_h*0.85"/>
                                          </p:val>
                                        </p:tav>
                                        <p:tav tm="100000">
                                          <p:val>
                                            <p:strVal val="#ppt_h"/>
                                          </p:val>
                                        </p:tav>
                                      </p:tavLst>
                                    </p:anim>
                                  </p:childTnLst>
                                </p:cTn>
                              </p:par>
                              <p:par>
                                <p:cTn id="111" presetID="53" presetClass="entr" presetSubtype="16" decel="100000" fill="hold" grpId="0" nodeType="withEffect">
                                  <p:stCondLst>
                                    <p:cond delay="113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800" fill="hold"/>
                                        <p:tgtEl>
                                          <p:spTgt spid="30"/>
                                        </p:tgtEl>
                                        <p:attrNameLst>
                                          <p:attrName>ppt_w</p:attrName>
                                        </p:attrNameLst>
                                      </p:cBhvr>
                                      <p:tavLst>
                                        <p:tav tm="0">
                                          <p:val>
                                            <p:strVal val="#ppt_w*0.85"/>
                                          </p:val>
                                        </p:tav>
                                        <p:tav tm="100000">
                                          <p:val>
                                            <p:strVal val="#ppt_w"/>
                                          </p:val>
                                        </p:tav>
                                      </p:tavLst>
                                    </p:anim>
                                    <p:anim calcmode="lin" valueType="num">
                                      <p:cBhvr additive="base">
                                        <p:cTn id="115" dur="800" fill="hold"/>
                                        <p:tgtEl>
                                          <p:spTgt spid="30"/>
                                        </p:tgtEl>
                                        <p:attrNameLst>
                                          <p:attrName>ppt_h</p:attrName>
                                        </p:attrNameLst>
                                      </p:cBhvr>
                                      <p:tavLst>
                                        <p:tav tm="0">
                                          <p:val>
                                            <p:strVal val="#ppt_h*0.85"/>
                                          </p:val>
                                        </p:tav>
                                        <p:tav tm="100000">
                                          <p:val>
                                            <p:strVal val="#ppt_h"/>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700"/>
                                        <p:tgtEl>
                                          <p:spTgt spid="31"/>
                                        </p:tgtEl>
                                      </p:cBhvr>
                                    </p:animEffect>
                                    <p:anim calcmode="lin" valueType="num">
                                      <p:cBhvr additive="base">
                                        <p:cTn id="119" dur="800" fill="hold"/>
                                        <p:tgtEl>
                                          <p:spTgt spid="31"/>
                                        </p:tgtEl>
                                        <p:attrNameLst>
                                          <p:attrName>ppt_w</p:attrName>
                                        </p:attrNameLst>
                                      </p:cBhvr>
                                      <p:tavLst>
                                        <p:tav tm="0">
                                          <p:val>
                                            <p:strVal val="#ppt_w*0.85"/>
                                          </p:val>
                                        </p:tav>
                                        <p:tav tm="100000">
                                          <p:val>
                                            <p:strVal val="#ppt_w"/>
                                          </p:val>
                                        </p:tav>
                                      </p:tavLst>
                                    </p:anim>
                                    <p:anim calcmode="lin" valueType="num">
                                      <p:cBhvr additive="base">
                                        <p:cTn id="120" dur="800" fill="hold"/>
                                        <p:tgtEl>
                                          <p:spTgt spid="31"/>
                                        </p:tgtEl>
                                        <p:attrNameLst>
                                          <p:attrName>ppt_h</p:attrName>
                                        </p:attrNameLst>
                                      </p:cBhvr>
                                      <p:tavLst>
                                        <p:tav tm="0">
                                          <p:val>
                                            <p:strVal val="#ppt_h*0.85"/>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2"/>
                                        </p:tgtEl>
                                        <p:attrNameLst>
                                          <p:attrName>style.visibility</p:attrName>
                                        </p:attrNameLst>
                                      </p:cBhvr>
                                      <p:to>
                                        <p:strVal val="visible"/>
                                      </p:to>
                                    </p:set>
                                    <p:animEffect transition="in" filter="fade">
                                      <p:cBhvr>
                                        <p:cTn id="123" dur="700"/>
                                        <p:tgtEl>
                                          <p:spTgt spid="32"/>
                                        </p:tgtEl>
                                      </p:cBhvr>
                                    </p:animEffect>
                                    <p:anim calcmode="lin" valueType="num">
                                      <p:cBhvr additive="base">
                                        <p:cTn id="124" dur="800" fill="hold"/>
                                        <p:tgtEl>
                                          <p:spTgt spid="32"/>
                                        </p:tgtEl>
                                        <p:attrNameLst>
                                          <p:attrName>ppt_w</p:attrName>
                                        </p:attrNameLst>
                                      </p:cBhvr>
                                      <p:tavLst>
                                        <p:tav tm="0">
                                          <p:val>
                                            <p:strVal val="#ppt_w*0.85"/>
                                          </p:val>
                                        </p:tav>
                                        <p:tav tm="100000">
                                          <p:val>
                                            <p:strVal val="#ppt_w"/>
                                          </p:val>
                                        </p:tav>
                                      </p:tavLst>
                                    </p:anim>
                                    <p:anim calcmode="lin" valueType="num">
                                      <p:cBhvr additive="base">
                                        <p:cTn id="125" dur="800" fill="hold"/>
                                        <p:tgtEl>
                                          <p:spTgt spid="32"/>
                                        </p:tgtEl>
                                        <p:attrNameLst>
                                          <p:attrName>ppt_h</p:attrName>
                                        </p:attrNameLst>
                                      </p:cBhvr>
                                      <p:tavLst>
                                        <p:tav tm="0">
                                          <p:val>
                                            <p:strVal val="#ppt_h*0.85"/>
                                          </p:val>
                                        </p:tav>
                                        <p:tav tm="100000">
                                          <p:val>
                                            <p:strVal val="#ppt_h"/>
                                          </p:val>
                                        </p:tav>
                                      </p:tavLst>
                                    </p:anim>
                                  </p:childTnLst>
                                </p:cTn>
                              </p:par>
                              <p:par>
                                <p:cTn id="126" presetID="53" presetClass="entr" presetSubtype="16" decel="100000" fill="hold" grpId="0" nodeType="withEffect">
                                  <p:stCondLst>
                                    <p:cond delay="1350"/>
                                  </p:stCondLst>
                                  <p:childTnLst>
                                    <p:set>
                                      <p:cBhvr>
                                        <p:cTn id="127" dur="1" fill="hold">
                                          <p:stCondLst>
                                            <p:cond delay="0"/>
                                          </p:stCondLst>
                                        </p:cTn>
                                        <p:tgtEl>
                                          <p:spTgt spid="33"/>
                                        </p:tgtEl>
                                        <p:attrNameLst>
                                          <p:attrName>style.visibility</p:attrName>
                                        </p:attrNameLst>
                                      </p:cBhvr>
                                      <p:to>
                                        <p:strVal val="visible"/>
                                      </p:to>
                                    </p:set>
                                    <p:animEffect transition="in" filter="fade">
                                      <p:cBhvr>
                                        <p:cTn id="128" dur="700"/>
                                        <p:tgtEl>
                                          <p:spTgt spid="33"/>
                                        </p:tgtEl>
                                      </p:cBhvr>
                                    </p:animEffect>
                                    <p:anim calcmode="lin" valueType="num">
                                      <p:cBhvr additive="base">
                                        <p:cTn id="129" dur="800" fill="hold"/>
                                        <p:tgtEl>
                                          <p:spTgt spid="33"/>
                                        </p:tgtEl>
                                        <p:attrNameLst>
                                          <p:attrName>ppt_w</p:attrName>
                                        </p:attrNameLst>
                                      </p:cBhvr>
                                      <p:tavLst>
                                        <p:tav tm="0">
                                          <p:val>
                                            <p:strVal val="#ppt_w*0.85"/>
                                          </p:val>
                                        </p:tav>
                                        <p:tav tm="100000">
                                          <p:val>
                                            <p:strVal val="#ppt_w"/>
                                          </p:val>
                                        </p:tav>
                                      </p:tavLst>
                                    </p:anim>
                                    <p:anim calcmode="lin" valueType="num">
                                      <p:cBhvr additive="base">
                                        <p:cTn id="130" dur="800" fill="hold"/>
                                        <p:tgtEl>
                                          <p:spTgt spid="33"/>
                                        </p:tgtEl>
                                        <p:attrNameLst>
                                          <p:attrName>ppt_h</p:attrName>
                                        </p:attrNameLst>
                                      </p:cBhvr>
                                      <p:tavLst>
                                        <p:tav tm="0">
                                          <p:val>
                                            <p:strVal val="#ppt_h*0.85"/>
                                          </p:val>
                                        </p:tav>
                                        <p:tav tm="100000">
                                          <p:val>
                                            <p:strVal val="#ppt_h"/>
                                          </p:val>
                                        </p:tav>
                                      </p:tavLst>
                                    </p:anim>
                                  </p:childTnLst>
                                </p:cTn>
                              </p:par>
                              <p:par>
                                <p:cTn id="131" presetID="10" presetClass="entr" presetSubtype="0" decel="100000" fill="hold" grpId="0" nodeType="withEffect">
                                  <p:stCondLst>
                                    <p:cond delay="157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600"/>
                                        <p:tgtEl>
                                          <p:spTgt spid="35"/>
                                        </p:tgtEl>
                                      </p:cBhvr>
                                    </p:animEffect>
                                  </p:childTnLst>
                                </p:cTn>
                              </p:par>
                              <p:par>
                                <p:cTn id="134" presetID="6" presetClass="emph" presetSubtype="0" repeatCount="indefinite" fill="hold" grpId="0" nodeType="withEffect">
                                  <p:stCondLst>
                                    <p:cond delay="1790"/>
                                  </p:stCondLst>
                                  <p:childTnLst>
                                    <p:animScale>
                                      <p:cBhvr>
                                        <p:cTn id="135" dur="1600" fill="hold"/>
                                        <p:tgtEl>
                                          <p:spTgt spid="34"/>
                                        </p:tgtEl>
                                      </p:cBhvr>
                                      <p:by x="160000" y="160000"/>
                                    </p:animScale>
                                    <p:anim calcmode="lin" valueType="num">
                                      <p:cBhvr>
                                        <p:cTn id="136"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70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60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0B1D2E"/>
          </a:solidFill>
          <a:ln w="12700">
            <a:solidFill>
              <a:srgbClr val="2A4F80"/>
            </a:solidFill>
            <a:prstDash val="solid"/>
          </a:ln>
          <a:effectLst>
            <a:outerShdw blurRad="152400" dist="50800" dir="5400000" algn="bl" rotWithShape="0">
              <a:srgbClr val="000000">
                <a:alpha val="35000"/>
              </a:srgbClr>
            </a:outerShdw>
          </a:effectLst>
        </p:spPr>
      </p:sp>
      <p:sp>
        <p:nvSpPr>
          <p:cNvPr id="8" name="a1zoom_dot0"/>
          <p:cNvSpPr/>
          <p:nvPr/>
        </p:nvSpPr>
        <p:spPr>
          <a:xfrm>
            <a:off x="694944" y="1792224"/>
            <a:ext cx="109728" cy="109728"/>
          </a:xfrm>
          <a:prstGeom prst="ellipse">
            <a:avLst/>
          </a:prstGeom>
          <a:solidFill>
            <a:srgbClr val="FF5F57"/>
          </a:solidFill>
          <a:ln/>
        </p:spPr>
      </p:sp>
      <p:sp>
        <p:nvSpPr>
          <p:cNvPr id="9" name="a1zoom_dot1"/>
          <p:cNvSpPr/>
          <p:nvPr/>
        </p:nvSpPr>
        <p:spPr>
          <a:xfrm>
            <a:off x="877824" y="1792224"/>
            <a:ext cx="109728" cy="109728"/>
          </a:xfrm>
          <a:prstGeom prst="ellipse">
            <a:avLst/>
          </a:prstGeom>
          <a:solidFill>
            <a:srgbClr val="FEBC2E"/>
          </a:solidFill>
          <a:ln/>
        </p:spPr>
      </p:sp>
      <p:sp>
        <p:nvSpPr>
          <p:cNvPr id="10" name="a1zoom_dot2"/>
          <p:cNvSpPr/>
          <p:nvPr/>
        </p:nvSpPr>
        <p:spPr>
          <a:xfrm>
            <a:off x="1060704" y="1792224"/>
            <a:ext cx="109728" cy="109728"/>
          </a:xfrm>
          <a:prstGeom prst="ellipse">
            <a:avLst/>
          </a:prstGeom>
          <a:solidFill>
            <a:srgbClr val="28C840"/>
          </a:solidFill>
          <a:ln/>
        </p:spPr>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A3B8CB"/>
                </a:solidFill>
                <a:latin typeface="Segoe UI" pitchFamily="34" charset="0"/>
                <a:ea typeface="Segoe UI" pitchFamily="34" charset="-122"/>
                <a:cs typeface="Segoe UI" pitchFamily="34" charset="-120"/>
              </a:rPr>
              <a:t>nahla-nabil.github.io/blue-carbon-guardian</a:t>
            </a:r>
            <a:endParaRPr lang="en-US" sz="1000" dirty="0"/>
          </a:p>
        </p:txBody>
      </p:sp>
      <p:pic>
        <p:nvPicPr>
          <p:cNvPr id="6" name="video_product">
            <a:hlinkClick r:id="" action="ppaction://media"/>
            <a:extLst>
              <a:ext uri="{FF2B5EF4-FFF2-40B4-BE49-F238E27FC236}">
                <a16:creationId xmlns:a16="http://schemas.microsoft.com/office/drawing/2014/main" id="{92E05DCF-56FE-D4FF-4C92-98DD4EC15B21}"/>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85216" y="2002537"/>
            <a:ext cx="6830568" cy="4269105"/>
          </a:xfrm>
          <a:prstGeom prst="rect">
            <a:avLst/>
          </a:prstGeom>
        </p:spPr>
      </p:pic>
      <p:sp>
        <p:nvSpPr>
          <p:cNvPr id="13" name="a2float_f0_c"/>
          <p:cNvSpPr/>
          <p:nvPr/>
        </p:nvSpPr>
        <p:spPr>
          <a:xfrm>
            <a:off x="7772400" y="1737360"/>
            <a:ext cx="512064" cy="512064"/>
          </a:xfrm>
          <a:prstGeom prst="ellipse">
            <a:avLst/>
          </a:prstGeom>
          <a:solidFill>
            <a:srgbClr val="4DA3FF">
              <a:alpha val="18000"/>
            </a:srgbClr>
          </a:solidFill>
          <a:ln w="12700">
            <a:solidFill>
              <a:srgbClr val="4DA3FF"/>
            </a:solidFill>
            <a:prstDash val="solid"/>
          </a:ln>
        </p:spPr>
      </p:sp>
      <p:pic>
        <p:nvPicPr>
          <p:cNvPr id="14" name="a2float_f0_i" descr="preencoded.png"/>
          <p:cNvPicPr>
            <a:picLocks noChangeAspect="1"/>
          </p:cNvPicPr>
          <p:nvPr/>
        </p:nvPicPr>
        <p:blipFill>
          <a:blip r:embed="rId8"/>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4DA3FF">
              <a:alpha val="18000"/>
            </a:srgbClr>
          </a:solidFill>
          <a:ln w="12700">
            <a:solidFill>
              <a:srgbClr val="4DA3FF"/>
            </a:solidFill>
            <a:prstDash val="solid"/>
          </a:ln>
        </p:spPr>
      </p:sp>
      <p:pic>
        <p:nvPicPr>
          <p:cNvPr id="18" name="a3float_f1_i" descr="preencoded.png"/>
          <p:cNvPicPr>
            <a:picLocks noChangeAspect="1"/>
          </p:cNvPicPr>
          <p:nvPr/>
        </p:nvPicPr>
        <p:blipFill>
          <a:blip r:embed="rId9"/>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4DA3FF">
              <a:alpha val="18000"/>
            </a:srgbClr>
          </a:solidFill>
          <a:ln w="12700">
            <a:solidFill>
              <a:srgbClr val="4DA3FF"/>
            </a:solidFill>
            <a:prstDash val="solid"/>
          </a:ln>
        </p:spPr>
      </p:sp>
      <p:pic>
        <p:nvPicPr>
          <p:cNvPr id="22" name="a4float_f2_i" descr="preencoded.png"/>
          <p:cNvPicPr>
            <a:picLocks noChangeAspect="1"/>
          </p:cNvPicPr>
          <p:nvPr/>
        </p:nvPicPr>
        <p:blipFill>
          <a:blip r:embed="rId10"/>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4DA3FF">
              <a:alpha val="18000"/>
            </a:srgbClr>
          </a:solidFill>
          <a:ln w="12700">
            <a:solidFill>
              <a:srgbClr val="4DA3FF"/>
            </a:solidFill>
            <a:prstDash val="solid"/>
          </a:ln>
        </p:spPr>
      </p:sp>
      <p:pic>
        <p:nvPicPr>
          <p:cNvPr id="26" name="a5float_f3_i" descr="preencoded.png"/>
          <p:cNvPicPr>
            <a:picLocks noChangeAspect="1"/>
          </p:cNvPicPr>
          <p:nvPr/>
        </p:nvPicPr>
        <p:blipFill>
          <a:blip r:embed="rId11"/>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4DA3FF">
              <a:alpha val="18000"/>
            </a:srgbClr>
          </a:solidFill>
          <a:ln w="12700">
            <a:solidFill>
              <a:srgbClr val="4DA3FF"/>
            </a:solidFill>
            <a:prstDash val="solid"/>
          </a:ln>
        </p:spPr>
      </p:sp>
      <p:pic>
        <p:nvPicPr>
          <p:cNvPr id="30" name="a6float_f4_i" descr="preencoded.png"/>
          <p:cNvPicPr>
            <a:picLocks noChangeAspect="1"/>
          </p:cNvPicPr>
          <p:nvPr/>
        </p:nvPicPr>
        <p:blipFill>
          <a:blip r:embed="rId12"/>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FF6B81"/>
            </a:solidFill>
            <a:prstDash val="solid"/>
          </a:ln>
        </p:spPr>
      </p:sp>
      <p:sp>
        <p:nvSpPr>
          <p:cNvPr id="34" name="a7pop_live_bg"/>
          <p:cNvSpPr/>
          <p:nvPr/>
        </p:nvSpPr>
        <p:spPr>
          <a:xfrm>
            <a:off x="7772400" y="5715000"/>
            <a:ext cx="3840480" cy="438912"/>
          </a:xfrm>
          <a:prstGeom prst="roundRect">
            <a:avLst>
              <a:gd name="adj" fmla="val 41667"/>
            </a:avLst>
          </a:prstGeom>
          <a:solidFill>
            <a:srgbClr val="FF6B81">
              <a:alpha val="20000"/>
            </a:srgbClr>
          </a:solidFill>
          <a:ln w="9525">
            <a:solidFill>
              <a:srgbClr val="FF6B81"/>
            </a:solidFill>
            <a:prstDash val="solid"/>
          </a:ln>
        </p:spPr>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FFD6DD"/>
                </a:solidFill>
                <a:latin typeface="Segoe UI Semibold" pitchFamily="34" charset="0"/>
                <a:ea typeface="Segoe UI Semibold" pitchFamily="34" charset="-122"/>
                <a:cs typeface="Segoe UI Semibold" pitchFamily="34" charset="-120"/>
              </a:rPr>
              <a:t>●  LIVE DEMO  ·  open stand 9 on the website</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repeatCount="indefinite"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8" name="a1float_p0ic_c"/>
          <p:cNvSpPr/>
          <p:nvPr/>
        </p:nvSpPr>
        <p:spPr>
          <a:xfrm>
            <a:off x="777240" y="1892808"/>
            <a:ext cx="566928" cy="566928"/>
          </a:xfrm>
          <a:prstGeom prst="ellipse">
            <a:avLst/>
          </a:prstGeom>
          <a:solidFill>
            <a:srgbClr val="4DA3FF">
              <a:alpha val="18000"/>
            </a:srgbClr>
          </a:solidFill>
          <a:ln w="12700">
            <a:solidFill>
              <a:srgbClr val="4DA3FF"/>
            </a:solidFill>
            <a:prstDash val="solid"/>
          </a:ln>
        </p:spPr>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E6EEF5"/>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A3B8CB"/>
                </a:solidFill>
                <a:latin typeface="Segoe UI" pitchFamily="34" charset="0"/>
                <a:ea typeface="Segoe UI" pitchFamily="34" charset="-122"/>
                <a:cs typeface="Segoe UI" pitchFamily="34" charset="-120"/>
              </a:rPr>
              <a:t>Today: </a:t>
            </a:r>
            <a:r>
              <a:rPr lang="en-US" sz="1200" dirty="0">
                <a:solidFill>
                  <a:srgbClr val="A3B8CB"/>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4DA3FF">
              <a:alpha val="14000"/>
            </a:srgbClr>
          </a:solidFill>
          <a:ln/>
        </p:spPr>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A8D1F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8" name="a2float_p1ic_c"/>
          <p:cNvSpPr/>
          <p:nvPr/>
        </p:nvSpPr>
        <p:spPr>
          <a:xfrm>
            <a:off x="4526280" y="1892808"/>
            <a:ext cx="566928" cy="566928"/>
          </a:xfrm>
          <a:prstGeom prst="ellipse">
            <a:avLst/>
          </a:prstGeom>
          <a:solidFill>
            <a:srgbClr val="4DA3FF">
              <a:alpha val="18000"/>
            </a:srgbClr>
          </a:solidFill>
          <a:ln w="12700">
            <a:solidFill>
              <a:srgbClr val="4DA3FF"/>
            </a:solidFill>
            <a:prstDash val="solid"/>
          </a:ln>
        </p:spPr>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E6EEF5"/>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A3B8CB"/>
                </a:solidFill>
                <a:latin typeface="Segoe UI" pitchFamily="34" charset="0"/>
                <a:ea typeface="Segoe UI" pitchFamily="34" charset="-122"/>
                <a:cs typeface="Segoe UI" pitchFamily="34" charset="-120"/>
              </a:rPr>
              <a:t>Today: </a:t>
            </a:r>
            <a:r>
              <a:rPr lang="en-US" sz="1200" dirty="0">
                <a:solidFill>
                  <a:srgbClr val="A3B8CB"/>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4DA3FF">
              <a:alpha val="14000"/>
            </a:srgbClr>
          </a:solidFill>
          <a:ln/>
        </p:spPr>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A8D1F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28" name="a3float_p2ic_c"/>
          <p:cNvSpPr/>
          <p:nvPr/>
        </p:nvSpPr>
        <p:spPr>
          <a:xfrm>
            <a:off x="8275320" y="1892808"/>
            <a:ext cx="566928" cy="566928"/>
          </a:xfrm>
          <a:prstGeom prst="ellipse">
            <a:avLst/>
          </a:prstGeom>
          <a:solidFill>
            <a:srgbClr val="4DA3FF">
              <a:alpha val="18000"/>
            </a:srgbClr>
          </a:solidFill>
          <a:ln w="12700">
            <a:solidFill>
              <a:srgbClr val="4DA3FF"/>
            </a:solidFill>
            <a:prstDash val="solid"/>
          </a:ln>
        </p:spPr>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E6EEF5"/>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A3B8CB"/>
                </a:solidFill>
                <a:latin typeface="Segoe UI" pitchFamily="34" charset="0"/>
                <a:ea typeface="Segoe UI" pitchFamily="34" charset="-122"/>
                <a:cs typeface="Segoe UI" pitchFamily="34" charset="-120"/>
              </a:rPr>
              <a:t>Today: </a:t>
            </a:r>
            <a:r>
              <a:rPr lang="en-US" sz="1200" dirty="0">
                <a:solidFill>
                  <a:srgbClr val="A3B8CB"/>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4DA3FF">
              <a:alpha val="14000"/>
            </a:srgbClr>
          </a:solidFill>
          <a:ln/>
        </p:spPr>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A8D1F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0C2D5C">
              <a:alpha val="90000"/>
            </a:srgbClr>
          </a:solidFill>
          <a:ln w="9525">
            <a:solidFill>
              <a:srgbClr val="2A4F80"/>
            </a:solidFill>
            <a:prstDash val="solid"/>
          </a:ln>
          <a:effectLst>
            <a:outerShdw blurRad="152400" dist="50800" dir="5400000" algn="bl" rotWithShape="0">
              <a:srgbClr val="000000">
                <a:alpha val="35000"/>
              </a:srgbClr>
            </a:outerShdw>
          </a:effectLst>
        </p:spPr>
      </p:sp>
      <p:sp>
        <p:nvSpPr>
          <p:cNvPr id="38" name="a5pop_f0_c"/>
          <p:cNvSpPr/>
          <p:nvPr/>
        </p:nvSpPr>
        <p:spPr>
          <a:xfrm>
            <a:off x="868680" y="5349240"/>
            <a:ext cx="566928" cy="566928"/>
          </a:xfrm>
          <a:prstGeom prst="ellipse">
            <a:avLst/>
          </a:prstGeom>
          <a:solidFill>
            <a:srgbClr val="4DA3FF">
              <a:alpha val="18000"/>
            </a:srgbClr>
          </a:solidFill>
          <a:ln w="12700">
            <a:solidFill>
              <a:srgbClr val="4DA3FF"/>
            </a:solidFill>
            <a:prstDash val="solid"/>
          </a:ln>
        </p:spPr>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4DA3FF"/>
            </a:solidFill>
            <a:prstDash val="solid"/>
            <a:tailEnd type="triangle"/>
          </a:ln>
        </p:spPr>
      </p:sp>
      <p:sp>
        <p:nvSpPr>
          <p:cNvPr id="43" name="a6pop_f1_c"/>
          <p:cNvSpPr/>
          <p:nvPr/>
        </p:nvSpPr>
        <p:spPr>
          <a:xfrm>
            <a:off x="3081528" y="5349240"/>
            <a:ext cx="566928" cy="566928"/>
          </a:xfrm>
          <a:prstGeom prst="ellipse">
            <a:avLst/>
          </a:prstGeom>
          <a:solidFill>
            <a:srgbClr val="4DA3FF">
              <a:alpha val="18000"/>
            </a:srgbClr>
          </a:solidFill>
          <a:ln w="12700">
            <a:solidFill>
              <a:srgbClr val="4DA3FF"/>
            </a:solidFill>
            <a:prstDash val="solid"/>
          </a:ln>
        </p:spPr>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4DA3FF"/>
            </a:solidFill>
            <a:prstDash val="solid"/>
            <a:tailEnd type="triangle"/>
          </a:ln>
        </p:spPr>
      </p:sp>
      <p:sp>
        <p:nvSpPr>
          <p:cNvPr id="48" name="a7pop_f2_c"/>
          <p:cNvSpPr/>
          <p:nvPr/>
        </p:nvSpPr>
        <p:spPr>
          <a:xfrm>
            <a:off x="5294376" y="5349240"/>
            <a:ext cx="566928" cy="566928"/>
          </a:xfrm>
          <a:prstGeom prst="ellipse">
            <a:avLst/>
          </a:prstGeom>
          <a:solidFill>
            <a:srgbClr val="4DA3FF">
              <a:alpha val="18000"/>
            </a:srgbClr>
          </a:solidFill>
          <a:ln w="12700">
            <a:solidFill>
              <a:srgbClr val="4DA3FF"/>
            </a:solidFill>
            <a:prstDash val="solid"/>
          </a:ln>
        </p:spPr>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4DA3FF"/>
            </a:solidFill>
            <a:prstDash val="solid"/>
            <a:tailEnd type="triangle"/>
          </a:ln>
        </p:spPr>
      </p:sp>
      <p:sp>
        <p:nvSpPr>
          <p:cNvPr id="53" name="a8pop_f3_c"/>
          <p:cNvSpPr/>
          <p:nvPr/>
        </p:nvSpPr>
        <p:spPr>
          <a:xfrm>
            <a:off x="7507224" y="5349240"/>
            <a:ext cx="566928" cy="566928"/>
          </a:xfrm>
          <a:prstGeom prst="ellipse">
            <a:avLst/>
          </a:prstGeom>
          <a:solidFill>
            <a:srgbClr val="4DA3FF">
              <a:alpha val="18000"/>
            </a:srgbClr>
          </a:solidFill>
          <a:ln w="12700">
            <a:solidFill>
              <a:srgbClr val="4DA3FF"/>
            </a:solidFill>
            <a:prstDash val="solid"/>
          </a:ln>
        </p:spPr>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4DA3FF"/>
            </a:solidFill>
            <a:prstDash val="solid"/>
            <a:tailEnd type="triangle"/>
          </a:ln>
        </p:spPr>
      </p:sp>
      <p:sp>
        <p:nvSpPr>
          <p:cNvPr id="58" name="a9pop_f4_c"/>
          <p:cNvSpPr/>
          <p:nvPr/>
        </p:nvSpPr>
        <p:spPr>
          <a:xfrm>
            <a:off x="9720072" y="5349240"/>
            <a:ext cx="566928" cy="566928"/>
          </a:xfrm>
          <a:prstGeom prst="ellipse">
            <a:avLst/>
          </a:prstGeom>
          <a:solidFill>
            <a:srgbClr val="4DA3FF">
              <a:alpha val="18000"/>
            </a:srgbClr>
          </a:solidFill>
          <a:ln w="12700">
            <a:solidFill>
              <a:srgbClr val="4DA3FF"/>
            </a:solidFill>
            <a:prstDash val="solid"/>
          </a:ln>
        </p:spPr>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69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91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113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par>
                                <p:cTn id="135" presetID="53" presetClass="entr" presetSubtype="16" decel="100000" fill="hold" grpId="0" nodeType="withEffect">
                                  <p:stCondLst>
                                    <p:cond delay="1350"/>
                                  </p:stCondLst>
                                  <p:childTnLst>
                                    <p:set>
                                      <p:cBhvr>
                                        <p:cTn id="136" dur="1" fill="hold">
                                          <p:stCondLst>
                                            <p:cond delay="0"/>
                                          </p:stCondLst>
                                        </p:cTn>
                                        <p:tgtEl>
                                          <p:spTgt spid="38"/>
                                        </p:tgtEl>
                                        <p:attrNameLst>
                                          <p:attrName>style.visibility</p:attrName>
                                        </p:attrNameLst>
                                      </p:cBhvr>
                                      <p:to>
                                        <p:strVal val="visible"/>
                                      </p:to>
                                    </p:set>
                                    <p:animEffect transition="in" filter="fade">
                                      <p:cBhvr>
                                        <p:cTn id="137" dur="450"/>
                                        <p:tgtEl>
                                          <p:spTgt spid="38"/>
                                        </p:tgtEl>
                                      </p:cBhvr>
                                    </p:animEffect>
                                    <p:anim calcmode="lin" valueType="num">
                                      <p:cBhvr additive="base">
                                        <p:cTn id="138" dur="450" fill="hold"/>
                                        <p:tgtEl>
                                          <p:spTgt spid="38"/>
                                        </p:tgtEl>
                                        <p:attrNameLst>
                                          <p:attrName>ppt_w</p:attrName>
                                        </p:attrNameLst>
                                      </p:cBhvr>
                                      <p:tavLst>
                                        <p:tav tm="0">
                                          <p:val>
                                            <p:strVal val="#ppt_w*0.2"/>
                                          </p:val>
                                        </p:tav>
                                        <p:tav tm="100000">
                                          <p:val>
                                            <p:strVal val="#ppt_w"/>
                                          </p:val>
                                        </p:tav>
                                      </p:tavLst>
                                    </p:anim>
                                    <p:anim calcmode="lin" valueType="num">
                                      <p:cBhvr additive="base">
                                        <p:cTn id="139" dur="450" fill="hold"/>
                                        <p:tgtEl>
                                          <p:spTgt spid="38"/>
                                        </p:tgtEl>
                                        <p:attrNameLst>
                                          <p:attrName>ppt_h</p:attrName>
                                        </p:attrNameLst>
                                      </p:cBhvr>
                                      <p:tavLst>
                                        <p:tav tm="0">
                                          <p:val>
                                            <p:strVal val="#ppt_h*0.2"/>
                                          </p:val>
                                        </p:tav>
                                        <p:tav tm="100000">
                                          <p:val>
                                            <p:strVal val="#ppt_h"/>
                                          </p:val>
                                        </p:tav>
                                      </p:tavLst>
                                    </p:anim>
                                  </p:childTnLst>
                                </p:cTn>
                              </p:par>
                              <p:par>
                                <p:cTn id="140" presetID="53" presetClass="entr" presetSubtype="16" decel="100000" fill="hold" grpId="0" nodeType="withEffect">
                                  <p:stCondLst>
                                    <p:cond delay="1350"/>
                                  </p:stCondLst>
                                  <p:childTnLst>
                                    <p:set>
                                      <p:cBhvr>
                                        <p:cTn id="141" dur="1" fill="hold">
                                          <p:stCondLst>
                                            <p:cond delay="0"/>
                                          </p:stCondLst>
                                        </p:cTn>
                                        <p:tgtEl>
                                          <p:spTgt spid="39"/>
                                        </p:tgtEl>
                                        <p:attrNameLst>
                                          <p:attrName>style.visibility</p:attrName>
                                        </p:attrNameLst>
                                      </p:cBhvr>
                                      <p:to>
                                        <p:strVal val="visible"/>
                                      </p:to>
                                    </p:set>
                                    <p:animEffect transition="in" filter="fade">
                                      <p:cBhvr>
                                        <p:cTn id="142" dur="450"/>
                                        <p:tgtEl>
                                          <p:spTgt spid="39"/>
                                        </p:tgtEl>
                                      </p:cBhvr>
                                    </p:animEffect>
                                    <p:anim calcmode="lin" valueType="num">
                                      <p:cBhvr additive="base">
                                        <p:cTn id="143" dur="450" fill="hold"/>
                                        <p:tgtEl>
                                          <p:spTgt spid="39"/>
                                        </p:tgtEl>
                                        <p:attrNameLst>
                                          <p:attrName>ppt_w</p:attrName>
                                        </p:attrNameLst>
                                      </p:cBhvr>
                                      <p:tavLst>
                                        <p:tav tm="0">
                                          <p:val>
                                            <p:strVal val="#ppt_w*0.2"/>
                                          </p:val>
                                        </p:tav>
                                        <p:tav tm="100000">
                                          <p:val>
                                            <p:strVal val="#ppt_w"/>
                                          </p:val>
                                        </p:tav>
                                      </p:tavLst>
                                    </p:anim>
                                    <p:anim calcmode="lin" valueType="num">
                                      <p:cBhvr additive="base">
                                        <p:cTn id="144" dur="450" fill="hold"/>
                                        <p:tgtEl>
                                          <p:spTgt spid="39"/>
                                        </p:tgtEl>
                                        <p:attrNameLst>
                                          <p:attrName>ppt_h</p:attrName>
                                        </p:attrNameLst>
                                      </p:cBhvr>
                                      <p:tavLst>
                                        <p:tav tm="0">
                                          <p:val>
                                            <p:strVal val="#ppt_h*0.2"/>
                                          </p:val>
                                        </p:tav>
                                        <p:tav tm="100000">
                                          <p:val>
                                            <p:strVal val="#ppt_h"/>
                                          </p:val>
                                        </p:tav>
                                      </p:tavLst>
                                    </p:anim>
                                  </p:childTnLst>
                                </p:cTn>
                              </p:par>
                              <p:par>
                                <p:cTn id="145" presetID="53" presetClass="entr" presetSubtype="16" decel="100000" fill="hold" grpId="0" nodeType="withEffect">
                                  <p:stCondLst>
                                    <p:cond delay="135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50"/>
                                        <p:tgtEl>
                                          <p:spTgt spid="40"/>
                                        </p:tgtEl>
                                      </p:cBhvr>
                                    </p:animEffect>
                                    <p:anim calcmode="lin" valueType="num">
                                      <p:cBhvr additive="base">
                                        <p:cTn id="148" dur="450" fill="hold"/>
                                        <p:tgtEl>
                                          <p:spTgt spid="40"/>
                                        </p:tgtEl>
                                        <p:attrNameLst>
                                          <p:attrName>ppt_w</p:attrName>
                                        </p:attrNameLst>
                                      </p:cBhvr>
                                      <p:tavLst>
                                        <p:tav tm="0">
                                          <p:val>
                                            <p:strVal val="#ppt_w*0.2"/>
                                          </p:val>
                                        </p:tav>
                                        <p:tav tm="100000">
                                          <p:val>
                                            <p:strVal val="#ppt_w"/>
                                          </p:val>
                                        </p:tav>
                                      </p:tavLst>
                                    </p:anim>
                                    <p:anim calcmode="lin" valueType="num">
                                      <p:cBhvr additive="base">
                                        <p:cTn id="149" dur="450" fill="hold"/>
                                        <p:tgtEl>
                                          <p:spTgt spid="40"/>
                                        </p:tgtEl>
                                        <p:attrNameLst>
                                          <p:attrName>ppt_h</p:attrName>
                                        </p:attrNameLst>
                                      </p:cBhvr>
                                      <p:tavLst>
                                        <p:tav tm="0">
                                          <p:val>
                                            <p:strVal val="#ppt_h*0.2"/>
                                          </p:val>
                                        </p:tav>
                                        <p:tav tm="100000">
                                          <p:val>
                                            <p:strVal val="#ppt_h"/>
                                          </p:val>
                                        </p:tav>
                                      </p:tavLst>
                                    </p:anim>
                                  </p:childTnLst>
                                </p:cTn>
                              </p:par>
                              <p:par>
                                <p:cTn id="150" presetID="53" presetClass="entr" presetSubtype="16" decel="100000" fill="hold" grpId="0" nodeType="withEffect">
                                  <p:stCondLst>
                                    <p:cond delay="135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450"/>
                                        <p:tgtEl>
                                          <p:spTgt spid="41"/>
                                        </p:tgtEl>
                                      </p:cBhvr>
                                    </p:animEffect>
                                    <p:anim calcmode="lin" valueType="num">
                                      <p:cBhvr additive="base">
                                        <p:cTn id="153" dur="450" fill="hold"/>
                                        <p:tgtEl>
                                          <p:spTgt spid="41"/>
                                        </p:tgtEl>
                                        <p:attrNameLst>
                                          <p:attrName>ppt_w</p:attrName>
                                        </p:attrNameLst>
                                      </p:cBhvr>
                                      <p:tavLst>
                                        <p:tav tm="0">
                                          <p:val>
                                            <p:strVal val="#ppt_w*0.2"/>
                                          </p:val>
                                        </p:tav>
                                        <p:tav tm="100000">
                                          <p:val>
                                            <p:strVal val="#ppt_w"/>
                                          </p:val>
                                        </p:tav>
                                      </p:tavLst>
                                    </p:anim>
                                    <p:anim calcmode="lin" valueType="num">
                                      <p:cBhvr additive="base">
                                        <p:cTn id="154" dur="450" fill="hold"/>
                                        <p:tgtEl>
                                          <p:spTgt spid="41"/>
                                        </p:tgtEl>
                                        <p:attrNameLst>
                                          <p:attrName>ppt_h</p:attrName>
                                        </p:attrNameLst>
                                      </p:cBhvr>
                                      <p:tavLst>
                                        <p:tav tm="0">
                                          <p:val>
                                            <p:strVal val="#ppt_h*0.2"/>
                                          </p:val>
                                        </p:tav>
                                        <p:tav tm="100000">
                                          <p:val>
                                            <p:strVal val="#ppt_h"/>
                                          </p:val>
                                        </p:tav>
                                      </p:tavLst>
                                    </p:anim>
                                  </p:childTnLst>
                                </p:cTn>
                              </p:par>
                              <p:par>
                                <p:cTn id="155" presetID="10" presetClass="entr" presetSubtype="0" decel="100000" fill="hold" grpId="0" nodeType="withEffect">
                                  <p:stCondLst>
                                    <p:cond delay="1350"/>
                                  </p:stCondLst>
                                  <p:childTnLst>
                                    <p:set>
                                      <p:cBhvr>
                                        <p:cTn id="156" dur="1" fill="hold">
                                          <p:stCondLst>
                                            <p:cond delay="0"/>
                                          </p:stCondLst>
                                        </p:cTn>
                                        <p:tgtEl>
                                          <p:spTgt spid="42"/>
                                        </p:tgtEl>
                                        <p:attrNameLst>
                                          <p:attrName>style.visibility</p:attrName>
                                        </p:attrNameLst>
                                      </p:cBhvr>
                                      <p:to>
                                        <p:strVal val="visible"/>
                                      </p:to>
                                    </p:set>
                                    <p:animEffect transition="in" filter="fade">
                                      <p:cBhvr>
                                        <p:cTn id="157" dur="600"/>
                                        <p:tgtEl>
                                          <p:spTgt spid="42"/>
                                        </p:tgtEl>
                                      </p:cBhvr>
                                    </p:animEffect>
                                  </p:childTnLst>
                                </p:cTn>
                              </p:par>
                              <p:par>
                                <p:cTn id="158" presetID="53" presetClass="entr" presetSubtype="16" decel="100000" fill="hold" grpId="0" nodeType="withEffect">
                                  <p:stCondLst>
                                    <p:cond delay="1570"/>
                                  </p:stCondLst>
                                  <p:childTnLst>
                                    <p:set>
                                      <p:cBhvr>
                                        <p:cTn id="159" dur="1" fill="hold">
                                          <p:stCondLst>
                                            <p:cond delay="0"/>
                                          </p:stCondLst>
                                        </p:cTn>
                                        <p:tgtEl>
                                          <p:spTgt spid="43"/>
                                        </p:tgtEl>
                                        <p:attrNameLst>
                                          <p:attrName>style.visibility</p:attrName>
                                        </p:attrNameLst>
                                      </p:cBhvr>
                                      <p:to>
                                        <p:strVal val="visible"/>
                                      </p:to>
                                    </p:set>
                                    <p:animEffect transition="in" filter="fade">
                                      <p:cBhvr>
                                        <p:cTn id="160" dur="450"/>
                                        <p:tgtEl>
                                          <p:spTgt spid="43"/>
                                        </p:tgtEl>
                                      </p:cBhvr>
                                    </p:animEffect>
                                    <p:anim calcmode="lin" valueType="num">
                                      <p:cBhvr additive="base">
                                        <p:cTn id="161" dur="450" fill="hold"/>
                                        <p:tgtEl>
                                          <p:spTgt spid="43"/>
                                        </p:tgtEl>
                                        <p:attrNameLst>
                                          <p:attrName>ppt_w</p:attrName>
                                        </p:attrNameLst>
                                      </p:cBhvr>
                                      <p:tavLst>
                                        <p:tav tm="0">
                                          <p:val>
                                            <p:strVal val="#ppt_w*0.2"/>
                                          </p:val>
                                        </p:tav>
                                        <p:tav tm="100000">
                                          <p:val>
                                            <p:strVal val="#ppt_w"/>
                                          </p:val>
                                        </p:tav>
                                      </p:tavLst>
                                    </p:anim>
                                    <p:anim calcmode="lin" valueType="num">
                                      <p:cBhvr additive="base">
                                        <p:cTn id="162" dur="450" fill="hold"/>
                                        <p:tgtEl>
                                          <p:spTgt spid="43"/>
                                        </p:tgtEl>
                                        <p:attrNameLst>
                                          <p:attrName>ppt_h</p:attrName>
                                        </p:attrNameLst>
                                      </p:cBhvr>
                                      <p:tavLst>
                                        <p:tav tm="0">
                                          <p:val>
                                            <p:strVal val="#ppt_h*0.2"/>
                                          </p:val>
                                        </p:tav>
                                        <p:tav tm="100000">
                                          <p:val>
                                            <p:strVal val="#ppt_h"/>
                                          </p:val>
                                        </p:tav>
                                      </p:tavLst>
                                    </p:anim>
                                  </p:childTnLst>
                                </p:cTn>
                              </p:par>
                              <p:par>
                                <p:cTn id="163" presetID="53" presetClass="entr" presetSubtype="16" decel="100000" fill="hold" grpId="0" nodeType="withEffect">
                                  <p:stCondLst>
                                    <p:cond delay="1570"/>
                                  </p:stCondLst>
                                  <p:childTnLst>
                                    <p:set>
                                      <p:cBhvr>
                                        <p:cTn id="164" dur="1" fill="hold">
                                          <p:stCondLst>
                                            <p:cond delay="0"/>
                                          </p:stCondLst>
                                        </p:cTn>
                                        <p:tgtEl>
                                          <p:spTgt spid="44"/>
                                        </p:tgtEl>
                                        <p:attrNameLst>
                                          <p:attrName>style.visibility</p:attrName>
                                        </p:attrNameLst>
                                      </p:cBhvr>
                                      <p:to>
                                        <p:strVal val="visible"/>
                                      </p:to>
                                    </p:set>
                                    <p:animEffect transition="in" filter="fade">
                                      <p:cBhvr>
                                        <p:cTn id="165" dur="450"/>
                                        <p:tgtEl>
                                          <p:spTgt spid="44"/>
                                        </p:tgtEl>
                                      </p:cBhvr>
                                    </p:animEffect>
                                    <p:anim calcmode="lin" valueType="num">
                                      <p:cBhvr additive="base">
                                        <p:cTn id="166" dur="450" fill="hold"/>
                                        <p:tgtEl>
                                          <p:spTgt spid="44"/>
                                        </p:tgtEl>
                                        <p:attrNameLst>
                                          <p:attrName>ppt_w</p:attrName>
                                        </p:attrNameLst>
                                      </p:cBhvr>
                                      <p:tavLst>
                                        <p:tav tm="0">
                                          <p:val>
                                            <p:strVal val="#ppt_w*0.2"/>
                                          </p:val>
                                        </p:tav>
                                        <p:tav tm="100000">
                                          <p:val>
                                            <p:strVal val="#ppt_w"/>
                                          </p:val>
                                        </p:tav>
                                      </p:tavLst>
                                    </p:anim>
                                    <p:anim calcmode="lin" valueType="num">
                                      <p:cBhvr additive="base">
                                        <p:cTn id="167" dur="450" fill="hold"/>
                                        <p:tgtEl>
                                          <p:spTgt spid="44"/>
                                        </p:tgtEl>
                                        <p:attrNameLst>
                                          <p:attrName>ppt_h</p:attrName>
                                        </p:attrNameLst>
                                      </p:cBhvr>
                                      <p:tavLst>
                                        <p:tav tm="0">
                                          <p:val>
                                            <p:strVal val="#ppt_h*0.2"/>
                                          </p:val>
                                        </p:tav>
                                        <p:tav tm="100000">
                                          <p:val>
                                            <p:strVal val="#ppt_h"/>
                                          </p:val>
                                        </p:tav>
                                      </p:tavLst>
                                    </p:anim>
                                  </p:childTnLst>
                                </p:cTn>
                              </p:par>
                              <p:par>
                                <p:cTn id="168" presetID="53" presetClass="entr" presetSubtype="16" decel="100000" fill="hold" grpId="0" nodeType="withEffect">
                                  <p:stCondLst>
                                    <p:cond delay="157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450"/>
                                        <p:tgtEl>
                                          <p:spTgt spid="45"/>
                                        </p:tgtEl>
                                      </p:cBhvr>
                                    </p:animEffect>
                                    <p:anim calcmode="lin" valueType="num">
                                      <p:cBhvr additive="base">
                                        <p:cTn id="171" dur="450" fill="hold"/>
                                        <p:tgtEl>
                                          <p:spTgt spid="45"/>
                                        </p:tgtEl>
                                        <p:attrNameLst>
                                          <p:attrName>ppt_w</p:attrName>
                                        </p:attrNameLst>
                                      </p:cBhvr>
                                      <p:tavLst>
                                        <p:tav tm="0">
                                          <p:val>
                                            <p:strVal val="#ppt_w*0.2"/>
                                          </p:val>
                                        </p:tav>
                                        <p:tav tm="100000">
                                          <p:val>
                                            <p:strVal val="#ppt_w"/>
                                          </p:val>
                                        </p:tav>
                                      </p:tavLst>
                                    </p:anim>
                                    <p:anim calcmode="lin" valueType="num">
                                      <p:cBhvr additive="base">
                                        <p:cTn id="172" dur="450" fill="hold"/>
                                        <p:tgtEl>
                                          <p:spTgt spid="45"/>
                                        </p:tgtEl>
                                        <p:attrNameLst>
                                          <p:attrName>ppt_h</p:attrName>
                                        </p:attrNameLst>
                                      </p:cBhvr>
                                      <p:tavLst>
                                        <p:tav tm="0">
                                          <p:val>
                                            <p:strVal val="#ppt_h*0.2"/>
                                          </p:val>
                                        </p:tav>
                                        <p:tav tm="100000">
                                          <p:val>
                                            <p:strVal val="#ppt_h"/>
                                          </p:val>
                                        </p:tav>
                                      </p:tavLst>
                                    </p:anim>
                                  </p:childTnLst>
                                </p:cTn>
                              </p:par>
                              <p:par>
                                <p:cTn id="173" presetID="53" presetClass="entr" presetSubtype="16" decel="100000" fill="hold" grpId="0" nodeType="withEffect">
                                  <p:stCondLst>
                                    <p:cond delay="157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450"/>
                                        <p:tgtEl>
                                          <p:spTgt spid="46"/>
                                        </p:tgtEl>
                                      </p:cBhvr>
                                    </p:animEffect>
                                    <p:anim calcmode="lin" valueType="num">
                                      <p:cBhvr additive="base">
                                        <p:cTn id="176" dur="450" fill="hold"/>
                                        <p:tgtEl>
                                          <p:spTgt spid="46"/>
                                        </p:tgtEl>
                                        <p:attrNameLst>
                                          <p:attrName>ppt_w</p:attrName>
                                        </p:attrNameLst>
                                      </p:cBhvr>
                                      <p:tavLst>
                                        <p:tav tm="0">
                                          <p:val>
                                            <p:strVal val="#ppt_w*0.2"/>
                                          </p:val>
                                        </p:tav>
                                        <p:tav tm="100000">
                                          <p:val>
                                            <p:strVal val="#ppt_w"/>
                                          </p:val>
                                        </p:tav>
                                      </p:tavLst>
                                    </p:anim>
                                    <p:anim calcmode="lin" valueType="num">
                                      <p:cBhvr additive="base">
                                        <p:cTn id="177" dur="450" fill="hold"/>
                                        <p:tgtEl>
                                          <p:spTgt spid="46"/>
                                        </p:tgtEl>
                                        <p:attrNameLst>
                                          <p:attrName>ppt_h</p:attrName>
                                        </p:attrNameLst>
                                      </p:cBhvr>
                                      <p:tavLst>
                                        <p:tav tm="0">
                                          <p:val>
                                            <p:strVal val="#ppt_h*0.2"/>
                                          </p:val>
                                        </p:tav>
                                        <p:tav tm="100000">
                                          <p:val>
                                            <p:strVal val="#ppt_h"/>
                                          </p:val>
                                        </p:tav>
                                      </p:tavLst>
                                    </p:anim>
                                  </p:childTnLst>
                                </p:cTn>
                              </p:par>
                              <p:par>
                                <p:cTn id="178" presetID="10" presetClass="entr" presetSubtype="0" decel="100000" fill="hold" grpId="0" nodeType="withEffect">
                                  <p:stCondLst>
                                    <p:cond delay="1570"/>
                                  </p:stCondLst>
                                  <p:childTnLst>
                                    <p:set>
                                      <p:cBhvr>
                                        <p:cTn id="179" dur="1" fill="hold">
                                          <p:stCondLst>
                                            <p:cond delay="0"/>
                                          </p:stCondLst>
                                        </p:cTn>
                                        <p:tgtEl>
                                          <p:spTgt spid="47"/>
                                        </p:tgtEl>
                                        <p:attrNameLst>
                                          <p:attrName>style.visibility</p:attrName>
                                        </p:attrNameLst>
                                      </p:cBhvr>
                                      <p:to>
                                        <p:strVal val="visible"/>
                                      </p:to>
                                    </p:set>
                                    <p:animEffect transition="in" filter="fade">
                                      <p:cBhvr>
                                        <p:cTn id="180" dur="600"/>
                                        <p:tgtEl>
                                          <p:spTgt spid="47"/>
                                        </p:tgtEl>
                                      </p:cBhvr>
                                    </p:animEffect>
                                  </p:childTnLst>
                                </p:cTn>
                              </p:par>
                              <p:par>
                                <p:cTn id="181" presetID="53" presetClass="entr" presetSubtype="16" decel="100000" fill="hold" grpId="0" nodeType="withEffect">
                                  <p:stCondLst>
                                    <p:cond delay="1790"/>
                                  </p:stCondLst>
                                  <p:childTnLst>
                                    <p:set>
                                      <p:cBhvr>
                                        <p:cTn id="182" dur="1" fill="hold">
                                          <p:stCondLst>
                                            <p:cond delay="0"/>
                                          </p:stCondLst>
                                        </p:cTn>
                                        <p:tgtEl>
                                          <p:spTgt spid="48"/>
                                        </p:tgtEl>
                                        <p:attrNameLst>
                                          <p:attrName>style.visibility</p:attrName>
                                        </p:attrNameLst>
                                      </p:cBhvr>
                                      <p:to>
                                        <p:strVal val="visible"/>
                                      </p:to>
                                    </p:set>
                                    <p:animEffect transition="in" filter="fade">
                                      <p:cBhvr>
                                        <p:cTn id="183" dur="450"/>
                                        <p:tgtEl>
                                          <p:spTgt spid="48"/>
                                        </p:tgtEl>
                                      </p:cBhvr>
                                    </p:animEffect>
                                    <p:anim calcmode="lin" valueType="num">
                                      <p:cBhvr additive="base">
                                        <p:cTn id="184" dur="450" fill="hold"/>
                                        <p:tgtEl>
                                          <p:spTgt spid="48"/>
                                        </p:tgtEl>
                                        <p:attrNameLst>
                                          <p:attrName>ppt_w</p:attrName>
                                        </p:attrNameLst>
                                      </p:cBhvr>
                                      <p:tavLst>
                                        <p:tav tm="0">
                                          <p:val>
                                            <p:strVal val="#ppt_w*0.2"/>
                                          </p:val>
                                        </p:tav>
                                        <p:tav tm="100000">
                                          <p:val>
                                            <p:strVal val="#ppt_w"/>
                                          </p:val>
                                        </p:tav>
                                      </p:tavLst>
                                    </p:anim>
                                    <p:anim calcmode="lin" valueType="num">
                                      <p:cBhvr additive="base">
                                        <p:cTn id="185" dur="450" fill="hold"/>
                                        <p:tgtEl>
                                          <p:spTgt spid="48"/>
                                        </p:tgtEl>
                                        <p:attrNameLst>
                                          <p:attrName>ppt_h</p:attrName>
                                        </p:attrNameLst>
                                      </p:cBhvr>
                                      <p:tavLst>
                                        <p:tav tm="0">
                                          <p:val>
                                            <p:strVal val="#ppt_h*0.2"/>
                                          </p:val>
                                        </p:tav>
                                        <p:tav tm="100000">
                                          <p:val>
                                            <p:strVal val="#ppt_h"/>
                                          </p:val>
                                        </p:tav>
                                      </p:tavLst>
                                    </p:anim>
                                  </p:childTnLst>
                                </p:cTn>
                              </p:par>
                              <p:par>
                                <p:cTn id="186" presetID="53" presetClass="entr" presetSubtype="16" decel="100000" fill="hold" grpId="0" nodeType="withEffect">
                                  <p:stCondLst>
                                    <p:cond delay="1790"/>
                                  </p:stCondLst>
                                  <p:childTnLst>
                                    <p:set>
                                      <p:cBhvr>
                                        <p:cTn id="187" dur="1" fill="hold">
                                          <p:stCondLst>
                                            <p:cond delay="0"/>
                                          </p:stCondLst>
                                        </p:cTn>
                                        <p:tgtEl>
                                          <p:spTgt spid="49"/>
                                        </p:tgtEl>
                                        <p:attrNameLst>
                                          <p:attrName>style.visibility</p:attrName>
                                        </p:attrNameLst>
                                      </p:cBhvr>
                                      <p:to>
                                        <p:strVal val="visible"/>
                                      </p:to>
                                    </p:set>
                                    <p:animEffect transition="in" filter="fade">
                                      <p:cBhvr>
                                        <p:cTn id="188" dur="450"/>
                                        <p:tgtEl>
                                          <p:spTgt spid="49"/>
                                        </p:tgtEl>
                                      </p:cBhvr>
                                    </p:animEffect>
                                    <p:anim calcmode="lin" valueType="num">
                                      <p:cBhvr additive="base">
                                        <p:cTn id="189" dur="450" fill="hold"/>
                                        <p:tgtEl>
                                          <p:spTgt spid="49"/>
                                        </p:tgtEl>
                                        <p:attrNameLst>
                                          <p:attrName>ppt_w</p:attrName>
                                        </p:attrNameLst>
                                      </p:cBhvr>
                                      <p:tavLst>
                                        <p:tav tm="0">
                                          <p:val>
                                            <p:strVal val="#ppt_w*0.2"/>
                                          </p:val>
                                        </p:tav>
                                        <p:tav tm="100000">
                                          <p:val>
                                            <p:strVal val="#ppt_w"/>
                                          </p:val>
                                        </p:tav>
                                      </p:tavLst>
                                    </p:anim>
                                    <p:anim calcmode="lin" valueType="num">
                                      <p:cBhvr additive="base">
                                        <p:cTn id="190" dur="450" fill="hold"/>
                                        <p:tgtEl>
                                          <p:spTgt spid="49"/>
                                        </p:tgtEl>
                                        <p:attrNameLst>
                                          <p:attrName>ppt_h</p:attrName>
                                        </p:attrNameLst>
                                      </p:cBhvr>
                                      <p:tavLst>
                                        <p:tav tm="0">
                                          <p:val>
                                            <p:strVal val="#ppt_h*0.2"/>
                                          </p:val>
                                        </p:tav>
                                        <p:tav tm="100000">
                                          <p:val>
                                            <p:strVal val="#ppt_h"/>
                                          </p:val>
                                        </p:tav>
                                      </p:tavLst>
                                    </p:anim>
                                  </p:childTnLst>
                                </p:cTn>
                              </p:par>
                              <p:par>
                                <p:cTn id="191" presetID="53" presetClass="entr" presetSubtype="16" decel="100000" fill="hold" grpId="0" nodeType="withEffect">
                                  <p:stCondLst>
                                    <p:cond delay="179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450"/>
                                        <p:tgtEl>
                                          <p:spTgt spid="50"/>
                                        </p:tgtEl>
                                      </p:cBhvr>
                                    </p:animEffect>
                                    <p:anim calcmode="lin" valueType="num">
                                      <p:cBhvr additive="base">
                                        <p:cTn id="194" dur="450" fill="hold"/>
                                        <p:tgtEl>
                                          <p:spTgt spid="50"/>
                                        </p:tgtEl>
                                        <p:attrNameLst>
                                          <p:attrName>ppt_w</p:attrName>
                                        </p:attrNameLst>
                                      </p:cBhvr>
                                      <p:tavLst>
                                        <p:tav tm="0">
                                          <p:val>
                                            <p:strVal val="#ppt_w*0.2"/>
                                          </p:val>
                                        </p:tav>
                                        <p:tav tm="100000">
                                          <p:val>
                                            <p:strVal val="#ppt_w"/>
                                          </p:val>
                                        </p:tav>
                                      </p:tavLst>
                                    </p:anim>
                                    <p:anim calcmode="lin" valueType="num">
                                      <p:cBhvr additive="base">
                                        <p:cTn id="195" dur="450" fill="hold"/>
                                        <p:tgtEl>
                                          <p:spTgt spid="50"/>
                                        </p:tgtEl>
                                        <p:attrNameLst>
                                          <p:attrName>ppt_h</p:attrName>
                                        </p:attrNameLst>
                                      </p:cBhvr>
                                      <p:tavLst>
                                        <p:tav tm="0">
                                          <p:val>
                                            <p:strVal val="#ppt_h*0.2"/>
                                          </p:val>
                                        </p:tav>
                                        <p:tav tm="100000">
                                          <p:val>
                                            <p:strVal val="#ppt_h"/>
                                          </p:val>
                                        </p:tav>
                                      </p:tavLst>
                                    </p:anim>
                                  </p:childTnLst>
                                </p:cTn>
                              </p:par>
                              <p:par>
                                <p:cTn id="196" presetID="53" presetClass="entr" presetSubtype="16" decel="100000" fill="hold" grpId="0" nodeType="withEffect">
                                  <p:stCondLst>
                                    <p:cond delay="179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450"/>
                                        <p:tgtEl>
                                          <p:spTgt spid="51"/>
                                        </p:tgtEl>
                                      </p:cBhvr>
                                    </p:animEffect>
                                    <p:anim calcmode="lin" valueType="num">
                                      <p:cBhvr additive="base">
                                        <p:cTn id="199" dur="450" fill="hold"/>
                                        <p:tgtEl>
                                          <p:spTgt spid="51"/>
                                        </p:tgtEl>
                                        <p:attrNameLst>
                                          <p:attrName>ppt_w</p:attrName>
                                        </p:attrNameLst>
                                      </p:cBhvr>
                                      <p:tavLst>
                                        <p:tav tm="0">
                                          <p:val>
                                            <p:strVal val="#ppt_w*0.2"/>
                                          </p:val>
                                        </p:tav>
                                        <p:tav tm="100000">
                                          <p:val>
                                            <p:strVal val="#ppt_w"/>
                                          </p:val>
                                        </p:tav>
                                      </p:tavLst>
                                    </p:anim>
                                    <p:anim calcmode="lin" valueType="num">
                                      <p:cBhvr additive="base">
                                        <p:cTn id="200" dur="450" fill="hold"/>
                                        <p:tgtEl>
                                          <p:spTgt spid="51"/>
                                        </p:tgtEl>
                                        <p:attrNameLst>
                                          <p:attrName>ppt_h</p:attrName>
                                        </p:attrNameLst>
                                      </p:cBhvr>
                                      <p:tavLst>
                                        <p:tav tm="0">
                                          <p:val>
                                            <p:strVal val="#ppt_h*0.2"/>
                                          </p:val>
                                        </p:tav>
                                        <p:tav tm="100000">
                                          <p:val>
                                            <p:strVal val="#ppt_h"/>
                                          </p:val>
                                        </p:tav>
                                      </p:tavLst>
                                    </p:anim>
                                  </p:childTnLst>
                                </p:cTn>
                              </p:par>
                              <p:par>
                                <p:cTn id="201" presetID="10" presetClass="entr" presetSubtype="0" decel="100000" fill="hold" grpId="0" nodeType="withEffect">
                                  <p:stCondLst>
                                    <p:cond delay="1790"/>
                                  </p:stCondLst>
                                  <p:childTnLst>
                                    <p:set>
                                      <p:cBhvr>
                                        <p:cTn id="202" dur="1" fill="hold">
                                          <p:stCondLst>
                                            <p:cond delay="0"/>
                                          </p:stCondLst>
                                        </p:cTn>
                                        <p:tgtEl>
                                          <p:spTgt spid="52"/>
                                        </p:tgtEl>
                                        <p:attrNameLst>
                                          <p:attrName>style.visibility</p:attrName>
                                        </p:attrNameLst>
                                      </p:cBhvr>
                                      <p:to>
                                        <p:strVal val="visible"/>
                                      </p:to>
                                    </p:set>
                                    <p:animEffect transition="in" filter="fade">
                                      <p:cBhvr>
                                        <p:cTn id="203" dur="600"/>
                                        <p:tgtEl>
                                          <p:spTgt spid="52"/>
                                        </p:tgtEl>
                                      </p:cBhvr>
                                    </p:animEffect>
                                  </p:childTnLst>
                                </p:cTn>
                              </p:par>
                              <p:par>
                                <p:cTn id="204" presetID="53" presetClass="entr" presetSubtype="16" decel="100000" fill="hold" grpId="0" nodeType="withEffect">
                                  <p:stCondLst>
                                    <p:cond delay="201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450"/>
                                        <p:tgtEl>
                                          <p:spTgt spid="53"/>
                                        </p:tgtEl>
                                      </p:cBhvr>
                                    </p:animEffect>
                                    <p:anim calcmode="lin" valueType="num">
                                      <p:cBhvr additive="base">
                                        <p:cTn id="207" dur="450" fill="hold"/>
                                        <p:tgtEl>
                                          <p:spTgt spid="53"/>
                                        </p:tgtEl>
                                        <p:attrNameLst>
                                          <p:attrName>ppt_w</p:attrName>
                                        </p:attrNameLst>
                                      </p:cBhvr>
                                      <p:tavLst>
                                        <p:tav tm="0">
                                          <p:val>
                                            <p:strVal val="#ppt_w*0.2"/>
                                          </p:val>
                                        </p:tav>
                                        <p:tav tm="100000">
                                          <p:val>
                                            <p:strVal val="#ppt_w"/>
                                          </p:val>
                                        </p:tav>
                                      </p:tavLst>
                                    </p:anim>
                                    <p:anim calcmode="lin" valueType="num">
                                      <p:cBhvr additive="base">
                                        <p:cTn id="208" dur="450" fill="hold"/>
                                        <p:tgtEl>
                                          <p:spTgt spid="53"/>
                                        </p:tgtEl>
                                        <p:attrNameLst>
                                          <p:attrName>ppt_h</p:attrName>
                                        </p:attrNameLst>
                                      </p:cBhvr>
                                      <p:tavLst>
                                        <p:tav tm="0">
                                          <p:val>
                                            <p:strVal val="#ppt_h*0.2"/>
                                          </p:val>
                                        </p:tav>
                                        <p:tav tm="100000">
                                          <p:val>
                                            <p:strVal val="#ppt_h"/>
                                          </p:val>
                                        </p:tav>
                                      </p:tavLst>
                                    </p:anim>
                                  </p:childTnLst>
                                </p:cTn>
                              </p:par>
                              <p:par>
                                <p:cTn id="209" presetID="53" presetClass="entr" presetSubtype="16" decel="100000" fill="hold" grpId="0" nodeType="withEffect">
                                  <p:stCondLst>
                                    <p:cond delay="2010"/>
                                  </p:stCondLst>
                                  <p:childTnLst>
                                    <p:set>
                                      <p:cBhvr>
                                        <p:cTn id="210" dur="1" fill="hold">
                                          <p:stCondLst>
                                            <p:cond delay="0"/>
                                          </p:stCondLst>
                                        </p:cTn>
                                        <p:tgtEl>
                                          <p:spTgt spid="54"/>
                                        </p:tgtEl>
                                        <p:attrNameLst>
                                          <p:attrName>style.visibility</p:attrName>
                                        </p:attrNameLst>
                                      </p:cBhvr>
                                      <p:to>
                                        <p:strVal val="visible"/>
                                      </p:to>
                                    </p:set>
                                    <p:animEffect transition="in" filter="fade">
                                      <p:cBhvr>
                                        <p:cTn id="211" dur="450"/>
                                        <p:tgtEl>
                                          <p:spTgt spid="54"/>
                                        </p:tgtEl>
                                      </p:cBhvr>
                                    </p:animEffect>
                                    <p:anim calcmode="lin" valueType="num">
                                      <p:cBhvr additive="base">
                                        <p:cTn id="212" dur="450" fill="hold"/>
                                        <p:tgtEl>
                                          <p:spTgt spid="54"/>
                                        </p:tgtEl>
                                        <p:attrNameLst>
                                          <p:attrName>ppt_w</p:attrName>
                                        </p:attrNameLst>
                                      </p:cBhvr>
                                      <p:tavLst>
                                        <p:tav tm="0">
                                          <p:val>
                                            <p:strVal val="#ppt_w*0.2"/>
                                          </p:val>
                                        </p:tav>
                                        <p:tav tm="100000">
                                          <p:val>
                                            <p:strVal val="#ppt_w"/>
                                          </p:val>
                                        </p:tav>
                                      </p:tavLst>
                                    </p:anim>
                                    <p:anim calcmode="lin" valueType="num">
                                      <p:cBhvr additive="base">
                                        <p:cTn id="213" dur="450" fill="hold"/>
                                        <p:tgtEl>
                                          <p:spTgt spid="54"/>
                                        </p:tgtEl>
                                        <p:attrNameLst>
                                          <p:attrName>ppt_h</p:attrName>
                                        </p:attrNameLst>
                                      </p:cBhvr>
                                      <p:tavLst>
                                        <p:tav tm="0">
                                          <p:val>
                                            <p:strVal val="#ppt_h*0.2"/>
                                          </p:val>
                                        </p:tav>
                                        <p:tav tm="100000">
                                          <p:val>
                                            <p:strVal val="#ppt_h"/>
                                          </p:val>
                                        </p:tav>
                                      </p:tavLst>
                                    </p:anim>
                                  </p:childTnLst>
                                </p:cTn>
                              </p:par>
                              <p:par>
                                <p:cTn id="214" presetID="53" presetClass="entr" presetSubtype="16" decel="100000" fill="hold" grpId="0" nodeType="withEffect">
                                  <p:stCondLst>
                                    <p:cond delay="2010"/>
                                  </p:stCondLst>
                                  <p:childTnLst>
                                    <p:set>
                                      <p:cBhvr>
                                        <p:cTn id="215" dur="1" fill="hold">
                                          <p:stCondLst>
                                            <p:cond delay="0"/>
                                          </p:stCondLst>
                                        </p:cTn>
                                        <p:tgtEl>
                                          <p:spTgt spid="55"/>
                                        </p:tgtEl>
                                        <p:attrNameLst>
                                          <p:attrName>style.visibility</p:attrName>
                                        </p:attrNameLst>
                                      </p:cBhvr>
                                      <p:to>
                                        <p:strVal val="visible"/>
                                      </p:to>
                                    </p:set>
                                    <p:animEffect transition="in" filter="fade">
                                      <p:cBhvr>
                                        <p:cTn id="216" dur="450"/>
                                        <p:tgtEl>
                                          <p:spTgt spid="55"/>
                                        </p:tgtEl>
                                      </p:cBhvr>
                                    </p:animEffect>
                                    <p:anim calcmode="lin" valueType="num">
                                      <p:cBhvr additive="base">
                                        <p:cTn id="217" dur="450" fill="hold"/>
                                        <p:tgtEl>
                                          <p:spTgt spid="55"/>
                                        </p:tgtEl>
                                        <p:attrNameLst>
                                          <p:attrName>ppt_w</p:attrName>
                                        </p:attrNameLst>
                                      </p:cBhvr>
                                      <p:tavLst>
                                        <p:tav tm="0">
                                          <p:val>
                                            <p:strVal val="#ppt_w*0.2"/>
                                          </p:val>
                                        </p:tav>
                                        <p:tav tm="100000">
                                          <p:val>
                                            <p:strVal val="#ppt_w"/>
                                          </p:val>
                                        </p:tav>
                                      </p:tavLst>
                                    </p:anim>
                                    <p:anim calcmode="lin" valueType="num">
                                      <p:cBhvr additive="base">
                                        <p:cTn id="218" dur="450" fill="hold"/>
                                        <p:tgtEl>
                                          <p:spTgt spid="55"/>
                                        </p:tgtEl>
                                        <p:attrNameLst>
                                          <p:attrName>ppt_h</p:attrName>
                                        </p:attrNameLst>
                                      </p:cBhvr>
                                      <p:tavLst>
                                        <p:tav tm="0">
                                          <p:val>
                                            <p:strVal val="#ppt_h*0.2"/>
                                          </p:val>
                                        </p:tav>
                                        <p:tav tm="100000">
                                          <p:val>
                                            <p:strVal val="#ppt_h"/>
                                          </p:val>
                                        </p:tav>
                                      </p:tavLst>
                                    </p:anim>
                                  </p:childTnLst>
                                </p:cTn>
                              </p:par>
                              <p:par>
                                <p:cTn id="219" presetID="53" presetClass="entr" presetSubtype="16" decel="100000" fill="hold" grpId="0" nodeType="withEffect">
                                  <p:stCondLst>
                                    <p:cond delay="2010"/>
                                  </p:stCondLst>
                                  <p:childTnLst>
                                    <p:set>
                                      <p:cBhvr>
                                        <p:cTn id="220" dur="1" fill="hold">
                                          <p:stCondLst>
                                            <p:cond delay="0"/>
                                          </p:stCondLst>
                                        </p:cTn>
                                        <p:tgtEl>
                                          <p:spTgt spid="56"/>
                                        </p:tgtEl>
                                        <p:attrNameLst>
                                          <p:attrName>style.visibility</p:attrName>
                                        </p:attrNameLst>
                                      </p:cBhvr>
                                      <p:to>
                                        <p:strVal val="visible"/>
                                      </p:to>
                                    </p:set>
                                    <p:animEffect transition="in" filter="fade">
                                      <p:cBhvr>
                                        <p:cTn id="221" dur="450"/>
                                        <p:tgtEl>
                                          <p:spTgt spid="56"/>
                                        </p:tgtEl>
                                      </p:cBhvr>
                                    </p:animEffect>
                                    <p:anim calcmode="lin" valueType="num">
                                      <p:cBhvr additive="base">
                                        <p:cTn id="222" dur="450" fill="hold"/>
                                        <p:tgtEl>
                                          <p:spTgt spid="56"/>
                                        </p:tgtEl>
                                        <p:attrNameLst>
                                          <p:attrName>ppt_w</p:attrName>
                                        </p:attrNameLst>
                                      </p:cBhvr>
                                      <p:tavLst>
                                        <p:tav tm="0">
                                          <p:val>
                                            <p:strVal val="#ppt_w*0.2"/>
                                          </p:val>
                                        </p:tav>
                                        <p:tav tm="100000">
                                          <p:val>
                                            <p:strVal val="#ppt_w"/>
                                          </p:val>
                                        </p:tav>
                                      </p:tavLst>
                                    </p:anim>
                                    <p:anim calcmode="lin" valueType="num">
                                      <p:cBhvr additive="base">
                                        <p:cTn id="223" dur="450" fill="hold"/>
                                        <p:tgtEl>
                                          <p:spTgt spid="56"/>
                                        </p:tgtEl>
                                        <p:attrNameLst>
                                          <p:attrName>ppt_h</p:attrName>
                                        </p:attrNameLst>
                                      </p:cBhvr>
                                      <p:tavLst>
                                        <p:tav tm="0">
                                          <p:val>
                                            <p:strVal val="#ppt_h*0.2"/>
                                          </p:val>
                                        </p:tav>
                                        <p:tav tm="100000">
                                          <p:val>
                                            <p:strVal val="#ppt_h"/>
                                          </p:val>
                                        </p:tav>
                                      </p:tavLst>
                                    </p:anim>
                                  </p:childTnLst>
                                </p:cTn>
                              </p:par>
                              <p:par>
                                <p:cTn id="224" presetID="10" presetClass="entr" presetSubtype="0" decel="100000" fill="hold" grpId="0" nodeType="withEffect">
                                  <p:stCondLst>
                                    <p:cond delay="2010"/>
                                  </p:stCondLst>
                                  <p:childTnLst>
                                    <p:set>
                                      <p:cBhvr>
                                        <p:cTn id="225" dur="1" fill="hold">
                                          <p:stCondLst>
                                            <p:cond delay="0"/>
                                          </p:stCondLst>
                                        </p:cTn>
                                        <p:tgtEl>
                                          <p:spTgt spid="57"/>
                                        </p:tgtEl>
                                        <p:attrNameLst>
                                          <p:attrName>style.visibility</p:attrName>
                                        </p:attrNameLst>
                                      </p:cBhvr>
                                      <p:to>
                                        <p:strVal val="visible"/>
                                      </p:to>
                                    </p:set>
                                    <p:animEffect transition="in" filter="fade">
                                      <p:cBhvr>
                                        <p:cTn id="226" dur="600"/>
                                        <p:tgtEl>
                                          <p:spTgt spid="57"/>
                                        </p:tgtEl>
                                      </p:cBhvr>
                                    </p:animEffect>
                                  </p:childTnLst>
                                </p:cTn>
                              </p:par>
                              <p:par>
                                <p:cTn id="227" presetID="53" presetClass="entr" presetSubtype="16" decel="100000" fill="hold" grpId="0" nodeType="withEffect">
                                  <p:stCondLst>
                                    <p:cond delay="2230"/>
                                  </p:stCondLst>
                                  <p:childTnLst>
                                    <p:set>
                                      <p:cBhvr>
                                        <p:cTn id="228" dur="1" fill="hold">
                                          <p:stCondLst>
                                            <p:cond delay="0"/>
                                          </p:stCondLst>
                                        </p:cTn>
                                        <p:tgtEl>
                                          <p:spTgt spid="58"/>
                                        </p:tgtEl>
                                        <p:attrNameLst>
                                          <p:attrName>style.visibility</p:attrName>
                                        </p:attrNameLst>
                                      </p:cBhvr>
                                      <p:to>
                                        <p:strVal val="visible"/>
                                      </p:to>
                                    </p:set>
                                    <p:animEffect transition="in" filter="fade">
                                      <p:cBhvr>
                                        <p:cTn id="229" dur="450"/>
                                        <p:tgtEl>
                                          <p:spTgt spid="58"/>
                                        </p:tgtEl>
                                      </p:cBhvr>
                                    </p:animEffect>
                                    <p:anim calcmode="lin" valueType="num">
                                      <p:cBhvr additive="base">
                                        <p:cTn id="230" dur="450" fill="hold"/>
                                        <p:tgtEl>
                                          <p:spTgt spid="58"/>
                                        </p:tgtEl>
                                        <p:attrNameLst>
                                          <p:attrName>ppt_w</p:attrName>
                                        </p:attrNameLst>
                                      </p:cBhvr>
                                      <p:tavLst>
                                        <p:tav tm="0">
                                          <p:val>
                                            <p:strVal val="#ppt_w*0.2"/>
                                          </p:val>
                                        </p:tav>
                                        <p:tav tm="100000">
                                          <p:val>
                                            <p:strVal val="#ppt_w"/>
                                          </p:val>
                                        </p:tav>
                                      </p:tavLst>
                                    </p:anim>
                                    <p:anim calcmode="lin" valueType="num">
                                      <p:cBhvr additive="base">
                                        <p:cTn id="231" dur="450" fill="hold"/>
                                        <p:tgtEl>
                                          <p:spTgt spid="58"/>
                                        </p:tgtEl>
                                        <p:attrNameLst>
                                          <p:attrName>ppt_h</p:attrName>
                                        </p:attrNameLst>
                                      </p:cBhvr>
                                      <p:tavLst>
                                        <p:tav tm="0">
                                          <p:val>
                                            <p:strVal val="#ppt_h*0.2"/>
                                          </p:val>
                                        </p:tav>
                                        <p:tav tm="100000">
                                          <p:val>
                                            <p:strVal val="#ppt_h"/>
                                          </p:val>
                                        </p:tav>
                                      </p:tavLst>
                                    </p:anim>
                                  </p:childTnLst>
                                </p:cTn>
                              </p:par>
                              <p:par>
                                <p:cTn id="232" presetID="53" presetClass="entr" presetSubtype="16" decel="100000" fill="hold" grpId="0" nodeType="withEffect">
                                  <p:stCondLst>
                                    <p:cond delay="2230"/>
                                  </p:stCondLst>
                                  <p:childTnLst>
                                    <p:set>
                                      <p:cBhvr>
                                        <p:cTn id="233" dur="1" fill="hold">
                                          <p:stCondLst>
                                            <p:cond delay="0"/>
                                          </p:stCondLst>
                                        </p:cTn>
                                        <p:tgtEl>
                                          <p:spTgt spid="59"/>
                                        </p:tgtEl>
                                        <p:attrNameLst>
                                          <p:attrName>style.visibility</p:attrName>
                                        </p:attrNameLst>
                                      </p:cBhvr>
                                      <p:to>
                                        <p:strVal val="visible"/>
                                      </p:to>
                                    </p:set>
                                    <p:animEffect transition="in" filter="fade">
                                      <p:cBhvr>
                                        <p:cTn id="234" dur="450"/>
                                        <p:tgtEl>
                                          <p:spTgt spid="59"/>
                                        </p:tgtEl>
                                      </p:cBhvr>
                                    </p:animEffect>
                                    <p:anim calcmode="lin" valueType="num">
                                      <p:cBhvr additive="base">
                                        <p:cTn id="235" dur="450" fill="hold"/>
                                        <p:tgtEl>
                                          <p:spTgt spid="59"/>
                                        </p:tgtEl>
                                        <p:attrNameLst>
                                          <p:attrName>ppt_w</p:attrName>
                                        </p:attrNameLst>
                                      </p:cBhvr>
                                      <p:tavLst>
                                        <p:tav tm="0">
                                          <p:val>
                                            <p:strVal val="#ppt_w*0.2"/>
                                          </p:val>
                                        </p:tav>
                                        <p:tav tm="100000">
                                          <p:val>
                                            <p:strVal val="#ppt_w"/>
                                          </p:val>
                                        </p:tav>
                                      </p:tavLst>
                                    </p:anim>
                                    <p:anim calcmode="lin" valueType="num">
                                      <p:cBhvr additive="base">
                                        <p:cTn id="236" dur="450" fill="hold"/>
                                        <p:tgtEl>
                                          <p:spTgt spid="59"/>
                                        </p:tgtEl>
                                        <p:attrNameLst>
                                          <p:attrName>ppt_h</p:attrName>
                                        </p:attrNameLst>
                                      </p:cBhvr>
                                      <p:tavLst>
                                        <p:tav tm="0">
                                          <p:val>
                                            <p:strVal val="#ppt_h*0.2"/>
                                          </p:val>
                                        </p:tav>
                                        <p:tav tm="100000">
                                          <p:val>
                                            <p:strVal val="#ppt_h"/>
                                          </p:val>
                                        </p:tav>
                                      </p:tavLst>
                                    </p:anim>
                                  </p:childTnLst>
                                </p:cTn>
                              </p:par>
                              <p:par>
                                <p:cTn id="237" presetID="53" presetClass="entr" presetSubtype="16" decel="100000" fill="hold" grpId="0" nodeType="withEffect">
                                  <p:stCondLst>
                                    <p:cond delay="2230"/>
                                  </p:stCondLst>
                                  <p:childTnLst>
                                    <p:set>
                                      <p:cBhvr>
                                        <p:cTn id="238" dur="1" fill="hold">
                                          <p:stCondLst>
                                            <p:cond delay="0"/>
                                          </p:stCondLst>
                                        </p:cTn>
                                        <p:tgtEl>
                                          <p:spTgt spid="60"/>
                                        </p:tgtEl>
                                        <p:attrNameLst>
                                          <p:attrName>style.visibility</p:attrName>
                                        </p:attrNameLst>
                                      </p:cBhvr>
                                      <p:to>
                                        <p:strVal val="visible"/>
                                      </p:to>
                                    </p:set>
                                    <p:animEffect transition="in" filter="fade">
                                      <p:cBhvr>
                                        <p:cTn id="239" dur="450"/>
                                        <p:tgtEl>
                                          <p:spTgt spid="60"/>
                                        </p:tgtEl>
                                      </p:cBhvr>
                                    </p:animEffect>
                                    <p:anim calcmode="lin" valueType="num">
                                      <p:cBhvr additive="base">
                                        <p:cTn id="240" dur="450" fill="hold"/>
                                        <p:tgtEl>
                                          <p:spTgt spid="60"/>
                                        </p:tgtEl>
                                        <p:attrNameLst>
                                          <p:attrName>ppt_w</p:attrName>
                                        </p:attrNameLst>
                                      </p:cBhvr>
                                      <p:tavLst>
                                        <p:tav tm="0">
                                          <p:val>
                                            <p:strVal val="#ppt_w*0.2"/>
                                          </p:val>
                                        </p:tav>
                                        <p:tav tm="100000">
                                          <p:val>
                                            <p:strVal val="#ppt_w"/>
                                          </p:val>
                                        </p:tav>
                                      </p:tavLst>
                                    </p:anim>
                                    <p:anim calcmode="lin" valueType="num">
                                      <p:cBhvr additive="base">
                                        <p:cTn id="241" dur="450" fill="hold"/>
                                        <p:tgtEl>
                                          <p:spTgt spid="60"/>
                                        </p:tgtEl>
                                        <p:attrNameLst>
                                          <p:attrName>ppt_h</p:attrName>
                                        </p:attrNameLst>
                                      </p:cBhvr>
                                      <p:tavLst>
                                        <p:tav tm="0">
                                          <p:val>
                                            <p:strVal val="#ppt_h*0.2"/>
                                          </p:val>
                                        </p:tav>
                                        <p:tav tm="100000">
                                          <p:val>
                                            <p:strVal val="#ppt_h"/>
                                          </p:val>
                                        </p:tav>
                                      </p:tavLst>
                                    </p:anim>
                                  </p:childTnLst>
                                </p:cTn>
                              </p:par>
                              <p:par>
                                <p:cTn id="242" presetID="53" presetClass="entr" presetSubtype="16" decel="100000" fill="hold" grpId="0" nodeType="withEffect">
                                  <p:stCondLst>
                                    <p:cond delay="2230"/>
                                  </p:stCondLst>
                                  <p:childTnLst>
                                    <p:set>
                                      <p:cBhvr>
                                        <p:cTn id="243" dur="1" fill="hold">
                                          <p:stCondLst>
                                            <p:cond delay="0"/>
                                          </p:stCondLst>
                                        </p:cTn>
                                        <p:tgtEl>
                                          <p:spTgt spid="61"/>
                                        </p:tgtEl>
                                        <p:attrNameLst>
                                          <p:attrName>style.visibility</p:attrName>
                                        </p:attrNameLst>
                                      </p:cBhvr>
                                      <p:to>
                                        <p:strVal val="visible"/>
                                      </p:to>
                                    </p:set>
                                    <p:animEffect transition="in" filter="fade">
                                      <p:cBhvr>
                                        <p:cTn id="244" dur="450"/>
                                        <p:tgtEl>
                                          <p:spTgt spid="61"/>
                                        </p:tgtEl>
                                      </p:cBhvr>
                                    </p:animEffect>
                                    <p:anim calcmode="lin" valueType="num">
                                      <p:cBhvr additive="base">
                                        <p:cTn id="245" dur="450" fill="hold"/>
                                        <p:tgtEl>
                                          <p:spTgt spid="61"/>
                                        </p:tgtEl>
                                        <p:attrNameLst>
                                          <p:attrName>ppt_w</p:attrName>
                                        </p:attrNameLst>
                                      </p:cBhvr>
                                      <p:tavLst>
                                        <p:tav tm="0">
                                          <p:val>
                                            <p:strVal val="#ppt_w*0.2"/>
                                          </p:val>
                                        </p:tav>
                                        <p:tav tm="100000">
                                          <p:val>
                                            <p:strVal val="#ppt_w"/>
                                          </p:val>
                                        </p:tav>
                                      </p:tavLst>
                                    </p:anim>
                                    <p:anim calcmode="lin" valueType="num">
                                      <p:cBhvr additive="base">
                                        <p:cTn id="246"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081B36">
              <a:alpha val="90000"/>
            </a:srgbClr>
          </a:solidFill>
          <a:ln w="9525">
            <a:solidFill>
              <a:srgbClr val="2A4F80"/>
            </a:solidFill>
            <a:prstDash val="solid"/>
          </a:ln>
          <a:effectLst>
            <a:outerShdw blurRad="152400" dist="50800" dir="5400000" algn="bl" rotWithShape="0">
              <a:srgbClr val="000000">
                <a:alpha val="35000"/>
              </a:srgbClr>
            </a:outerShdw>
          </a:effectLst>
        </p:spPr>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1" name="a2float_d0ic_c"/>
          <p:cNvSpPr/>
          <p:nvPr/>
        </p:nvSpPr>
        <p:spPr>
          <a:xfrm>
            <a:off x="5303520" y="1847088"/>
            <a:ext cx="475488" cy="475488"/>
          </a:xfrm>
          <a:prstGeom prst="ellipse">
            <a:avLst/>
          </a:prstGeom>
          <a:solidFill>
            <a:srgbClr val="4DA3FF">
              <a:alpha val="18000"/>
            </a:srgbClr>
          </a:solidFill>
          <a:ln w="12700">
            <a:solidFill>
              <a:srgbClr val="4DA3FF"/>
            </a:solidFill>
            <a:prstDash val="solid"/>
          </a:ln>
        </p:spPr>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F2C14E">
              <a:alpha val="15000"/>
            </a:srgbClr>
          </a:solidFill>
          <a:ln w="9525">
            <a:solidFill>
              <a:srgbClr val="F2C14E"/>
            </a:solidFill>
            <a:prstDash val="solid"/>
          </a:ln>
        </p:spPr>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FFE3A3"/>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8" name="a3float_d1ic_c"/>
          <p:cNvSpPr/>
          <p:nvPr/>
        </p:nvSpPr>
        <p:spPr>
          <a:xfrm>
            <a:off x="5303520" y="2752344"/>
            <a:ext cx="475488" cy="475488"/>
          </a:xfrm>
          <a:prstGeom prst="ellipse">
            <a:avLst/>
          </a:prstGeom>
          <a:solidFill>
            <a:srgbClr val="A78BFA">
              <a:alpha val="18000"/>
            </a:srgbClr>
          </a:solidFill>
          <a:ln w="12700">
            <a:solidFill>
              <a:srgbClr val="A78BFA"/>
            </a:solidFill>
            <a:prstDash val="solid"/>
          </a:ln>
        </p:spPr>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A78BFA">
              <a:alpha val="15000"/>
            </a:srgbClr>
          </a:solidFill>
          <a:ln w="9525">
            <a:solidFill>
              <a:srgbClr val="A78BFA"/>
            </a:solidFill>
            <a:prstDash val="solid"/>
          </a:ln>
        </p:spPr>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DDD3FF"/>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25" name="a4float_d2ic_c"/>
          <p:cNvSpPr/>
          <p:nvPr/>
        </p:nvSpPr>
        <p:spPr>
          <a:xfrm>
            <a:off x="5303520" y="3657600"/>
            <a:ext cx="475488" cy="475488"/>
          </a:xfrm>
          <a:prstGeom prst="ellipse">
            <a:avLst/>
          </a:prstGeom>
          <a:solidFill>
            <a:srgbClr val="4DA3FF">
              <a:alpha val="18000"/>
            </a:srgbClr>
          </a:solidFill>
          <a:ln w="12700">
            <a:solidFill>
              <a:srgbClr val="4DA3FF"/>
            </a:solidFill>
            <a:prstDash val="solid"/>
          </a:ln>
        </p:spPr>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F2C14E">
              <a:alpha val="15000"/>
            </a:srgbClr>
          </a:solidFill>
          <a:ln w="9525">
            <a:solidFill>
              <a:srgbClr val="F2C14E"/>
            </a:solidFill>
            <a:prstDash val="solid"/>
          </a:ln>
        </p:spPr>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FFE3A3"/>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32" name="a5float_d3ic_c"/>
          <p:cNvSpPr/>
          <p:nvPr/>
        </p:nvSpPr>
        <p:spPr>
          <a:xfrm>
            <a:off x="5303520" y="4562856"/>
            <a:ext cx="475488" cy="475488"/>
          </a:xfrm>
          <a:prstGeom prst="ellipse">
            <a:avLst/>
          </a:prstGeom>
          <a:solidFill>
            <a:srgbClr val="4DA3FF">
              <a:alpha val="18000"/>
            </a:srgbClr>
          </a:solidFill>
          <a:ln w="12700">
            <a:solidFill>
              <a:srgbClr val="4DA3FF"/>
            </a:solidFill>
            <a:prstDash val="solid"/>
          </a:ln>
        </p:spPr>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F2C14E">
              <a:alpha val="15000"/>
            </a:srgbClr>
          </a:solidFill>
          <a:ln w="9525">
            <a:solidFill>
              <a:srgbClr val="F2C14E"/>
            </a:solidFill>
            <a:prstDash val="solid"/>
          </a:ln>
        </p:spPr>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FFE3A3"/>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39" name="a6float_d4ic_c"/>
          <p:cNvSpPr/>
          <p:nvPr/>
        </p:nvSpPr>
        <p:spPr>
          <a:xfrm>
            <a:off x="5303520" y="5468112"/>
            <a:ext cx="475488" cy="475488"/>
          </a:xfrm>
          <a:prstGeom prst="ellipse">
            <a:avLst/>
          </a:prstGeom>
          <a:solidFill>
            <a:srgbClr val="4DA3FF">
              <a:alpha val="18000"/>
            </a:srgbClr>
          </a:solidFill>
          <a:ln w="12700">
            <a:solidFill>
              <a:srgbClr val="4DA3FF"/>
            </a:solidFill>
            <a:prstDash val="solid"/>
          </a:ln>
        </p:spPr>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F2C14E">
              <a:alpha val="15000"/>
            </a:srgbClr>
          </a:solidFill>
          <a:ln w="9525">
            <a:solidFill>
              <a:srgbClr val="F2C14E"/>
            </a:solidFill>
            <a:prstDash val="solid"/>
          </a:ln>
        </p:spPr>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FFE3A3"/>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50800" dir="5400000" algn="bl" rotWithShape="0">
              <a:srgbClr val="000000">
                <a:alpha val="35000"/>
              </a:srgbClr>
            </a:outerShdw>
          </a:effectLst>
        </p:spPr>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C4B5FD"/>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F2C14E"/>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FF6B81"/>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8AA3BC"/>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WHY NAIVE MONITORS FAIL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0A2133"/>
          </a:solidFill>
          <a:ln w="9525">
            <a:solidFill>
              <a:srgbClr val="2A4F80"/>
            </a:solidFill>
            <a:prstDash val="solid"/>
          </a:ln>
        </p:spPr>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sp>
      <p:sp>
        <p:nvSpPr>
          <p:cNvPr id="12" name="a2fade_tc0_0"/>
          <p:cNvSpPr/>
          <p:nvPr/>
        </p:nvSpPr>
        <p:spPr>
          <a:xfrm>
            <a:off x="896112" y="2926080"/>
            <a:ext cx="347472" cy="347472"/>
          </a:xfrm>
          <a:prstGeom prst="ellipse">
            <a:avLst/>
          </a:prstGeom>
          <a:solidFill>
            <a:srgbClr val="2E9E6B"/>
          </a:solidFill>
          <a:ln/>
        </p:spPr>
      </p:sp>
      <p:sp>
        <p:nvSpPr>
          <p:cNvPr id="13" name="a2fade_tr0_1"/>
          <p:cNvSpPr/>
          <p:nvPr/>
        </p:nvSpPr>
        <p:spPr>
          <a:xfrm>
            <a:off x="1481328" y="3246120"/>
            <a:ext cx="36576" cy="1005840"/>
          </a:xfrm>
          <a:prstGeom prst="rect">
            <a:avLst/>
          </a:prstGeom>
          <a:solidFill>
            <a:srgbClr val="6B5B4B"/>
          </a:solidFill>
          <a:ln/>
        </p:spPr>
      </p:sp>
      <p:sp>
        <p:nvSpPr>
          <p:cNvPr id="14" name="a2fade_tc0_1"/>
          <p:cNvSpPr/>
          <p:nvPr/>
        </p:nvSpPr>
        <p:spPr>
          <a:xfrm>
            <a:off x="1325880" y="2926080"/>
            <a:ext cx="347472" cy="347472"/>
          </a:xfrm>
          <a:prstGeom prst="ellipse">
            <a:avLst/>
          </a:prstGeom>
          <a:solidFill>
            <a:srgbClr val="2E9E6B"/>
          </a:solidFill>
          <a:ln/>
        </p:spPr>
      </p:sp>
      <p:sp>
        <p:nvSpPr>
          <p:cNvPr id="15" name="a2fade_tr0_2"/>
          <p:cNvSpPr/>
          <p:nvPr/>
        </p:nvSpPr>
        <p:spPr>
          <a:xfrm>
            <a:off x="1911096" y="3246120"/>
            <a:ext cx="36576" cy="1005840"/>
          </a:xfrm>
          <a:prstGeom prst="rect">
            <a:avLst/>
          </a:prstGeom>
          <a:solidFill>
            <a:srgbClr val="6B5B4B"/>
          </a:solidFill>
          <a:ln/>
        </p:spPr>
      </p:sp>
      <p:sp>
        <p:nvSpPr>
          <p:cNvPr id="16" name="a2fade_tc0_2"/>
          <p:cNvSpPr/>
          <p:nvPr/>
        </p:nvSpPr>
        <p:spPr>
          <a:xfrm>
            <a:off x="1755648" y="2926080"/>
            <a:ext cx="347472" cy="347472"/>
          </a:xfrm>
          <a:prstGeom prst="ellipse">
            <a:avLst/>
          </a:prstGeom>
          <a:solidFill>
            <a:srgbClr val="2E9E6B"/>
          </a:solidFill>
          <a:ln/>
        </p:spPr>
      </p:sp>
      <p:sp>
        <p:nvSpPr>
          <p:cNvPr id="17" name="a2fade_tr0_3"/>
          <p:cNvSpPr/>
          <p:nvPr/>
        </p:nvSpPr>
        <p:spPr>
          <a:xfrm>
            <a:off x="2340864" y="3246120"/>
            <a:ext cx="36576" cy="1005840"/>
          </a:xfrm>
          <a:prstGeom prst="rect">
            <a:avLst/>
          </a:prstGeom>
          <a:solidFill>
            <a:srgbClr val="6B5B4B"/>
          </a:solidFill>
          <a:ln/>
        </p:spPr>
      </p:sp>
      <p:sp>
        <p:nvSpPr>
          <p:cNvPr id="18" name="a2fade_tc0_3"/>
          <p:cNvSpPr/>
          <p:nvPr/>
        </p:nvSpPr>
        <p:spPr>
          <a:xfrm>
            <a:off x="2185416" y="2926080"/>
            <a:ext cx="347472" cy="347472"/>
          </a:xfrm>
          <a:prstGeom prst="ellipse">
            <a:avLst/>
          </a:prstGeom>
          <a:solidFill>
            <a:srgbClr val="2E9E6B"/>
          </a:solidFill>
          <a:ln/>
        </p:spPr>
      </p:sp>
      <p:sp>
        <p:nvSpPr>
          <p:cNvPr id="19" name="a2fade_tr0_4"/>
          <p:cNvSpPr/>
          <p:nvPr/>
        </p:nvSpPr>
        <p:spPr>
          <a:xfrm>
            <a:off x="2770632" y="3246120"/>
            <a:ext cx="36576" cy="1005840"/>
          </a:xfrm>
          <a:prstGeom prst="rect">
            <a:avLst/>
          </a:prstGeom>
          <a:solidFill>
            <a:srgbClr val="6B5B4B"/>
          </a:solidFill>
          <a:ln/>
        </p:spPr>
      </p:sp>
      <p:sp>
        <p:nvSpPr>
          <p:cNvPr id="20" name="a2fade_tc0_4"/>
          <p:cNvSpPr/>
          <p:nvPr/>
        </p:nvSpPr>
        <p:spPr>
          <a:xfrm>
            <a:off x="2615184" y="2926080"/>
            <a:ext cx="347472" cy="347472"/>
          </a:xfrm>
          <a:prstGeom prst="ellipse">
            <a:avLst/>
          </a:prstGeom>
          <a:solidFill>
            <a:srgbClr val="2E9E6B"/>
          </a:solidFill>
          <a:ln/>
        </p:spPr>
      </p:sp>
      <p:sp>
        <p:nvSpPr>
          <p:cNvPr id="21" name="a3rise_w0"/>
          <p:cNvSpPr/>
          <p:nvPr/>
        </p:nvSpPr>
        <p:spPr>
          <a:xfrm>
            <a:off x="795528" y="4069080"/>
            <a:ext cx="2386584" cy="256032"/>
          </a:xfrm>
          <a:prstGeom prst="rect">
            <a:avLst/>
          </a:prstGeom>
          <a:solidFill>
            <a:srgbClr val="38BDF8">
              <a:alpha val="55000"/>
            </a:srgbClr>
          </a:solidFill>
          <a:ln/>
        </p:spPr>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A3B8CB"/>
                </a:solidFill>
                <a:latin typeface="Segoe UI" pitchFamily="34" charset="0"/>
                <a:ea typeface="Segoe UI" pitchFamily="34" charset="-122"/>
                <a:cs typeface="Segoe UI" pitchFamily="34" charset="-120"/>
              </a:rPr>
              <a:t>NDVI </a:t>
            </a:r>
            <a:r>
              <a:rPr lang="en-US" sz="1500" b="1" dirty="0">
                <a:solidFill>
                  <a:srgbClr val="A8D1F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0A2133"/>
          </a:solidFill>
          <a:ln w="9525">
            <a:solidFill>
              <a:srgbClr val="2A4F80"/>
            </a:solidFill>
            <a:prstDash val="solid"/>
          </a:ln>
        </p:spPr>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sp>
      <p:sp>
        <p:nvSpPr>
          <p:cNvPr id="26" name="a2fade_tc1_0"/>
          <p:cNvSpPr/>
          <p:nvPr/>
        </p:nvSpPr>
        <p:spPr>
          <a:xfrm>
            <a:off x="3502152" y="2926080"/>
            <a:ext cx="347472" cy="347472"/>
          </a:xfrm>
          <a:prstGeom prst="ellipse">
            <a:avLst/>
          </a:prstGeom>
          <a:solidFill>
            <a:srgbClr val="2E9E6B"/>
          </a:solidFill>
          <a:ln/>
        </p:spPr>
      </p:sp>
      <p:sp>
        <p:nvSpPr>
          <p:cNvPr id="27" name="a2fade_tr1_1"/>
          <p:cNvSpPr/>
          <p:nvPr/>
        </p:nvSpPr>
        <p:spPr>
          <a:xfrm>
            <a:off x="4087368" y="3246120"/>
            <a:ext cx="36576" cy="1005840"/>
          </a:xfrm>
          <a:prstGeom prst="rect">
            <a:avLst/>
          </a:prstGeom>
          <a:solidFill>
            <a:srgbClr val="6B5B4B"/>
          </a:solidFill>
          <a:ln/>
        </p:spPr>
      </p:sp>
      <p:sp>
        <p:nvSpPr>
          <p:cNvPr id="28" name="a2fade_tc1_1"/>
          <p:cNvSpPr/>
          <p:nvPr/>
        </p:nvSpPr>
        <p:spPr>
          <a:xfrm>
            <a:off x="3931920" y="2926080"/>
            <a:ext cx="347472" cy="347472"/>
          </a:xfrm>
          <a:prstGeom prst="ellipse">
            <a:avLst/>
          </a:prstGeom>
          <a:solidFill>
            <a:srgbClr val="2E9E6B"/>
          </a:solidFill>
          <a:ln/>
        </p:spPr>
      </p:sp>
      <p:sp>
        <p:nvSpPr>
          <p:cNvPr id="29" name="a2fade_tr1_2"/>
          <p:cNvSpPr/>
          <p:nvPr/>
        </p:nvSpPr>
        <p:spPr>
          <a:xfrm>
            <a:off x="4517136" y="3246120"/>
            <a:ext cx="36576" cy="1005840"/>
          </a:xfrm>
          <a:prstGeom prst="rect">
            <a:avLst/>
          </a:prstGeom>
          <a:solidFill>
            <a:srgbClr val="6B5B4B"/>
          </a:solidFill>
          <a:ln/>
        </p:spPr>
      </p:sp>
      <p:sp>
        <p:nvSpPr>
          <p:cNvPr id="30" name="a2fade_tc1_2"/>
          <p:cNvSpPr/>
          <p:nvPr/>
        </p:nvSpPr>
        <p:spPr>
          <a:xfrm>
            <a:off x="4361688" y="2926080"/>
            <a:ext cx="347472" cy="347472"/>
          </a:xfrm>
          <a:prstGeom prst="ellipse">
            <a:avLst/>
          </a:prstGeom>
          <a:solidFill>
            <a:srgbClr val="2E9E6B"/>
          </a:solidFill>
          <a:ln/>
        </p:spPr>
      </p:sp>
      <p:sp>
        <p:nvSpPr>
          <p:cNvPr id="31" name="a2fade_tr1_3"/>
          <p:cNvSpPr/>
          <p:nvPr/>
        </p:nvSpPr>
        <p:spPr>
          <a:xfrm>
            <a:off x="4946904" y="3246120"/>
            <a:ext cx="36576" cy="1005840"/>
          </a:xfrm>
          <a:prstGeom prst="rect">
            <a:avLst/>
          </a:prstGeom>
          <a:solidFill>
            <a:srgbClr val="6B5B4B"/>
          </a:solidFill>
          <a:ln/>
        </p:spPr>
      </p:sp>
      <p:sp>
        <p:nvSpPr>
          <p:cNvPr id="32" name="a2fade_tc1_3"/>
          <p:cNvSpPr/>
          <p:nvPr/>
        </p:nvSpPr>
        <p:spPr>
          <a:xfrm>
            <a:off x="4791456" y="2926080"/>
            <a:ext cx="347472" cy="347472"/>
          </a:xfrm>
          <a:prstGeom prst="ellipse">
            <a:avLst/>
          </a:prstGeom>
          <a:solidFill>
            <a:srgbClr val="2E9E6B"/>
          </a:solidFill>
          <a:ln/>
        </p:spPr>
      </p:sp>
      <p:sp>
        <p:nvSpPr>
          <p:cNvPr id="33" name="a2fade_tr1_4"/>
          <p:cNvSpPr/>
          <p:nvPr/>
        </p:nvSpPr>
        <p:spPr>
          <a:xfrm>
            <a:off x="5376672" y="3246120"/>
            <a:ext cx="36576" cy="1005840"/>
          </a:xfrm>
          <a:prstGeom prst="rect">
            <a:avLst/>
          </a:prstGeom>
          <a:solidFill>
            <a:srgbClr val="6B5B4B"/>
          </a:solidFill>
          <a:ln/>
        </p:spPr>
      </p:sp>
      <p:sp>
        <p:nvSpPr>
          <p:cNvPr id="34" name="a2fade_tc1_4"/>
          <p:cNvSpPr/>
          <p:nvPr/>
        </p:nvSpPr>
        <p:spPr>
          <a:xfrm>
            <a:off x="5221224" y="2926080"/>
            <a:ext cx="347472" cy="347472"/>
          </a:xfrm>
          <a:prstGeom prst="ellipse">
            <a:avLst/>
          </a:prstGeom>
          <a:solidFill>
            <a:srgbClr val="2E9E6B"/>
          </a:solidFill>
          <a:ln/>
        </p:spPr>
      </p:sp>
      <p:sp>
        <p:nvSpPr>
          <p:cNvPr id="35" name="a3rise_w1"/>
          <p:cNvSpPr/>
          <p:nvPr/>
        </p:nvSpPr>
        <p:spPr>
          <a:xfrm>
            <a:off x="3401568" y="3337560"/>
            <a:ext cx="2386584" cy="987552"/>
          </a:xfrm>
          <a:prstGeom prst="rect">
            <a:avLst/>
          </a:prstGeom>
          <a:solidFill>
            <a:srgbClr val="38BDF8">
              <a:alpha val="55000"/>
            </a:srgbClr>
          </a:solidFill>
          <a:ln/>
        </p:spPr>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A3B8CB"/>
                </a:solidFill>
                <a:latin typeface="Segoe UI" pitchFamily="34" charset="0"/>
                <a:ea typeface="Segoe UI" pitchFamily="34" charset="-122"/>
                <a:cs typeface="Segoe UI" pitchFamily="34" charset="-120"/>
              </a:rPr>
              <a:t>NDVI </a:t>
            </a:r>
            <a:r>
              <a:rPr lang="en-US" sz="1500" b="1" dirty="0">
                <a:solidFill>
                  <a:srgbClr val="FF6B81"/>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11091672" cy="1051560"/>
          </a:xfrm>
          <a:prstGeom prst="roundRect">
            <a:avLst>
              <a:gd name="adj" fmla="val 12174"/>
            </a:avLst>
          </a:prstGeom>
          <a:solidFill>
            <a:srgbClr val="0C2D5C">
              <a:alpha val="95000"/>
            </a:srgbClr>
          </a:solidFill>
          <a:ln w="9525">
            <a:solidFill>
              <a:srgbClr val="2A4F80"/>
            </a:solidFill>
            <a:prstDash val="solid"/>
          </a:ln>
          <a:effectLst>
            <a:outerShdw blurRad="152400" dist="50800" dir="5400000" algn="bl" rotWithShape="0">
              <a:srgbClr val="000000">
                <a:alpha val="35000"/>
              </a:srgbClr>
            </a:outerShdw>
          </a:effectLst>
        </p:spPr>
      </p:sp>
      <p:sp>
        <p:nvSpPr>
          <p:cNvPr id="41" name="a5float_stic_c"/>
          <p:cNvSpPr/>
          <p:nvPr/>
        </p:nvSpPr>
        <p:spPr>
          <a:xfrm>
            <a:off x="822960" y="5376672"/>
            <a:ext cx="548640" cy="548640"/>
          </a:xfrm>
          <a:prstGeom prst="ellipse">
            <a:avLst/>
          </a:prstGeom>
          <a:solidFill>
            <a:srgbClr val="4DA3FF">
              <a:alpha val="18000"/>
            </a:srgbClr>
          </a:solidFill>
          <a:ln w="12700">
            <a:solidFill>
              <a:srgbClr val="4DA3FF"/>
            </a:solidFill>
            <a:prstDash val="solid"/>
          </a:ln>
        </p:spPr>
      </p:sp>
      <p:pic>
        <p:nvPicPr>
          <p:cNvPr id="42" name="a5float_stic_i" descr="preencoded.png"/>
          <p:cNvPicPr>
            <a:picLocks noChangeAspect="1"/>
          </p:cNvPicPr>
          <p:nvPr/>
        </p:nvPicPr>
        <p:blipFill>
          <a:blip r:embed="rId6"/>
          <a:stretch>
            <a:fillRect/>
          </a:stretch>
        </p:blipFill>
        <p:spPr>
          <a:xfrm>
            <a:off x="954634" y="5508346"/>
            <a:ext cx="285293" cy="285293"/>
          </a:xfrm>
          <a:prstGeom prst="rect">
            <a:avLst/>
          </a:prstGeom>
        </p:spPr>
      </p:pic>
      <p:sp>
        <p:nvSpPr>
          <p:cNvPr id="43" name="a5float_stn"/>
          <p:cNvSpPr txBox="1"/>
          <p:nvPr/>
        </p:nvSpPr>
        <p:spPr>
          <a:xfrm>
            <a:off x="1554480" y="5120640"/>
            <a:ext cx="2834640" cy="1051560"/>
          </a:xfrm>
          <a:prstGeom prst="rect">
            <a:avLst/>
          </a:prstGeom>
          <a:noFill/>
          <a:ln/>
        </p:spPr>
        <p:txBody>
          <a:bodyPr wrap="square" lIns="0" tIns="0" rIns="0" bIns="0" rtlCol="0" anchor="ctr"/>
          <a:lstStyle/>
          <a:p>
            <a:pPr marL="0" indent="0" algn="l">
              <a:lnSpc>
                <a:spcPct val="105000"/>
              </a:lnSpc>
              <a:buNone/>
            </a:pPr>
            <a:r>
              <a:rPr lang="en-US" sz="3200" dirty="0">
                <a:solidFill>
                  <a:srgbClr val="F2C14E"/>
                </a:solidFill>
                <a:latin typeface="Segoe UI Light" pitchFamily="34" charset="0"/>
                <a:ea typeface="Segoe UI Light" pitchFamily="34" charset="-122"/>
                <a:cs typeface="Segoe UI Light" pitchFamily="34" charset="-120"/>
              </a:rPr>
              <a:t>−29 to −35 %</a:t>
            </a:r>
            <a:endParaRPr lang="en-US" sz="3200" dirty="0"/>
          </a:p>
        </p:txBody>
      </p:sp>
      <p:sp>
        <p:nvSpPr>
          <p:cNvPr id="44" name="a5float_stt"/>
          <p:cNvSpPr txBox="1"/>
          <p:nvPr/>
        </p:nvSpPr>
        <p:spPr>
          <a:xfrm>
            <a:off x="4434840" y="5120640"/>
            <a:ext cx="7040880" cy="1051560"/>
          </a:xfrm>
          <a:prstGeom prst="rect">
            <a:avLst/>
          </a:prstGeom>
          <a:noFill/>
          <a:ln/>
        </p:spPr>
        <p:txBody>
          <a:bodyPr wrap="square" lIns="0" tIns="0" rIns="0" bIns="0" rtlCol="0" anchor="ctr"/>
          <a:lstStyle/>
          <a:p>
            <a:pPr marL="0" indent="0" algn="l">
              <a:lnSpc>
                <a:spcPct val="105000"/>
              </a:lnSpc>
              <a:buNone/>
            </a:pPr>
            <a:r>
              <a:rPr lang="en-US" sz="1500" dirty="0">
                <a:solidFill>
                  <a:srgbClr val="F3F7FA"/>
                </a:solidFill>
                <a:latin typeface="Segoe UI" pitchFamily="34" charset="0"/>
                <a:ea typeface="Segoe UI" pitchFamily="34" charset="-122"/>
                <a:cs typeface="Segoe UI" pitchFamily="34" charset="-120"/>
              </a:rPr>
              <a:t>We regress every index on trend, season and tidal state before flagging anything. Noise falls on every index.</a:t>
            </a:r>
            <a:endParaRPr lang="en-US" sz="1500" dirty="0"/>
          </a:p>
        </p:txBody>
      </p:sp>
      <p:sp>
        <p:nvSpPr>
          <p:cNvPr id="4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70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60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1D06B8E7-E603-BF5B-658D-8E91BAA0B02B}"/>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4DA3FF"/>
          </a:solidFill>
          <a:ln/>
        </p:spPr>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A8D1FF"/>
                </a:solidFill>
                <a:latin typeface="Segoe UI" pitchFamily="34" charset="0"/>
                <a:ea typeface="Segoe UI" pitchFamily="34" charset="-122"/>
                <a:cs typeface="Segoe UI" pitchFamily="34" charset="-120"/>
              </a:rPr>
              <a:t>73 %  </a:t>
            </a:r>
            <a:r>
              <a:rPr lang="en-US" sz="1100" dirty="0">
                <a:solidFill>
                  <a:srgbClr val="A3B8CB"/>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38BDF8"/>
          </a:solidFill>
          <a:ln/>
        </p:spPr>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F3F7FA"/>
                </a:solidFill>
                <a:latin typeface="Segoe UI" pitchFamily="34" charset="0"/>
                <a:ea typeface="Segoe UI" pitchFamily="34" charset="-122"/>
                <a:cs typeface="Segoe UI" pitchFamily="34" charset="-120"/>
              </a:rPr>
              <a:t>25 %  </a:t>
            </a:r>
            <a:r>
              <a:rPr lang="en-US" sz="1100" dirty="0">
                <a:solidFill>
                  <a:srgbClr val="A3B8CB"/>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5B7188"/>
          </a:solidFill>
          <a:ln/>
        </p:spPr>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F3F7FA"/>
                </a:solidFill>
                <a:latin typeface="Segoe UI" pitchFamily="34" charset="0"/>
                <a:ea typeface="Segoe UI" pitchFamily="34" charset="-122"/>
                <a:cs typeface="Segoe UI" pitchFamily="34" charset="-120"/>
              </a:rPr>
              <a:t>13 %  </a:t>
            </a:r>
            <a:r>
              <a:rPr lang="en-US" sz="1100" dirty="0">
                <a:solidFill>
                  <a:srgbClr val="A3B8CB"/>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FF6B81"/>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F2C14E"/>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0C2D5C">
              <a:alpha val="95000"/>
            </a:srgbClr>
          </a:solidFill>
          <a:ln w="9525">
            <a:solidFill>
              <a:srgbClr val="2A4F80"/>
            </a:solidFill>
            <a:prstDash val="solid"/>
          </a:ln>
          <a:effectLst>
            <a:outerShdw blurRad="152400" dist="50800" dir="5400000" algn="bl" rotWithShape="0">
              <a:srgbClr val="000000">
                <a:alpha val="35000"/>
              </a:srgbClr>
            </a:outerShdw>
          </a:effectLst>
        </p:spPr>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4DA3FF">
              <a:alpha val="15000"/>
            </a:srgbClr>
          </a:solidFill>
          <a:ln w="9525">
            <a:solidFill>
              <a:srgbClr val="4DA3FF"/>
            </a:solidFill>
            <a:prstDash val="solid"/>
          </a:ln>
        </p:spPr>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8D1F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F2C14E"/>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FF6B81">
              <a:alpha val="15000"/>
            </a:srgbClr>
          </a:solidFill>
          <a:ln w="9525">
            <a:solidFill>
              <a:srgbClr val="FF6B81"/>
            </a:solidFill>
            <a:prstDash val="solid"/>
          </a:ln>
        </p:spPr>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FFC7D0"/>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0"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A1D3F"/>
                    </a:solidFill>
                  </a:tcPr>
                </a:tc>
                <a:tc>
                  <a:txBody>
                    <a:bodyPr/>
                    <a:lstStyle/>
                    <a:p>
                      <a:pPr marL="0" indent="0" algn="ctr">
                        <a:buNone/>
                      </a:pPr>
                      <a:r>
                        <a:rPr lang="en-US" sz="1200" b="1" dirty="0">
                          <a:solidFill>
                            <a:srgbClr val="A8D1F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A1D3F"/>
                    </a:solidFill>
                  </a:tcPr>
                </a:tc>
                <a:tc>
                  <a:txBody>
                    <a:bodyPr/>
                    <a:lstStyle/>
                    <a:p>
                      <a:pPr marL="0" indent="0" algn="ctr">
                        <a:buNone/>
                      </a:pPr>
                      <a:r>
                        <a:rPr lang="en-US" sz="1200" b="1" dirty="0">
                          <a:solidFill>
                            <a:srgbClr val="A8D1F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A1D3F"/>
                    </a:solidFill>
                  </a:tcPr>
                </a:tc>
                <a:tc>
                  <a:txBody>
                    <a:bodyPr/>
                    <a:lstStyle/>
                    <a:p>
                      <a:pPr marL="0" indent="0" algn="ctr">
                        <a:buNone/>
                      </a:pPr>
                      <a:r>
                        <a:rPr lang="en-US" sz="1200" b="1" dirty="0">
                          <a:solidFill>
                            <a:srgbClr val="A8D1F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A1D3F"/>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2F6FD0"/>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F3F7FA"/>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1D4F9A"/>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F3F7FA"/>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1D4F9A"/>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F3F7FA"/>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1D4F9A"/>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F3F7FA"/>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1D4F9A"/>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F3F7FA"/>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E2850"/>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1D4F9A"/>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F3F7FA"/>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0C2246"/>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4467A"/>
                      </a:solidFill>
                      <a:prstDash val="solid"/>
                      <a:round/>
                      <a:headEnd type="none" w="med" len="med"/>
                      <a:tailEnd type="none" w="med" len="med"/>
                    </a:lnL>
                    <a:lnR w="9525" cap="flat" cmpd="sng" algn="ctr">
                      <a:solidFill>
                        <a:srgbClr val="24467A"/>
                      </a:solidFill>
                      <a:prstDash val="solid"/>
                      <a:round/>
                      <a:headEnd type="none" w="med" len="med"/>
                      <a:tailEnd type="none" w="med" len="med"/>
                    </a:lnR>
                    <a:lnT w="9525" cap="flat" cmpd="sng" algn="ctr">
                      <a:solidFill>
                        <a:srgbClr val="24467A"/>
                      </a:solidFill>
                      <a:prstDash val="solid"/>
                      <a:round/>
                      <a:headEnd type="none" w="med" len="med"/>
                      <a:tailEnd type="none" w="med" len="med"/>
                    </a:lnT>
                    <a:lnB w="9525" cap="flat" cmpd="sng" algn="ctr">
                      <a:solidFill>
                        <a:srgbClr val="24467A"/>
                      </a:solidFill>
                      <a:prstDash val="solid"/>
                      <a:round/>
                      <a:headEnd type="none" w="med" len="med"/>
                      <a:tailEnd type="none" w="med" len="med"/>
                    </a:lnB>
                    <a:solidFill>
                      <a:srgbClr val="1D4F9A"/>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0C2D5C">
              <a:alpha val="95000"/>
            </a:srgbClr>
          </a:solidFill>
          <a:ln w="9525">
            <a:solidFill>
              <a:srgbClr val="2A4F80"/>
            </a:solidFill>
            <a:prstDash val="solid"/>
          </a:ln>
          <a:effectLst>
            <a:outerShdw blurRad="152400" dist="50800" dir="5400000" algn="bl" rotWithShape="0">
              <a:srgbClr val="000000">
                <a:alpha val="35000"/>
              </a:srgbClr>
            </a:outerShdw>
          </a:effectLst>
        </p:spPr>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A8D1FF"/>
                </a:solidFill>
                <a:latin typeface="Segoe UI" pitchFamily="34" charset="0"/>
                <a:ea typeface="Segoe UI" pitchFamily="34" charset="-122"/>
                <a:cs typeface="Segoe UI" pitchFamily="34" charset="-120"/>
              </a:rPr>
              <a:t>Complementary, not competing: </a:t>
            </a:r>
            <a:r>
              <a:rPr lang="en-US" sz="1400" dirty="0">
                <a:solidFill>
                  <a:srgbClr val="F3F7FA"/>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700"/>
                                        <p:tgtEl>
                                          <p:spTgt spid="10"/>
                                        </p:tgtEl>
                                      </p:cBhvr>
                                    </p:animEffect>
                                    <p:anim calcmode="lin" valueType="num">
                                      <p:cBhvr additive="base">
                                        <p:cTn id="15" dur="700" fill="hold"/>
                                        <p:tgtEl>
                                          <p:spTgt spid="10"/>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0" grpId="0">
        <p:bldAsOne/>
      </p:bldGraphic>
      <p:bldP spid="8" grpId="0" animBg="1"/>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50800" dir="5400000" algn="bl" rotWithShape="0">
              <a:srgbClr val="000000">
                <a:alpha val="35000"/>
              </a:srgbClr>
            </a:outerShdw>
          </a:effectLst>
        </p:spPr>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50800" dir="5400000" algn="bl" rotWithShape="0">
              <a:srgbClr val="000000">
                <a:alpha val="35000"/>
              </a:srgbClr>
            </a:outerShdw>
          </a:effectLst>
        </p:spPr>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50800" dir="5400000" algn="bl" rotWithShape="0">
              <a:srgbClr val="000000">
                <a:alpha val="35000"/>
              </a:srgbClr>
            </a:outerShdw>
          </a:effectLst>
        </p:spPr>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50800" dir="5400000" algn="bl" rotWithShape="0">
              <a:srgbClr val="000000">
                <a:alpha val="35000"/>
              </a:srgbClr>
            </a:outerShdw>
          </a:effectLst>
        </p:spPr>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2A4F80"/>
            </a:solidFill>
            <a:prstDash val="dash"/>
          </a:ln>
        </p:spPr>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A3B8CB"/>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2A4F80"/>
            </a:solidFill>
            <a:prstDash val="dash"/>
          </a:ln>
        </p:spPr>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A3B8CB"/>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2A4F80"/>
            </a:solidFill>
            <a:prstDash val="dash"/>
          </a:ln>
        </p:spPr>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A3B8CB"/>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2A4F80"/>
            </a:solidFill>
            <a:prstDash val="dash"/>
          </a:ln>
        </p:spPr>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A3B8CB"/>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38BDF8">
              <a:alpha val="45000"/>
            </a:srgbClr>
          </a:solidFill>
          <a:ln w="9525">
            <a:solidFill>
              <a:srgbClr val="38BDF8"/>
            </a:solidFill>
            <a:prstDash val="solid"/>
          </a:ln>
        </p:spPr>
      </p:sp>
      <p:sp>
        <p:nvSpPr>
          <p:cNvPr id="31" name="a3pop_gd0"/>
          <p:cNvSpPr/>
          <p:nvPr/>
        </p:nvSpPr>
        <p:spPr>
          <a:xfrm>
            <a:off x="9129251" y="2258568"/>
            <a:ext cx="237744" cy="237744"/>
          </a:xfrm>
          <a:prstGeom prst="diamond">
            <a:avLst/>
          </a:prstGeom>
          <a:solidFill>
            <a:srgbClr val="FF6B81"/>
          </a:solidFill>
          <a:ln w="12700">
            <a:solidFill>
              <a:srgbClr val="FFFFFF"/>
            </a:solidFill>
            <a:prstDash val="solid"/>
          </a:ln>
        </p:spPr>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38BDF8">
              <a:alpha val="45000"/>
            </a:srgbClr>
          </a:solidFill>
          <a:ln w="9525">
            <a:solidFill>
              <a:srgbClr val="38BDF8"/>
            </a:solidFill>
            <a:prstDash val="solid"/>
          </a:ln>
        </p:spPr>
      </p:sp>
      <p:sp>
        <p:nvSpPr>
          <p:cNvPr id="34" name="a4pop_gd1"/>
          <p:cNvSpPr/>
          <p:nvPr/>
        </p:nvSpPr>
        <p:spPr>
          <a:xfrm>
            <a:off x="9236997" y="2715768"/>
            <a:ext cx="237744" cy="237744"/>
          </a:xfrm>
          <a:prstGeom prst="diamond">
            <a:avLst/>
          </a:prstGeom>
          <a:solidFill>
            <a:srgbClr val="FF6B81"/>
          </a:solidFill>
          <a:ln w="12700">
            <a:solidFill>
              <a:srgbClr val="FFFFFF"/>
            </a:solidFill>
            <a:prstDash val="solid"/>
          </a:ln>
        </p:spPr>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38BDF8">
              <a:alpha val="45000"/>
            </a:srgbClr>
          </a:solidFill>
          <a:ln w="9525">
            <a:solidFill>
              <a:srgbClr val="38BDF8"/>
            </a:solidFill>
            <a:prstDash val="solid"/>
          </a:ln>
        </p:spPr>
      </p:sp>
      <p:sp>
        <p:nvSpPr>
          <p:cNvPr id="37" name="a5pop_gd2"/>
          <p:cNvSpPr/>
          <p:nvPr/>
        </p:nvSpPr>
        <p:spPr>
          <a:xfrm>
            <a:off x="9262055" y="3172968"/>
            <a:ext cx="237744" cy="237744"/>
          </a:xfrm>
          <a:prstGeom prst="diamond">
            <a:avLst/>
          </a:prstGeom>
          <a:solidFill>
            <a:srgbClr val="FF6B81"/>
          </a:solidFill>
          <a:ln w="12700">
            <a:solidFill>
              <a:srgbClr val="FFFFFF"/>
            </a:solidFill>
            <a:prstDash val="solid"/>
          </a:ln>
        </p:spPr>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38BDF8">
              <a:alpha val="45000"/>
            </a:srgbClr>
          </a:solidFill>
          <a:ln w="9525">
            <a:solidFill>
              <a:srgbClr val="38BDF8"/>
            </a:solidFill>
            <a:prstDash val="solid"/>
          </a:ln>
        </p:spPr>
      </p:sp>
      <p:sp>
        <p:nvSpPr>
          <p:cNvPr id="40" name="a6pop_gd3"/>
          <p:cNvSpPr/>
          <p:nvPr/>
        </p:nvSpPr>
        <p:spPr>
          <a:xfrm>
            <a:off x="9417410" y="3630168"/>
            <a:ext cx="237744" cy="237744"/>
          </a:xfrm>
          <a:prstGeom prst="diamond">
            <a:avLst/>
          </a:prstGeom>
          <a:solidFill>
            <a:srgbClr val="FF6B81"/>
          </a:solidFill>
          <a:ln w="12700">
            <a:solidFill>
              <a:srgbClr val="FFFFFF"/>
            </a:solidFill>
            <a:prstDash val="solid"/>
          </a:ln>
        </p:spPr>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38BDF8">
              <a:alpha val="45000"/>
            </a:srgbClr>
          </a:solidFill>
          <a:ln w="9525">
            <a:solidFill>
              <a:srgbClr val="38BDF8"/>
            </a:solidFill>
            <a:prstDash val="solid"/>
          </a:ln>
        </p:spPr>
      </p:sp>
      <p:sp>
        <p:nvSpPr>
          <p:cNvPr id="43" name="a7pop_gd4"/>
          <p:cNvSpPr/>
          <p:nvPr/>
        </p:nvSpPr>
        <p:spPr>
          <a:xfrm>
            <a:off x="10970965" y="4087368"/>
            <a:ext cx="237744" cy="237744"/>
          </a:xfrm>
          <a:prstGeom prst="diamond">
            <a:avLst/>
          </a:prstGeom>
          <a:solidFill>
            <a:srgbClr val="FF6B81"/>
          </a:solidFill>
          <a:ln w="12700">
            <a:solidFill>
              <a:srgbClr val="FFFFFF"/>
            </a:solidFill>
            <a:prstDash val="solid"/>
          </a:ln>
        </p:spPr>
      </p:sp>
      <p:sp>
        <p:nvSpPr>
          <p:cNvPr id="44" name="a8ping_d0"/>
          <p:cNvSpPr/>
          <p:nvPr/>
        </p:nvSpPr>
        <p:spPr>
          <a:xfrm>
            <a:off x="9101819" y="2231136"/>
            <a:ext cx="292608" cy="292608"/>
          </a:xfrm>
          <a:prstGeom prst="ellipse">
            <a:avLst/>
          </a:prstGeom>
          <a:ln w="25400">
            <a:solidFill>
              <a:srgbClr val="FF6B81"/>
            </a:solidFill>
            <a:prstDash val="solid"/>
          </a:ln>
        </p:spPr>
      </p:sp>
      <p:sp>
        <p:nvSpPr>
          <p:cNvPr id="45" name="a8fade_lg1"/>
          <p:cNvSpPr/>
          <p:nvPr/>
        </p:nvSpPr>
        <p:spPr>
          <a:xfrm>
            <a:off x="7726680" y="4873752"/>
            <a:ext cx="274320" cy="128016"/>
          </a:xfrm>
          <a:prstGeom prst="roundRect">
            <a:avLst>
              <a:gd name="adj" fmla="val 35714"/>
            </a:avLst>
          </a:prstGeom>
          <a:solidFill>
            <a:srgbClr val="38BDF8">
              <a:alpha val="45000"/>
            </a:srgbClr>
          </a:solidFill>
          <a:ln w="9525">
            <a:solidFill>
              <a:srgbClr val="38BDF8"/>
            </a:solidFill>
            <a:prstDash val="solid"/>
          </a:ln>
        </p:spPr>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A3B8CB"/>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FF6B81"/>
          </a:solidFill>
          <a:ln/>
        </p:spPr>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A3B8CB"/>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0C2D5C">
              <a:alpha val="95000"/>
            </a:srgbClr>
          </a:solidFill>
          <a:ln w="9525">
            <a:solidFill>
              <a:srgbClr val="2A4F80"/>
            </a:solidFill>
            <a:prstDash val="solid"/>
          </a:ln>
          <a:effectLst>
            <a:outerShdw blurRad="152400" dist="50800" dir="5400000" algn="bl" rotWithShape="0">
              <a:srgbClr val="000000">
                <a:alpha val="35000"/>
              </a:srgbClr>
            </a:outerShdw>
          </a:effectLst>
        </p:spPr>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A8D1FF"/>
                </a:solidFill>
                <a:latin typeface="Segoe UI" pitchFamily="34" charset="0"/>
                <a:ea typeface="Segoe UI" pitchFamily="34" charset="-122"/>
                <a:cs typeface="Segoe UI" pitchFamily="34" charset="-120"/>
              </a:rPr>
              <a:t>Every alert began inside the window. </a:t>
            </a:r>
            <a:r>
              <a:rPr lang="en-US" sz="1300" dirty="0">
                <a:solidFill>
                  <a:srgbClr val="F3F7FA"/>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F2C14E"/>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0C2D5C">
              <a:alpha val="95000"/>
            </a:srgbClr>
          </a:solidFill>
          <a:ln w="9525">
            <a:solidFill>
              <a:srgbClr val="2A4F80"/>
            </a:solidFill>
            <a:prstDash val="solid"/>
          </a:ln>
          <a:effectLst>
            <a:outerShdw blurRad="152400" dist="50800" dir="5400000" algn="bl" rotWithShape="0">
              <a:srgbClr val="000000">
                <a:alpha val="35000"/>
              </a:srgbClr>
            </a:outerShdw>
          </a:effectLst>
        </p:spPr>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8D1F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C4B5FD"/>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C4B5FD"/>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F2C14E">
              <a:alpha val="12000"/>
            </a:srgbClr>
          </a:solidFill>
          <a:ln w="9525">
            <a:solidFill>
              <a:srgbClr val="F2C14E"/>
            </a:solidFill>
            <a:prstDash val="solid"/>
          </a:ln>
          <a:effectLst>
            <a:outerShdw blurRad="152400" dist="50800" dir="5400000" algn="bl" rotWithShape="0">
              <a:srgbClr val="000000">
                <a:alpha val="35000"/>
              </a:srgbClr>
            </a:outerShdw>
          </a:effectLst>
        </p:spPr>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F2C14E"/>
                </a:solidFill>
                <a:latin typeface="Segoe UI" pitchFamily="34" charset="0"/>
                <a:ea typeface="Segoe UI" pitchFamily="34" charset="-122"/>
                <a:cs typeface="Segoe UI" pitchFamily="34" charset="-120"/>
              </a:rPr>
              <a:t>What we do not claim: </a:t>
            </a:r>
            <a:r>
              <a:rPr lang="en-US" sz="1200" dirty="0">
                <a:solidFill>
                  <a:srgbClr val="F3F7FA"/>
                </a:solidFill>
                <a:latin typeface="Segoe UI" pitchFamily="34" charset="0"/>
                <a:ea typeface="Segoe UI" pitchFamily="34" charset="-122"/>
                <a:cs typeface="Segoe UI" pitchFamily="34" charset="-120"/>
              </a:rPr>
              <a:t>advance warning, field verification, species discrimination, or that hyperspectral classifies better (F1 0.74 vs 0.72). We withdrew our own first test (58 % / 90 %): it had no chance baseline.</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F2C14E"/>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F2C14E"/>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3A1A2A">
              <a:alpha val="80000"/>
            </a:srgbClr>
          </a:solidFill>
          <a:ln w="9525">
            <a:solidFill>
              <a:srgbClr val="7A3A50"/>
            </a:solidFill>
            <a:prstDash val="solid"/>
          </a:ln>
          <a:effectLst>
            <a:outerShdw blurRad="152400" dist="50800" dir="5400000" algn="bl" rotWithShape="0">
              <a:srgbClr val="000000">
                <a:alpha val="35000"/>
              </a:srgbClr>
            </a:outerShdw>
          </a:effectLst>
        </p:spPr>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FF6B81"/>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4DA3FF">
              <a:alpha val="22000"/>
            </a:srgbClr>
          </a:solidFill>
          <a:ln w="9525">
            <a:solidFill>
              <a:srgbClr val="4DA3FF">
                <a:alpha val="60000"/>
              </a:srgbClr>
            </a:solidFill>
            <a:prstDash val="solid"/>
          </a:ln>
        </p:spPr>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A8D1F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F3F7FA"/>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4DA3FF">
              <a:alpha val="10000"/>
            </a:srgbClr>
          </a:solidFill>
          <a:ln w="9525">
            <a:solidFill>
              <a:srgbClr val="4DA3FF">
                <a:alpha val="60000"/>
              </a:srgbClr>
            </a:solidFill>
            <a:prstDash val="solid"/>
          </a:ln>
        </p:spPr>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A8D1F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F3F7FA"/>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4DA3FF">
              <a:alpha val="10000"/>
            </a:srgbClr>
          </a:solidFill>
          <a:ln w="9525">
            <a:solidFill>
              <a:srgbClr val="4DA3FF">
                <a:alpha val="60000"/>
              </a:srgbClr>
            </a:solidFill>
            <a:prstDash val="solid"/>
          </a:ln>
        </p:spPr>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A8D1F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F3F7FA"/>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CFDCE8"/>
                </a:solidFill>
                <a:latin typeface="Segoe UI" pitchFamily="34" charset="0"/>
                <a:ea typeface="Segoe UI" pitchFamily="34" charset="-122"/>
                <a:cs typeface="Segoe UI" pitchFamily="34" charset="-120"/>
              </a:rPr>
              <a:t>Cost to serve ≈ $3.3k / site / yr: </a:t>
            </a:r>
            <a:r>
              <a:rPr lang="en-US" sz="1200" dirty="0">
                <a:solidFill>
                  <a:srgbClr val="CFDCE8"/>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F3F7FA"/>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0C2D5C">
              <a:alpha val="95000"/>
            </a:srgbClr>
          </a:solidFill>
          <a:ln w="9525">
            <a:solidFill>
              <a:srgbClr val="2A4F80"/>
            </a:solidFill>
            <a:prstDash val="solid"/>
          </a:ln>
          <a:effectLst>
            <a:outerShdw blurRad="152400" dist="50800" dir="5400000" algn="bl" rotWithShape="0">
              <a:srgbClr val="000000">
                <a:alpha val="35000"/>
              </a:srgbClr>
            </a:outerShdw>
          </a:effectLst>
        </p:spPr>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pitchFamily="34" charset="0"/>
                <a:ea typeface="Segoe UI" pitchFamily="34" charset="-122"/>
                <a:cs typeface="Segoe UI" pitchFamily="34" charset="-120"/>
              </a:rPr>
              <a:t>Gulf + Red Sea subscriptions ≈ $0.2–0.4 M / yr. The real prize: a </a:t>
            </a:r>
            <a:r>
              <a:rPr lang="en-US" sz="1300" b="1" dirty="0">
                <a:solidFill>
                  <a:srgbClr val="F2C14E"/>
                </a:solidFill>
                <a:latin typeface="Segoe UI" pitchFamily="34" charset="0"/>
                <a:ea typeface="Segoe UI" pitchFamily="34" charset="-122"/>
                <a:cs typeface="Segoe UI" pitchFamily="34" charset="-120"/>
              </a:rPr>
              <a:t>national MRV contract</a:t>
            </a:r>
            <a:r>
              <a:rPr lang="en-US" sz="1300" dirty="0">
                <a:solidFill>
                  <a:srgbClr val="F3F7FA"/>
                </a:solidFill>
                <a:latin typeface="Segoe UI" pitchFamily="34" charset="0"/>
                <a:ea typeface="Segoe UI" pitchFamily="34" charset="-122"/>
                <a:cs typeface="Segoe UI" pitchFamily="34" charset="-120"/>
              </a:rPr>
              <a:t> or a monitoring layer on </a:t>
            </a:r>
            <a:r>
              <a:rPr lang="en-US" sz="1300" b="1" dirty="0">
                <a:solidFill>
                  <a:srgbClr val="F2C14E"/>
                </a:solidFill>
                <a:latin typeface="Segoe UI" pitchFamily="34" charset="0"/>
                <a:ea typeface="Segoe UI" pitchFamily="34" charset="-122"/>
                <a:cs typeface="Segoe UI" pitchFamily="34" charset="-120"/>
              </a:rPr>
              <a:t>gIQ</a:t>
            </a:r>
            <a:r>
              <a:rPr lang="en-US" sz="1300" dirty="0">
                <a:solidFill>
                  <a:srgbClr val="F3F7FA"/>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BEYOND THE PROOF OF CONCEPT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8" name="a1float_rl"/>
          <p:cNvSpPr txBox="1"/>
          <p:nvPr/>
        </p:nvSpPr>
        <p:spPr>
          <a:xfrm>
            <a:off x="777240" y="1828800"/>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DOCUMENTATION &amp; REPRODUCIBILITY</a:t>
            </a:r>
            <a:endParaRPr lang="en-US" sz="1100" dirty="0"/>
          </a:p>
        </p:txBody>
      </p:sp>
      <p:sp>
        <p:nvSpPr>
          <p:cNvPr id="9" name="a2float_r0_c"/>
          <p:cNvSpPr/>
          <p:nvPr/>
        </p:nvSpPr>
        <p:spPr>
          <a:xfrm>
            <a:off x="777240" y="2212848"/>
            <a:ext cx="493776" cy="493776"/>
          </a:xfrm>
          <a:prstGeom prst="ellipse">
            <a:avLst/>
          </a:prstGeom>
          <a:solidFill>
            <a:srgbClr val="4DA3FF">
              <a:alpha val="18000"/>
            </a:srgbClr>
          </a:solidFill>
          <a:ln w="12700">
            <a:solidFill>
              <a:srgbClr val="4DA3FF"/>
            </a:solidFill>
            <a:prstDash val="solid"/>
          </a:ln>
        </p:spPr>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4DA3FF">
              <a:alpha val="18000"/>
            </a:srgbClr>
          </a:solidFill>
          <a:ln w="12700">
            <a:solidFill>
              <a:srgbClr val="4DA3FF"/>
            </a:solidFill>
            <a:prstDash val="solid"/>
          </a:ln>
        </p:spPr>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outputs committed · pinned requirements · example in/out</a:t>
            </a:r>
            <a:endParaRPr lang="en-US" sz="1200" dirty="0"/>
          </a:p>
        </p:txBody>
      </p:sp>
      <p:sp>
        <p:nvSpPr>
          <p:cNvPr id="17" name="a4float_r2_c"/>
          <p:cNvSpPr/>
          <p:nvPr/>
        </p:nvSpPr>
        <p:spPr>
          <a:xfrm>
            <a:off x="777240" y="3749040"/>
            <a:ext cx="493776" cy="493776"/>
          </a:xfrm>
          <a:prstGeom prst="ellipse">
            <a:avLst/>
          </a:prstGeom>
          <a:solidFill>
            <a:srgbClr val="4DA3FF">
              <a:alpha val="18000"/>
            </a:srgbClr>
          </a:solidFill>
          <a:ln w="12700">
            <a:solidFill>
              <a:srgbClr val="4DA3FF"/>
            </a:solidFill>
            <a:prstDash val="solid"/>
          </a:ln>
        </p:spPr>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4DA3FF">
              <a:alpha val="18000"/>
            </a:srgbClr>
          </a:solidFill>
          <a:ln w="12700">
            <a:solidFill>
              <a:srgbClr val="4DA3FF"/>
            </a:solidFill>
            <a:prstDash val="solid"/>
          </a:ln>
        </p:spPr>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4DA3FF">
              <a:alpha val="18000"/>
            </a:srgbClr>
          </a:solidFill>
          <a:ln w="12700">
            <a:solidFill>
              <a:srgbClr val="4DA3FF"/>
            </a:solidFill>
            <a:prstDash val="solid"/>
          </a:ln>
        </p:spPr>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45720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SCALABILITY</a:t>
            </a:r>
            <a:endParaRPr lang="en-US" sz="1100" dirty="0"/>
          </a:p>
        </p:txBody>
      </p:sp>
      <p:sp>
        <p:nvSpPr>
          <p:cNvPr id="30" name="a2fade_spine"/>
          <p:cNvSpPr/>
          <p:nvPr/>
        </p:nvSpPr>
        <p:spPr>
          <a:xfrm>
            <a:off x="6583680" y="2377440"/>
            <a:ext cx="0" cy="2926080"/>
          </a:xfrm>
          <a:prstGeom prst="line">
            <a:avLst/>
          </a:prstGeom>
          <a:noFill/>
          <a:ln w="19050">
            <a:solidFill>
              <a:srgbClr val="4DA3FF"/>
            </a:solidFill>
            <a:prstDash val="dash"/>
          </a:ln>
        </p:spPr>
      </p:sp>
      <p:sp>
        <p:nvSpPr>
          <p:cNvPr id="31" name="a3float_p0"/>
          <p:cNvSpPr/>
          <p:nvPr/>
        </p:nvSpPr>
        <p:spPr>
          <a:xfrm>
            <a:off x="6903720" y="2029968"/>
            <a:ext cx="4736592" cy="1261872"/>
          </a:xfrm>
          <a:prstGeom prst="roundRect">
            <a:avLst>
              <a:gd name="adj" fmla="val 10145"/>
            </a:avLst>
          </a:prstGeom>
          <a:solidFill>
            <a:srgbClr val="0C2D5C">
              <a:alpha val="95000"/>
            </a:srgbClr>
          </a:solidFill>
          <a:ln w="9525">
            <a:solidFill>
              <a:srgbClr val="2A4F80"/>
            </a:solidFill>
            <a:prstDash val="solid"/>
          </a:ln>
          <a:effectLst>
            <a:outerShdw blurRad="152400" dist="50800" dir="5400000" algn="bl" rotWithShape="0">
              <a:srgbClr val="000000">
                <a:alpha val="35000"/>
              </a:srgbClr>
            </a:outerShdw>
          </a:effectLst>
        </p:spPr>
      </p:sp>
      <p:sp>
        <p:nvSpPr>
          <p:cNvPr id="32" name="a3pop_p0ic_c"/>
          <p:cNvSpPr/>
          <p:nvPr/>
        </p:nvSpPr>
        <p:spPr>
          <a:xfrm>
            <a:off x="6327648" y="2404872"/>
            <a:ext cx="512064" cy="512064"/>
          </a:xfrm>
          <a:prstGeom prst="ellipse">
            <a:avLst/>
          </a:prstGeom>
          <a:solidFill>
            <a:srgbClr val="F2C14E">
              <a:alpha val="18000"/>
            </a:srgbClr>
          </a:solidFill>
          <a:ln w="12700">
            <a:solidFill>
              <a:srgbClr val="F2C14E"/>
            </a:solidFill>
            <a:prstDash val="solid"/>
          </a:ln>
        </p:spPr>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F2C14E"/>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37" name="a5pop_p1ic_c"/>
          <p:cNvSpPr/>
          <p:nvPr/>
        </p:nvSpPr>
        <p:spPr>
          <a:xfrm>
            <a:off x="6327648" y="3803904"/>
            <a:ext cx="512064" cy="512064"/>
          </a:xfrm>
          <a:prstGeom prst="ellipse">
            <a:avLst/>
          </a:prstGeom>
          <a:solidFill>
            <a:srgbClr val="4DA3FF">
              <a:alpha val="18000"/>
            </a:srgbClr>
          </a:solidFill>
          <a:ln w="12700">
            <a:solidFill>
              <a:srgbClr val="4DA3FF"/>
            </a:solidFill>
            <a:prstDash val="solid"/>
          </a:ln>
        </p:spPr>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Satellite 813 in the spectral step · deployment on gIQ · a pilot customer + site records · more EnMAP dates</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42" name="a7pop_p2ic_c"/>
          <p:cNvSpPr/>
          <p:nvPr/>
        </p:nvSpPr>
        <p:spPr>
          <a:xfrm>
            <a:off x="6327648" y="5202936"/>
            <a:ext cx="512064" cy="512064"/>
          </a:xfrm>
          <a:prstGeom prst="ellipse">
            <a:avLst/>
          </a:prstGeom>
          <a:solidFill>
            <a:srgbClr val="4DA3FF">
              <a:alpha val="18000"/>
            </a:srgbClr>
          </a:solidFill>
          <a:ln w="12700">
            <a:solidFill>
              <a:srgbClr val="4DA3FF"/>
            </a:solidFill>
            <a:prstDash val="solid"/>
          </a:ln>
        </p:spPr>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6F89A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One engineer, every role — delivered in the open</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0C2D5C">
              <a:alpha val="92000"/>
            </a:srgbClr>
          </a:solidFill>
          <a:ln w="9525">
            <a:solidFill>
              <a:srgbClr val="2A4F80"/>
            </a:solidFill>
            <a:prstDash val="solid"/>
          </a:ln>
          <a:effectLst>
            <a:outerShdw blurRad="152400" dist="50800" dir="5400000" algn="bl" rotWithShape="0">
              <a:srgbClr val="000000">
                <a:alpha val="35000"/>
              </a:srgbClr>
            </a:outerShdw>
          </a:effectLst>
        </p:spPr>
      </p:sp>
      <p:sp>
        <p:nvSpPr>
          <p:cNvPr id="8" name="a1float_av_c"/>
          <p:cNvSpPr/>
          <p:nvPr/>
        </p:nvSpPr>
        <p:spPr>
          <a:xfrm>
            <a:off x="804672" y="1920240"/>
            <a:ext cx="658368" cy="658368"/>
          </a:xfrm>
          <a:prstGeom prst="ellipse">
            <a:avLst/>
          </a:prstGeom>
          <a:solidFill>
            <a:srgbClr val="4DA3FF">
              <a:alpha val="18000"/>
            </a:srgbClr>
          </a:solidFill>
          <a:ln w="12700">
            <a:solidFill>
              <a:srgbClr val="4DA3FF"/>
            </a:solidFill>
            <a:prstDash val="solid"/>
          </a:ln>
        </p:spPr>
      </p:sp>
      <p:pic>
        <p:nvPicPr>
          <p:cNvPr id="9" name="a1float_av_i" descr="preencoded.png"/>
          <p:cNvPicPr>
            <a:picLocks noChangeAspect="1"/>
          </p:cNvPicPr>
          <p:nvPr/>
        </p:nvPicPr>
        <p:blipFill>
          <a:blip r:embed="rId5"/>
          <a:stretch>
            <a:fillRect/>
          </a:stretch>
        </p:blipFill>
        <p:spPr>
          <a:xfrm>
            <a:off x="962680" y="2078248"/>
            <a:ext cx="342351" cy="342351"/>
          </a:xfrm>
          <a:prstGeom prst="rect">
            <a:avLst/>
          </a:prstGeom>
        </p:spPr>
      </p:pic>
      <p:sp>
        <p:nvSpPr>
          <p:cNvPr id="10" name="a1float_name"/>
          <p:cNvSpPr txBox="1"/>
          <p:nvPr/>
        </p:nvSpPr>
        <p:spPr>
          <a:xfrm>
            <a:off x="1627632" y="1892808"/>
            <a:ext cx="2926080" cy="438912"/>
          </a:xfrm>
          <a:prstGeom prst="rect">
            <a:avLst/>
          </a:prstGeom>
          <a:noFill/>
          <a:ln/>
        </p:spPr>
        <p:txBody>
          <a:bodyPr wrap="square" lIns="0" tIns="0" rIns="0" bIns="0" rtlCol="0" anchor="t"/>
          <a:lstStyle/>
          <a:p>
            <a:pPr marL="0" indent="0" algn="l">
              <a:lnSpc>
                <a:spcPct val="105000"/>
              </a:lnSpc>
              <a:buNone/>
            </a:pPr>
            <a:r>
              <a:rPr lang="en-US" sz="2400" dirty="0">
                <a:solidFill>
                  <a:srgbClr val="F3F7FA"/>
                </a:solidFill>
                <a:latin typeface="Segoe UI Semibold" pitchFamily="34" charset="0"/>
                <a:ea typeface="Segoe UI Semibold" pitchFamily="34" charset="-122"/>
                <a:cs typeface="Segoe UI Semibold" pitchFamily="34" charset="-120"/>
              </a:rPr>
              <a:t>Nahla Nabil</a:t>
            </a:r>
            <a:endParaRPr lang="en-US" sz="2400" dirty="0"/>
          </a:p>
        </p:txBody>
      </p:sp>
      <p:sp>
        <p:nvSpPr>
          <p:cNvPr id="11" name="a1float_role"/>
          <p:cNvSpPr txBox="1"/>
          <p:nvPr/>
        </p:nvSpPr>
        <p:spPr>
          <a:xfrm>
            <a:off x="1627632" y="2331720"/>
            <a:ext cx="2926080" cy="274320"/>
          </a:xfrm>
          <a:prstGeom prst="rect">
            <a:avLst/>
          </a:prstGeom>
          <a:noFill/>
          <a:ln/>
        </p:spPr>
        <p:txBody>
          <a:bodyPr wrap="square" lIns="0" tIns="0" rIns="0" bIns="0" rtlCol="0" anchor="t"/>
          <a:lstStyle/>
          <a:p>
            <a:pPr marL="0" indent="0" algn="l">
              <a:lnSpc>
                <a:spcPct val="105000"/>
              </a:lnSpc>
              <a:buNone/>
            </a:pPr>
            <a:r>
              <a:rPr lang="en-US" sz="1300" dirty="0">
                <a:solidFill>
                  <a:srgbClr val="A3B8CB"/>
                </a:solidFill>
                <a:latin typeface="Segoe UI" pitchFamily="34" charset="0"/>
                <a:ea typeface="Segoe UI" pitchFamily="34" charset="-122"/>
                <a:cs typeface="Segoe UI" pitchFamily="34" charset="-120"/>
              </a:rPr>
              <a:t>Team lead  ·  Bahrain</a:t>
            </a:r>
            <a:endParaRPr lang="en-US" sz="1300" dirty="0"/>
          </a:p>
        </p:txBody>
      </p:sp>
      <p:sp>
        <p:nvSpPr>
          <p:cNvPr id="12" name="a2fade_l1"/>
          <p:cNvSpPr txBox="1"/>
          <p:nvPr/>
        </p:nvSpPr>
        <p:spPr>
          <a:xfrm>
            <a:off x="804672" y="280720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RELEVANT EXPERTISE</a:t>
            </a:r>
            <a:endParaRPr lang="en-US" sz="1100" dirty="0"/>
          </a:p>
        </p:txBody>
      </p:sp>
      <p:sp>
        <p:nvSpPr>
          <p:cNvPr id="13" name="a2fade_skills"/>
          <p:cNvSpPr txBox="1"/>
          <p:nvPr/>
        </p:nvSpPr>
        <p:spPr>
          <a:xfrm>
            <a:off x="804672" y="3090672"/>
            <a:ext cx="3749040" cy="123444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F3F7FA"/>
                </a:solidFill>
                <a:latin typeface="Segoe UI" pitchFamily="34" charset="0"/>
                <a:ea typeface="Segoe UI" pitchFamily="34" charset="-122"/>
                <a:cs typeface="Segoe UI" pitchFamily="34" charset="-120"/>
              </a:rPr>
              <a:t>AI / LLM backend engineering</a:t>
            </a:r>
            <a:endParaRPr lang="en-US" sz="1300" dirty="0"/>
          </a:p>
          <a:p>
            <a:pPr marL="177800" indent="-177800">
              <a:spcAft>
                <a:spcPts val="400"/>
              </a:spcAft>
              <a:buSzPct val="100000"/>
              <a:buChar char="•"/>
            </a:pPr>
            <a:r>
              <a:rPr lang="en-US" sz="1300" dirty="0">
                <a:solidFill>
                  <a:srgbClr val="F3F7FA"/>
                </a:solidFill>
                <a:latin typeface="Segoe UI" pitchFamily="34" charset="0"/>
                <a:ea typeface="Segoe UI" pitchFamily="34" charset="-122"/>
                <a:cs typeface="Segoe UI" pitchFamily="34" charset="-120"/>
              </a:rPr>
              <a:t>Machine learning &amp; computer vision (deepfake detection)</a:t>
            </a:r>
            <a:endParaRPr lang="en-US" sz="1300" dirty="0"/>
          </a:p>
          <a:p>
            <a:pPr marL="177800" indent="-177800">
              <a:spcAft>
                <a:spcPts val="400"/>
              </a:spcAft>
              <a:buSzPct val="100000"/>
              <a:buChar char="•"/>
            </a:pPr>
            <a:r>
              <a:rPr lang="en-US" sz="1300" dirty="0">
                <a:solidFill>
                  <a:srgbClr val="F3F7FA"/>
                </a:solidFill>
                <a:latin typeface="Segoe UI" pitchFamily="34" charset="0"/>
                <a:ea typeface="Segoe UI" pitchFamily="34" charset="-122"/>
                <a:cs typeface="Segoe UI" pitchFamily="34" charset="-120"/>
              </a:rPr>
              <a:t>Federated learning · semantic search systems</a:t>
            </a:r>
            <a:endParaRPr lang="en-US" sz="1300" dirty="0"/>
          </a:p>
          <a:p>
            <a:pPr marL="177800" indent="-177800">
              <a:spcAft>
                <a:spcPts val="400"/>
              </a:spcAft>
              <a:buSzPct val="100000"/>
              <a:buChar char="•"/>
            </a:pPr>
            <a:r>
              <a:rPr lang="en-US" sz="1300" dirty="0">
                <a:solidFill>
                  <a:srgbClr val="F3F7FA"/>
                </a:solidFill>
                <a:latin typeface="Segoe UI" pitchFamily="34" charset="0"/>
                <a:ea typeface="Segoe UI" pitchFamily="34" charset="-122"/>
                <a:cs typeface="Segoe UI" pitchFamily="34" charset="-120"/>
              </a:rPr>
              <a:t>Python geospatial stack</a:t>
            </a:r>
            <a:endParaRPr lang="en-US" sz="1300" dirty="0"/>
          </a:p>
        </p:txBody>
      </p:sp>
      <p:sp>
        <p:nvSpPr>
          <p:cNvPr id="14" name="a3fade_l2"/>
          <p:cNvSpPr txBox="1"/>
          <p:nvPr/>
        </p:nvSpPr>
        <p:spPr>
          <a:xfrm>
            <a:off x="804672" y="438912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COMMUNITY</a:t>
            </a:r>
            <a:endParaRPr lang="en-US" sz="1100" dirty="0"/>
          </a:p>
        </p:txBody>
      </p:sp>
      <p:sp>
        <p:nvSpPr>
          <p:cNvPr id="15" name="a3fade_comm"/>
          <p:cNvSpPr txBox="1"/>
          <p:nvPr/>
        </p:nvSpPr>
        <p:spPr>
          <a:xfrm>
            <a:off x="804672" y="4645152"/>
            <a:ext cx="3703320" cy="50292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pitchFamily="34" charset="0"/>
                <a:ea typeface="Segoe UI" pitchFamily="34" charset="-122"/>
                <a:cs typeface="Segoe UI" pitchFamily="34" charset="-120"/>
              </a:rPr>
              <a:t>NASA Space Apps Challenge local lead: organising and mentoring space-data teams</a:t>
            </a:r>
            <a:endParaRPr lang="en-US" sz="1300" dirty="0"/>
          </a:p>
        </p:txBody>
      </p:sp>
      <p:sp>
        <p:nvSpPr>
          <p:cNvPr id="16" name="a3fade_l3"/>
          <p:cNvSpPr txBox="1"/>
          <p:nvPr/>
        </p:nvSpPr>
        <p:spPr>
          <a:xfrm>
            <a:off x="804672" y="523036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HOW ONE PERSON DELIVERED THIS</a:t>
            </a:r>
            <a:endParaRPr lang="en-US" sz="1100" dirty="0"/>
          </a:p>
        </p:txBody>
      </p:sp>
      <p:sp>
        <p:nvSpPr>
          <p:cNvPr id="17" name="a3fade_ai"/>
          <p:cNvSpPr txBox="1"/>
          <p:nvPr/>
        </p:nvSpPr>
        <p:spPr>
          <a:xfrm>
            <a:off x="804672" y="5486400"/>
            <a:ext cx="3703320" cy="64008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An AI-assisted engineering workflow (Claude Code) that I direct and review; every number is reproducible from the public code.</a:t>
            </a:r>
            <a:endParaRPr lang="en-US" sz="1200" dirty="0"/>
          </a:p>
        </p:txBody>
      </p:sp>
      <p:sp>
        <p:nvSpPr>
          <p:cNvPr id="18"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4DA3FF"/>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19" name="a2float_r0"/>
          <p:cNvSpPr/>
          <p:nvPr/>
        </p:nvSpPr>
        <p:spPr>
          <a:xfrm>
            <a:off x="4983480" y="2029968"/>
            <a:ext cx="3255264" cy="1051560"/>
          </a:xfrm>
          <a:prstGeom prst="roundRect">
            <a:avLst>
              <a:gd name="adj" fmla="val 1217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20" name="a2float_r0ic_c"/>
          <p:cNvSpPr/>
          <p:nvPr/>
        </p:nvSpPr>
        <p:spPr>
          <a:xfrm>
            <a:off x="5166360" y="2295144"/>
            <a:ext cx="512064" cy="512064"/>
          </a:xfrm>
          <a:prstGeom prst="ellipse">
            <a:avLst/>
          </a:prstGeom>
          <a:solidFill>
            <a:srgbClr val="4DA3FF">
              <a:alpha val="18000"/>
            </a:srgbClr>
          </a:solidFill>
          <a:ln w="12700">
            <a:solidFill>
              <a:srgbClr val="4DA3FF"/>
            </a:solidFill>
            <a:prstDash val="solid"/>
          </a:ln>
        </p:spPr>
      </p:sp>
      <p:pic>
        <p:nvPicPr>
          <p:cNvPr id="21"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2"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3"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4" name="a2float_r1"/>
          <p:cNvSpPr/>
          <p:nvPr/>
        </p:nvSpPr>
        <p:spPr>
          <a:xfrm>
            <a:off x="8366760" y="2029968"/>
            <a:ext cx="3255264" cy="1051560"/>
          </a:xfrm>
          <a:prstGeom prst="roundRect">
            <a:avLst>
              <a:gd name="adj" fmla="val 1217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25" name="a2float_r1ic_c"/>
          <p:cNvSpPr/>
          <p:nvPr/>
        </p:nvSpPr>
        <p:spPr>
          <a:xfrm>
            <a:off x="8549640" y="2295144"/>
            <a:ext cx="512064" cy="512064"/>
          </a:xfrm>
          <a:prstGeom prst="ellipse">
            <a:avLst/>
          </a:prstGeom>
          <a:solidFill>
            <a:srgbClr val="4DA3FF">
              <a:alpha val="18000"/>
            </a:srgbClr>
          </a:solidFill>
          <a:ln w="12700">
            <a:solidFill>
              <a:srgbClr val="4DA3FF"/>
            </a:solidFill>
            <a:prstDash val="solid"/>
          </a:ln>
        </p:spPr>
      </p:sp>
      <p:pic>
        <p:nvPicPr>
          <p:cNvPr id="26"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7"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EO data engineer</a:t>
            </a:r>
            <a:endParaRPr lang="en-US" sz="1400" dirty="0"/>
          </a:p>
        </p:txBody>
      </p:sp>
      <p:sp>
        <p:nvSpPr>
          <p:cNvPr id="28"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29" name="a3float_r2"/>
          <p:cNvSpPr/>
          <p:nvPr/>
        </p:nvSpPr>
        <p:spPr>
          <a:xfrm>
            <a:off x="4983480" y="3218688"/>
            <a:ext cx="3255264" cy="1051560"/>
          </a:xfrm>
          <a:prstGeom prst="roundRect">
            <a:avLst>
              <a:gd name="adj" fmla="val 1217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30" name="a3float_r2ic_c"/>
          <p:cNvSpPr/>
          <p:nvPr/>
        </p:nvSpPr>
        <p:spPr>
          <a:xfrm>
            <a:off x="5166360" y="3483864"/>
            <a:ext cx="512064" cy="512064"/>
          </a:xfrm>
          <a:prstGeom prst="ellipse">
            <a:avLst/>
          </a:prstGeom>
          <a:solidFill>
            <a:srgbClr val="4DA3FF">
              <a:alpha val="18000"/>
            </a:srgbClr>
          </a:solidFill>
          <a:ln w="12700">
            <a:solidFill>
              <a:srgbClr val="4DA3FF"/>
            </a:solidFill>
            <a:prstDash val="solid"/>
          </a:ln>
        </p:spPr>
      </p:sp>
      <p:pic>
        <p:nvPicPr>
          <p:cNvPr id="31"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2"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3"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4" name="a3float_r3"/>
          <p:cNvSpPr/>
          <p:nvPr/>
        </p:nvSpPr>
        <p:spPr>
          <a:xfrm>
            <a:off x="8366760" y="3218688"/>
            <a:ext cx="3255264" cy="1051560"/>
          </a:xfrm>
          <a:prstGeom prst="roundRect">
            <a:avLst>
              <a:gd name="adj" fmla="val 1217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35" name="a3float_r3ic_c"/>
          <p:cNvSpPr/>
          <p:nvPr/>
        </p:nvSpPr>
        <p:spPr>
          <a:xfrm>
            <a:off x="8549640" y="3483864"/>
            <a:ext cx="512064" cy="512064"/>
          </a:xfrm>
          <a:prstGeom prst="ellipse">
            <a:avLst/>
          </a:prstGeom>
          <a:solidFill>
            <a:srgbClr val="4DA3FF">
              <a:alpha val="18000"/>
            </a:srgbClr>
          </a:solidFill>
          <a:ln w="12700">
            <a:solidFill>
              <a:srgbClr val="4DA3FF"/>
            </a:solidFill>
            <a:prstDash val="solid"/>
          </a:ln>
        </p:spPr>
      </p:sp>
      <p:pic>
        <p:nvPicPr>
          <p:cNvPr id="36"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7"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8"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real events, simulations, unseen stands</a:t>
            </a:r>
            <a:endParaRPr lang="en-US" sz="1200" dirty="0"/>
          </a:p>
        </p:txBody>
      </p:sp>
      <p:sp>
        <p:nvSpPr>
          <p:cNvPr id="39" name="a4float_r4"/>
          <p:cNvSpPr/>
          <p:nvPr/>
        </p:nvSpPr>
        <p:spPr>
          <a:xfrm>
            <a:off x="4983480" y="4407408"/>
            <a:ext cx="3255264" cy="1051560"/>
          </a:xfrm>
          <a:prstGeom prst="roundRect">
            <a:avLst>
              <a:gd name="adj" fmla="val 1217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40" name="a4float_r4ic_c"/>
          <p:cNvSpPr/>
          <p:nvPr/>
        </p:nvSpPr>
        <p:spPr>
          <a:xfrm>
            <a:off x="5166360" y="4672584"/>
            <a:ext cx="512064" cy="512064"/>
          </a:xfrm>
          <a:prstGeom prst="ellipse">
            <a:avLst/>
          </a:prstGeom>
          <a:solidFill>
            <a:srgbClr val="4DA3FF">
              <a:alpha val="18000"/>
            </a:srgbClr>
          </a:solidFill>
          <a:ln w="12700">
            <a:solidFill>
              <a:srgbClr val="4DA3FF"/>
            </a:solidFill>
            <a:prstDash val="solid"/>
          </a:ln>
        </p:spPr>
      </p:sp>
      <p:pic>
        <p:nvPicPr>
          <p:cNvPr id="41"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2"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3"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dashboard, website, site reports, notebook</a:t>
            </a:r>
            <a:endParaRPr lang="en-US" sz="1200" dirty="0"/>
          </a:p>
        </p:txBody>
      </p:sp>
      <p:sp>
        <p:nvSpPr>
          <p:cNvPr id="44" name="a4float_r5"/>
          <p:cNvSpPr/>
          <p:nvPr/>
        </p:nvSpPr>
        <p:spPr>
          <a:xfrm>
            <a:off x="8366760" y="4407408"/>
            <a:ext cx="3255264" cy="1051560"/>
          </a:xfrm>
          <a:prstGeom prst="roundRect">
            <a:avLst>
              <a:gd name="adj" fmla="val 12174"/>
            </a:avLst>
          </a:prstGeom>
          <a:solidFill>
            <a:srgbClr val="0D2240">
              <a:alpha val="82000"/>
            </a:srgbClr>
          </a:solidFill>
          <a:ln w="9525">
            <a:solidFill>
              <a:srgbClr val="2A4F80"/>
            </a:solidFill>
            <a:prstDash val="solid"/>
          </a:ln>
          <a:effectLst>
            <a:outerShdw blurRad="152400" dist="50800" dir="5400000" algn="bl" rotWithShape="0">
              <a:srgbClr val="000000">
                <a:alpha val="35000"/>
              </a:srgbClr>
            </a:outerShdw>
          </a:effectLst>
        </p:spPr>
      </p:sp>
      <p:sp>
        <p:nvSpPr>
          <p:cNvPr id="45" name="a4float_r5ic_c"/>
          <p:cNvSpPr/>
          <p:nvPr/>
        </p:nvSpPr>
        <p:spPr>
          <a:xfrm>
            <a:off x="8549640" y="4672584"/>
            <a:ext cx="512064" cy="512064"/>
          </a:xfrm>
          <a:prstGeom prst="ellipse">
            <a:avLst/>
          </a:prstGeom>
          <a:solidFill>
            <a:srgbClr val="4DA3FF">
              <a:alpha val="18000"/>
            </a:srgbClr>
          </a:solidFill>
          <a:ln w="12700">
            <a:solidFill>
              <a:srgbClr val="4DA3FF"/>
            </a:solidFill>
            <a:prstDash val="solid"/>
          </a:ln>
        </p:spPr>
      </p:sp>
      <p:pic>
        <p:nvPicPr>
          <p:cNvPr id="46"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7"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8"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customers, pricing hypotheses, carbon ranges</a:t>
            </a:r>
            <a:endParaRPr lang="en-US" sz="1200" dirty="0"/>
          </a:p>
        </p:txBody>
      </p:sp>
      <p:sp>
        <p:nvSpPr>
          <p:cNvPr id="49" name="a5float_gap"/>
          <p:cNvSpPr/>
          <p:nvPr/>
        </p:nvSpPr>
        <p:spPr>
          <a:xfrm>
            <a:off x="4983480" y="5596128"/>
            <a:ext cx="6638544" cy="576072"/>
          </a:xfrm>
          <a:prstGeom prst="roundRect">
            <a:avLst>
              <a:gd name="adj" fmla="val 22222"/>
            </a:avLst>
          </a:prstGeom>
          <a:solidFill>
            <a:srgbClr val="4DA3FF">
              <a:alpha val="14000"/>
            </a:srgbClr>
          </a:solidFill>
          <a:ln w="9525">
            <a:solidFill>
              <a:srgbClr val="4DA3FF"/>
            </a:solidFill>
            <a:prstDash val="solid"/>
          </a:ln>
          <a:effectLst>
            <a:outerShdw blurRad="152400" dist="50800" dir="5400000" algn="bl" rotWithShape="0">
              <a:srgbClr val="000000">
                <a:alpha val="35000"/>
              </a:srgbClr>
            </a:outerShdw>
          </a:effectLst>
        </p:spPr>
      </p:sp>
      <p:sp>
        <p:nvSpPr>
          <p:cNvPr id="50"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A8D1FF"/>
                </a:solidFill>
                <a:latin typeface="Segoe UI" pitchFamily="34" charset="0"/>
                <a:ea typeface="Segoe UI" pitchFamily="34" charset="-122"/>
                <a:cs typeface="Segoe UI" pitchFamily="34" charset="-120"/>
              </a:rPr>
              <a:t>Incubation gap we will close:  </a:t>
            </a:r>
            <a:r>
              <a:rPr lang="en-US" sz="1300" dirty="0">
                <a:solidFill>
                  <a:srgbClr val="F3F7FA"/>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14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47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600"/>
                                        <p:tgtEl>
                                          <p:spTgt spid="18"/>
                                        </p:tgtEl>
                                      </p:cBhvr>
                                    </p:animEffect>
                                  </p:childTnLst>
                                </p:cTn>
                              </p:par>
                              <p:par>
                                <p:cTn id="35" presetID="10"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par>
                                <p:cTn id="41" presetID="42" presetClass="entr" presetSubtype="0" decel="100000" fill="hold" grpId="0" nodeType="withEffect">
                                  <p:stCondLst>
                                    <p:cond delay="69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700"/>
                                        <p:tgtEl>
                                          <p:spTgt spid="19"/>
                                        </p:tgtEl>
                                      </p:cBhvr>
                                    </p:animEffect>
                                    <p:anim calcmode="lin" valueType="num">
                                      <p:cBhvr additive="base">
                                        <p:cTn id="44" dur="700" fill="hold"/>
                                        <p:tgtEl>
                                          <p:spTgt spid="19"/>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700"/>
                                        <p:tgtEl>
                                          <p:spTgt spid="20"/>
                                        </p:tgtEl>
                                      </p:cBhvr>
                                    </p:animEffect>
                                    <p:anim calcmode="lin" valueType="num">
                                      <p:cBhvr additive="base">
                                        <p:cTn id="48" dur="700" fill="hold"/>
                                        <p:tgtEl>
                                          <p:spTgt spid="20"/>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700"/>
                                        <p:tgtEl>
                                          <p:spTgt spid="21"/>
                                        </p:tgtEl>
                                      </p:cBhvr>
                                    </p:animEffect>
                                    <p:anim calcmode="lin" valueType="num">
                                      <p:cBhvr additive="base">
                                        <p:cTn id="52" dur="700" fill="hold"/>
                                        <p:tgtEl>
                                          <p:spTgt spid="21"/>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69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700"/>
                                        <p:tgtEl>
                                          <p:spTgt spid="22"/>
                                        </p:tgtEl>
                                      </p:cBhvr>
                                    </p:animEffect>
                                    <p:anim calcmode="lin" valueType="num">
                                      <p:cBhvr additive="base">
                                        <p:cTn id="56" dur="700" fill="hold"/>
                                        <p:tgtEl>
                                          <p:spTgt spid="22"/>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69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700"/>
                                        <p:tgtEl>
                                          <p:spTgt spid="23"/>
                                        </p:tgtEl>
                                      </p:cBhvr>
                                    </p:animEffect>
                                    <p:anim calcmode="lin" valueType="num">
                                      <p:cBhvr additive="base">
                                        <p:cTn id="60" dur="700" fill="hold"/>
                                        <p:tgtEl>
                                          <p:spTgt spid="23"/>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69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700"/>
                                        <p:tgtEl>
                                          <p:spTgt spid="24"/>
                                        </p:tgtEl>
                                      </p:cBhvr>
                                    </p:animEffect>
                                    <p:anim calcmode="lin" valueType="num">
                                      <p:cBhvr additive="base">
                                        <p:cTn id="64" dur="700" fill="hold"/>
                                        <p:tgtEl>
                                          <p:spTgt spid="24"/>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69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700"/>
                                        <p:tgtEl>
                                          <p:spTgt spid="25"/>
                                        </p:tgtEl>
                                      </p:cBhvr>
                                    </p:animEffect>
                                    <p:anim calcmode="lin" valueType="num">
                                      <p:cBhvr additive="base">
                                        <p:cTn id="68" dur="700" fill="hold"/>
                                        <p:tgtEl>
                                          <p:spTgt spid="25"/>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700"/>
                                        <p:tgtEl>
                                          <p:spTgt spid="26"/>
                                        </p:tgtEl>
                                      </p:cBhvr>
                                    </p:animEffect>
                                    <p:anim calcmode="lin" valueType="num">
                                      <p:cBhvr additive="base">
                                        <p:cTn id="72" dur="700" fill="hold"/>
                                        <p:tgtEl>
                                          <p:spTgt spid="26"/>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690"/>
                                  </p:stCondLst>
                                  <p:childTnLst>
                                    <p:set>
                                      <p:cBhvr>
                                        <p:cTn id="74" dur="1" fill="hold">
                                          <p:stCondLst>
                                            <p:cond delay="0"/>
                                          </p:stCondLst>
                                        </p:cTn>
                                        <p:tgtEl>
                                          <p:spTgt spid="27"/>
                                        </p:tgtEl>
                                        <p:attrNameLst>
                                          <p:attrName>style.visibility</p:attrName>
                                        </p:attrNameLst>
                                      </p:cBhvr>
                                      <p:to>
                                        <p:strVal val="visible"/>
                                      </p:to>
                                    </p:set>
                                    <p:animEffect transition="in" filter="fade">
                                      <p:cBhvr>
                                        <p:cTn id="75" dur="700"/>
                                        <p:tgtEl>
                                          <p:spTgt spid="27"/>
                                        </p:tgtEl>
                                      </p:cBhvr>
                                    </p:animEffect>
                                    <p:anim calcmode="lin" valueType="num">
                                      <p:cBhvr additive="base">
                                        <p:cTn id="76" dur="700" fill="hold"/>
                                        <p:tgtEl>
                                          <p:spTgt spid="27"/>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690"/>
                                  </p:stCondLst>
                                  <p:childTnLst>
                                    <p:set>
                                      <p:cBhvr>
                                        <p:cTn id="78" dur="1" fill="hold">
                                          <p:stCondLst>
                                            <p:cond delay="0"/>
                                          </p:stCondLst>
                                        </p:cTn>
                                        <p:tgtEl>
                                          <p:spTgt spid="28"/>
                                        </p:tgtEl>
                                        <p:attrNameLst>
                                          <p:attrName>style.visibility</p:attrName>
                                        </p:attrNameLst>
                                      </p:cBhvr>
                                      <p:to>
                                        <p:strVal val="visible"/>
                                      </p:to>
                                    </p:set>
                                    <p:animEffect transition="in" filter="fade">
                                      <p:cBhvr>
                                        <p:cTn id="79" dur="700"/>
                                        <p:tgtEl>
                                          <p:spTgt spid="28"/>
                                        </p:tgtEl>
                                      </p:cBhvr>
                                    </p:animEffect>
                                    <p:anim calcmode="lin" valueType="num">
                                      <p:cBhvr additive="base">
                                        <p:cTn id="80" dur="700" fill="hold"/>
                                        <p:tgtEl>
                                          <p:spTgt spid="28"/>
                                        </p:tgtEl>
                                        <p:attrNameLst>
                                          <p:attrName>ppt_y</p:attrName>
                                        </p:attrNameLst>
                                      </p:cBhvr>
                                      <p:tavLst>
                                        <p:tav tm="0">
                                          <p:val>
                                            <p:strVal val="#ppt_y+0.03"/>
                                          </p:val>
                                        </p:tav>
                                        <p:tav tm="100000">
                                          <p:val>
                                            <p:strVal val="#ppt_y"/>
                                          </p:val>
                                        </p:tav>
                                      </p:tavLst>
                                    </p:anim>
                                  </p:childTnLst>
                                </p:cTn>
                              </p:par>
                              <p:par>
                                <p:cTn id="81" presetID="10" presetClass="entr" presetSubtype="0" decel="100000" fill="hold" grpId="0" nodeType="withEffect">
                                  <p:stCondLst>
                                    <p:cond delay="910"/>
                                  </p:stCondLst>
                                  <p:childTnLst>
                                    <p:set>
                                      <p:cBhvr>
                                        <p:cTn id="82" dur="1" fill="hold">
                                          <p:stCondLst>
                                            <p:cond delay="0"/>
                                          </p:stCondLst>
                                        </p:cTn>
                                        <p:tgtEl>
                                          <p:spTgt spid="14"/>
                                        </p:tgtEl>
                                        <p:attrNameLst>
                                          <p:attrName>style.visibility</p:attrName>
                                        </p:attrNameLst>
                                      </p:cBhvr>
                                      <p:to>
                                        <p:strVal val="visible"/>
                                      </p:to>
                                    </p:set>
                                    <p:animEffect transition="in" filter="fade">
                                      <p:cBhvr>
                                        <p:cTn id="83" dur="600"/>
                                        <p:tgtEl>
                                          <p:spTgt spid="14"/>
                                        </p:tgtEl>
                                      </p:cBhvr>
                                    </p:animEffect>
                                  </p:childTnLst>
                                </p:cTn>
                              </p:par>
                              <p:par>
                                <p:cTn id="84" presetID="10" presetClass="entr" presetSubtype="0" decel="100000" fill="hold" grpId="0" nodeType="withEffect">
                                  <p:stCondLst>
                                    <p:cond delay="910"/>
                                  </p:stCondLst>
                                  <p:childTnLst>
                                    <p:set>
                                      <p:cBhvr>
                                        <p:cTn id="85" dur="1" fill="hold">
                                          <p:stCondLst>
                                            <p:cond delay="0"/>
                                          </p:stCondLst>
                                        </p:cTn>
                                        <p:tgtEl>
                                          <p:spTgt spid="15"/>
                                        </p:tgtEl>
                                        <p:attrNameLst>
                                          <p:attrName>style.visibility</p:attrName>
                                        </p:attrNameLst>
                                      </p:cBhvr>
                                      <p:to>
                                        <p:strVal val="visible"/>
                                      </p:to>
                                    </p:set>
                                    <p:animEffect transition="in" filter="fade">
                                      <p:cBhvr>
                                        <p:cTn id="86" dur="600"/>
                                        <p:tgtEl>
                                          <p:spTgt spid="15"/>
                                        </p:tgtEl>
                                      </p:cBhvr>
                                    </p:animEffect>
                                  </p:childTnLst>
                                </p:cTn>
                              </p:par>
                              <p:par>
                                <p:cTn id="87" presetID="10" presetClass="entr" presetSubtype="0" decel="100000" fill="hold" grpId="0" nodeType="withEffect">
                                  <p:stCondLst>
                                    <p:cond delay="91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600"/>
                                        <p:tgtEl>
                                          <p:spTgt spid="16"/>
                                        </p:tgtEl>
                                      </p:cBhvr>
                                    </p:animEffect>
                                  </p:childTnLst>
                                </p:cTn>
                              </p:par>
                              <p:par>
                                <p:cTn id="90" presetID="10" presetClass="entr" presetSubtype="0" decel="100000" fill="hold" grpId="0" nodeType="withEffect">
                                  <p:stCondLst>
                                    <p:cond delay="910"/>
                                  </p:stCondLst>
                                  <p:childTnLst>
                                    <p:set>
                                      <p:cBhvr>
                                        <p:cTn id="91" dur="1" fill="hold">
                                          <p:stCondLst>
                                            <p:cond delay="0"/>
                                          </p:stCondLst>
                                        </p:cTn>
                                        <p:tgtEl>
                                          <p:spTgt spid="17"/>
                                        </p:tgtEl>
                                        <p:attrNameLst>
                                          <p:attrName>style.visibility</p:attrName>
                                        </p:attrNameLst>
                                      </p:cBhvr>
                                      <p:to>
                                        <p:strVal val="visible"/>
                                      </p:to>
                                    </p:set>
                                    <p:animEffect transition="in" filter="fade">
                                      <p:cBhvr>
                                        <p:cTn id="92" dur="600"/>
                                        <p:tgtEl>
                                          <p:spTgt spid="17"/>
                                        </p:tgtEl>
                                      </p:cBhvr>
                                    </p:animEffect>
                                  </p:childTnLst>
                                </p:cTn>
                              </p:par>
                              <p:par>
                                <p:cTn id="93" presetID="42" presetClass="entr" presetSubtype="0" decel="100000" fill="hold" grpId="0" nodeType="withEffect">
                                  <p:stCondLst>
                                    <p:cond delay="910"/>
                                  </p:stCondLst>
                                  <p:childTnLst>
                                    <p:set>
                                      <p:cBhvr>
                                        <p:cTn id="94" dur="1" fill="hold">
                                          <p:stCondLst>
                                            <p:cond delay="0"/>
                                          </p:stCondLst>
                                        </p:cTn>
                                        <p:tgtEl>
                                          <p:spTgt spid="29"/>
                                        </p:tgtEl>
                                        <p:attrNameLst>
                                          <p:attrName>style.visibility</p:attrName>
                                        </p:attrNameLst>
                                      </p:cBhvr>
                                      <p:to>
                                        <p:strVal val="visible"/>
                                      </p:to>
                                    </p:set>
                                    <p:animEffect transition="in" filter="fade">
                                      <p:cBhvr>
                                        <p:cTn id="95" dur="700"/>
                                        <p:tgtEl>
                                          <p:spTgt spid="29"/>
                                        </p:tgtEl>
                                      </p:cBhvr>
                                    </p:animEffect>
                                    <p:anim calcmode="lin" valueType="num">
                                      <p:cBhvr additive="base">
                                        <p:cTn id="96" dur="700" fill="hold"/>
                                        <p:tgtEl>
                                          <p:spTgt spid="29"/>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910"/>
                                  </p:stCondLst>
                                  <p:childTnLst>
                                    <p:set>
                                      <p:cBhvr>
                                        <p:cTn id="98" dur="1" fill="hold">
                                          <p:stCondLst>
                                            <p:cond delay="0"/>
                                          </p:stCondLst>
                                        </p:cTn>
                                        <p:tgtEl>
                                          <p:spTgt spid="30"/>
                                        </p:tgtEl>
                                        <p:attrNameLst>
                                          <p:attrName>style.visibility</p:attrName>
                                        </p:attrNameLst>
                                      </p:cBhvr>
                                      <p:to>
                                        <p:strVal val="visible"/>
                                      </p:to>
                                    </p:set>
                                    <p:animEffect transition="in" filter="fade">
                                      <p:cBhvr>
                                        <p:cTn id="99" dur="700"/>
                                        <p:tgtEl>
                                          <p:spTgt spid="30"/>
                                        </p:tgtEl>
                                      </p:cBhvr>
                                    </p:animEffect>
                                    <p:anim calcmode="lin" valueType="num">
                                      <p:cBhvr additive="base">
                                        <p:cTn id="100" dur="700" fill="hold"/>
                                        <p:tgtEl>
                                          <p:spTgt spid="30"/>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91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700"/>
                                        <p:tgtEl>
                                          <p:spTgt spid="31"/>
                                        </p:tgtEl>
                                      </p:cBhvr>
                                    </p:animEffect>
                                    <p:anim calcmode="lin" valueType="num">
                                      <p:cBhvr additive="base">
                                        <p:cTn id="104" dur="700" fill="hold"/>
                                        <p:tgtEl>
                                          <p:spTgt spid="31"/>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910"/>
                                  </p:stCondLst>
                                  <p:childTnLst>
                                    <p:set>
                                      <p:cBhvr>
                                        <p:cTn id="106" dur="1" fill="hold">
                                          <p:stCondLst>
                                            <p:cond delay="0"/>
                                          </p:stCondLst>
                                        </p:cTn>
                                        <p:tgtEl>
                                          <p:spTgt spid="32"/>
                                        </p:tgtEl>
                                        <p:attrNameLst>
                                          <p:attrName>style.visibility</p:attrName>
                                        </p:attrNameLst>
                                      </p:cBhvr>
                                      <p:to>
                                        <p:strVal val="visible"/>
                                      </p:to>
                                    </p:set>
                                    <p:animEffect transition="in" filter="fade">
                                      <p:cBhvr>
                                        <p:cTn id="107" dur="700"/>
                                        <p:tgtEl>
                                          <p:spTgt spid="32"/>
                                        </p:tgtEl>
                                      </p:cBhvr>
                                    </p:animEffect>
                                    <p:anim calcmode="lin" valueType="num">
                                      <p:cBhvr additive="base">
                                        <p:cTn id="108" dur="700" fill="hold"/>
                                        <p:tgtEl>
                                          <p:spTgt spid="32"/>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91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700"/>
                                        <p:tgtEl>
                                          <p:spTgt spid="33"/>
                                        </p:tgtEl>
                                      </p:cBhvr>
                                    </p:animEffect>
                                    <p:anim calcmode="lin" valueType="num">
                                      <p:cBhvr additive="base">
                                        <p:cTn id="112" dur="700" fill="hold"/>
                                        <p:tgtEl>
                                          <p:spTgt spid="33"/>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910"/>
                                  </p:stCondLst>
                                  <p:childTnLst>
                                    <p:set>
                                      <p:cBhvr>
                                        <p:cTn id="114" dur="1" fill="hold">
                                          <p:stCondLst>
                                            <p:cond delay="0"/>
                                          </p:stCondLst>
                                        </p:cTn>
                                        <p:tgtEl>
                                          <p:spTgt spid="34"/>
                                        </p:tgtEl>
                                        <p:attrNameLst>
                                          <p:attrName>style.visibility</p:attrName>
                                        </p:attrNameLst>
                                      </p:cBhvr>
                                      <p:to>
                                        <p:strVal val="visible"/>
                                      </p:to>
                                    </p:set>
                                    <p:animEffect transition="in" filter="fade">
                                      <p:cBhvr>
                                        <p:cTn id="115" dur="700"/>
                                        <p:tgtEl>
                                          <p:spTgt spid="34"/>
                                        </p:tgtEl>
                                      </p:cBhvr>
                                    </p:animEffect>
                                    <p:anim calcmode="lin" valueType="num">
                                      <p:cBhvr additive="base">
                                        <p:cTn id="116" dur="700" fill="hold"/>
                                        <p:tgtEl>
                                          <p:spTgt spid="34"/>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910"/>
                                  </p:stCondLst>
                                  <p:childTnLst>
                                    <p:set>
                                      <p:cBhvr>
                                        <p:cTn id="118" dur="1" fill="hold">
                                          <p:stCondLst>
                                            <p:cond delay="0"/>
                                          </p:stCondLst>
                                        </p:cTn>
                                        <p:tgtEl>
                                          <p:spTgt spid="35"/>
                                        </p:tgtEl>
                                        <p:attrNameLst>
                                          <p:attrName>style.visibility</p:attrName>
                                        </p:attrNameLst>
                                      </p:cBhvr>
                                      <p:to>
                                        <p:strVal val="visible"/>
                                      </p:to>
                                    </p:set>
                                    <p:animEffect transition="in" filter="fade">
                                      <p:cBhvr>
                                        <p:cTn id="119" dur="700"/>
                                        <p:tgtEl>
                                          <p:spTgt spid="35"/>
                                        </p:tgtEl>
                                      </p:cBhvr>
                                    </p:animEffect>
                                    <p:anim calcmode="lin" valueType="num">
                                      <p:cBhvr additive="base">
                                        <p:cTn id="120" dur="700" fill="hold"/>
                                        <p:tgtEl>
                                          <p:spTgt spid="35"/>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910"/>
                                  </p:stCondLst>
                                  <p:childTnLst>
                                    <p:set>
                                      <p:cBhvr>
                                        <p:cTn id="122" dur="1" fill="hold">
                                          <p:stCondLst>
                                            <p:cond delay="0"/>
                                          </p:stCondLst>
                                        </p:cTn>
                                        <p:tgtEl>
                                          <p:spTgt spid="36"/>
                                        </p:tgtEl>
                                        <p:attrNameLst>
                                          <p:attrName>style.visibility</p:attrName>
                                        </p:attrNameLst>
                                      </p:cBhvr>
                                      <p:to>
                                        <p:strVal val="visible"/>
                                      </p:to>
                                    </p:set>
                                    <p:animEffect transition="in" filter="fade">
                                      <p:cBhvr>
                                        <p:cTn id="123" dur="700"/>
                                        <p:tgtEl>
                                          <p:spTgt spid="36"/>
                                        </p:tgtEl>
                                      </p:cBhvr>
                                    </p:animEffect>
                                    <p:anim calcmode="lin" valueType="num">
                                      <p:cBhvr additive="base">
                                        <p:cTn id="124" dur="700" fill="hold"/>
                                        <p:tgtEl>
                                          <p:spTgt spid="36"/>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910"/>
                                  </p:stCondLst>
                                  <p:childTnLst>
                                    <p:set>
                                      <p:cBhvr>
                                        <p:cTn id="126" dur="1" fill="hold">
                                          <p:stCondLst>
                                            <p:cond delay="0"/>
                                          </p:stCondLst>
                                        </p:cTn>
                                        <p:tgtEl>
                                          <p:spTgt spid="37"/>
                                        </p:tgtEl>
                                        <p:attrNameLst>
                                          <p:attrName>style.visibility</p:attrName>
                                        </p:attrNameLst>
                                      </p:cBhvr>
                                      <p:to>
                                        <p:strVal val="visible"/>
                                      </p:to>
                                    </p:set>
                                    <p:animEffect transition="in" filter="fade">
                                      <p:cBhvr>
                                        <p:cTn id="127" dur="700"/>
                                        <p:tgtEl>
                                          <p:spTgt spid="37"/>
                                        </p:tgtEl>
                                      </p:cBhvr>
                                    </p:animEffect>
                                    <p:anim calcmode="lin" valueType="num">
                                      <p:cBhvr additive="base">
                                        <p:cTn id="128" dur="700" fill="hold"/>
                                        <p:tgtEl>
                                          <p:spTgt spid="37"/>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910"/>
                                  </p:stCondLst>
                                  <p:childTnLst>
                                    <p:set>
                                      <p:cBhvr>
                                        <p:cTn id="130" dur="1" fill="hold">
                                          <p:stCondLst>
                                            <p:cond delay="0"/>
                                          </p:stCondLst>
                                        </p:cTn>
                                        <p:tgtEl>
                                          <p:spTgt spid="38"/>
                                        </p:tgtEl>
                                        <p:attrNameLst>
                                          <p:attrName>style.visibility</p:attrName>
                                        </p:attrNameLst>
                                      </p:cBhvr>
                                      <p:to>
                                        <p:strVal val="visible"/>
                                      </p:to>
                                    </p:set>
                                    <p:animEffect transition="in" filter="fade">
                                      <p:cBhvr>
                                        <p:cTn id="131" dur="700"/>
                                        <p:tgtEl>
                                          <p:spTgt spid="38"/>
                                        </p:tgtEl>
                                      </p:cBhvr>
                                    </p:animEffect>
                                    <p:anim calcmode="lin" valueType="num">
                                      <p:cBhvr additive="base">
                                        <p:cTn id="132" dur="700" fill="hold"/>
                                        <p:tgtEl>
                                          <p:spTgt spid="38"/>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130"/>
                                  </p:stCondLst>
                                  <p:childTnLst>
                                    <p:set>
                                      <p:cBhvr>
                                        <p:cTn id="134" dur="1" fill="hold">
                                          <p:stCondLst>
                                            <p:cond delay="0"/>
                                          </p:stCondLst>
                                        </p:cTn>
                                        <p:tgtEl>
                                          <p:spTgt spid="39"/>
                                        </p:tgtEl>
                                        <p:attrNameLst>
                                          <p:attrName>style.visibility</p:attrName>
                                        </p:attrNameLst>
                                      </p:cBhvr>
                                      <p:to>
                                        <p:strVal val="visible"/>
                                      </p:to>
                                    </p:set>
                                    <p:animEffect transition="in" filter="fade">
                                      <p:cBhvr>
                                        <p:cTn id="135" dur="700"/>
                                        <p:tgtEl>
                                          <p:spTgt spid="39"/>
                                        </p:tgtEl>
                                      </p:cBhvr>
                                    </p:animEffect>
                                    <p:anim calcmode="lin" valueType="num">
                                      <p:cBhvr additive="base">
                                        <p:cTn id="136" dur="700" fill="hold"/>
                                        <p:tgtEl>
                                          <p:spTgt spid="39"/>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130"/>
                                  </p:stCondLst>
                                  <p:childTnLst>
                                    <p:set>
                                      <p:cBhvr>
                                        <p:cTn id="138" dur="1" fill="hold">
                                          <p:stCondLst>
                                            <p:cond delay="0"/>
                                          </p:stCondLst>
                                        </p:cTn>
                                        <p:tgtEl>
                                          <p:spTgt spid="40"/>
                                        </p:tgtEl>
                                        <p:attrNameLst>
                                          <p:attrName>style.visibility</p:attrName>
                                        </p:attrNameLst>
                                      </p:cBhvr>
                                      <p:to>
                                        <p:strVal val="visible"/>
                                      </p:to>
                                    </p:set>
                                    <p:animEffect transition="in" filter="fade">
                                      <p:cBhvr>
                                        <p:cTn id="139" dur="700"/>
                                        <p:tgtEl>
                                          <p:spTgt spid="40"/>
                                        </p:tgtEl>
                                      </p:cBhvr>
                                    </p:animEffect>
                                    <p:anim calcmode="lin" valueType="num">
                                      <p:cBhvr additive="base">
                                        <p:cTn id="140" dur="700" fill="hold"/>
                                        <p:tgtEl>
                                          <p:spTgt spid="40"/>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130"/>
                                  </p:stCondLst>
                                  <p:childTnLst>
                                    <p:set>
                                      <p:cBhvr>
                                        <p:cTn id="142" dur="1" fill="hold">
                                          <p:stCondLst>
                                            <p:cond delay="0"/>
                                          </p:stCondLst>
                                        </p:cTn>
                                        <p:tgtEl>
                                          <p:spTgt spid="41"/>
                                        </p:tgtEl>
                                        <p:attrNameLst>
                                          <p:attrName>style.visibility</p:attrName>
                                        </p:attrNameLst>
                                      </p:cBhvr>
                                      <p:to>
                                        <p:strVal val="visible"/>
                                      </p:to>
                                    </p:set>
                                    <p:animEffect transition="in" filter="fade">
                                      <p:cBhvr>
                                        <p:cTn id="143" dur="700"/>
                                        <p:tgtEl>
                                          <p:spTgt spid="41"/>
                                        </p:tgtEl>
                                      </p:cBhvr>
                                    </p:animEffect>
                                    <p:anim calcmode="lin" valueType="num">
                                      <p:cBhvr additive="base">
                                        <p:cTn id="144" dur="700" fill="hold"/>
                                        <p:tgtEl>
                                          <p:spTgt spid="41"/>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130"/>
                                  </p:stCondLst>
                                  <p:childTnLst>
                                    <p:set>
                                      <p:cBhvr>
                                        <p:cTn id="146" dur="1" fill="hold">
                                          <p:stCondLst>
                                            <p:cond delay="0"/>
                                          </p:stCondLst>
                                        </p:cTn>
                                        <p:tgtEl>
                                          <p:spTgt spid="42"/>
                                        </p:tgtEl>
                                        <p:attrNameLst>
                                          <p:attrName>style.visibility</p:attrName>
                                        </p:attrNameLst>
                                      </p:cBhvr>
                                      <p:to>
                                        <p:strVal val="visible"/>
                                      </p:to>
                                    </p:set>
                                    <p:animEffect transition="in" filter="fade">
                                      <p:cBhvr>
                                        <p:cTn id="147" dur="700"/>
                                        <p:tgtEl>
                                          <p:spTgt spid="42"/>
                                        </p:tgtEl>
                                      </p:cBhvr>
                                    </p:animEffect>
                                    <p:anim calcmode="lin" valueType="num">
                                      <p:cBhvr additive="base">
                                        <p:cTn id="148" dur="700" fill="hold"/>
                                        <p:tgtEl>
                                          <p:spTgt spid="42"/>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130"/>
                                  </p:stCondLst>
                                  <p:childTnLst>
                                    <p:set>
                                      <p:cBhvr>
                                        <p:cTn id="150" dur="1" fill="hold">
                                          <p:stCondLst>
                                            <p:cond delay="0"/>
                                          </p:stCondLst>
                                        </p:cTn>
                                        <p:tgtEl>
                                          <p:spTgt spid="43"/>
                                        </p:tgtEl>
                                        <p:attrNameLst>
                                          <p:attrName>style.visibility</p:attrName>
                                        </p:attrNameLst>
                                      </p:cBhvr>
                                      <p:to>
                                        <p:strVal val="visible"/>
                                      </p:to>
                                    </p:set>
                                    <p:animEffect transition="in" filter="fade">
                                      <p:cBhvr>
                                        <p:cTn id="151" dur="700"/>
                                        <p:tgtEl>
                                          <p:spTgt spid="43"/>
                                        </p:tgtEl>
                                      </p:cBhvr>
                                    </p:animEffect>
                                    <p:anim calcmode="lin" valueType="num">
                                      <p:cBhvr additive="base">
                                        <p:cTn id="152" dur="700" fill="hold"/>
                                        <p:tgtEl>
                                          <p:spTgt spid="43"/>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130"/>
                                  </p:stCondLst>
                                  <p:childTnLst>
                                    <p:set>
                                      <p:cBhvr>
                                        <p:cTn id="154" dur="1" fill="hold">
                                          <p:stCondLst>
                                            <p:cond delay="0"/>
                                          </p:stCondLst>
                                        </p:cTn>
                                        <p:tgtEl>
                                          <p:spTgt spid="44"/>
                                        </p:tgtEl>
                                        <p:attrNameLst>
                                          <p:attrName>style.visibility</p:attrName>
                                        </p:attrNameLst>
                                      </p:cBhvr>
                                      <p:to>
                                        <p:strVal val="visible"/>
                                      </p:to>
                                    </p:set>
                                    <p:animEffect transition="in" filter="fade">
                                      <p:cBhvr>
                                        <p:cTn id="155" dur="700"/>
                                        <p:tgtEl>
                                          <p:spTgt spid="44"/>
                                        </p:tgtEl>
                                      </p:cBhvr>
                                    </p:animEffect>
                                    <p:anim calcmode="lin" valueType="num">
                                      <p:cBhvr additive="base">
                                        <p:cTn id="156" dur="700" fill="hold"/>
                                        <p:tgtEl>
                                          <p:spTgt spid="44"/>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130"/>
                                  </p:stCondLst>
                                  <p:childTnLst>
                                    <p:set>
                                      <p:cBhvr>
                                        <p:cTn id="158" dur="1" fill="hold">
                                          <p:stCondLst>
                                            <p:cond delay="0"/>
                                          </p:stCondLst>
                                        </p:cTn>
                                        <p:tgtEl>
                                          <p:spTgt spid="45"/>
                                        </p:tgtEl>
                                        <p:attrNameLst>
                                          <p:attrName>style.visibility</p:attrName>
                                        </p:attrNameLst>
                                      </p:cBhvr>
                                      <p:to>
                                        <p:strVal val="visible"/>
                                      </p:to>
                                    </p:set>
                                    <p:animEffect transition="in" filter="fade">
                                      <p:cBhvr>
                                        <p:cTn id="159" dur="700"/>
                                        <p:tgtEl>
                                          <p:spTgt spid="45"/>
                                        </p:tgtEl>
                                      </p:cBhvr>
                                    </p:animEffect>
                                    <p:anim calcmode="lin" valueType="num">
                                      <p:cBhvr additive="base">
                                        <p:cTn id="160" dur="700" fill="hold"/>
                                        <p:tgtEl>
                                          <p:spTgt spid="45"/>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130"/>
                                  </p:stCondLst>
                                  <p:childTnLst>
                                    <p:set>
                                      <p:cBhvr>
                                        <p:cTn id="162" dur="1" fill="hold">
                                          <p:stCondLst>
                                            <p:cond delay="0"/>
                                          </p:stCondLst>
                                        </p:cTn>
                                        <p:tgtEl>
                                          <p:spTgt spid="46"/>
                                        </p:tgtEl>
                                        <p:attrNameLst>
                                          <p:attrName>style.visibility</p:attrName>
                                        </p:attrNameLst>
                                      </p:cBhvr>
                                      <p:to>
                                        <p:strVal val="visible"/>
                                      </p:to>
                                    </p:set>
                                    <p:animEffect transition="in" filter="fade">
                                      <p:cBhvr>
                                        <p:cTn id="163" dur="700"/>
                                        <p:tgtEl>
                                          <p:spTgt spid="46"/>
                                        </p:tgtEl>
                                      </p:cBhvr>
                                    </p:animEffect>
                                    <p:anim calcmode="lin" valueType="num">
                                      <p:cBhvr additive="base">
                                        <p:cTn id="164" dur="700" fill="hold"/>
                                        <p:tgtEl>
                                          <p:spTgt spid="46"/>
                                        </p:tgtEl>
                                        <p:attrNameLst>
                                          <p:attrName>ppt_y</p:attrName>
                                        </p:attrNameLst>
                                      </p:cBhvr>
                                      <p:tavLst>
                                        <p:tav tm="0">
                                          <p:val>
                                            <p:strVal val="#ppt_y+0.03"/>
                                          </p:val>
                                        </p:tav>
                                        <p:tav tm="100000">
                                          <p:val>
                                            <p:strVal val="#ppt_y"/>
                                          </p:val>
                                        </p:tav>
                                      </p:tavLst>
                                    </p:anim>
                                  </p:childTnLst>
                                </p:cTn>
                              </p:par>
                              <p:par>
                                <p:cTn id="165" presetID="42" presetClass="entr" presetSubtype="0" decel="100000" fill="hold" grpId="0" nodeType="withEffect">
                                  <p:stCondLst>
                                    <p:cond delay="1130"/>
                                  </p:stCondLst>
                                  <p:childTnLst>
                                    <p:set>
                                      <p:cBhvr>
                                        <p:cTn id="166" dur="1" fill="hold">
                                          <p:stCondLst>
                                            <p:cond delay="0"/>
                                          </p:stCondLst>
                                        </p:cTn>
                                        <p:tgtEl>
                                          <p:spTgt spid="47"/>
                                        </p:tgtEl>
                                        <p:attrNameLst>
                                          <p:attrName>style.visibility</p:attrName>
                                        </p:attrNameLst>
                                      </p:cBhvr>
                                      <p:to>
                                        <p:strVal val="visible"/>
                                      </p:to>
                                    </p:set>
                                    <p:animEffect transition="in" filter="fade">
                                      <p:cBhvr>
                                        <p:cTn id="167" dur="700"/>
                                        <p:tgtEl>
                                          <p:spTgt spid="47"/>
                                        </p:tgtEl>
                                      </p:cBhvr>
                                    </p:animEffect>
                                    <p:anim calcmode="lin" valueType="num">
                                      <p:cBhvr additive="base">
                                        <p:cTn id="168" dur="700" fill="hold"/>
                                        <p:tgtEl>
                                          <p:spTgt spid="47"/>
                                        </p:tgtEl>
                                        <p:attrNameLst>
                                          <p:attrName>ppt_y</p:attrName>
                                        </p:attrNameLst>
                                      </p:cBhvr>
                                      <p:tavLst>
                                        <p:tav tm="0">
                                          <p:val>
                                            <p:strVal val="#ppt_y+0.03"/>
                                          </p:val>
                                        </p:tav>
                                        <p:tav tm="100000">
                                          <p:val>
                                            <p:strVal val="#ppt_y"/>
                                          </p:val>
                                        </p:tav>
                                      </p:tavLst>
                                    </p:anim>
                                  </p:childTnLst>
                                </p:cTn>
                              </p:par>
                              <p:par>
                                <p:cTn id="169" presetID="42" presetClass="entr" presetSubtype="0" decel="100000" fill="hold" grpId="0" nodeType="withEffect">
                                  <p:stCondLst>
                                    <p:cond delay="1130"/>
                                  </p:stCondLst>
                                  <p:childTnLst>
                                    <p:set>
                                      <p:cBhvr>
                                        <p:cTn id="170" dur="1" fill="hold">
                                          <p:stCondLst>
                                            <p:cond delay="0"/>
                                          </p:stCondLst>
                                        </p:cTn>
                                        <p:tgtEl>
                                          <p:spTgt spid="48"/>
                                        </p:tgtEl>
                                        <p:attrNameLst>
                                          <p:attrName>style.visibility</p:attrName>
                                        </p:attrNameLst>
                                      </p:cBhvr>
                                      <p:to>
                                        <p:strVal val="visible"/>
                                      </p:to>
                                    </p:set>
                                    <p:animEffect transition="in" filter="fade">
                                      <p:cBhvr>
                                        <p:cTn id="171" dur="700"/>
                                        <p:tgtEl>
                                          <p:spTgt spid="48"/>
                                        </p:tgtEl>
                                      </p:cBhvr>
                                    </p:animEffect>
                                    <p:anim calcmode="lin" valueType="num">
                                      <p:cBhvr additive="base">
                                        <p:cTn id="172" dur="700" fill="hold"/>
                                        <p:tgtEl>
                                          <p:spTgt spid="48"/>
                                        </p:tgtEl>
                                        <p:attrNameLst>
                                          <p:attrName>ppt_y</p:attrName>
                                        </p:attrNameLst>
                                      </p:cBhvr>
                                      <p:tavLst>
                                        <p:tav tm="0">
                                          <p:val>
                                            <p:strVal val="#ppt_y+0.03"/>
                                          </p:val>
                                        </p:tav>
                                        <p:tav tm="100000">
                                          <p:val>
                                            <p:strVal val="#ppt_y"/>
                                          </p:val>
                                        </p:tav>
                                      </p:tavLst>
                                    </p:anim>
                                  </p:childTnLst>
                                </p:cTn>
                              </p:par>
                              <p:par>
                                <p:cTn id="173" presetID="42" presetClass="entr" presetSubtype="0" decel="100000" fill="hold" grpId="0" nodeType="withEffect">
                                  <p:stCondLst>
                                    <p:cond delay="1350"/>
                                  </p:stCondLst>
                                  <p:childTnLst>
                                    <p:set>
                                      <p:cBhvr>
                                        <p:cTn id="174" dur="1" fill="hold">
                                          <p:stCondLst>
                                            <p:cond delay="0"/>
                                          </p:stCondLst>
                                        </p:cTn>
                                        <p:tgtEl>
                                          <p:spTgt spid="49"/>
                                        </p:tgtEl>
                                        <p:attrNameLst>
                                          <p:attrName>style.visibility</p:attrName>
                                        </p:attrNameLst>
                                      </p:cBhvr>
                                      <p:to>
                                        <p:strVal val="visible"/>
                                      </p:to>
                                    </p:set>
                                    <p:animEffect transition="in" filter="fade">
                                      <p:cBhvr>
                                        <p:cTn id="175" dur="700"/>
                                        <p:tgtEl>
                                          <p:spTgt spid="49"/>
                                        </p:tgtEl>
                                      </p:cBhvr>
                                    </p:animEffect>
                                    <p:anim calcmode="lin" valueType="num">
                                      <p:cBhvr additive="base">
                                        <p:cTn id="176" dur="700" fill="hold"/>
                                        <p:tgtEl>
                                          <p:spTgt spid="49"/>
                                        </p:tgtEl>
                                        <p:attrNameLst>
                                          <p:attrName>ppt_y</p:attrName>
                                        </p:attrNameLst>
                                      </p:cBhvr>
                                      <p:tavLst>
                                        <p:tav tm="0">
                                          <p:val>
                                            <p:strVal val="#ppt_y+0.03"/>
                                          </p:val>
                                        </p:tav>
                                        <p:tav tm="100000">
                                          <p:val>
                                            <p:strVal val="#ppt_y"/>
                                          </p:val>
                                        </p:tav>
                                      </p:tavLst>
                                    </p:anim>
                                  </p:childTnLst>
                                </p:cTn>
                              </p:par>
                              <p:par>
                                <p:cTn id="177" presetID="42" presetClass="entr" presetSubtype="0" decel="100000" fill="hold" grpId="0" nodeType="withEffect">
                                  <p:stCondLst>
                                    <p:cond delay="1350"/>
                                  </p:stCondLst>
                                  <p:childTnLst>
                                    <p:set>
                                      <p:cBhvr>
                                        <p:cTn id="178" dur="1" fill="hold">
                                          <p:stCondLst>
                                            <p:cond delay="0"/>
                                          </p:stCondLst>
                                        </p:cTn>
                                        <p:tgtEl>
                                          <p:spTgt spid="50"/>
                                        </p:tgtEl>
                                        <p:attrNameLst>
                                          <p:attrName>style.visibility</p:attrName>
                                        </p:attrNameLst>
                                      </p:cBhvr>
                                      <p:to>
                                        <p:strVal val="visible"/>
                                      </p:to>
                                    </p:set>
                                    <p:animEffect transition="in" filter="fade">
                                      <p:cBhvr>
                                        <p:cTn id="179" dur="700"/>
                                        <p:tgtEl>
                                          <p:spTgt spid="50"/>
                                        </p:tgtEl>
                                      </p:cBhvr>
                                    </p:animEffect>
                                    <p:anim calcmode="lin" valueType="num">
                                      <p:cBhvr additive="base">
                                        <p:cTn id="180"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p:bldP spid="22" grpId="0" animBg="1"/>
      <p:bldP spid="23" grpId="0" animBg="1"/>
      <p:bldP spid="24" grpId="0" animBg="1"/>
      <p:bldP spid="25" grpId="0" animBg="1"/>
      <p:bldP spid="26" grpId="0"/>
      <p:bldP spid="27" grpId="0" animBg="1"/>
      <p:bldP spid="28" grpId="0" animBg="1"/>
      <p:bldP spid="29" grpId="0" animBg="1"/>
      <p:bldP spid="30" grpId="0" animBg="1"/>
      <p:bldP spid="31" grpId="0"/>
      <p:bldP spid="32" grpId="0" animBg="1"/>
      <p:bldP spid="33" grpId="0" animBg="1"/>
      <p:bldP spid="34" grpId="0" animBg="1"/>
      <p:bldP spid="35" grpId="0" animBg="1"/>
      <p:bldP spid="36" grpId="0"/>
      <p:bldP spid="37" grpId="0" animBg="1"/>
      <p:bldP spid="38" grpId="0" animBg="1"/>
      <p:bldP spid="39" grpId="0" animBg="1"/>
      <p:bldP spid="40" grpId="0" animBg="1"/>
      <p:bldP spid="41" grpId="0"/>
      <p:bldP spid="42" grpId="0" animBg="1"/>
      <p:bldP spid="43" grpId="0" animBg="1"/>
      <p:bldP spid="44" grpId="0" animBg="1"/>
      <p:bldP spid="45" grpId="0" animBg="1"/>
      <p:bldP spid="46" grpId="0"/>
      <p:bldP spid="47" grpId="0" animBg="1"/>
      <p:bldP spid="48" grpId="0" animBg="1"/>
      <p:bldP spid="49" grpId="0" animBg="1"/>
      <p:bldP spid="5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70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60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4DA3FF"/>
                </a:solidFill>
                <a:latin typeface="Segoe UI Semibold" pitchFamily="34" charset="0"/>
                <a:ea typeface="Segoe UI Semibold" pitchFamily="34" charset="-122"/>
                <a:cs typeface="Segoe UI Semibold" pitchFamily="34" charset="-120"/>
              </a:rPr>
              <a:t>TEAM BLUE ATHAR  ·  </a:t>
            </a:r>
            <a:r>
              <a:rPr lang="en-US" sz="1300" dirty="0">
                <a:solidFill>
                  <a:srgbClr val="4DA3FF"/>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3F7FA"/>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3F7FA"/>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2C14E"/>
                </a:solidFill>
                <a:latin typeface="Segoe UI Semibold" pitchFamily="34" charset="0"/>
                <a:ea typeface="Segoe UI Semibold" pitchFamily="34" charset="-122"/>
                <a:cs typeface="Segoe UI Semibold" pitchFamily="34" charset="-120"/>
              </a:rPr>
              <a:t>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0D2240">
              <a:alpha val="70000"/>
            </a:srgbClr>
          </a:solidFill>
          <a:ln w="9525">
            <a:solidFill>
              <a:srgbClr val="2A4F80"/>
            </a:solidFill>
            <a:prstDash val="solid"/>
          </a:ln>
          <a:effectLst>
            <a:outerShdw blurRad="152400" dist="50800" dir="5400000" algn="bl" rotWithShape="0">
              <a:srgbClr val="000000">
                <a:alpha val="35000"/>
              </a:srgbClr>
            </a:outerShdw>
          </a:effectLst>
        </p:spPr>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2C14E"/>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0D2240">
              <a:alpha val="70000"/>
            </a:srgbClr>
          </a:solidFill>
          <a:ln w="9525">
            <a:solidFill>
              <a:srgbClr val="2A4F80"/>
            </a:solidFill>
            <a:prstDash val="solid"/>
          </a:ln>
          <a:effectLst>
            <a:outerShdw blurRad="152400" dist="50800" dir="5400000" algn="bl" rotWithShape="0">
              <a:srgbClr val="000000">
                <a:alpha val="35000"/>
              </a:srgbClr>
            </a:outerShdw>
          </a:effectLst>
        </p:spPr>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F6B81"/>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0D2240">
              <a:alpha val="70000"/>
            </a:srgbClr>
          </a:solidFill>
          <a:ln w="9525">
            <a:solidFill>
              <a:srgbClr val="2A4F80"/>
            </a:solidFill>
            <a:prstDash val="solid"/>
          </a:ln>
          <a:effectLst>
            <a:outerShdw blurRad="152400" dist="50800" dir="5400000" algn="bl" rotWithShape="0">
              <a:srgbClr val="000000">
                <a:alpha val="35000"/>
              </a:srgbClr>
            </a:outerShdw>
          </a:effectLst>
        </p:spPr>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2C14E"/>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0D2240">
              <a:alpha val="70000"/>
            </a:srgbClr>
          </a:solidFill>
          <a:ln w="9525">
            <a:solidFill>
              <a:srgbClr val="2A4F80"/>
            </a:solidFill>
            <a:prstDash val="solid"/>
          </a:ln>
          <a:effectLst>
            <a:outerShdw blurRad="152400" dist="50800" dir="5400000" algn="bl" rotWithShape="0">
              <a:srgbClr val="000000">
                <a:alpha val="35000"/>
              </a:srgbClr>
            </a:outerShdw>
          </a:effectLst>
        </p:spPr>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2C14E"/>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10716768" cy="868680"/>
          </a:xfrm>
          <a:prstGeom prst="roundRect">
            <a:avLst>
              <a:gd name="adj" fmla="val 14737"/>
            </a:avLst>
          </a:prstGeom>
          <a:solidFill>
            <a:srgbClr val="4DA3FF">
              <a:alpha val="16000"/>
            </a:srgbClr>
          </a:solidFill>
          <a:ln w="9525">
            <a:solidFill>
              <a:srgbClr val="4DA3FF"/>
            </a:solidFill>
            <a:prstDash val="solid"/>
          </a:ln>
          <a:effectLst>
            <a:outerShdw blurRad="152400" dist="50800" dir="5400000" algn="bl" rotWithShape="0">
              <a:srgbClr val="000000">
                <a:alpha val="35000"/>
              </a:srgbClr>
            </a:outerShdw>
          </a:effectLst>
        </p:spPr>
      </p:sp>
      <p:sp>
        <p:nvSpPr>
          <p:cNvPr id="21" name="a6float_askt"/>
          <p:cNvSpPr txBox="1"/>
          <p:nvPr/>
        </p:nvSpPr>
        <p:spPr>
          <a:xfrm>
            <a:off x="960120" y="4800600"/>
            <a:ext cx="1033272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A8D1FF"/>
                </a:solidFill>
                <a:latin typeface="Segoe UI" pitchFamily="34" charset="0"/>
                <a:ea typeface="Segoe UI" pitchFamily="34" charset="-122"/>
                <a:cs typeface="Segoe UI" pitchFamily="34" charset="-120"/>
              </a:rPr>
              <a:t>Our ask:  </a:t>
            </a:r>
            <a:r>
              <a:rPr lang="en-US" sz="1500" dirty="0">
                <a:solidFill>
                  <a:srgbClr val="F3F7FA"/>
                </a:solidFill>
                <a:latin typeface="Segoe UI" pitchFamily="34" charset="0"/>
                <a:ea typeface="Segoe UI" pitchFamily="34" charset="-122"/>
                <a:cs typeface="Segoe UI" pitchFamily="34" charset="-120"/>
              </a:rPr>
              <a:t>incubation to run a pilot with a Gulf agency or planting programme, mentor access on hyperspectral reading of mangroves, and Satellite 813 scenes when available.</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A3B8CB"/>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
        <p:nvSpPr>
          <p:cNvPr id="23" name="a7fade_ty"/>
          <p:cNvSpPr txBox="1"/>
          <p:nvPr/>
        </p:nvSpPr>
        <p:spPr>
          <a:xfrm>
            <a:off x="9052560" y="5833872"/>
            <a:ext cx="2395728" cy="411480"/>
          </a:xfrm>
          <a:prstGeom prst="rect">
            <a:avLst/>
          </a:prstGeom>
          <a:noFill/>
          <a:ln/>
        </p:spPr>
        <p:txBody>
          <a:bodyPr wrap="square" lIns="0" tIns="0" rIns="0" bIns="0" rtlCol="0" anchor="t"/>
          <a:lstStyle/>
          <a:p>
            <a:pPr marL="0" indent="0" algn="r">
              <a:lnSpc>
                <a:spcPct val="105000"/>
              </a:lnSpc>
              <a:buNone/>
            </a:pPr>
            <a:r>
              <a:rPr lang="en-US" sz="2000" dirty="0">
                <a:solidFill>
                  <a:srgbClr val="F2C14E"/>
                </a:solidFill>
                <a:latin typeface="Segoe UI Semibold" pitchFamily="34" charset="0"/>
                <a:ea typeface="Segoe UI Semibold" pitchFamily="34" charset="-122"/>
                <a:cs typeface="Segoe UI Semibold" pitchFamily="34" charset="-120"/>
              </a:rPr>
              <a:t>Thank you</a:t>
            </a:r>
            <a:endParaRPr lang="en-US" sz="20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par>
                                <p:cTn id="75" presetID="10" presetClass="entr" presetSubtype="0" decel="100000" fill="hold" grpId="0" nodeType="withEffect">
                                  <p:stCondLst>
                                    <p:cond delay="179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70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60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4DA3FF"/>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The 2-minute product demo</a:t>
            </a:r>
            <a:endParaRPr lang="en-US" sz="3400" dirty="0"/>
          </a:p>
        </p:txBody>
      </p:sp>
      <p:sp>
        <p:nvSpPr>
          <p:cNvPr id="7" name="a1zoom_dframe"/>
          <p:cNvSpPr/>
          <p:nvPr/>
        </p:nvSpPr>
        <p:spPr>
          <a:xfrm>
            <a:off x="2154784" y="1636776"/>
            <a:ext cx="7882128" cy="4481703"/>
          </a:xfrm>
          <a:prstGeom prst="roundRect">
            <a:avLst>
              <a:gd name="adj" fmla="val 1632"/>
            </a:avLst>
          </a:prstGeom>
          <a:solidFill>
            <a:srgbClr val="0A1E3C"/>
          </a:solidFill>
          <a:ln w="15875">
            <a:solidFill>
              <a:srgbClr val="4DA3FF"/>
            </a:solidFill>
            <a:prstDash val="solid"/>
          </a:ln>
          <a:effectLst>
            <a:outerShdw blurRad="152400" dist="50800" dir="5400000" algn="bl" rotWithShape="0">
              <a:srgbClr val="000000">
                <a:alpha val="35000"/>
              </a:srgbClr>
            </a:outerShdw>
          </a:effectLst>
        </p:spPr>
      </p:sp>
      <p:pic>
        <p:nvPicPr>
          <p:cNvPr id="6" name="video_demo">
            <a:hlinkClick r:id="" action="ppaction://media"/>
            <a:extLst>
              <a:ext uri="{FF2B5EF4-FFF2-40B4-BE49-F238E27FC236}">
                <a16:creationId xmlns:a16="http://schemas.microsoft.com/office/drawing/2014/main" id="{C33FBAB7-1505-311D-F48E-60A2363638EE}"/>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2209648" y="1691641"/>
            <a:ext cx="7772400" cy="4371975"/>
          </a:xfrm>
          <a:prstGeom prst="rect">
            <a:avLst/>
          </a:prstGeom>
        </p:spPr>
      </p:pic>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4DA3FF"/>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7" restart="whenNotActive" fill="hold" evtFilter="cancelBubble" nodeType="interactiveSeq">
                <p:stCondLst>
                  <p:cond evt="onClick" delay="0">
                    <p:tgtEl>
                      <p:spTgt spid="6"/>
                    </p:tgtEl>
                  </p:cond>
                </p:stCondLst>
                <p:endSync evt="end" delay="0">
                  <p:rtn val="all"/>
                </p:endSync>
                <p:childTnLst>
                  <p:par>
                    <p:cTn id="18" fill="hold">
                      <p:stCondLst>
                        <p:cond delay="0"/>
                      </p:stCondLst>
                      <p:childTnLst>
                        <p:par>
                          <p:cTn id="19" fill="hold">
                            <p:stCondLst>
                              <p:cond delay="0"/>
                            </p:stCondLst>
                            <p:childTnLst>
                              <p:par>
                                <p:cTn id="20" presetID="2" presetClass="mediacall" presetSubtype="0" fill="hold" nodeType="clickEffect">
                                  <p:stCondLst>
                                    <p:cond delay="0"/>
                                  </p:stCondLst>
                                  <p:childTnLst>
                                    <p:cmd type="call" cmd="togglePause">
                                      <p:cBhvr>
                                        <p:cTn id="21" dur="1" fill="hold"/>
                                        <p:tgtEl>
                                          <p:spTgt spid="6"/>
                                        </p:tgtEl>
                                      </p:cBhvr>
                                    </p:cmd>
                                  </p:childTnLst>
                                </p:cTn>
                              </p:par>
                            </p:childTnLst>
                          </p:cTn>
                        </p:par>
                      </p:childTnLst>
                    </p:cTn>
                  </p:par>
                </p:childTnLst>
              </p:cTn>
              <p:nextCondLst>
                <p:cond evt="onClick" delay="0">
                  <p:tgtEl>
                    <p:spTgt spid="6"/>
                  </p:tgtEl>
                </p:cond>
              </p:nextCondLst>
            </p:seq>
            <p:video>
              <p:cMediaNode vol="80000">
                <p:cTn id="22" fill="hold" display="0">
                  <p:stCondLst>
                    <p:cond delay="indefinite"/>
                  </p:stCondLst>
                </p:cTn>
                <p:tgtEl>
                  <p:spTgt spid="6"/>
                </p:tgtEl>
              </p:cMediaNode>
            </p:video>
          </p:childTnLst>
        </p:cTn>
      </p:par>
    </p:tnLst>
    <p:bldLst>
      <p:bldP spid="4" grpId="0" animBg="1"/>
      <p:bldP spid="5" grpId="0" animBg="1"/>
      <p:bldP spid="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3773</Words>
  <Application>Microsoft Office PowerPoint</Application>
  <PresentationFormat>Widescreen</PresentationFormat>
  <Paragraphs>340</Paragraphs>
  <Slides>16</Slides>
  <Notes>16</Notes>
  <HiddenSlides>0</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Segoe UI</vt:lpstr>
      <vt:lpstr>Segoe UI Light</vt:lpstr>
      <vt:lpstr>Segoe UI Semibold</vt:lpstr>
      <vt:lpstr>Office Theme</vt:lpstr>
      <vt:lpstr>PowerPoint Presentation</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The tide looks like tree loss — until you correct for it</vt:lpstr>
      <vt:lpstr>A stand average hides partial loss. 200 m cells do not.</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One engineer, every role — delivered in the open</vt:lpstr>
      <vt:lpstr>PowerPoint Presentation</vt:lpstr>
      <vt:lpstr>The 2-minute product demo</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2</cp:revision>
  <dcterms:created xsi:type="dcterms:W3CDTF">2026-10-16T20:02:26Z</dcterms:created>
  <dcterms:modified xsi:type="dcterms:W3CDTF">2026-10-16T20:03:29Z</dcterms:modified>
</cp:coreProperties>
</file>