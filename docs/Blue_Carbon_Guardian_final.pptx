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885E-41A0-A15B-BB79C7F148C5}"/>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885E-41A0-A15B-BB79C7F148C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85DF-48AD-BCE7-0D830F2FF813}"/>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85DF-48AD-BCE7-0D830F2FF81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5350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"Before the problem — who is behind this. A team of one. I held every role on this slide — satellite pipeline, statistics, product and business case.
I'm finishing a BSc in Artificial Intelligence at the Arab Open University in Bahrain, with First-Class Honours standing; I have two IEEE papers in machine learning,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"The Gulf is planting mangroves at record scale: 100 million pledged by the UAE, more than 100 million by Saudi Arabia.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where Satellite 813 comes in. Sentinel-2 tells us when something changed, every five days. Satellite 813 tells us what: once a cell is flagged, we task 813 over just that cell.
Every index we use sits inside 813's range, at 20 metres. It is planned — 813 scenes were not available in this proof of concept."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"For the user: an alert with the cell map and the carbon at stake — the inspector visits only those cells. If nothing changes, a monthly report."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"How is this different? Surveys are periodic, maps are one-off, and Global Mangrove Watch's free monthly alerts are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NDVI, baselines or false alarms.
SAY: "Same alert rule, same 25 stands: NDVI alone gives 1.61 false alarms per stand-year, ours 0.96 — 40 % fewer, mostly thanks to the tide model. All four catch the five conversions; the difference is the false-alarm cost."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limits or what we claim.
SAY: "Detection while works happen, not early warning; 10-metre pixels miss very small stands; confirmation on dated imagery, not site visits — matching permits with a partner is our first pilot task."
</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notesSlide" Target="../notesSlides/notesSlide1.xml"/><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6.png"/><Relationship Id="rId9" Type="http://schemas.openxmlformats.org/officeDocument/2006/relationships/image" Target="../media/image15.png"/></Relationships>
</file>

<file path=ppt/slides/_rels/slide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26.png"/><Relationship Id="rId5" Type="http://schemas.openxmlformats.org/officeDocument/2006/relationships/image" Target="../media/image5.png"/><Relationship Id="rId10" Type="http://schemas.openxmlformats.org/officeDocument/2006/relationships/image" Target="../media/image25.png"/><Relationship Id="rId4" Type="http://schemas.openxmlformats.org/officeDocument/2006/relationships/notesSlide" Target="../notesSlides/notesSlide4.xml"/><Relationship Id="rId9" Type="http://schemas.openxmlformats.org/officeDocument/2006/relationships/image" Target="../media/image24.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29.png"/><Relationship Id="rId12"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6.png"/><Relationship Id="rId9"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1.png"/><Relationship Id="rId10" Type="http://schemas.openxmlformats.org/officeDocument/2006/relationships/image" Target="../media/image30.png"/><Relationship Id="rId4" Type="http://schemas.openxmlformats.org/officeDocument/2006/relationships/image" Target="../media/image6.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23.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chart" Target="../charts/char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1.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5.png"/><Relationship Id="rId7"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image" Target="../media/image50.png"/><Relationship Id="rId5" Type="http://schemas.openxmlformats.org/officeDocument/2006/relationships/image" Target="../media/image46.png"/><Relationship Id="rId10" Type="http://schemas.openxmlformats.org/officeDocument/2006/relationships/image" Target="../media/image49.png"/><Relationship Id="rId4" Type="http://schemas.openxmlformats.org/officeDocument/2006/relationships/image" Target="../media/image6.png"/><Relationship Id="rId9"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52.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53.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79D00F41-B823-DA35-8EFA-CB5A6408E735}"/>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Team lead · AI engineer · IEEE researcher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 Bahrain · final semester · First-Class Honours standing</a:t>
            </a:r>
            <a:endParaRPr lang="en-US" sz="1150" dirty="0"/>
          </a:p>
        </p:txBody>
      </p:sp>
      <p:sp>
        <p:nvSpPr>
          <p:cNvPr id="15" name="a2fade_l1"/>
          <p:cNvSpPr txBox="1"/>
          <p:nvPr/>
        </p:nvSpPr>
        <p:spPr>
          <a:xfrm>
            <a:off x="804672" y="3877056"/>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6" name="a2fade_skills"/>
          <p:cNvSpPr txBox="1"/>
          <p:nvPr/>
        </p:nvSpPr>
        <p:spPr>
          <a:xfrm>
            <a:off x="804672" y="4114800"/>
            <a:ext cx="3794760" cy="128016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2 IEEE papers (ICCA 2025, ICAISET 2026): federated learning for industrial IoT; random-forest audit of GCC sustainability</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AI &amp; LLM product engineering (Doo Bahrain; FlyRank backend AI)</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Machine learning, computer vision (deepfake detection), Python geospatial stack</a:t>
            </a:r>
            <a:endParaRPr lang="en-US" sz="1050" dirty="0"/>
          </a:p>
        </p:txBody>
      </p:sp>
      <p:sp>
        <p:nvSpPr>
          <p:cNvPr id="17" name="a3fade_l2"/>
          <p:cNvSpPr txBox="1"/>
          <p:nvPr/>
        </p:nvSpPr>
        <p:spPr>
          <a:xfrm>
            <a:off x="804672" y="54864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687568"/>
            <a:ext cx="3794760" cy="411480"/>
          </a:xfrm>
          <a:prstGeom prst="rect">
            <a:avLst/>
          </a:prstGeom>
          <a:noFill/>
          <a:ln/>
        </p:spPr>
        <p:txBody>
          <a:bodyPr wrap="square" lIns="0" tIns="0" rIns="0" bIns="0" rtlCol="0" anchor="t"/>
          <a:lstStyle/>
          <a:p>
            <a:pPr marL="0" indent="0" algn="l">
              <a:lnSpc>
                <a:spcPct val="105000"/>
              </a:lnSpc>
              <a:buNone/>
            </a:pPr>
            <a:r>
              <a:rPr lang="en-US" sz="1000" dirty="0">
                <a:solidFill>
                  <a:srgbClr val="1B2B40"/>
                </a:solidFill>
                <a:latin typeface="Segoe UI" pitchFamily="34" charset="0"/>
                <a:ea typeface="Segoe UI" pitchFamily="34" charset="-122"/>
                <a:cs typeface="Segoe UI" pitchFamily="34" charset="-120"/>
              </a:rPr>
              <a:t>NASA Space Apps Challenge local lead (Manama): organising and mentoring space-data teams</a:t>
            </a:r>
            <a:endParaRPr lang="en-US" sz="1000" dirty="0"/>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10" presetClass="entr" presetSubtype="0" decel="100000" fill="hold" grpId="0" nodeType="withEffect">
                                  <p:stCondLst>
                                    <p:cond delay="47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600"/>
                                        <p:tgtEl>
                                          <p:spTgt spid="19"/>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00"/>
                                        <p:tgtEl>
                                          <p:spTgt spid="16"/>
                                        </p:tgtEl>
                                      </p:cBhvr>
                                    </p:animEffect>
                                  </p:childTnLst>
                                </p:cTn>
                              </p:par>
                              <p:par>
                                <p:cTn id="51" presetID="42" presetClass="entr" presetSubtype="0" decel="100000" fill="hold" grpId="0" nodeType="withEffect">
                                  <p:stCondLst>
                                    <p:cond delay="69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700"/>
                                        <p:tgtEl>
                                          <p:spTgt spid="20"/>
                                        </p:tgtEl>
                                      </p:cBhvr>
                                    </p:animEffect>
                                    <p:anim calcmode="lin" valueType="num">
                                      <p:cBhvr additive="base">
                                        <p:cTn id="54" dur="700" fill="hold"/>
                                        <p:tgtEl>
                                          <p:spTgt spid="20"/>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69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700"/>
                                        <p:tgtEl>
                                          <p:spTgt spid="21"/>
                                        </p:tgtEl>
                                      </p:cBhvr>
                                    </p:animEffect>
                                    <p:anim calcmode="lin" valueType="num">
                                      <p:cBhvr additive="base">
                                        <p:cTn id="58" dur="7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69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700"/>
                                        <p:tgtEl>
                                          <p:spTgt spid="22"/>
                                        </p:tgtEl>
                                      </p:cBhvr>
                                    </p:animEffect>
                                    <p:anim calcmode="lin" valueType="num">
                                      <p:cBhvr additive="base">
                                        <p:cTn id="62" dur="700" fill="hold"/>
                                        <p:tgtEl>
                                          <p:spTgt spid="22"/>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69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700"/>
                                        <p:tgtEl>
                                          <p:spTgt spid="23"/>
                                        </p:tgtEl>
                                      </p:cBhvr>
                                    </p:animEffect>
                                    <p:anim calcmode="lin" valueType="num">
                                      <p:cBhvr additive="base">
                                        <p:cTn id="66" dur="700" fill="hold"/>
                                        <p:tgtEl>
                                          <p:spTgt spid="23"/>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69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00"/>
                                        <p:tgtEl>
                                          <p:spTgt spid="24"/>
                                        </p:tgtEl>
                                      </p:cBhvr>
                                    </p:animEffect>
                                    <p:anim calcmode="lin" valueType="num">
                                      <p:cBhvr additive="base">
                                        <p:cTn id="70" dur="700" fill="hold"/>
                                        <p:tgtEl>
                                          <p:spTgt spid="24"/>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700"/>
                                        <p:tgtEl>
                                          <p:spTgt spid="25"/>
                                        </p:tgtEl>
                                      </p:cBhvr>
                                    </p:animEffect>
                                    <p:anim calcmode="lin" valueType="num">
                                      <p:cBhvr additive="base">
                                        <p:cTn id="74" dur="700" fill="hold"/>
                                        <p:tgtEl>
                                          <p:spTgt spid="25"/>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69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700"/>
                                        <p:tgtEl>
                                          <p:spTgt spid="26"/>
                                        </p:tgtEl>
                                      </p:cBhvr>
                                    </p:animEffect>
                                    <p:anim calcmode="lin" valueType="num">
                                      <p:cBhvr additive="base">
                                        <p:cTn id="78" dur="700" fill="hold"/>
                                        <p:tgtEl>
                                          <p:spTgt spid="26"/>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700"/>
                                        <p:tgtEl>
                                          <p:spTgt spid="27"/>
                                        </p:tgtEl>
                                      </p:cBhvr>
                                    </p:animEffect>
                                    <p:anim calcmode="lin" valueType="num">
                                      <p:cBhvr additive="base">
                                        <p:cTn id="82" dur="700" fill="hold"/>
                                        <p:tgtEl>
                                          <p:spTgt spid="27"/>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6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700"/>
                                        <p:tgtEl>
                                          <p:spTgt spid="28"/>
                                        </p:tgtEl>
                                      </p:cBhvr>
                                    </p:animEffect>
                                    <p:anim calcmode="lin" valueType="num">
                                      <p:cBhvr additive="base">
                                        <p:cTn id="86" dur="700" fill="hold"/>
                                        <p:tgtEl>
                                          <p:spTgt spid="28"/>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69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anim calcmode="lin" valueType="num">
                                      <p:cBhvr additive="base">
                                        <p:cTn id="90" dur="700" fill="hold"/>
                                        <p:tgtEl>
                                          <p:spTgt spid="29"/>
                                        </p:tgtEl>
                                        <p:attrNameLst>
                                          <p:attrName>ppt_y</p:attrName>
                                        </p:attrNameLst>
                                      </p:cBhvr>
                                      <p:tavLst>
                                        <p:tav tm="0">
                                          <p:val>
                                            <p:strVal val="#ppt_y+0.03"/>
                                          </p:val>
                                        </p:tav>
                                        <p:tav tm="100000">
                                          <p:val>
                                            <p:strVal val="#ppt_y"/>
                                          </p:val>
                                        </p:tav>
                                      </p:tavLst>
                                    </p:anim>
                                  </p:childTnLst>
                                </p:cTn>
                              </p:par>
                              <p:par>
                                <p:cTn id="91" presetID="10" presetClass="entr" presetSubtype="0" decel="100000" fill="hold" grpId="0" nodeType="withEffect">
                                  <p:stCondLst>
                                    <p:cond delay="910"/>
                                  </p:stCondLst>
                                  <p:childTnLst>
                                    <p:set>
                                      <p:cBhvr>
                                        <p:cTn id="92" dur="1" fill="hold">
                                          <p:stCondLst>
                                            <p:cond delay="0"/>
                                          </p:stCondLst>
                                        </p:cTn>
                                        <p:tgtEl>
                                          <p:spTgt spid="17"/>
                                        </p:tgtEl>
                                        <p:attrNameLst>
                                          <p:attrName>style.visibility</p:attrName>
                                        </p:attrNameLst>
                                      </p:cBhvr>
                                      <p:to>
                                        <p:strVal val="visible"/>
                                      </p:to>
                                    </p:set>
                                    <p:animEffect transition="in" filter="fade">
                                      <p:cBhvr>
                                        <p:cTn id="93" dur="600"/>
                                        <p:tgtEl>
                                          <p:spTgt spid="17"/>
                                        </p:tgtEl>
                                      </p:cBhvr>
                                    </p:animEffect>
                                  </p:childTnLst>
                                </p:cTn>
                              </p:par>
                              <p:par>
                                <p:cTn id="94" presetID="10" presetClass="entr" presetSubtype="0" decel="100000" fill="hold" grpId="0" nodeType="withEffect">
                                  <p:stCondLst>
                                    <p:cond delay="910"/>
                                  </p:stCondLst>
                                  <p:childTnLst>
                                    <p:set>
                                      <p:cBhvr>
                                        <p:cTn id="95" dur="1" fill="hold">
                                          <p:stCondLst>
                                            <p:cond delay="0"/>
                                          </p:stCondLst>
                                        </p:cTn>
                                        <p:tgtEl>
                                          <p:spTgt spid="18"/>
                                        </p:tgtEl>
                                        <p:attrNameLst>
                                          <p:attrName>style.visibility</p:attrName>
                                        </p:attrNameLst>
                                      </p:cBhvr>
                                      <p:to>
                                        <p:strVal val="visible"/>
                                      </p:to>
                                    </p:set>
                                    <p:animEffect transition="in" filter="fade">
                                      <p:cBhvr>
                                        <p:cTn id="96" dur="600"/>
                                        <p:tgtEl>
                                          <p:spTgt spid="18"/>
                                        </p:tgtEl>
                                      </p:cBhvr>
                                    </p:animEffect>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91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13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par>
                                <p:cTn id="181" presetID="42" presetClass="entr" presetSubtype="0" decel="100000" fill="hold" grpId="0" nodeType="withEffect">
                                  <p:stCondLst>
                                    <p:cond delay="135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700"/>
                                        <p:tgtEl>
                                          <p:spTgt spid="51"/>
                                        </p:tgtEl>
                                      </p:cBhvr>
                                    </p:animEffect>
                                    <p:anim calcmode="lin" valueType="num">
                                      <p:cBhvr additive="base">
                                        <p:cTn id="184"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5F3F484D-160E-2662-8293-D3738C5054D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Planned, not yet tested: </a:t>
            </a:r>
            <a:r>
              <a:rPr lang="en-US" sz="1400" dirty="0">
                <a:solidFill>
                  <a:srgbClr val="1B2B40"/>
                </a:solidFill>
                <a:latin typeface="Segoe UI" pitchFamily="34" charset="0"/>
                <a:ea typeface="Segoe UI" pitchFamily="34" charset="-122"/>
                <a:cs typeface="Segoe UI" pitchFamily="34" charset="-120"/>
              </a:rPr>
              <a:t>813 scenes were not available in the proof of concept.</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38FC017D-7BCA-C5C1-4171-BCD1C8CE24C4}"/>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BONUS CRITERIA · 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SCALABILITY BEYOND THE POC</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textbook approach against ours, same alert rule</a:t>
            </a:r>
            <a:endParaRPr lang="en-US" sz="3400" dirty="0"/>
          </a:p>
        </p:txBody>
      </p:sp>
      <p:graphicFrame>
        <p:nvGraphicFramePr>
          <p:cNvPr id="20"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textbook</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700"/>
                                        <p:tgtEl>
                                          <p:spTgt spid="20"/>
                                        </p:tgtEl>
                                      </p:cBhvr>
                                    </p:animEffect>
                                    <p:anim calcmode="lin" valueType="num">
                                      <p:cBhvr additive="base">
                                        <p:cTn id="15" dur="700" fill="hold"/>
                                        <p:tgtEl>
                                          <p:spTgt spid="20"/>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0"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A05E5A94-FB1D-2931-77C2-17AED6882DAF}"/>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4807</Words>
  <Application>Microsoft Office PowerPoint</Application>
  <PresentationFormat>Widescreen</PresentationFormat>
  <Paragraphs>457</Paragraphs>
  <Slides>21</Slides>
  <Notes>21</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Segoe UI</vt:lpstr>
      <vt:lpstr>Segoe UI Light</vt:lpstr>
      <vt:lpstr>Segoe UI Semibold</vt:lpstr>
      <vt:lpstr>Office Theme</vt:lpstr>
      <vt:lpstr>PowerPoint Presentation</vt:lpstr>
      <vt:lpstr>One engineer, every role — delivered in the open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The textbook approach against ours, same alert rule</vt:lpstr>
      <vt:lpstr>Where it breaks — and what we do not claim</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2026-10-17T16:30:02Z</dcterms:created>
  <dcterms:modified xsi:type="dcterms:W3CDTF">2026-10-17T16:30:06Z</dcterms:modified>
</cp:coreProperties>
</file>