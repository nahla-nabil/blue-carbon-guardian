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2.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D969-4495-B0D9-21519A14EA2C}"/>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D969-4495-B0D9-21519A14EA2C}"/>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F34F-4D51-911E-415A4510B6FB}"/>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F34F-4D51-911E-415A4510B6FB}"/>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221024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(calm, slow): "Good morning. I'm Nahla Nabil, team Blue Athar.
What you are watching is a satellite pass over 25 mangrove stands in Abu Dhabi.
The five in red were lost to construction between 2022 and 2025 — and our system raised an alert on every one of them while the works were happening.
This is Blue Carbon Guardian."
DO: let the scan run for one sweep, then press → .
BEFORE YOU START: PowerPoint in Slide Show (Presenter View); browser already open on nahla-nabil.github.io/blue-carbon-guardian/#monitor (page loaded, zoom 100 %); notifications off.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"Before the problem — who is behind this. A team of one. I held every role on this slide — satellite pipeline, statistics, product and business case.
I'm finishing a BSc in Artificial Intelligence at the Arab Open University in Bahrain, with First-Class Honours standing; I have two IEEE papers in machine learning, and I lead NASA Space Apps locally. I worked with an AI-assisted engineering workflow that I direct and review — and every number is public and checkable.
In incubation I will add what I don't have: a mangrove ecologist and a field partner."
DO: press →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"The Gulf is planting mangroves at record scale: 100 million pledged by the UAE, more than 100 million by Saudi Arabia.
But planting is scaling faster than watching. Look at stand 5." (point at the images, left to right)
"November 2021: intact. October 2022: works start — and that is when our alert fired. 2023: canals. Today: a canal development.
Today, a loss like this is found at the next field survey — after the fact. What we solve: a calibrated alert every five days that says where to inspect, and what carbon is at stake."
DO: press → after "at stake".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75 s
SAY: "So here is what we built. Let me show you — live."
DO: Alt+Tab to the browser (monitor section).
SAY: "Every stand is coloured by its condition. Stand 5, in red: severe decline."
DO: click "200 m cells" above the map.
SAY: "Now the key idea: we split every stand into 200-metre cells."
DO: scroll down to the table → click the row "9" → scroll back up to the map.
SAY: "Stand 9. On average it reads 'stable'. But 8 of its 28 cells are in severe decline. That is exactly where you send the inspector."
DO: move the mouse over the alert-score chart.
SAY: "Blue is the stand average, red is the worst single cell. The red line plunges far below its threshold — the cells see the damage much more sharply than the average does."
DO (only if ahead of time): click "Open the site report" → new tab → 3 seconds → Ctrl+W.
SAY: "And every stand gets a one-page report with the carbon at stake."
DO: Alt+Tab back to PowerPoint → press → .
FALLBACK: if the site does not load, stay on this slide — the recording plays the same steps; narrate it with the same lines.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"Three users, three decisions.
Agencies: which stands do we inspect this month. Planting and carbon developers: is the carbon we report still there. Developers and regulators: did the works stay outside the mangrove line."
DO: press →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"The analysis rests on five independent data sources: 778 Sentinel-2 dates over six years, EnMAP hyperspectral, ESA WorldCover, field carbon plots, and dated sub-metre imagery.
Every image is cloud-masked, only interior pixels are used, and every finding is cross-checked by a second source."
DO: press →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second source at work: EnMAP hyperspectral, 224 bands.
On stand 5, the green curves are the vegetation in 2022; the red dashed curves are the same pixels in 2025 — the spectrum of sand and fill. That is reclamation, not dieback.
On the same dates, EnMAP agrees with our Sentinel-2 indices with r up to 0.99."
DO: press →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"And this is where Satellite 813 comes in. Sentinel-2 tells us when something changed, every five days. Satellite 813 tells us what: once a cell is flagged, we task 813 over just that cell.
Every index we use sits inside 813's range, at 20 metres. It is planned — 813 scenes were not available in this proof of concept."
DO: press →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"Here is the whole method, left to right.
We cut every stand into 200-metre cells and read every Sentinel-2 date. The tide-aware model — in blue — predicts what each stand and each cell should look like.
If reality falls too far below, the alert rule — in rose — fires. The decision layer — in sand — adds the cell map and the carbon at stake, with EnMAP and sub-metre imagery as independent checks."
DO: point along the boxes as you speak, then press →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"For the user: an alert with the cell map and the carbon at stake — the inspector visits only those cells. If nothing changes, a monthly report."
DO: press →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45 s
SAY: "Now the hard part — the one that breaks most monitors in the Gulf: the tide.
When the tide comes in, flooded mangroves look, from space, like dying mangroves. In this illustration the same trees drop from 0.30 to 0.18.
On our stands, index noise follows wetness with a correlation of minus 0.9.
So for every stand and every date we model trend, season — and the tide.
Noise falls by 29 to 35 percent on every index." (point at the right card at the bottom)
"And we tested the textbook recipe — NDVI alone, no tide model — on the same stands with the same alert rule: 1.61 false alarms per stand per year. Ours: 0.96. Forty percent fewer wasted site visits, and the tide model is most of that gain. That is what makes a reliable alert possible."
DO: wait for the water to rise in the illustration, then press → on "reliable alert".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25 s
SAY: "Our second innovation: averages hide damage.
Real data from stand 5: watch the cells turn red while the stand average barely moves. Three of our five real conversions were found only by the cells.
In simulation, a partial loss is caught within 60 days 73 percent of the time — against 13 percent by chance."
DO: press →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20 s
SAY: "How is this different? Surveys are periodic, maps are one-off, and Global Mangrove Watch's free monthly alerts are complementary.
What we add" (point down the blue column) ": every five days, the tide removed, where inside the stand, a measured false-alarm rate, and the carbon at stake — built and tested for the Gulf."
DO: press →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"Does it work on real events? Five real conversions, all confirmed on 30-to-50-centimetre imagery.
The blue bar is the window between the last intact image and the first image showing works; the diamond is when our alert started. Every alert falls inside that window." (point at stand 5's diamond)
"This is detection while the works happen — not a prediction. We never claim advance warning."
DO: press →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35 s
SAY: "We also tested ourselves against pure chance — every rate has its chance rate next to it.
Partial loss: 73 percent caught, 13 by chance. A uniform 10-percent loss is harder: 63 versus 36, and we show that too.
On 65 stands the model never saw, thresholds frozen, false alarms stayed at 0.79 per stand-year.
And when we found a flaw in our own first test, we withdrew it. These are the numbers that survived."
DO: press → on "survived".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30 s
SAY: "Why it matters. 108 tonnes of carbon per hectare in these stands — 82 percent in the soil, released when the stand is cleared. The pilot holds about 247 thousand tonnes; stand 5 alone lost 3 to 7 thousand.
As a service: about 12 thousand dollars per site per year, against a cost to serve of about 3 thousand. The real prize is a national MRV contract, or a monitoring layer on gIQ."
DO: press → .</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15 s
SAY: "Beyond the proof of concept: everything is public and reproducible — the notebook re-runs in 24 seconds, and a clean-machine test gives the same numbers.
It already transferred to unseen stands and a second country, at under five dollars of compute per site per year."
DO: press →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(slow, look at the camera): "A working product, five real events confirmed, every number reproducible.
Every lost mangrove leaves a trace — and we find it from space.
Our ask: incubation, to run a pilot with a Gulf agency or planting programme."
DO: press → (thank-you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10 s
SAY (warm, slow): "Thank you — to the United Arab Emirates, for leading our region in protecting its mangroves, and to the UAE Space Agency, the National Space Academy and Space42 for this programme.
I'm happy to take your questions."
DO: stop talking; stay on this slide during the Q&amp;A. If a question needs evidence: → backup slides (textbook baseline, limits, demo video) or Alt+Tab to the website.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NDVI, baselines or false alarms.
SAY: "Same alert rule, same 25 stands: NDVI alone gives 1.61 false alarms per stand-year, ours 0.96 — 40 % fewer, mostly thanks to the tide model. All four catch the five conversions; the difference is the false-alarm cost."
</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0 s
BACKUP — do not present. Open only if asked about limits or what we claim.
SAY: "Detection while works happen, not early warning; 10-metre pixels miss very small stands; confirmation on dated imagery, not site visits — matching permits with a partner is our first pilot task."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only if a judge asks to see the product again, or the live demo failed.
DO: click the video to play it (sound on, 2 min). Press Esc to leave the slideshow afterwards.
SAY: "Here is the two-minute walkthrough of the product."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slideLayout" Target="../slideLayouts/slideLayout5.xml"/><Relationship Id="rId7" Type="http://schemas.openxmlformats.org/officeDocument/2006/relationships/image" Target="../media/image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notesSlide" Target="../notesSlides/notesSlide1.xml"/><Relationship Id="rId9" Type="http://schemas.openxmlformats.org/officeDocument/2006/relationships/image" Target="../media/image9.png"/></Relationships>
</file>

<file path=ppt/slides/_rels/slide2.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6.png"/><Relationship Id="rId9" Type="http://schemas.openxmlformats.org/officeDocument/2006/relationships/image" Target="../media/image15.png"/></Relationships>
</file>

<file path=ppt/slides/_rels/slide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5.png"/><Relationship Id="rId7"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2.png"/><Relationship Id="rId12" Type="http://schemas.openxmlformats.org/officeDocument/2006/relationships/image" Target="../media/image27.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6.png"/><Relationship Id="rId11" Type="http://schemas.openxmlformats.org/officeDocument/2006/relationships/image" Target="../media/image26.png"/><Relationship Id="rId5" Type="http://schemas.openxmlformats.org/officeDocument/2006/relationships/image" Target="../media/image5.png"/><Relationship Id="rId10" Type="http://schemas.openxmlformats.org/officeDocument/2006/relationships/image" Target="../media/image25.png"/><Relationship Id="rId4" Type="http://schemas.openxmlformats.org/officeDocument/2006/relationships/notesSlide" Target="../notesSlides/notesSlide4.xml"/><Relationship Id="rId9" Type="http://schemas.openxmlformats.org/officeDocument/2006/relationships/image" Target="../media/image24.png"/></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29.png"/><Relationship Id="rId12" Type="http://schemas.openxmlformats.org/officeDocument/2006/relationships/image" Target="../media/image27.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image" Target="../media/image15.png"/><Relationship Id="rId10" Type="http://schemas.openxmlformats.org/officeDocument/2006/relationships/image" Target="../media/image24.png"/><Relationship Id="rId4" Type="http://schemas.openxmlformats.org/officeDocument/2006/relationships/image" Target="../media/image6.png"/><Relationship Id="rId9" Type="http://schemas.openxmlformats.org/officeDocument/2006/relationships/image" Target="../media/image23.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5.png"/><Relationship Id="rId7"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1.png"/><Relationship Id="rId10" Type="http://schemas.openxmlformats.org/officeDocument/2006/relationships/image" Target="../media/image30.png"/><Relationship Id="rId4" Type="http://schemas.openxmlformats.org/officeDocument/2006/relationships/image" Target="../media/image6.png"/><Relationship Id="rId9" Type="http://schemas.openxmlformats.org/officeDocument/2006/relationships/image" Target="../media/image26.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35.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34.png"/><Relationship Id="rId5" Type="http://schemas.openxmlformats.org/officeDocument/2006/relationships/image" Target="../media/image23.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36.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5.png"/><Relationship Id="rId7"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13.png"/><Relationship Id="rId5" Type="http://schemas.openxmlformats.org/officeDocument/2006/relationships/image" Target="../media/image3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chart" Target="../charts/char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41.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5.png"/><Relationship Id="rId7" Type="http://schemas.openxmlformats.org/officeDocument/2006/relationships/image" Target="../media/image4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4.xml"/><Relationship Id="rId5" Type="http://schemas.openxmlformats.org/officeDocument/2006/relationships/chart" Target="../charts/chart2.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5.png"/><Relationship Id="rId7" Type="http://schemas.openxmlformats.org/officeDocument/2006/relationships/image" Target="../media/image15.png"/><Relationship Id="rId12"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7.png"/><Relationship Id="rId11" Type="http://schemas.openxmlformats.org/officeDocument/2006/relationships/image" Target="../media/image50.png"/><Relationship Id="rId5" Type="http://schemas.openxmlformats.org/officeDocument/2006/relationships/image" Target="../media/image46.png"/><Relationship Id="rId10" Type="http://schemas.openxmlformats.org/officeDocument/2006/relationships/image" Target="../media/image49.png"/><Relationship Id="rId4" Type="http://schemas.openxmlformats.org/officeDocument/2006/relationships/image" Target="../media/image6.png"/><Relationship Id="rId9"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5.png"/><Relationship Id="rId7"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24.png"/><Relationship Id="rId5" Type="http://schemas.openxmlformats.org/officeDocument/2006/relationships/image" Target="../media/image52.png"/><Relationship Id="rId10" Type="http://schemas.openxmlformats.org/officeDocument/2006/relationships/image" Target="../media/image26.png"/><Relationship Id="rId4" Type="http://schemas.openxmlformats.org/officeDocument/2006/relationships/image" Target="../media/image6.png"/><Relationship Id="rId9" Type="http://schemas.openxmlformats.org/officeDocument/2006/relationships/image" Target="../media/image35.png"/></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image" Target="../media/image53.png"/><Relationship Id="rId2" Type="http://schemas.openxmlformats.org/officeDocument/2006/relationships/video" Target="../media/media4.mp4"/><Relationship Id="rId1" Type="http://schemas.microsoft.com/office/2007/relationships/media" Target="../media/media4.mp4"/><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sp>
      <p:pic>
        <p:nvPicPr>
          <p:cNvPr id="4" name="video_cover">
            <a:hlinkClick r:id="" action="ppaction://media"/>
            <a:extLst>
              <a:ext uri="{FF2B5EF4-FFF2-40B4-BE49-F238E27FC236}">
                <a16:creationId xmlns:a16="http://schemas.microsoft.com/office/drawing/2014/main" id="{4CD0B8DB-1E7E-B609-CF1A-F37C7F6B2B60}"/>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Gulf mangroves —</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dirty="0">
                <a:solidFill>
                  <a:srgbClr val="E3EDF8"/>
                </a:solidFill>
                <a:latin typeface="Segoe UI Semibold" pitchFamily="34" charset="0"/>
                <a:ea typeface="Segoe UI Semibold" pitchFamily="34" charset="-122"/>
                <a:cs typeface="Segoe UI Semibold" pitchFamily="34" charset="-120"/>
              </a:rPr>
              <a:t>Team 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engineer, every role — delivered in the open</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Team lead · AI engineer · IEEE researcher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 Bahrain · final semester · First-Class Honours standing</a:t>
            </a:r>
            <a:endParaRPr lang="en-US" sz="1150" dirty="0"/>
          </a:p>
        </p:txBody>
      </p:sp>
      <p:sp>
        <p:nvSpPr>
          <p:cNvPr id="15" name="a2fade_l1"/>
          <p:cNvSpPr txBox="1"/>
          <p:nvPr/>
        </p:nvSpPr>
        <p:spPr>
          <a:xfrm>
            <a:off x="804672" y="3877056"/>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RELEVANT EXPERTISE</a:t>
            </a:r>
            <a:endParaRPr lang="en-US" sz="1100" dirty="0"/>
          </a:p>
        </p:txBody>
      </p:sp>
      <p:sp>
        <p:nvSpPr>
          <p:cNvPr id="16" name="a2fade_skills"/>
          <p:cNvSpPr txBox="1"/>
          <p:nvPr/>
        </p:nvSpPr>
        <p:spPr>
          <a:xfrm>
            <a:off x="804672" y="4114800"/>
            <a:ext cx="3794760" cy="128016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2 IEEE papers (ICCA 2025, ICAISET 2026): federated learning for industrial IoT; random-forest audit of GCC sustainability</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AI &amp; LLM product engineering (Doo Bahrain; FlyRank backend AI)</a:t>
            </a:r>
            <a:endParaRPr lang="en-US" sz="1050" dirty="0"/>
          </a:p>
          <a:p>
            <a:pPr marL="152400" indent="-152400">
              <a:spcAft>
                <a:spcPts val="300"/>
              </a:spcAft>
              <a:buSzPct val="100000"/>
              <a:buChar char="•"/>
            </a:pPr>
            <a:r>
              <a:rPr lang="en-US" sz="1050" dirty="0">
                <a:solidFill>
                  <a:srgbClr val="1B2B40"/>
                </a:solidFill>
                <a:latin typeface="Segoe UI" pitchFamily="34" charset="0"/>
                <a:ea typeface="Segoe UI" pitchFamily="34" charset="-122"/>
                <a:cs typeface="Segoe UI" pitchFamily="34" charset="-120"/>
              </a:rPr>
              <a:t>Machine learning, computer vision (deepfake detection), Python geospatial stack</a:t>
            </a:r>
            <a:endParaRPr lang="en-US" sz="1050" dirty="0"/>
          </a:p>
        </p:txBody>
      </p:sp>
      <p:sp>
        <p:nvSpPr>
          <p:cNvPr id="17" name="a3fade_l2"/>
          <p:cNvSpPr txBox="1"/>
          <p:nvPr/>
        </p:nvSpPr>
        <p:spPr>
          <a:xfrm>
            <a:off x="804672" y="54864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687568"/>
            <a:ext cx="3794760" cy="411480"/>
          </a:xfrm>
          <a:prstGeom prst="rect">
            <a:avLst/>
          </a:prstGeom>
          <a:noFill/>
          <a:ln/>
        </p:spPr>
        <p:txBody>
          <a:bodyPr wrap="square" lIns="0" tIns="0" rIns="0" bIns="0" rtlCol="0" anchor="t"/>
          <a:lstStyle/>
          <a:p>
            <a:pPr marL="0" indent="0" algn="l">
              <a:lnSpc>
                <a:spcPct val="105000"/>
              </a:lnSpc>
              <a:buNone/>
            </a:pPr>
            <a:r>
              <a:rPr lang="en-US" sz="1000" dirty="0">
                <a:solidFill>
                  <a:srgbClr val="1B2B40"/>
                </a:solidFill>
                <a:latin typeface="Segoe UI" pitchFamily="34" charset="0"/>
                <a:ea typeface="Segoe UI" pitchFamily="34" charset="-122"/>
                <a:cs typeface="Segoe UI" pitchFamily="34" charset="-120"/>
              </a:rPr>
              <a:t>NASA Space Apps Challenge local lead (Manama): organising and mentoring space-data teams</a:t>
            </a:r>
            <a:endParaRPr lang="en-US" sz="1000" dirty="0"/>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10" presetClass="entr" presetSubtype="0" decel="100000" fill="hold" grpId="0" nodeType="withEffect">
                                  <p:stCondLst>
                                    <p:cond delay="47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600"/>
                                        <p:tgtEl>
                                          <p:spTgt spid="19"/>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600"/>
                                        <p:tgtEl>
                                          <p:spTgt spid="13"/>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600"/>
                                        <p:tgtEl>
                                          <p:spTgt spid="14"/>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600"/>
                                        <p:tgtEl>
                                          <p:spTgt spid="15"/>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600"/>
                                        <p:tgtEl>
                                          <p:spTgt spid="16"/>
                                        </p:tgtEl>
                                      </p:cBhvr>
                                    </p:animEffect>
                                  </p:childTnLst>
                                </p:cTn>
                              </p:par>
                              <p:par>
                                <p:cTn id="51" presetID="42" presetClass="entr" presetSubtype="0" decel="100000" fill="hold" grpId="0" nodeType="withEffect">
                                  <p:stCondLst>
                                    <p:cond delay="69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700"/>
                                        <p:tgtEl>
                                          <p:spTgt spid="20"/>
                                        </p:tgtEl>
                                      </p:cBhvr>
                                    </p:animEffect>
                                    <p:anim calcmode="lin" valueType="num">
                                      <p:cBhvr additive="base">
                                        <p:cTn id="54" dur="700" fill="hold"/>
                                        <p:tgtEl>
                                          <p:spTgt spid="20"/>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69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700"/>
                                        <p:tgtEl>
                                          <p:spTgt spid="21"/>
                                        </p:tgtEl>
                                      </p:cBhvr>
                                    </p:animEffect>
                                    <p:anim calcmode="lin" valueType="num">
                                      <p:cBhvr additive="base">
                                        <p:cTn id="58" dur="700" fill="hold"/>
                                        <p:tgtEl>
                                          <p:spTgt spid="21"/>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69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700"/>
                                        <p:tgtEl>
                                          <p:spTgt spid="22"/>
                                        </p:tgtEl>
                                      </p:cBhvr>
                                    </p:animEffect>
                                    <p:anim calcmode="lin" valueType="num">
                                      <p:cBhvr additive="base">
                                        <p:cTn id="62" dur="700" fill="hold"/>
                                        <p:tgtEl>
                                          <p:spTgt spid="22"/>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69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700"/>
                                        <p:tgtEl>
                                          <p:spTgt spid="23"/>
                                        </p:tgtEl>
                                      </p:cBhvr>
                                    </p:animEffect>
                                    <p:anim calcmode="lin" valueType="num">
                                      <p:cBhvr additive="base">
                                        <p:cTn id="66" dur="700" fill="hold"/>
                                        <p:tgtEl>
                                          <p:spTgt spid="23"/>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69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700"/>
                                        <p:tgtEl>
                                          <p:spTgt spid="24"/>
                                        </p:tgtEl>
                                      </p:cBhvr>
                                    </p:animEffect>
                                    <p:anim calcmode="lin" valueType="num">
                                      <p:cBhvr additive="base">
                                        <p:cTn id="70" dur="700" fill="hold"/>
                                        <p:tgtEl>
                                          <p:spTgt spid="24"/>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69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700"/>
                                        <p:tgtEl>
                                          <p:spTgt spid="25"/>
                                        </p:tgtEl>
                                      </p:cBhvr>
                                    </p:animEffect>
                                    <p:anim calcmode="lin" valueType="num">
                                      <p:cBhvr additive="base">
                                        <p:cTn id="74" dur="700" fill="hold"/>
                                        <p:tgtEl>
                                          <p:spTgt spid="25"/>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69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700"/>
                                        <p:tgtEl>
                                          <p:spTgt spid="26"/>
                                        </p:tgtEl>
                                      </p:cBhvr>
                                    </p:animEffect>
                                    <p:anim calcmode="lin" valueType="num">
                                      <p:cBhvr additive="base">
                                        <p:cTn id="78" dur="700" fill="hold"/>
                                        <p:tgtEl>
                                          <p:spTgt spid="26"/>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69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700"/>
                                        <p:tgtEl>
                                          <p:spTgt spid="27"/>
                                        </p:tgtEl>
                                      </p:cBhvr>
                                    </p:animEffect>
                                    <p:anim calcmode="lin" valueType="num">
                                      <p:cBhvr additive="base">
                                        <p:cTn id="82" dur="700" fill="hold"/>
                                        <p:tgtEl>
                                          <p:spTgt spid="27"/>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6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700"/>
                                        <p:tgtEl>
                                          <p:spTgt spid="28"/>
                                        </p:tgtEl>
                                      </p:cBhvr>
                                    </p:animEffect>
                                    <p:anim calcmode="lin" valueType="num">
                                      <p:cBhvr additive="base">
                                        <p:cTn id="86" dur="700" fill="hold"/>
                                        <p:tgtEl>
                                          <p:spTgt spid="28"/>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69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anim calcmode="lin" valueType="num">
                                      <p:cBhvr additive="base">
                                        <p:cTn id="90" dur="700" fill="hold"/>
                                        <p:tgtEl>
                                          <p:spTgt spid="29"/>
                                        </p:tgtEl>
                                        <p:attrNameLst>
                                          <p:attrName>ppt_y</p:attrName>
                                        </p:attrNameLst>
                                      </p:cBhvr>
                                      <p:tavLst>
                                        <p:tav tm="0">
                                          <p:val>
                                            <p:strVal val="#ppt_y+0.03"/>
                                          </p:val>
                                        </p:tav>
                                        <p:tav tm="100000">
                                          <p:val>
                                            <p:strVal val="#ppt_y"/>
                                          </p:val>
                                        </p:tav>
                                      </p:tavLst>
                                    </p:anim>
                                  </p:childTnLst>
                                </p:cTn>
                              </p:par>
                              <p:par>
                                <p:cTn id="91" presetID="10" presetClass="entr" presetSubtype="0" decel="100000" fill="hold" grpId="0" nodeType="withEffect">
                                  <p:stCondLst>
                                    <p:cond delay="910"/>
                                  </p:stCondLst>
                                  <p:childTnLst>
                                    <p:set>
                                      <p:cBhvr>
                                        <p:cTn id="92" dur="1" fill="hold">
                                          <p:stCondLst>
                                            <p:cond delay="0"/>
                                          </p:stCondLst>
                                        </p:cTn>
                                        <p:tgtEl>
                                          <p:spTgt spid="17"/>
                                        </p:tgtEl>
                                        <p:attrNameLst>
                                          <p:attrName>style.visibility</p:attrName>
                                        </p:attrNameLst>
                                      </p:cBhvr>
                                      <p:to>
                                        <p:strVal val="visible"/>
                                      </p:to>
                                    </p:set>
                                    <p:animEffect transition="in" filter="fade">
                                      <p:cBhvr>
                                        <p:cTn id="93" dur="600"/>
                                        <p:tgtEl>
                                          <p:spTgt spid="17"/>
                                        </p:tgtEl>
                                      </p:cBhvr>
                                    </p:animEffect>
                                  </p:childTnLst>
                                </p:cTn>
                              </p:par>
                              <p:par>
                                <p:cTn id="94" presetID="10" presetClass="entr" presetSubtype="0" decel="100000" fill="hold" grpId="0" nodeType="withEffect">
                                  <p:stCondLst>
                                    <p:cond delay="910"/>
                                  </p:stCondLst>
                                  <p:childTnLst>
                                    <p:set>
                                      <p:cBhvr>
                                        <p:cTn id="95" dur="1" fill="hold">
                                          <p:stCondLst>
                                            <p:cond delay="0"/>
                                          </p:stCondLst>
                                        </p:cTn>
                                        <p:tgtEl>
                                          <p:spTgt spid="18"/>
                                        </p:tgtEl>
                                        <p:attrNameLst>
                                          <p:attrName>style.visibility</p:attrName>
                                        </p:attrNameLst>
                                      </p:cBhvr>
                                      <p:to>
                                        <p:strVal val="visible"/>
                                      </p:to>
                                    </p:set>
                                    <p:animEffect transition="in" filter="fade">
                                      <p:cBhvr>
                                        <p:cTn id="96" dur="600"/>
                                        <p:tgtEl>
                                          <p:spTgt spid="18"/>
                                        </p:tgtEl>
                                      </p:cBhvr>
                                    </p:animEffect>
                                  </p:childTnLst>
                                </p:cTn>
                              </p:par>
                              <p:par>
                                <p:cTn id="97" presetID="42" presetClass="entr" presetSubtype="0" decel="100000" fill="hold" grpId="0" nodeType="withEffect">
                                  <p:stCondLst>
                                    <p:cond delay="910"/>
                                  </p:stCondLst>
                                  <p:childTnLst>
                                    <p:set>
                                      <p:cBhvr>
                                        <p:cTn id="98" dur="1" fill="hold">
                                          <p:stCondLst>
                                            <p:cond delay="0"/>
                                          </p:stCondLst>
                                        </p:cTn>
                                        <p:tgtEl>
                                          <p:spTgt spid="30"/>
                                        </p:tgtEl>
                                        <p:attrNameLst>
                                          <p:attrName>style.visibility</p:attrName>
                                        </p:attrNameLst>
                                      </p:cBhvr>
                                      <p:to>
                                        <p:strVal val="visible"/>
                                      </p:to>
                                    </p:set>
                                    <p:animEffect transition="in" filter="fade">
                                      <p:cBhvr>
                                        <p:cTn id="99" dur="700"/>
                                        <p:tgtEl>
                                          <p:spTgt spid="30"/>
                                        </p:tgtEl>
                                      </p:cBhvr>
                                    </p:animEffect>
                                    <p:anim calcmode="lin" valueType="num">
                                      <p:cBhvr additive="base">
                                        <p:cTn id="100" dur="700" fill="hold"/>
                                        <p:tgtEl>
                                          <p:spTgt spid="30"/>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910"/>
                                  </p:stCondLst>
                                  <p:childTnLst>
                                    <p:set>
                                      <p:cBhvr>
                                        <p:cTn id="102" dur="1" fill="hold">
                                          <p:stCondLst>
                                            <p:cond delay="0"/>
                                          </p:stCondLst>
                                        </p:cTn>
                                        <p:tgtEl>
                                          <p:spTgt spid="31"/>
                                        </p:tgtEl>
                                        <p:attrNameLst>
                                          <p:attrName>style.visibility</p:attrName>
                                        </p:attrNameLst>
                                      </p:cBhvr>
                                      <p:to>
                                        <p:strVal val="visible"/>
                                      </p:to>
                                    </p:set>
                                    <p:animEffect transition="in" filter="fade">
                                      <p:cBhvr>
                                        <p:cTn id="103" dur="700"/>
                                        <p:tgtEl>
                                          <p:spTgt spid="31"/>
                                        </p:tgtEl>
                                      </p:cBhvr>
                                    </p:animEffect>
                                    <p:anim calcmode="lin" valueType="num">
                                      <p:cBhvr additive="base">
                                        <p:cTn id="104" dur="700" fill="hold"/>
                                        <p:tgtEl>
                                          <p:spTgt spid="31"/>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910"/>
                                  </p:stCondLst>
                                  <p:childTnLst>
                                    <p:set>
                                      <p:cBhvr>
                                        <p:cTn id="106" dur="1" fill="hold">
                                          <p:stCondLst>
                                            <p:cond delay="0"/>
                                          </p:stCondLst>
                                        </p:cTn>
                                        <p:tgtEl>
                                          <p:spTgt spid="32"/>
                                        </p:tgtEl>
                                        <p:attrNameLst>
                                          <p:attrName>style.visibility</p:attrName>
                                        </p:attrNameLst>
                                      </p:cBhvr>
                                      <p:to>
                                        <p:strVal val="visible"/>
                                      </p:to>
                                    </p:set>
                                    <p:animEffect transition="in" filter="fade">
                                      <p:cBhvr>
                                        <p:cTn id="107" dur="700"/>
                                        <p:tgtEl>
                                          <p:spTgt spid="32"/>
                                        </p:tgtEl>
                                      </p:cBhvr>
                                    </p:animEffect>
                                    <p:anim calcmode="lin" valueType="num">
                                      <p:cBhvr additive="base">
                                        <p:cTn id="108" dur="700" fill="hold"/>
                                        <p:tgtEl>
                                          <p:spTgt spid="32"/>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910"/>
                                  </p:stCondLst>
                                  <p:childTnLst>
                                    <p:set>
                                      <p:cBhvr>
                                        <p:cTn id="110" dur="1" fill="hold">
                                          <p:stCondLst>
                                            <p:cond delay="0"/>
                                          </p:stCondLst>
                                        </p:cTn>
                                        <p:tgtEl>
                                          <p:spTgt spid="33"/>
                                        </p:tgtEl>
                                        <p:attrNameLst>
                                          <p:attrName>style.visibility</p:attrName>
                                        </p:attrNameLst>
                                      </p:cBhvr>
                                      <p:to>
                                        <p:strVal val="visible"/>
                                      </p:to>
                                    </p:set>
                                    <p:animEffect transition="in" filter="fade">
                                      <p:cBhvr>
                                        <p:cTn id="111" dur="700"/>
                                        <p:tgtEl>
                                          <p:spTgt spid="33"/>
                                        </p:tgtEl>
                                      </p:cBhvr>
                                    </p:animEffect>
                                    <p:anim calcmode="lin" valueType="num">
                                      <p:cBhvr additive="base">
                                        <p:cTn id="112" dur="700" fill="hold"/>
                                        <p:tgtEl>
                                          <p:spTgt spid="33"/>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910"/>
                                  </p:stCondLst>
                                  <p:childTnLst>
                                    <p:set>
                                      <p:cBhvr>
                                        <p:cTn id="114" dur="1" fill="hold">
                                          <p:stCondLst>
                                            <p:cond delay="0"/>
                                          </p:stCondLst>
                                        </p:cTn>
                                        <p:tgtEl>
                                          <p:spTgt spid="34"/>
                                        </p:tgtEl>
                                        <p:attrNameLst>
                                          <p:attrName>style.visibility</p:attrName>
                                        </p:attrNameLst>
                                      </p:cBhvr>
                                      <p:to>
                                        <p:strVal val="visible"/>
                                      </p:to>
                                    </p:set>
                                    <p:animEffect transition="in" filter="fade">
                                      <p:cBhvr>
                                        <p:cTn id="115" dur="700"/>
                                        <p:tgtEl>
                                          <p:spTgt spid="34"/>
                                        </p:tgtEl>
                                      </p:cBhvr>
                                    </p:animEffect>
                                    <p:anim calcmode="lin" valueType="num">
                                      <p:cBhvr additive="base">
                                        <p:cTn id="116" dur="700" fill="hold"/>
                                        <p:tgtEl>
                                          <p:spTgt spid="34"/>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910"/>
                                  </p:stCondLst>
                                  <p:childTnLst>
                                    <p:set>
                                      <p:cBhvr>
                                        <p:cTn id="118" dur="1" fill="hold">
                                          <p:stCondLst>
                                            <p:cond delay="0"/>
                                          </p:stCondLst>
                                        </p:cTn>
                                        <p:tgtEl>
                                          <p:spTgt spid="35"/>
                                        </p:tgtEl>
                                        <p:attrNameLst>
                                          <p:attrName>style.visibility</p:attrName>
                                        </p:attrNameLst>
                                      </p:cBhvr>
                                      <p:to>
                                        <p:strVal val="visible"/>
                                      </p:to>
                                    </p:set>
                                    <p:animEffect transition="in" filter="fade">
                                      <p:cBhvr>
                                        <p:cTn id="119" dur="700"/>
                                        <p:tgtEl>
                                          <p:spTgt spid="35"/>
                                        </p:tgtEl>
                                      </p:cBhvr>
                                    </p:animEffect>
                                    <p:anim calcmode="lin" valueType="num">
                                      <p:cBhvr additive="base">
                                        <p:cTn id="120" dur="700" fill="hold"/>
                                        <p:tgtEl>
                                          <p:spTgt spid="35"/>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910"/>
                                  </p:stCondLst>
                                  <p:childTnLst>
                                    <p:set>
                                      <p:cBhvr>
                                        <p:cTn id="122" dur="1" fill="hold">
                                          <p:stCondLst>
                                            <p:cond delay="0"/>
                                          </p:stCondLst>
                                        </p:cTn>
                                        <p:tgtEl>
                                          <p:spTgt spid="36"/>
                                        </p:tgtEl>
                                        <p:attrNameLst>
                                          <p:attrName>style.visibility</p:attrName>
                                        </p:attrNameLst>
                                      </p:cBhvr>
                                      <p:to>
                                        <p:strVal val="visible"/>
                                      </p:to>
                                    </p:set>
                                    <p:animEffect transition="in" filter="fade">
                                      <p:cBhvr>
                                        <p:cTn id="123" dur="700"/>
                                        <p:tgtEl>
                                          <p:spTgt spid="36"/>
                                        </p:tgtEl>
                                      </p:cBhvr>
                                    </p:animEffect>
                                    <p:anim calcmode="lin" valueType="num">
                                      <p:cBhvr additive="base">
                                        <p:cTn id="124" dur="700" fill="hold"/>
                                        <p:tgtEl>
                                          <p:spTgt spid="36"/>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910"/>
                                  </p:stCondLst>
                                  <p:childTnLst>
                                    <p:set>
                                      <p:cBhvr>
                                        <p:cTn id="126" dur="1" fill="hold">
                                          <p:stCondLst>
                                            <p:cond delay="0"/>
                                          </p:stCondLst>
                                        </p:cTn>
                                        <p:tgtEl>
                                          <p:spTgt spid="37"/>
                                        </p:tgtEl>
                                        <p:attrNameLst>
                                          <p:attrName>style.visibility</p:attrName>
                                        </p:attrNameLst>
                                      </p:cBhvr>
                                      <p:to>
                                        <p:strVal val="visible"/>
                                      </p:to>
                                    </p:set>
                                    <p:animEffect transition="in" filter="fade">
                                      <p:cBhvr>
                                        <p:cTn id="127" dur="700"/>
                                        <p:tgtEl>
                                          <p:spTgt spid="37"/>
                                        </p:tgtEl>
                                      </p:cBhvr>
                                    </p:animEffect>
                                    <p:anim calcmode="lin" valueType="num">
                                      <p:cBhvr additive="base">
                                        <p:cTn id="128" dur="700" fill="hold"/>
                                        <p:tgtEl>
                                          <p:spTgt spid="37"/>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910"/>
                                  </p:stCondLst>
                                  <p:childTnLst>
                                    <p:set>
                                      <p:cBhvr>
                                        <p:cTn id="130" dur="1" fill="hold">
                                          <p:stCondLst>
                                            <p:cond delay="0"/>
                                          </p:stCondLst>
                                        </p:cTn>
                                        <p:tgtEl>
                                          <p:spTgt spid="38"/>
                                        </p:tgtEl>
                                        <p:attrNameLst>
                                          <p:attrName>style.visibility</p:attrName>
                                        </p:attrNameLst>
                                      </p:cBhvr>
                                      <p:to>
                                        <p:strVal val="visible"/>
                                      </p:to>
                                    </p:set>
                                    <p:animEffect transition="in" filter="fade">
                                      <p:cBhvr>
                                        <p:cTn id="131" dur="700"/>
                                        <p:tgtEl>
                                          <p:spTgt spid="38"/>
                                        </p:tgtEl>
                                      </p:cBhvr>
                                    </p:animEffect>
                                    <p:anim calcmode="lin" valueType="num">
                                      <p:cBhvr additive="base">
                                        <p:cTn id="132" dur="700" fill="hold"/>
                                        <p:tgtEl>
                                          <p:spTgt spid="38"/>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910"/>
                                  </p:stCondLst>
                                  <p:childTnLst>
                                    <p:set>
                                      <p:cBhvr>
                                        <p:cTn id="134" dur="1" fill="hold">
                                          <p:stCondLst>
                                            <p:cond delay="0"/>
                                          </p:stCondLst>
                                        </p:cTn>
                                        <p:tgtEl>
                                          <p:spTgt spid="39"/>
                                        </p:tgtEl>
                                        <p:attrNameLst>
                                          <p:attrName>style.visibility</p:attrName>
                                        </p:attrNameLst>
                                      </p:cBhvr>
                                      <p:to>
                                        <p:strVal val="visible"/>
                                      </p:to>
                                    </p:set>
                                    <p:animEffect transition="in" filter="fade">
                                      <p:cBhvr>
                                        <p:cTn id="135" dur="700"/>
                                        <p:tgtEl>
                                          <p:spTgt spid="39"/>
                                        </p:tgtEl>
                                      </p:cBhvr>
                                    </p:animEffect>
                                    <p:anim calcmode="lin" valueType="num">
                                      <p:cBhvr additive="base">
                                        <p:cTn id="136" dur="700" fill="hold"/>
                                        <p:tgtEl>
                                          <p:spTgt spid="39"/>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13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39" dur="700"/>
                                        <p:tgtEl>
                                          <p:spTgt spid="40"/>
                                        </p:tgtEl>
                                      </p:cBhvr>
                                    </p:animEffect>
                                    <p:anim calcmode="lin" valueType="num">
                                      <p:cBhvr additive="base">
                                        <p:cTn id="140" dur="700" fill="hold"/>
                                        <p:tgtEl>
                                          <p:spTgt spid="40"/>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130"/>
                                  </p:stCondLst>
                                  <p:childTnLst>
                                    <p:set>
                                      <p:cBhvr>
                                        <p:cTn id="142" dur="1" fill="hold">
                                          <p:stCondLst>
                                            <p:cond delay="0"/>
                                          </p:stCondLst>
                                        </p:cTn>
                                        <p:tgtEl>
                                          <p:spTgt spid="41"/>
                                        </p:tgtEl>
                                        <p:attrNameLst>
                                          <p:attrName>style.visibility</p:attrName>
                                        </p:attrNameLst>
                                      </p:cBhvr>
                                      <p:to>
                                        <p:strVal val="visible"/>
                                      </p:to>
                                    </p:set>
                                    <p:animEffect transition="in" filter="fade">
                                      <p:cBhvr>
                                        <p:cTn id="143" dur="700"/>
                                        <p:tgtEl>
                                          <p:spTgt spid="41"/>
                                        </p:tgtEl>
                                      </p:cBhvr>
                                    </p:animEffect>
                                    <p:anim calcmode="lin" valueType="num">
                                      <p:cBhvr additive="base">
                                        <p:cTn id="144" dur="700" fill="hold"/>
                                        <p:tgtEl>
                                          <p:spTgt spid="41"/>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130"/>
                                  </p:stCondLst>
                                  <p:childTnLst>
                                    <p:set>
                                      <p:cBhvr>
                                        <p:cTn id="146" dur="1" fill="hold">
                                          <p:stCondLst>
                                            <p:cond delay="0"/>
                                          </p:stCondLst>
                                        </p:cTn>
                                        <p:tgtEl>
                                          <p:spTgt spid="42"/>
                                        </p:tgtEl>
                                        <p:attrNameLst>
                                          <p:attrName>style.visibility</p:attrName>
                                        </p:attrNameLst>
                                      </p:cBhvr>
                                      <p:to>
                                        <p:strVal val="visible"/>
                                      </p:to>
                                    </p:set>
                                    <p:animEffect transition="in" filter="fade">
                                      <p:cBhvr>
                                        <p:cTn id="147" dur="700"/>
                                        <p:tgtEl>
                                          <p:spTgt spid="42"/>
                                        </p:tgtEl>
                                      </p:cBhvr>
                                    </p:animEffect>
                                    <p:anim calcmode="lin" valueType="num">
                                      <p:cBhvr additive="base">
                                        <p:cTn id="148" dur="700" fill="hold"/>
                                        <p:tgtEl>
                                          <p:spTgt spid="42"/>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13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1" dur="700"/>
                                        <p:tgtEl>
                                          <p:spTgt spid="43"/>
                                        </p:tgtEl>
                                      </p:cBhvr>
                                    </p:animEffect>
                                    <p:anim calcmode="lin" valueType="num">
                                      <p:cBhvr additive="base">
                                        <p:cTn id="152" dur="700" fill="hold"/>
                                        <p:tgtEl>
                                          <p:spTgt spid="43"/>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130"/>
                                  </p:stCondLst>
                                  <p:childTnLst>
                                    <p:set>
                                      <p:cBhvr>
                                        <p:cTn id="154" dur="1" fill="hold">
                                          <p:stCondLst>
                                            <p:cond delay="0"/>
                                          </p:stCondLst>
                                        </p:cTn>
                                        <p:tgtEl>
                                          <p:spTgt spid="44"/>
                                        </p:tgtEl>
                                        <p:attrNameLst>
                                          <p:attrName>style.visibility</p:attrName>
                                        </p:attrNameLst>
                                      </p:cBhvr>
                                      <p:to>
                                        <p:strVal val="visible"/>
                                      </p:to>
                                    </p:set>
                                    <p:animEffect transition="in" filter="fade">
                                      <p:cBhvr>
                                        <p:cTn id="155" dur="700"/>
                                        <p:tgtEl>
                                          <p:spTgt spid="44"/>
                                        </p:tgtEl>
                                      </p:cBhvr>
                                    </p:animEffect>
                                    <p:anim calcmode="lin" valueType="num">
                                      <p:cBhvr additive="base">
                                        <p:cTn id="156" dur="700" fill="hold"/>
                                        <p:tgtEl>
                                          <p:spTgt spid="44"/>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130"/>
                                  </p:stCondLst>
                                  <p:childTnLst>
                                    <p:set>
                                      <p:cBhvr>
                                        <p:cTn id="158" dur="1" fill="hold">
                                          <p:stCondLst>
                                            <p:cond delay="0"/>
                                          </p:stCondLst>
                                        </p:cTn>
                                        <p:tgtEl>
                                          <p:spTgt spid="45"/>
                                        </p:tgtEl>
                                        <p:attrNameLst>
                                          <p:attrName>style.visibility</p:attrName>
                                        </p:attrNameLst>
                                      </p:cBhvr>
                                      <p:to>
                                        <p:strVal val="visible"/>
                                      </p:to>
                                    </p:set>
                                    <p:animEffect transition="in" filter="fade">
                                      <p:cBhvr>
                                        <p:cTn id="159" dur="700"/>
                                        <p:tgtEl>
                                          <p:spTgt spid="45"/>
                                        </p:tgtEl>
                                      </p:cBhvr>
                                    </p:animEffect>
                                    <p:anim calcmode="lin" valueType="num">
                                      <p:cBhvr additive="base">
                                        <p:cTn id="160" dur="700" fill="hold"/>
                                        <p:tgtEl>
                                          <p:spTgt spid="45"/>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130"/>
                                  </p:stCondLst>
                                  <p:childTnLst>
                                    <p:set>
                                      <p:cBhvr>
                                        <p:cTn id="162" dur="1" fill="hold">
                                          <p:stCondLst>
                                            <p:cond delay="0"/>
                                          </p:stCondLst>
                                        </p:cTn>
                                        <p:tgtEl>
                                          <p:spTgt spid="46"/>
                                        </p:tgtEl>
                                        <p:attrNameLst>
                                          <p:attrName>style.visibility</p:attrName>
                                        </p:attrNameLst>
                                      </p:cBhvr>
                                      <p:to>
                                        <p:strVal val="visible"/>
                                      </p:to>
                                    </p:set>
                                    <p:animEffect transition="in" filter="fade">
                                      <p:cBhvr>
                                        <p:cTn id="163" dur="700"/>
                                        <p:tgtEl>
                                          <p:spTgt spid="46"/>
                                        </p:tgtEl>
                                      </p:cBhvr>
                                    </p:animEffect>
                                    <p:anim calcmode="lin" valueType="num">
                                      <p:cBhvr additive="base">
                                        <p:cTn id="164" dur="700" fill="hold"/>
                                        <p:tgtEl>
                                          <p:spTgt spid="46"/>
                                        </p:tgtEl>
                                        <p:attrNameLst>
                                          <p:attrName>ppt_y</p:attrName>
                                        </p:attrNameLst>
                                      </p:cBhvr>
                                      <p:tavLst>
                                        <p:tav tm="0">
                                          <p:val>
                                            <p:strVal val="#ppt_y+0.03"/>
                                          </p:val>
                                        </p:tav>
                                        <p:tav tm="100000">
                                          <p:val>
                                            <p:strVal val="#ppt_y"/>
                                          </p:val>
                                        </p:tav>
                                      </p:tavLst>
                                    </p:anim>
                                  </p:childTnLst>
                                </p:cTn>
                              </p:par>
                              <p:par>
                                <p:cTn id="165" presetID="42" presetClass="entr" presetSubtype="0" decel="100000" fill="hold" grpId="0" nodeType="withEffect">
                                  <p:stCondLst>
                                    <p:cond delay="1130"/>
                                  </p:stCondLst>
                                  <p:childTnLst>
                                    <p:set>
                                      <p:cBhvr>
                                        <p:cTn id="166" dur="1" fill="hold">
                                          <p:stCondLst>
                                            <p:cond delay="0"/>
                                          </p:stCondLst>
                                        </p:cTn>
                                        <p:tgtEl>
                                          <p:spTgt spid="47"/>
                                        </p:tgtEl>
                                        <p:attrNameLst>
                                          <p:attrName>style.visibility</p:attrName>
                                        </p:attrNameLst>
                                      </p:cBhvr>
                                      <p:to>
                                        <p:strVal val="visible"/>
                                      </p:to>
                                    </p:set>
                                    <p:animEffect transition="in" filter="fade">
                                      <p:cBhvr>
                                        <p:cTn id="167" dur="700"/>
                                        <p:tgtEl>
                                          <p:spTgt spid="47"/>
                                        </p:tgtEl>
                                      </p:cBhvr>
                                    </p:animEffect>
                                    <p:anim calcmode="lin" valueType="num">
                                      <p:cBhvr additive="base">
                                        <p:cTn id="168" dur="700" fill="hold"/>
                                        <p:tgtEl>
                                          <p:spTgt spid="47"/>
                                        </p:tgtEl>
                                        <p:attrNameLst>
                                          <p:attrName>ppt_y</p:attrName>
                                        </p:attrNameLst>
                                      </p:cBhvr>
                                      <p:tavLst>
                                        <p:tav tm="0">
                                          <p:val>
                                            <p:strVal val="#ppt_y+0.03"/>
                                          </p:val>
                                        </p:tav>
                                        <p:tav tm="100000">
                                          <p:val>
                                            <p:strVal val="#ppt_y"/>
                                          </p:val>
                                        </p:tav>
                                      </p:tavLst>
                                    </p:anim>
                                  </p:childTnLst>
                                </p:cTn>
                              </p:par>
                              <p:par>
                                <p:cTn id="169" presetID="42" presetClass="entr" presetSubtype="0" decel="100000" fill="hold" grpId="0" nodeType="withEffect">
                                  <p:stCondLst>
                                    <p:cond delay="1130"/>
                                  </p:stCondLst>
                                  <p:childTnLst>
                                    <p:set>
                                      <p:cBhvr>
                                        <p:cTn id="170" dur="1" fill="hold">
                                          <p:stCondLst>
                                            <p:cond delay="0"/>
                                          </p:stCondLst>
                                        </p:cTn>
                                        <p:tgtEl>
                                          <p:spTgt spid="48"/>
                                        </p:tgtEl>
                                        <p:attrNameLst>
                                          <p:attrName>style.visibility</p:attrName>
                                        </p:attrNameLst>
                                      </p:cBhvr>
                                      <p:to>
                                        <p:strVal val="visible"/>
                                      </p:to>
                                    </p:set>
                                    <p:animEffect transition="in" filter="fade">
                                      <p:cBhvr>
                                        <p:cTn id="171" dur="700"/>
                                        <p:tgtEl>
                                          <p:spTgt spid="48"/>
                                        </p:tgtEl>
                                      </p:cBhvr>
                                    </p:animEffect>
                                    <p:anim calcmode="lin" valueType="num">
                                      <p:cBhvr additive="base">
                                        <p:cTn id="172" dur="700" fill="hold"/>
                                        <p:tgtEl>
                                          <p:spTgt spid="48"/>
                                        </p:tgtEl>
                                        <p:attrNameLst>
                                          <p:attrName>ppt_y</p:attrName>
                                        </p:attrNameLst>
                                      </p:cBhvr>
                                      <p:tavLst>
                                        <p:tav tm="0">
                                          <p:val>
                                            <p:strVal val="#ppt_y+0.03"/>
                                          </p:val>
                                        </p:tav>
                                        <p:tav tm="100000">
                                          <p:val>
                                            <p:strVal val="#ppt_y"/>
                                          </p:val>
                                        </p:tav>
                                      </p:tavLst>
                                    </p:anim>
                                  </p:childTnLst>
                                </p:cTn>
                              </p:par>
                              <p:par>
                                <p:cTn id="173" presetID="42" presetClass="entr" presetSubtype="0" decel="100000" fill="hold" grpId="0" nodeType="withEffect">
                                  <p:stCondLst>
                                    <p:cond delay="1130"/>
                                  </p:stCondLst>
                                  <p:childTnLst>
                                    <p:set>
                                      <p:cBhvr>
                                        <p:cTn id="174" dur="1" fill="hold">
                                          <p:stCondLst>
                                            <p:cond delay="0"/>
                                          </p:stCondLst>
                                        </p:cTn>
                                        <p:tgtEl>
                                          <p:spTgt spid="49"/>
                                        </p:tgtEl>
                                        <p:attrNameLst>
                                          <p:attrName>style.visibility</p:attrName>
                                        </p:attrNameLst>
                                      </p:cBhvr>
                                      <p:to>
                                        <p:strVal val="visible"/>
                                      </p:to>
                                    </p:set>
                                    <p:animEffect transition="in" filter="fade">
                                      <p:cBhvr>
                                        <p:cTn id="175" dur="700"/>
                                        <p:tgtEl>
                                          <p:spTgt spid="49"/>
                                        </p:tgtEl>
                                      </p:cBhvr>
                                    </p:animEffect>
                                    <p:anim calcmode="lin" valueType="num">
                                      <p:cBhvr additive="base">
                                        <p:cTn id="176" dur="700" fill="hold"/>
                                        <p:tgtEl>
                                          <p:spTgt spid="49"/>
                                        </p:tgtEl>
                                        <p:attrNameLst>
                                          <p:attrName>ppt_y</p:attrName>
                                        </p:attrNameLst>
                                      </p:cBhvr>
                                      <p:tavLst>
                                        <p:tav tm="0">
                                          <p:val>
                                            <p:strVal val="#ppt_y+0.03"/>
                                          </p:val>
                                        </p:tav>
                                        <p:tav tm="100000">
                                          <p:val>
                                            <p:strVal val="#ppt_y"/>
                                          </p:val>
                                        </p:tav>
                                      </p:tavLst>
                                    </p:anim>
                                  </p:childTnLst>
                                </p:cTn>
                              </p:par>
                              <p:par>
                                <p:cTn id="177" presetID="42" presetClass="entr" presetSubtype="0" decel="100000" fill="hold" grpId="0" nodeType="withEffect">
                                  <p:stCondLst>
                                    <p:cond delay="1350"/>
                                  </p:stCondLst>
                                  <p:childTnLst>
                                    <p:set>
                                      <p:cBhvr>
                                        <p:cTn id="178" dur="1" fill="hold">
                                          <p:stCondLst>
                                            <p:cond delay="0"/>
                                          </p:stCondLst>
                                        </p:cTn>
                                        <p:tgtEl>
                                          <p:spTgt spid="50"/>
                                        </p:tgtEl>
                                        <p:attrNameLst>
                                          <p:attrName>style.visibility</p:attrName>
                                        </p:attrNameLst>
                                      </p:cBhvr>
                                      <p:to>
                                        <p:strVal val="visible"/>
                                      </p:to>
                                    </p:set>
                                    <p:animEffect transition="in" filter="fade">
                                      <p:cBhvr>
                                        <p:cTn id="179" dur="700"/>
                                        <p:tgtEl>
                                          <p:spTgt spid="50"/>
                                        </p:tgtEl>
                                      </p:cBhvr>
                                    </p:animEffect>
                                    <p:anim calcmode="lin" valueType="num">
                                      <p:cBhvr additive="base">
                                        <p:cTn id="180" dur="700" fill="hold"/>
                                        <p:tgtEl>
                                          <p:spTgt spid="50"/>
                                        </p:tgtEl>
                                        <p:attrNameLst>
                                          <p:attrName>ppt_y</p:attrName>
                                        </p:attrNameLst>
                                      </p:cBhvr>
                                      <p:tavLst>
                                        <p:tav tm="0">
                                          <p:val>
                                            <p:strVal val="#ppt_y+0.03"/>
                                          </p:val>
                                        </p:tav>
                                        <p:tav tm="100000">
                                          <p:val>
                                            <p:strVal val="#ppt_y"/>
                                          </p:val>
                                        </p:tav>
                                      </p:tavLst>
                                    </p:anim>
                                  </p:childTnLst>
                                </p:cTn>
                              </p:par>
                              <p:par>
                                <p:cTn id="181" presetID="42" presetClass="entr" presetSubtype="0" decel="100000" fill="hold" grpId="0" nodeType="withEffect">
                                  <p:stCondLst>
                                    <p:cond delay="1350"/>
                                  </p:stCondLst>
                                  <p:childTnLst>
                                    <p:set>
                                      <p:cBhvr>
                                        <p:cTn id="182" dur="1" fill="hold">
                                          <p:stCondLst>
                                            <p:cond delay="0"/>
                                          </p:stCondLst>
                                        </p:cTn>
                                        <p:tgtEl>
                                          <p:spTgt spid="51"/>
                                        </p:tgtEl>
                                        <p:attrNameLst>
                                          <p:attrName>style.visibility</p:attrName>
                                        </p:attrNameLst>
                                      </p:cBhvr>
                                      <p:to>
                                        <p:strVal val="visible"/>
                                      </p:to>
                                    </p:set>
                                    <p:animEffect transition="in" filter="fade">
                                      <p:cBhvr>
                                        <p:cTn id="183" dur="700"/>
                                        <p:tgtEl>
                                          <p:spTgt spid="51"/>
                                        </p:tgtEl>
                                      </p:cBhvr>
                                    </p:animEffect>
                                    <p:anim calcmode="lin" valueType="num">
                                      <p:cBhvr additive="base">
                                        <p:cTn id="184"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s0n"/>
          <p:cNvSpPr txBox="1"/>
          <p:nvPr/>
        </p:nvSpPr>
        <p:spPr>
          <a:xfrm>
            <a:off x="777240" y="187452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87452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258568"/>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807208"/>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2float_s1n"/>
          <p:cNvSpPr txBox="1"/>
          <p:nvPr/>
        </p:nvSpPr>
        <p:spPr>
          <a:xfrm>
            <a:off x="777240" y="2990088"/>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990088"/>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3374136"/>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922776"/>
            <a:ext cx="5394960" cy="987552"/>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3float_s2n"/>
          <p:cNvSpPr txBox="1"/>
          <p:nvPr/>
        </p:nvSpPr>
        <p:spPr>
          <a:xfrm>
            <a:off x="777240" y="4105656"/>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17" name="a3float_s2t"/>
          <p:cNvSpPr txBox="1"/>
          <p:nvPr/>
        </p:nvSpPr>
        <p:spPr>
          <a:xfrm>
            <a:off x="2743200" y="4105656"/>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18" name="a3float_s2c"/>
          <p:cNvSpPr txBox="1"/>
          <p:nvPr/>
        </p:nvSpPr>
        <p:spPr>
          <a:xfrm>
            <a:off x="2743200" y="4489704"/>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700"/>
                                        <p:tgtEl>
                                          <p:spTgt spid="16"/>
                                        </p:tgtEl>
                                      </p:cBhvr>
                                    </p:animEffect>
                                    <p:anim calcmode="lin" valueType="num">
                                      <p:cBhvr additive="base">
                                        <p:cTn id="69" dur="700" fill="hold"/>
                                        <p:tgtEl>
                                          <p:spTgt spid="16"/>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700"/>
                                        <p:tgtEl>
                                          <p:spTgt spid="17"/>
                                        </p:tgtEl>
                                      </p:cBhvr>
                                    </p:animEffect>
                                    <p:anim calcmode="lin" valueType="num">
                                      <p:cBhvr additive="base">
                                        <p:cTn id="73" dur="700" fill="hold"/>
                                        <p:tgtEl>
                                          <p:spTgt spid="17"/>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18"/>
                                        </p:tgtEl>
                                        <p:attrNameLst>
                                          <p:attrName>style.visibility</p:attrName>
                                        </p:attrNameLst>
                                      </p:cBhvr>
                                      <p:to>
                                        <p:strVal val="visible"/>
                                      </p:to>
                                    </p:set>
                                    <p:animEffect transition="in" filter="fade">
                                      <p:cBhvr>
                                        <p:cTn id="76" dur="700"/>
                                        <p:tgtEl>
                                          <p:spTgt spid="18"/>
                                        </p:tgtEl>
                                      </p:cBhvr>
                                    </p:animEffect>
                                    <p:anim calcmode="lin" valueType="num">
                                      <p:cBhvr additive="base">
                                        <p:cTn id="77" dur="700" fill="hold"/>
                                        <p:tgtEl>
                                          <p:spTgt spid="18"/>
                                        </p:tgtEl>
                                        <p:attrNameLst>
                                          <p:attrName>ppt_y</p:attrName>
                                        </p:attrNameLst>
                                      </p:cBhvr>
                                      <p:tavLst>
                                        <p:tav tm="0">
                                          <p:val>
                                            <p:strVal val="#ppt_y+0.03"/>
                                          </p:val>
                                        </p:tav>
                                        <p:tav tm="100000">
                                          <p:val>
                                            <p:strVal val="#ppt_y"/>
                                          </p:val>
                                        </p:tav>
                                      </p:tavLst>
                                    </p:anim>
                                  </p:childTnLst>
                                </p:cTn>
                              </p:par>
                              <p:par>
                                <p:cTn id="78" presetID="53" presetClass="entr" presetSubtype="16" decel="100000" fill="hold" grpId="0" nodeType="withEffect">
                                  <p:stCondLst>
                                    <p:cond delay="910"/>
                                  </p:stCondLst>
                                  <p:childTnLst>
                                    <p:set>
                                      <p:cBhvr>
                                        <p:cTn id="79" dur="1" fill="hold">
                                          <p:stCondLst>
                                            <p:cond delay="0"/>
                                          </p:stCondLst>
                                        </p:cTn>
                                        <p:tgtEl>
                                          <p:spTgt spid="25"/>
                                        </p:tgtEl>
                                        <p:attrNameLst>
                                          <p:attrName>style.visibility</p:attrName>
                                        </p:attrNameLst>
                                      </p:cBhvr>
                                      <p:to>
                                        <p:strVal val="visible"/>
                                      </p:to>
                                    </p:set>
                                    <p:animEffect transition="in" filter="fade">
                                      <p:cBhvr>
                                        <p:cTn id="80" dur="700"/>
                                        <p:tgtEl>
                                          <p:spTgt spid="25"/>
                                        </p:tgtEl>
                                      </p:cBhvr>
                                    </p:animEffect>
                                    <p:anim calcmode="lin" valueType="num">
                                      <p:cBhvr additive="base">
                                        <p:cTn id="81" dur="800" fill="hold"/>
                                        <p:tgtEl>
                                          <p:spTgt spid="25"/>
                                        </p:tgtEl>
                                        <p:attrNameLst>
                                          <p:attrName>ppt_w</p:attrName>
                                        </p:attrNameLst>
                                      </p:cBhvr>
                                      <p:tavLst>
                                        <p:tav tm="0">
                                          <p:val>
                                            <p:strVal val="#ppt_w*0.85"/>
                                          </p:val>
                                        </p:tav>
                                        <p:tav tm="100000">
                                          <p:val>
                                            <p:strVal val="#ppt_w"/>
                                          </p:val>
                                        </p:tav>
                                      </p:tavLst>
                                    </p:anim>
                                    <p:anim calcmode="lin" valueType="num">
                                      <p:cBhvr additive="base">
                                        <p:cTn id="82" dur="800" fill="hold"/>
                                        <p:tgtEl>
                                          <p:spTgt spid="25"/>
                                        </p:tgtEl>
                                        <p:attrNameLst>
                                          <p:attrName>ppt_h</p:attrName>
                                        </p:attrNameLst>
                                      </p:cBhvr>
                                      <p:tavLst>
                                        <p:tav tm="0">
                                          <p:val>
                                            <p:strVal val="#ppt_h*0.85"/>
                                          </p:val>
                                        </p:tav>
                                        <p:tav tm="100000">
                                          <p:val>
                                            <p:strVal val="#ppt_h"/>
                                          </p:val>
                                        </p:tav>
                                      </p:tavLst>
                                    </p:anim>
                                  </p:childTnLst>
                                </p:cTn>
                              </p:par>
                              <p:par>
                                <p:cTn id="83" presetID="53" presetClass="entr" presetSubtype="16" decel="100000" fill="hold" grpId="0" nodeType="withEffect">
                                  <p:stCondLst>
                                    <p:cond delay="910"/>
                                  </p:stCondLst>
                                  <p:childTnLst>
                                    <p:set>
                                      <p:cBhvr>
                                        <p:cTn id="84" dur="1" fill="hold">
                                          <p:stCondLst>
                                            <p:cond delay="0"/>
                                          </p:stCondLst>
                                        </p:cTn>
                                        <p:tgtEl>
                                          <p:spTgt spid="26"/>
                                        </p:tgtEl>
                                        <p:attrNameLst>
                                          <p:attrName>style.visibility</p:attrName>
                                        </p:attrNameLst>
                                      </p:cBhvr>
                                      <p:to>
                                        <p:strVal val="visible"/>
                                      </p:to>
                                    </p:set>
                                    <p:animEffect transition="in" filter="fade">
                                      <p:cBhvr>
                                        <p:cTn id="85" dur="700"/>
                                        <p:tgtEl>
                                          <p:spTgt spid="26"/>
                                        </p:tgtEl>
                                      </p:cBhvr>
                                    </p:animEffect>
                                    <p:anim calcmode="lin" valueType="num">
                                      <p:cBhvr additive="base">
                                        <p:cTn id="86" dur="800" fill="hold"/>
                                        <p:tgtEl>
                                          <p:spTgt spid="26"/>
                                        </p:tgtEl>
                                        <p:attrNameLst>
                                          <p:attrName>ppt_w</p:attrName>
                                        </p:attrNameLst>
                                      </p:cBhvr>
                                      <p:tavLst>
                                        <p:tav tm="0">
                                          <p:val>
                                            <p:strVal val="#ppt_w*0.85"/>
                                          </p:val>
                                        </p:tav>
                                        <p:tav tm="100000">
                                          <p:val>
                                            <p:strVal val="#ppt_w"/>
                                          </p:val>
                                        </p:tav>
                                      </p:tavLst>
                                    </p:anim>
                                    <p:anim calcmode="lin" valueType="num">
                                      <p:cBhvr additive="base">
                                        <p:cTn id="87" dur="800" fill="hold"/>
                                        <p:tgtEl>
                                          <p:spTgt spid="26"/>
                                        </p:tgtEl>
                                        <p:attrNameLst>
                                          <p:attrName>ppt_h</p:attrName>
                                        </p:attrNameLst>
                                      </p:cBhvr>
                                      <p:tavLst>
                                        <p:tav tm="0">
                                          <p:val>
                                            <p:strVal val="#ppt_h*0.85"/>
                                          </p:val>
                                        </p:tav>
                                        <p:tav tm="100000">
                                          <p:val>
                                            <p:strVal val="#ppt_h"/>
                                          </p:val>
                                        </p:tav>
                                      </p:tavLst>
                                    </p:anim>
                                  </p:childTnLst>
                                </p:cTn>
                              </p:par>
                              <p:par>
                                <p:cTn id="88" presetID="53" presetClass="entr" presetSubtype="16" decel="100000" fill="hold" grpId="0" nodeType="withEffect">
                                  <p:stCondLst>
                                    <p:cond delay="910"/>
                                  </p:stCondLst>
                                  <p:childTnLst>
                                    <p:set>
                                      <p:cBhvr>
                                        <p:cTn id="89" dur="1" fill="hold">
                                          <p:stCondLst>
                                            <p:cond delay="0"/>
                                          </p:stCondLst>
                                        </p:cTn>
                                        <p:tgtEl>
                                          <p:spTgt spid="27"/>
                                        </p:tgtEl>
                                        <p:attrNameLst>
                                          <p:attrName>style.visibility</p:attrName>
                                        </p:attrNameLst>
                                      </p:cBhvr>
                                      <p:to>
                                        <p:strVal val="visible"/>
                                      </p:to>
                                    </p:set>
                                    <p:animEffect transition="in" filter="fade">
                                      <p:cBhvr>
                                        <p:cTn id="90" dur="700"/>
                                        <p:tgtEl>
                                          <p:spTgt spid="27"/>
                                        </p:tgtEl>
                                      </p:cBhvr>
                                    </p:animEffect>
                                    <p:anim calcmode="lin" valueType="num">
                                      <p:cBhvr additive="base">
                                        <p:cTn id="91" dur="800" fill="hold"/>
                                        <p:tgtEl>
                                          <p:spTgt spid="27"/>
                                        </p:tgtEl>
                                        <p:attrNameLst>
                                          <p:attrName>ppt_w</p:attrName>
                                        </p:attrNameLst>
                                      </p:cBhvr>
                                      <p:tavLst>
                                        <p:tav tm="0">
                                          <p:val>
                                            <p:strVal val="#ppt_w*0.85"/>
                                          </p:val>
                                        </p:tav>
                                        <p:tav tm="100000">
                                          <p:val>
                                            <p:strVal val="#ppt_w"/>
                                          </p:val>
                                        </p:tav>
                                      </p:tavLst>
                                    </p:anim>
                                    <p:anim calcmode="lin" valueType="num">
                                      <p:cBhvr additive="base">
                                        <p:cTn id="92" dur="800" fill="hold"/>
                                        <p:tgtEl>
                                          <p:spTgt spid="27"/>
                                        </p:tgtEl>
                                        <p:attrNameLst>
                                          <p:attrName>ppt_h</p:attrName>
                                        </p:attrNameLst>
                                      </p:cBhvr>
                                      <p:tavLst>
                                        <p:tav tm="0">
                                          <p:val>
                                            <p:strVal val="#ppt_h*0.85"/>
                                          </p:val>
                                        </p:tav>
                                        <p:tav tm="100000">
                                          <p:val>
                                            <p:strVal val="#ppt_h"/>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additive="base">
                                        <p:cTn id="96" dur="700" fill="hold"/>
                                        <p:tgtEl>
                                          <p:spTgt spid="19"/>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0"/>
                                        </p:tgtEl>
                                        <p:attrNameLst>
                                          <p:attrName>style.visibility</p:attrName>
                                        </p:attrNameLst>
                                      </p:cBhvr>
                                      <p:to>
                                        <p:strVal val="visible"/>
                                      </p:to>
                                    </p:set>
                                    <p:animEffect transition="in" filter="fade">
                                      <p:cBhvr>
                                        <p:cTn id="99" dur="700"/>
                                        <p:tgtEl>
                                          <p:spTgt spid="20"/>
                                        </p:tgtEl>
                                      </p:cBhvr>
                                    </p:animEffect>
                                    <p:anim calcmode="lin" valueType="num">
                                      <p:cBhvr additive="base">
                                        <p:cTn id="100" dur="700" fill="hold"/>
                                        <p:tgtEl>
                                          <p:spTgt spid="20"/>
                                        </p:tgtEl>
                                        <p:attrNameLst>
                                          <p:attrName>ppt_y</p:attrName>
                                        </p:attrNameLst>
                                      </p:cBhvr>
                                      <p:tavLst>
                                        <p:tav tm="0">
                                          <p:val>
                                            <p:strVal val="#ppt_y+0.03"/>
                                          </p:val>
                                        </p:tav>
                                        <p:tav tm="100000">
                                          <p:val>
                                            <p:strVal val="#ppt_y"/>
                                          </p:val>
                                        </p:tav>
                                      </p:tavLst>
                                    </p:anim>
                                  </p:childTnLst>
                                </p:cTn>
                              </p:par>
                              <p:par>
                                <p:cTn id="101" presetID="53" presetClass="entr" presetSubtype="16" decel="100000" fill="hold" grpId="0" nodeType="withEffect">
                                  <p:stCondLst>
                                    <p:cond delay="1130"/>
                                  </p:stCondLst>
                                  <p:childTnLst>
                                    <p:set>
                                      <p:cBhvr>
                                        <p:cTn id="102" dur="1" fill="hold">
                                          <p:stCondLst>
                                            <p:cond delay="0"/>
                                          </p:stCondLst>
                                        </p:cTn>
                                        <p:tgtEl>
                                          <p:spTgt spid="28"/>
                                        </p:tgtEl>
                                        <p:attrNameLst>
                                          <p:attrName>style.visibility</p:attrName>
                                        </p:attrNameLst>
                                      </p:cBhvr>
                                      <p:to>
                                        <p:strVal val="visible"/>
                                      </p:to>
                                    </p:set>
                                    <p:animEffect transition="in" filter="fade">
                                      <p:cBhvr>
                                        <p:cTn id="103" dur="700"/>
                                        <p:tgtEl>
                                          <p:spTgt spid="28"/>
                                        </p:tgtEl>
                                      </p:cBhvr>
                                    </p:animEffect>
                                    <p:anim calcmode="lin" valueType="num">
                                      <p:cBhvr additive="base">
                                        <p:cTn id="104" dur="800" fill="hold"/>
                                        <p:tgtEl>
                                          <p:spTgt spid="28"/>
                                        </p:tgtEl>
                                        <p:attrNameLst>
                                          <p:attrName>ppt_w</p:attrName>
                                        </p:attrNameLst>
                                      </p:cBhvr>
                                      <p:tavLst>
                                        <p:tav tm="0">
                                          <p:val>
                                            <p:strVal val="#ppt_w*0.85"/>
                                          </p:val>
                                        </p:tav>
                                        <p:tav tm="100000">
                                          <p:val>
                                            <p:strVal val="#ppt_w"/>
                                          </p:val>
                                        </p:tav>
                                      </p:tavLst>
                                    </p:anim>
                                    <p:anim calcmode="lin" valueType="num">
                                      <p:cBhvr additive="base">
                                        <p:cTn id="105" dur="800" fill="hold"/>
                                        <p:tgtEl>
                                          <p:spTgt spid="28"/>
                                        </p:tgtEl>
                                        <p:attrNameLst>
                                          <p:attrName>ppt_h</p:attrName>
                                        </p:attrNameLst>
                                      </p:cBhvr>
                                      <p:tavLst>
                                        <p:tav tm="0">
                                          <p:val>
                                            <p:strVal val="#ppt_h*0.85"/>
                                          </p:val>
                                        </p:tav>
                                        <p:tav tm="100000">
                                          <p:val>
                                            <p:strVal val="#ppt_h"/>
                                          </p:val>
                                        </p:tav>
                                      </p:tavLst>
                                    </p:anim>
                                  </p:childTnLst>
                                </p:cTn>
                              </p:par>
                              <p:par>
                                <p:cTn id="106" presetID="53" presetClass="entr" presetSubtype="16" decel="100000" fill="hold" grpId="0" nodeType="withEffect">
                                  <p:stCondLst>
                                    <p:cond delay="1130"/>
                                  </p:stCondLst>
                                  <p:childTnLst>
                                    <p:set>
                                      <p:cBhvr>
                                        <p:cTn id="107" dur="1" fill="hold">
                                          <p:stCondLst>
                                            <p:cond delay="0"/>
                                          </p:stCondLst>
                                        </p:cTn>
                                        <p:tgtEl>
                                          <p:spTgt spid="29"/>
                                        </p:tgtEl>
                                        <p:attrNameLst>
                                          <p:attrName>style.visibility</p:attrName>
                                        </p:attrNameLst>
                                      </p:cBhvr>
                                      <p:to>
                                        <p:strVal val="visible"/>
                                      </p:to>
                                    </p:set>
                                    <p:animEffect transition="in" filter="fade">
                                      <p:cBhvr>
                                        <p:cTn id="108" dur="700"/>
                                        <p:tgtEl>
                                          <p:spTgt spid="29"/>
                                        </p:tgtEl>
                                      </p:cBhvr>
                                    </p:animEffect>
                                    <p:anim calcmode="lin" valueType="num">
                                      <p:cBhvr additive="base">
                                        <p:cTn id="109" dur="800" fill="hold"/>
                                        <p:tgtEl>
                                          <p:spTgt spid="29"/>
                                        </p:tgtEl>
                                        <p:attrNameLst>
                                          <p:attrName>ppt_w</p:attrName>
                                        </p:attrNameLst>
                                      </p:cBhvr>
                                      <p:tavLst>
                                        <p:tav tm="0">
                                          <p:val>
                                            <p:strVal val="#ppt_w*0.85"/>
                                          </p:val>
                                        </p:tav>
                                        <p:tav tm="100000">
                                          <p:val>
                                            <p:strVal val="#ppt_w"/>
                                          </p:val>
                                        </p:tav>
                                      </p:tavLst>
                                    </p:anim>
                                    <p:anim calcmode="lin" valueType="num">
                                      <p:cBhvr additive="base">
                                        <p:cTn id="110" dur="800" fill="hold"/>
                                        <p:tgtEl>
                                          <p:spTgt spid="29"/>
                                        </p:tgtEl>
                                        <p:attrNameLst>
                                          <p:attrName>ppt_h</p:attrName>
                                        </p:attrNameLst>
                                      </p:cBhvr>
                                      <p:tavLst>
                                        <p:tav tm="0">
                                          <p:val>
                                            <p:strVal val="#ppt_h*0.85"/>
                                          </p:val>
                                        </p:tav>
                                        <p:tav tm="100000">
                                          <p:val>
                                            <p:strVal val="#ppt_h"/>
                                          </p:val>
                                        </p:tav>
                                      </p:tavLst>
                                    </p:anim>
                                  </p:childTnLst>
                                </p:cTn>
                              </p:par>
                              <p:par>
                                <p:cTn id="111" presetID="53" presetClass="entr" presetSubtype="16" decel="100000" fill="hold" grpId="0" nodeType="withEffect">
                                  <p:stCondLst>
                                    <p:cond delay="113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800" fill="hold"/>
                                        <p:tgtEl>
                                          <p:spTgt spid="30"/>
                                        </p:tgtEl>
                                        <p:attrNameLst>
                                          <p:attrName>ppt_w</p:attrName>
                                        </p:attrNameLst>
                                      </p:cBhvr>
                                      <p:tavLst>
                                        <p:tav tm="0">
                                          <p:val>
                                            <p:strVal val="#ppt_w*0.85"/>
                                          </p:val>
                                        </p:tav>
                                        <p:tav tm="100000">
                                          <p:val>
                                            <p:strVal val="#ppt_w"/>
                                          </p:val>
                                        </p:tav>
                                      </p:tavLst>
                                    </p:anim>
                                    <p:anim calcmode="lin" valueType="num">
                                      <p:cBhvr additive="base">
                                        <p:cTn id="115" dur="800" fill="hold"/>
                                        <p:tgtEl>
                                          <p:spTgt spid="30"/>
                                        </p:tgtEl>
                                        <p:attrNameLst>
                                          <p:attrName>ppt_h</p:attrName>
                                        </p:attrNameLst>
                                      </p:cBhvr>
                                      <p:tavLst>
                                        <p:tav tm="0">
                                          <p:val>
                                            <p:strVal val="#ppt_h*0.85"/>
                                          </p:val>
                                        </p:tav>
                                        <p:tav tm="100000">
                                          <p:val>
                                            <p:strVal val="#ppt_h"/>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700"/>
                                        <p:tgtEl>
                                          <p:spTgt spid="31"/>
                                        </p:tgtEl>
                                      </p:cBhvr>
                                    </p:animEffect>
                                    <p:anim calcmode="lin" valueType="num">
                                      <p:cBhvr additive="base">
                                        <p:cTn id="119" dur="800" fill="hold"/>
                                        <p:tgtEl>
                                          <p:spTgt spid="31"/>
                                        </p:tgtEl>
                                        <p:attrNameLst>
                                          <p:attrName>ppt_w</p:attrName>
                                        </p:attrNameLst>
                                      </p:cBhvr>
                                      <p:tavLst>
                                        <p:tav tm="0">
                                          <p:val>
                                            <p:strVal val="#ppt_w*0.85"/>
                                          </p:val>
                                        </p:tav>
                                        <p:tav tm="100000">
                                          <p:val>
                                            <p:strVal val="#ppt_w"/>
                                          </p:val>
                                        </p:tav>
                                      </p:tavLst>
                                    </p:anim>
                                    <p:anim calcmode="lin" valueType="num">
                                      <p:cBhvr additive="base">
                                        <p:cTn id="120" dur="800" fill="hold"/>
                                        <p:tgtEl>
                                          <p:spTgt spid="31"/>
                                        </p:tgtEl>
                                        <p:attrNameLst>
                                          <p:attrName>ppt_h</p:attrName>
                                        </p:attrNameLst>
                                      </p:cBhvr>
                                      <p:tavLst>
                                        <p:tav tm="0">
                                          <p:val>
                                            <p:strVal val="#ppt_h*0.85"/>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3" dur="700"/>
                                        <p:tgtEl>
                                          <p:spTgt spid="32"/>
                                        </p:tgtEl>
                                      </p:cBhvr>
                                    </p:animEffect>
                                    <p:anim calcmode="lin" valueType="num">
                                      <p:cBhvr additive="base">
                                        <p:cTn id="124" dur="800" fill="hold"/>
                                        <p:tgtEl>
                                          <p:spTgt spid="32"/>
                                        </p:tgtEl>
                                        <p:attrNameLst>
                                          <p:attrName>ppt_w</p:attrName>
                                        </p:attrNameLst>
                                      </p:cBhvr>
                                      <p:tavLst>
                                        <p:tav tm="0">
                                          <p:val>
                                            <p:strVal val="#ppt_w*0.85"/>
                                          </p:val>
                                        </p:tav>
                                        <p:tav tm="100000">
                                          <p:val>
                                            <p:strVal val="#ppt_w"/>
                                          </p:val>
                                        </p:tav>
                                      </p:tavLst>
                                    </p:anim>
                                    <p:anim calcmode="lin" valueType="num">
                                      <p:cBhvr additive="base">
                                        <p:cTn id="125" dur="800" fill="hold"/>
                                        <p:tgtEl>
                                          <p:spTgt spid="32"/>
                                        </p:tgtEl>
                                        <p:attrNameLst>
                                          <p:attrName>ppt_h</p:attrName>
                                        </p:attrNameLst>
                                      </p:cBhvr>
                                      <p:tavLst>
                                        <p:tav tm="0">
                                          <p:val>
                                            <p:strVal val="#ppt_h*0.85"/>
                                          </p:val>
                                        </p:tav>
                                        <p:tav tm="100000">
                                          <p:val>
                                            <p:strVal val="#ppt_h"/>
                                          </p:val>
                                        </p:tav>
                                      </p:tavLst>
                                    </p:anim>
                                  </p:childTnLst>
                                </p:cTn>
                              </p:par>
                              <p:par>
                                <p:cTn id="126" presetID="53" presetClass="entr" presetSubtype="16" decel="100000" fill="hold" grpId="0" nodeType="withEffect">
                                  <p:stCondLst>
                                    <p:cond delay="135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8" dur="700"/>
                                        <p:tgtEl>
                                          <p:spTgt spid="33"/>
                                        </p:tgtEl>
                                      </p:cBhvr>
                                    </p:animEffect>
                                    <p:anim calcmode="lin" valueType="num">
                                      <p:cBhvr additive="base">
                                        <p:cTn id="129" dur="800" fill="hold"/>
                                        <p:tgtEl>
                                          <p:spTgt spid="33"/>
                                        </p:tgtEl>
                                        <p:attrNameLst>
                                          <p:attrName>ppt_w</p:attrName>
                                        </p:attrNameLst>
                                      </p:cBhvr>
                                      <p:tavLst>
                                        <p:tav tm="0">
                                          <p:val>
                                            <p:strVal val="#ppt_w*0.85"/>
                                          </p:val>
                                        </p:tav>
                                        <p:tav tm="100000">
                                          <p:val>
                                            <p:strVal val="#ppt_w"/>
                                          </p:val>
                                        </p:tav>
                                      </p:tavLst>
                                    </p:anim>
                                    <p:anim calcmode="lin" valueType="num">
                                      <p:cBhvr additive="base">
                                        <p:cTn id="130" dur="800" fill="hold"/>
                                        <p:tgtEl>
                                          <p:spTgt spid="33"/>
                                        </p:tgtEl>
                                        <p:attrNameLst>
                                          <p:attrName>ppt_h</p:attrName>
                                        </p:attrNameLst>
                                      </p:cBhvr>
                                      <p:tavLst>
                                        <p:tav tm="0">
                                          <p:val>
                                            <p:strVal val="#ppt_h*0.85"/>
                                          </p:val>
                                        </p:tav>
                                        <p:tav tm="100000">
                                          <p:val>
                                            <p:strVal val="#ppt_h"/>
                                          </p:val>
                                        </p:tav>
                                      </p:tavLst>
                                    </p:anim>
                                  </p:childTnLst>
                                </p:cTn>
                              </p:par>
                              <p:par>
                                <p:cTn id="131" presetID="10" presetClass="entr" presetSubtype="0" decel="100000" fill="hold" grpId="0" nodeType="withEffect">
                                  <p:stCondLst>
                                    <p:cond delay="157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600"/>
                                        <p:tgtEl>
                                          <p:spTgt spid="35"/>
                                        </p:tgtEl>
                                      </p:cBhvr>
                                    </p:animEffect>
                                  </p:childTnLst>
                                </p:cTn>
                              </p:par>
                              <p:par>
                                <p:cTn id="134" presetID="6" presetClass="emph" presetSubtype="0" repeatCount="indefinite" fill="hold" grpId="0" nodeType="withEffect">
                                  <p:stCondLst>
                                    <p:cond delay="1790"/>
                                  </p:stCondLst>
                                  <p:childTnLst>
                                    <p:animScale>
                                      <p:cBhvr>
                                        <p:cTn id="135" dur="1600" fill="hold"/>
                                        <p:tgtEl>
                                          <p:spTgt spid="34"/>
                                        </p:tgtEl>
                                      </p:cBhvr>
                                      <p:by x="160000" y="160000"/>
                                    </p:animScale>
                                    <p:anim calcmode="lin" valueType="num">
                                      <p:cBhvr>
                                        <p:cTn id="136"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sp>
      <p:sp>
        <p:nvSpPr>
          <p:cNvPr id="8" name="a1zoom_dot0"/>
          <p:cNvSpPr/>
          <p:nvPr/>
        </p:nvSpPr>
        <p:spPr>
          <a:xfrm>
            <a:off x="694944" y="1792224"/>
            <a:ext cx="109728" cy="109728"/>
          </a:xfrm>
          <a:prstGeom prst="ellipse">
            <a:avLst/>
          </a:prstGeom>
          <a:solidFill>
            <a:srgbClr val="FF5F57"/>
          </a:solidFill>
          <a:ln/>
        </p:spPr>
      </p:sp>
      <p:sp>
        <p:nvSpPr>
          <p:cNvPr id="9" name="a1zoom_dot1"/>
          <p:cNvSpPr/>
          <p:nvPr/>
        </p:nvSpPr>
        <p:spPr>
          <a:xfrm>
            <a:off x="877824" y="1792224"/>
            <a:ext cx="109728" cy="109728"/>
          </a:xfrm>
          <a:prstGeom prst="ellipse">
            <a:avLst/>
          </a:prstGeom>
          <a:solidFill>
            <a:srgbClr val="FEBC2E"/>
          </a:solidFill>
          <a:ln/>
        </p:spPr>
      </p:sp>
      <p:sp>
        <p:nvSpPr>
          <p:cNvPr id="10" name="a1zoom_dot2"/>
          <p:cNvSpPr/>
          <p:nvPr/>
        </p:nvSpPr>
        <p:spPr>
          <a:xfrm>
            <a:off x="1060704" y="1792224"/>
            <a:ext cx="109728" cy="109728"/>
          </a:xfrm>
          <a:prstGeom prst="ellipse">
            <a:avLst/>
          </a:prstGeom>
          <a:solidFill>
            <a:srgbClr val="28C840"/>
          </a:solidFill>
          <a:ln/>
        </p:spPr>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pic>
        <p:nvPicPr>
          <p:cNvPr id="6" name="video_product">
            <a:hlinkClick r:id="" action="ppaction://media"/>
            <a:extLst>
              <a:ext uri="{FF2B5EF4-FFF2-40B4-BE49-F238E27FC236}">
                <a16:creationId xmlns:a16="http://schemas.microsoft.com/office/drawing/2014/main" id="{AC9A14DD-A870-708C-E672-5BC741EFDCBE}"/>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85216" y="2002537"/>
            <a:ext cx="6830568" cy="4269105"/>
          </a:xfrm>
          <a:prstGeom prst="rect">
            <a:avLst/>
          </a:prstGeom>
        </p:spPr>
      </p:pic>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sp>
      <p:pic>
        <p:nvPicPr>
          <p:cNvPr id="14" name="a2float_f0_i" descr="preencoded.png"/>
          <p:cNvPicPr>
            <a:picLocks noChangeAspect="1"/>
          </p:cNvPicPr>
          <p:nvPr/>
        </p:nvPicPr>
        <p:blipFill>
          <a:blip r:embed="rId8"/>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sp>
      <p:pic>
        <p:nvPicPr>
          <p:cNvPr id="18" name="a3float_f1_i" descr="preencoded.png"/>
          <p:cNvPicPr>
            <a:picLocks noChangeAspect="1"/>
          </p:cNvPicPr>
          <p:nvPr/>
        </p:nvPicPr>
        <p:blipFill>
          <a:blip r:embed="rId9"/>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sp>
      <p:pic>
        <p:nvPicPr>
          <p:cNvPr id="22" name="a4float_f2_i" descr="preencoded.png"/>
          <p:cNvPicPr>
            <a:picLocks noChangeAspect="1"/>
          </p:cNvPicPr>
          <p:nvPr/>
        </p:nvPicPr>
        <p:blipFill>
          <a:blip r:embed="rId10"/>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sp>
      <p:pic>
        <p:nvPicPr>
          <p:cNvPr id="26" name="a5float_f3_i" descr="preencoded.png"/>
          <p:cNvPicPr>
            <a:picLocks noChangeAspect="1"/>
          </p:cNvPicPr>
          <p:nvPr/>
        </p:nvPicPr>
        <p:blipFill>
          <a:blip r:embed="rId11"/>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sp>
      <p:pic>
        <p:nvPicPr>
          <p:cNvPr id="30" name="a6float_f4_i" descr="preencoded.png"/>
          <p:cNvPicPr>
            <a:picLocks noChangeAspect="1"/>
          </p:cNvPicPr>
          <p:nvPr/>
        </p:nvPicPr>
        <p:blipFill>
          <a:blip r:embed="rId12"/>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LIVE DEMO  ·  open stand 9 on the website</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repeatCount="indefinite"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69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91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113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par>
                                <p:cTn id="135" presetID="53" presetClass="entr" presetSubtype="16" decel="100000" fill="hold" grpId="0" nodeType="withEffect">
                                  <p:stCondLst>
                                    <p:cond delay="1350"/>
                                  </p:stCondLst>
                                  <p:childTnLst>
                                    <p:set>
                                      <p:cBhvr>
                                        <p:cTn id="136" dur="1" fill="hold">
                                          <p:stCondLst>
                                            <p:cond delay="0"/>
                                          </p:stCondLst>
                                        </p:cTn>
                                        <p:tgtEl>
                                          <p:spTgt spid="38"/>
                                        </p:tgtEl>
                                        <p:attrNameLst>
                                          <p:attrName>style.visibility</p:attrName>
                                        </p:attrNameLst>
                                      </p:cBhvr>
                                      <p:to>
                                        <p:strVal val="visible"/>
                                      </p:to>
                                    </p:set>
                                    <p:animEffect transition="in" filter="fade">
                                      <p:cBhvr>
                                        <p:cTn id="137" dur="450"/>
                                        <p:tgtEl>
                                          <p:spTgt spid="38"/>
                                        </p:tgtEl>
                                      </p:cBhvr>
                                    </p:animEffect>
                                    <p:anim calcmode="lin" valueType="num">
                                      <p:cBhvr additive="base">
                                        <p:cTn id="138" dur="450" fill="hold"/>
                                        <p:tgtEl>
                                          <p:spTgt spid="38"/>
                                        </p:tgtEl>
                                        <p:attrNameLst>
                                          <p:attrName>ppt_w</p:attrName>
                                        </p:attrNameLst>
                                      </p:cBhvr>
                                      <p:tavLst>
                                        <p:tav tm="0">
                                          <p:val>
                                            <p:strVal val="#ppt_w*0.2"/>
                                          </p:val>
                                        </p:tav>
                                        <p:tav tm="100000">
                                          <p:val>
                                            <p:strVal val="#ppt_w"/>
                                          </p:val>
                                        </p:tav>
                                      </p:tavLst>
                                    </p:anim>
                                    <p:anim calcmode="lin" valueType="num">
                                      <p:cBhvr additive="base">
                                        <p:cTn id="139" dur="450" fill="hold"/>
                                        <p:tgtEl>
                                          <p:spTgt spid="38"/>
                                        </p:tgtEl>
                                        <p:attrNameLst>
                                          <p:attrName>ppt_h</p:attrName>
                                        </p:attrNameLst>
                                      </p:cBhvr>
                                      <p:tavLst>
                                        <p:tav tm="0">
                                          <p:val>
                                            <p:strVal val="#ppt_h*0.2"/>
                                          </p:val>
                                        </p:tav>
                                        <p:tav tm="100000">
                                          <p:val>
                                            <p:strVal val="#ppt_h"/>
                                          </p:val>
                                        </p:tav>
                                      </p:tavLst>
                                    </p:anim>
                                  </p:childTnLst>
                                </p:cTn>
                              </p:par>
                              <p:par>
                                <p:cTn id="140" presetID="53" presetClass="entr" presetSubtype="16" decel="100000" fill="hold" grpId="0" nodeType="withEffect">
                                  <p:stCondLst>
                                    <p:cond delay="1350"/>
                                  </p:stCondLst>
                                  <p:childTnLst>
                                    <p:set>
                                      <p:cBhvr>
                                        <p:cTn id="141" dur="1" fill="hold">
                                          <p:stCondLst>
                                            <p:cond delay="0"/>
                                          </p:stCondLst>
                                        </p:cTn>
                                        <p:tgtEl>
                                          <p:spTgt spid="39"/>
                                        </p:tgtEl>
                                        <p:attrNameLst>
                                          <p:attrName>style.visibility</p:attrName>
                                        </p:attrNameLst>
                                      </p:cBhvr>
                                      <p:to>
                                        <p:strVal val="visible"/>
                                      </p:to>
                                    </p:set>
                                    <p:animEffect transition="in" filter="fade">
                                      <p:cBhvr>
                                        <p:cTn id="142" dur="450"/>
                                        <p:tgtEl>
                                          <p:spTgt spid="39"/>
                                        </p:tgtEl>
                                      </p:cBhvr>
                                    </p:animEffect>
                                    <p:anim calcmode="lin" valueType="num">
                                      <p:cBhvr additive="base">
                                        <p:cTn id="143" dur="450" fill="hold"/>
                                        <p:tgtEl>
                                          <p:spTgt spid="39"/>
                                        </p:tgtEl>
                                        <p:attrNameLst>
                                          <p:attrName>ppt_w</p:attrName>
                                        </p:attrNameLst>
                                      </p:cBhvr>
                                      <p:tavLst>
                                        <p:tav tm="0">
                                          <p:val>
                                            <p:strVal val="#ppt_w*0.2"/>
                                          </p:val>
                                        </p:tav>
                                        <p:tav tm="100000">
                                          <p:val>
                                            <p:strVal val="#ppt_w"/>
                                          </p:val>
                                        </p:tav>
                                      </p:tavLst>
                                    </p:anim>
                                    <p:anim calcmode="lin" valueType="num">
                                      <p:cBhvr additive="base">
                                        <p:cTn id="144" dur="450" fill="hold"/>
                                        <p:tgtEl>
                                          <p:spTgt spid="39"/>
                                        </p:tgtEl>
                                        <p:attrNameLst>
                                          <p:attrName>ppt_h</p:attrName>
                                        </p:attrNameLst>
                                      </p:cBhvr>
                                      <p:tavLst>
                                        <p:tav tm="0">
                                          <p:val>
                                            <p:strVal val="#ppt_h*0.2"/>
                                          </p:val>
                                        </p:tav>
                                        <p:tav tm="100000">
                                          <p:val>
                                            <p:strVal val="#ppt_h"/>
                                          </p:val>
                                        </p:tav>
                                      </p:tavLst>
                                    </p:anim>
                                  </p:childTnLst>
                                </p:cTn>
                              </p:par>
                              <p:par>
                                <p:cTn id="145" presetID="53" presetClass="entr" presetSubtype="16" decel="100000" fill="hold" grpId="0" nodeType="withEffect">
                                  <p:stCondLst>
                                    <p:cond delay="135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50"/>
                                        <p:tgtEl>
                                          <p:spTgt spid="40"/>
                                        </p:tgtEl>
                                      </p:cBhvr>
                                    </p:animEffect>
                                    <p:anim calcmode="lin" valueType="num">
                                      <p:cBhvr additive="base">
                                        <p:cTn id="148" dur="450" fill="hold"/>
                                        <p:tgtEl>
                                          <p:spTgt spid="40"/>
                                        </p:tgtEl>
                                        <p:attrNameLst>
                                          <p:attrName>ppt_w</p:attrName>
                                        </p:attrNameLst>
                                      </p:cBhvr>
                                      <p:tavLst>
                                        <p:tav tm="0">
                                          <p:val>
                                            <p:strVal val="#ppt_w*0.2"/>
                                          </p:val>
                                        </p:tav>
                                        <p:tav tm="100000">
                                          <p:val>
                                            <p:strVal val="#ppt_w"/>
                                          </p:val>
                                        </p:tav>
                                      </p:tavLst>
                                    </p:anim>
                                    <p:anim calcmode="lin" valueType="num">
                                      <p:cBhvr additive="base">
                                        <p:cTn id="149" dur="450" fill="hold"/>
                                        <p:tgtEl>
                                          <p:spTgt spid="40"/>
                                        </p:tgtEl>
                                        <p:attrNameLst>
                                          <p:attrName>ppt_h</p:attrName>
                                        </p:attrNameLst>
                                      </p:cBhvr>
                                      <p:tavLst>
                                        <p:tav tm="0">
                                          <p:val>
                                            <p:strVal val="#ppt_h*0.2"/>
                                          </p:val>
                                        </p:tav>
                                        <p:tav tm="100000">
                                          <p:val>
                                            <p:strVal val="#ppt_h"/>
                                          </p:val>
                                        </p:tav>
                                      </p:tavLst>
                                    </p:anim>
                                  </p:childTnLst>
                                </p:cTn>
                              </p:par>
                              <p:par>
                                <p:cTn id="150" presetID="53" presetClass="entr" presetSubtype="16" decel="100000" fill="hold" grpId="0" nodeType="withEffect">
                                  <p:stCondLst>
                                    <p:cond delay="135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450"/>
                                        <p:tgtEl>
                                          <p:spTgt spid="41"/>
                                        </p:tgtEl>
                                      </p:cBhvr>
                                    </p:animEffect>
                                    <p:anim calcmode="lin" valueType="num">
                                      <p:cBhvr additive="base">
                                        <p:cTn id="153" dur="450" fill="hold"/>
                                        <p:tgtEl>
                                          <p:spTgt spid="41"/>
                                        </p:tgtEl>
                                        <p:attrNameLst>
                                          <p:attrName>ppt_w</p:attrName>
                                        </p:attrNameLst>
                                      </p:cBhvr>
                                      <p:tavLst>
                                        <p:tav tm="0">
                                          <p:val>
                                            <p:strVal val="#ppt_w*0.2"/>
                                          </p:val>
                                        </p:tav>
                                        <p:tav tm="100000">
                                          <p:val>
                                            <p:strVal val="#ppt_w"/>
                                          </p:val>
                                        </p:tav>
                                      </p:tavLst>
                                    </p:anim>
                                    <p:anim calcmode="lin" valueType="num">
                                      <p:cBhvr additive="base">
                                        <p:cTn id="154" dur="450" fill="hold"/>
                                        <p:tgtEl>
                                          <p:spTgt spid="41"/>
                                        </p:tgtEl>
                                        <p:attrNameLst>
                                          <p:attrName>ppt_h</p:attrName>
                                        </p:attrNameLst>
                                      </p:cBhvr>
                                      <p:tavLst>
                                        <p:tav tm="0">
                                          <p:val>
                                            <p:strVal val="#ppt_h*0.2"/>
                                          </p:val>
                                        </p:tav>
                                        <p:tav tm="100000">
                                          <p:val>
                                            <p:strVal val="#ppt_h"/>
                                          </p:val>
                                        </p:tav>
                                      </p:tavLst>
                                    </p:anim>
                                  </p:childTnLst>
                                </p:cTn>
                              </p:par>
                              <p:par>
                                <p:cTn id="155" presetID="10" presetClass="entr" presetSubtype="0" decel="100000" fill="hold" grpId="0" nodeType="withEffect">
                                  <p:stCondLst>
                                    <p:cond delay="1350"/>
                                  </p:stCondLst>
                                  <p:childTnLst>
                                    <p:set>
                                      <p:cBhvr>
                                        <p:cTn id="156" dur="1" fill="hold">
                                          <p:stCondLst>
                                            <p:cond delay="0"/>
                                          </p:stCondLst>
                                        </p:cTn>
                                        <p:tgtEl>
                                          <p:spTgt spid="42"/>
                                        </p:tgtEl>
                                        <p:attrNameLst>
                                          <p:attrName>style.visibility</p:attrName>
                                        </p:attrNameLst>
                                      </p:cBhvr>
                                      <p:to>
                                        <p:strVal val="visible"/>
                                      </p:to>
                                    </p:set>
                                    <p:animEffect transition="in" filter="fade">
                                      <p:cBhvr>
                                        <p:cTn id="157" dur="600"/>
                                        <p:tgtEl>
                                          <p:spTgt spid="42"/>
                                        </p:tgtEl>
                                      </p:cBhvr>
                                    </p:animEffect>
                                  </p:childTnLst>
                                </p:cTn>
                              </p:par>
                              <p:par>
                                <p:cTn id="158" presetID="53" presetClass="entr" presetSubtype="16" decel="100000" fill="hold" grpId="0" nodeType="withEffect">
                                  <p:stCondLst>
                                    <p:cond delay="1570"/>
                                  </p:stCondLst>
                                  <p:childTnLst>
                                    <p:set>
                                      <p:cBhvr>
                                        <p:cTn id="159" dur="1" fill="hold">
                                          <p:stCondLst>
                                            <p:cond delay="0"/>
                                          </p:stCondLst>
                                        </p:cTn>
                                        <p:tgtEl>
                                          <p:spTgt spid="43"/>
                                        </p:tgtEl>
                                        <p:attrNameLst>
                                          <p:attrName>style.visibility</p:attrName>
                                        </p:attrNameLst>
                                      </p:cBhvr>
                                      <p:to>
                                        <p:strVal val="visible"/>
                                      </p:to>
                                    </p:set>
                                    <p:animEffect transition="in" filter="fade">
                                      <p:cBhvr>
                                        <p:cTn id="160" dur="450"/>
                                        <p:tgtEl>
                                          <p:spTgt spid="43"/>
                                        </p:tgtEl>
                                      </p:cBhvr>
                                    </p:animEffect>
                                    <p:anim calcmode="lin" valueType="num">
                                      <p:cBhvr additive="base">
                                        <p:cTn id="161" dur="450" fill="hold"/>
                                        <p:tgtEl>
                                          <p:spTgt spid="43"/>
                                        </p:tgtEl>
                                        <p:attrNameLst>
                                          <p:attrName>ppt_w</p:attrName>
                                        </p:attrNameLst>
                                      </p:cBhvr>
                                      <p:tavLst>
                                        <p:tav tm="0">
                                          <p:val>
                                            <p:strVal val="#ppt_w*0.2"/>
                                          </p:val>
                                        </p:tav>
                                        <p:tav tm="100000">
                                          <p:val>
                                            <p:strVal val="#ppt_w"/>
                                          </p:val>
                                        </p:tav>
                                      </p:tavLst>
                                    </p:anim>
                                    <p:anim calcmode="lin" valueType="num">
                                      <p:cBhvr additive="base">
                                        <p:cTn id="162" dur="450" fill="hold"/>
                                        <p:tgtEl>
                                          <p:spTgt spid="43"/>
                                        </p:tgtEl>
                                        <p:attrNameLst>
                                          <p:attrName>ppt_h</p:attrName>
                                        </p:attrNameLst>
                                      </p:cBhvr>
                                      <p:tavLst>
                                        <p:tav tm="0">
                                          <p:val>
                                            <p:strVal val="#ppt_h*0.2"/>
                                          </p:val>
                                        </p:tav>
                                        <p:tav tm="100000">
                                          <p:val>
                                            <p:strVal val="#ppt_h"/>
                                          </p:val>
                                        </p:tav>
                                      </p:tavLst>
                                    </p:anim>
                                  </p:childTnLst>
                                </p:cTn>
                              </p:par>
                              <p:par>
                                <p:cTn id="163" presetID="53" presetClass="entr" presetSubtype="16" decel="100000" fill="hold" grpId="0" nodeType="withEffect">
                                  <p:stCondLst>
                                    <p:cond delay="1570"/>
                                  </p:stCondLst>
                                  <p:childTnLst>
                                    <p:set>
                                      <p:cBhvr>
                                        <p:cTn id="164" dur="1" fill="hold">
                                          <p:stCondLst>
                                            <p:cond delay="0"/>
                                          </p:stCondLst>
                                        </p:cTn>
                                        <p:tgtEl>
                                          <p:spTgt spid="44"/>
                                        </p:tgtEl>
                                        <p:attrNameLst>
                                          <p:attrName>style.visibility</p:attrName>
                                        </p:attrNameLst>
                                      </p:cBhvr>
                                      <p:to>
                                        <p:strVal val="visible"/>
                                      </p:to>
                                    </p:set>
                                    <p:animEffect transition="in" filter="fade">
                                      <p:cBhvr>
                                        <p:cTn id="165" dur="450"/>
                                        <p:tgtEl>
                                          <p:spTgt spid="44"/>
                                        </p:tgtEl>
                                      </p:cBhvr>
                                    </p:animEffect>
                                    <p:anim calcmode="lin" valueType="num">
                                      <p:cBhvr additive="base">
                                        <p:cTn id="166" dur="450" fill="hold"/>
                                        <p:tgtEl>
                                          <p:spTgt spid="44"/>
                                        </p:tgtEl>
                                        <p:attrNameLst>
                                          <p:attrName>ppt_w</p:attrName>
                                        </p:attrNameLst>
                                      </p:cBhvr>
                                      <p:tavLst>
                                        <p:tav tm="0">
                                          <p:val>
                                            <p:strVal val="#ppt_w*0.2"/>
                                          </p:val>
                                        </p:tav>
                                        <p:tav tm="100000">
                                          <p:val>
                                            <p:strVal val="#ppt_w"/>
                                          </p:val>
                                        </p:tav>
                                      </p:tavLst>
                                    </p:anim>
                                    <p:anim calcmode="lin" valueType="num">
                                      <p:cBhvr additive="base">
                                        <p:cTn id="167" dur="450" fill="hold"/>
                                        <p:tgtEl>
                                          <p:spTgt spid="44"/>
                                        </p:tgtEl>
                                        <p:attrNameLst>
                                          <p:attrName>ppt_h</p:attrName>
                                        </p:attrNameLst>
                                      </p:cBhvr>
                                      <p:tavLst>
                                        <p:tav tm="0">
                                          <p:val>
                                            <p:strVal val="#ppt_h*0.2"/>
                                          </p:val>
                                        </p:tav>
                                        <p:tav tm="100000">
                                          <p:val>
                                            <p:strVal val="#ppt_h"/>
                                          </p:val>
                                        </p:tav>
                                      </p:tavLst>
                                    </p:anim>
                                  </p:childTnLst>
                                </p:cTn>
                              </p:par>
                              <p:par>
                                <p:cTn id="168" presetID="53" presetClass="entr" presetSubtype="16" decel="100000" fill="hold" grpId="0" nodeType="withEffect">
                                  <p:stCondLst>
                                    <p:cond delay="157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450"/>
                                        <p:tgtEl>
                                          <p:spTgt spid="45"/>
                                        </p:tgtEl>
                                      </p:cBhvr>
                                    </p:animEffect>
                                    <p:anim calcmode="lin" valueType="num">
                                      <p:cBhvr additive="base">
                                        <p:cTn id="171" dur="450" fill="hold"/>
                                        <p:tgtEl>
                                          <p:spTgt spid="45"/>
                                        </p:tgtEl>
                                        <p:attrNameLst>
                                          <p:attrName>ppt_w</p:attrName>
                                        </p:attrNameLst>
                                      </p:cBhvr>
                                      <p:tavLst>
                                        <p:tav tm="0">
                                          <p:val>
                                            <p:strVal val="#ppt_w*0.2"/>
                                          </p:val>
                                        </p:tav>
                                        <p:tav tm="100000">
                                          <p:val>
                                            <p:strVal val="#ppt_w"/>
                                          </p:val>
                                        </p:tav>
                                      </p:tavLst>
                                    </p:anim>
                                    <p:anim calcmode="lin" valueType="num">
                                      <p:cBhvr additive="base">
                                        <p:cTn id="172" dur="450" fill="hold"/>
                                        <p:tgtEl>
                                          <p:spTgt spid="45"/>
                                        </p:tgtEl>
                                        <p:attrNameLst>
                                          <p:attrName>ppt_h</p:attrName>
                                        </p:attrNameLst>
                                      </p:cBhvr>
                                      <p:tavLst>
                                        <p:tav tm="0">
                                          <p:val>
                                            <p:strVal val="#ppt_h*0.2"/>
                                          </p:val>
                                        </p:tav>
                                        <p:tav tm="100000">
                                          <p:val>
                                            <p:strVal val="#ppt_h"/>
                                          </p:val>
                                        </p:tav>
                                      </p:tavLst>
                                    </p:anim>
                                  </p:childTnLst>
                                </p:cTn>
                              </p:par>
                              <p:par>
                                <p:cTn id="173" presetID="53" presetClass="entr" presetSubtype="16" decel="100000" fill="hold" grpId="0" nodeType="withEffect">
                                  <p:stCondLst>
                                    <p:cond delay="157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450"/>
                                        <p:tgtEl>
                                          <p:spTgt spid="46"/>
                                        </p:tgtEl>
                                      </p:cBhvr>
                                    </p:animEffect>
                                    <p:anim calcmode="lin" valueType="num">
                                      <p:cBhvr additive="base">
                                        <p:cTn id="176" dur="450" fill="hold"/>
                                        <p:tgtEl>
                                          <p:spTgt spid="46"/>
                                        </p:tgtEl>
                                        <p:attrNameLst>
                                          <p:attrName>ppt_w</p:attrName>
                                        </p:attrNameLst>
                                      </p:cBhvr>
                                      <p:tavLst>
                                        <p:tav tm="0">
                                          <p:val>
                                            <p:strVal val="#ppt_w*0.2"/>
                                          </p:val>
                                        </p:tav>
                                        <p:tav tm="100000">
                                          <p:val>
                                            <p:strVal val="#ppt_w"/>
                                          </p:val>
                                        </p:tav>
                                      </p:tavLst>
                                    </p:anim>
                                    <p:anim calcmode="lin" valueType="num">
                                      <p:cBhvr additive="base">
                                        <p:cTn id="177" dur="450" fill="hold"/>
                                        <p:tgtEl>
                                          <p:spTgt spid="46"/>
                                        </p:tgtEl>
                                        <p:attrNameLst>
                                          <p:attrName>ppt_h</p:attrName>
                                        </p:attrNameLst>
                                      </p:cBhvr>
                                      <p:tavLst>
                                        <p:tav tm="0">
                                          <p:val>
                                            <p:strVal val="#ppt_h*0.2"/>
                                          </p:val>
                                        </p:tav>
                                        <p:tav tm="100000">
                                          <p:val>
                                            <p:strVal val="#ppt_h"/>
                                          </p:val>
                                        </p:tav>
                                      </p:tavLst>
                                    </p:anim>
                                  </p:childTnLst>
                                </p:cTn>
                              </p:par>
                              <p:par>
                                <p:cTn id="178" presetID="10" presetClass="entr" presetSubtype="0" decel="100000" fill="hold" grpId="0" nodeType="withEffect">
                                  <p:stCondLst>
                                    <p:cond delay="1570"/>
                                  </p:stCondLst>
                                  <p:childTnLst>
                                    <p:set>
                                      <p:cBhvr>
                                        <p:cTn id="179" dur="1" fill="hold">
                                          <p:stCondLst>
                                            <p:cond delay="0"/>
                                          </p:stCondLst>
                                        </p:cTn>
                                        <p:tgtEl>
                                          <p:spTgt spid="47"/>
                                        </p:tgtEl>
                                        <p:attrNameLst>
                                          <p:attrName>style.visibility</p:attrName>
                                        </p:attrNameLst>
                                      </p:cBhvr>
                                      <p:to>
                                        <p:strVal val="visible"/>
                                      </p:to>
                                    </p:set>
                                    <p:animEffect transition="in" filter="fade">
                                      <p:cBhvr>
                                        <p:cTn id="180" dur="600"/>
                                        <p:tgtEl>
                                          <p:spTgt spid="47"/>
                                        </p:tgtEl>
                                      </p:cBhvr>
                                    </p:animEffect>
                                  </p:childTnLst>
                                </p:cTn>
                              </p:par>
                              <p:par>
                                <p:cTn id="181" presetID="53" presetClass="entr" presetSubtype="16" decel="100000" fill="hold" grpId="0" nodeType="withEffect">
                                  <p:stCondLst>
                                    <p:cond delay="1790"/>
                                  </p:stCondLst>
                                  <p:childTnLst>
                                    <p:set>
                                      <p:cBhvr>
                                        <p:cTn id="182" dur="1" fill="hold">
                                          <p:stCondLst>
                                            <p:cond delay="0"/>
                                          </p:stCondLst>
                                        </p:cTn>
                                        <p:tgtEl>
                                          <p:spTgt spid="48"/>
                                        </p:tgtEl>
                                        <p:attrNameLst>
                                          <p:attrName>style.visibility</p:attrName>
                                        </p:attrNameLst>
                                      </p:cBhvr>
                                      <p:to>
                                        <p:strVal val="visible"/>
                                      </p:to>
                                    </p:set>
                                    <p:animEffect transition="in" filter="fade">
                                      <p:cBhvr>
                                        <p:cTn id="183" dur="450"/>
                                        <p:tgtEl>
                                          <p:spTgt spid="48"/>
                                        </p:tgtEl>
                                      </p:cBhvr>
                                    </p:animEffect>
                                    <p:anim calcmode="lin" valueType="num">
                                      <p:cBhvr additive="base">
                                        <p:cTn id="184" dur="450" fill="hold"/>
                                        <p:tgtEl>
                                          <p:spTgt spid="48"/>
                                        </p:tgtEl>
                                        <p:attrNameLst>
                                          <p:attrName>ppt_w</p:attrName>
                                        </p:attrNameLst>
                                      </p:cBhvr>
                                      <p:tavLst>
                                        <p:tav tm="0">
                                          <p:val>
                                            <p:strVal val="#ppt_w*0.2"/>
                                          </p:val>
                                        </p:tav>
                                        <p:tav tm="100000">
                                          <p:val>
                                            <p:strVal val="#ppt_w"/>
                                          </p:val>
                                        </p:tav>
                                      </p:tavLst>
                                    </p:anim>
                                    <p:anim calcmode="lin" valueType="num">
                                      <p:cBhvr additive="base">
                                        <p:cTn id="185" dur="450" fill="hold"/>
                                        <p:tgtEl>
                                          <p:spTgt spid="48"/>
                                        </p:tgtEl>
                                        <p:attrNameLst>
                                          <p:attrName>ppt_h</p:attrName>
                                        </p:attrNameLst>
                                      </p:cBhvr>
                                      <p:tavLst>
                                        <p:tav tm="0">
                                          <p:val>
                                            <p:strVal val="#ppt_h*0.2"/>
                                          </p:val>
                                        </p:tav>
                                        <p:tav tm="100000">
                                          <p:val>
                                            <p:strVal val="#ppt_h"/>
                                          </p:val>
                                        </p:tav>
                                      </p:tavLst>
                                    </p:anim>
                                  </p:childTnLst>
                                </p:cTn>
                              </p:par>
                              <p:par>
                                <p:cTn id="186" presetID="53" presetClass="entr" presetSubtype="16" decel="100000" fill="hold" grpId="0" nodeType="withEffect">
                                  <p:stCondLst>
                                    <p:cond delay="1790"/>
                                  </p:stCondLst>
                                  <p:childTnLst>
                                    <p:set>
                                      <p:cBhvr>
                                        <p:cTn id="187" dur="1" fill="hold">
                                          <p:stCondLst>
                                            <p:cond delay="0"/>
                                          </p:stCondLst>
                                        </p:cTn>
                                        <p:tgtEl>
                                          <p:spTgt spid="49"/>
                                        </p:tgtEl>
                                        <p:attrNameLst>
                                          <p:attrName>style.visibility</p:attrName>
                                        </p:attrNameLst>
                                      </p:cBhvr>
                                      <p:to>
                                        <p:strVal val="visible"/>
                                      </p:to>
                                    </p:set>
                                    <p:animEffect transition="in" filter="fade">
                                      <p:cBhvr>
                                        <p:cTn id="188" dur="450"/>
                                        <p:tgtEl>
                                          <p:spTgt spid="49"/>
                                        </p:tgtEl>
                                      </p:cBhvr>
                                    </p:animEffect>
                                    <p:anim calcmode="lin" valueType="num">
                                      <p:cBhvr additive="base">
                                        <p:cTn id="189" dur="450" fill="hold"/>
                                        <p:tgtEl>
                                          <p:spTgt spid="49"/>
                                        </p:tgtEl>
                                        <p:attrNameLst>
                                          <p:attrName>ppt_w</p:attrName>
                                        </p:attrNameLst>
                                      </p:cBhvr>
                                      <p:tavLst>
                                        <p:tav tm="0">
                                          <p:val>
                                            <p:strVal val="#ppt_w*0.2"/>
                                          </p:val>
                                        </p:tav>
                                        <p:tav tm="100000">
                                          <p:val>
                                            <p:strVal val="#ppt_w"/>
                                          </p:val>
                                        </p:tav>
                                      </p:tavLst>
                                    </p:anim>
                                    <p:anim calcmode="lin" valueType="num">
                                      <p:cBhvr additive="base">
                                        <p:cTn id="190" dur="450" fill="hold"/>
                                        <p:tgtEl>
                                          <p:spTgt spid="49"/>
                                        </p:tgtEl>
                                        <p:attrNameLst>
                                          <p:attrName>ppt_h</p:attrName>
                                        </p:attrNameLst>
                                      </p:cBhvr>
                                      <p:tavLst>
                                        <p:tav tm="0">
                                          <p:val>
                                            <p:strVal val="#ppt_h*0.2"/>
                                          </p:val>
                                        </p:tav>
                                        <p:tav tm="100000">
                                          <p:val>
                                            <p:strVal val="#ppt_h"/>
                                          </p:val>
                                        </p:tav>
                                      </p:tavLst>
                                    </p:anim>
                                  </p:childTnLst>
                                </p:cTn>
                              </p:par>
                              <p:par>
                                <p:cTn id="191" presetID="53" presetClass="entr" presetSubtype="16" decel="100000" fill="hold" grpId="0" nodeType="withEffect">
                                  <p:stCondLst>
                                    <p:cond delay="179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450"/>
                                        <p:tgtEl>
                                          <p:spTgt spid="50"/>
                                        </p:tgtEl>
                                      </p:cBhvr>
                                    </p:animEffect>
                                    <p:anim calcmode="lin" valueType="num">
                                      <p:cBhvr additive="base">
                                        <p:cTn id="194" dur="450" fill="hold"/>
                                        <p:tgtEl>
                                          <p:spTgt spid="50"/>
                                        </p:tgtEl>
                                        <p:attrNameLst>
                                          <p:attrName>ppt_w</p:attrName>
                                        </p:attrNameLst>
                                      </p:cBhvr>
                                      <p:tavLst>
                                        <p:tav tm="0">
                                          <p:val>
                                            <p:strVal val="#ppt_w*0.2"/>
                                          </p:val>
                                        </p:tav>
                                        <p:tav tm="100000">
                                          <p:val>
                                            <p:strVal val="#ppt_w"/>
                                          </p:val>
                                        </p:tav>
                                      </p:tavLst>
                                    </p:anim>
                                    <p:anim calcmode="lin" valueType="num">
                                      <p:cBhvr additive="base">
                                        <p:cTn id="195" dur="450" fill="hold"/>
                                        <p:tgtEl>
                                          <p:spTgt spid="50"/>
                                        </p:tgtEl>
                                        <p:attrNameLst>
                                          <p:attrName>ppt_h</p:attrName>
                                        </p:attrNameLst>
                                      </p:cBhvr>
                                      <p:tavLst>
                                        <p:tav tm="0">
                                          <p:val>
                                            <p:strVal val="#ppt_h*0.2"/>
                                          </p:val>
                                        </p:tav>
                                        <p:tav tm="100000">
                                          <p:val>
                                            <p:strVal val="#ppt_h"/>
                                          </p:val>
                                        </p:tav>
                                      </p:tavLst>
                                    </p:anim>
                                  </p:childTnLst>
                                </p:cTn>
                              </p:par>
                              <p:par>
                                <p:cTn id="196" presetID="53" presetClass="entr" presetSubtype="16" decel="100000" fill="hold" grpId="0" nodeType="withEffect">
                                  <p:stCondLst>
                                    <p:cond delay="179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450"/>
                                        <p:tgtEl>
                                          <p:spTgt spid="51"/>
                                        </p:tgtEl>
                                      </p:cBhvr>
                                    </p:animEffect>
                                    <p:anim calcmode="lin" valueType="num">
                                      <p:cBhvr additive="base">
                                        <p:cTn id="199" dur="450" fill="hold"/>
                                        <p:tgtEl>
                                          <p:spTgt spid="51"/>
                                        </p:tgtEl>
                                        <p:attrNameLst>
                                          <p:attrName>ppt_w</p:attrName>
                                        </p:attrNameLst>
                                      </p:cBhvr>
                                      <p:tavLst>
                                        <p:tav tm="0">
                                          <p:val>
                                            <p:strVal val="#ppt_w*0.2"/>
                                          </p:val>
                                        </p:tav>
                                        <p:tav tm="100000">
                                          <p:val>
                                            <p:strVal val="#ppt_w"/>
                                          </p:val>
                                        </p:tav>
                                      </p:tavLst>
                                    </p:anim>
                                    <p:anim calcmode="lin" valueType="num">
                                      <p:cBhvr additive="base">
                                        <p:cTn id="200" dur="450" fill="hold"/>
                                        <p:tgtEl>
                                          <p:spTgt spid="51"/>
                                        </p:tgtEl>
                                        <p:attrNameLst>
                                          <p:attrName>ppt_h</p:attrName>
                                        </p:attrNameLst>
                                      </p:cBhvr>
                                      <p:tavLst>
                                        <p:tav tm="0">
                                          <p:val>
                                            <p:strVal val="#ppt_h*0.2"/>
                                          </p:val>
                                        </p:tav>
                                        <p:tav tm="100000">
                                          <p:val>
                                            <p:strVal val="#ppt_h"/>
                                          </p:val>
                                        </p:tav>
                                      </p:tavLst>
                                    </p:anim>
                                  </p:childTnLst>
                                </p:cTn>
                              </p:par>
                              <p:par>
                                <p:cTn id="201" presetID="10" presetClass="entr" presetSubtype="0" decel="100000" fill="hold" grpId="0" nodeType="withEffect">
                                  <p:stCondLst>
                                    <p:cond delay="1790"/>
                                  </p:stCondLst>
                                  <p:childTnLst>
                                    <p:set>
                                      <p:cBhvr>
                                        <p:cTn id="202" dur="1" fill="hold">
                                          <p:stCondLst>
                                            <p:cond delay="0"/>
                                          </p:stCondLst>
                                        </p:cTn>
                                        <p:tgtEl>
                                          <p:spTgt spid="52"/>
                                        </p:tgtEl>
                                        <p:attrNameLst>
                                          <p:attrName>style.visibility</p:attrName>
                                        </p:attrNameLst>
                                      </p:cBhvr>
                                      <p:to>
                                        <p:strVal val="visible"/>
                                      </p:to>
                                    </p:set>
                                    <p:animEffect transition="in" filter="fade">
                                      <p:cBhvr>
                                        <p:cTn id="203" dur="600"/>
                                        <p:tgtEl>
                                          <p:spTgt spid="52"/>
                                        </p:tgtEl>
                                      </p:cBhvr>
                                    </p:animEffect>
                                  </p:childTnLst>
                                </p:cTn>
                              </p:par>
                              <p:par>
                                <p:cTn id="204" presetID="53" presetClass="entr" presetSubtype="16" decel="100000" fill="hold" grpId="0" nodeType="withEffect">
                                  <p:stCondLst>
                                    <p:cond delay="201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450"/>
                                        <p:tgtEl>
                                          <p:spTgt spid="53"/>
                                        </p:tgtEl>
                                      </p:cBhvr>
                                    </p:animEffect>
                                    <p:anim calcmode="lin" valueType="num">
                                      <p:cBhvr additive="base">
                                        <p:cTn id="207" dur="450" fill="hold"/>
                                        <p:tgtEl>
                                          <p:spTgt spid="53"/>
                                        </p:tgtEl>
                                        <p:attrNameLst>
                                          <p:attrName>ppt_w</p:attrName>
                                        </p:attrNameLst>
                                      </p:cBhvr>
                                      <p:tavLst>
                                        <p:tav tm="0">
                                          <p:val>
                                            <p:strVal val="#ppt_w*0.2"/>
                                          </p:val>
                                        </p:tav>
                                        <p:tav tm="100000">
                                          <p:val>
                                            <p:strVal val="#ppt_w"/>
                                          </p:val>
                                        </p:tav>
                                      </p:tavLst>
                                    </p:anim>
                                    <p:anim calcmode="lin" valueType="num">
                                      <p:cBhvr additive="base">
                                        <p:cTn id="208" dur="450" fill="hold"/>
                                        <p:tgtEl>
                                          <p:spTgt spid="53"/>
                                        </p:tgtEl>
                                        <p:attrNameLst>
                                          <p:attrName>ppt_h</p:attrName>
                                        </p:attrNameLst>
                                      </p:cBhvr>
                                      <p:tavLst>
                                        <p:tav tm="0">
                                          <p:val>
                                            <p:strVal val="#ppt_h*0.2"/>
                                          </p:val>
                                        </p:tav>
                                        <p:tav tm="100000">
                                          <p:val>
                                            <p:strVal val="#ppt_h"/>
                                          </p:val>
                                        </p:tav>
                                      </p:tavLst>
                                    </p:anim>
                                  </p:childTnLst>
                                </p:cTn>
                              </p:par>
                              <p:par>
                                <p:cTn id="209" presetID="53" presetClass="entr" presetSubtype="16" decel="100000" fill="hold" grpId="0" nodeType="withEffect">
                                  <p:stCondLst>
                                    <p:cond delay="2010"/>
                                  </p:stCondLst>
                                  <p:childTnLst>
                                    <p:set>
                                      <p:cBhvr>
                                        <p:cTn id="210" dur="1" fill="hold">
                                          <p:stCondLst>
                                            <p:cond delay="0"/>
                                          </p:stCondLst>
                                        </p:cTn>
                                        <p:tgtEl>
                                          <p:spTgt spid="54"/>
                                        </p:tgtEl>
                                        <p:attrNameLst>
                                          <p:attrName>style.visibility</p:attrName>
                                        </p:attrNameLst>
                                      </p:cBhvr>
                                      <p:to>
                                        <p:strVal val="visible"/>
                                      </p:to>
                                    </p:set>
                                    <p:animEffect transition="in" filter="fade">
                                      <p:cBhvr>
                                        <p:cTn id="211" dur="450"/>
                                        <p:tgtEl>
                                          <p:spTgt spid="54"/>
                                        </p:tgtEl>
                                      </p:cBhvr>
                                    </p:animEffect>
                                    <p:anim calcmode="lin" valueType="num">
                                      <p:cBhvr additive="base">
                                        <p:cTn id="212" dur="450" fill="hold"/>
                                        <p:tgtEl>
                                          <p:spTgt spid="54"/>
                                        </p:tgtEl>
                                        <p:attrNameLst>
                                          <p:attrName>ppt_w</p:attrName>
                                        </p:attrNameLst>
                                      </p:cBhvr>
                                      <p:tavLst>
                                        <p:tav tm="0">
                                          <p:val>
                                            <p:strVal val="#ppt_w*0.2"/>
                                          </p:val>
                                        </p:tav>
                                        <p:tav tm="100000">
                                          <p:val>
                                            <p:strVal val="#ppt_w"/>
                                          </p:val>
                                        </p:tav>
                                      </p:tavLst>
                                    </p:anim>
                                    <p:anim calcmode="lin" valueType="num">
                                      <p:cBhvr additive="base">
                                        <p:cTn id="213" dur="450" fill="hold"/>
                                        <p:tgtEl>
                                          <p:spTgt spid="54"/>
                                        </p:tgtEl>
                                        <p:attrNameLst>
                                          <p:attrName>ppt_h</p:attrName>
                                        </p:attrNameLst>
                                      </p:cBhvr>
                                      <p:tavLst>
                                        <p:tav tm="0">
                                          <p:val>
                                            <p:strVal val="#ppt_h*0.2"/>
                                          </p:val>
                                        </p:tav>
                                        <p:tav tm="100000">
                                          <p:val>
                                            <p:strVal val="#ppt_h"/>
                                          </p:val>
                                        </p:tav>
                                      </p:tavLst>
                                    </p:anim>
                                  </p:childTnLst>
                                </p:cTn>
                              </p:par>
                              <p:par>
                                <p:cTn id="214" presetID="53" presetClass="entr" presetSubtype="16" decel="100000" fill="hold" grpId="0" nodeType="withEffect">
                                  <p:stCondLst>
                                    <p:cond delay="2010"/>
                                  </p:stCondLst>
                                  <p:childTnLst>
                                    <p:set>
                                      <p:cBhvr>
                                        <p:cTn id="215" dur="1" fill="hold">
                                          <p:stCondLst>
                                            <p:cond delay="0"/>
                                          </p:stCondLst>
                                        </p:cTn>
                                        <p:tgtEl>
                                          <p:spTgt spid="55"/>
                                        </p:tgtEl>
                                        <p:attrNameLst>
                                          <p:attrName>style.visibility</p:attrName>
                                        </p:attrNameLst>
                                      </p:cBhvr>
                                      <p:to>
                                        <p:strVal val="visible"/>
                                      </p:to>
                                    </p:set>
                                    <p:animEffect transition="in" filter="fade">
                                      <p:cBhvr>
                                        <p:cTn id="216" dur="450"/>
                                        <p:tgtEl>
                                          <p:spTgt spid="55"/>
                                        </p:tgtEl>
                                      </p:cBhvr>
                                    </p:animEffect>
                                    <p:anim calcmode="lin" valueType="num">
                                      <p:cBhvr additive="base">
                                        <p:cTn id="217" dur="450" fill="hold"/>
                                        <p:tgtEl>
                                          <p:spTgt spid="55"/>
                                        </p:tgtEl>
                                        <p:attrNameLst>
                                          <p:attrName>ppt_w</p:attrName>
                                        </p:attrNameLst>
                                      </p:cBhvr>
                                      <p:tavLst>
                                        <p:tav tm="0">
                                          <p:val>
                                            <p:strVal val="#ppt_w*0.2"/>
                                          </p:val>
                                        </p:tav>
                                        <p:tav tm="100000">
                                          <p:val>
                                            <p:strVal val="#ppt_w"/>
                                          </p:val>
                                        </p:tav>
                                      </p:tavLst>
                                    </p:anim>
                                    <p:anim calcmode="lin" valueType="num">
                                      <p:cBhvr additive="base">
                                        <p:cTn id="218" dur="450" fill="hold"/>
                                        <p:tgtEl>
                                          <p:spTgt spid="55"/>
                                        </p:tgtEl>
                                        <p:attrNameLst>
                                          <p:attrName>ppt_h</p:attrName>
                                        </p:attrNameLst>
                                      </p:cBhvr>
                                      <p:tavLst>
                                        <p:tav tm="0">
                                          <p:val>
                                            <p:strVal val="#ppt_h*0.2"/>
                                          </p:val>
                                        </p:tav>
                                        <p:tav tm="100000">
                                          <p:val>
                                            <p:strVal val="#ppt_h"/>
                                          </p:val>
                                        </p:tav>
                                      </p:tavLst>
                                    </p:anim>
                                  </p:childTnLst>
                                </p:cTn>
                              </p:par>
                              <p:par>
                                <p:cTn id="219" presetID="53" presetClass="entr" presetSubtype="16" decel="100000" fill="hold" grpId="0" nodeType="withEffect">
                                  <p:stCondLst>
                                    <p:cond delay="2010"/>
                                  </p:stCondLst>
                                  <p:childTnLst>
                                    <p:set>
                                      <p:cBhvr>
                                        <p:cTn id="220" dur="1" fill="hold">
                                          <p:stCondLst>
                                            <p:cond delay="0"/>
                                          </p:stCondLst>
                                        </p:cTn>
                                        <p:tgtEl>
                                          <p:spTgt spid="56"/>
                                        </p:tgtEl>
                                        <p:attrNameLst>
                                          <p:attrName>style.visibility</p:attrName>
                                        </p:attrNameLst>
                                      </p:cBhvr>
                                      <p:to>
                                        <p:strVal val="visible"/>
                                      </p:to>
                                    </p:set>
                                    <p:animEffect transition="in" filter="fade">
                                      <p:cBhvr>
                                        <p:cTn id="221" dur="450"/>
                                        <p:tgtEl>
                                          <p:spTgt spid="56"/>
                                        </p:tgtEl>
                                      </p:cBhvr>
                                    </p:animEffect>
                                    <p:anim calcmode="lin" valueType="num">
                                      <p:cBhvr additive="base">
                                        <p:cTn id="222" dur="450" fill="hold"/>
                                        <p:tgtEl>
                                          <p:spTgt spid="56"/>
                                        </p:tgtEl>
                                        <p:attrNameLst>
                                          <p:attrName>ppt_w</p:attrName>
                                        </p:attrNameLst>
                                      </p:cBhvr>
                                      <p:tavLst>
                                        <p:tav tm="0">
                                          <p:val>
                                            <p:strVal val="#ppt_w*0.2"/>
                                          </p:val>
                                        </p:tav>
                                        <p:tav tm="100000">
                                          <p:val>
                                            <p:strVal val="#ppt_w"/>
                                          </p:val>
                                        </p:tav>
                                      </p:tavLst>
                                    </p:anim>
                                    <p:anim calcmode="lin" valueType="num">
                                      <p:cBhvr additive="base">
                                        <p:cTn id="223" dur="450" fill="hold"/>
                                        <p:tgtEl>
                                          <p:spTgt spid="56"/>
                                        </p:tgtEl>
                                        <p:attrNameLst>
                                          <p:attrName>ppt_h</p:attrName>
                                        </p:attrNameLst>
                                      </p:cBhvr>
                                      <p:tavLst>
                                        <p:tav tm="0">
                                          <p:val>
                                            <p:strVal val="#ppt_h*0.2"/>
                                          </p:val>
                                        </p:tav>
                                        <p:tav tm="100000">
                                          <p:val>
                                            <p:strVal val="#ppt_h"/>
                                          </p:val>
                                        </p:tav>
                                      </p:tavLst>
                                    </p:anim>
                                  </p:childTnLst>
                                </p:cTn>
                              </p:par>
                              <p:par>
                                <p:cTn id="224" presetID="10" presetClass="entr" presetSubtype="0" decel="100000" fill="hold" grpId="0" nodeType="withEffect">
                                  <p:stCondLst>
                                    <p:cond delay="2010"/>
                                  </p:stCondLst>
                                  <p:childTnLst>
                                    <p:set>
                                      <p:cBhvr>
                                        <p:cTn id="225" dur="1" fill="hold">
                                          <p:stCondLst>
                                            <p:cond delay="0"/>
                                          </p:stCondLst>
                                        </p:cTn>
                                        <p:tgtEl>
                                          <p:spTgt spid="57"/>
                                        </p:tgtEl>
                                        <p:attrNameLst>
                                          <p:attrName>style.visibility</p:attrName>
                                        </p:attrNameLst>
                                      </p:cBhvr>
                                      <p:to>
                                        <p:strVal val="visible"/>
                                      </p:to>
                                    </p:set>
                                    <p:animEffect transition="in" filter="fade">
                                      <p:cBhvr>
                                        <p:cTn id="226" dur="600"/>
                                        <p:tgtEl>
                                          <p:spTgt spid="57"/>
                                        </p:tgtEl>
                                      </p:cBhvr>
                                    </p:animEffect>
                                  </p:childTnLst>
                                </p:cTn>
                              </p:par>
                              <p:par>
                                <p:cTn id="227" presetID="53" presetClass="entr" presetSubtype="16" decel="100000" fill="hold" grpId="0" nodeType="withEffect">
                                  <p:stCondLst>
                                    <p:cond delay="2230"/>
                                  </p:stCondLst>
                                  <p:childTnLst>
                                    <p:set>
                                      <p:cBhvr>
                                        <p:cTn id="228" dur="1" fill="hold">
                                          <p:stCondLst>
                                            <p:cond delay="0"/>
                                          </p:stCondLst>
                                        </p:cTn>
                                        <p:tgtEl>
                                          <p:spTgt spid="58"/>
                                        </p:tgtEl>
                                        <p:attrNameLst>
                                          <p:attrName>style.visibility</p:attrName>
                                        </p:attrNameLst>
                                      </p:cBhvr>
                                      <p:to>
                                        <p:strVal val="visible"/>
                                      </p:to>
                                    </p:set>
                                    <p:animEffect transition="in" filter="fade">
                                      <p:cBhvr>
                                        <p:cTn id="229" dur="450"/>
                                        <p:tgtEl>
                                          <p:spTgt spid="58"/>
                                        </p:tgtEl>
                                      </p:cBhvr>
                                    </p:animEffect>
                                    <p:anim calcmode="lin" valueType="num">
                                      <p:cBhvr additive="base">
                                        <p:cTn id="230" dur="450" fill="hold"/>
                                        <p:tgtEl>
                                          <p:spTgt spid="58"/>
                                        </p:tgtEl>
                                        <p:attrNameLst>
                                          <p:attrName>ppt_w</p:attrName>
                                        </p:attrNameLst>
                                      </p:cBhvr>
                                      <p:tavLst>
                                        <p:tav tm="0">
                                          <p:val>
                                            <p:strVal val="#ppt_w*0.2"/>
                                          </p:val>
                                        </p:tav>
                                        <p:tav tm="100000">
                                          <p:val>
                                            <p:strVal val="#ppt_w"/>
                                          </p:val>
                                        </p:tav>
                                      </p:tavLst>
                                    </p:anim>
                                    <p:anim calcmode="lin" valueType="num">
                                      <p:cBhvr additive="base">
                                        <p:cTn id="231" dur="450" fill="hold"/>
                                        <p:tgtEl>
                                          <p:spTgt spid="58"/>
                                        </p:tgtEl>
                                        <p:attrNameLst>
                                          <p:attrName>ppt_h</p:attrName>
                                        </p:attrNameLst>
                                      </p:cBhvr>
                                      <p:tavLst>
                                        <p:tav tm="0">
                                          <p:val>
                                            <p:strVal val="#ppt_h*0.2"/>
                                          </p:val>
                                        </p:tav>
                                        <p:tav tm="100000">
                                          <p:val>
                                            <p:strVal val="#ppt_h"/>
                                          </p:val>
                                        </p:tav>
                                      </p:tavLst>
                                    </p:anim>
                                  </p:childTnLst>
                                </p:cTn>
                              </p:par>
                              <p:par>
                                <p:cTn id="232" presetID="53" presetClass="entr" presetSubtype="16" decel="100000" fill="hold" grpId="0" nodeType="withEffect">
                                  <p:stCondLst>
                                    <p:cond delay="2230"/>
                                  </p:stCondLst>
                                  <p:childTnLst>
                                    <p:set>
                                      <p:cBhvr>
                                        <p:cTn id="233" dur="1" fill="hold">
                                          <p:stCondLst>
                                            <p:cond delay="0"/>
                                          </p:stCondLst>
                                        </p:cTn>
                                        <p:tgtEl>
                                          <p:spTgt spid="59"/>
                                        </p:tgtEl>
                                        <p:attrNameLst>
                                          <p:attrName>style.visibility</p:attrName>
                                        </p:attrNameLst>
                                      </p:cBhvr>
                                      <p:to>
                                        <p:strVal val="visible"/>
                                      </p:to>
                                    </p:set>
                                    <p:animEffect transition="in" filter="fade">
                                      <p:cBhvr>
                                        <p:cTn id="234" dur="450"/>
                                        <p:tgtEl>
                                          <p:spTgt spid="59"/>
                                        </p:tgtEl>
                                      </p:cBhvr>
                                    </p:animEffect>
                                    <p:anim calcmode="lin" valueType="num">
                                      <p:cBhvr additive="base">
                                        <p:cTn id="235" dur="450" fill="hold"/>
                                        <p:tgtEl>
                                          <p:spTgt spid="59"/>
                                        </p:tgtEl>
                                        <p:attrNameLst>
                                          <p:attrName>ppt_w</p:attrName>
                                        </p:attrNameLst>
                                      </p:cBhvr>
                                      <p:tavLst>
                                        <p:tav tm="0">
                                          <p:val>
                                            <p:strVal val="#ppt_w*0.2"/>
                                          </p:val>
                                        </p:tav>
                                        <p:tav tm="100000">
                                          <p:val>
                                            <p:strVal val="#ppt_w"/>
                                          </p:val>
                                        </p:tav>
                                      </p:tavLst>
                                    </p:anim>
                                    <p:anim calcmode="lin" valueType="num">
                                      <p:cBhvr additive="base">
                                        <p:cTn id="236" dur="450" fill="hold"/>
                                        <p:tgtEl>
                                          <p:spTgt spid="59"/>
                                        </p:tgtEl>
                                        <p:attrNameLst>
                                          <p:attrName>ppt_h</p:attrName>
                                        </p:attrNameLst>
                                      </p:cBhvr>
                                      <p:tavLst>
                                        <p:tav tm="0">
                                          <p:val>
                                            <p:strVal val="#ppt_h*0.2"/>
                                          </p:val>
                                        </p:tav>
                                        <p:tav tm="100000">
                                          <p:val>
                                            <p:strVal val="#ppt_h"/>
                                          </p:val>
                                        </p:tav>
                                      </p:tavLst>
                                    </p:anim>
                                  </p:childTnLst>
                                </p:cTn>
                              </p:par>
                              <p:par>
                                <p:cTn id="237" presetID="53" presetClass="entr" presetSubtype="16" decel="100000" fill="hold" grpId="0" nodeType="withEffect">
                                  <p:stCondLst>
                                    <p:cond delay="2230"/>
                                  </p:stCondLst>
                                  <p:childTnLst>
                                    <p:set>
                                      <p:cBhvr>
                                        <p:cTn id="238" dur="1" fill="hold">
                                          <p:stCondLst>
                                            <p:cond delay="0"/>
                                          </p:stCondLst>
                                        </p:cTn>
                                        <p:tgtEl>
                                          <p:spTgt spid="60"/>
                                        </p:tgtEl>
                                        <p:attrNameLst>
                                          <p:attrName>style.visibility</p:attrName>
                                        </p:attrNameLst>
                                      </p:cBhvr>
                                      <p:to>
                                        <p:strVal val="visible"/>
                                      </p:to>
                                    </p:set>
                                    <p:animEffect transition="in" filter="fade">
                                      <p:cBhvr>
                                        <p:cTn id="239" dur="450"/>
                                        <p:tgtEl>
                                          <p:spTgt spid="60"/>
                                        </p:tgtEl>
                                      </p:cBhvr>
                                    </p:animEffect>
                                    <p:anim calcmode="lin" valueType="num">
                                      <p:cBhvr additive="base">
                                        <p:cTn id="240" dur="450" fill="hold"/>
                                        <p:tgtEl>
                                          <p:spTgt spid="60"/>
                                        </p:tgtEl>
                                        <p:attrNameLst>
                                          <p:attrName>ppt_w</p:attrName>
                                        </p:attrNameLst>
                                      </p:cBhvr>
                                      <p:tavLst>
                                        <p:tav tm="0">
                                          <p:val>
                                            <p:strVal val="#ppt_w*0.2"/>
                                          </p:val>
                                        </p:tav>
                                        <p:tav tm="100000">
                                          <p:val>
                                            <p:strVal val="#ppt_w"/>
                                          </p:val>
                                        </p:tav>
                                      </p:tavLst>
                                    </p:anim>
                                    <p:anim calcmode="lin" valueType="num">
                                      <p:cBhvr additive="base">
                                        <p:cTn id="241" dur="450" fill="hold"/>
                                        <p:tgtEl>
                                          <p:spTgt spid="60"/>
                                        </p:tgtEl>
                                        <p:attrNameLst>
                                          <p:attrName>ppt_h</p:attrName>
                                        </p:attrNameLst>
                                      </p:cBhvr>
                                      <p:tavLst>
                                        <p:tav tm="0">
                                          <p:val>
                                            <p:strVal val="#ppt_h*0.2"/>
                                          </p:val>
                                        </p:tav>
                                        <p:tav tm="100000">
                                          <p:val>
                                            <p:strVal val="#ppt_h"/>
                                          </p:val>
                                        </p:tav>
                                      </p:tavLst>
                                    </p:anim>
                                  </p:childTnLst>
                                </p:cTn>
                              </p:par>
                              <p:par>
                                <p:cTn id="242" presetID="53" presetClass="entr" presetSubtype="16" decel="100000" fill="hold" grpId="0" nodeType="withEffect">
                                  <p:stCondLst>
                                    <p:cond delay="2230"/>
                                  </p:stCondLst>
                                  <p:childTnLst>
                                    <p:set>
                                      <p:cBhvr>
                                        <p:cTn id="243" dur="1" fill="hold">
                                          <p:stCondLst>
                                            <p:cond delay="0"/>
                                          </p:stCondLst>
                                        </p:cTn>
                                        <p:tgtEl>
                                          <p:spTgt spid="61"/>
                                        </p:tgtEl>
                                        <p:attrNameLst>
                                          <p:attrName>style.visibility</p:attrName>
                                        </p:attrNameLst>
                                      </p:cBhvr>
                                      <p:to>
                                        <p:strVal val="visible"/>
                                      </p:to>
                                    </p:set>
                                    <p:animEffect transition="in" filter="fade">
                                      <p:cBhvr>
                                        <p:cTn id="244" dur="450"/>
                                        <p:tgtEl>
                                          <p:spTgt spid="61"/>
                                        </p:tgtEl>
                                      </p:cBhvr>
                                    </p:animEffect>
                                    <p:anim calcmode="lin" valueType="num">
                                      <p:cBhvr additive="base">
                                        <p:cTn id="245" dur="450" fill="hold"/>
                                        <p:tgtEl>
                                          <p:spTgt spid="61"/>
                                        </p:tgtEl>
                                        <p:attrNameLst>
                                          <p:attrName>ppt_w</p:attrName>
                                        </p:attrNameLst>
                                      </p:cBhvr>
                                      <p:tavLst>
                                        <p:tav tm="0">
                                          <p:val>
                                            <p:strVal val="#ppt_w*0.2"/>
                                          </p:val>
                                        </p:tav>
                                        <p:tav tm="100000">
                                          <p:val>
                                            <p:strVal val="#ppt_w"/>
                                          </p:val>
                                        </p:tav>
                                      </p:tavLst>
                                    </p:anim>
                                    <p:anim calcmode="lin" valueType="num">
                                      <p:cBhvr additive="base">
                                        <p:cTn id="246"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Planned, not yet tested: </a:t>
            </a:r>
            <a:r>
              <a:rPr lang="en-US" sz="1400" dirty="0">
                <a:solidFill>
                  <a:srgbClr val="1B2B40"/>
                </a:solidFill>
                <a:latin typeface="Segoe UI" pitchFamily="34" charset="0"/>
                <a:ea typeface="Segoe UI" pitchFamily="34" charset="-122"/>
                <a:cs typeface="Segoe UI" pitchFamily="34" charset="-120"/>
              </a:rPr>
              <a:t>813 scenes were not available in the proof of concept.</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NAIVE MONITORS FAIL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sp>
      <p:sp>
        <p:nvSpPr>
          <p:cNvPr id="12" name="a2fade_tc0_0"/>
          <p:cNvSpPr/>
          <p:nvPr/>
        </p:nvSpPr>
        <p:spPr>
          <a:xfrm>
            <a:off x="896112" y="2926080"/>
            <a:ext cx="347472" cy="347472"/>
          </a:xfrm>
          <a:prstGeom prst="ellipse">
            <a:avLst/>
          </a:prstGeom>
          <a:solidFill>
            <a:srgbClr val="5E977A"/>
          </a:solidFill>
          <a:ln/>
        </p:spPr>
      </p:sp>
      <p:sp>
        <p:nvSpPr>
          <p:cNvPr id="13" name="a2fade_tr0_1"/>
          <p:cNvSpPr/>
          <p:nvPr/>
        </p:nvSpPr>
        <p:spPr>
          <a:xfrm>
            <a:off x="1481328" y="3246120"/>
            <a:ext cx="36576" cy="1005840"/>
          </a:xfrm>
          <a:prstGeom prst="rect">
            <a:avLst/>
          </a:prstGeom>
          <a:solidFill>
            <a:srgbClr val="6B5B4B"/>
          </a:solidFill>
          <a:ln/>
        </p:spPr>
      </p:sp>
      <p:sp>
        <p:nvSpPr>
          <p:cNvPr id="14" name="a2fade_tc0_1"/>
          <p:cNvSpPr/>
          <p:nvPr/>
        </p:nvSpPr>
        <p:spPr>
          <a:xfrm>
            <a:off x="1325880" y="2926080"/>
            <a:ext cx="347472" cy="347472"/>
          </a:xfrm>
          <a:prstGeom prst="ellipse">
            <a:avLst/>
          </a:prstGeom>
          <a:solidFill>
            <a:srgbClr val="5E977A"/>
          </a:solidFill>
          <a:ln/>
        </p:spPr>
      </p:sp>
      <p:sp>
        <p:nvSpPr>
          <p:cNvPr id="15" name="a2fade_tr0_2"/>
          <p:cNvSpPr/>
          <p:nvPr/>
        </p:nvSpPr>
        <p:spPr>
          <a:xfrm>
            <a:off x="1911096" y="3246120"/>
            <a:ext cx="36576" cy="1005840"/>
          </a:xfrm>
          <a:prstGeom prst="rect">
            <a:avLst/>
          </a:prstGeom>
          <a:solidFill>
            <a:srgbClr val="6B5B4B"/>
          </a:solidFill>
          <a:ln/>
        </p:spPr>
      </p:sp>
      <p:sp>
        <p:nvSpPr>
          <p:cNvPr id="16" name="a2fade_tc0_2"/>
          <p:cNvSpPr/>
          <p:nvPr/>
        </p:nvSpPr>
        <p:spPr>
          <a:xfrm>
            <a:off x="1755648" y="2926080"/>
            <a:ext cx="347472" cy="347472"/>
          </a:xfrm>
          <a:prstGeom prst="ellipse">
            <a:avLst/>
          </a:prstGeom>
          <a:solidFill>
            <a:srgbClr val="5E977A"/>
          </a:solidFill>
          <a:ln/>
        </p:spPr>
      </p:sp>
      <p:sp>
        <p:nvSpPr>
          <p:cNvPr id="17" name="a2fade_tr0_3"/>
          <p:cNvSpPr/>
          <p:nvPr/>
        </p:nvSpPr>
        <p:spPr>
          <a:xfrm>
            <a:off x="2340864" y="3246120"/>
            <a:ext cx="36576" cy="1005840"/>
          </a:xfrm>
          <a:prstGeom prst="rect">
            <a:avLst/>
          </a:prstGeom>
          <a:solidFill>
            <a:srgbClr val="6B5B4B"/>
          </a:solidFill>
          <a:ln/>
        </p:spPr>
      </p:sp>
      <p:sp>
        <p:nvSpPr>
          <p:cNvPr id="18" name="a2fade_tc0_3"/>
          <p:cNvSpPr/>
          <p:nvPr/>
        </p:nvSpPr>
        <p:spPr>
          <a:xfrm>
            <a:off x="2185416" y="2926080"/>
            <a:ext cx="347472" cy="347472"/>
          </a:xfrm>
          <a:prstGeom prst="ellipse">
            <a:avLst/>
          </a:prstGeom>
          <a:solidFill>
            <a:srgbClr val="5E977A"/>
          </a:solidFill>
          <a:ln/>
        </p:spPr>
      </p:sp>
      <p:sp>
        <p:nvSpPr>
          <p:cNvPr id="19" name="a2fade_tr0_4"/>
          <p:cNvSpPr/>
          <p:nvPr/>
        </p:nvSpPr>
        <p:spPr>
          <a:xfrm>
            <a:off x="2770632" y="3246120"/>
            <a:ext cx="36576" cy="1005840"/>
          </a:xfrm>
          <a:prstGeom prst="rect">
            <a:avLst/>
          </a:prstGeom>
          <a:solidFill>
            <a:srgbClr val="6B5B4B"/>
          </a:solidFill>
          <a:ln/>
        </p:spPr>
      </p:sp>
      <p:sp>
        <p:nvSpPr>
          <p:cNvPr id="20" name="a2fade_tc0_4"/>
          <p:cNvSpPr/>
          <p:nvPr/>
        </p:nvSpPr>
        <p:spPr>
          <a:xfrm>
            <a:off x="2615184" y="2926080"/>
            <a:ext cx="347472" cy="347472"/>
          </a:xfrm>
          <a:prstGeom prst="ellipse">
            <a:avLst/>
          </a:prstGeom>
          <a:solidFill>
            <a:srgbClr val="5E977A"/>
          </a:solidFill>
          <a:ln/>
        </p:spPr>
      </p:sp>
      <p:sp>
        <p:nvSpPr>
          <p:cNvPr id="21" name="a3rise_w0"/>
          <p:cNvSpPr/>
          <p:nvPr/>
        </p:nvSpPr>
        <p:spPr>
          <a:xfrm>
            <a:off x="795528" y="4069080"/>
            <a:ext cx="2386584" cy="256032"/>
          </a:xfrm>
          <a:prstGeom prst="rect">
            <a:avLst/>
          </a:prstGeom>
          <a:solidFill>
            <a:srgbClr val="5C8DB8">
              <a:alpha val="55000"/>
            </a:srgbClr>
          </a:solidFill>
          <a:ln/>
        </p:spPr>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sp>
      <p:sp>
        <p:nvSpPr>
          <p:cNvPr id="26" name="a2fade_tc1_0"/>
          <p:cNvSpPr/>
          <p:nvPr/>
        </p:nvSpPr>
        <p:spPr>
          <a:xfrm>
            <a:off x="3502152" y="2926080"/>
            <a:ext cx="347472" cy="347472"/>
          </a:xfrm>
          <a:prstGeom prst="ellipse">
            <a:avLst/>
          </a:prstGeom>
          <a:solidFill>
            <a:srgbClr val="5E977A"/>
          </a:solidFill>
          <a:ln/>
        </p:spPr>
      </p:sp>
      <p:sp>
        <p:nvSpPr>
          <p:cNvPr id="27" name="a2fade_tr1_1"/>
          <p:cNvSpPr/>
          <p:nvPr/>
        </p:nvSpPr>
        <p:spPr>
          <a:xfrm>
            <a:off x="4087368" y="3246120"/>
            <a:ext cx="36576" cy="1005840"/>
          </a:xfrm>
          <a:prstGeom prst="rect">
            <a:avLst/>
          </a:prstGeom>
          <a:solidFill>
            <a:srgbClr val="6B5B4B"/>
          </a:solidFill>
          <a:ln/>
        </p:spPr>
      </p:sp>
      <p:sp>
        <p:nvSpPr>
          <p:cNvPr id="28" name="a2fade_tc1_1"/>
          <p:cNvSpPr/>
          <p:nvPr/>
        </p:nvSpPr>
        <p:spPr>
          <a:xfrm>
            <a:off x="3931920" y="2926080"/>
            <a:ext cx="347472" cy="347472"/>
          </a:xfrm>
          <a:prstGeom prst="ellipse">
            <a:avLst/>
          </a:prstGeom>
          <a:solidFill>
            <a:srgbClr val="5E977A"/>
          </a:solidFill>
          <a:ln/>
        </p:spPr>
      </p:sp>
      <p:sp>
        <p:nvSpPr>
          <p:cNvPr id="29" name="a2fade_tr1_2"/>
          <p:cNvSpPr/>
          <p:nvPr/>
        </p:nvSpPr>
        <p:spPr>
          <a:xfrm>
            <a:off x="4517136" y="3246120"/>
            <a:ext cx="36576" cy="1005840"/>
          </a:xfrm>
          <a:prstGeom prst="rect">
            <a:avLst/>
          </a:prstGeom>
          <a:solidFill>
            <a:srgbClr val="6B5B4B"/>
          </a:solidFill>
          <a:ln/>
        </p:spPr>
      </p:sp>
      <p:sp>
        <p:nvSpPr>
          <p:cNvPr id="30" name="a2fade_tc1_2"/>
          <p:cNvSpPr/>
          <p:nvPr/>
        </p:nvSpPr>
        <p:spPr>
          <a:xfrm>
            <a:off x="4361688" y="2926080"/>
            <a:ext cx="347472" cy="347472"/>
          </a:xfrm>
          <a:prstGeom prst="ellipse">
            <a:avLst/>
          </a:prstGeom>
          <a:solidFill>
            <a:srgbClr val="5E977A"/>
          </a:solidFill>
          <a:ln/>
        </p:spPr>
      </p:sp>
      <p:sp>
        <p:nvSpPr>
          <p:cNvPr id="31" name="a2fade_tr1_3"/>
          <p:cNvSpPr/>
          <p:nvPr/>
        </p:nvSpPr>
        <p:spPr>
          <a:xfrm>
            <a:off x="4946904" y="3246120"/>
            <a:ext cx="36576" cy="1005840"/>
          </a:xfrm>
          <a:prstGeom prst="rect">
            <a:avLst/>
          </a:prstGeom>
          <a:solidFill>
            <a:srgbClr val="6B5B4B"/>
          </a:solidFill>
          <a:ln/>
        </p:spPr>
      </p:sp>
      <p:sp>
        <p:nvSpPr>
          <p:cNvPr id="32" name="a2fade_tc1_3"/>
          <p:cNvSpPr/>
          <p:nvPr/>
        </p:nvSpPr>
        <p:spPr>
          <a:xfrm>
            <a:off x="4791456" y="2926080"/>
            <a:ext cx="347472" cy="347472"/>
          </a:xfrm>
          <a:prstGeom prst="ellipse">
            <a:avLst/>
          </a:prstGeom>
          <a:solidFill>
            <a:srgbClr val="5E977A"/>
          </a:solidFill>
          <a:ln/>
        </p:spPr>
      </p:sp>
      <p:sp>
        <p:nvSpPr>
          <p:cNvPr id="33" name="a2fade_tr1_4"/>
          <p:cNvSpPr/>
          <p:nvPr/>
        </p:nvSpPr>
        <p:spPr>
          <a:xfrm>
            <a:off x="5376672" y="3246120"/>
            <a:ext cx="36576" cy="1005840"/>
          </a:xfrm>
          <a:prstGeom prst="rect">
            <a:avLst/>
          </a:prstGeom>
          <a:solidFill>
            <a:srgbClr val="6B5B4B"/>
          </a:solidFill>
          <a:ln/>
        </p:spPr>
      </p:sp>
      <p:sp>
        <p:nvSpPr>
          <p:cNvPr id="34" name="a2fade_tc1_4"/>
          <p:cNvSpPr/>
          <p:nvPr/>
        </p:nvSpPr>
        <p:spPr>
          <a:xfrm>
            <a:off x="5221224" y="2926080"/>
            <a:ext cx="347472" cy="347472"/>
          </a:xfrm>
          <a:prstGeom prst="ellipse">
            <a:avLst/>
          </a:prstGeom>
          <a:solidFill>
            <a:srgbClr val="5E977A"/>
          </a:solidFill>
          <a:ln/>
        </p:spPr>
      </p:sp>
      <p:sp>
        <p:nvSpPr>
          <p:cNvPr id="35" name="a3rise_w1"/>
          <p:cNvSpPr/>
          <p:nvPr/>
        </p:nvSpPr>
        <p:spPr>
          <a:xfrm>
            <a:off x="3401568" y="3337560"/>
            <a:ext cx="2386584" cy="987552"/>
          </a:xfrm>
          <a:prstGeom prst="rect">
            <a:avLst/>
          </a:prstGeom>
          <a:solidFill>
            <a:srgbClr val="5C8DB8">
              <a:alpha val="55000"/>
            </a:srgbClr>
          </a:solidFill>
          <a:ln/>
        </p:spPr>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textbook NDVI-only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6F02A8BC-6223-2E80-6C8A-3569079AF614}"/>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sp>
      <p:sp>
        <p:nvSpPr>
          <p:cNvPr id="44" name="a8ping_d0"/>
          <p:cNvSpPr/>
          <p:nvPr/>
        </p:nvSpPr>
        <p:spPr>
          <a:xfrm>
            <a:off x="9101819" y="2231136"/>
            <a:ext cx="292608" cy="292608"/>
          </a:xfrm>
          <a:prstGeom prst="ellipse">
            <a:avLst/>
          </a:prstGeom>
          <a:ln w="25400">
            <a:solidFill>
              <a:srgbClr val="BE5F6D"/>
            </a:solidFill>
            <a:prstDash val="solid"/>
          </a:ln>
        </p:spPr>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14</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 We withdrew our own first test (58 % / 90 %): it had no chance baseline.</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BONUS CRITERIA · BEYOND THE PROOF OF CONCEPT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DOCUMENTATION &amp; REPRODUCIBILITY</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outputs committed · pinned requirements · example in/out</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BONUS · SCALABILITY BEYOND THE POC</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more EnMAP dates</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21" name="a6float_askt"/>
          <p:cNvSpPr txBox="1"/>
          <p:nvPr/>
        </p:nvSpPr>
        <p:spPr>
          <a:xfrm>
            <a:off x="960120" y="4800600"/>
            <a:ext cx="1033272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Our ask:  </a:t>
            </a:r>
            <a:r>
              <a:rPr lang="en-US" sz="1500" dirty="0">
                <a:solidFill>
                  <a:srgbClr val="FFFFFF"/>
                </a:solidFill>
                <a:latin typeface="Segoe UI" pitchFamily="34" charset="0"/>
                <a:ea typeface="Segoe UI" pitchFamily="34" charset="-122"/>
                <a:cs typeface="Segoe UI" pitchFamily="34" charset="-120"/>
              </a:rPr>
              <a:t>incubation to run a pilot with a Gulf agency or planting programme, mentor access on hyperspectral reading of mangroves, and Satellite 813 scenes when available.</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23" name="a7fade_ty"/>
          <p:cNvSpPr txBox="1"/>
          <p:nvPr/>
        </p:nvSpPr>
        <p:spPr>
          <a:xfrm>
            <a:off x="9052560" y="5833872"/>
            <a:ext cx="2395728" cy="411480"/>
          </a:xfrm>
          <a:prstGeom prst="rect">
            <a:avLst/>
          </a:prstGeom>
          <a:noFill/>
          <a:ln/>
        </p:spPr>
        <p:txBody>
          <a:bodyPr wrap="square" lIns="0" tIns="0" rIns="0" bIns="0" rtlCol="0" anchor="t"/>
          <a:lstStyle/>
          <a:p>
            <a:pPr marL="0" indent="0" algn="r">
              <a:lnSpc>
                <a:spcPct val="105000"/>
              </a:lnSpc>
              <a:buNone/>
            </a:pPr>
            <a:r>
              <a:rPr lang="en-US" sz="2000" dirty="0">
                <a:solidFill>
                  <a:srgbClr val="F1D9A0"/>
                </a:solidFill>
                <a:latin typeface="Segoe UI Semibold" pitchFamily="34" charset="0"/>
                <a:ea typeface="Segoe UI Semibold" pitchFamily="34" charset="-122"/>
                <a:cs typeface="Segoe UI Semibold" pitchFamily="34" charset="-120"/>
              </a:rPr>
              <a:t>Thank you</a:t>
            </a:r>
            <a:endParaRPr lang="en-US" sz="2000" dirty="0"/>
          </a:p>
        </p:txBody>
      </p:sp>
      <p:pic>
        <p:nvPicPr>
          <p:cNvPr id="24" name="a7fade_fae" descr="C:\Users\nahla\Desktop\UAE-Space-Hackatoon\deck_pptx\flag_ae.png"/>
          <p:cNvPicPr>
            <a:picLocks noChangeAspect="1"/>
          </p:cNvPicPr>
          <p:nvPr/>
        </p:nvPicPr>
        <p:blipFill>
          <a:blip r:embed="rId5"/>
          <a:stretch>
            <a:fillRect/>
          </a:stretch>
        </p:blipFill>
        <p:spPr>
          <a:xfrm>
            <a:off x="9326880" y="5934456"/>
            <a:ext cx="402336" cy="201168"/>
          </a:xfrm>
          <a:prstGeom prst="rect">
            <a:avLst/>
          </a:prstGeom>
        </p:spPr>
      </p:pic>
      <p:pic>
        <p:nvPicPr>
          <p:cNvPr id="25" name="a7fade_fbh" descr="C:\Users\nahla\Desktop\UAE-Space-Hackatoon\deck_pptx\flag_bh.png"/>
          <p:cNvPicPr>
            <a:picLocks noChangeAspect="1"/>
          </p:cNvPicPr>
          <p:nvPr/>
        </p:nvPicPr>
        <p:blipFill>
          <a:blip r:embed="rId6"/>
          <a:stretch>
            <a:fillRect/>
          </a:stretch>
        </p:blipFill>
        <p:spPr>
          <a:xfrm>
            <a:off x="9802368" y="5934456"/>
            <a:ext cx="338328" cy="201168"/>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par>
                                <p:cTn id="75" presetID="10" presetClass="entr" presetSubtype="0" decel="100000" fill="hold" grpId="0" nodeType="withEffect">
                                  <p:stCondLst>
                                    <p:cond delay="1790"/>
                                  </p:stCondLst>
                                  <p:childTnLst>
                                    <p:set>
                                      <p:cBhvr>
                                        <p:cTn id="76" dur="1" fill="hold">
                                          <p:stCondLst>
                                            <p:cond delay="0"/>
                                          </p:stCondLst>
                                        </p:cTn>
                                        <p:tgtEl>
                                          <p:spTgt spid="23"/>
                                        </p:tgtEl>
                                        <p:attrNameLst>
                                          <p:attrName>style.visibility</p:attrName>
                                        </p:attrNameLst>
                                      </p:cBhvr>
                                      <p:to>
                                        <p:strVal val="visible"/>
                                      </p:to>
                                    </p:set>
                                    <p:animEffect transition="in" filter="fade">
                                      <p:cBhvr>
                                        <p:cTn id="77" dur="600"/>
                                        <p:tgtEl>
                                          <p:spTgt spid="23"/>
                                        </p:tgtEl>
                                      </p:cBhvr>
                                    </p:animEffect>
                                  </p:childTnLst>
                                </p:cTn>
                              </p:par>
                              <p:par>
                                <p:cTn id="78" presetID="10" presetClass="entr" presetSubtype="0" decel="100000" fill="hold" grpId="0" nodeType="withEffect">
                                  <p:stCondLst>
                                    <p:cond delay="17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600"/>
                                        <p:tgtEl>
                                          <p:spTgt spid="24"/>
                                        </p:tgtEl>
                                      </p:cBhvr>
                                    </p:animEffect>
                                  </p:childTnLst>
                                </p:cTn>
                              </p:par>
                              <p:par>
                                <p:cTn id="81" presetID="10" presetClass="entr" presetSubtype="0" decel="100000" fill="hold" grpId="0" nodeType="withEffect">
                                  <p:stCondLst>
                                    <p:cond delay="179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p:bldP spid="25" grpId="0"/>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dirty="0">
                <a:solidFill>
                  <a:srgbClr val="D4E2EE"/>
                </a:solidFill>
                <a:latin typeface="Segoe UI Semibold" pitchFamily="34" charset="0"/>
                <a:ea typeface="Segoe UI Semibold" pitchFamily="34" charset="-122"/>
                <a:cs typeface="Segoe UI Semibold" pitchFamily="34" charset="-120"/>
              </a:rPr>
              <a:t>شكراً للإمارات</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Arab Emirates</a:t>
            </a:r>
            <a:r>
              <a:rPr lang="en-US" sz="2400" dirty="0">
                <a:solidFill>
                  <a:srgbClr val="FFFFFF"/>
                </a:solidFill>
                <a:latin typeface="Segoe UI Light" pitchFamily="34" charset="0"/>
                <a:ea typeface="Segoe UI Light" pitchFamily="34" charset="-122"/>
                <a:cs typeface="Segoe UI Light" pitchFamily="34" charset="-120"/>
              </a:rPr>
              <a:t> — 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gratitude  —  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textbook approach against ours,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textbook</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21</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2-minute product demo</a:t>
            </a:r>
            <a:endParaRPr lang="en-US" sz="3400" dirty="0"/>
          </a:p>
        </p:txBody>
      </p:sp>
      <p:sp>
        <p:nvSpPr>
          <p:cNvPr id="7" name="a1zoom_dframe"/>
          <p:cNvSpPr/>
          <p:nvPr/>
        </p:nvSpPr>
        <p:spPr>
          <a:xfrm>
            <a:off x="2154784" y="1636776"/>
            <a:ext cx="7882128" cy="4481703"/>
          </a:xfrm>
          <a:prstGeom prst="roundRect">
            <a:avLst>
              <a:gd name="adj" fmla="val 1632"/>
            </a:avLst>
          </a:prstGeom>
          <a:solidFill>
            <a:srgbClr val="FFFFFF"/>
          </a:solidFill>
          <a:ln w="15875">
            <a:solidFill>
              <a:srgbClr val="3F6E9E"/>
            </a:solidFill>
            <a:prstDash val="solid"/>
          </a:ln>
          <a:effectLst>
            <a:outerShdw blurRad="152400" dist="38100" dir="5400000" algn="bl" rotWithShape="0">
              <a:srgbClr val="1B2B40">
                <a:alpha val="12000"/>
              </a:srgbClr>
            </a:outerShdw>
          </a:effectLst>
        </p:spPr>
      </p:sp>
      <p:pic>
        <p:nvPicPr>
          <p:cNvPr id="6" name="video_demo">
            <a:hlinkClick r:id="" action="ppaction://media"/>
            <a:extLst>
              <a:ext uri="{FF2B5EF4-FFF2-40B4-BE49-F238E27FC236}">
                <a16:creationId xmlns:a16="http://schemas.microsoft.com/office/drawing/2014/main" id="{5C2E2877-78BC-41A9-257B-6997A08F2DB9}"/>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2209648" y="1691641"/>
            <a:ext cx="7772400" cy="4371975"/>
          </a:xfrm>
          <a:prstGeom prst="rect">
            <a:avLst/>
          </a:prstGeom>
        </p:spPr>
      </p:pic>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7" restart="whenNotActive" fill="hold" evtFilter="cancelBubble" nodeType="interactiveSeq">
                <p:stCondLst>
                  <p:cond evt="onClick" delay="0">
                    <p:tgtEl>
                      <p:spTgt spid="6"/>
                    </p:tgtEl>
                  </p:cond>
                </p:stCondLst>
                <p:endSync evt="end" delay="0">
                  <p:rtn val="all"/>
                </p:endSync>
                <p:childTnLst>
                  <p:par>
                    <p:cTn id="18" fill="hold">
                      <p:stCondLst>
                        <p:cond delay="0"/>
                      </p:stCondLst>
                      <p:childTnLst>
                        <p:par>
                          <p:cTn id="19" fill="hold">
                            <p:stCondLst>
                              <p:cond delay="0"/>
                            </p:stCondLst>
                            <p:childTnLst>
                              <p:par>
                                <p:cTn id="20" presetID="2" presetClass="mediacall" presetSubtype="0" fill="hold" nodeType="clickEffect">
                                  <p:stCondLst>
                                    <p:cond delay="0"/>
                                  </p:stCondLst>
                                  <p:childTnLst>
                                    <p:cmd type="call" cmd="togglePause">
                                      <p:cBhvr>
                                        <p:cTn id="21" dur="1" fill="hold"/>
                                        <p:tgtEl>
                                          <p:spTgt spid="6"/>
                                        </p:tgtEl>
                                      </p:cBhvr>
                                    </p:cmd>
                                  </p:childTnLst>
                                </p:cTn>
                              </p:par>
                            </p:childTnLst>
                          </p:cTn>
                        </p:par>
                      </p:childTnLst>
                    </p:cTn>
                  </p:par>
                </p:childTnLst>
              </p:cTn>
              <p:nextCondLst>
                <p:cond evt="onClick" delay="0">
                  <p:tgtEl>
                    <p:spTgt spid="6"/>
                  </p:tgtEl>
                </p:cond>
              </p:nextCondLst>
            </p:seq>
            <p:video>
              <p:cMediaNode vol="80000">
                <p:cTn id="22" fill="hold" display="0">
                  <p:stCondLst>
                    <p:cond delay="indefinite"/>
                  </p:stCondLst>
                </p:cTn>
                <p:tgtEl>
                  <p:spTgt spid="6"/>
                </p:tgtEl>
              </p:cMediaNode>
            </p:video>
          </p:childTnLst>
        </p:cTn>
      </p:par>
    </p:tnLst>
    <p:bldLst>
      <p:bldP spid="4" grpId="0" animBg="1"/>
      <p:bldP spid="5" grpId="0" animBg="1"/>
      <p:bldP spid="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4914</Words>
  <Application>Microsoft Office PowerPoint</Application>
  <PresentationFormat>Widescreen</PresentationFormat>
  <Paragraphs>464</Paragraphs>
  <Slides>22</Slides>
  <Notes>22</Notes>
  <HiddenSlides>0</HiddenSlides>
  <MMClips>4</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Segoe UI</vt:lpstr>
      <vt:lpstr>Segoe UI Light</vt:lpstr>
      <vt:lpstr>Segoe UI Semibold</vt:lpstr>
      <vt:lpstr>Office Theme</vt:lpstr>
      <vt:lpstr>PowerPoint Presentation</vt:lpstr>
      <vt:lpstr>One engineer, every role — delivered in the open</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The tide looks like tree loss — until you correct for it</vt:lpstr>
      <vt:lpstr>A stand average hides partial loss. 200 m cells do not.</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The textbook approach against ours, same alert rule</vt:lpstr>
      <vt:lpstr>Where it breaks — and what we do not claim</vt:lpstr>
      <vt:lpstr>The 2-minute product demo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2</cp:revision>
  <dcterms:created xsi:type="dcterms:W3CDTF">2026-10-17T16:33:01Z</dcterms:created>
  <dcterms:modified xsi:type="dcterms:W3CDTF">2026-10-17T16:33:06Z</dcterms:modified>
</cp:coreProperties>
</file>