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EA3A-4F26-A33C-D7E04FF38550}"/>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EA3A-4F26-A33C-D7E04FF3855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4A01-4DE6-B57C-4574497F9B68}"/>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4A01-4DE6-B57C-4574497F9B68}"/>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2793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"The Gulf is planting mangroves at record scale: 100 million pledged by the UAE, more than 100 million by Saudi Arabia. In February the first GCC mangrove monitoring guide was published.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whole method, left to right.
We cut every stand into 200-metre cells and read every Sentinel-2 date. The tide-aware model — in blue — predicts what each stand and each cell should look like.
If reality falls too far below, the alert rule — in rose — fires. The decision layer — in sand — adds the cell map and the carbon at stake, with EnMAP and sub-metre imagery as independent checks."
DO: point along the boxes as you speak, then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"And this is what the user experiences.
Every five days a new scene runs through the model. If an alert fires, we first check the flagged cells on sub-metre imagery, then send the alert with the cell map and the carbon at stake — and the inspector visits only those cells.
If nothing changes, the user still gets a monthly report. No dashboards to watch: the system comes to them."
DO: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(point at the right card at the bottom)
"And we tested the textbook recipe — NDVI alone, no tide model — on the same stands with the same alert rule: 1.61 false alarms per stand per year. Ours: 0.96. Forty percent fewer wasted site visits, and the tide model is most of that gain.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"Our second innovation: averages hide damage.
Real data from stand 5: watch the cells turn red while the stand average barely moves. Three of our five real conversions were found only by the cells.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"So how is this different from what exists?
Field surveys are periodic. Satellite maps are one-off. Global Mangrove Watch sends free monthly loss alerts — and we see it as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"Does it work on real events? Five real conversions, all confirmed on 30-to-50-centimetre imagery.
The blue bar is the window between the last intact image and the first image showing works; the diamond is when our alert started. Every alert falls inside that window." (point at stand 5's diamond)
"This is detection while the works happen — not a prediction.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"Beyond the proof of concept: everything is public and reproducible — the notebook re-runs in 24 seconds, and a clean-machine test gives the same numbers.
It already transferred to unseen stands and a second country, at under five dollars of compute per site per year. Next: Satellite 813, gIQ, and a pilot customer."
DO: press →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"Who built this? A team of one. I held every role on this slide — satellite pipeline, statistics, product and business case.
My background is AI and machine-learning engineering,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(slow, look at the camera): "A working product, five real events confirmed, every number reproducible.
Every lost mangrove leaves a trace — and we find it from space.
Our ask: incubation, to run a pilot with a Gulf agency or planting programme. Thank you — I'm happy to take your questions."
DO: stop talking; stay on this slide during the Q&amp;A. If asked to see the product again: last slide (backup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5.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6.png"/><Relationship Id="rId11" Type="http://schemas.openxmlformats.org/officeDocument/2006/relationships/image" Target="../media/image17.png"/><Relationship Id="rId5" Type="http://schemas.openxmlformats.org/officeDocument/2006/relationships/image" Target="../media/image5.png"/><Relationship Id="rId10" Type="http://schemas.openxmlformats.org/officeDocument/2006/relationships/image" Target="../media/image16.png"/><Relationship Id="rId4" Type="http://schemas.openxmlformats.org/officeDocument/2006/relationships/notesSlide" Target="../notesSlides/notesSlide3.xml"/><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21.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20.png"/><Relationship Id="rId11" Type="http://schemas.openxmlformats.org/officeDocument/2006/relationships/image" Target="../media/image23.png"/><Relationship Id="rId5" Type="http://schemas.openxmlformats.org/officeDocument/2006/relationships/image" Target="../media/image19.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png"/><Relationship Id="rId7"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4.png"/><Relationship Id="rId10" Type="http://schemas.openxmlformats.org/officeDocument/2006/relationships/image" Target="../media/image23.png"/><Relationship Id="rId4" Type="http://schemas.openxmlformats.org/officeDocument/2006/relationships/image" Target="../media/image6.pn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9.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chart" Target="../charts/char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33.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5.png"/><Relationship Id="rId7"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5.png"/><Relationship Id="rId7" Type="http://schemas.openxmlformats.org/officeDocument/2006/relationships/image" Target="../media/image19.png"/><Relationship Id="rId12"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39.png"/><Relationship Id="rId11" Type="http://schemas.openxmlformats.org/officeDocument/2006/relationships/image" Target="../media/image42.png"/><Relationship Id="rId5" Type="http://schemas.openxmlformats.org/officeDocument/2006/relationships/image" Target="../media/image38.png"/><Relationship Id="rId10" Type="http://schemas.openxmlformats.org/officeDocument/2006/relationships/image" Target="../media/image41.png"/><Relationship Id="rId4" Type="http://schemas.openxmlformats.org/officeDocument/2006/relationships/image" Target="../media/image6.png"/><Relationship Id="rId9" Type="http://schemas.openxmlformats.org/officeDocument/2006/relationships/image" Target="../media/image40.png"/></Relationships>
</file>

<file path=ppt/slides/_rels/slide16.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5.png"/><Relationship Id="rId7"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5.png"/><Relationship Id="rId11" Type="http://schemas.openxmlformats.org/officeDocument/2006/relationships/image" Target="../media/image47.png"/><Relationship Id="rId5" Type="http://schemas.openxmlformats.org/officeDocument/2006/relationships/image" Target="../media/image44.png"/><Relationship Id="rId10" Type="http://schemas.openxmlformats.org/officeDocument/2006/relationships/image" Target="../media/image26.png"/><Relationship Id="rId4" Type="http://schemas.openxmlformats.org/officeDocument/2006/relationships/image" Target="../media/image6.png"/><Relationship Id="rId9"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8.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sp>
      <p:pic>
        <p:nvPicPr>
          <p:cNvPr id="4" name="video_cover">
            <a:hlinkClick r:id="" action="ppaction://media"/>
            <a:extLst>
              <a:ext uri="{FF2B5EF4-FFF2-40B4-BE49-F238E27FC236}">
                <a16:creationId xmlns:a16="http://schemas.microsoft.com/office/drawing/2014/main" id="{9A745E14-A59C-569A-5D72-5DBBD0FE126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E3EDF8"/>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8" restart="whenNotActive" fill="hold" evtFilter="cancelBubble" nodeType="interactiveSeq">
                <p:stCondLst>
                  <p:cond evt="onClick" delay="0">
                    <p:tgtEl>
                      <p:spTgt spid="4"/>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4"/>
                                        </p:tgtEl>
                                      </p:cBhvr>
                                    </p:cmd>
                                  </p:childTnLst>
                                </p:cTn>
                              </p:par>
                            </p:childTnLst>
                          </p:cTn>
                        </p:par>
                      </p:childTnLst>
                    </p:cTn>
                  </p:par>
                </p:childTnLst>
              </p:cTn>
              <p:nextCondLst>
                <p:cond evt="onClick" delay="0">
                  <p:tgtEl>
                    <p:spTgt spid="4"/>
                  </p:tgtEl>
                </p:cond>
              </p:nextCondLst>
            </p:seq>
            <p:video>
              <p:cMediaNode vol="80000" mute="1">
                <p:cTn id="93"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CC1D7318-0FD1-C88F-CB56-A0E34985B529}"/>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5E977A"/>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5E977A"/>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5E977A"/>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5E977A"/>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5E977A"/>
          </a:solidFill>
          <a:ln/>
        </p:spPr>
      </p:sp>
      <p:sp>
        <p:nvSpPr>
          <p:cNvPr id="21" name="a3rise_w0"/>
          <p:cNvSpPr/>
          <p:nvPr/>
        </p:nvSpPr>
        <p:spPr>
          <a:xfrm>
            <a:off x="795528" y="4069080"/>
            <a:ext cx="2386584" cy="256032"/>
          </a:xfrm>
          <a:prstGeom prst="rect">
            <a:avLst/>
          </a:prstGeom>
          <a:solidFill>
            <a:srgbClr val="5C8DB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5E977A"/>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5E977A"/>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5E977A"/>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5E977A"/>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5E977A"/>
          </a:solidFill>
          <a:ln/>
        </p:spPr>
      </p:sp>
      <p:sp>
        <p:nvSpPr>
          <p:cNvPr id="35" name="a3rise_w1"/>
          <p:cNvSpPr/>
          <p:nvPr/>
        </p:nvSpPr>
        <p:spPr>
          <a:xfrm>
            <a:off x="3401568" y="3337560"/>
            <a:ext cx="2386584" cy="987552"/>
          </a:xfrm>
          <a:prstGeom prst="rect">
            <a:avLst/>
          </a:prstGeom>
          <a:solidFill>
            <a:srgbClr val="5C8DB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textbook NDVI-only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7D33868F-86AF-81CF-E6E8-BFBE3A8DF519}"/>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2"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700"/>
                                        <p:tgtEl>
                                          <p:spTgt spid="12"/>
                                        </p:tgtEl>
                                      </p:cBhvr>
                                    </p:animEffect>
                                    <p:anim calcmode="lin" valueType="num">
                                      <p:cBhvr additive="base">
                                        <p:cTn id="15" dur="700" fill="hold"/>
                                        <p:tgtEl>
                                          <p:spTgt spid="12"/>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2" grpId="0">
        <p:bldAsOne/>
      </p:bldGraphic>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BE5F6D"/>
            </a:solidFill>
            <a:prstDash val="solid"/>
          </a:ln>
        </p:spPr>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rl"/>
          <p:cNvSpPr txBox="1"/>
          <p:nvPr/>
        </p:nvSpPr>
        <p:spPr>
          <a:xfrm>
            <a:off x="777240" y="1828800"/>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REPRODUCIBILITY</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45720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SCALABILITY</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av_c"/>
          <p:cNvSpPr/>
          <p:nvPr/>
        </p:nvSpPr>
        <p:spPr>
          <a:xfrm>
            <a:off x="804672" y="1920240"/>
            <a:ext cx="658368" cy="658368"/>
          </a:xfrm>
          <a:prstGeom prst="ellipse">
            <a:avLst/>
          </a:prstGeom>
          <a:solidFill>
            <a:srgbClr val="3F6E9E">
              <a:alpha val="18000"/>
            </a:srgbClr>
          </a:solidFill>
          <a:ln w="12700">
            <a:solidFill>
              <a:srgbClr val="3F6E9E"/>
            </a:solidFill>
            <a:prstDash val="solid"/>
          </a:ln>
        </p:spPr>
      </p:sp>
      <p:pic>
        <p:nvPicPr>
          <p:cNvPr id="9" name="a1float_av_i" descr="preencoded.png"/>
          <p:cNvPicPr>
            <a:picLocks noChangeAspect="1"/>
          </p:cNvPicPr>
          <p:nvPr/>
        </p:nvPicPr>
        <p:blipFill>
          <a:blip r:embed="rId5"/>
          <a:stretch>
            <a:fillRect/>
          </a:stretch>
        </p:blipFill>
        <p:spPr>
          <a:xfrm>
            <a:off x="962680" y="2078248"/>
            <a:ext cx="342351" cy="342351"/>
          </a:xfrm>
          <a:prstGeom prst="rect">
            <a:avLst/>
          </a:prstGeom>
        </p:spPr>
      </p:pic>
      <p:sp>
        <p:nvSpPr>
          <p:cNvPr id="10" name="a1float_name"/>
          <p:cNvSpPr txBox="1"/>
          <p:nvPr/>
        </p:nvSpPr>
        <p:spPr>
          <a:xfrm>
            <a:off x="1627632" y="1892808"/>
            <a:ext cx="2926080" cy="438912"/>
          </a:xfrm>
          <a:prstGeom prst="rect">
            <a:avLst/>
          </a:prstGeom>
          <a:noFill/>
          <a:ln/>
        </p:spPr>
        <p:txBody>
          <a:bodyPr wrap="square" lIns="0" tIns="0" rIns="0" bIns="0" rtlCol="0" anchor="t"/>
          <a:lstStyle/>
          <a:p>
            <a:pPr marL="0" indent="0" algn="l">
              <a:lnSpc>
                <a:spcPct val="105000"/>
              </a:lnSpc>
              <a:buNone/>
            </a:pPr>
            <a:r>
              <a:rPr lang="en-US" sz="2400" dirty="0">
                <a:solidFill>
                  <a:srgbClr val="1B2B40"/>
                </a:solidFill>
                <a:latin typeface="Segoe UI Semibold" pitchFamily="34" charset="0"/>
                <a:ea typeface="Segoe UI Semibold" pitchFamily="34" charset="-122"/>
                <a:cs typeface="Segoe UI Semibold" pitchFamily="34" charset="-120"/>
              </a:rPr>
              <a:t>Nahla Nabil</a:t>
            </a:r>
            <a:endParaRPr lang="en-US" sz="2400" dirty="0"/>
          </a:p>
        </p:txBody>
      </p:sp>
      <p:sp>
        <p:nvSpPr>
          <p:cNvPr id="11" name="a1float_role"/>
          <p:cNvSpPr txBox="1"/>
          <p:nvPr/>
        </p:nvSpPr>
        <p:spPr>
          <a:xfrm>
            <a:off x="1627632" y="2331720"/>
            <a:ext cx="2926080" cy="274320"/>
          </a:xfrm>
          <a:prstGeom prst="rect">
            <a:avLst/>
          </a:prstGeom>
          <a:noFill/>
          <a:ln/>
        </p:spPr>
        <p:txBody>
          <a:bodyPr wrap="square" lIns="0" tIns="0" rIns="0" bIns="0" rtlCol="0" anchor="t"/>
          <a:lstStyle/>
          <a:p>
            <a:pPr marL="0" indent="0" algn="l">
              <a:lnSpc>
                <a:spcPct val="105000"/>
              </a:lnSpc>
              <a:buNone/>
            </a:pPr>
            <a:r>
              <a:rPr lang="en-US" sz="1300" dirty="0">
                <a:solidFill>
                  <a:srgbClr val="5F738A"/>
                </a:solidFill>
                <a:latin typeface="Segoe UI" pitchFamily="34" charset="0"/>
                <a:ea typeface="Segoe UI" pitchFamily="34" charset="-122"/>
                <a:cs typeface="Segoe UI" pitchFamily="34" charset="-120"/>
              </a:rPr>
              <a:t>Team lead  ·  Bahrain</a:t>
            </a:r>
            <a:endParaRPr lang="en-US" sz="1300" dirty="0"/>
          </a:p>
        </p:txBody>
      </p:sp>
      <p:sp>
        <p:nvSpPr>
          <p:cNvPr id="12" name="a2fade_l1"/>
          <p:cNvSpPr txBox="1"/>
          <p:nvPr/>
        </p:nvSpPr>
        <p:spPr>
          <a:xfrm>
            <a:off x="804672" y="280720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3" name="a2fade_skills"/>
          <p:cNvSpPr txBox="1"/>
          <p:nvPr/>
        </p:nvSpPr>
        <p:spPr>
          <a:xfrm>
            <a:off x="804672" y="3090672"/>
            <a:ext cx="3749040" cy="123444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B2B40"/>
                </a:solidFill>
                <a:latin typeface="Segoe UI" pitchFamily="34" charset="0"/>
                <a:ea typeface="Segoe UI" pitchFamily="34" charset="-122"/>
                <a:cs typeface="Segoe UI" pitchFamily="34" charset="-120"/>
              </a:rPr>
              <a:t>AI / LLM backend engineering</a:t>
            </a:r>
            <a:endParaRPr lang="en-US" sz="1300" dirty="0"/>
          </a:p>
          <a:p>
            <a:pPr marL="177800" indent="-177800">
              <a:spcAft>
                <a:spcPts val="400"/>
              </a:spcAft>
              <a:buSzPct val="100000"/>
              <a:buChar char="•"/>
            </a:pPr>
            <a:r>
              <a:rPr lang="en-US" sz="1300" dirty="0">
                <a:solidFill>
                  <a:srgbClr val="1B2B40"/>
                </a:solidFill>
                <a:latin typeface="Segoe UI" pitchFamily="34" charset="0"/>
                <a:ea typeface="Segoe UI" pitchFamily="34" charset="-122"/>
                <a:cs typeface="Segoe UI" pitchFamily="34" charset="-120"/>
              </a:rPr>
              <a:t>Machine learning &amp; computer vision (deepfake detection)</a:t>
            </a:r>
            <a:endParaRPr lang="en-US" sz="1300" dirty="0"/>
          </a:p>
          <a:p>
            <a:pPr marL="177800" indent="-177800">
              <a:spcAft>
                <a:spcPts val="400"/>
              </a:spcAft>
              <a:buSzPct val="100000"/>
              <a:buChar char="•"/>
            </a:pPr>
            <a:r>
              <a:rPr lang="en-US" sz="1300" dirty="0">
                <a:solidFill>
                  <a:srgbClr val="1B2B40"/>
                </a:solidFill>
                <a:latin typeface="Segoe UI" pitchFamily="34" charset="0"/>
                <a:ea typeface="Segoe UI" pitchFamily="34" charset="-122"/>
                <a:cs typeface="Segoe UI" pitchFamily="34" charset="-120"/>
              </a:rPr>
              <a:t>Federated learning · semantic search systems</a:t>
            </a:r>
            <a:endParaRPr lang="en-US" sz="1300" dirty="0"/>
          </a:p>
          <a:p>
            <a:pPr marL="177800" indent="-177800">
              <a:spcAft>
                <a:spcPts val="400"/>
              </a:spcAft>
              <a:buSzPct val="100000"/>
              <a:buChar char="•"/>
            </a:pPr>
            <a:r>
              <a:rPr lang="en-US" sz="1300" dirty="0">
                <a:solidFill>
                  <a:srgbClr val="1B2B40"/>
                </a:solidFill>
                <a:latin typeface="Segoe UI" pitchFamily="34" charset="0"/>
                <a:ea typeface="Segoe UI" pitchFamily="34" charset="-122"/>
                <a:cs typeface="Segoe UI" pitchFamily="34" charset="-120"/>
              </a:rPr>
              <a:t>Python geospatial stack</a:t>
            </a:r>
            <a:endParaRPr lang="en-US" sz="1300" dirty="0"/>
          </a:p>
        </p:txBody>
      </p:sp>
      <p:sp>
        <p:nvSpPr>
          <p:cNvPr id="14" name="a3fade_l2"/>
          <p:cNvSpPr txBox="1"/>
          <p:nvPr/>
        </p:nvSpPr>
        <p:spPr>
          <a:xfrm>
            <a:off x="804672" y="438912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5" name="a3fade_comm"/>
          <p:cNvSpPr txBox="1"/>
          <p:nvPr/>
        </p:nvSpPr>
        <p:spPr>
          <a:xfrm>
            <a:off x="804672" y="4645152"/>
            <a:ext cx="3703320" cy="5029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NASA Space Apps Challenge local lead: organising and mentoring space-data teams</a:t>
            </a:r>
            <a:endParaRPr lang="en-US" sz="1300" dirty="0"/>
          </a:p>
        </p:txBody>
      </p:sp>
      <p:sp>
        <p:nvSpPr>
          <p:cNvPr id="16" name="a3fade_l3"/>
          <p:cNvSpPr txBox="1"/>
          <p:nvPr/>
        </p:nvSpPr>
        <p:spPr>
          <a:xfrm>
            <a:off x="804672" y="523036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HOW ONE PERSON DELIVERED THIS</a:t>
            </a:r>
            <a:endParaRPr lang="en-US" sz="1100" dirty="0"/>
          </a:p>
        </p:txBody>
      </p:sp>
      <p:sp>
        <p:nvSpPr>
          <p:cNvPr id="17" name="a3fade_ai"/>
          <p:cNvSpPr txBox="1"/>
          <p:nvPr/>
        </p:nvSpPr>
        <p:spPr>
          <a:xfrm>
            <a:off x="804672" y="5486400"/>
            <a:ext cx="3703320" cy="64008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An AI-assisted engineering workflow (Claude Code) that I direct and review; every number is reproducible from the public code.</a:t>
            </a:r>
            <a:endParaRPr lang="en-US" sz="1200" dirty="0"/>
          </a:p>
        </p:txBody>
      </p:sp>
      <p:sp>
        <p:nvSpPr>
          <p:cNvPr id="18"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19"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sp>
      <p:pic>
        <p:nvPicPr>
          <p:cNvPr id="21"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2"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3"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4"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sp>
      <p:pic>
        <p:nvPicPr>
          <p:cNvPr id="26"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7"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8"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29"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0"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sp>
      <p:pic>
        <p:nvPicPr>
          <p:cNvPr id="31"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2"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3"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4"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sp>
      <p:pic>
        <p:nvPicPr>
          <p:cNvPr id="36"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7"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8"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39"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0"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sp>
      <p:pic>
        <p:nvPicPr>
          <p:cNvPr id="41"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2"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3"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4"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5"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sp>
      <p:pic>
        <p:nvPicPr>
          <p:cNvPr id="46"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7"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8"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49"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sp>
      <p:sp>
        <p:nvSpPr>
          <p:cNvPr id="50"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47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600"/>
                                        <p:tgtEl>
                                          <p:spTgt spid="18"/>
                                        </p:tgtEl>
                                      </p:cBhvr>
                                    </p:animEffect>
                                  </p:childTnLst>
                                </p:cTn>
                              </p:par>
                              <p:par>
                                <p:cTn id="35" presetID="10"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par>
                                <p:cTn id="41" presetID="42" presetClass="entr" presetSubtype="0" decel="100000" fill="hold" grpId="0" nodeType="withEffect">
                                  <p:stCondLst>
                                    <p:cond delay="69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700"/>
                                        <p:tgtEl>
                                          <p:spTgt spid="19"/>
                                        </p:tgtEl>
                                      </p:cBhvr>
                                    </p:animEffect>
                                    <p:anim calcmode="lin" valueType="num">
                                      <p:cBhvr additive="base">
                                        <p:cTn id="44" dur="700" fill="hold"/>
                                        <p:tgtEl>
                                          <p:spTgt spid="19"/>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700"/>
                                        <p:tgtEl>
                                          <p:spTgt spid="20"/>
                                        </p:tgtEl>
                                      </p:cBhvr>
                                    </p:animEffect>
                                    <p:anim calcmode="lin" valueType="num">
                                      <p:cBhvr additive="base">
                                        <p:cTn id="48" dur="700" fill="hold"/>
                                        <p:tgtEl>
                                          <p:spTgt spid="20"/>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anim calcmode="lin" valueType="num">
                                      <p:cBhvr additive="base">
                                        <p:cTn id="52" dur="700" fill="hold"/>
                                        <p:tgtEl>
                                          <p:spTgt spid="21"/>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69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700"/>
                                        <p:tgtEl>
                                          <p:spTgt spid="22"/>
                                        </p:tgtEl>
                                      </p:cBhvr>
                                    </p:animEffect>
                                    <p:anim calcmode="lin" valueType="num">
                                      <p:cBhvr additive="base">
                                        <p:cTn id="56" dur="700" fill="hold"/>
                                        <p:tgtEl>
                                          <p:spTgt spid="22"/>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69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700"/>
                                        <p:tgtEl>
                                          <p:spTgt spid="23"/>
                                        </p:tgtEl>
                                      </p:cBhvr>
                                    </p:animEffect>
                                    <p:anim calcmode="lin" valueType="num">
                                      <p:cBhvr additive="base">
                                        <p:cTn id="60" dur="700" fill="hold"/>
                                        <p:tgtEl>
                                          <p:spTgt spid="23"/>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69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700"/>
                                        <p:tgtEl>
                                          <p:spTgt spid="24"/>
                                        </p:tgtEl>
                                      </p:cBhvr>
                                    </p:animEffect>
                                    <p:anim calcmode="lin" valueType="num">
                                      <p:cBhvr additive="base">
                                        <p:cTn id="64" dur="700" fill="hold"/>
                                        <p:tgtEl>
                                          <p:spTgt spid="24"/>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69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00"/>
                                        <p:tgtEl>
                                          <p:spTgt spid="25"/>
                                        </p:tgtEl>
                                      </p:cBhvr>
                                    </p:animEffect>
                                    <p:anim calcmode="lin" valueType="num">
                                      <p:cBhvr additive="base">
                                        <p:cTn id="68" dur="7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700"/>
                                        <p:tgtEl>
                                          <p:spTgt spid="26"/>
                                        </p:tgtEl>
                                      </p:cBhvr>
                                    </p:animEffect>
                                    <p:anim calcmode="lin" valueType="num">
                                      <p:cBhvr additive="base">
                                        <p:cTn id="72" dur="700" fill="hold"/>
                                        <p:tgtEl>
                                          <p:spTgt spid="26"/>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69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700"/>
                                        <p:tgtEl>
                                          <p:spTgt spid="27"/>
                                        </p:tgtEl>
                                      </p:cBhvr>
                                    </p:animEffect>
                                    <p:anim calcmode="lin" valueType="num">
                                      <p:cBhvr additive="base">
                                        <p:cTn id="76" dur="700" fill="hold"/>
                                        <p:tgtEl>
                                          <p:spTgt spid="27"/>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69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00"/>
                                        <p:tgtEl>
                                          <p:spTgt spid="28"/>
                                        </p:tgtEl>
                                      </p:cBhvr>
                                    </p:animEffect>
                                    <p:anim calcmode="lin" valueType="num">
                                      <p:cBhvr additive="base">
                                        <p:cTn id="80" dur="700" fill="hold"/>
                                        <p:tgtEl>
                                          <p:spTgt spid="28"/>
                                        </p:tgtEl>
                                        <p:attrNameLst>
                                          <p:attrName>ppt_y</p:attrName>
                                        </p:attrNameLst>
                                      </p:cBhvr>
                                      <p:tavLst>
                                        <p:tav tm="0">
                                          <p:val>
                                            <p:strVal val="#ppt_y+0.03"/>
                                          </p:val>
                                        </p:tav>
                                        <p:tav tm="100000">
                                          <p:val>
                                            <p:strVal val="#ppt_y"/>
                                          </p:val>
                                        </p:tav>
                                      </p:tavLst>
                                    </p:anim>
                                  </p:childTnLst>
                                </p:cTn>
                              </p:par>
                              <p:par>
                                <p:cTn id="81" presetID="10" presetClass="entr" presetSubtype="0" decel="100000" fill="hold" grpId="0" nodeType="withEffect">
                                  <p:stCondLst>
                                    <p:cond delay="910"/>
                                  </p:stCondLst>
                                  <p:childTnLst>
                                    <p:set>
                                      <p:cBhvr>
                                        <p:cTn id="82" dur="1" fill="hold">
                                          <p:stCondLst>
                                            <p:cond delay="0"/>
                                          </p:stCondLst>
                                        </p:cTn>
                                        <p:tgtEl>
                                          <p:spTgt spid="14"/>
                                        </p:tgtEl>
                                        <p:attrNameLst>
                                          <p:attrName>style.visibility</p:attrName>
                                        </p:attrNameLst>
                                      </p:cBhvr>
                                      <p:to>
                                        <p:strVal val="visible"/>
                                      </p:to>
                                    </p:set>
                                    <p:animEffect transition="in" filter="fade">
                                      <p:cBhvr>
                                        <p:cTn id="83" dur="600"/>
                                        <p:tgtEl>
                                          <p:spTgt spid="14"/>
                                        </p:tgtEl>
                                      </p:cBhvr>
                                    </p:animEffect>
                                  </p:childTnLst>
                                </p:cTn>
                              </p:par>
                              <p:par>
                                <p:cTn id="84" presetID="10" presetClass="entr" presetSubtype="0" decel="100000" fill="hold" grpId="0" nodeType="withEffect">
                                  <p:stCondLst>
                                    <p:cond delay="91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decel="100000" fill="hold" grpId="0" nodeType="withEffect">
                                  <p:stCondLst>
                                    <p:cond delay="91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decel="100000" fill="hold" grpId="0" nodeType="withEffect">
                                  <p:stCondLst>
                                    <p:cond delay="91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600"/>
                                        <p:tgtEl>
                                          <p:spTgt spid="17"/>
                                        </p:tgtEl>
                                      </p:cBhvr>
                                    </p:animEffect>
                                  </p:childTnLst>
                                </p:cTn>
                              </p:par>
                              <p:par>
                                <p:cTn id="93" presetID="42" presetClass="entr" presetSubtype="0" decel="100000" fill="hold" grpId="0" nodeType="withEffect">
                                  <p:stCondLst>
                                    <p:cond delay="91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700"/>
                                        <p:tgtEl>
                                          <p:spTgt spid="29"/>
                                        </p:tgtEl>
                                      </p:cBhvr>
                                    </p:animEffect>
                                    <p:anim calcmode="lin" valueType="num">
                                      <p:cBhvr additive="base">
                                        <p:cTn id="96" dur="700" fill="hold"/>
                                        <p:tgtEl>
                                          <p:spTgt spid="2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13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35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p:bldP spid="22" grpId="0" animBg="1"/>
      <p:bldP spid="23" grpId="0" animBg="1"/>
      <p:bldP spid="24" grpId="0" animBg="1"/>
      <p:bldP spid="25" grpId="0" animBg="1"/>
      <p:bldP spid="26" grpId="0"/>
      <p:bldP spid="27" grpId="0" animBg="1"/>
      <p:bldP spid="28" grpId="0" animBg="1"/>
      <p:bldP spid="29" grpId="0" animBg="1"/>
      <p:bldP spid="30" grpId="0" animBg="1"/>
      <p:bldP spid="31" grpId="0"/>
      <p:bldP spid="32" grpId="0" animBg="1"/>
      <p:bldP spid="33" grpId="0" animBg="1"/>
      <p:bldP spid="34" grpId="0" animBg="1"/>
      <p:bldP spid="35" grpId="0" animBg="1"/>
      <p:bldP spid="36" grpId="0"/>
      <p:bldP spid="37" grpId="0" animBg="1"/>
      <p:bldP spid="38" grpId="0" animBg="1"/>
      <p:bldP spid="39" grpId="0" animBg="1"/>
      <p:bldP spid="40" grpId="0" animBg="1"/>
      <p:bldP spid="41" grpId="0"/>
      <p:bldP spid="42" grpId="0" animBg="1"/>
      <p:bldP spid="43" grpId="0" animBg="1"/>
      <p:bldP spid="44" grpId="0" animBg="1"/>
      <p:bldP spid="45" grpId="0" animBg="1"/>
      <p:bldP spid="46" grpId="0"/>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FFFFFF"/>
          </a:solidFill>
          <a:ln w="15875">
            <a:solidFill>
              <a:srgbClr val="3F6E9E"/>
            </a:solidFill>
            <a:prstDash val="solid"/>
          </a:ln>
          <a:effectLst>
            <a:outerShdw blurRad="152400" dist="38100" dir="5400000" algn="bl" rotWithShape="0">
              <a:srgbClr val="1B2B40">
                <a:alpha val="12000"/>
              </a:srgbClr>
            </a:outerShdw>
          </a:effectLst>
        </p:spPr>
      </p:sp>
      <p:pic>
        <p:nvPicPr>
          <p:cNvPr id="6" name="video_demo">
            <a:hlinkClick r:id="" action="ppaction://media"/>
            <a:extLst>
              <a:ext uri="{FF2B5EF4-FFF2-40B4-BE49-F238E27FC236}">
                <a16:creationId xmlns:a16="http://schemas.microsoft.com/office/drawing/2014/main" id="{D88FAC68-E837-9336-46DB-9251801FC7D9}"/>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4108</Words>
  <Application>Microsoft Office PowerPoint</Application>
  <PresentationFormat>Widescreen</PresentationFormat>
  <Paragraphs>363</Paragraphs>
  <Slides>18</Slides>
  <Notes>18</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Segoe UI</vt:lpstr>
      <vt:lpstr>Segoe UI Light</vt:lpstr>
      <vt:lpstr>Segoe UI Semibold</vt:lpstr>
      <vt:lpstr>Office Theme</vt:lpstr>
      <vt:lpstr>PowerPoint Presentation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One engineer, every role — delivered in the open</vt:lpstr>
      <vt:lpstr>PowerPoint Presentation</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2026-10-17T16:00:08Z</dcterms:created>
  <dcterms:modified xsi:type="dcterms:W3CDTF">2026-10-17T16:00:18Z</dcterms:modified>
</cp:coreProperties>
</file>