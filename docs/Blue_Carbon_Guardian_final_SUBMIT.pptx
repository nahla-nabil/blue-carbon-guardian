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79" r:id="rId12"/>
    <p:sldId id="266" r:id="rId13"/>
    <p:sldId id="267" r:id="rId14"/>
    <p:sldId id="280" r:id="rId15"/>
    <p:sldId id="268" r:id="rId16"/>
    <p:sldId id="269" r:id="rId17"/>
    <p:sldId id="270" r:id="rId18"/>
    <p:sldId id="271" r:id="rId19"/>
    <p:sldId id="272" r:id="rId20"/>
    <p:sldId id="281" r:id="rId21"/>
    <p:sldId id="282" r:id="rId22"/>
    <p:sldId id="273" r:id="rId23"/>
    <p:sldId id="278" r:id="rId24"/>
    <p:sldId id="274" r:id="rId25"/>
    <p:sldId id="283" r:id="rId34"/>
    <p:sldId id="284" r:id="rId35"/>
    <p:sldId id="275" r:id="rId26"/>
    <p:sldId id="276" r:id="rId27"/>
    <p:sldId id="277"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0202" autoAdjust="0"/>
  </p:normalViewPr>
  <p:slideViewPr>
    <p:cSldViewPr snapToGrid="0" snapToObjects="1">
      <p:cViewPr>
        <p:scale>
          <a:sx n="50" d="100"/>
          <a:sy n="50" d="100"/>
        </p:scale>
        <p:origin x="2194" y="7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5.xml"/><Relationship Id="rId35"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884-44E6-A5FA-9D02050FD878}"/>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884-44E6-A5FA-9D02050FD87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F6-4F95-8609-3DEF01F8E711}"/>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F6-4F95-8609-3DEF01F8E71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37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p:txBody>
      </p:sp>
    </p:spTree>
    <p:extLst>
      <p:ext uri="{BB962C8B-B14F-4D97-AF65-F5344CB8AC3E}">
        <p14:creationId xmlns:p14="http://schemas.microsoft.com/office/powerpoint/2010/main" val="3328237739"/>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xml"/><Relationship Id="rId4" Type="http://schemas.openxmlformats.org/officeDocument/2006/relationships/notesSlide" Target="../notesSlides/notesSlide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hyperlink" Target="https://www.linkedin.com/in/nahla-nabil-876597211" TargetMode="External"/><Relationship Id="rId13"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3.xml"/><Relationship Id="rId4" Type="http://schemas.openxmlformats.org/officeDocument/2006/relationships/notesSlide" Target="../notesSlides/notesSlide4.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3.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31.png"/><Relationship Id="rId12"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3.png"/><Relationship Id="rId7" Type="http://schemas.openxmlformats.org/officeDocument/2006/relationships/image" Target="../media/image33.png"/><Relationship Id="rId8" Type="http://schemas.openxmlformats.org/officeDocument/2006/relationships/image" Target="../media/image16.png"/><Relationship Id="rId9" Type="http://schemas.openxmlformats.org/officeDocument/2006/relationships/image" Target="../media/image26.png"/><Relationship Id="rId1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image" Target="../media/image39.png"/><Relationship Id="rId8"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1.png"/><Relationship Id="rId6" Type="http://schemas.openxmlformats.org/officeDocument/2006/relationships/image" Target="../media/image6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1.xml"/><Relationship Id="rId6"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4.xml"/><Relationship Id="rId4" Type="http://schemas.openxmlformats.org/officeDocument/2006/relationships/notesSlide" Target="../notesSlides/notesSlide13.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3.xml"/><Relationship Id="rId4" Type="http://schemas.openxmlformats.org/officeDocument/2006/relationships/notesSlide" Target="../notesSlides/notesSlide21.xml"/><Relationship Id="rId5" Type="http://schemas.openxmlformats.org/officeDocument/2006/relationships/image" Target="../media/image5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8.png"/><Relationship Id="rId6" Type="http://schemas.openxmlformats.org/officeDocument/2006/relationships/image" Target="../media/image10.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2.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25.png"/><Relationship Id="rId9" Type="http://schemas.openxmlformats.org/officeDocument/2006/relationships/image" Target="../media/image36.png"/><Relationship Id="rId10"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microsoft.com/office/2007/relationships/media" Target="../media/media5.mp4"/><Relationship Id="rId2" Type="http://schemas.openxmlformats.org/officeDocument/2006/relationships/video" Target="../media/media5.mp4"/><Relationship Id="rId3" Type="http://schemas.openxmlformats.org/officeDocument/2006/relationships/slideLayout" Target="../slideLayouts/slideLayout3.xml"/><Relationship Id="rId4" Type="http://schemas.openxmlformats.org/officeDocument/2006/relationships/notesSlide" Target="../notesSlides/notesSlide27.xml"/><Relationship Id="rId5"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txBody>
          <a:bodyPr/>
          <a:lstStyle/>
          <a:p>
            <a:endParaRPr lang="en-GB"/>
          </a:p>
        </p:txBody>
      </p:sp>
      <p:pic>
        <p:nvPicPr>
          <p:cNvPr id="4" name="video_cover">
            <a:hlinkClick r:id="" action="ppaction://media"/>
            <a:extLst>
              <a:ext uri="{FF2B5EF4-FFF2-40B4-BE49-F238E27FC236}">
                <a16:creationId xmlns:a16="http://schemas.microsoft.com/office/drawing/2014/main" id="{B44C27CD-7DDF-DC50-170F-2A2E4B63F9B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a:t>
            </a:r>
            <a:r>
              <a:rPr lang="en-US" sz="2100">
                <a:solidFill>
                  <a:srgbClr val="D4E2EE"/>
                </a:solidFill>
                <a:latin typeface="Segoe UI Light" pitchFamily="34" charset="0"/>
                <a:ea typeface="Segoe UI Light" pitchFamily="34" charset="-122"/>
                <a:cs typeface="Segoe UI Light" pitchFamily="34" charset="-120"/>
              </a:rPr>
              <a:t>Gulf mangroves</a:t>
            </a:r>
            <a:r>
              <a:rPr lang="en-GB" sz="2100">
                <a:solidFill>
                  <a:srgbClr val="D4E2EE"/>
                </a:solidFill>
                <a:latin typeface="Segoe UI Light" pitchFamily="34" charset="0"/>
                <a:ea typeface="Segoe UI Light" pitchFamily="34" charset="-122"/>
                <a:cs typeface="Segoe UI Light" pitchFamily="34" charset="-120"/>
              </a:rPr>
              <a:t>,</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txBody>
          <a:bodyPr/>
          <a:lstStyle/>
          <a:p>
            <a:endParaRPr lang="en-GB"/>
          </a:p>
        </p:txBody>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a:solidFill>
                  <a:srgbClr val="E3EDF8"/>
                </a:solidFill>
                <a:latin typeface="Segoe UI Semibold" pitchFamily="34" charset="0"/>
                <a:ea typeface="Segoe UI Semibold" pitchFamily="34" charset="-122"/>
                <a:cs typeface="Segoe UI Semibold" pitchFamily="34" charset="-120"/>
              </a:rPr>
              <a:t>Team: </a:t>
            </a:r>
            <a:r>
              <a:rPr lang="en-US" sz="1200" dirty="0">
                <a:solidFill>
                  <a:srgbClr val="E3EDF8"/>
                </a:solidFill>
                <a:latin typeface="Segoe UI Semibold" pitchFamily="34" charset="0"/>
                <a:ea typeface="Segoe UI Semibold" pitchFamily="34" charset="-122"/>
                <a:cs typeface="Segoe UI Semibold" pitchFamily="34" charset="-120"/>
              </a:rPr>
              <a:t>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txBody>
          <a:bodyPr/>
          <a:lstStyle/>
          <a:p>
            <a:endParaRPr lang="en-GB"/>
          </a:p>
        </p:txBody>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solo project: one engineer, every role</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txBody>
          <a:bodyPr/>
          <a:lstStyle/>
          <a:p>
            <a:endParaRPr lang="en-GB"/>
          </a:p>
        </p:txBody>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Solo founder · AI engineer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a:t>
            </a:r>
            <a:r>
              <a:rPr lang="en-US" sz="1150">
                <a:solidFill>
                  <a:srgbClr val="1B2B40"/>
                </a:solidFill>
                <a:latin typeface="Segoe UI" pitchFamily="34" charset="0"/>
                <a:ea typeface="Segoe UI" pitchFamily="34" charset="-122"/>
                <a:cs typeface="Segoe UI" pitchFamily="34" charset="-120"/>
              </a:rPr>
              <a:t>, Bahrain, UK </a:t>
            </a:r>
            <a:r>
              <a:rPr lang="en-US" sz="1150" dirty="0">
                <a:solidFill>
                  <a:srgbClr val="1B2B40"/>
                </a:solidFill>
                <a:latin typeface="Segoe UI" pitchFamily="34" charset="0"/>
                <a:ea typeface="Segoe UI" pitchFamily="34" charset="-122"/>
                <a:cs typeface="Segoe UI" pitchFamily="34" charset="-120"/>
              </a:rPr>
              <a:t>· final semester · First-Class Honours standing</a:t>
            </a:r>
            <a:endParaRPr lang="en-US" sz="1150" dirty="0"/>
          </a:p>
        </p:txBody>
      </p:sp>
      <p:sp>
        <p:nvSpPr>
          <p:cNvPr id="15" name="a2fade_l1"/>
          <p:cNvSpPr txBox="1"/>
          <p:nvPr/>
        </p:nvSpPr>
        <p:spPr>
          <a:xfrm>
            <a:off x="804672" y="384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RESEARCH</a:t>
            </a:r>
            <a:endParaRPr lang="en-US" sz="1100" dirty="0"/>
          </a:p>
        </p:txBody>
      </p:sp>
      <p:sp>
        <p:nvSpPr>
          <p:cNvPr id="16" name="a2fade_skills"/>
          <p:cNvSpPr txBox="1"/>
          <p:nvPr/>
        </p:nvSpPr>
        <p:spPr>
          <a:xfrm>
            <a:off x="804672" y="4070000"/>
            <a:ext cx="3794760" cy="68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3F6E9E"/>
                </a:solidFill>
                <a:latin typeface="Segoe UI" pitchFamily="34" charset="0"/>
                <a:ea typeface="Segoe UI" pitchFamily="34" charset="-122"/>
                <a:cs typeface="Segoe UI" pitchFamily="34" charset="-120"/>
              </a:rPr>
              <a:t>Current focus: AI for measuring blue carbon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2 IEEE papers: ICCA 2025 and ICAISET 2026</a:t>
            </a:r>
            <a:endParaRPr lang="en-US" sz="1050" dirty="0"/>
          </a:p>
          <a:p>
            <a:pPr marL="152400" indent="-152400">
              <a:spcAft>
                <a:spcPts val="300"/>
              </a:spcAft>
              <a:buSzPct val="100000"/>
              <a:buChar char="•"/>
            </a:pPr>
            <a:r>
              <a:rPr lang="en-US" sz="1050" b="1" dirty="0">
                <a:solidFill>
                  <a:srgbClr val="1B2B40"/>
                </a:solidFill>
                <a:latin typeface="Segoe UI" pitchFamily="34" charset="0"/>
                <a:ea typeface="Segoe UI" pitchFamily="34" charset="-122"/>
                <a:cs typeface="Segoe UI" pitchFamily="34" charset="-120"/>
              </a:rPr>
              <a:t>3rd paper, presenting 29 Oct 2026: PIGNN-UQ, uncertainty-aware blue carbon crediting</a:t>
            </a:r>
            <a:endParaRPr lang="en-US" sz="1050" dirty="0"/>
          </a:p>
        </p:txBody>
      </p:sp>
      <p:sp>
        <p:nvSpPr>
          <p:cNvPr id="17" name="a3fade_l2"/>
          <p:cNvSpPr txBox="1"/>
          <p:nvPr/>
        </p:nvSpPr>
        <p:spPr>
          <a:xfrm>
            <a:off x="804672" y="563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850000"/>
            <a:ext cx="3794760" cy="280000"/>
          </a:xfrm>
          <a:prstGeom prst="rect">
            <a:avLst/>
          </a:prstGeom>
          <a:noFill/>
          <a:ln/>
        </p:spPr>
        <p:txBody>
          <a:bodyPr wrap="square" lIns="0" tIns="0" rIns="0" bIns="0" rtlCol="0" anchor="t"/>
          <a:lstStyle/>
          <a:p>
            <a:pPr marL="0" indent="0" algn="l">
              <a:lnSpc>
                <a:spcPct val="105000"/>
              </a:lnSpc>
              <a:buNone/>
            </a:pPr>
            <a:r>
              <a:rPr lang="en-US" sz="1000" b="1" dirty="0">
                <a:solidFill>
                  <a:srgbClr val="C00000"/>
                </a:solidFill>
                <a:latin typeface="Segoe UI" pitchFamily="34" charset="0"/>
                <a:ea typeface="Segoe UI" pitchFamily="34" charset="-122"/>
                <a:cs typeface="Segoe UI" pitchFamily="34" charset="-120"/>
              </a:rPr>
              <a:t>NASA Space Apps </a:t>
            </a:r>
            <a:r>
              <a:rPr lang="en-US" sz="1000" b="1">
                <a:solidFill>
                  <a:srgbClr val="C00000"/>
                </a:solidFill>
                <a:latin typeface="Segoe UI" pitchFamily="34" charset="0"/>
                <a:ea typeface="Segoe UI" pitchFamily="34" charset="-122"/>
                <a:cs typeface="Segoe UI" pitchFamily="34" charset="-120"/>
              </a:rPr>
              <a:t>Challenge Local </a:t>
            </a:r>
            <a:r>
              <a:rPr lang="en-US" sz="1000" b="1" dirty="0">
                <a:solidFill>
                  <a:srgbClr val="C00000"/>
                </a:solidFill>
                <a:latin typeface="Segoe UI" pitchFamily="34" charset="0"/>
                <a:ea typeface="Segoe UI" pitchFamily="34" charset="-122"/>
                <a:cs typeface="Segoe UI" pitchFamily="34" charset="-120"/>
              </a:rPr>
              <a:t>L</a:t>
            </a:r>
            <a:r>
              <a:rPr lang="en-US" sz="1000" b="1">
                <a:solidFill>
                  <a:srgbClr val="C00000"/>
                </a:solidFill>
                <a:latin typeface="Segoe UI" pitchFamily="34" charset="0"/>
                <a:ea typeface="Segoe UI" pitchFamily="34" charset="-122"/>
                <a:cs typeface="Segoe UI" pitchFamily="34" charset="-120"/>
              </a:rPr>
              <a:t>ead, Manama 2026</a:t>
            </a:r>
            <a:endParaRPr lang="en-US" sz="1000" b="1" dirty="0">
              <a:solidFill>
                <a:srgbClr val="C00000"/>
              </a:solidFill>
            </a:endParaRPr>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txBody>
          <a:bodyPr/>
          <a:lstStyle/>
          <a:p>
            <a:endParaRPr lang="en-GB"/>
          </a:p>
        </p:txBody>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pic>
        <p:nvPicPr>
          <p:cNvPr id="185" name="a1float_li_icon" descr="linkedin.png">
            <a:hlinkClick r:id="rId12"/>
          </p:cNvPr>
          <p:cNvPicPr>
            <a:picLocks noChangeAspect="1"/>
          </p:cNvPicPr>
          <p:nvPr/>
        </p:nvPicPr>
        <p:blipFill>
          <a:blip r:embed="rId13"/>
          <a:stretch>
            <a:fillRect/>
          </a:stretch>
        </p:blipFill>
        <p:spPr>
          <a:xfrm>
            <a:off x="2102832" y="2872928"/>
            <a:ext cx="200000" cy="200000"/>
          </a:xfrm>
          <a:prstGeom prst="rect">
            <a:avLst/>
          </a:prstGeom>
        </p:spPr>
      </p:pic>
      <p:sp>
        <p:nvSpPr>
          <p:cNvPr id="186" name="a1float_li_text"/>
          <p:cNvSpPr txBox="1"/>
          <p:nvPr/>
        </p:nvSpPr>
        <p:spPr>
          <a:xfrm>
            <a:off x="2372832" y="2820928"/>
            <a:ext cx="2400000" cy="300000"/>
          </a:xfrm>
          <a:prstGeom prst="rect">
            <a:avLst/>
          </a:prstGeom>
          <a:noFill/>
        </p:spPr>
        <p:txBody>
          <a:bodyPr wrap="none" lIns="0" rIns="0" bIns="0">
            <a:spAutoFit/>
          </a:bodyPr>
          <a:lstStyle/>
          <a:p>
            <a:r>
              <a:rPr sz="1000" u="none">
                <a:solidFill>
                  <a:srgbClr val="0A66C2"/>
                </a:solidFill>
                <a:latin typeface="Segoe UI"/>
                <a:hlinkClick r:id="rId12"/>
              </a:rPr>
              <a:t>linkedin.com/in/nahla-nabil-876597211</a:t>
            </a:r>
          </a:p>
        </p:txBody>
      </p:sp>
      <p:sp>
        <p:nvSpPr>
          <p:cNvPr id="187" name="a3fade_expl"/>
          <p:cNvSpPr txBox="1"/>
          <p:nvPr/>
        </p:nvSpPr>
        <p:spPr>
          <a:xfrm>
            <a:off x="804672" y="480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EXPERIENCE</a:t>
            </a:r>
            <a:endParaRPr lang="en-US" sz="1100" dirty="0"/>
          </a:p>
        </p:txBody>
      </p:sp>
      <p:sp>
        <p:nvSpPr>
          <p:cNvPr id="188" name="a3fade_exp"/>
          <p:cNvSpPr txBox="1"/>
          <p:nvPr/>
        </p:nvSpPr>
        <p:spPr>
          <a:xfrm>
            <a:off x="804672" y="5030000"/>
            <a:ext cx="3794760" cy="56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IT intern · Ministry of Interior</a:t>
            </a:r>
            <a:r>
              <a:rPr lang="en-US" sz="1050" b="0">
                <a:solidFill>
                  <a:srgbClr val="1B2B40"/>
                </a:solidFill>
                <a:latin typeface="Segoe UI" pitchFamily="34" charset="0"/>
                <a:ea typeface="Segoe UI" pitchFamily="34" charset="-122"/>
                <a:cs typeface="Segoe UI" pitchFamily="34" charset="-120"/>
              </a:rPr>
              <a:t>, Bahrain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AI &amp; LLM engineering · Doo Bahrain</a:t>
            </a:r>
            <a:r>
              <a:rPr lang="en-US" sz="1050" b="0">
                <a:solidFill>
                  <a:srgbClr val="1B2B40"/>
                </a:solidFill>
                <a:latin typeface="Segoe UI" pitchFamily="34" charset="0"/>
                <a:ea typeface="Segoe UI" pitchFamily="34" charset="-122"/>
                <a:cs typeface="Segoe UI" pitchFamily="34" charset="-120"/>
              </a:rPr>
              <a:t>, FlyRank US</a:t>
            </a:r>
          </a:p>
          <a:p>
            <a:pPr marL="152400" indent="-152400">
              <a:spcAft>
                <a:spcPts val="300"/>
              </a:spcAft>
              <a:buSzPct val="100000"/>
              <a:buChar char="•"/>
            </a:pPr>
            <a:r>
              <a:rPr lang="en-US" sz="1050">
                <a:solidFill>
                  <a:srgbClr val="1B2B40"/>
                </a:solidFill>
                <a:latin typeface="Segoe UI" pitchFamily="34" charset="0"/>
                <a:cs typeface="Segoe UI" pitchFamily="34" charset="-120"/>
              </a:rPr>
              <a:t>Data </a:t>
            </a:r>
            <a:r>
              <a:rPr lang="en-GB" sz="1050">
                <a:solidFill>
                  <a:srgbClr val="1B2B40"/>
                </a:solidFill>
                <a:latin typeface="Segoe UI" pitchFamily="34" charset="0"/>
                <a:cs typeface="Segoe UI" pitchFamily="34" charset="-120"/>
              </a:rPr>
              <a:t>Analysis </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nodeType="withEffect">
                                  <p:stCondLst>
                                    <p:cond delay="470"/>
                                  </p:stCondLst>
                                  <p:childTnLst>
                                    <p:set>
                                      <p:cBhvr>
                                        <p:cTn id="37" dur="1" fill="hold">
                                          <p:stCondLst>
                                            <p:cond delay="0"/>
                                          </p:stCondLst>
                                        </p:cTn>
                                        <p:tgtEl>
                                          <p:spTgt spid="185"/>
                                        </p:tgtEl>
                                        <p:attrNameLst>
                                          <p:attrName>style.visibility</p:attrName>
                                        </p:attrNameLst>
                                      </p:cBhvr>
                                      <p:to>
                                        <p:strVal val="visible"/>
                                      </p:to>
                                    </p:set>
                                    <p:animEffect transition="in" filter="fade">
                                      <p:cBhvr>
                                        <p:cTn id="38" dur="700"/>
                                        <p:tgtEl>
                                          <p:spTgt spid="185"/>
                                        </p:tgtEl>
                                      </p:cBhvr>
                                    </p:animEffect>
                                    <p:anim calcmode="lin" valueType="num">
                                      <p:cBhvr additive="base">
                                        <p:cTn id="39" dur="700" fill="hold"/>
                                        <p:tgtEl>
                                          <p:spTgt spid="185"/>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86"/>
                                        </p:tgtEl>
                                        <p:attrNameLst>
                                          <p:attrName>style.visibility</p:attrName>
                                        </p:attrNameLst>
                                      </p:cBhvr>
                                      <p:to>
                                        <p:strVal val="visible"/>
                                      </p:to>
                                    </p:set>
                                    <p:animEffect transition="in" filter="fade">
                                      <p:cBhvr>
                                        <p:cTn id="42" dur="700"/>
                                        <p:tgtEl>
                                          <p:spTgt spid="186"/>
                                        </p:tgtEl>
                                      </p:cBhvr>
                                    </p:animEffect>
                                    <p:anim calcmode="lin" valueType="num">
                                      <p:cBhvr additive="base">
                                        <p:cTn id="43" dur="700" fill="hold"/>
                                        <p:tgtEl>
                                          <p:spTgt spid="186"/>
                                        </p:tgtEl>
                                        <p:attrNameLst>
                                          <p:attrName>ppt_y</p:attrName>
                                        </p:attrNameLst>
                                      </p:cBhvr>
                                      <p:tavLst>
                                        <p:tav tm="0">
                                          <p:val>
                                            <p:strVal val="#ppt_y+0.03"/>
                                          </p:val>
                                        </p:tav>
                                        <p:tav tm="100000">
                                          <p:val>
                                            <p:strVal val="#ppt_y"/>
                                          </p:val>
                                        </p:tav>
                                      </p:tavLst>
                                    </p:anim>
                                  </p:childTnLst>
                                </p:cTn>
                              </p:par>
                              <p:par>
                                <p:cTn id="44" presetID="10" presetClass="entr" presetSubtype="0" decel="100000" fill="hold" grpId="0" nodeType="withEffect">
                                  <p:stCondLst>
                                    <p:cond delay="47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childTnLst>
                                </p:cTn>
                              </p:par>
                              <p:par>
                                <p:cTn id="47" presetID="10" presetClass="entr" presetSubtype="0" decel="100000" fill="hold" grpId="0" nodeType="withEffect">
                                  <p:stCondLst>
                                    <p:cond delay="69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0" presetID="10" presetClass="entr" presetSubtype="0" decel="100000" fill="hold" grpId="0"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par>
                                <p:cTn id="53" presetID="10" presetClass="entr" presetSubtype="0" decel="100000" fill="hold" grpId="0"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00"/>
                                        <p:tgtEl>
                                          <p:spTgt spid="15"/>
                                        </p:tgtEl>
                                      </p:cBhvr>
                                    </p:animEffect>
                                  </p:childTnLst>
                                </p:cTn>
                              </p:par>
                              <p:par>
                                <p:cTn id="56" presetID="10" presetClass="entr" presetSubtype="0" decel="100000" fill="hold" grpId="0" nodeType="withEffect">
                                  <p:stCondLst>
                                    <p:cond delay="69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00"/>
                                        <p:tgtEl>
                                          <p:spTgt spid="16"/>
                                        </p:tgtEl>
                                      </p:cBhvr>
                                    </p:animEffect>
                                  </p:childTnLst>
                                </p:cTn>
                              </p:par>
                              <p:par>
                                <p:cTn id="59" presetID="10" presetClass="entr" presetSubtype="0" decel="100000" fill="hold" grpId="0" nodeType="withEffect">
                                  <p:stCondLst>
                                    <p:cond delay="690"/>
                                  </p:stCondLst>
                                  <p:childTnLst>
                                    <p:set>
                                      <p:cBhvr>
                                        <p:cTn id="60" dur="1" fill="hold">
                                          <p:stCondLst>
                                            <p:cond delay="0"/>
                                          </p:stCondLst>
                                        </p:cTn>
                                        <p:tgtEl>
                                          <p:spTgt spid="188"/>
                                        </p:tgtEl>
                                        <p:attrNameLst>
                                          <p:attrName>style.visibility</p:attrName>
                                        </p:attrNameLst>
                                      </p:cBhvr>
                                      <p:to>
                                        <p:strVal val="visible"/>
                                      </p:to>
                                    </p:set>
                                    <p:animEffect transition="in" filter="fade">
                                      <p:cBhvr>
                                        <p:cTn id="61" dur="600"/>
                                        <p:tgtEl>
                                          <p:spTgt spid="188"/>
                                        </p:tgtEl>
                                      </p:cBhvr>
                                    </p:animEffect>
                                  </p:childTnLst>
                                </p:cTn>
                              </p:par>
                              <p:par>
                                <p:cTn id="62" presetID="42" presetClass="entr" presetSubtype="0" decel="100000" fill="hold" grpId="0" nodeType="withEffect">
                                  <p:stCondLst>
                                    <p:cond delay="69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69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69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69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6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69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69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6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additive="base">
                                        <p:cTn id="93" dur="700" fill="hold"/>
                                        <p:tgtEl>
                                          <p:spTgt spid="27"/>
                                        </p:tgtEl>
                                        <p:attrNameLst>
                                          <p:attrName>ppt_y</p:attrName>
                                        </p:attrNameLst>
                                      </p:cBhvr>
                                      <p:tavLst>
                                        <p:tav tm="0">
                                          <p:val>
                                            <p:strVal val="#ppt_y+0.03"/>
                                          </p:val>
                                        </p:tav>
                                        <p:tav tm="100000">
                                          <p:val>
                                            <p:strVal val="#ppt_y"/>
                                          </p:val>
                                        </p:tav>
                                      </p:tavLst>
                                    </p:anim>
                                  </p:childTnLst>
                                </p:cTn>
                              </p:par>
                              <p:par>
                                <p:cTn id="94" presetID="42" presetClass="entr" presetSubtype="0" decel="100000" fill="hold" grpId="0" nodeType="withEffect">
                                  <p:stCondLst>
                                    <p:cond delay="69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700"/>
                                        <p:tgtEl>
                                          <p:spTgt spid="28"/>
                                        </p:tgtEl>
                                      </p:cBhvr>
                                    </p:animEffect>
                                    <p:anim calcmode="lin" valueType="num">
                                      <p:cBhvr additive="base">
                                        <p:cTn id="97" dur="700" fill="hold"/>
                                        <p:tgtEl>
                                          <p:spTgt spid="28"/>
                                        </p:tgtEl>
                                        <p:attrNameLst>
                                          <p:attrName>ppt_y</p:attrName>
                                        </p:attrNameLst>
                                      </p:cBhvr>
                                      <p:tavLst>
                                        <p:tav tm="0">
                                          <p:val>
                                            <p:strVal val="#ppt_y+0.03"/>
                                          </p:val>
                                        </p:tav>
                                        <p:tav tm="100000">
                                          <p:val>
                                            <p:strVal val="#ppt_y"/>
                                          </p:val>
                                        </p:tav>
                                      </p:tavLst>
                                    </p:anim>
                                  </p:childTnLst>
                                </p:cTn>
                              </p:par>
                              <p:par>
                                <p:cTn id="98" presetID="42" presetClass="entr" presetSubtype="0" decel="100000" fill="hold" grpId="0" nodeType="withEffect">
                                  <p:stCondLst>
                                    <p:cond delay="69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700"/>
                                        <p:tgtEl>
                                          <p:spTgt spid="29"/>
                                        </p:tgtEl>
                                      </p:cBhvr>
                                    </p:animEffect>
                                    <p:anim calcmode="lin" valueType="num">
                                      <p:cBhvr additive="base">
                                        <p:cTn id="101" dur="700" fill="hold"/>
                                        <p:tgtEl>
                                          <p:spTgt spid="29"/>
                                        </p:tgtEl>
                                        <p:attrNameLst>
                                          <p:attrName>ppt_y</p:attrName>
                                        </p:attrNameLst>
                                      </p:cBhvr>
                                      <p:tavLst>
                                        <p:tav tm="0">
                                          <p:val>
                                            <p:strVal val="#ppt_y+0.03"/>
                                          </p:val>
                                        </p:tav>
                                        <p:tav tm="100000">
                                          <p:val>
                                            <p:strVal val="#ppt_y"/>
                                          </p:val>
                                        </p:tav>
                                      </p:tavLst>
                                    </p:anim>
                                  </p:childTnLst>
                                </p:cTn>
                              </p:par>
                              <p:par>
                                <p:cTn id="102" presetID="10" presetClass="entr" presetSubtype="0" decel="100000" fill="hold" grpId="0" nodeType="withEffect">
                                  <p:stCondLst>
                                    <p:cond delay="91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600"/>
                                        <p:tgtEl>
                                          <p:spTgt spid="17"/>
                                        </p:tgtEl>
                                      </p:cBhvr>
                                    </p:animEffect>
                                  </p:childTnLst>
                                </p:cTn>
                              </p:par>
                              <p:par>
                                <p:cTn id="105" presetID="10" presetClass="entr" presetSubtype="0" decel="100000" fill="hold" grpId="0" nodeType="withEffect">
                                  <p:stCondLst>
                                    <p:cond delay="910"/>
                                  </p:stCondLst>
                                  <p:childTnLst>
                                    <p:set>
                                      <p:cBhvr>
                                        <p:cTn id="106" dur="1" fill="hold">
                                          <p:stCondLst>
                                            <p:cond delay="0"/>
                                          </p:stCondLst>
                                        </p:cTn>
                                        <p:tgtEl>
                                          <p:spTgt spid="187"/>
                                        </p:tgtEl>
                                        <p:attrNameLst>
                                          <p:attrName>style.visibility</p:attrName>
                                        </p:attrNameLst>
                                      </p:cBhvr>
                                      <p:to>
                                        <p:strVal val="visible"/>
                                      </p:to>
                                    </p:set>
                                    <p:animEffect transition="in" filter="fade">
                                      <p:cBhvr>
                                        <p:cTn id="107" dur="600"/>
                                        <p:tgtEl>
                                          <p:spTgt spid="187"/>
                                        </p:tgtEl>
                                      </p:cBhvr>
                                    </p:animEffect>
                                  </p:childTnLst>
                                </p:cTn>
                              </p:par>
                              <p:par>
                                <p:cTn id="108" presetID="10" presetClass="entr" presetSubtype="0" decel="100000" fill="hold" grpId="0" nodeType="withEffect">
                                  <p:stCondLst>
                                    <p:cond delay="910"/>
                                  </p:stCondLst>
                                  <p:childTnLst>
                                    <p:set>
                                      <p:cBhvr>
                                        <p:cTn id="109" dur="1" fill="hold">
                                          <p:stCondLst>
                                            <p:cond delay="0"/>
                                          </p:stCondLst>
                                        </p:cTn>
                                        <p:tgtEl>
                                          <p:spTgt spid="18"/>
                                        </p:tgtEl>
                                        <p:attrNameLst>
                                          <p:attrName>style.visibility</p:attrName>
                                        </p:attrNameLst>
                                      </p:cBhvr>
                                      <p:to>
                                        <p:strVal val="visible"/>
                                      </p:to>
                                    </p:set>
                                    <p:animEffect transition="in" filter="fade">
                                      <p:cBhvr>
                                        <p:cTn id="110" dur="600"/>
                                        <p:tgtEl>
                                          <p:spTgt spid="18"/>
                                        </p:tgtEl>
                                      </p:cBhvr>
                                    </p:animEffect>
                                  </p:childTnLst>
                                </p:cTn>
                              </p:par>
                              <p:par>
                                <p:cTn id="111" presetID="42" presetClass="entr" presetSubtype="0" decel="100000" fill="hold" grpId="0" nodeType="withEffect">
                                  <p:stCondLst>
                                    <p:cond delay="91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700" fill="hold"/>
                                        <p:tgtEl>
                                          <p:spTgt spid="30"/>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91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00"/>
                                        <p:tgtEl>
                                          <p:spTgt spid="31"/>
                                        </p:tgtEl>
                                      </p:cBhvr>
                                    </p:animEffect>
                                    <p:anim calcmode="lin" valueType="num">
                                      <p:cBhvr additive="base">
                                        <p:cTn id="118" dur="700" fill="hold"/>
                                        <p:tgtEl>
                                          <p:spTgt spid="31"/>
                                        </p:tgtEl>
                                        <p:attrNameLst>
                                          <p:attrName>ppt_y</p:attrName>
                                        </p:attrNameLst>
                                      </p:cBhvr>
                                      <p:tavLst>
                                        <p:tav tm="0">
                                          <p:val>
                                            <p:strVal val="#ppt_y+0.03"/>
                                          </p:val>
                                        </p:tav>
                                        <p:tav tm="100000">
                                          <p:val>
                                            <p:strVal val="#ppt_y"/>
                                          </p:val>
                                        </p:tav>
                                      </p:tavLst>
                                    </p:anim>
                                  </p:childTnLst>
                                </p:cTn>
                              </p:par>
                              <p:par>
                                <p:cTn id="119" presetID="42" presetClass="entr" presetSubtype="0" decel="100000" fill="hold" grpId="0" nodeType="withEffect">
                                  <p:stCondLst>
                                    <p:cond delay="91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700"/>
                                        <p:tgtEl>
                                          <p:spTgt spid="32"/>
                                        </p:tgtEl>
                                      </p:cBhvr>
                                    </p:animEffect>
                                    <p:anim calcmode="lin" valueType="num">
                                      <p:cBhvr additive="base">
                                        <p:cTn id="122" dur="7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decel="100000" fill="hold" grpId="0" nodeType="withEffect">
                                  <p:stCondLst>
                                    <p:cond delay="91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700"/>
                                        <p:tgtEl>
                                          <p:spTgt spid="33"/>
                                        </p:tgtEl>
                                      </p:cBhvr>
                                    </p:animEffect>
                                    <p:anim calcmode="lin" valueType="num">
                                      <p:cBhvr additive="base">
                                        <p:cTn id="126" dur="700" fill="hold"/>
                                        <p:tgtEl>
                                          <p:spTgt spid="33"/>
                                        </p:tgtEl>
                                        <p:attrNameLst>
                                          <p:attrName>ppt_y</p:attrName>
                                        </p:attrNameLst>
                                      </p:cBhvr>
                                      <p:tavLst>
                                        <p:tav tm="0">
                                          <p:val>
                                            <p:strVal val="#ppt_y+0.03"/>
                                          </p:val>
                                        </p:tav>
                                        <p:tav tm="100000">
                                          <p:val>
                                            <p:strVal val="#ppt_y"/>
                                          </p:val>
                                        </p:tav>
                                      </p:tavLst>
                                    </p:anim>
                                  </p:childTnLst>
                                </p:cTn>
                              </p:par>
                              <p:par>
                                <p:cTn id="127" presetID="42" presetClass="entr" presetSubtype="0" decel="100000" fill="hold" grpId="0" nodeType="withEffect">
                                  <p:stCondLst>
                                    <p:cond delay="91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700"/>
                                        <p:tgtEl>
                                          <p:spTgt spid="34"/>
                                        </p:tgtEl>
                                      </p:cBhvr>
                                    </p:animEffect>
                                    <p:anim calcmode="lin" valueType="num">
                                      <p:cBhvr additive="base">
                                        <p:cTn id="130" dur="700" fill="hold"/>
                                        <p:tgtEl>
                                          <p:spTgt spid="34"/>
                                        </p:tgtEl>
                                        <p:attrNameLst>
                                          <p:attrName>ppt_y</p:attrName>
                                        </p:attrNameLst>
                                      </p:cBhvr>
                                      <p:tavLst>
                                        <p:tav tm="0">
                                          <p:val>
                                            <p:strVal val="#ppt_y+0.03"/>
                                          </p:val>
                                        </p:tav>
                                        <p:tav tm="100000">
                                          <p:val>
                                            <p:strVal val="#ppt_y"/>
                                          </p:val>
                                        </p:tav>
                                      </p:tavLst>
                                    </p:anim>
                                  </p:childTnLst>
                                </p:cTn>
                              </p:par>
                              <p:par>
                                <p:cTn id="131" presetID="42" presetClass="entr" presetSubtype="0" decel="100000" fill="hold" grpId="0" nodeType="withEffect">
                                  <p:stCondLst>
                                    <p:cond delay="91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700"/>
                                        <p:tgtEl>
                                          <p:spTgt spid="35"/>
                                        </p:tgtEl>
                                      </p:cBhvr>
                                    </p:animEffect>
                                    <p:anim calcmode="lin" valueType="num">
                                      <p:cBhvr additive="base">
                                        <p:cTn id="134" dur="700" fill="hold"/>
                                        <p:tgtEl>
                                          <p:spTgt spid="35"/>
                                        </p:tgtEl>
                                        <p:attrNameLst>
                                          <p:attrName>ppt_y</p:attrName>
                                        </p:attrNameLst>
                                      </p:cBhvr>
                                      <p:tavLst>
                                        <p:tav tm="0">
                                          <p:val>
                                            <p:strVal val="#ppt_y+0.03"/>
                                          </p:val>
                                        </p:tav>
                                        <p:tav tm="100000">
                                          <p:val>
                                            <p:strVal val="#ppt_y"/>
                                          </p:val>
                                        </p:tav>
                                      </p:tavLst>
                                    </p:anim>
                                  </p:childTnLst>
                                </p:cTn>
                              </p:par>
                              <p:par>
                                <p:cTn id="135" presetID="42" presetClass="entr" presetSubtype="0" decel="100000" fill="hold" grpId="0" nodeType="withEffect">
                                  <p:stCondLst>
                                    <p:cond delay="910"/>
                                  </p:stCondLst>
                                  <p:childTnLst>
                                    <p:set>
                                      <p:cBhvr>
                                        <p:cTn id="136" dur="1" fill="hold">
                                          <p:stCondLst>
                                            <p:cond delay="0"/>
                                          </p:stCondLst>
                                        </p:cTn>
                                        <p:tgtEl>
                                          <p:spTgt spid="36"/>
                                        </p:tgtEl>
                                        <p:attrNameLst>
                                          <p:attrName>style.visibility</p:attrName>
                                        </p:attrNameLst>
                                      </p:cBhvr>
                                      <p:to>
                                        <p:strVal val="visible"/>
                                      </p:to>
                                    </p:set>
                                    <p:animEffect transition="in" filter="fade">
                                      <p:cBhvr>
                                        <p:cTn id="137" dur="700"/>
                                        <p:tgtEl>
                                          <p:spTgt spid="36"/>
                                        </p:tgtEl>
                                      </p:cBhvr>
                                    </p:animEffect>
                                    <p:anim calcmode="lin" valueType="num">
                                      <p:cBhvr additive="base">
                                        <p:cTn id="138" dur="700" fill="hold"/>
                                        <p:tgtEl>
                                          <p:spTgt spid="36"/>
                                        </p:tgtEl>
                                        <p:attrNameLst>
                                          <p:attrName>ppt_y</p:attrName>
                                        </p:attrNameLst>
                                      </p:cBhvr>
                                      <p:tavLst>
                                        <p:tav tm="0">
                                          <p:val>
                                            <p:strVal val="#ppt_y+0.03"/>
                                          </p:val>
                                        </p:tav>
                                        <p:tav tm="100000">
                                          <p:val>
                                            <p:strVal val="#ppt_y"/>
                                          </p:val>
                                        </p:tav>
                                      </p:tavLst>
                                    </p:anim>
                                  </p:childTnLst>
                                </p:cTn>
                              </p:par>
                              <p:par>
                                <p:cTn id="139" presetID="42" presetClass="entr" presetSubtype="0" decel="100000" fill="hold" grpId="0" nodeType="withEffect">
                                  <p:stCondLst>
                                    <p:cond delay="91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1" dur="700"/>
                                        <p:tgtEl>
                                          <p:spTgt spid="37"/>
                                        </p:tgtEl>
                                      </p:cBhvr>
                                    </p:animEffect>
                                    <p:anim calcmode="lin" valueType="num">
                                      <p:cBhvr additive="base">
                                        <p:cTn id="142" dur="700" fill="hold"/>
                                        <p:tgtEl>
                                          <p:spTgt spid="37"/>
                                        </p:tgtEl>
                                        <p:attrNameLst>
                                          <p:attrName>ppt_y</p:attrName>
                                        </p:attrNameLst>
                                      </p:cBhvr>
                                      <p:tavLst>
                                        <p:tav tm="0">
                                          <p:val>
                                            <p:strVal val="#ppt_y+0.03"/>
                                          </p:val>
                                        </p:tav>
                                        <p:tav tm="100000">
                                          <p:val>
                                            <p:strVal val="#ppt_y"/>
                                          </p:val>
                                        </p:tav>
                                      </p:tavLst>
                                    </p:anim>
                                  </p:childTnLst>
                                </p:cTn>
                              </p:par>
                              <p:par>
                                <p:cTn id="143" presetID="42" presetClass="entr" presetSubtype="0" decel="100000" fill="hold" grpId="0" nodeType="withEffect">
                                  <p:stCondLst>
                                    <p:cond delay="91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700"/>
                                        <p:tgtEl>
                                          <p:spTgt spid="38"/>
                                        </p:tgtEl>
                                      </p:cBhvr>
                                    </p:animEffect>
                                    <p:anim calcmode="lin" valueType="num">
                                      <p:cBhvr additive="base">
                                        <p:cTn id="146" dur="700" fill="hold"/>
                                        <p:tgtEl>
                                          <p:spTgt spid="38"/>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9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700"/>
                                        <p:tgtEl>
                                          <p:spTgt spid="39"/>
                                        </p:tgtEl>
                                      </p:cBhvr>
                                    </p:animEffect>
                                    <p:anim calcmode="lin" valueType="num">
                                      <p:cBhvr additive="base">
                                        <p:cTn id="150" dur="700" fill="hold"/>
                                        <p:tgtEl>
                                          <p:spTgt spid="39"/>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130"/>
                                  </p:stCondLst>
                                  <p:childTnLst>
                                    <p:set>
                                      <p:cBhvr>
                                        <p:cTn id="152" dur="1" fill="hold">
                                          <p:stCondLst>
                                            <p:cond delay="0"/>
                                          </p:stCondLst>
                                        </p:cTn>
                                        <p:tgtEl>
                                          <p:spTgt spid="40"/>
                                        </p:tgtEl>
                                        <p:attrNameLst>
                                          <p:attrName>style.visibility</p:attrName>
                                        </p:attrNameLst>
                                      </p:cBhvr>
                                      <p:to>
                                        <p:strVal val="visible"/>
                                      </p:to>
                                    </p:set>
                                    <p:animEffect transition="in" filter="fade">
                                      <p:cBhvr>
                                        <p:cTn id="153" dur="700"/>
                                        <p:tgtEl>
                                          <p:spTgt spid="40"/>
                                        </p:tgtEl>
                                      </p:cBhvr>
                                    </p:animEffect>
                                    <p:anim calcmode="lin" valueType="num">
                                      <p:cBhvr additive="base">
                                        <p:cTn id="154" dur="700" fill="hold"/>
                                        <p:tgtEl>
                                          <p:spTgt spid="40"/>
                                        </p:tgtEl>
                                        <p:attrNameLst>
                                          <p:attrName>ppt_y</p:attrName>
                                        </p:attrNameLst>
                                      </p:cBhvr>
                                      <p:tavLst>
                                        <p:tav tm="0">
                                          <p:val>
                                            <p:strVal val="#ppt_y+0.03"/>
                                          </p:val>
                                        </p:tav>
                                        <p:tav tm="100000">
                                          <p:val>
                                            <p:strVal val="#ppt_y"/>
                                          </p:val>
                                        </p:tav>
                                      </p:tavLst>
                                    </p:anim>
                                  </p:childTnLst>
                                </p:cTn>
                              </p:par>
                              <p:par>
                                <p:cTn id="155" presetID="42" presetClass="entr" presetSubtype="0" decel="100000" fill="hold" grpId="0" nodeType="withEffect">
                                  <p:stCondLst>
                                    <p:cond delay="113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00"/>
                                        <p:tgtEl>
                                          <p:spTgt spid="41"/>
                                        </p:tgtEl>
                                      </p:cBhvr>
                                    </p:animEffect>
                                    <p:anim calcmode="lin" valueType="num">
                                      <p:cBhvr additive="base">
                                        <p:cTn id="158" dur="700" fill="hold"/>
                                        <p:tgtEl>
                                          <p:spTgt spid="41"/>
                                        </p:tgtEl>
                                        <p:attrNameLst>
                                          <p:attrName>ppt_y</p:attrName>
                                        </p:attrNameLst>
                                      </p:cBhvr>
                                      <p:tavLst>
                                        <p:tav tm="0">
                                          <p:val>
                                            <p:strVal val="#ppt_y+0.03"/>
                                          </p:val>
                                        </p:tav>
                                        <p:tav tm="100000">
                                          <p:val>
                                            <p:strVal val="#ppt_y"/>
                                          </p:val>
                                        </p:tav>
                                      </p:tavLst>
                                    </p:anim>
                                  </p:childTnLst>
                                </p:cTn>
                              </p:par>
                              <p:par>
                                <p:cTn id="159" presetID="42" presetClass="entr" presetSubtype="0" decel="100000" fill="hold" grpId="0" nodeType="withEffect">
                                  <p:stCondLst>
                                    <p:cond delay="113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700"/>
                                        <p:tgtEl>
                                          <p:spTgt spid="42"/>
                                        </p:tgtEl>
                                      </p:cBhvr>
                                    </p:animEffect>
                                    <p:anim calcmode="lin" valueType="num">
                                      <p:cBhvr additive="base">
                                        <p:cTn id="162" dur="700" fill="hold"/>
                                        <p:tgtEl>
                                          <p:spTgt spid="42"/>
                                        </p:tgtEl>
                                        <p:attrNameLst>
                                          <p:attrName>ppt_y</p:attrName>
                                        </p:attrNameLst>
                                      </p:cBhvr>
                                      <p:tavLst>
                                        <p:tav tm="0">
                                          <p:val>
                                            <p:strVal val="#ppt_y+0.03"/>
                                          </p:val>
                                        </p:tav>
                                        <p:tav tm="100000">
                                          <p:val>
                                            <p:strVal val="#ppt_y"/>
                                          </p:val>
                                        </p:tav>
                                      </p:tavLst>
                                    </p:anim>
                                  </p:childTnLst>
                                </p:cTn>
                              </p:par>
                              <p:par>
                                <p:cTn id="163" presetID="42" presetClass="entr" presetSubtype="0" decel="100000" fill="hold" grpId="0" nodeType="withEffect">
                                  <p:stCondLst>
                                    <p:cond delay="113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700"/>
                                        <p:tgtEl>
                                          <p:spTgt spid="43"/>
                                        </p:tgtEl>
                                      </p:cBhvr>
                                    </p:animEffect>
                                    <p:anim calcmode="lin" valueType="num">
                                      <p:cBhvr additive="base">
                                        <p:cTn id="166" dur="700" fill="hold"/>
                                        <p:tgtEl>
                                          <p:spTgt spid="43"/>
                                        </p:tgtEl>
                                        <p:attrNameLst>
                                          <p:attrName>ppt_y</p:attrName>
                                        </p:attrNameLst>
                                      </p:cBhvr>
                                      <p:tavLst>
                                        <p:tav tm="0">
                                          <p:val>
                                            <p:strVal val="#ppt_y+0.03"/>
                                          </p:val>
                                        </p:tav>
                                        <p:tav tm="100000">
                                          <p:val>
                                            <p:strVal val="#ppt_y"/>
                                          </p:val>
                                        </p:tav>
                                      </p:tavLst>
                                    </p:anim>
                                  </p:childTnLst>
                                </p:cTn>
                              </p:par>
                              <p:par>
                                <p:cTn id="167" presetID="42" presetClass="entr" presetSubtype="0" decel="100000" fill="hold" grpId="0" nodeType="withEffect">
                                  <p:stCondLst>
                                    <p:cond delay="113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700"/>
                                        <p:tgtEl>
                                          <p:spTgt spid="44"/>
                                        </p:tgtEl>
                                      </p:cBhvr>
                                    </p:animEffect>
                                    <p:anim calcmode="lin" valueType="num">
                                      <p:cBhvr additive="base">
                                        <p:cTn id="170" dur="700" fill="hold"/>
                                        <p:tgtEl>
                                          <p:spTgt spid="44"/>
                                        </p:tgtEl>
                                        <p:attrNameLst>
                                          <p:attrName>ppt_y</p:attrName>
                                        </p:attrNameLst>
                                      </p:cBhvr>
                                      <p:tavLst>
                                        <p:tav tm="0">
                                          <p:val>
                                            <p:strVal val="#ppt_y+0.03"/>
                                          </p:val>
                                        </p:tav>
                                        <p:tav tm="100000">
                                          <p:val>
                                            <p:strVal val="#ppt_y"/>
                                          </p:val>
                                        </p:tav>
                                      </p:tavLst>
                                    </p:anim>
                                  </p:childTnLst>
                                </p:cTn>
                              </p:par>
                              <p:par>
                                <p:cTn id="171" presetID="42" presetClass="entr" presetSubtype="0" decel="100000" fill="hold" grpId="0" nodeType="withEffect">
                                  <p:stCondLst>
                                    <p:cond delay="1130"/>
                                  </p:stCondLst>
                                  <p:childTnLst>
                                    <p:set>
                                      <p:cBhvr>
                                        <p:cTn id="172" dur="1" fill="hold">
                                          <p:stCondLst>
                                            <p:cond delay="0"/>
                                          </p:stCondLst>
                                        </p:cTn>
                                        <p:tgtEl>
                                          <p:spTgt spid="45"/>
                                        </p:tgtEl>
                                        <p:attrNameLst>
                                          <p:attrName>style.visibility</p:attrName>
                                        </p:attrNameLst>
                                      </p:cBhvr>
                                      <p:to>
                                        <p:strVal val="visible"/>
                                      </p:to>
                                    </p:set>
                                    <p:animEffect transition="in" filter="fade">
                                      <p:cBhvr>
                                        <p:cTn id="173" dur="700"/>
                                        <p:tgtEl>
                                          <p:spTgt spid="45"/>
                                        </p:tgtEl>
                                      </p:cBhvr>
                                    </p:animEffect>
                                    <p:anim calcmode="lin" valueType="num">
                                      <p:cBhvr additive="base">
                                        <p:cTn id="174" dur="700" fill="hold"/>
                                        <p:tgtEl>
                                          <p:spTgt spid="45"/>
                                        </p:tgtEl>
                                        <p:attrNameLst>
                                          <p:attrName>ppt_y</p:attrName>
                                        </p:attrNameLst>
                                      </p:cBhvr>
                                      <p:tavLst>
                                        <p:tav tm="0">
                                          <p:val>
                                            <p:strVal val="#ppt_y+0.03"/>
                                          </p:val>
                                        </p:tav>
                                        <p:tav tm="100000">
                                          <p:val>
                                            <p:strVal val="#ppt_y"/>
                                          </p:val>
                                        </p:tav>
                                      </p:tavLst>
                                    </p:anim>
                                  </p:childTnLst>
                                </p:cTn>
                              </p:par>
                              <p:par>
                                <p:cTn id="175" presetID="42" presetClass="entr" presetSubtype="0" decel="100000" fill="hold" grpId="0" nodeType="withEffect">
                                  <p:stCondLst>
                                    <p:cond delay="1130"/>
                                  </p:stCondLst>
                                  <p:childTnLst>
                                    <p:set>
                                      <p:cBhvr>
                                        <p:cTn id="176" dur="1" fill="hold">
                                          <p:stCondLst>
                                            <p:cond delay="0"/>
                                          </p:stCondLst>
                                        </p:cTn>
                                        <p:tgtEl>
                                          <p:spTgt spid="46"/>
                                        </p:tgtEl>
                                        <p:attrNameLst>
                                          <p:attrName>style.visibility</p:attrName>
                                        </p:attrNameLst>
                                      </p:cBhvr>
                                      <p:to>
                                        <p:strVal val="visible"/>
                                      </p:to>
                                    </p:set>
                                    <p:animEffect transition="in" filter="fade">
                                      <p:cBhvr>
                                        <p:cTn id="177" dur="700"/>
                                        <p:tgtEl>
                                          <p:spTgt spid="46"/>
                                        </p:tgtEl>
                                      </p:cBhvr>
                                    </p:animEffect>
                                    <p:anim calcmode="lin" valueType="num">
                                      <p:cBhvr additive="base">
                                        <p:cTn id="178" dur="700" fill="hold"/>
                                        <p:tgtEl>
                                          <p:spTgt spid="46"/>
                                        </p:tgtEl>
                                        <p:attrNameLst>
                                          <p:attrName>ppt_y</p:attrName>
                                        </p:attrNameLst>
                                      </p:cBhvr>
                                      <p:tavLst>
                                        <p:tav tm="0">
                                          <p:val>
                                            <p:strVal val="#ppt_y+0.03"/>
                                          </p:val>
                                        </p:tav>
                                        <p:tav tm="100000">
                                          <p:val>
                                            <p:strVal val="#ppt_y"/>
                                          </p:val>
                                        </p:tav>
                                      </p:tavLst>
                                    </p:anim>
                                  </p:childTnLst>
                                </p:cTn>
                              </p:par>
                              <p:par>
                                <p:cTn id="179" presetID="42" presetClass="entr" presetSubtype="0" decel="100000" fill="hold" grpId="0" nodeType="withEffect">
                                  <p:stCondLst>
                                    <p:cond delay="1130"/>
                                  </p:stCondLst>
                                  <p:childTnLst>
                                    <p:set>
                                      <p:cBhvr>
                                        <p:cTn id="180" dur="1" fill="hold">
                                          <p:stCondLst>
                                            <p:cond delay="0"/>
                                          </p:stCondLst>
                                        </p:cTn>
                                        <p:tgtEl>
                                          <p:spTgt spid="47"/>
                                        </p:tgtEl>
                                        <p:attrNameLst>
                                          <p:attrName>style.visibility</p:attrName>
                                        </p:attrNameLst>
                                      </p:cBhvr>
                                      <p:to>
                                        <p:strVal val="visible"/>
                                      </p:to>
                                    </p:set>
                                    <p:animEffect transition="in" filter="fade">
                                      <p:cBhvr>
                                        <p:cTn id="181" dur="700"/>
                                        <p:tgtEl>
                                          <p:spTgt spid="47"/>
                                        </p:tgtEl>
                                      </p:cBhvr>
                                    </p:animEffect>
                                    <p:anim calcmode="lin" valueType="num">
                                      <p:cBhvr additive="base">
                                        <p:cTn id="182" dur="700" fill="hold"/>
                                        <p:tgtEl>
                                          <p:spTgt spid="47"/>
                                        </p:tgtEl>
                                        <p:attrNameLst>
                                          <p:attrName>ppt_y</p:attrName>
                                        </p:attrNameLst>
                                      </p:cBhvr>
                                      <p:tavLst>
                                        <p:tav tm="0">
                                          <p:val>
                                            <p:strVal val="#ppt_y+0.03"/>
                                          </p:val>
                                        </p:tav>
                                        <p:tav tm="100000">
                                          <p:val>
                                            <p:strVal val="#ppt_y"/>
                                          </p:val>
                                        </p:tav>
                                      </p:tavLst>
                                    </p:anim>
                                  </p:childTnLst>
                                </p:cTn>
                              </p:par>
                              <p:par>
                                <p:cTn id="183" presetID="42" presetClass="entr" presetSubtype="0" decel="100000" fill="hold" grpId="0" nodeType="withEffect">
                                  <p:stCondLst>
                                    <p:cond delay="1130"/>
                                  </p:stCondLst>
                                  <p:childTnLst>
                                    <p:set>
                                      <p:cBhvr>
                                        <p:cTn id="184" dur="1" fill="hold">
                                          <p:stCondLst>
                                            <p:cond delay="0"/>
                                          </p:stCondLst>
                                        </p:cTn>
                                        <p:tgtEl>
                                          <p:spTgt spid="48"/>
                                        </p:tgtEl>
                                        <p:attrNameLst>
                                          <p:attrName>style.visibility</p:attrName>
                                        </p:attrNameLst>
                                      </p:cBhvr>
                                      <p:to>
                                        <p:strVal val="visible"/>
                                      </p:to>
                                    </p:set>
                                    <p:animEffect transition="in" filter="fade">
                                      <p:cBhvr>
                                        <p:cTn id="185" dur="700"/>
                                        <p:tgtEl>
                                          <p:spTgt spid="48"/>
                                        </p:tgtEl>
                                      </p:cBhvr>
                                    </p:animEffect>
                                    <p:anim calcmode="lin" valueType="num">
                                      <p:cBhvr additive="base">
                                        <p:cTn id="186" dur="700" fill="hold"/>
                                        <p:tgtEl>
                                          <p:spTgt spid="48"/>
                                        </p:tgtEl>
                                        <p:attrNameLst>
                                          <p:attrName>ppt_y</p:attrName>
                                        </p:attrNameLst>
                                      </p:cBhvr>
                                      <p:tavLst>
                                        <p:tav tm="0">
                                          <p:val>
                                            <p:strVal val="#ppt_y+0.03"/>
                                          </p:val>
                                        </p:tav>
                                        <p:tav tm="100000">
                                          <p:val>
                                            <p:strVal val="#ppt_y"/>
                                          </p:val>
                                        </p:tav>
                                      </p:tavLst>
                                    </p:anim>
                                  </p:childTnLst>
                                </p:cTn>
                              </p:par>
                              <p:par>
                                <p:cTn id="187" presetID="42" presetClass="entr" presetSubtype="0" decel="100000" fill="hold" grpId="0" nodeType="withEffect">
                                  <p:stCondLst>
                                    <p:cond delay="1130"/>
                                  </p:stCondLst>
                                  <p:childTnLst>
                                    <p:set>
                                      <p:cBhvr>
                                        <p:cTn id="188" dur="1" fill="hold">
                                          <p:stCondLst>
                                            <p:cond delay="0"/>
                                          </p:stCondLst>
                                        </p:cTn>
                                        <p:tgtEl>
                                          <p:spTgt spid="49"/>
                                        </p:tgtEl>
                                        <p:attrNameLst>
                                          <p:attrName>style.visibility</p:attrName>
                                        </p:attrNameLst>
                                      </p:cBhvr>
                                      <p:to>
                                        <p:strVal val="visible"/>
                                      </p:to>
                                    </p:set>
                                    <p:animEffect transition="in" filter="fade">
                                      <p:cBhvr>
                                        <p:cTn id="189" dur="700"/>
                                        <p:tgtEl>
                                          <p:spTgt spid="49"/>
                                        </p:tgtEl>
                                      </p:cBhvr>
                                    </p:animEffect>
                                    <p:anim calcmode="lin" valueType="num">
                                      <p:cBhvr additive="base">
                                        <p:cTn id="190" dur="700" fill="hold"/>
                                        <p:tgtEl>
                                          <p:spTgt spid="49"/>
                                        </p:tgtEl>
                                        <p:attrNameLst>
                                          <p:attrName>ppt_y</p:attrName>
                                        </p:attrNameLst>
                                      </p:cBhvr>
                                      <p:tavLst>
                                        <p:tav tm="0">
                                          <p:val>
                                            <p:strVal val="#ppt_y+0.03"/>
                                          </p:val>
                                        </p:tav>
                                        <p:tav tm="100000">
                                          <p:val>
                                            <p:strVal val="#ppt_y"/>
                                          </p:val>
                                        </p:tav>
                                      </p:tavLst>
                                    </p:anim>
                                  </p:childTnLst>
                                </p:cTn>
                              </p:par>
                              <p:par>
                                <p:cTn id="191" presetID="42" presetClass="entr" presetSubtype="0" decel="100000" fill="hold" grpId="0" nodeType="withEffect">
                                  <p:stCondLst>
                                    <p:cond delay="135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700"/>
                                        <p:tgtEl>
                                          <p:spTgt spid="50"/>
                                        </p:tgtEl>
                                      </p:cBhvr>
                                    </p:animEffect>
                                    <p:anim calcmode="lin" valueType="num">
                                      <p:cBhvr additive="base">
                                        <p:cTn id="194" dur="700" fill="hold"/>
                                        <p:tgtEl>
                                          <p:spTgt spid="50"/>
                                        </p:tgtEl>
                                        <p:attrNameLst>
                                          <p:attrName>ppt_y</p:attrName>
                                        </p:attrNameLst>
                                      </p:cBhvr>
                                      <p:tavLst>
                                        <p:tav tm="0">
                                          <p:val>
                                            <p:strVal val="#ppt_y+0.03"/>
                                          </p:val>
                                        </p:tav>
                                        <p:tav tm="100000">
                                          <p:val>
                                            <p:strVal val="#ppt_y"/>
                                          </p:val>
                                        </p:tav>
                                      </p:tavLst>
                                    </p:anim>
                                  </p:childTnLst>
                                </p:cTn>
                              </p:par>
                              <p:par>
                                <p:cTn id="195" presetID="42" presetClass="entr" presetSubtype="0" decel="100000" fill="hold" grpId="0" nodeType="withEffect">
                                  <p:stCondLst>
                                    <p:cond delay="1350"/>
                                  </p:stCondLst>
                                  <p:childTnLst>
                                    <p:set>
                                      <p:cBhvr>
                                        <p:cTn id="196" dur="1" fill="hold">
                                          <p:stCondLst>
                                            <p:cond delay="0"/>
                                          </p:stCondLst>
                                        </p:cTn>
                                        <p:tgtEl>
                                          <p:spTgt spid="51"/>
                                        </p:tgtEl>
                                        <p:attrNameLst>
                                          <p:attrName>style.visibility</p:attrName>
                                        </p:attrNameLst>
                                      </p:cBhvr>
                                      <p:to>
                                        <p:strVal val="visible"/>
                                      </p:to>
                                    </p:set>
                                    <p:animEffect transition="in" filter="fade">
                                      <p:cBhvr>
                                        <p:cTn id="197" dur="700"/>
                                        <p:tgtEl>
                                          <p:spTgt spid="51"/>
                                        </p:tgtEl>
                                      </p:cBhvr>
                                    </p:animEffect>
                                    <p:anim calcmode="lin" valueType="num">
                                      <p:cBhvr additive="base">
                                        <p:cTn id="198"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P spid="186" grpId="0" animBg="1"/>
      <p:bldP spid="187" grpId="0" animBg="1"/>
      <p:bldP spid="18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s0n"/>
          <p:cNvSpPr txBox="1"/>
          <p:nvPr/>
        </p:nvSpPr>
        <p:spPr>
          <a:xfrm>
            <a:off x="777240" y="1741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771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111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533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2float_s1n"/>
          <p:cNvSpPr txBox="1"/>
          <p:nvPr/>
        </p:nvSpPr>
        <p:spPr>
          <a:xfrm>
            <a:off x="777240" y="2583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613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2953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375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3float_s2n"/>
          <p:cNvSpPr txBox="1"/>
          <p:nvPr/>
        </p:nvSpPr>
        <p:spPr>
          <a:xfrm>
            <a:off x="777240" y="3425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×4</a:t>
            </a:r>
            <a:endParaRPr lang="en-US" sz="3200" dirty="0"/>
          </a:p>
        </p:txBody>
      </p:sp>
      <p:sp>
        <p:nvSpPr>
          <p:cNvPr id="17" name="a3float_s2t"/>
          <p:cNvSpPr txBox="1"/>
          <p:nvPr/>
        </p:nvSpPr>
        <p:spPr>
          <a:xfrm>
            <a:off x="2743200" y="3455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Bahrain mangrove pledge by 2035</a:t>
            </a:r>
            <a:endParaRPr lang="en-US" sz="1400" dirty="0"/>
          </a:p>
        </p:txBody>
      </p:sp>
      <p:sp>
        <p:nvSpPr>
          <p:cNvPr id="18" name="a3float_s2c"/>
          <p:cNvSpPr txBox="1"/>
          <p:nvPr/>
        </p:nvSpPr>
        <p:spPr>
          <a:xfrm>
            <a:off x="2743200" y="3795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national net-zero path</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txBody>
          <a:bodyPr/>
          <a:lstStyle/>
          <a:p>
            <a:endParaRPr lang="en-GB"/>
          </a:p>
        </p:txBody>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txBody>
          <a:bodyPr/>
          <a:lstStyle/>
          <a:p>
            <a:endParaRPr lang="en-GB"/>
          </a:p>
        </p:txBody>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txBody>
          <a:bodyPr/>
          <a:lstStyle/>
          <a:p>
            <a:endParaRPr lang="en-GB"/>
          </a:p>
        </p:txBody>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txBody>
          <a:bodyPr/>
          <a:lstStyle/>
          <a:p>
            <a:endParaRPr lang="en-GB"/>
          </a:p>
        </p:txBody>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txBody>
          <a:bodyPr/>
          <a:lstStyle/>
          <a:p>
            <a:endParaRPr lang="en-GB"/>
          </a:p>
        </p:txBody>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
        <p:nvSpPr>
          <p:cNvPr id="40" name="a4float_s3"/>
          <p:cNvSpPr/>
          <p:nvPr/>
        </p:nvSpPr>
        <p:spPr>
          <a:xfrm>
            <a:off x="548640" y="4217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4float_s3n"/>
          <p:cNvSpPr txBox="1"/>
          <p:nvPr/>
        </p:nvSpPr>
        <p:spPr>
          <a:xfrm>
            <a:off x="777240" y="4267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38" name="a4float_s3t"/>
          <p:cNvSpPr txBox="1"/>
          <p:nvPr/>
        </p:nvSpPr>
        <p:spPr>
          <a:xfrm>
            <a:off x="2743200" y="4297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39" name="a4float_s3c"/>
          <p:cNvSpPr txBox="1"/>
          <p:nvPr/>
        </p:nvSpPr>
        <p:spPr>
          <a:xfrm>
            <a:off x="2743200" y="4637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53"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UAE 100 M by 2030 — MOCCAE, COP26 (2021) · Saudi 100 M+ — Saudi Green Initiative · Bahrain ×4 by 2035 — COP26 (2021) · GCC mangrove monitoring guide — Environment Agency – Abu Dhabi with IUCN Mangrove Specialist Group (Feb 2026) · Guidelines for Mangrove Restoration in the UAE — EAD, MOCCAE, Emirates Nature–WWF</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700"/>
                                        <p:tgtEl>
                                          <p:spTgt spid="40"/>
                                        </p:tgtEl>
                                      </p:cBhvr>
                                    </p:animEffect>
                                    <p:anim calcmode="lin" valueType="num">
                                      <p:cBhvr additive="base">
                                        <p:cTn id="69" dur="700" fill="hold"/>
                                        <p:tgtEl>
                                          <p:spTgt spid="4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700"/>
                                        <p:tgtEl>
                                          <p:spTgt spid="16"/>
                                        </p:tgtEl>
                                      </p:cBhvr>
                                    </p:animEffect>
                                    <p:anim calcmode="lin" valueType="num">
                                      <p:cBhvr additive="base">
                                        <p:cTn id="73" dur="7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700"/>
                                        <p:tgtEl>
                                          <p:spTgt spid="37"/>
                                        </p:tgtEl>
                                      </p:cBhvr>
                                    </p:animEffect>
                                    <p:anim calcmode="lin" valueType="num">
                                      <p:cBhvr additive="base">
                                        <p:cTn id="77" dur="700" fill="hold"/>
                                        <p:tgtEl>
                                          <p:spTgt spid="37"/>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91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91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700"/>
                                        <p:tgtEl>
                                          <p:spTgt spid="38"/>
                                        </p:tgtEl>
                                      </p:cBhvr>
                                    </p:animEffect>
                                    <p:anim calcmode="lin" valueType="num">
                                      <p:cBhvr additive="base">
                                        <p:cTn id="85" dur="700" fill="hold"/>
                                        <p:tgtEl>
                                          <p:spTgt spid="38"/>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91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700"/>
                                        <p:tgtEl>
                                          <p:spTgt spid="18"/>
                                        </p:tgtEl>
                                      </p:cBhvr>
                                    </p:animEffect>
                                    <p:anim calcmode="lin" valueType="num">
                                      <p:cBhvr additive="base">
                                        <p:cTn id="89" dur="700" fill="hold"/>
                                        <p:tgtEl>
                                          <p:spTgt spid="18"/>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91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700"/>
                                        <p:tgtEl>
                                          <p:spTgt spid="39"/>
                                        </p:tgtEl>
                                      </p:cBhvr>
                                    </p:animEffect>
                                    <p:anim calcmode="lin" valueType="num">
                                      <p:cBhvr additive="base">
                                        <p:cTn id="93" dur="700" fill="hold"/>
                                        <p:tgtEl>
                                          <p:spTgt spid="39"/>
                                        </p:tgtEl>
                                        <p:attrNameLst>
                                          <p:attrName>ppt_y</p:attrName>
                                        </p:attrNameLst>
                                      </p:cBhvr>
                                      <p:tavLst>
                                        <p:tav tm="0">
                                          <p:val>
                                            <p:strVal val="#ppt_y+0.03"/>
                                          </p:val>
                                        </p:tav>
                                        <p:tav tm="100000">
                                          <p:val>
                                            <p:strVal val="#ppt_y"/>
                                          </p:val>
                                        </p:tav>
                                      </p:tavLst>
                                    </p:anim>
                                  </p:childTnLst>
                                </p:cTn>
                              </p:par>
                              <p:par>
                                <p:cTn id="94" presetID="53" presetClass="entr" presetSubtype="16" decel="100000" fill="hold" grpId="0" nodeType="withEffect">
                                  <p:stCondLst>
                                    <p:cond delay="91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700"/>
                                        <p:tgtEl>
                                          <p:spTgt spid="25"/>
                                        </p:tgtEl>
                                      </p:cBhvr>
                                    </p:animEffect>
                                    <p:anim calcmode="lin" valueType="num">
                                      <p:cBhvr additive="base">
                                        <p:cTn id="97" dur="800" fill="hold"/>
                                        <p:tgtEl>
                                          <p:spTgt spid="25"/>
                                        </p:tgtEl>
                                        <p:attrNameLst>
                                          <p:attrName>ppt_w</p:attrName>
                                        </p:attrNameLst>
                                      </p:cBhvr>
                                      <p:tavLst>
                                        <p:tav tm="0">
                                          <p:val>
                                            <p:strVal val="#ppt_w*0.85"/>
                                          </p:val>
                                        </p:tav>
                                        <p:tav tm="100000">
                                          <p:val>
                                            <p:strVal val="#ppt_w"/>
                                          </p:val>
                                        </p:tav>
                                      </p:tavLst>
                                    </p:anim>
                                    <p:anim calcmode="lin" valueType="num">
                                      <p:cBhvr additive="base">
                                        <p:cTn id="98" dur="800" fill="hold"/>
                                        <p:tgtEl>
                                          <p:spTgt spid="25"/>
                                        </p:tgtEl>
                                        <p:attrNameLst>
                                          <p:attrName>ppt_h</p:attrName>
                                        </p:attrNameLst>
                                      </p:cBhvr>
                                      <p:tavLst>
                                        <p:tav tm="0">
                                          <p:val>
                                            <p:strVal val="#ppt_h*0.85"/>
                                          </p:val>
                                        </p:tav>
                                        <p:tav tm="100000">
                                          <p:val>
                                            <p:strVal val="#ppt_h"/>
                                          </p:val>
                                        </p:tav>
                                      </p:tavLst>
                                    </p:anim>
                                  </p:childTnLst>
                                </p:cTn>
                              </p:par>
                              <p:par>
                                <p:cTn id="99" presetID="53" presetClass="entr" presetSubtype="16" decel="100000" fill="hold" grpId="0" nodeType="withEffect">
                                  <p:stCondLst>
                                    <p:cond delay="91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700"/>
                                        <p:tgtEl>
                                          <p:spTgt spid="26"/>
                                        </p:tgtEl>
                                      </p:cBhvr>
                                    </p:animEffect>
                                    <p:anim calcmode="lin" valueType="num">
                                      <p:cBhvr additive="base">
                                        <p:cTn id="102" dur="800" fill="hold"/>
                                        <p:tgtEl>
                                          <p:spTgt spid="26"/>
                                        </p:tgtEl>
                                        <p:attrNameLst>
                                          <p:attrName>ppt_w</p:attrName>
                                        </p:attrNameLst>
                                      </p:cBhvr>
                                      <p:tavLst>
                                        <p:tav tm="0">
                                          <p:val>
                                            <p:strVal val="#ppt_w*0.85"/>
                                          </p:val>
                                        </p:tav>
                                        <p:tav tm="100000">
                                          <p:val>
                                            <p:strVal val="#ppt_w"/>
                                          </p:val>
                                        </p:tav>
                                      </p:tavLst>
                                    </p:anim>
                                    <p:anim calcmode="lin" valueType="num">
                                      <p:cBhvr additive="base">
                                        <p:cTn id="103" dur="800" fill="hold"/>
                                        <p:tgtEl>
                                          <p:spTgt spid="26"/>
                                        </p:tgtEl>
                                        <p:attrNameLst>
                                          <p:attrName>ppt_h</p:attrName>
                                        </p:attrNameLst>
                                      </p:cBhvr>
                                      <p:tavLst>
                                        <p:tav tm="0">
                                          <p:val>
                                            <p:strVal val="#ppt_h*0.85"/>
                                          </p:val>
                                        </p:tav>
                                        <p:tav tm="100000">
                                          <p:val>
                                            <p:strVal val="#ppt_h"/>
                                          </p:val>
                                        </p:tav>
                                      </p:tavLst>
                                    </p:anim>
                                  </p:childTnLst>
                                </p:cTn>
                              </p:par>
                              <p:par>
                                <p:cTn id="104" presetID="53" presetClass="entr" presetSubtype="16" decel="100000" fill="hold" grpId="0" nodeType="withEffect">
                                  <p:stCondLst>
                                    <p:cond delay="91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700"/>
                                        <p:tgtEl>
                                          <p:spTgt spid="27"/>
                                        </p:tgtEl>
                                      </p:cBhvr>
                                    </p:animEffect>
                                    <p:anim calcmode="lin" valueType="num">
                                      <p:cBhvr additive="base">
                                        <p:cTn id="107" dur="800" fill="hold"/>
                                        <p:tgtEl>
                                          <p:spTgt spid="27"/>
                                        </p:tgtEl>
                                        <p:attrNameLst>
                                          <p:attrName>ppt_w</p:attrName>
                                        </p:attrNameLst>
                                      </p:cBhvr>
                                      <p:tavLst>
                                        <p:tav tm="0">
                                          <p:val>
                                            <p:strVal val="#ppt_w*0.85"/>
                                          </p:val>
                                        </p:tav>
                                        <p:tav tm="100000">
                                          <p:val>
                                            <p:strVal val="#ppt_w"/>
                                          </p:val>
                                        </p:tav>
                                      </p:tavLst>
                                    </p:anim>
                                    <p:anim calcmode="lin" valueType="num">
                                      <p:cBhvr additive="base">
                                        <p:cTn id="108" dur="800" fill="hold"/>
                                        <p:tgtEl>
                                          <p:spTgt spid="27"/>
                                        </p:tgtEl>
                                        <p:attrNameLst>
                                          <p:attrName>ppt_h</p:attrName>
                                        </p:attrNameLst>
                                      </p:cBhvr>
                                      <p:tavLst>
                                        <p:tav tm="0">
                                          <p:val>
                                            <p:strVal val="#ppt_h*0.85"/>
                                          </p:val>
                                        </p:tav>
                                        <p:tav tm="100000">
                                          <p:val>
                                            <p:strVal val="#ppt_h"/>
                                          </p:val>
                                        </p:tav>
                                      </p:tavLst>
                                    </p:anim>
                                  </p:childTnLst>
                                </p:cTn>
                              </p:par>
                              <p:par>
                                <p:cTn id="109" presetID="42" presetClass="entr" presetSubtype="0" decel="100000" fill="hold" grpId="0" nodeType="withEffect">
                                  <p:stCondLst>
                                    <p:cond delay="113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700"/>
                                        <p:tgtEl>
                                          <p:spTgt spid="19"/>
                                        </p:tgtEl>
                                      </p:cBhvr>
                                    </p:animEffect>
                                    <p:anim calcmode="lin" valueType="num">
                                      <p:cBhvr additive="base">
                                        <p:cTn id="112" dur="700" fill="hold"/>
                                        <p:tgtEl>
                                          <p:spTgt spid="19"/>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13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700"/>
                                        <p:tgtEl>
                                          <p:spTgt spid="20"/>
                                        </p:tgtEl>
                                      </p:cBhvr>
                                    </p:animEffect>
                                    <p:anim calcmode="lin" valueType="num">
                                      <p:cBhvr additive="base">
                                        <p:cTn id="116" dur="700" fill="hold"/>
                                        <p:tgtEl>
                                          <p:spTgt spid="20"/>
                                        </p:tgtEl>
                                        <p:attrNameLst>
                                          <p:attrName>ppt_y</p:attrName>
                                        </p:attrNameLst>
                                      </p:cBhvr>
                                      <p:tavLst>
                                        <p:tav tm="0">
                                          <p:val>
                                            <p:strVal val="#ppt_y+0.03"/>
                                          </p:val>
                                        </p:tav>
                                        <p:tav tm="100000">
                                          <p:val>
                                            <p:strVal val="#ppt_y"/>
                                          </p:val>
                                        </p:tav>
                                      </p:tavLst>
                                    </p:anim>
                                  </p:childTnLst>
                                </p:cTn>
                              </p:par>
                              <p:par>
                                <p:cTn id="117" presetID="53" presetClass="entr" presetSubtype="16" decel="100000" fill="hold" grpId="0" nodeType="withEffect">
                                  <p:stCondLst>
                                    <p:cond delay="113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700"/>
                                        <p:tgtEl>
                                          <p:spTgt spid="28"/>
                                        </p:tgtEl>
                                      </p:cBhvr>
                                    </p:animEffect>
                                    <p:anim calcmode="lin" valueType="num">
                                      <p:cBhvr additive="base">
                                        <p:cTn id="120" dur="800" fill="hold"/>
                                        <p:tgtEl>
                                          <p:spTgt spid="28"/>
                                        </p:tgtEl>
                                        <p:attrNameLst>
                                          <p:attrName>ppt_w</p:attrName>
                                        </p:attrNameLst>
                                      </p:cBhvr>
                                      <p:tavLst>
                                        <p:tav tm="0">
                                          <p:val>
                                            <p:strVal val="#ppt_w*0.85"/>
                                          </p:val>
                                        </p:tav>
                                        <p:tav tm="100000">
                                          <p:val>
                                            <p:strVal val="#ppt_w"/>
                                          </p:val>
                                        </p:tav>
                                      </p:tavLst>
                                    </p:anim>
                                    <p:anim calcmode="lin" valueType="num">
                                      <p:cBhvr additive="base">
                                        <p:cTn id="121" dur="800" fill="hold"/>
                                        <p:tgtEl>
                                          <p:spTgt spid="28"/>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113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700"/>
                                        <p:tgtEl>
                                          <p:spTgt spid="29"/>
                                        </p:tgtEl>
                                      </p:cBhvr>
                                    </p:animEffect>
                                    <p:anim calcmode="lin" valueType="num">
                                      <p:cBhvr additive="base">
                                        <p:cTn id="125" dur="800" fill="hold"/>
                                        <p:tgtEl>
                                          <p:spTgt spid="29"/>
                                        </p:tgtEl>
                                        <p:attrNameLst>
                                          <p:attrName>ppt_w</p:attrName>
                                        </p:attrNameLst>
                                      </p:cBhvr>
                                      <p:tavLst>
                                        <p:tav tm="0">
                                          <p:val>
                                            <p:strVal val="#ppt_w*0.85"/>
                                          </p:val>
                                        </p:tav>
                                        <p:tav tm="100000">
                                          <p:val>
                                            <p:strVal val="#ppt_w"/>
                                          </p:val>
                                        </p:tav>
                                      </p:tavLst>
                                    </p:anim>
                                    <p:anim calcmode="lin" valueType="num">
                                      <p:cBhvr additive="base">
                                        <p:cTn id="126" dur="800" fill="hold"/>
                                        <p:tgtEl>
                                          <p:spTgt spid="29"/>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113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700"/>
                                        <p:tgtEl>
                                          <p:spTgt spid="30"/>
                                        </p:tgtEl>
                                      </p:cBhvr>
                                    </p:animEffect>
                                    <p:anim calcmode="lin" valueType="num">
                                      <p:cBhvr additive="base">
                                        <p:cTn id="130" dur="800" fill="hold"/>
                                        <p:tgtEl>
                                          <p:spTgt spid="30"/>
                                        </p:tgtEl>
                                        <p:attrNameLst>
                                          <p:attrName>ppt_w</p:attrName>
                                        </p:attrNameLst>
                                      </p:cBhvr>
                                      <p:tavLst>
                                        <p:tav tm="0">
                                          <p:val>
                                            <p:strVal val="#ppt_w*0.85"/>
                                          </p:val>
                                        </p:tav>
                                        <p:tav tm="100000">
                                          <p:val>
                                            <p:strVal val="#ppt_w"/>
                                          </p:val>
                                        </p:tav>
                                      </p:tavLst>
                                    </p:anim>
                                    <p:anim calcmode="lin" valueType="num">
                                      <p:cBhvr additive="base">
                                        <p:cTn id="131" dur="800" fill="hold"/>
                                        <p:tgtEl>
                                          <p:spTgt spid="30"/>
                                        </p:tgtEl>
                                        <p:attrNameLst>
                                          <p:attrName>ppt_h</p:attrName>
                                        </p:attrNameLst>
                                      </p:cBhvr>
                                      <p:tavLst>
                                        <p:tav tm="0">
                                          <p:val>
                                            <p:strVal val="#ppt_h*0.85"/>
                                          </p:val>
                                        </p:tav>
                                        <p:tav tm="100000">
                                          <p:val>
                                            <p:strVal val="#ppt_h"/>
                                          </p:val>
                                        </p:tav>
                                      </p:tavLst>
                                    </p:anim>
                                  </p:childTnLst>
                                </p:cTn>
                              </p:par>
                              <p:par>
                                <p:cTn id="132" presetID="53" presetClass="entr" presetSubtype="16" decel="100000" fill="hold" grpId="0" nodeType="withEffect">
                                  <p:stCondLst>
                                    <p:cond delay="1350"/>
                                  </p:stCondLst>
                                  <p:childTnLst>
                                    <p:set>
                                      <p:cBhvr>
                                        <p:cTn id="133" dur="1" fill="hold">
                                          <p:stCondLst>
                                            <p:cond delay="0"/>
                                          </p:stCondLst>
                                        </p:cTn>
                                        <p:tgtEl>
                                          <p:spTgt spid="31"/>
                                        </p:tgtEl>
                                        <p:attrNameLst>
                                          <p:attrName>style.visibility</p:attrName>
                                        </p:attrNameLst>
                                      </p:cBhvr>
                                      <p:to>
                                        <p:strVal val="visible"/>
                                      </p:to>
                                    </p:set>
                                    <p:animEffect transition="in" filter="fade">
                                      <p:cBhvr>
                                        <p:cTn id="134" dur="700"/>
                                        <p:tgtEl>
                                          <p:spTgt spid="31"/>
                                        </p:tgtEl>
                                      </p:cBhvr>
                                    </p:animEffect>
                                    <p:anim calcmode="lin" valueType="num">
                                      <p:cBhvr additive="base">
                                        <p:cTn id="135" dur="800" fill="hold"/>
                                        <p:tgtEl>
                                          <p:spTgt spid="31"/>
                                        </p:tgtEl>
                                        <p:attrNameLst>
                                          <p:attrName>ppt_w</p:attrName>
                                        </p:attrNameLst>
                                      </p:cBhvr>
                                      <p:tavLst>
                                        <p:tav tm="0">
                                          <p:val>
                                            <p:strVal val="#ppt_w*0.85"/>
                                          </p:val>
                                        </p:tav>
                                        <p:tav tm="100000">
                                          <p:val>
                                            <p:strVal val="#ppt_w"/>
                                          </p:val>
                                        </p:tav>
                                      </p:tavLst>
                                    </p:anim>
                                    <p:anim calcmode="lin" valueType="num">
                                      <p:cBhvr additive="base">
                                        <p:cTn id="136" dur="800" fill="hold"/>
                                        <p:tgtEl>
                                          <p:spTgt spid="31"/>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35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700"/>
                                        <p:tgtEl>
                                          <p:spTgt spid="32"/>
                                        </p:tgtEl>
                                      </p:cBhvr>
                                    </p:animEffect>
                                    <p:anim calcmode="lin" valueType="num">
                                      <p:cBhvr additive="base">
                                        <p:cTn id="140" dur="800" fill="hold"/>
                                        <p:tgtEl>
                                          <p:spTgt spid="32"/>
                                        </p:tgtEl>
                                        <p:attrNameLst>
                                          <p:attrName>ppt_w</p:attrName>
                                        </p:attrNameLst>
                                      </p:cBhvr>
                                      <p:tavLst>
                                        <p:tav tm="0">
                                          <p:val>
                                            <p:strVal val="#ppt_w*0.85"/>
                                          </p:val>
                                        </p:tav>
                                        <p:tav tm="100000">
                                          <p:val>
                                            <p:strVal val="#ppt_w"/>
                                          </p:val>
                                        </p:tav>
                                      </p:tavLst>
                                    </p:anim>
                                    <p:anim calcmode="lin" valueType="num">
                                      <p:cBhvr additive="base">
                                        <p:cTn id="141" dur="800" fill="hold"/>
                                        <p:tgtEl>
                                          <p:spTgt spid="32"/>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35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700"/>
                                        <p:tgtEl>
                                          <p:spTgt spid="33"/>
                                        </p:tgtEl>
                                      </p:cBhvr>
                                    </p:animEffect>
                                    <p:anim calcmode="lin" valueType="num">
                                      <p:cBhvr additive="base">
                                        <p:cTn id="145" dur="800" fill="hold"/>
                                        <p:tgtEl>
                                          <p:spTgt spid="33"/>
                                        </p:tgtEl>
                                        <p:attrNameLst>
                                          <p:attrName>ppt_w</p:attrName>
                                        </p:attrNameLst>
                                      </p:cBhvr>
                                      <p:tavLst>
                                        <p:tav tm="0">
                                          <p:val>
                                            <p:strVal val="#ppt_w*0.85"/>
                                          </p:val>
                                        </p:tav>
                                        <p:tav tm="100000">
                                          <p:val>
                                            <p:strVal val="#ppt_w"/>
                                          </p:val>
                                        </p:tav>
                                      </p:tavLst>
                                    </p:anim>
                                    <p:anim calcmode="lin" valueType="num">
                                      <p:cBhvr additive="base">
                                        <p:cTn id="146" dur="800" fill="hold"/>
                                        <p:tgtEl>
                                          <p:spTgt spid="33"/>
                                        </p:tgtEl>
                                        <p:attrNameLst>
                                          <p:attrName>ppt_h</p:attrName>
                                        </p:attrNameLst>
                                      </p:cBhvr>
                                      <p:tavLst>
                                        <p:tav tm="0">
                                          <p:val>
                                            <p:strVal val="#ppt_h*0.85"/>
                                          </p:val>
                                        </p:tav>
                                        <p:tav tm="100000">
                                          <p:val>
                                            <p:strVal val="#ppt_h"/>
                                          </p:val>
                                        </p:tav>
                                      </p:tavLst>
                                    </p:anim>
                                  </p:childTnLst>
                                </p:cTn>
                              </p:par>
                              <p:par>
                                <p:cTn id="147" presetID="10" presetClass="entr" presetSubtype="0" decel="100000" fill="hold" grpId="0" nodeType="withEffect">
                                  <p:stCondLst>
                                    <p:cond delay="157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00"/>
                                        <p:tgtEl>
                                          <p:spTgt spid="35"/>
                                        </p:tgtEl>
                                      </p:cBhvr>
                                    </p:animEffect>
                                  </p:childTnLst>
                                </p:cTn>
                              </p:par>
                              <p:par>
                                <p:cTn id="150" presetID="6" presetClass="emph" presetSubtype="0" repeatCount="indefinite" fill="hold" grpId="0" nodeType="withEffect">
                                  <p:stCondLst>
                                    <p:cond delay="1790"/>
                                  </p:stCondLst>
                                  <p:childTnLst>
                                    <p:animScale>
                                      <p:cBhvr>
                                        <p:cTn id="151" dur="1600" fill="hold"/>
                                        <p:tgtEl>
                                          <p:spTgt spid="34"/>
                                        </p:tgtEl>
                                      </p:cBhvr>
                                      <p:by x="160000" y="160000"/>
                                    </p:animScale>
                                    <p:anim calcmode="lin" valueType="num">
                                      <p:cBhvr>
                                        <p:cTn id="152"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P spid="40" grpId="0" animBg="1"/>
      <p:bldP spid="37" grpId="0" animBg="1"/>
      <p:bldP spid="38" grpId="0" animBg="1"/>
      <p:bldP spid="3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txBody>
          <a:bodyPr/>
          <a:lstStyle/>
          <a:p>
            <a:endParaRPr/>
          </a:p>
        </p:txBody>
      </p:sp>
      <p:sp>
        <p:nvSpPr>
          <p:cNvPr id="8" name="a1zoom_dot0"/>
          <p:cNvSpPr/>
          <p:nvPr/>
        </p:nvSpPr>
        <p:spPr>
          <a:xfrm>
            <a:off x="694944" y="1792224"/>
            <a:ext cx="109728" cy="109728"/>
          </a:xfrm>
          <a:prstGeom prst="ellipse">
            <a:avLst/>
          </a:prstGeom>
          <a:solidFill>
            <a:srgbClr val="FF5F57"/>
          </a:solidFill>
          <a:ln/>
        </p:spPr>
        <p:txBody>
          <a:bodyPr/>
          <a:lstStyle/>
          <a:p>
            <a:endParaRPr/>
          </a:p>
        </p:txBody>
      </p:sp>
      <p:sp>
        <p:nvSpPr>
          <p:cNvPr id="9" name="a1zoom_dot1"/>
          <p:cNvSpPr/>
          <p:nvPr/>
        </p:nvSpPr>
        <p:spPr>
          <a:xfrm>
            <a:off x="877824" y="1792224"/>
            <a:ext cx="109728" cy="109728"/>
          </a:xfrm>
          <a:prstGeom prst="ellipse">
            <a:avLst/>
          </a:prstGeom>
          <a:solidFill>
            <a:srgbClr val="FEBC2E"/>
          </a:solidFill>
          <a:ln/>
        </p:spPr>
        <p:txBody>
          <a:bodyPr/>
          <a:lstStyle/>
          <a:p>
            <a:endParaRPr/>
          </a:p>
        </p:txBody>
      </p:sp>
      <p:sp>
        <p:nvSpPr>
          <p:cNvPr id="10" name="a1zoom_dot2"/>
          <p:cNvSpPr/>
          <p:nvPr/>
        </p:nvSpPr>
        <p:spPr>
          <a:xfrm>
            <a:off x="1060704" y="1792224"/>
            <a:ext cx="109728" cy="109728"/>
          </a:xfrm>
          <a:prstGeom prst="ellipse">
            <a:avLst/>
          </a:prstGeom>
          <a:solidFill>
            <a:srgbClr val="28C840"/>
          </a:solidFill>
          <a:ln/>
        </p:spPr>
        <p:txBody>
          <a:bodyPr/>
          <a:lstStyle/>
          <a:p>
            <a:endParaRPr/>
          </a:p>
        </p:txBody>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4" name="a2float_f0_i" descr="preencoded.png"/>
          <p:cNvPicPr>
            <a:picLocks noChangeAspect="1"/>
          </p:cNvPicPr>
          <p:nvPr/>
        </p:nvPicPr>
        <p:blipFill>
          <a:blip r:embed="rId7"/>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8" name="a3float_f1_i" descr="preencoded.png"/>
          <p:cNvPicPr>
            <a:picLocks noChangeAspect="1"/>
          </p:cNvPicPr>
          <p:nvPr/>
        </p:nvPicPr>
        <p:blipFill>
          <a:blip r:embed="rId8"/>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2" name="a4float_f2_i" descr="preencoded.png"/>
          <p:cNvPicPr>
            <a:picLocks noChangeAspect="1"/>
          </p:cNvPicPr>
          <p:nvPr/>
        </p:nvPicPr>
        <p:blipFill>
          <a:blip r:embed="rId9"/>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6" name="a5float_f3_i" descr="preencoded.png"/>
          <p:cNvPicPr>
            <a:picLocks noChangeAspect="1"/>
          </p:cNvPicPr>
          <p:nvPr/>
        </p:nvPicPr>
        <p:blipFill>
          <a:blip r:embed="rId10"/>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30" name="a6float_f4_i" descr="preencoded.png"/>
          <p:cNvPicPr>
            <a:picLocks noChangeAspect="1"/>
          </p:cNvPicPr>
          <p:nvPr/>
        </p:nvPicPr>
        <p:blipFill>
          <a:blip r:embed="rId11"/>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txBody>
          <a:bodyPr/>
          <a:lstStyle/>
          <a:p>
            <a:endParaRPr/>
          </a:p>
        </p:txBody>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txBody>
          <a:bodyPr/>
          <a:lstStyle/>
          <a:p>
            <a:endParaRPr/>
          </a:p>
        </p:txBody>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DEMO  ·  the live website, stand 9</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pic>
        <p:nvPicPr>
          <p:cNvPr id="6" name="video_product">
            <a:hlinkClick r:id="" action="ppaction://media"/>
            <a:extLst>
              <a:ext uri="{FF2B5EF4-FFF2-40B4-BE49-F238E27FC236}">
                <a16:creationId xmlns:a16="http://schemas.microsoft.com/office/drawing/2014/main" id="{B6245078-A30E-4FC1-06B0-E67D597384DF}"/>
              </a:ext>
            </a:extLst>
          </p:cNvPr>
          <p:cNvPicPr>
            <a:picLocks noChangeAspect="1"/>
          </p:cNvPicPr>
          <p:nvPr>
            <a:videoFile r:link="rId2"/>
            <p:extLst>
              <p:ext uri="{DAA4B4D4-6D71-4841-9C94-3DE7FCFB9230}">
                <p14:media xmlns:p14="http://schemas.microsoft.com/office/powerpoint/2010/main" r:embed="rId1"/>
              </p:ext>
            </p:extLst>
          </p:nvPr>
        </p:nvPicPr>
        <p:blipFill>
          <a:blip r:embed="rId12"/>
          <a:stretch>
            <a:fillRect/>
          </a:stretch>
        </p:blipFill>
        <p:spPr>
          <a:xfrm>
            <a:off x="0" y="0"/>
            <a:ext cx="12192000" cy="6858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txBody>
          <a:bodyPr/>
          <a:lstStyle/>
          <a:p>
            <a:endParaRPr lang="en-GB"/>
          </a:p>
        </p:txBody>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txBody>
          <a:bodyPr/>
          <a:lstStyle/>
          <a:p>
            <a:endParaRPr lang="en-GB"/>
          </a:p>
        </p:txBody>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txBody>
          <a:bodyPr/>
          <a:lstStyle/>
          <a:p>
            <a:endParaRPr lang="en-GB"/>
          </a:p>
        </p:txBody>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txBody>
          <a:bodyPr/>
          <a:lstStyle/>
          <a:p>
            <a:endParaRPr lang="en-GB"/>
          </a:p>
        </p:txBody>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txBody>
          <a:bodyPr/>
          <a:lstStyle/>
          <a:p>
            <a:endParaRPr lang="en-GB"/>
          </a:p>
        </p:txBody>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txBody>
          <a:bodyPr/>
          <a:lstStyle/>
          <a:p>
            <a:endParaRPr lang="en-GB"/>
          </a:p>
        </p:txBody>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txBody>
          <a:bodyPr/>
          <a:lstStyle/>
          <a:p>
            <a:endParaRPr lang="en-GB"/>
          </a:p>
        </p:txBody>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
        <p:nvSpPr>
          <p:cNvPr id="247" name="a1fade_balance"/>
          <p:cNvSpPr txBox="1"/>
          <p:nvPr/>
        </p:nvSpPr>
        <p:spPr>
          <a:xfrm>
            <a:off x="548640" y="1290000"/>
            <a:ext cx="11064240" cy="330000"/>
          </a:xfrm>
          <a:prstGeom prst="rect">
            <a:avLst/>
          </a:prstGeom>
          <a:noFill/>
        </p:spPr>
        <p:txBody>
          <a:bodyPr wrap="square" lIns="0" tIns="0" rIns="0" bIns="0">
            <a:spAutoFit/>
          </a:bodyPr>
          <a:lstStyle/>
          <a:p>
            <a:r>
              <a:rPr sz="1300" b="1">
                <a:solidFill>
                  <a:srgbClr val="3F6E9E"/>
                </a:solidFill>
                <a:latin typeface="Segoe UI"/>
              </a:rPr>
              <a:t>Growth and protection, together:  </a:t>
            </a:r>
            <a:r>
              <a:rPr sz="1300" b="0">
                <a:solidFill>
                  <a:srgbClr val="1B2B40"/>
                </a:solidFill>
                <a:latin typeface="Segoe UI"/>
              </a:rPr>
              <a:t>the UAE is planting 100 million mangroves as it builds its coast. This monitor helps both succeed.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250"/>
                                  </p:stCondLst>
                                  <p:childTnLst>
                                    <p:set>
                                      <p:cBhvr>
                                        <p:cTn id="13" dur="1" fill="hold">
                                          <p:stCondLst>
                                            <p:cond delay="0"/>
                                          </p:stCondLst>
                                        </p:cTn>
                                        <p:tgtEl>
                                          <p:spTgt spid="247"/>
                                        </p:tgtEl>
                                        <p:attrNameLst>
                                          <p:attrName>style.visibility</p:attrName>
                                        </p:attrNameLst>
                                      </p:cBhvr>
                                      <p:to>
                                        <p:strVal val="visible"/>
                                      </p:to>
                                    </p:set>
                                    <p:animEffect transition="in" filter="fade">
                                      <p:cBhvr>
                                        <p:cTn id="14" dur="700"/>
                                        <p:tgtEl>
                                          <p:spTgt spid="247"/>
                                        </p:tgtEl>
                                      </p:cBhvr>
                                    </p:animEffect>
                                    <p:anim calcmode="lin" valueType="num">
                                      <p:cBhvr additive="base">
                                        <p:cTn id="15" dur="700" fill="hold"/>
                                        <p:tgtEl>
                                          <p:spTgt spid="24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700"/>
                                        <p:tgtEl>
                                          <p:spTgt spid="7"/>
                                        </p:tgtEl>
                                      </p:cBhvr>
                                    </p:animEffect>
                                    <p:anim calcmode="lin" valueType="num">
                                      <p:cBhvr additive="base">
                                        <p:cTn id="19" dur="700" fill="hold"/>
                                        <p:tgtEl>
                                          <p:spTgt spid="7"/>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700" fill="hold"/>
                                        <p:tgtEl>
                                          <p:spTgt spid="9"/>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00"/>
                                        <p:tgtEl>
                                          <p:spTgt spid="10"/>
                                        </p:tgtEl>
                                      </p:cBhvr>
                                    </p:animEffect>
                                    <p:anim calcmode="lin" valueType="num">
                                      <p:cBhvr additive="base">
                                        <p:cTn id="31" dur="700" fill="hold"/>
                                        <p:tgtEl>
                                          <p:spTgt spid="10"/>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p:tgtEl>
                                          <p:spTgt spid="11"/>
                                        </p:tgtEl>
                                      </p:cBhvr>
                                    </p:animEffect>
                                    <p:anim calcmode="lin" valueType="num">
                                      <p:cBhvr additive="base">
                                        <p:cTn id="35" dur="700" fill="hold"/>
                                        <p:tgtEl>
                                          <p:spTgt spid="11"/>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p:tgtEl>
                                          <p:spTgt spid="12"/>
                                        </p:tgtEl>
                                      </p:cBhvr>
                                    </p:animEffect>
                                    <p:anim calcmode="lin" valueType="num">
                                      <p:cBhvr additive="base">
                                        <p:cTn id="39" dur="700" fill="hold"/>
                                        <p:tgtEl>
                                          <p:spTgt spid="12"/>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anim calcmode="lin" valueType="num">
                                      <p:cBhvr additive="base">
                                        <p:cTn id="43" dur="700" fill="hold"/>
                                        <p:tgtEl>
                                          <p:spTgt spid="13"/>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700"/>
                                        <p:tgtEl>
                                          <p:spTgt spid="14"/>
                                        </p:tgtEl>
                                      </p:cBhvr>
                                    </p:animEffect>
                                    <p:anim calcmode="lin" valueType="num">
                                      <p:cBhvr additive="base">
                                        <p:cTn id="47" dur="700" fill="hold"/>
                                        <p:tgtEl>
                                          <p:spTgt spid="14"/>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p:tgtEl>
                                          <p:spTgt spid="15"/>
                                        </p:tgtEl>
                                      </p:cBhvr>
                                    </p:animEffect>
                                    <p:anim calcmode="lin" valueType="num">
                                      <p:cBhvr additive="base">
                                        <p:cTn id="51" dur="700" fill="hold"/>
                                        <p:tgtEl>
                                          <p:spTgt spid="15"/>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700"/>
                                        <p:tgtEl>
                                          <p:spTgt spid="16"/>
                                        </p:tgtEl>
                                      </p:cBhvr>
                                    </p:animEffect>
                                    <p:anim calcmode="lin" valueType="num">
                                      <p:cBhvr additive="base">
                                        <p:cTn id="55" dur="700" fill="hold"/>
                                        <p:tgtEl>
                                          <p:spTgt spid="16"/>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00"/>
                                        <p:tgtEl>
                                          <p:spTgt spid="17"/>
                                        </p:tgtEl>
                                      </p:cBhvr>
                                    </p:animEffect>
                                    <p:anim calcmode="lin" valueType="num">
                                      <p:cBhvr additive="base">
                                        <p:cTn id="59" dur="700" fill="hold"/>
                                        <p:tgtEl>
                                          <p:spTgt spid="17"/>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anim calcmode="lin" valueType="num">
                                      <p:cBhvr additive="base">
                                        <p:cTn id="63" dur="700" fill="hold"/>
                                        <p:tgtEl>
                                          <p:spTgt spid="18"/>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additive="base">
                                        <p:cTn id="67" dur="700" fill="hold"/>
                                        <p:tgtEl>
                                          <p:spTgt spid="19"/>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additive="base">
                                        <p:cTn id="71" dur="700" fill="hold"/>
                                        <p:tgtEl>
                                          <p:spTgt spid="20"/>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700"/>
                                        <p:tgtEl>
                                          <p:spTgt spid="21"/>
                                        </p:tgtEl>
                                      </p:cBhvr>
                                    </p:animEffect>
                                    <p:anim calcmode="lin" valueType="num">
                                      <p:cBhvr additive="base">
                                        <p:cTn id="75" dur="700" fill="hold"/>
                                        <p:tgtEl>
                                          <p:spTgt spid="21"/>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700"/>
                                        <p:tgtEl>
                                          <p:spTgt spid="22"/>
                                        </p:tgtEl>
                                      </p:cBhvr>
                                    </p:animEffect>
                                    <p:anim calcmode="lin" valueType="num">
                                      <p:cBhvr additive="base">
                                        <p:cTn id="79" dur="700" fill="hold"/>
                                        <p:tgtEl>
                                          <p:spTgt spid="22"/>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additive="base">
                                        <p:cTn id="87" dur="700" fill="hold"/>
                                        <p:tgtEl>
                                          <p:spTgt spid="24"/>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700"/>
                                        <p:tgtEl>
                                          <p:spTgt spid="25"/>
                                        </p:tgtEl>
                                      </p:cBhvr>
                                    </p:animEffect>
                                    <p:anim calcmode="lin" valueType="num">
                                      <p:cBhvr additive="base">
                                        <p:cTn id="91" dur="7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700"/>
                                        <p:tgtEl>
                                          <p:spTgt spid="26"/>
                                        </p:tgtEl>
                                      </p:cBhvr>
                                    </p:animEffect>
                                    <p:anim calcmode="lin" valueType="num">
                                      <p:cBhvr additive="base">
                                        <p:cTn id="95" dur="700" fill="hold"/>
                                        <p:tgtEl>
                                          <p:spTgt spid="26"/>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91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700"/>
                                        <p:tgtEl>
                                          <p:spTgt spid="36"/>
                                        </p:tgtEl>
                                      </p:cBhvr>
                                    </p:animEffect>
                                    <p:anim calcmode="lin" valueType="num">
                                      <p:cBhvr additive="base">
                                        <p:cTn id="135" dur="7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decel="100000" fill="hold" grpId="0" nodeType="withEffect">
                                  <p:stCondLst>
                                    <p:cond delay="11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childTnLst>
                                </p:cTn>
                              </p:par>
                              <p:par>
                                <p:cTn id="139" presetID="53" presetClass="entr" presetSubtype="16" decel="100000" fill="hold" grpId="0" nodeType="withEffect">
                                  <p:stCondLst>
                                    <p:cond delay="1350"/>
                                  </p:stCondLst>
                                  <p:childTnLst>
                                    <p:set>
                                      <p:cBhvr>
                                        <p:cTn id="140" dur="1" fill="hold">
                                          <p:stCondLst>
                                            <p:cond delay="0"/>
                                          </p:stCondLst>
                                        </p:cTn>
                                        <p:tgtEl>
                                          <p:spTgt spid="38"/>
                                        </p:tgtEl>
                                        <p:attrNameLst>
                                          <p:attrName>style.visibility</p:attrName>
                                        </p:attrNameLst>
                                      </p:cBhvr>
                                      <p:to>
                                        <p:strVal val="visible"/>
                                      </p:to>
                                    </p:set>
                                    <p:animEffect transition="in" filter="fade">
                                      <p:cBhvr>
                                        <p:cTn id="141" dur="450"/>
                                        <p:tgtEl>
                                          <p:spTgt spid="38"/>
                                        </p:tgtEl>
                                      </p:cBhvr>
                                    </p:animEffect>
                                    <p:anim calcmode="lin" valueType="num">
                                      <p:cBhvr additive="base">
                                        <p:cTn id="142" dur="450" fill="hold"/>
                                        <p:tgtEl>
                                          <p:spTgt spid="38"/>
                                        </p:tgtEl>
                                        <p:attrNameLst>
                                          <p:attrName>ppt_w</p:attrName>
                                        </p:attrNameLst>
                                      </p:cBhvr>
                                      <p:tavLst>
                                        <p:tav tm="0">
                                          <p:val>
                                            <p:strVal val="#ppt_w*0.2"/>
                                          </p:val>
                                        </p:tav>
                                        <p:tav tm="100000">
                                          <p:val>
                                            <p:strVal val="#ppt_w"/>
                                          </p:val>
                                        </p:tav>
                                      </p:tavLst>
                                    </p:anim>
                                    <p:anim calcmode="lin" valueType="num">
                                      <p:cBhvr additive="base">
                                        <p:cTn id="143" dur="450" fill="hold"/>
                                        <p:tgtEl>
                                          <p:spTgt spid="38"/>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50"/>
                                        <p:tgtEl>
                                          <p:spTgt spid="39"/>
                                        </p:tgtEl>
                                      </p:cBhvr>
                                    </p:animEffect>
                                    <p:anim calcmode="lin" valueType="num">
                                      <p:cBhvr additive="base">
                                        <p:cTn id="147" dur="450" fill="hold"/>
                                        <p:tgtEl>
                                          <p:spTgt spid="39"/>
                                        </p:tgtEl>
                                        <p:attrNameLst>
                                          <p:attrName>ppt_w</p:attrName>
                                        </p:attrNameLst>
                                      </p:cBhvr>
                                      <p:tavLst>
                                        <p:tav tm="0">
                                          <p:val>
                                            <p:strVal val="#ppt_w*0.2"/>
                                          </p:val>
                                        </p:tav>
                                        <p:tav tm="100000">
                                          <p:val>
                                            <p:strVal val="#ppt_w"/>
                                          </p:val>
                                        </p:tav>
                                      </p:tavLst>
                                    </p:anim>
                                    <p:anim calcmode="lin" valueType="num">
                                      <p:cBhvr additive="base">
                                        <p:cTn id="148" dur="450" fill="hold"/>
                                        <p:tgtEl>
                                          <p:spTgt spid="39"/>
                                        </p:tgtEl>
                                        <p:attrNameLst>
                                          <p:attrName>ppt_h</p:attrName>
                                        </p:attrNameLst>
                                      </p:cBhvr>
                                      <p:tavLst>
                                        <p:tav tm="0">
                                          <p:val>
                                            <p:strVal val="#ppt_h*0.2"/>
                                          </p:val>
                                        </p:tav>
                                        <p:tav tm="100000">
                                          <p:val>
                                            <p:strVal val="#ppt_h"/>
                                          </p:val>
                                        </p:tav>
                                      </p:tavLst>
                                    </p:anim>
                                  </p:childTnLst>
                                </p:cTn>
                              </p:par>
                              <p:par>
                                <p:cTn id="149" presetID="53" presetClass="entr" presetSubtype="16" decel="100000" fill="hold" grpId="0" nodeType="withEffect">
                                  <p:stCondLst>
                                    <p:cond delay="135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450"/>
                                        <p:tgtEl>
                                          <p:spTgt spid="40"/>
                                        </p:tgtEl>
                                      </p:cBhvr>
                                    </p:animEffect>
                                    <p:anim calcmode="lin" valueType="num">
                                      <p:cBhvr additive="base">
                                        <p:cTn id="152" dur="450" fill="hold"/>
                                        <p:tgtEl>
                                          <p:spTgt spid="40"/>
                                        </p:tgtEl>
                                        <p:attrNameLst>
                                          <p:attrName>ppt_w</p:attrName>
                                        </p:attrNameLst>
                                      </p:cBhvr>
                                      <p:tavLst>
                                        <p:tav tm="0">
                                          <p:val>
                                            <p:strVal val="#ppt_w*0.2"/>
                                          </p:val>
                                        </p:tav>
                                        <p:tav tm="100000">
                                          <p:val>
                                            <p:strVal val="#ppt_w"/>
                                          </p:val>
                                        </p:tav>
                                      </p:tavLst>
                                    </p:anim>
                                    <p:anim calcmode="lin" valueType="num">
                                      <p:cBhvr additive="base">
                                        <p:cTn id="153" dur="450" fill="hold"/>
                                        <p:tgtEl>
                                          <p:spTgt spid="40"/>
                                        </p:tgtEl>
                                        <p:attrNameLst>
                                          <p:attrName>ppt_h</p:attrName>
                                        </p:attrNameLst>
                                      </p:cBhvr>
                                      <p:tavLst>
                                        <p:tav tm="0">
                                          <p:val>
                                            <p:strVal val="#ppt_h*0.2"/>
                                          </p:val>
                                        </p:tav>
                                        <p:tav tm="100000">
                                          <p:val>
                                            <p:strVal val="#ppt_h"/>
                                          </p:val>
                                        </p:tav>
                                      </p:tavLst>
                                    </p:anim>
                                  </p:childTnLst>
                                </p:cTn>
                              </p:par>
                              <p:par>
                                <p:cTn id="154" presetID="53" presetClass="entr" presetSubtype="16" decel="100000" fill="hold" grpId="0" nodeType="withEffect">
                                  <p:stCondLst>
                                    <p:cond delay="1350"/>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450"/>
                                        <p:tgtEl>
                                          <p:spTgt spid="41"/>
                                        </p:tgtEl>
                                      </p:cBhvr>
                                    </p:animEffect>
                                    <p:anim calcmode="lin" valueType="num">
                                      <p:cBhvr additive="base">
                                        <p:cTn id="157" dur="450" fill="hold"/>
                                        <p:tgtEl>
                                          <p:spTgt spid="41"/>
                                        </p:tgtEl>
                                        <p:attrNameLst>
                                          <p:attrName>ppt_w</p:attrName>
                                        </p:attrNameLst>
                                      </p:cBhvr>
                                      <p:tavLst>
                                        <p:tav tm="0">
                                          <p:val>
                                            <p:strVal val="#ppt_w*0.2"/>
                                          </p:val>
                                        </p:tav>
                                        <p:tav tm="100000">
                                          <p:val>
                                            <p:strVal val="#ppt_w"/>
                                          </p:val>
                                        </p:tav>
                                      </p:tavLst>
                                    </p:anim>
                                    <p:anim calcmode="lin" valueType="num">
                                      <p:cBhvr additive="base">
                                        <p:cTn id="158" dur="450" fill="hold"/>
                                        <p:tgtEl>
                                          <p:spTgt spid="41"/>
                                        </p:tgtEl>
                                        <p:attrNameLst>
                                          <p:attrName>ppt_h</p:attrName>
                                        </p:attrNameLst>
                                      </p:cBhvr>
                                      <p:tavLst>
                                        <p:tav tm="0">
                                          <p:val>
                                            <p:strVal val="#ppt_h*0.2"/>
                                          </p:val>
                                        </p:tav>
                                        <p:tav tm="100000">
                                          <p:val>
                                            <p:strVal val="#ppt_h"/>
                                          </p:val>
                                        </p:tav>
                                      </p:tavLst>
                                    </p:anim>
                                  </p:childTnLst>
                                </p:cTn>
                              </p:par>
                              <p:par>
                                <p:cTn id="159" presetID="10" presetClass="entr" presetSubtype="0" decel="100000" fill="hold" grpId="0" nodeType="withEffect">
                                  <p:stCondLst>
                                    <p:cond delay="135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600"/>
                                        <p:tgtEl>
                                          <p:spTgt spid="42"/>
                                        </p:tgtEl>
                                      </p:cBhvr>
                                    </p:animEffect>
                                  </p:childTnLst>
                                </p:cTn>
                              </p:par>
                              <p:par>
                                <p:cTn id="162" presetID="53" presetClass="entr" presetSubtype="16" decel="100000" fill="hold" grpId="0" nodeType="withEffect">
                                  <p:stCondLst>
                                    <p:cond delay="157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53" presetClass="entr" presetSubtype="16" decel="100000" fill="hold" grpId="0" nodeType="withEffect">
                                  <p:stCondLst>
                                    <p:cond delay="157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450"/>
                                        <p:tgtEl>
                                          <p:spTgt spid="44"/>
                                        </p:tgtEl>
                                      </p:cBhvr>
                                    </p:animEffect>
                                    <p:anim calcmode="lin" valueType="num">
                                      <p:cBhvr additive="base">
                                        <p:cTn id="170" dur="450" fill="hold"/>
                                        <p:tgtEl>
                                          <p:spTgt spid="44"/>
                                        </p:tgtEl>
                                        <p:attrNameLst>
                                          <p:attrName>ppt_w</p:attrName>
                                        </p:attrNameLst>
                                      </p:cBhvr>
                                      <p:tavLst>
                                        <p:tav tm="0">
                                          <p:val>
                                            <p:strVal val="#ppt_w*0.2"/>
                                          </p:val>
                                        </p:tav>
                                        <p:tav tm="100000">
                                          <p:val>
                                            <p:strVal val="#ppt_w"/>
                                          </p:val>
                                        </p:tav>
                                      </p:tavLst>
                                    </p:anim>
                                    <p:anim calcmode="lin" valueType="num">
                                      <p:cBhvr additive="base">
                                        <p:cTn id="171" dur="450" fill="hold"/>
                                        <p:tgtEl>
                                          <p:spTgt spid="44"/>
                                        </p:tgtEl>
                                        <p:attrNameLst>
                                          <p:attrName>ppt_h</p:attrName>
                                        </p:attrNameLst>
                                      </p:cBhvr>
                                      <p:tavLst>
                                        <p:tav tm="0">
                                          <p:val>
                                            <p:strVal val="#ppt_h*0.2"/>
                                          </p:val>
                                        </p:tav>
                                        <p:tav tm="100000">
                                          <p:val>
                                            <p:strVal val="#ppt_h"/>
                                          </p:val>
                                        </p:tav>
                                      </p:tavLst>
                                    </p:anim>
                                  </p:childTnLst>
                                </p:cTn>
                              </p:par>
                              <p:par>
                                <p:cTn id="172" presetID="53" presetClass="entr" presetSubtype="16" decel="100000" fill="hold" grpId="0" nodeType="withEffect">
                                  <p:stCondLst>
                                    <p:cond delay="157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450"/>
                                        <p:tgtEl>
                                          <p:spTgt spid="45"/>
                                        </p:tgtEl>
                                      </p:cBhvr>
                                    </p:animEffect>
                                    <p:anim calcmode="lin" valueType="num">
                                      <p:cBhvr additive="base">
                                        <p:cTn id="175" dur="450" fill="hold"/>
                                        <p:tgtEl>
                                          <p:spTgt spid="45"/>
                                        </p:tgtEl>
                                        <p:attrNameLst>
                                          <p:attrName>ppt_w</p:attrName>
                                        </p:attrNameLst>
                                      </p:cBhvr>
                                      <p:tavLst>
                                        <p:tav tm="0">
                                          <p:val>
                                            <p:strVal val="#ppt_w*0.2"/>
                                          </p:val>
                                        </p:tav>
                                        <p:tav tm="100000">
                                          <p:val>
                                            <p:strVal val="#ppt_w"/>
                                          </p:val>
                                        </p:tav>
                                      </p:tavLst>
                                    </p:anim>
                                    <p:anim calcmode="lin" valueType="num">
                                      <p:cBhvr additive="base">
                                        <p:cTn id="176" dur="450" fill="hold"/>
                                        <p:tgtEl>
                                          <p:spTgt spid="45"/>
                                        </p:tgtEl>
                                        <p:attrNameLst>
                                          <p:attrName>ppt_h</p:attrName>
                                        </p:attrNameLst>
                                      </p:cBhvr>
                                      <p:tavLst>
                                        <p:tav tm="0">
                                          <p:val>
                                            <p:strVal val="#ppt_h*0.2"/>
                                          </p:val>
                                        </p:tav>
                                        <p:tav tm="100000">
                                          <p:val>
                                            <p:strVal val="#ppt_h"/>
                                          </p:val>
                                        </p:tav>
                                      </p:tavLst>
                                    </p:anim>
                                  </p:childTnLst>
                                </p:cTn>
                              </p:par>
                              <p:par>
                                <p:cTn id="177" presetID="53" presetClass="entr" presetSubtype="16" decel="100000" fill="hold" grpId="0" nodeType="withEffect">
                                  <p:stCondLst>
                                    <p:cond delay="1570"/>
                                  </p:stCondLst>
                                  <p:childTnLst>
                                    <p:set>
                                      <p:cBhvr>
                                        <p:cTn id="178" dur="1" fill="hold">
                                          <p:stCondLst>
                                            <p:cond delay="0"/>
                                          </p:stCondLst>
                                        </p:cTn>
                                        <p:tgtEl>
                                          <p:spTgt spid="46"/>
                                        </p:tgtEl>
                                        <p:attrNameLst>
                                          <p:attrName>style.visibility</p:attrName>
                                        </p:attrNameLst>
                                      </p:cBhvr>
                                      <p:to>
                                        <p:strVal val="visible"/>
                                      </p:to>
                                    </p:set>
                                    <p:animEffect transition="in" filter="fade">
                                      <p:cBhvr>
                                        <p:cTn id="179" dur="450"/>
                                        <p:tgtEl>
                                          <p:spTgt spid="46"/>
                                        </p:tgtEl>
                                      </p:cBhvr>
                                    </p:animEffect>
                                    <p:anim calcmode="lin" valueType="num">
                                      <p:cBhvr additive="base">
                                        <p:cTn id="180" dur="450" fill="hold"/>
                                        <p:tgtEl>
                                          <p:spTgt spid="46"/>
                                        </p:tgtEl>
                                        <p:attrNameLst>
                                          <p:attrName>ppt_w</p:attrName>
                                        </p:attrNameLst>
                                      </p:cBhvr>
                                      <p:tavLst>
                                        <p:tav tm="0">
                                          <p:val>
                                            <p:strVal val="#ppt_w*0.2"/>
                                          </p:val>
                                        </p:tav>
                                        <p:tav tm="100000">
                                          <p:val>
                                            <p:strVal val="#ppt_w"/>
                                          </p:val>
                                        </p:tav>
                                      </p:tavLst>
                                    </p:anim>
                                    <p:anim calcmode="lin" valueType="num">
                                      <p:cBhvr additive="base">
                                        <p:cTn id="181" dur="450" fill="hold"/>
                                        <p:tgtEl>
                                          <p:spTgt spid="46"/>
                                        </p:tgtEl>
                                        <p:attrNameLst>
                                          <p:attrName>ppt_h</p:attrName>
                                        </p:attrNameLst>
                                      </p:cBhvr>
                                      <p:tavLst>
                                        <p:tav tm="0">
                                          <p:val>
                                            <p:strVal val="#ppt_h*0.2"/>
                                          </p:val>
                                        </p:tav>
                                        <p:tav tm="100000">
                                          <p:val>
                                            <p:strVal val="#ppt_h"/>
                                          </p:val>
                                        </p:tav>
                                      </p:tavLst>
                                    </p:anim>
                                  </p:childTnLst>
                                </p:cTn>
                              </p:par>
                              <p:par>
                                <p:cTn id="182" presetID="10" presetClass="entr" presetSubtype="0" decel="100000" fill="hold" grpId="0" nodeType="withEffect">
                                  <p:stCondLst>
                                    <p:cond delay="1570"/>
                                  </p:stCondLst>
                                  <p:childTnLst>
                                    <p:set>
                                      <p:cBhvr>
                                        <p:cTn id="183" dur="1" fill="hold">
                                          <p:stCondLst>
                                            <p:cond delay="0"/>
                                          </p:stCondLst>
                                        </p:cTn>
                                        <p:tgtEl>
                                          <p:spTgt spid="47"/>
                                        </p:tgtEl>
                                        <p:attrNameLst>
                                          <p:attrName>style.visibility</p:attrName>
                                        </p:attrNameLst>
                                      </p:cBhvr>
                                      <p:to>
                                        <p:strVal val="visible"/>
                                      </p:to>
                                    </p:set>
                                    <p:animEffect transition="in" filter="fade">
                                      <p:cBhvr>
                                        <p:cTn id="184" dur="600"/>
                                        <p:tgtEl>
                                          <p:spTgt spid="47"/>
                                        </p:tgtEl>
                                      </p:cBhvr>
                                    </p:animEffect>
                                  </p:childTnLst>
                                </p:cTn>
                              </p:par>
                              <p:par>
                                <p:cTn id="185" presetID="53" presetClass="entr" presetSubtype="16" decel="100000" fill="hold" grpId="0" nodeType="withEffect">
                                  <p:stCondLst>
                                    <p:cond delay="1790"/>
                                  </p:stCondLst>
                                  <p:childTnLst>
                                    <p:set>
                                      <p:cBhvr>
                                        <p:cTn id="186" dur="1" fill="hold">
                                          <p:stCondLst>
                                            <p:cond delay="0"/>
                                          </p:stCondLst>
                                        </p:cTn>
                                        <p:tgtEl>
                                          <p:spTgt spid="48"/>
                                        </p:tgtEl>
                                        <p:attrNameLst>
                                          <p:attrName>style.visibility</p:attrName>
                                        </p:attrNameLst>
                                      </p:cBhvr>
                                      <p:to>
                                        <p:strVal val="visible"/>
                                      </p:to>
                                    </p:set>
                                    <p:animEffect transition="in" filter="fade">
                                      <p:cBhvr>
                                        <p:cTn id="187" dur="450"/>
                                        <p:tgtEl>
                                          <p:spTgt spid="48"/>
                                        </p:tgtEl>
                                      </p:cBhvr>
                                    </p:animEffect>
                                    <p:anim calcmode="lin" valueType="num">
                                      <p:cBhvr additive="base">
                                        <p:cTn id="188" dur="450" fill="hold"/>
                                        <p:tgtEl>
                                          <p:spTgt spid="48"/>
                                        </p:tgtEl>
                                        <p:attrNameLst>
                                          <p:attrName>ppt_w</p:attrName>
                                        </p:attrNameLst>
                                      </p:cBhvr>
                                      <p:tavLst>
                                        <p:tav tm="0">
                                          <p:val>
                                            <p:strVal val="#ppt_w*0.2"/>
                                          </p:val>
                                        </p:tav>
                                        <p:tav tm="100000">
                                          <p:val>
                                            <p:strVal val="#ppt_w"/>
                                          </p:val>
                                        </p:tav>
                                      </p:tavLst>
                                    </p:anim>
                                    <p:anim calcmode="lin" valueType="num">
                                      <p:cBhvr additive="base">
                                        <p:cTn id="189" dur="450" fill="hold"/>
                                        <p:tgtEl>
                                          <p:spTgt spid="48"/>
                                        </p:tgtEl>
                                        <p:attrNameLst>
                                          <p:attrName>ppt_h</p:attrName>
                                        </p:attrNameLst>
                                      </p:cBhvr>
                                      <p:tavLst>
                                        <p:tav tm="0">
                                          <p:val>
                                            <p:strVal val="#ppt_h*0.2"/>
                                          </p:val>
                                        </p:tav>
                                        <p:tav tm="100000">
                                          <p:val>
                                            <p:strVal val="#ppt_h"/>
                                          </p:val>
                                        </p:tav>
                                      </p:tavLst>
                                    </p:anim>
                                  </p:childTnLst>
                                </p:cTn>
                              </p:par>
                              <p:par>
                                <p:cTn id="190" presetID="53" presetClass="entr" presetSubtype="16" decel="100000" fill="hold" grpId="0" nodeType="withEffect">
                                  <p:stCondLst>
                                    <p:cond delay="1790"/>
                                  </p:stCondLst>
                                  <p:childTnLst>
                                    <p:set>
                                      <p:cBhvr>
                                        <p:cTn id="191" dur="1" fill="hold">
                                          <p:stCondLst>
                                            <p:cond delay="0"/>
                                          </p:stCondLst>
                                        </p:cTn>
                                        <p:tgtEl>
                                          <p:spTgt spid="49"/>
                                        </p:tgtEl>
                                        <p:attrNameLst>
                                          <p:attrName>style.visibility</p:attrName>
                                        </p:attrNameLst>
                                      </p:cBhvr>
                                      <p:to>
                                        <p:strVal val="visible"/>
                                      </p:to>
                                    </p:set>
                                    <p:animEffect transition="in" filter="fade">
                                      <p:cBhvr>
                                        <p:cTn id="192" dur="450"/>
                                        <p:tgtEl>
                                          <p:spTgt spid="49"/>
                                        </p:tgtEl>
                                      </p:cBhvr>
                                    </p:animEffect>
                                    <p:anim calcmode="lin" valueType="num">
                                      <p:cBhvr additive="base">
                                        <p:cTn id="193" dur="450" fill="hold"/>
                                        <p:tgtEl>
                                          <p:spTgt spid="49"/>
                                        </p:tgtEl>
                                        <p:attrNameLst>
                                          <p:attrName>ppt_w</p:attrName>
                                        </p:attrNameLst>
                                      </p:cBhvr>
                                      <p:tavLst>
                                        <p:tav tm="0">
                                          <p:val>
                                            <p:strVal val="#ppt_w*0.2"/>
                                          </p:val>
                                        </p:tav>
                                        <p:tav tm="100000">
                                          <p:val>
                                            <p:strVal val="#ppt_w"/>
                                          </p:val>
                                        </p:tav>
                                      </p:tavLst>
                                    </p:anim>
                                    <p:anim calcmode="lin" valueType="num">
                                      <p:cBhvr additive="base">
                                        <p:cTn id="194" dur="450" fill="hold"/>
                                        <p:tgtEl>
                                          <p:spTgt spid="49"/>
                                        </p:tgtEl>
                                        <p:attrNameLst>
                                          <p:attrName>ppt_h</p:attrName>
                                        </p:attrNameLst>
                                      </p:cBhvr>
                                      <p:tavLst>
                                        <p:tav tm="0">
                                          <p:val>
                                            <p:strVal val="#ppt_h*0.2"/>
                                          </p:val>
                                        </p:tav>
                                        <p:tav tm="100000">
                                          <p:val>
                                            <p:strVal val="#ppt_h"/>
                                          </p:val>
                                        </p:tav>
                                      </p:tavLst>
                                    </p:anim>
                                  </p:childTnLst>
                                </p:cTn>
                              </p:par>
                              <p:par>
                                <p:cTn id="195" presetID="53" presetClass="entr" presetSubtype="16" decel="100000" fill="hold" grpId="0" nodeType="withEffect">
                                  <p:stCondLst>
                                    <p:cond delay="179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450"/>
                                        <p:tgtEl>
                                          <p:spTgt spid="50"/>
                                        </p:tgtEl>
                                      </p:cBhvr>
                                    </p:animEffect>
                                    <p:anim calcmode="lin" valueType="num">
                                      <p:cBhvr additive="base">
                                        <p:cTn id="198" dur="450" fill="hold"/>
                                        <p:tgtEl>
                                          <p:spTgt spid="50"/>
                                        </p:tgtEl>
                                        <p:attrNameLst>
                                          <p:attrName>ppt_w</p:attrName>
                                        </p:attrNameLst>
                                      </p:cBhvr>
                                      <p:tavLst>
                                        <p:tav tm="0">
                                          <p:val>
                                            <p:strVal val="#ppt_w*0.2"/>
                                          </p:val>
                                        </p:tav>
                                        <p:tav tm="100000">
                                          <p:val>
                                            <p:strVal val="#ppt_w"/>
                                          </p:val>
                                        </p:tav>
                                      </p:tavLst>
                                    </p:anim>
                                    <p:anim calcmode="lin" valueType="num">
                                      <p:cBhvr additive="base">
                                        <p:cTn id="199" dur="450" fill="hold"/>
                                        <p:tgtEl>
                                          <p:spTgt spid="50"/>
                                        </p:tgtEl>
                                        <p:attrNameLst>
                                          <p:attrName>ppt_h</p:attrName>
                                        </p:attrNameLst>
                                      </p:cBhvr>
                                      <p:tavLst>
                                        <p:tav tm="0">
                                          <p:val>
                                            <p:strVal val="#ppt_h*0.2"/>
                                          </p:val>
                                        </p:tav>
                                        <p:tav tm="100000">
                                          <p:val>
                                            <p:strVal val="#ppt_h"/>
                                          </p:val>
                                        </p:tav>
                                      </p:tavLst>
                                    </p:anim>
                                  </p:childTnLst>
                                </p:cTn>
                              </p:par>
                              <p:par>
                                <p:cTn id="200" presetID="53" presetClass="entr" presetSubtype="16" decel="100000" fill="hold" grpId="0" nodeType="withEffect">
                                  <p:stCondLst>
                                    <p:cond delay="1790"/>
                                  </p:stCondLst>
                                  <p:childTnLst>
                                    <p:set>
                                      <p:cBhvr>
                                        <p:cTn id="201" dur="1" fill="hold">
                                          <p:stCondLst>
                                            <p:cond delay="0"/>
                                          </p:stCondLst>
                                        </p:cTn>
                                        <p:tgtEl>
                                          <p:spTgt spid="51"/>
                                        </p:tgtEl>
                                        <p:attrNameLst>
                                          <p:attrName>style.visibility</p:attrName>
                                        </p:attrNameLst>
                                      </p:cBhvr>
                                      <p:to>
                                        <p:strVal val="visible"/>
                                      </p:to>
                                    </p:set>
                                    <p:animEffect transition="in" filter="fade">
                                      <p:cBhvr>
                                        <p:cTn id="202" dur="450"/>
                                        <p:tgtEl>
                                          <p:spTgt spid="51"/>
                                        </p:tgtEl>
                                      </p:cBhvr>
                                    </p:animEffect>
                                    <p:anim calcmode="lin" valueType="num">
                                      <p:cBhvr additive="base">
                                        <p:cTn id="203" dur="450" fill="hold"/>
                                        <p:tgtEl>
                                          <p:spTgt spid="51"/>
                                        </p:tgtEl>
                                        <p:attrNameLst>
                                          <p:attrName>ppt_w</p:attrName>
                                        </p:attrNameLst>
                                      </p:cBhvr>
                                      <p:tavLst>
                                        <p:tav tm="0">
                                          <p:val>
                                            <p:strVal val="#ppt_w*0.2"/>
                                          </p:val>
                                        </p:tav>
                                        <p:tav tm="100000">
                                          <p:val>
                                            <p:strVal val="#ppt_w"/>
                                          </p:val>
                                        </p:tav>
                                      </p:tavLst>
                                    </p:anim>
                                    <p:anim calcmode="lin" valueType="num">
                                      <p:cBhvr additive="base">
                                        <p:cTn id="204" dur="450" fill="hold"/>
                                        <p:tgtEl>
                                          <p:spTgt spid="51"/>
                                        </p:tgtEl>
                                        <p:attrNameLst>
                                          <p:attrName>ppt_h</p:attrName>
                                        </p:attrNameLst>
                                      </p:cBhvr>
                                      <p:tavLst>
                                        <p:tav tm="0">
                                          <p:val>
                                            <p:strVal val="#ppt_h*0.2"/>
                                          </p:val>
                                        </p:tav>
                                        <p:tav tm="100000">
                                          <p:val>
                                            <p:strVal val="#ppt_h"/>
                                          </p:val>
                                        </p:tav>
                                      </p:tavLst>
                                    </p:anim>
                                  </p:childTnLst>
                                </p:cTn>
                              </p:par>
                              <p:par>
                                <p:cTn id="205" presetID="10" presetClass="entr" presetSubtype="0" decel="100000" fill="hold" grpId="0" nodeType="withEffect">
                                  <p:stCondLst>
                                    <p:cond delay="179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600"/>
                                        <p:tgtEl>
                                          <p:spTgt spid="52"/>
                                        </p:tgtEl>
                                      </p:cBhvr>
                                    </p:animEffect>
                                  </p:childTnLst>
                                </p:cTn>
                              </p:par>
                              <p:par>
                                <p:cTn id="208" presetID="53" presetClass="entr" presetSubtype="16" decel="100000" fill="hold" grpId="0" nodeType="withEffect">
                                  <p:stCondLst>
                                    <p:cond delay="2010"/>
                                  </p:stCondLst>
                                  <p:childTnLst>
                                    <p:set>
                                      <p:cBhvr>
                                        <p:cTn id="209" dur="1" fill="hold">
                                          <p:stCondLst>
                                            <p:cond delay="0"/>
                                          </p:stCondLst>
                                        </p:cTn>
                                        <p:tgtEl>
                                          <p:spTgt spid="53"/>
                                        </p:tgtEl>
                                        <p:attrNameLst>
                                          <p:attrName>style.visibility</p:attrName>
                                        </p:attrNameLst>
                                      </p:cBhvr>
                                      <p:to>
                                        <p:strVal val="visible"/>
                                      </p:to>
                                    </p:set>
                                    <p:animEffect transition="in" filter="fade">
                                      <p:cBhvr>
                                        <p:cTn id="210" dur="450"/>
                                        <p:tgtEl>
                                          <p:spTgt spid="53"/>
                                        </p:tgtEl>
                                      </p:cBhvr>
                                    </p:animEffect>
                                    <p:anim calcmode="lin" valueType="num">
                                      <p:cBhvr additive="base">
                                        <p:cTn id="211" dur="450" fill="hold"/>
                                        <p:tgtEl>
                                          <p:spTgt spid="53"/>
                                        </p:tgtEl>
                                        <p:attrNameLst>
                                          <p:attrName>ppt_w</p:attrName>
                                        </p:attrNameLst>
                                      </p:cBhvr>
                                      <p:tavLst>
                                        <p:tav tm="0">
                                          <p:val>
                                            <p:strVal val="#ppt_w*0.2"/>
                                          </p:val>
                                        </p:tav>
                                        <p:tav tm="100000">
                                          <p:val>
                                            <p:strVal val="#ppt_w"/>
                                          </p:val>
                                        </p:tav>
                                      </p:tavLst>
                                    </p:anim>
                                    <p:anim calcmode="lin" valueType="num">
                                      <p:cBhvr additive="base">
                                        <p:cTn id="212" dur="450" fill="hold"/>
                                        <p:tgtEl>
                                          <p:spTgt spid="53"/>
                                        </p:tgtEl>
                                        <p:attrNameLst>
                                          <p:attrName>ppt_h</p:attrName>
                                        </p:attrNameLst>
                                      </p:cBhvr>
                                      <p:tavLst>
                                        <p:tav tm="0">
                                          <p:val>
                                            <p:strVal val="#ppt_h*0.2"/>
                                          </p:val>
                                        </p:tav>
                                        <p:tav tm="100000">
                                          <p:val>
                                            <p:strVal val="#ppt_h"/>
                                          </p:val>
                                        </p:tav>
                                      </p:tavLst>
                                    </p:anim>
                                  </p:childTnLst>
                                </p:cTn>
                              </p:par>
                              <p:par>
                                <p:cTn id="213" presetID="53" presetClass="entr" presetSubtype="16" decel="100000" fill="hold" grpId="0" nodeType="withEffect">
                                  <p:stCondLst>
                                    <p:cond delay="2010"/>
                                  </p:stCondLst>
                                  <p:childTnLst>
                                    <p:set>
                                      <p:cBhvr>
                                        <p:cTn id="214" dur="1" fill="hold">
                                          <p:stCondLst>
                                            <p:cond delay="0"/>
                                          </p:stCondLst>
                                        </p:cTn>
                                        <p:tgtEl>
                                          <p:spTgt spid="54"/>
                                        </p:tgtEl>
                                        <p:attrNameLst>
                                          <p:attrName>style.visibility</p:attrName>
                                        </p:attrNameLst>
                                      </p:cBhvr>
                                      <p:to>
                                        <p:strVal val="visible"/>
                                      </p:to>
                                    </p:set>
                                    <p:animEffect transition="in" filter="fade">
                                      <p:cBhvr>
                                        <p:cTn id="215" dur="450"/>
                                        <p:tgtEl>
                                          <p:spTgt spid="54"/>
                                        </p:tgtEl>
                                      </p:cBhvr>
                                    </p:animEffect>
                                    <p:anim calcmode="lin" valueType="num">
                                      <p:cBhvr additive="base">
                                        <p:cTn id="216" dur="450" fill="hold"/>
                                        <p:tgtEl>
                                          <p:spTgt spid="54"/>
                                        </p:tgtEl>
                                        <p:attrNameLst>
                                          <p:attrName>ppt_w</p:attrName>
                                        </p:attrNameLst>
                                      </p:cBhvr>
                                      <p:tavLst>
                                        <p:tav tm="0">
                                          <p:val>
                                            <p:strVal val="#ppt_w*0.2"/>
                                          </p:val>
                                        </p:tav>
                                        <p:tav tm="100000">
                                          <p:val>
                                            <p:strVal val="#ppt_w"/>
                                          </p:val>
                                        </p:tav>
                                      </p:tavLst>
                                    </p:anim>
                                    <p:anim calcmode="lin" valueType="num">
                                      <p:cBhvr additive="base">
                                        <p:cTn id="217" dur="450" fill="hold"/>
                                        <p:tgtEl>
                                          <p:spTgt spid="54"/>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010"/>
                                  </p:stCondLst>
                                  <p:childTnLst>
                                    <p:set>
                                      <p:cBhvr>
                                        <p:cTn id="219" dur="1" fill="hold">
                                          <p:stCondLst>
                                            <p:cond delay="0"/>
                                          </p:stCondLst>
                                        </p:cTn>
                                        <p:tgtEl>
                                          <p:spTgt spid="55"/>
                                        </p:tgtEl>
                                        <p:attrNameLst>
                                          <p:attrName>style.visibility</p:attrName>
                                        </p:attrNameLst>
                                      </p:cBhvr>
                                      <p:to>
                                        <p:strVal val="visible"/>
                                      </p:to>
                                    </p:set>
                                    <p:animEffect transition="in" filter="fade">
                                      <p:cBhvr>
                                        <p:cTn id="220" dur="450"/>
                                        <p:tgtEl>
                                          <p:spTgt spid="55"/>
                                        </p:tgtEl>
                                      </p:cBhvr>
                                    </p:animEffect>
                                    <p:anim calcmode="lin" valueType="num">
                                      <p:cBhvr additive="base">
                                        <p:cTn id="221" dur="450" fill="hold"/>
                                        <p:tgtEl>
                                          <p:spTgt spid="55"/>
                                        </p:tgtEl>
                                        <p:attrNameLst>
                                          <p:attrName>ppt_w</p:attrName>
                                        </p:attrNameLst>
                                      </p:cBhvr>
                                      <p:tavLst>
                                        <p:tav tm="0">
                                          <p:val>
                                            <p:strVal val="#ppt_w*0.2"/>
                                          </p:val>
                                        </p:tav>
                                        <p:tav tm="100000">
                                          <p:val>
                                            <p:strVal val="#ppt_w"/>
                                          </p:val>
                                        </p:tav>
                                      </p:tavLst>
                                    </p:anim>
                                    <p:anim calcmode="lin" valueType="num">
                                      <p:cBhvr additive="base">
                                        <p:cTn id="222" dur="450" fill="hold"/>
                                        <p:tgtEl>
                                          <p:spTgt spid="55"/>
                                        </p:tgtEl>
                                        <p:attrNameLst>
                                          <p:attrName>ppt_h</p:attrName>
                                        </p:attrNameLst>
                                      </p:cBhvr>
                                      <p:tavLst>
                                        <p:tav tm="0">
                                          <p:val>
                                            <p:strVal val="#ppt_h*0.2"/>
                                          </p:val>
                                        </p:tav>
                                        <p:tav tm="100000">
                                          <p:val>
                                            <p:strVal val="#ppt_h"/>
                                          </p:val>
                                        </p:tav>
                                      </p:tavLst>
                                    </p:anim>
                                  </p:childTnLst>
                                </p:cTn>
                              </p:par>
                              <p:par>
                                <p:cTn id="223" presetID="53" presetClass="entr" presetSubtype="16" decel="100000" fill="hold" grpId="0" nodeType="withEffect">
                                  <p:stCondLst>
                                    <p:cond delay="2010"/>
                                  </p:stCondLst>
                                  <p:childTnLst>
                                    <p:set>
                                      <p:cBhvr>
                                        <p:cTn id="224" dur="1" fill="hold">
                                          <p:stCondLst>
                                            <p:cond delay="0"/>
                                          </p:stCondLst>
                                        </p:cTn>
                                        <p:tgtEl>
                                          <p:spTgt spid="56"/>
                                        </p:tgtEl>
                                        <p:attrNameLst>
                                          <p:attrName>style.visibility</p:attrName>
                                        </p:attrNameLst>
                                      </p:cBhvr>
                                      <p:to>
                                        <p:strVal val="visible"/>
                                      </p:to>
                                    </p:set>
                                    <p:animEffect transition="in" filter="fade">
                                      <p:cBhvr>
                                        <p:cTn id="225" dur="450"/>
                                        <p:tgtEl>
                                          <p:spTgt spid="56"/>
                                        </p:tgtEl>
                                      </p:cBhvr>
                                    </p:animEffect>
                                    <p:anim calcmode="lin" valueType="num">
                                      <p:cBhvr additive="base">
                                        <p:cTn id="226" dur="450" fill="hold"/>
                                        <p:tgtEl>
                                          <p:spTgt spid="56"/>
                                        </p:tgtEl>
                                        <p:attrNameLst>
                                          <p:attrName>ppt_w</p:attrName>
                                        </p:attrNameLst>
                                      </p:cBhvr>
                                      <p:tavLst>
                                        <p:tav tm="0">
                                          <p:val>
                                            <p:strVal val="#ppt_w*0.2"/>
                                          </p:val>
                                        </p:tav>
                                        <p:tav tm="100000">
                                          <p:val>
                                            <p:strVal val="#ppt_w"/>
                                          </p:val>
                                        </p:tav>
                                      </p:tavLst>
                                    </p:anim>
                                    <p:anim calcmode="lin" valueType="num">
                                      <p:cBhvr additive="base">
                                        <p:cTn id="227" dur="450" fill="hold"/>
                                        <p:tgtEl>
                                          <p:spTgt spid="56"/>
                                        </p:tgtEl>
                                        <p:attrNameLst>
                                          <p:attrName>ppt_h</p:attrName>
                                        </p:attrNameLst>
                                      </p:cBhvr>
                                      <p:tavLst>
                                        <p:tav tm="0">
                                          <p:val>
                                            <p:strVal val="#ppt_h*0.2"/>
                                          </p:val>
                                        </p:tav>
                                        <p:tav tm="100000">
                                          <p:val>
                                            <p:strVal val="#ppt_h"/>
                                          </p:val>
                                        </p:tav>
                                      </p:tavLst>
                                    </p:anim>
                                  </p:childTnLst>
                                </p:cTn>
                              </p:par>
                              <p:par>
                                <p:cTn id="228" presetID="10" presetClass="entr" presetSubtype="0" decel="100000" fill="hold" grpId="0" nodeType="withEffect">
                                  <p:stCondLst>
                                    <p:cond delay="2010"/>
                                  </p:stCondLst>
                                  <p:childTnLst>
                                    <p:set>
                                      <p:cBhvr>
                                        <p:cTn id="229" dur="1" fill="hold">
                                          <p:stCondLst>
                                            <p:cond delay="0"/>
                                          </p:stCondLst>
                                        </p:cTn>
                                        <p:tgtEl>
                                          <p:spTgt spid="57"/>
                                        </p:tgtEl>
                                        <p:attrNameLst>
                                          <p:attrName>style.visibility</p:attrName>
                                        </p:attrNameLst>
                                      </p:cBhvr>
                                      <p:to>
                                        <p:strVal val="visible"/>
                                      </p:to>
                                    </p:set>
                                    <p:animEffect transition="in" filter="fade">
                                      <p:cBhvr>
                                        <p:cTn id="230" dur="600"/>
                                        <p:tgtEl>
                                          <p:spTgt spid="57"/>
                                        </p:tgtEl>
                                      </p:cBhvr>
                                    </p:animEffect>
                                  </p:childTnLst>
                                </p:cTn>
                              </p:par>
                              <p:par>
                                <p:cTn id="231" presetID="53" presetClass="entr" presetSubtype="16" decel="100000" fill="hold" grpId="0" nodeType="withEffect">
                                  <p:stCondLst>
                                    <p:cond delay="2230"/>
                                  </p:stCondLst>
                                  <p:childTnLst>
                                    <p:set>
                                      <p:cBhvr>
                                        <p:cTn id="232" dur="1" fill="hold">
                                          <p:stCondLst>
                                            <p:cond delay="0"/>
                                          </p:stCondLst>
                                        </p:cTn>
                                        <p:tgtEl>
                                          <p:spTgt spid="58"/>
                                        </p:tgtEl>
                                        <p:attrNameLst>
                                          <p:attrName>style.visibility</p:attrName>
                                        </p:attrNameLst>
                                      </p:cBhvr>
                                      <p:to>
                                        <p:strVal val="visible"/>
                                      </p:to>
                                    </p:set>
                                    <p:animEffect transition="in" filter="fade">
                                      <p:cBhvr>
                                        <p:cTn id="233" dur="450"/>
                                        <p:tgtEl>
                                          <p:spTgt spid="58"/>
                                        </p:tgtEl>
                                      </p:cBhvr>
                                    </p:animEffect>
                                    <p:anim calcmode="lin" valueType="num">
                                      <p:cBhvr additive="base">
                                        <p:cTn id="234" dur="450" fill="hold"/>
                                        <p:tgtEl>
                                          <p:spTgt spid="58"/>
                                        </p:tgtEl>
                                        <p:attrNameLst>
                                          <p:attrName>ppt_w</p:attrName>
                                        </p:attrNameLst>
                                      </p:cBhvr>
                                      <p:tavLst>
                                        <p:tav tm="0">
                                          <p:val>
                                            <p:strVal val="#ppt_w*0.2"/>
                                          </p:val>
                                        </p:tav>
                                        <p:tav tm="100000">
                                          <p:val>
                                            <p:strVal val="#ppt_w"/>
                                          </p:val>
                                        </p:tav>
                                      </p:tavLst>
                                    </p:anim>
                                    <p:anim calcmode="lin" valueType="num">
                                      <p:cBhvr additive="base">
                                        <p:cTn id="235" dur="450" fill="hold"/>
                                        <p:tgtEl>
                                          <p:spTgt spid="58"/>
                                        </p:tgtEl>
                                        <p:attrNameLst>
                                          <p:attrName>ppt_h</p:attrName>
                                        </p:attrNameLst>
                                      </p:cBhvr>
                                      <p:tavLst>
                                        <p:tav tm="0">
                                          <p:val>
                                            <p:strVal val="#ppt_h*0.2"/>
                                          </p:val>
                                        </p:tav>
                                        <p:tav tm="100000">
                                          <p:val>
                                            <p:strVal val="#ppt_h"/>
                                          </p:val>
                                        </p:tav>
                                      </p:tavLst>
                                    </p:anim>
                                  </p:childTnLst>
                                </p:cTn>
                              </p:par>
                              <p:par>
                                <p:cTn id="236" presetID="53" presetClass="entr" presetSubtype="16" decel="100000" fill="hold" grpId="0" nodeType="withEffect">
                                  <p:stCondLst>
                                    <p:cond delay="223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450"/>
                                        <p:tgtEl>
                                          <p:spTgt spid="59"/>
                                        </p:tgtEl>
                                      </p:cBhvr>
                                    </p:animEffect>
                                    <p:anim calcmode="lin" valueType="num">
                                      <p:cBhvr additive="base">
                                        <p:cTn id="239" dur="450" fill="hold"/>
                                        <p:tgtEl>
                                          <p:spTgt spid="59"/>
                                        </p:tgtEl>
                                        <p:attrNameLst>
                                          <p:attrName>ppt_w</p:attrName>
                                        </p:attrNameLst>
                                      </p:cBhvr>
                                      <p:tavLst>
                                        <p:tav tm="0">
                                          <p:val>
                                            <p:strVal val="#ppt_w*0.2"/>
                                          </p:val>
                                        </p:tav>
                                        <p:tav tm="100000">
                                          <p:val>
                                            <p:strVal val="#ppt_w"/>
                                          </p:val>
                                        </p:tav>
                                      </p:tavLst>
                                    </p:anim>
                                    <p:anim calcmode="lin" valueType="num">
                                      <p:cBhvr additive="base">
                                        <p:cTn id="240" dur="450" fill="hold"/>
                                        <p:tgtEl>
                                          <p:spTgt spid="59"/>
                                        </p:tgtEl>
                                        <p:attrNameLst>
                                          <p:attrName>ppt_h</p:attrName>
                                        </p:attrNameLst>
                                      </p:cBhvr>
                                      <p:tavLst>
                                        <p:tav tm="0">
                                          <p:val>
                                            <p:strVal val="#ppt_h*0.2"/>
                                          </p:val>
                                        </p:tav>
                                        <p:tav tm="100000">
                                          <p:val>
                                            <p:strVal val="#ppt_h"/>
                                          </p:val>
                                        </p:tav>
                                      </p:tavLst>
                                    </p:anim>
                                  </p:childTnLst>
                                </p:cTn>
                              </p:par>
                              <p:par>
                                <p:cTn id="241" presetID="53" presetClass="entr" presetSubtype="16" decel="100000" fill="hold" grpId="0" nodeType="withEffect">
                                  <p:stCondLst>
                                    <p:cond delay="2230"/>
                                  </p:stCondLst>
                                  <p:childTnLst>
                                    <p:set>
                                      <p:cBhvr>
                                        <p:cTn id="242" dur="1" fill="hold">
                                          <p:stCondLst>
                                            <p:cond delay="0"/>
                                          </p:stCondLst>
                                        </p:cTn>
                                        <p:tgtEl>
                                          <p:spTgt spid="60"/>
                                        </p:tgtEl>
                                        <p:attrNameLst>
                                          <p:attrName>style.visibility</p:attrName>
                                        </p:attrNameLst>
                                      </p:cBhvr>
                                      <p:to>
                                        <p:strVal val="visible"/>
                                      </p:to>
                                    </p:set>
                                    <p:animEffect transition="in" filter="fade">
                                      <p:cBhvr>
                                        <p:cTn id="243" dur="450"/>
                                        <p:tgtEl>
                                          <p:spTgt spid="60"/>
                                        </p:tgtEl>
                                      </p:cBhvr>
                                    </p:animEffect>
                                    <p:anim calcmode="lin" valueType="num">
                                      <p:cBhvr additive="base">
                                        <p:cTn id="244" dur="450" fill="hold"/>
                                        <p:tgtEl>
                                          <p:spTgt spid="60"/>
                                        </p:tgtEl>
                                        <p:attrNameLst>
                                          <p:attrName>ppt_w</p:attrName>
                                        </p:attrNameLst>
                                      </p:cBhvr>
                                      <p:tavLst>
                                        <p:tav tm="0">
                                          <p:val>
                                            <p:strVal val="#ppt_w*0.2"/>
                                          </p:val>
                                        </p:tav>
                                        <p:tav tm="100000">
                                          <p:val>
                                            <p:strVal val="#ppt_w"/>
                                          </p:val>
                                        </p:tav>
                                      </p:tavLst>
                                    </p:anim>
                                    <p:anim calcmode="lin" valueType="num">
                                      <p:cBhvr additive="base">
                                        <p:cTn id="245" dur="450" fill="hold"/>
                                        <p:tgtEl>
                                          <p:spTgt spid="60"/>
                                        </p:tgtEl>
                                        <p:attrNameLst>
                                          <p:attrName>ppt_h</p:attrName>
                                        </p:attrNameLst>
                                      </p:cBhvr>
                                      <p:tavLst>
                                        <p:tav tm="0">
                                          <p:val>
                                            <p:strVal val="#ppt_h*0.2"/>
                                          </p:val>
                                        </p:tav>
                                        <p:tav tm="100000">
                                          <p:val>
                                            <p:strVal val="#ppt_h"/>
                                          </p:val>
                                        </p:tav>
                                      </p:tavLst>
                                    </p:anim>
                                  </p:childTnLst>
                                </p:cTn>
                              </p:par>
                              <p:par>
                                <p:cTn id="246" presetID="53" presetClass="entr" presetSubtype="16" decel="100000" fill="hold" grpId="0" nodeType="withEffect">
                                  <p:stCondLst>
                                    <p:cond delay="223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450"/>
                                        <p:tgtEl>
                                          <p:spTgt spid="61"/>
                                        </p:tgtEl>
                                      </p:cBhvr>
                                    </p:animEffect>
                                    <p:anim calcmode="lin" valueType="num">
                                      <p:cBhvr additive="base">
                                        <p:cTn id="249" dur="450" fill="hold"/>
                                        <p:tgtEl>
                                          <p:spTgt spid="61"/>
                                        </p:tgtEl>
                                        <p:attrNameLst>
                                          <p:attrName>ppt_w</p:attrName>
                                        </p:attrNameLst>
                                      </p:cBhvr>
                                      <p:tavLst>
                                        <p:tav tm="0">
                                          <p:val>
                                            <p:strVal val="#ppt_w*0.2"/>
                                          </p:val>
                                        </p:tav>
                                        <p:tav tm="100000">
                                          <p:val>
                                            <p:strVal val="#ppt_w"/>
                                          </p:val>
                                        </p:tav>
                                      </p:tavLst>
                                    </p:anim>
                                    <p:anim calcmode="lin" valueType="num">
                                      <p:cBhvr additive="base">
                                        <p:cTn id="250"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P spid="2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txBody>
          <a:bodyPr/>
          <a:lstStyle/>
          <a:p>
            <a:endParaRPr lang="en-GB"/>
          </a:p>
        </p:txBody>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txBody>
          <a:bodyPr/>
          <a:lstStyle/>
          <a:p>
            <a:endParaRPr lang="en-GB"/>
          </a:p>
        </p:txBody>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1901952"/>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Simulated with EnMAP’s 400–1700 nm bands: </a:t>
            </a:r>
            <a:r>
              <a:rPr lang="en-US" sz="1400" dirty="0">
                <a:solidFill>
                  <a:srgbClr val="1B2B40"/>
                </a:solidFill>
                <a:latin typeface="Segoe UI" pitchFamily="34" charset="0"/>
                <a:ea typeface="Segoe UI" pitchFamily="34" charset="-122"/>
                <a:cs typeface="Segoe UI" pitchFamily="34" charset="-120"/>
              </a:rPr>
              <a:t>the stand-5 loss still reads vegetation → sand and fill (97 % of converted pixels, 0.4 % of intact ones). Not yet on real 813 data.</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txBody>
          <a:bodyPr/>
          <a:lstStyle/>
          <a:p>
            <a:endParaRPr lang="en-GB"/>
          </a:p>
        </p:txBody>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txBody>
          <a:bodyPr/>
          <a:lstStyle/>
          <a:p>
            <a:endParaRPr lang="en-GB"/>
          </a:p>
        </p:txBody>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txBody>
          <a:bodyPr/>
          <a:lstStyle/>
          <a:p>
            <a:endParaRPr lang="en-GB"/>
          </a:p>
        </p:txBody>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txBody>
          <a:bodyPr/>
          <a:lstStyle/>
          <a:p>
            <a:endParaRPr lang="en-GB"/>
          </a:p>
        </p:txBody>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txBody>
          <a:bodyPr/>
          <a:lstStyle/>
          <a:p>
            <a:endParaRPr lang="en-GB"/>
          </a:p>
        </p:txBody>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A F T E R   B A H R A I N   S P A C E   A G E N C Y   F E E D B A C K</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Every flag becomes a case</a:t>
            </a:r>
          </a:p>
        </p:txBody>
      </p:sp>
      <p:sp>
        <p:nvSpPr>
          <p:cNvPr id="6" name="Rounded Rectangle 5"/>
          <p:cNvSpPr/>
          <p:nvPr/>
        </p:nvSpPr>
        <p:spPr>
          <a:xfrm>
            <a:off x="548640" y="1650000"/>
            <a:ext cx="1500000" cy="330000"/>
          </a:xfrm>
          <a:prstGeom prst="roundRect">
            <a:avLst>
              <a:gd name="adj" fmla="val 50000"/>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Urgent</a:t>
            </a:r>
          </a:p>
        </p:txBody>
      </p:sp>
      <p:sp>
        <p:nvSpPr>
          <p:cNvPr id="7" name="Rounded Rectangle 6"/>
          <p:cNvSpPr/>
          <p:nvPr/>
        </p:nvSpPr>
        <p:spPr>
          <a:xfrm>
            <a:off x="2150000" y="1650000"/>
            <a:ext cx="1500000" cy="330000"/>
          </a:xfrm>
          <a:prstGeom prst="roundRect">
            <a:avLst>
              <a:gd name="adj" fmla="val 50000"/>
            </a:avLst>
          </a:prstGeom>
          <a:solidFill>
            <a:srgbClr val="FFB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Monitor</a:t>
            </a:r>
          </a:p>
        </p:txBody>
      </p:sp>
      <p:sp>
        <p:nvSpPr>
          <p:cNvPr id="8" name="Rounded Rectangle 7"/>
          <p:cNvSpPr/>
          <p:nvPr/>
        </p:nvSpPr>
        <p:spPr>
          <a:xfrm>
            <a:off x="3750000" y="1650000"/>
            <a:ext cx="1500000" cy="330000"/>
          </a:xfrm>
          <a:prstGeom prst="roundRect">
            <a:avLst>
              <a:gd name="adj" fmla="val 50000"/>
            </a:avLst>
          </a:prstGeom>
          <a:solidFill>
            <a:srgbClr val="2E9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1 · Closed</a:t>
            </a:r>
          </a:p>
        </p:txBody>
      </p:sp>
      <p:sp>
        <p:nvSpPr>
          <p:cNvPr id="9" name="TextBox 8"/>
          <p:cNvSpPr txBox="1"/>
          <p:nvPr/>
        </p:nvSpPr>
        <p:spPr>
          <a:xfrm>
            <a:off x="5400000" y="1660000"/>
            <a:ext cx="6300000" cy="330000"/>
          </a:xfrm>
          <a:prstGeom prst="rect">
            <a:avLst/>
          </a:prstGeom>
          <a:noFill/>
        </p:spPr>
        <p:txBody>
          <a:bodyPr wrap="square">
            <a:spAutoFit/>
          </a:bodyPr>
          <a:lstStyle/>
          <a:p>
            <a:pPr algn="l"/>
            <a:r>
              <a:rPr sz="1300" b="0" i="0">
                <a:solidFill>
                  <a:srgbClr val="5A6B80"/>
                </a:solidFill>
                <a:latin typeface="Segoe UI"/>
              </a:rPr>
              <a:t>date · likely cause · confidence · inspector action · open until a person closes it</a:t>
            </a:r>
          </a:p>
        </p:txBody>
      </p:sp>
      <p:sp>
        <p:nvSpPr>
          <p:cNvPr id="11" name="TextBox 10"/>
          <p:cNvSpPr txBox="1"/>
          <p:nvPr/>
        </p:nvSpPr>
        <p:spPr>
          <a:xfrm>
            <a:off x="548640" y="6130793"/>
            <a:ext cx="11000000" cy="330000"/>
          </a:xfrm>
          <a:prstGeom prst="rect">
            <a:avLst/>
          </a:prstGeom>
          <a:noFill/>
        </p:spPr>
        <p:txBody>
          <a:bodyPr wrap="square">
            <a:spAutoFit/>
          </a:bodyPr>
          <a:lstStyle/>
          <a:p>
            <a:pPr algn="l"/>
            <a:r>
              <a:rPr sz="1100" b="0" i="0">
                <a:solidFill>
                  <a:srgbClr val="5A6B80"/>
                </a:solidFill>
                <a:latin typeface="Segoe UI"/>
              </a:rPr>
              <a:t>Live on the website (Risks section) and as a data feed: api/v1/risks.json</a:t>
            </a:r>
          </a:p>
        </p:txBody>
      </p:sp>
      <p:pic>
        <p:nvPicPr>
          <p:cNvPr id="12" name="Picture 11" descr="risk_register_mix.png"/>
          <p:cNvPicPr>
            <a:picLocks noChangeAspect="1"/>
          </p:cNvPicPr>
          <p:nvPr/>
        </p:nvPicPr>
        <p:blipFill>
          <a:blip r:embed="rId6"/>
          <a:stretch>
            <a:fillRect/>
          </a:stretch>
        </p:blipFill>
        <p:spPr>
          <a:xfrm>
            <a:off x="548640" y="2150000"/>
            <a:ext cx="11094720" cy="390079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SIMPLE MONITORS STRUGGLE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txBody>
          <a:bodyPr/>
          <a:lstStyle/>
          <a:p>
            <a:endParaRPr lang="en-GB"/>
          </a:p>
        </p:txBody>
      </p:sp>
      <p:sp>
        <p:nvSpPr>
          <p:cNvPr id="12" name="a2fade_tc0_0"/>
          <p:cNvSpPr/>
          <p:nvPr/>
        </p:nvSpPr>
        <p:spPr>
          <a:xfrm>
            <a:off x="896112" y="2926080"/>
            <a:ext cx="347472" cy="347472"/>
          </a:xfrm>
          <a:prstGeom prst="ellipse">
            <a:avLst/>
          </a:prstGeom>
          <a:solidFill>
            <a:srgbClr val="5E977A"/>
          </a:solidFill>
          <a:ln/>
        </p:spPr>
        <p:txBody>
          <a:bodyPr/>
          <a:lstStyle/>
          <a:p>
            <a:endParaRPr lang="en-GB"/>
          </a:p>
        </p:txBody>
      </p:sp>
      <p:sp>
        <p:nvSpPr>
          <p:cNvPr id="13" name="a2fade_tr0_1"/>
          <p:cNvSpPr/>
          <p:nvPr/>
        </p:nvSpPr>
        <p:spPr>
          <a:xfrm>
            <a:off x="1481328" y="3246120"/>
            <a:ext cx="36576" cy="1005840"/>
          </a:xfrm>
          <a:prstGeom prst="rect">
            <a:avLst/>
          </a:prstGeom>
          <a:solidFill>
            <a:srgbClr val="6B5B4B"/>
          </a:solidFill>
          <a:ln/>
        </p:spPr>
        <p:txBody>
          <a:bodyPr/>
          <a:lstStyle/>
          <a:p>
            <a:endParaRPr lang="en-GB"/>
          </a:p>
        </p:txBody>
      </p:sp>
      <p:sp>
        <p:nvSpPr>
          <p:cNvPr id="14" name="a2fade_tc0_1"/>
          <p:cNvSpPr/>
          <p:nvPr/>
        </p:nvSpPr>
        <p:spPr>
          <a:xfrm>
            <a:off x="1325880" y="2926080"/>
            <a:ext cx="347472" cy="347472"/>
          </a:xfrm>
          <a:prstGeom prst="ellipse">
            <a:avLst/>
          </a:prstGeom>
          <a:solidFill>
            <a:srgbClr val="5E977A"/>
          </a:solidFill>
          <a:ln/>
        </p:spPr>
        <p:txBody>
          <a:bodyPr/>
          <a:lstStyle/>
          <a:p>
            <a:endParaRPr lang="en-GB"/>
          </a:p>
        </p:txBody>
      </p:sp>
      <p:sp>
        <p:nvSpPr>
          <p:cNvPr id="15" name="a2fade_tr0_2"/>
          <p:cNvSpPr/>
          <p:nvPr/>
        </p:nvSpPr>
        <p:spPr>
          <a:xfrm>
            <a:off x="1911096" y="3246120"/>
            <a:ext cx="36576" cy="1005840"/>
          </a:xfrm>
          <a:prstGeom prst="rect">
            <a:avLst/>
          </a:prstGeom>
          <a:solidFill>
            <a:srgbClr val="6B5B4B"/>
          </a:solidFill>
          <a:ln/>
        </p:spPr>
        <p:txBody>
          <a:bodyPr/>
          <a:lstStyle/>
          <a:p>
            <a:endParaRPr lang="en-GB"/>
          </a:p>
        </p:txBody>
      </p:sp>
      <p:sp>
        <p:nvSpPr>
          <p:cNvPr id="16" name="a2fade_tc0_2"/>
          <p:cNvSpPr/>
          <p:nvPr/>
        </p:nvSpPr>
        <p:spPr>
          <a:xfrm>
            <a:off x="1755648" y="2926080"/>
            <a:ext cx="347472" cy="347472"/>
          </a:xfrm>
          <a:prstGeom prst="ellipse">
            <a:avLst/>
          </a:prstGeom>
          <a:solidFill>
            <a:srgbClr val="5E977A"/>
          </a:solidFill>
          <a:ln/>
        </p:spPr>
        <p:txBody>
          <a:bodyPr/>
          <a:lstStyle/>
          <a:p>
            <a:endParaRPr lang="en-GB"/>
          </a:p>
        </p:txBody>
      </p:sp>
      <p:sp>
        <p:nvSpPr>
          <p:cNvPr id="17" name="a2fade_tr0_3"/>
          <p:cNvSpPr/>
          <p:nvPr/>
        </p:nvSpPr>
        <p:spPr>
          <a:xfrm>
            <a:off x="2340864" y="3246120"/>
            <a:ext cx="36576" cy="1005840"/>
          </a:xfrm>
          <a:prstGeom prst="rect">
            <a:avLst/>
          </a:prstGeom>
          <a:solidFill>
            <a:srgbClr val="6B5B4B"/>
          </a:solidFill>
          <a:ln/>
        </p:spPr>
        <p:txBody>
          <a:bodyPr/>
          <a:lstStyle/>
          <a:p>
            <a:endParaRPr lang="en-GB"/>
          </a:p>
        </p:txBody>
      </p:sp>
      <p:sp>
        <p:nvSpPr>
          <p:cNvPr id="18" name="a2fade_tc0_3"/>
          <p:cNvSpPr/>
          <p:nvPr/>
        </p:nvSpPr>
        <p:spPr>
          <a:xfrm>
            <a:off x="2185416" y="2926080"/>
            <a:ext cx="347472" cy="347472"/>
          </a:xfrm>
          <a:prstGeom prst="ellipse">
            <a:avLst/>
          </a:prstGeom>
          <a:solidFill>
            <a:srgbClr val="5E977A"/>
          </a:solidFill>
          <a:ln/>
        </p:spPr>
        <p:txBody>
          <a:bodyPr/>
          <a:lstStyle/>
          <a:p>
            <a:endParaRPr lang="en-GB"/>
          </a:p>
        </p:txBody>
      </p:sp>
      <p:sp>
        <p:nvSpPr>
          <p:cNvPr id="19" name="a2fade_tr0_4"/>
          <p:cNvSpPr/>
          <p:nvPr/>
        </p:nvSpPr>
        <p:spPr>
          <a:xfrm>
            <a:off x="2770632" y="3246120"/>
            <a:ext cx="36576" cy="1005840"/>
          </a:xfrm>
          <a:prstGeom prst="rect">
            <a:avLst/>
          </a:prstGeom>
          <a:solidFill>
            <a:srgbClr val="6B5B4B"/>
          </a:solidFill>
          <a:ln/>
        </p:spPr>
        <p:txBody>
          <a:bodyPr/>
          <a:lstStyle/>
          <a:p>
            <a:endParaRPr lang="en-GB"/>
          </a:p>
        </p:txBody>
      </p:sp>
      <p:sp>
        <p:nvSpPr>
          <p:cNvPr id="20" name="a2fade_tc0_4"/>
          <p:cNvSpPr/>
          <p:nvPr/>
        </p:nvSpPr>
        <p:spPr>
          <a:xfrm>
            <a:off x="2615184" y="2926080"/>
            <a:ext cx="347472" cy="347472"/>
          </a:xfrm>
          <a:prstGeom prst="ellipse">
            <a:avLst/>
          </a:prstGeom>
          <a:solidFill>
            <a:srgbClr val="5E977A"/>
          </a:solidFill>
          <a:ln/>
        </p:spPr>
        <p:txBody>
          <a:bodyPr/>
          <a:lstStyle/>
          <a:p>
            <a:endParaRPr lang="en-GB"/>
          </a:p>
        </p:txBody>
      </p:sp>
      <p:sp>
        <p:nvSpPr>
          <p:cNvPr id="21" name="a3rise_w0"/>
          <p:cNvSpPr/>
          <p:nvPr/>
        </p:nvSpPr>
        <p:spPr>
          <a:xfrm>
            <a:off x="795528" y="4069080"/>
            <a:ext cx="2386584" cy="256032"/>
          </a:xfrm>
          <a:prstGeom prst="rect">
            <a:avLst/>
          </a:prstGeom>
          <a:solidFill>
            <a:srgbClr val="5C8DB8">
              <a:alpha val="55000"/>
            </a:srgbClr>
          </a:solidFill>
          <a:ln/>
        </p:spPr>
        <p:txBody>
          <a:bodyPr/>
          <a:lstStyle/>
          <a:p>
            <a:endParaRPr lang="en-GB"/>
          </a:p>
        </p:txBody>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txBody>
          <a:bodyPr/>
          <a:lstStyle/>
          <a:p>
            <a:endParaRPr lang="en-GB"/>
          </a:p>
        </p:txBody>
      </p:sp>
      <p:sp>
        <p:nvSpPr>
          <p:cNvPr id="26" name="a2fade_tc1_0"/>
          <p:cNvSpPr/>
          <p:nvPr/>
        </p:nvSpPr>
        <p:spPr>
          <a:xfrm>
            <a:off x="3502152" y="2926080"/>
            <a:ext cx="347472" cy="347472"/>
          </a:xfrm>
          <a:prstGeom prst="ellipse">
            <a:avLst/>
          </a:prstGeom>
          <a:solidFill>
            <a:srgbClr val="5E977A"/>
          </a:solidFill>
          <a:ln/>
        </p:spPr>
        <p:txBody>
          <a:bodyPr/>
          <a:lstStyle/>
          <a:p>
            <a:endParaRPr lang="en-GB"/>
          </a:p>
        </p:txBody>
      </p:sp>
      <p:sp>
        <p:nvSpPr>
          <p:cNvPr id="27" name="a2fade_tr1_1"/>
          <p:cNvSpPr/>
          <p:nvPr/>
        </p:nvSpPr>
        <p:spPr>
          <a:xfrm>
            <a:off x="4087368" y="3246120"/>
            <a:ext cx="36576" cy="1005840"/>
          </a:xfrm>
          <a:prstGeom prst="rect">
            <a:avLst/>
          </a:prstGeom>
          <a:solidFill>
            <a:srgbClr val="6B5B4B"/>
          </a:solidFill>
          <a:ln/>
        </p:spPr>
        <p:txBody>
          <a:bodyPr/>
          <a:lstStyle/>
          <a:p>
            <a:endParaRPr lang="en-GB"/>
          </a:p>
        </p:txBody>
      </p:sp>
      <p:sp>
        <p:nvSpPr>
          <p:cNvPr id="28" name="a2fade_tc1_1"/>
          <p:cNvSpPr/>
          <p:nvPr/>
        </p:nvSpPr>
        <p:spPr>
          <a:xfrm>
            <a:off x="3931920" y="2926080"/>
            <a:ext cx="347472" cy="347472"/>
          </a:xfrm>
          <a:prstGeom prst="ellipse">
            <a:avLst/>
          </a:prstGeom>
          <a:solidFill>
            <a:srgbClr val="5E977A"/>
          </a:solidFill>
          <a:ln/>
        </p:spPr>
        <p:txBody>
          <a:bodyPr/>
          <a:lstStyle/>
          <a:p>
            <a:endParaRPr lang="en-GB"/>
          </a:p>
        </p:txBody>
      </p:sp>
      <p:sp>
        <p:nvSpPr>
          <p:cNvPr id="29" name="a2fade_tr1_2"/>
          <p:cNvSpPr/>
          <p:nvPr/>
        </p:nvSpPr>
        <p:spPr>
          <a:xfrm>
            <a:off x="4517136" y="3246120"/>
            <a:ext cx="36576" cy="1005840"/>
          </a:xfrm>
          <a:prstGeom prst="rect">
            <a:avLst/>
          </a:prstGeom>
          <a:solidFill>
            <a:srgbClr val="6B5B4B"/>
          </a:solidFill>
          <a:ln/>
        </p:spPr>
        <p:txBody>
          <a:bodyPr/>
          <a:lstStyle/>
          <a:p>
            <a:endParaRPr lang="en-GB"/>
          </a:p>
        </p:txBody>
      </p:sp>
      <p:sp>
        <p:nvSpPr>
          <p:cNvPr id="30" name="a2fade_tc1_2"/>
          <p:cNvSpPr/>
          <p:nvPr/>
        </p:nvSpPr>
        <p:spPr>
          <a:xfrm>
            <a:off x="4361688" y="2926080"/>
            <a:ext cx="347472" cy="347472"/>
          </a:xfrm>
          <a:prstGeom prst="ellipse">
            <a:avLst/>
          </a:prstGeom>
          <a:solidFill>
            <a:srgbClr val="5E977A"/>
          </a:solidFill>
          <a:ln/>
        </p:spPr>
        <p:txBody>
          <a:bodyPr/>
          <a:lstStyle/>
          <a:p>
            <a:endParaRPr lang="en-GB"/>
          </a:p>
        </p:txBody>
      </p:sp>
      <p:sp>
        <p:nvSpPr>
          <p:cNvPr id="31" name="a2fade_tr1_3"/>
          <p:cNvSpPr/>
          <p:nvPr/>
        </p:nvSpPr>
        <p:spPr>
          <a:xfrm>
            <a:off x="4946904" y="3246120"/>
            <a:ext cx="36576" cy="1005840"/>
          </a:xfrm>
          <a:prstGeom prst="rect">
            <a:avLst/>
          </a:prstGeom>
          <a:solidFill>
            <a:srgbClr val="6B5B4B"/>
          </a:solidFill>
          <a:ln/>
        </p:spPr>
        <p:txBody>
          <a:bodyPr/>
          <a:lstStyle/>
          <a:p>
            <a:endParaRPr lang="en-GB"/>
          </a:p>
        </p:txBody>
      </p:sp>
      <p:sp>
        <p:nvSpPr>
          <p:cNvPr id="32" name="a2fade_tc1_3"/>
          <p:cNvSpPr/>
          <p:nvPr/>
        </p:nvSpPr>
        <p:spPr>
          <a:xfrm>
            <a:off x="4791456" y="2926080"/>
            <a:ext cx="347472" cy="347472"/>
          </a:xfrm>
          <a:prstGeom prst="ellipse">
            <a:avLst/>
          </a:prstGeom>
          <a:solidFill>
            <a:srgbClr val="5E977A"/>
          </a:solidFill>
          <a:ln/>
        </p:spPr>
        <p:txBody>
          <a:bodyPr/>
          <a:lstStyle/>
          <a:p>
            <a:endParaRPr lang="en-GB"/>
          </a:p>
        </p:txBody>
      </p:sp>
      <p:sp>
        <p:nvSpPr>
          <p:cNvPr id="33" name="a2fade_tr1_4"/>
          <p:cNvSpPr/>
          <p:nvPr/>
        </p:nvSpPr>
        <p:spPr>
          <a:xfrm>
            <a:off x="5376672" y="3246120"/>
            <a:ext cx="36576" cy="1005840"/>
          </a:xfrm>
          <a:prstGeom prst="rect">
            <a:avLst/>
          </a:prstGeom>
          <a:solidFill>
            <a:srgbClr val="6B5B4B"/>
          </a:solidFill>
          <a:ln/>
        </p:spPr>
        <p:txBody>
          <a:bodyPr/>
          <a:lstStyle/>
          <a:p>
            <a:endParaRPr lang="en-GB"/>
          </a:p>
        </p:txBody>
      </p:sp>
      <p:sp>
        <p:nvSpPr>
          <p:cNvPr id="34" name="a2fade_tc1_4"/>
          <p:cNvSpPr/>
          <p:nvPr/>
        </p:nvSpPr>
        <p:spPr>
          <a:xfrm>
            <a:off x="5221224" y="2926080"/>
            <a:ext cx="347472" cy="347472"/>
          </a:xfrm>
          <a:prstGeom prst="ellipse">
            <a:avLst/>
          </a:prstGeom>
          <a:solidFill>
            <a:srgbClr val="5E977A"/>
          </a:solidFill>
          <a:ln/>
        </p:spPr>
        <p:txBody>
          <a:bodyPr/>
          <a:lstStyle/>
          <a:p>
            <a:endParaRPr lang="en-GB"/>
          </a:p>
        </p:txBody>
      </p:sp>
      <p:sp>
        <p:nvSpPr>
          <p:cNvPr id="35" name="a3rise_w1"/>
          <p:cNvSpPr/>
          <p:nvPr/>
        </p:nvSpPr>
        <p:spPr>
          <a:xfrm>
            <a:off x="3401568" y="3337560"/>
            <a:ext cx="2386584" cy="987552"/>
          </a:xfrm>
          <a:prstGeom prst="rect">
            <a:avLst/>
          </a:prstGeom>
          <a:solidFill>
            <a:srgbClr val="5C8DB8">
              <a:alpha val="55000"/>
            </a:srgbClr>
          </a:solidFill>
          <a:ln/>
        </p:spPr>
        <p:txBody>
          <a:bodyPr/>
          <a:lstStyle/>
          <a:p>
            <a:endParaRPr lang="en-GB"/>
          </a:p>
        </p:txBody>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NDVI alone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EBDCAF1E-8284-4E89-7FF8-C67581FFE70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txBody>
          <a:bodyPr/>
          <a:lstStyle/>
          <a:p>
            <a:endParaRPr lang="en-GB"/>
          </a:p>
        </p:txBody>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txBody>
          <a:bodyPr/>
          <a:lstStyle/>
          <a:p>
            <a:endParaRPr lang="en-GB"/>
          </a:p>
        </p:txBody>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txBody>
          <a:bodyPr/>
          <a:lstStyle/>
          <a:p>
            <a:endParaRPr lang="en-GB"/>
          </a:p>
        </p:txBody>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txBody>
          <a:bodyPr/>
          <a:lstStyle/>
          <a:p>
            <a:endParaRPr lang="en-GB"/>
          </a:p>
        </p:txBody>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txBody>
          <a:bodyPr/>
          <a:lstStyle/>
          <a:p>
            <a:endParaRPr lang="en-GB"/>
          </a:p>
        </p:txBody>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M E T H O D   I N   O N E   S L I D E</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How the numbers are made</a:t>
            </a:r>
          </a:p>
        </p:txBody>
      </p:sp>
      <p:sp>
        <p:nvSpPr>
          <p:cNvPr id="6" name="Rounded Rectangle 5"/>
          <p:cNvSpPr/>
          <p:nvPr/>
        </p:nvSpPr>
        <p:spPr>
          <a:xfrm>
            <a:off x="54864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640" y="1750000"/>
            <a:ext cx="4050000" cy="300000"/>
          </a:xfrm>
          <a:prstGeom prst="rect">
            <a:avLst/>
          </a:prstGeom>
          <a:noFill/>
        </p:spPr>
        <p:txBody>
          <a:bodyPr wrap="square">
            <a:spAutoFit/>
          </a:bodyPr>
          <a:lstStyle/>
          <a:p>
            <a:pPr algn="l"/>
            <a:r>
              <a:rPr sz="1000" b="1" i="0">
                <a:solidFill>
                  <a:srgbClr val="3F6E9E"/>
                </a:solidFill>
                <a:latin typeface="Segoe UI"/>
              </a:rPr>
              <a:t>T I D E ,   F R O M   T H E   I M A G E   I T S E L F</a:t>
            </a:r>
          </a:p>
        </p:txBody>
      </p:sp>
      <p:sp>
        <p:nvSpPr>
          <p:cNvPr id="8" name="TextBox 7"/>
          <p:cNvSpPr txBox="1"/>
          <p:nvPr/>
        </p:nvSpPr>
        <p:spPr>
          <a:xfrm>
            <a:off x="768640" y="2070000"/>
            <a:ext cx="4150000" cy="700000"/>
          </a:xfrm>
          <a:prstGeom prst="rect">
            <a:avLst/>
          </a:prstGeom>
          <a:noFill/>
        </p:spPr>
        <p:txBody>
          <a:bodyPr wrap="square">
            <a:spAutoFit/>
          </a:bodyPr>
          <a:lstStyle/>
          <a:p>
            <a:pPr algn="l"/>
            <a:r>
              <a:rPr sz="1500" b="0" i="0">
                <a:solidFill>
                  <a:srgbClr val="1B2B40"/>
                </a:solidFill>
                <a:latin typeface="Segoe UI Semibold"/>
              </a:rPr>
              <a:t>MNDWI = (Green − SWIR) / (Green + SWIR)</a:t>
            </a:r>
          </a:p>
          <a:p>
            <a:pPr algn="l"/>
            <a:r>
              <a:rPr sz="1500" b="0" i="0">
                <a:solidFill>
                  <a:srgbClr val="1B2B40"/>
                </a:solidFill>
                <a:latin typeface="Segoe UI Semibold"/>
              </a:rPr>
              <a:t>flooded share = % of pixels with MNDWI &gt; 0</a:t>
            </a:r>
          </a:p>
        </p:txBody>
      </p:sp>
      <p:sp>
        <p:nvSpPr>
          <p:cNvPr id="9" name="TextBox 8"/>
          <p:cNvSpPr txBox="1"/>
          <p:nvPr/>
        </p:nvSpPr>
        <p:spPr>
          <a:xfrm>
            <a:off x="768640" y="2880000"/>
            <a:ext cx="5010000" cy="800000"/>
          </a:xfrm>
          <a:prstGeom prst="rect">
            <a:avLst/>
          </a:prstGeom>
          <a:noFill/>
        </p:spPr>
        <p:txBody>
          <a:bodyPr wrap="square">
            <a:spAutoFit/>
          </a:bodyPr>
          <a:lstStyle/>
          <a:p>
            <a:pPr algn="l"/>
            <a:r>
              <a:rPr sz="1150" b="0" i="0">
                <a:solidFill>
                  <a:srgbClr val="5A6B80"/>
                </a:solidFill>
                <a:latin typeface="Segoe UI"/>
              </a:rPr>
              <a:t>No tide table: the image shows how much water is under the trees at that exact moment (Sentinel-2 bands B3 and B11).</a:t>
            </a:r>
          </a:p>
        </p:txBody>
      </p:sp>
      <p:sp>
        <p:nvSpPr>
          <p:cNvPr id="10" name="Rounded Rectangle 9"/>
          <p:cNvSpPr/>
          <p:nvPr/>
        </p:nvSpPr>
        <p:spPr>
          <a:xfrm>
            <a:off x="618800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8000" y="1750000"/>
            <a:ext cx="4050000" cy="300000"/>
          </a:xfrm>
          <a:prstGeom prst="rect">
            <a:avLst/>
          </a:prstGeom>
          <a:noFill/>
        </p:spPr>
        <p:txBody>
          <a:bodyPr wrap="square">
            <a:spAutoFit/>
          </a:bodyPr>
          <a:lstStyle/>
          <a:p>
            <a:pPr algn="l"/>
            <a:r>
              <a:rPr sz="1000" b="1" i="0">
                <a:solidFill>
                  <a:srgbClr val="3F6E9E"/>
                </a:solidFill>
                <a:latin typeface="Segoe UI"/>
              </a:rPr>
              <a:t>E X P E C T E D   V A L U E ,   P E R   S T A N D   A N D   C E L L</a:t>
            </a:r>
          </a:p>
        </p:txBody>
      </p:sp>
      <p:sp>
        <p:nvSpPr>
          <p:cNvPr id="12" name="TextBox 11"/>
          <p:cNvSpPr txBox="1"/>
          <p:nvPr/>
        </p:nvSpPr>
        <p:spPr>
          <a:xfrm>
            <a:off x="6408000" y="2070000"/>
            <a:ext cx="4150000" cy="700000"/>
          </a:xfrm>
          <a:prstGeom prst="rect">
            <a:avLst/>
          </a:prstGeom>
          <a:noFill/>
        </p:spPr>
        <p:txBody>
          <a:bodyPr wrap="square">
            <a:spAutoFit/>
          </a:bodyPr>
          <a:lstStyle/>
          <a:p>
            <a:pPr algn="l"/>
            <a:r>
              <a:rPr sz="1500" b="0" i="0">
                <a:solidFill>
                  <a:srgbClr val="1B2B40"/>
                </a:solidFill>
                <a:latin typeface="Segoe UI Semibold"/>
              </a:rPr>
              <a:t>index ≈ trend + season + tide</a:t>
            </a:r>
          </a:p>
          <a:p>
            <a:pPr algn="l"/>
            <a:r>
              <a:rPr sz="1500" b="0" i="0">
                <a:solidFill>
                  <a:srgbClr val="1B2B40"/>
                </a:solidFill>
                <a:latin typeface="Segoe UI Semibold"/>
              </a:rPr>
              <a:t>tide = MNDWI, MNDWI², flooded share</a:t>
            </a:r>
          </a:p>
        </p:txBody>
      </p:sp>
      <p:sp>
        <p:nvSpPr>
          <p:cNvPr id="13" name="TextBox 12"/>
          <p:cNvSpPr txBox="1"/>
          <p:nvPr/>
        </p:nvSpPr>
        <p:spPr>
          <a:xfrm>
            <a:off x="6408000" y="2880000"/>
            <a:ext cx="5010000" cy="800000"/>
          </a:xfrm>
          <a:prstGeom prst="rect">
            <a:avLst/>
          </a:prstGeom>
          <a:noFill/>
        </p:spPr>
        <p:txBody>
          <a:bodyPr wrap="square">
            <a:spAutoFit/>
          </a:bodyPr>
          <a:lstStyle/>
          <a:p>
            <a:pPr algn="l"/>
            <a:r>
              <a:rPr sz="1150" b="0" i="0">
                <a:solidFill>
                  <a:srgbClr val="5A6B80"/>
                </a:solidFill>
                <a:latin typeface="Segoe UI"/>
              </a:rPr>
              <a:t>Robust regression for NDVI, red edge and NDMI, refitted every month on the past 3 years only. The tide terms cut noise by 29–35 %.</a:t>
            </a:r>
          </a:p>
        </p:txBody>
      </p:sp>
      <p:sp>
        <p:nvSpPr>
          <p:cNvPr id="14" name="Rounded Rectangle 13"/>
          <p:cNvSpPr/>
          <p:nvPr/>
        </p:nvSpPr>
        <p:spPr>
          <a:xfrm>
            <a:off x="54864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8640" y="4030000"/>
            <a:ext cx="4050000" cy="300000"/>
          </a:xfrm>
          <a:prstGeom prst="rect">
            <a:avLst/>
          </a:prstGeom>
          <a:noFill/>
        </p:spPr>
        <p:txBody>
          <a:bodyPr wrap="square">
            <a:spAutoFit/>
          </a:bodyPr>
          <a:lstStyle/>
          <a:p>
            <a:pPr algn="l"/>
            <a:r>
              <a:rPr sz="1000" b="1" i="0">
                <a:solidFill>
                  <a:srgbClr val="3F6E9E"/>
                </a:solidFill>
                <a:latin typeface="Segoe UI"/>
              </a:rPr>
              <a:t>A L E R T</a:t>
            </a:r>
          </a:p>
        </p:txBody>
      </p:sp>
      <p:sp>
        <p:nvSpPr>
          <p:cNvPr id="16" name="TextBox 15"/>
          <p:cNvSpPr txBox="1"/>
          <p:nvPr/>
        </p:nvSpPr>
        <p:spPr>
          <a:xfrm>
            <a:off x="768640" y="4350000"/>
            <a:ext cx="4150000" cy="700000"/>
          </a:xfrm>
          <a:prstGeom prst="rect">
            <a:avLst/>
          </a:prstGeom>
          <a:noFill/>
        </p:spPr>
        <p:txBody>
          <a:bodyPr wrap="square">
            <a:spAutoFit/>
          </a:bodyPr>
          <a:lstStyle/>
          <a:p>
            <a:pPr algn="l"/>
            <a:r>
              <a:rPr sz="1500" b="0" i="0">
                <a:solidFill>
                  <a:srgbClr val="1B2B40"/>
                </a:solidFill>
                <a:latin typeface="Segoe UI Semibold"/>
              </a:rPr>
              <a:t>z = (observed − expected) / robust σ</a:t>
            </a:r>
          </a:p>
          <a:p>
            <a:pPr algn="l"/>
            <a:r>
              <a:rPr sz="1500" b="0" i="0">
                <a:solidFill>
                  <a:srgbClr val="1B2B40"/>
                </a:solidFill>
                <a:latin typeface="Segoe UI Semibold"/>
              </a:rPr>
              <a:t>alert: stand ≤ −1.5σ  OR  any cell ≤ −3.5σ</a:t>
            </a:r>
          </a:p>
        </p:txBody>
      </p:sp>
      <p:sp>
        <p:nvSpPr>
          <p:cNvPr id="17" name="TextBox 16"/>
          <p:cNvSpPr txBox="1"/>
          <p:nvPr/>
        </p:nvSpPr>
        <p:spPr>
          <a:xfrm>
            <a:off x="768640" y="5160000"/>
            <a:ext cx="5010000" cy="800000"/>
          </a:xfrm>
          <a:prstGeom prst="rect">
            <a:avLst/>
          </a:prstGeom>
          <a:noFill/>
        </p:spPr>
        <p:txBody>
          <a:bodyPr wrap="square">
            <a:spAutoFit/>
          </a:bodyPr>
          <a:lstStyle/>
          <a:p>
            <a:pPr algn="l"/>
            <a:r>
              <a:rPr sz="1150" b="0" i="0">
                <a:solidFill>
                  <a:srgbClr val="5A6B80"/>
                </a:solidFill>
                <a:latin typeface="Segoe UI"/>
              </a:rPr>
              <a:t>Median of the last 5 images, so one bad image cannot fire it. Thresholds set on unchanged stands: about 1 false alarm per stand per year.</a:t>
            </a:r>
          </a:p>
        </p:txBody>
      </p:sp>
      <p:sp>
        <p:nvSpPr>
          <p:cNvPr id="18" name="Rounded Rectangle 17"/>
          <p:cNvSpPr/>
          <p:nvPr/>
        </p:nvSpPr>
        <p:spPr>
          <a:xfrm>
            <a:off x="618800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8000" y="4030000"/>
            <a:ext cx="4050000" cy="300000"/>
          </a:xfrm>
          <a:prstGeom prst="rect">
            <a:avLst/>
          </a:prstGeom>
          <a:noFill/>
        </p:spPr>
        <p:txBody>
          <a:bodyPr wrap="square">
            <a:spAutoFit/>
          </a:bodyPr>
          <a:lstStyle/>
          <a:p>
            <a:pPr algn="l"/>
            <a:r>
              <a:rPr sz="1000" b="1" i="0">
                <a:solidFill>
                  <a:srgbClr val="3F6E9E"/>
                </a:solidFill>
                <a:latin typeface="Segoe UI"/>
              </a:rPr>
              <a:t>W H Y   2 0 0 - M E T R E   C E L L S</a:t>
            </a:r>
          </a:p>
        </p:txBody>
      </p:sp>
      <p:sp>
        <p:nvSpPr>
          <p:cNvPr id="20" name="TextBox 19"/>
          <p:cNvSpPr txBox="1"/>
          <p:nvPr/>
        </p:nvSpPr>
        <p:spPr>
          <a:xfrm>
            <a:off x="6408000" y="4350000"/>
            <a:ext cx="4150000" cy="700000"/>
          </a:xfrm>
          <a:prstGeom prst="rect">
            <a:avLst/>
          </a:prstGeom>
          <a:noFill/>
        </p:spPr>
        <p:txBody>
          <a:bodyPr wrap="square">
            <a:spAutoFit/>
          </a:bodyPr>
          <a:lstStyle/>
          <a:p>
            <a:pPr algn="l"/>
            <a:r>
              <a:rPr sz="1500" b="0" i="0">
                <a:solidFill>
                  <a:srgbClr val="1B2B40"/>
                </a:solidFill>
                <a:latin typeface="Segoe UI Semibold"/>
              </a:rPr>
              <a:t>200 m = 20 × 20 Sentinel-2 pixels</a:t>
            </a:r>
          </a:p>
          <a:p>
            <a:pPr algn="l"/>
            <a:r>
              <a:rPr sz="1500" b="0" i="0">
                <a:solidFill>
                  <a:srgbClr val="1B2B40"/>
                </a:solidFill>
                <a:latin typeface="Segoe UI Semibold"/>
              </a:rPr>
              <a:t>= 400 pixels = 4 ha</a:t>
            </a:r>
          </a:p>
        </p:txBody>
      </p:sp>
      <p:sp>
        <p:nvSpPr>
          <p:cNvPr id="21" name="TextBox 20"/>
          <p:cNvSpPr txBox="1"/>
          <p:nvPr/>
        </p:nvSpPr>
        <p:spPr>
          <a:xfrm>
            <a:off x="6408000" y="5160000"/>
            <a:ext cx="5010000" cy="800000"/>
          </a:xfrm>
          <a:prstGeom prst="rect">
            <a:avLst/>
          </a:prstGeom>
          <a:noFill/>
        </p:spPr>
        <p:txBody>
          <a:bodyPr wrap="square">
            <a:spAutoFit/>
          </a:bodyPr>
          <a:lstStyle/>
          <a:p>
            <a:pPr algn="l"/>
            <a:r>
              <a:rPr sz="1150" b="0" i="0">
                <a:solidFill>
                  <a:srgbClr val="5A6B80"/>
                </a:solidFill>
                <a:latin typeface="Segoe UI"/>
              </a:rPr>
              <a:t>Enough pixels to average out noise, small enough to send an inspector to 4 ha. 3 of the 5 real losses were found only by cells.</a:t>
            </a:r>
          </a:p>
        </p:txBody>
      </p:sp>
      <p:sp>
        <p:nvSpPr>
          <p:cNvPr id="22" name="Rectangle 21"/>
          <p:cNvSpPr/>
          <p:nvPr/>
        </p:nvSpPr>
        <p:spPr>
          <a:xfrm>
            <a:off x="10588000" y="4140000"/>
            <a:ext cx="800000" cy="800000"/>
          </a:xfrm>
          <a:prstGeom prst="rect">
            <a:avLst/>
          </a:prstGeom>
          <a:solidFill>
            <a:srgbClr val="E8F2FF"/>
          </a:solidFill>
          <a:ln>
            <a:solidFill>
              <a:srgbClr val="3F6E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106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88000" y="41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88000" y="42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7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588000" y="42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7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588000" y="43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88000" y="43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588000" y="43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8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88000" y="44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9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88000" y="44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9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88000" y="45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9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88000" y="45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0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588000" y="45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0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588000" y="46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1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88000" y="46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1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588000" y="47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88000" y="47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2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88000" y="47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2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88000" y="48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588000" y="48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13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588000" y="49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88000" y="4960000"/>
            <a:ext cx="1000000" cy="260000"/>
          </a:xfrm>
          <a:prstGeom prst="rect">
            <a:avLst/>
          </a:prstGeom>
          <a:noFill/>
        </p:spPr>
        <p:txBody>
          <a:bodyPr wrap="square">
            <a:spAutoFit/>
          </a:bodyPr>
          <a:lstStyle/>
          <a:p>
            <a:pPr algn="ctr"/>
            <a:r>
              <a:rPr sz="900" b="0" i="0">
                <a:solidFill>
                  <a:srgbClr val="5A6B80"/>
                </a:solidFill>
                <a:latin typeface="Segoe UI"/>
              </a:rPr>
              <a:t>1 cell = 400 px</a:t>
            </a:r>
          </a:p>
        </p:txBody>
      </p:sp>
      <p:sp>
        <p:nvSpPr>
          <p:cNvPr id="62" name="TextBox 61"/>
          <p:cNvSpPr txBox="1"/>
          <p:nvPr/>
        </p:nvSpPr>
        <p:spPr>
          <a:xfrm>
            <a:off x="3500000" y="6390000"/>
            <a:ext cx="7550000" cy="300000"/>
          </a:xfrm>
          <a:prstGeom prst="rect">
            <a:avLst/>
          </a:prstGeom>
          <a:noFill/>
        </p:spPr>
        <p:txBody>
          <a:bodyPr wrap="square">
            <a:spAutoFit/>
          </a:bodyPr>
          <a:lstStyle/>
          <a:p>
            <a:pPr algn="l"/>
            <a:r>
              <a:rPr sz="900" b="0" i="0">
                <a:solidFill>
                  <a:srgbClr val="5A6B80"/>
                </a:solidFill>
                <a:latin typeface="Segoe UI"/>
              </a:rPr>
              <a:t>Carbon = area × 108 t C/ha (field plots, Schile et al. 2017). Full equations and sources: README › References and equations.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3364992"/>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txBody>
          <a:bodyPr/>
          <a:lstStyle/>
          <a:p>
            <a:endParaRPr lang="en-GB"/>
          </a:p>
        </p:txBody>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txBody>
          <a:bodyPr/>
          <a:lstStyle/>
          <a:p>
            <a:endParaRPr lang="en-GB"/>
          </a:p>
        </p:txBody>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txBody>
          <a:bodyPr/>
          <a:lstStyle/>
          <a:p>
            <a:endParaRPr lang="en-GB"/>
          </a:p>
        </p:txBody>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txBody>
          <a:bodyPr/>
          <a:lstStyle/>
          <a:p>
            <a:endParaRPr lang="en-GB"/>
          </a:p>
        </p:txBody>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4" name="a8ping_d0"/>
          <p:cNvSpPr/>
          <p:nvPr/>
        </p:nvSpPr>
        <p:spPr>
          <a:xfrm>
            <a:off x="9101819" y="2231136"/>
            <a:ext cx="292608" cy="292608"/>
          </a:xfrm>
          <a:prstGeom prst="ellipse">
            <a:avLst/>
          </a:prstGeom>
          <a:ln w="25400">
            <a:solidFill>
              <a:srgbClr val="BE5F6D"/>
            </a:solidFill>
            <a:prstDash val="solid"/>
          </a:ln>
        </p:spPr>
        <p:txBody>
          <a:bodyPr/>
          <a:lstStyle/>
          <a:p>
            <a:endParaRPr lang="en-GB"/>
          </a:p>
        </p:txBody>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txBody>
          <a:bodyPr/>
          <a:lstStyle/>
          <a:p>
            <a:endParaRPr lang="en-GB"/>
          </a:p>
        </p:txBody>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txBody>
          <a:bodyPr/>
          <a:lstStyle/>
          <a:p>
            <a:endParaRPr lang="en-GB"/>
          </a:p>
        </p:txBody>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txBody>
          <a:bodyPr/>
          <a:lstStyle/>
          <a:p>
            <a:endParaRPr lang="en-GB"/>
          </a:p>
        </p:txBody>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txBody>
          <a:bodyPr/>
          <a:lstStyle/>
          <a:p>
            <a:endParaRPr lang="en-GB"/>
          </a:p>
        </p:txBody>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txBody>
          <a:bodyPr/>
          <a:lstStyle/>
          <a:p>
            <a:endParaRPr lang="en-GB"/>
          </a:p>
        </p:txBody>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
        <p:nvSpPr>
          <p:cNvPr id="158"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Carbon at stake = lost area × field carbon density: 26–62 ha (our Sentinel-2 and EnMAP estimates) × 108 t C/ha (90 % CI 79–138; Schile et al. 2017, Ecol. Appl. 27:859; data Dryad doi 10.15146/R3K59Z) = 2.8–6.7 kt C; × 3.67 = t CO₂e. Cost to serve = compute &lt; $5 (measured; Azure D8s v5 $0.384/h) + sub-metre checks $500–750 (SkyWatch $19–29/km²) + analyst $2k (assumption). Prices are pilot hypotheses.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DOCUMENTATION &amp; EVIDENCE · DEVELOPMENT POTENTIAL</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EVIDENCE</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Python 3.12 · Planetary Computer · pinned requirements</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DEVELOPMENT POTENTIAL</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txBody>
          <a:bodyPr/>
          <a:lstStyle/>
          <a:p>
            <a:endParaRPr lang="en-GB"/>
          </a:p>
        </p:txBody>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recovery tracking for planting</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W H Y   I T   M A T T E R S   I N   T H E   R E G I O N</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600" b="0" i="0">
                <a:solidFill>
                  <a:srgbClr val="1B2B40"/>
                </a:solidFill>
                <a:latin typeface="Segoe UI Semibold"/>
              </a:rPr>
              <a:t>Big pledges, and a coast that is changing fast</a:t>
            </a:r>
          </a:p>
        </p:txBody>
      </p:sp>
      <p:sp>
        <p:nvSpPr>
          <p:cNvPr id="6" name="Rounded Rectangle 5"/>
          <p:cNvSpPr/>
          <p:nvPr/>
        </p:nvSpPr>
        <p:spPr>
          <a:xfrm>
            <a:off x="54864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8640" y="2220000"/>
            <a:ext cx="2261180" cy="330000"/>
          </a:xfrm>
          <a:prstGeom prst="rect">
            <a:avLst/>
          </a:prstGeom>
          <a:noFill/>
        </p:spPr>
        <p:txBody>
          <a:bodyPr wrap="square">
            <a:spAutoFit/>
          </a:bodyPr>
          <a:lstStyle/>
          <a:p>
            <a:pPr algn="l"/>
            <a:r>
              <a:rPr sz="1400" b="1" i="0">
                <a:solidFill>
                  <a:srgbClr val="1B2B40"/>
                </a:solidFill>
                <a:latin typeface="Segoe UI"/>
              </a:rPr>
              <a:t>UAE</a:t>
            </a:r>
          </a:p>
        </p:txBody>
      </p:sp>
      <p:sp>
        <p:nvSpPr>
          <p:cNvPr id="13" name="TextBox 12"/>
          <p:cNvSpPr txBox="1"/>
          <p:nvPr/>
        </p:nvSpPr>
        <p:spPr>
          <a:xfrm>
            <a:off x="74864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14" name="TextBox 13"/>
          <p:cNvSpPr txBox="1"/>
          <p:nvPr/>
        </p:nvSpPr>
        <p:spPr>
          <a:xfrm>
            <a:off x="748640" y="3050000"/>
            <a:ext cx="2301180" cy="680000"/>
          </a:xfrm>
          <a:prstGeom prst="rect">
            <a:avLst/>
          </a:prstGeom>
          <a:noFill/>
        </p:spPr>
        <p:txBody>
          <a:bodyPr wrap="square">
            <a:spAutoFit/>
          </a:bodyPr>
          <a:lstStyle/>
          <a:p>
            <a:pPr algn="l"/>
            <a:r>
              <a:rPr sz="1050" b="0" i="0">
                <a:solidFill>
                  <a:srgbClr val="5A6B80"/>
                </a:solidFill>
                <a:latin typeface="Segoe UI"/>
              </a:rPr>
              <a:t>mangroves by 2030 · MOCCAE, COP26. First GCC monitoring guide: EAD with IUCN, Feb 2026.</a:t>
            </a:r>
          </a:p>
        </p:txBody>
      </p:sp>
      <p:sp>
        <p:nvSpPr>
          <p:cNvPr id="15" name="Rounded Rectangle 14"/>
          <p:cNvSpPr/>
          <p:nvPr/>
        </p:nvSpPr>
        <p:spPr>
          <a:xfrm>
            <a:off x="335982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559820" y="2220000"/>
            <a:ext cx="2261180" cy="330000"/>
          </a:xfrm>
          <a:prstGeom prst="rect">
            <a:avLst/>
          </a:prstGeom>
          <a:noFill/>
        </p:spPr>
        <p:txBody>
          <a:bodyPr wrap="square">
            <a:spAutoFit/>
          </a:bodyPr>
          <a:lstStyle/>
          <a:p>
            <a:pPr algn="l"/>
            <a:r>
              <a:rPr sz="1400" b="1" i="0">
                <a:solidFill>
                  <a:srgbClr val="1B2B40"/>
                </a:solidFill>
                <a:latin typeface="Segoe UI"/>
              </a:rPr>
              <a:t>Saudi Arabia</a:t>
            </a:r>
          </a:p>
        </p:txBody>
      </p:sp>
      <p:sp>
        <p:nvSpPr>
          <p:cNvPr id="19" name="TextBox 18"/>
          <p:cNvSpPr txBox="1"/>
          <p:nvPr/>
        </p:nvSpPr>
        <p:spPr>
          <a:xfrm>
            <a:off x="355982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20" name="TextBox 19"/>
          <p:cNvSpPr txBox="1"/>
          <p:nvPr/>
        </p:nvSpPr>
        <p:spPr>
          <a:xfrm>
            <a:off x="3559820" y="3050000"/>
            <a:ext cx="2301180" cy="680000"/>
          </a:xfrm>
          <a:prstGeom prst="rect">
            <a:avLst/>
          </a:prstGeom>
          <a:noFill/>
        </p:spPr>
        <p:txBody>
          <a:bodyPr wrap="square">
            <a:spAutoFit/>
          </a:bodyPr>
          <a:lstStyle/>
          <a:p>
            <a:pPr algn="l"/>
            <a:r>
              <a:rPr sz="1050" b="0" i="0">
                <a:solidFill>
                  <a:srgbClr val="5A6B80"/>
                </a:solidFill>
                <a:latin typeface="Segoe UI"/>
              </a:rPr>
              <a:t>mangroves by 2030 · Saudi Green Initiative. Red Sea Global alone: 50 million by 2030.</a:t>
            </a:r>
          </a:p>
        </p:txBody>
      </p:sp>
      <p:sp>
        <p:nvSpPr>
          <p:cNvPr id="21" name="Rounded Rectangle 20"/>
          <p:cNvSpPr/>
          <p:nvPr/>
        </p:nvSpPr>
        <p:spPr>
          <a:xfrm>
            <a:off x="617100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71000" y="2220000"/>
            <a:ext cx="2261180" cy="330000"/>
          </a:xfrm>
          <a:prstGeom prst="rect">
            <a:avLst/>
          </a:prstGeom>
          <a:noFill/>
        </p:spPr>
        <p:txBody>
          <a:bodyPr wrap="square">
            <a:spAutoFit/>
          </a:bodyPr>
          <a:lstStyle/>
          <a:p>
            <a:pPr algn="l"/>
            <a:r>
              <a:rPr sz="1400" b="1" i="0">
                <a:solidFill>
                  <a:srgbClr val="1B2B40"/>
                </a:solidFill>
                <a:latin typeface="Segoe UI"/>
              </a:rPr>
              <a:t>Bahrain</a:t>
            </a:r>
          </a:p>
        </p:txBody>
      </p:sp>
      <p:sp>
        <p:nvSpPr>
          <p:cNvPr id="26" name="TextBox 25"/>
          <p:cNvSpPr txBox="1"/>
          <p:nvPr/>
        </p:nvSpPr>
        <p:spPr>
          <a:xfrm>
            <a:off x="6371000" y="2520000"/>
            <a:ext cx="2261180" cy="520000"/>
          </a:xfrm>
          <a:prstGeom prst="rect">
            <a:avLst/>
          </a:prstGeom>
          <a:noFill/>
        </p:spPr>
        <p:txBody>
          <a:bodyPr wrap="square">
            <a:spAutoFit/>
          </a:bodyPr>
          <a:lstStyle/>
          <a:p>
            <a:pPr algn="l"/>
            <a:r>
              <a:rPr sz="3000" b="0" i="0">
                <a:solidFill>
                  <a:srgbClr val="A9813A"/>
                </a:solidFill>
                <a:latin typeface="Segoe UI Light"/>
              </a:rPr>
              <a:t>×4</a:t>
            </a:r>
          </a:p>
        </p:txBody>
      </p:sp>
      <p:sp>
        <p:nvSpPr>
          <p:cNvPr id="27" name="TextBox 26"/>
          <p:cNvSpPr txBox="1"/>
          <p:nvPr/>
        </p:nvSpPr>
        <p:spPr>
          <a:xfrm>
            <a:off x="6371000" y="3050000"/>
            <a:ext cx="2301180" cy="680000"/>
          </a:xfrm>
          <a:prstGeom prst="rect">
            <a:avLst/>
          </a:prstGeom>
          <a:noFill/>
        </p:spPr>
        <p:txBody>
          <a:bodyPr wrap="square">
            <a:spAutoFit/>
          </a:bodyPr>
          <a:lstStyle/>
          <a:p>
            <a:pPr algn="l"/>
            <a:r>
              <a:rPr sz="1050" b="0" i="0">
                <a:solidFill>
                  <a:srgbClr val="5A6B80"/>
                </a:solidFill>
                <a:latin typeface="Segoe UI"/>
              </a:rPr>
              <a:t>its mangroves by 2035 · pledged at COP26 (2021). Small stands: they need higher-resolution imagery.</a:t>
            </a:r>
          </a:p>
        </p:txBody>
      </p:sp>
      <p:sp>
        <p:nvSpPr>
          <p:cNvPr id="28" name="Rounded Rectangle 27"/>
          <p:cNvSpPr/>
          <p:nvPr/>
        </p:nvSpPr>
        <p:spPr>
          <a:xfrm>
            <a:off x="898218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82180" y="2220000"/>
            <a:ext cx="2261180" cy="330000"/>
          </a:xfrm>
          <a:prstGeom prst="rect">
            <a:avLst/>
          </a:prstGeom>
          <a:noFill/>
        </p:spPr>
        <p:txBody>
          <a:bodyPr wrap="square">
            <a:spAutoFit/>
          </a:bodyPr>
          <a:lstStyle/>
          <a:p>
            <a:pPr algn="l"/>
            <a:r>
              <a:rPr sz="1400" b="1" i="0">
                <a:solidFill>
                  <a:srgbClr val="1B2B40"/>
                </a:solidFill>
                <a:latin typeface="Segoe UI"/>
              </a:rPr>
              <a:t>Arab region</a:t>
            </a:r>
          </a:p>
        </p:txBody>
      </p:sp>
      <p:sp>
        <p:nvSpPr>
          <p:cNvPr id="32" name="TextBox 31"/>
          <p:cNvSpPr txBox="1"/>
          <p:nvPr/>
        </p:nvSpPr>
        <p:spPr>
          <a:xfrm>
            <a:off x="9182180" y="2520000"/>
            <a:ext cx="2261180" cy="520000"/>
          </a:xfrm>
          <a:prstGeom prst="rect">
            <a:avLst/>
          </a:prstGeom>
          <a:noFill/>
        </p:spPr>
        <p:txBody>
          <a:bodyPr wrap="square">
            <a:spAutoFit/>
          </a:bodyPr>
          <a:lstStyle/>
          <a:p>
            <a:pPr algn="l"/>
            <a:r>
              <a:rPr sz="3000" b="0" i="0">
                <a:solidFill>
                  <a:srgbClr val="A9813A"/>
                </a:solidFill>
                <a:latin typeface="Segoe UI Light"/>
              </a:rPr>
              <a:t>≈ 365 km²</a:t>
            </a:r>
          </a:p>
        </p:txBody>
      </p:sp>
      <p:sp>
        <p:nvSpPr>
          <p:cNvPr id="33" name="TextBox 32"/>
          <p:cNvSpPr txBox="1"/>
          <p:nvPr/>
        </p:nvSpPr>
        <p:spPr>
          <a:xfrm>
            <a:off x="9182180" y="3050000"/>
            <a:ext cx="2301180" cy="680000"/>
          </a:xfrm>
          <a:prstGeom prst="rect">
            <a:avLst/>
          </a:prstGeom>
          <a:noFill/>
        </p:spPr>
        <p:txBody>
          <a:bodyPr wrap="square">
            <a:spAutoFit/>
          </a:bodyPr>
          <a:lstStyle/>
          <a:p>
            <a:pPr algn="l"/>
            <a:r>
              <a:rPr sz="1050" b="0" i="0">
                <a:solidFill>
                  <a:srgbClr val="5A6B80"/>
                </a:solidFill>
                <a:latin typeface="Segoe UI"/>
              </a:rPr>
              <a:t>of mangrove on the Gulf (≈ 165) and Red Sea (≈ 200) coasts; monitoring still “uneven”.</a:t>
            </a:r>
          </a:p>
        </p:txBody>
      </p:sp>
      <p:sp>
        <p:nvSpPr>
          <p:cNvPr id="34" name="Rounded Rectangle 33"/>
          <p:cNvSpPr/>
          <p:nvPr/>
        </p:nvSpPr>
        <p:spPr>
          <a:xfrm>
            <a:off x="54864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8640" y="4070000"/>
            <a:ext cx="1900000" cy="560000"/>
          </a:xfrm>
          <a:prstGeom prst="rect">
            <a:avLst/>
          </a:prstGeom>
          <a:noFill/>
        </p:spPr>
        <p:txBody>
          <a:bodyPr wrap="square">
            <a:spAutoFit/>
          </a:bodyPr>
          <a:lstStyle/>
          <a:p>
            <a:pPr algn="l"/>
            <a:r>
              <a:rPr sz="2800" b="0" i="0">
                <a:solidFill>
                  <a:srgbClr val="A9813A"/>
                </a:solidFill>
                <a:latin typeface="Segoe UI Light"/>
              </a:rPr>
              <a:t>5 / 25</a:t>
            </a:r>
          </a:p>
        </p:txBody>
      </p:sp>
      <p:sp>
        <p:nvSpPr>
          <p:cNvPr id="36" name="TextBox 35"/>
          <p:cNvSpPr txBox="1"/>
          <p:nvPr/>
        </p:nvSpPr>
        <p:spPr>
          <a:xfrm>
            <a:off x="2698640" y="4050000"/>
            <a:ext cx="3122360" cy="650000"/>
          </a:xfrm>
          <a:prstGeom prst="rect">
            <a:avLst/>
          </a:prstGeom>
          <a:noFill/>
        </p:spPr>
        <p:txBody>
          <a:bodyPr wrap="square">
            <a:spAutoFit/>
          </a:bodyPr>
          <a:lstStyle/>
          <a:p>
            <a:pPr algn="l"/>
            <a:r>
              <a:rPr sz="1200" b="0" i="0">
                <a:solidFill>
                  <a:srgbClr val="1B2B40"/>
                </a:solidFill>
                <a:latin typeface="Segoe UI"/>
              </a:rPr>
              <a:t>pilot stands lost mangrove to coastal development in 2022–25, confirmed on sub-metre imagery (our result).</a:t>
            </a:r>
          </a:p>
        </p:txBody>
      </p:sp>
      <p:sp>
        <p:nvSpPr>
          <p:cNvPr id="37" name="Rounded Rectangle 36"/>
          <p:cNvSpPr/>
          <p:nvPr/>
        </p:nvSpPr>
        <p:spPr>
          <a:xfrm>
            <a:off x="617100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71000" y="4070000"/>
            <a:ext cx="1900000" cy="560000"/>
          </a:xfrm>
          <a:prstGeom prst="rect">
            <a:avLst/>
          </a:prstGeom>
          <a:noFill/>
        </p:spPr>
        <p:txBody>
          <a:bodyPr wrap="square">
            <a:spAutoFit/>
          </a:bodyPr>
          <a:lstStyle/>
          <a:p>
            <a:pPr algn="l"/>
            <a:r>
              <a:rPr sz="2800" b="0" i="0">
                <a:solidFill>
                  <a:srgbClr val="A9813A"/>
                </a:solidFill>
                <a:latin typeface="Segoe UI Light"/>
              </a:rPr>
              <a:t>$25–29</a:t>
            </a:r>
          </a:p>
        </p:txBody>
      </p:sp>
      <p:sp>
        <p:nvSpPr>
          <p:cNvPr id="39" name="TextBox 38"/>
          <p:cNvSpPr txBox="1"/>
          <p:nvPr/>
        </p:nvSpPr>
        <p:spPr>
          <a:xfrm>
            <a:off x="8321000" y="4050000"/>
            <a:ext cx="3122360" cy="650000"/>
          </a:xfrm>
          <a:prstGeom prst="rect">
            <a:avLst/>
          </a:prstGeom>
          <a:noFill/>
        </p:spPr>
        <p:txBody>
          <a:bodyPr wrap="square">
            <a:spAutoFit/>
          </a:bodyPr>
          <a:lstStyle/>
          <a:p>
            <a:pPr algn="l"/>
            <a:r>
              <a:rPr sz="1200" b="0" i="0">
                <a:solidFill>
                  <a:srgbClr val="1B2B40"/>
                </a:solidFill>
                <a:latin typeface="Segoe UI"/>
              </a:rPr>
              <a:t>per tonne of CO₂e: blue-carbon credit prices 2024–25 (S&amp;P Global Platts). A lost hectare is also lost value.</a:t>
            </a:r>
          </a:p>
        </p:txBody>
      </p:sp>
      <p:sp>
        <p:nvSpPr>
          <p:cNvPr id="40" name="Rounded Rectangle 39"/>
          <p:cNvSpPr/>
          <p:nvPr/>
        </p:nvSpPr>
        <p:spPr>
          <a:xfrm>
            <a:off x="548640" y="4960000"/>
            <a:ext cx="11094720" cy="520000"/>
          </a:xfrm>
          <a:prstGeom prst="roundRect">
            <a:avLst>
              <a:gd name="adj" fmla="val 30000"/>
            </a:avLst>
          </a:prstGeom>
          <a:solidFill>
            <a:srgbClr val="E8F2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60000" y="5070000"/>
            <a:ext cx="10700000" cy="330000"/>
          </a:xfrm>
          <a:prstGeom prst="rect">
            <a:avLst/>
          </a:prstGeom>
          <a:noFill/>
        </p:spPr>
        <p:txBody>
          <a:bodyPr wrap="square">
            <a:spAutoFit/>
          </a:bodyPr>
          <a:lstStyle/>
          <a:p>
            <a:pPr algn="l"/>
            <a:r>
              <a:rPr sz="1250" b="1" i="0">
                <a:solidFill>
                  <a:srgbClr val="1B2B40"/>
                </a:solidFill>
                <a:latin typeface="Segoe UI"/>
              </a:rPr>
              <a:t>Tested: Abu Dhabi + Saudi Tarut Bay  ·  same species across the Gulf (Avicennia marina)  ·  Next: Bahrain, sharper imagery</a:t>
            </a:r>
          </a:p>
        </p:txBody>
      </p:sp>
      <p:sp>
        <p:nvSpPr>
          <p:cNvPr id="42" name="TextBox 41"/>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MOCCAE COP26 pledge (2021) · EAD–IUCN GCC mangrove monitoring guide (Feb 2026) · Saudi Green Initiative · Red Sea Global (2023) · Bahrain four-fold by 2035 (GDN, COP26) · Frontiers in Marine Science 2025, doi 10.3389/fmars.2025.1695426 · S&amp;P Global Platts 2024–25</a:t>
            </a:r>
          </a:p>
        </p:txBody>
      </p:sp>
      <p:pic>
        <p:nvPicPr>
          <p:cNvPr id="43" name="flag_United_Arab_Emirates" descr="United_Arab_Emirates.png"/>
          <p:cNvPicPr>
            <a:picLocks noChangeAspect="1"/>
          </p:cNvPicPr>
          <p:nvPr/>
        </p:nvPicPr>
        <p:blipFill>
          <a:blip r:embed="rId5"/>
          <a:stretch>
            <a:fillRect/>
          </a:stretch>
        </p:blipFill>
        <p:spPr>
          <a:xfrm>
            <a:off x="748640" y="1810000"/>
            <a:ext cx="680000" cy="340000"/>
          </a:xfrm>
          <a:prstGeom prst="rect">
            <a:avLst/>
          </a:prstGeom>
          <a:ln w="9525">
            <a:solidFill>
              <a:srgbClr val="D6E2EF"/>
            </a:solidFill>
          </a:ln>
        </p:spPr>
      </p:pic>
      <p:pic>
        <p:nvPicPr>
          <p:cNvPr id="44" name="flag_Saudi_Arabia" descr="Saudi_Arabia.png"/>
          <p:cNvPicPr>
            <a:picLocks noChangeAspect="1"/>
          </p:cNvPicPr>
          <p:nvPr/>
        </p:nvPicPr>
        <p:blipFill>
          <a:blip r:embed="rId6"/>
          <a:stretch>
            <a:fillRect/>
          </a:stretch>
        </p:blipFill>
        <p:spPr>
          <a:xfrm>
            <a:off x="3559820" y="1810000"/>
            <a:ext cx="508982" cy="340000"/>
          </a:xfrm>
          <a:prstGeom prst="rect">
            <a:avLst/>
          </a:prstGeom>
          <a:ln w="9525">
            <a:solidFill>
              <a:srgbClr val="D6E2EF"/>
            </a:solidFill>
          </a:ln>
        </p:spPr>
      </p:pic>
      <p:pic>
        <p:nvPicPr>
          <p:cNvPr id="45" name="flag_Bahrain" descr="Bahrain.png"/>
          <p:cNvPicPr>
            <a:picLocks noChangeAspect="1"/>
          </p:cNvPicPr>
          <p:nvPr/>
        </p:nvPicPr>
        <p:blipFill>
          <a:blip r:embed="rId7"/>
          <a:stretch>
            <a:fillRect/>
          </a:stretch>
        </p:blipFill>
        <p:spPr>
          <a:xfrm>
            <a:off x="6371000" y="1810000"/>
            <a:ext cx="566667" cy="340000"/>
          </a:xfrm>
          <a:prstGeom prst="rect">
            <a:avLst/>
          </a:prstGeom>
          <a:ln w="9525">
            <a:solidFill>
              <a:srgbClr val="D6E2EF"/>
            </a:solidFill>
          </a:ln>
        </p:spPr>
      </p:pic>
      <p:sp>
        <p:nvSpPr>
          <p:cNvPr id="46" name="TextBox 45"/>
          <p:cNvSpPr txBox="1"/>
          <p:nvPr/>
        </p:nvSpPr>
        <p:spPr>
          <a:xfrm>
            <a:off x="9142180" y="1740000"/>
            <a:ext cx="600000" cy="450000"/>
          </a:xfrm>
          <a:prstGeom prst="rect">
            <a:avLst/>
          </a:prstGeom>
          <a:noFill/>
        </p:spPr>
        <p:txBody>
          <a:bodyPr wrap="none">
            <a:spAutoFit/>
          </a:bodyPr>
          <a:lstStyle/>
          <a:p>
            <a:r>
              <a:rPr sz="2400">
                <a:latin typeface="Segoe UI Emoji"/>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video_now">
            <a:hlinkClick r:id="" action="ppaction://media"/>
            <a:extLst>
              <a:ext uri="{FF2B5EF4-FFF2-40B4-BE49-F238E27FC236}">
                <a16:creationId xmlns:a16="http://schemas.microsoft.com/office/drawing/2014/main" id="{562F6D1D-E459-8C62-A494-3FEFBDC47D0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200"/>
                                  </p:stCondLst>
                                  <p:childTnLst>
                                    <p:cmd type="call" cmd="playFrom(0.0)">
                                      <p:cBhvr>
                                        <p:cTn id="6" dur="403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3"/>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3"/>
                                        </p:tgtEl>
                                      </p:cBhvr>
                                    </p:cmd>
                                  </p:childTnLst>
                                </p:cTn>
                              </p:par>
                            </p:childTnLst>
                          </p:cTn>
                        </p:par>
                      </p:childTnLst>
                    </p:cTn>
                  </p:par>
                </p:childTnLst>
              </p:cTn>
              <p:nextCondLst>
                <p:cond evt="onClick" delay="0">
                  <p:tgtEl>
                    <p:spTgt spid="3"/>
                  </p:tgtEl>
                </p:cond>
              </p:nextCondLst>
            </p:seq>
            <p:video>
              <p:cMediaNode vol="80000" mute="1">
                <p:cTn id="12"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Our ask:  </a:t>
            </a:r>
            <a:r>
              <a:rPr lang="en-US" sz="1500" dirty="0">
                <a:solidFill>
                  <a:srgbClr val="FFFFFF"/>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9000000" cy="330000"/>
          </a:xfrm>
          <a:prstGeom prst="rect">
            <a:avLst/>
          </a:prstGeom>
          <a:noFill/>
        </p:spPr>
        <p:txBody>
          <a:bodyPr wrap="square">
            <a:spAutoFit/>
          </a:bodyPr>
          <a:lstStyle/>
          <a:p>
            <a:pPr algn="l"/>
            <a:r>
              <a:rPr sz="1300" b="1">
                <a:solidFill>
                  <a:srgbClr val="3F6E9E"/>
                </a:solidFill>
                <a:latin typeface="Segoe UI"/>
              </a:rPr>
              <a:t>B A H R A I N   S P A C E   A G E N C Y</a:t>
            </a:r>
          </a:p>
        </p:txBody>
      </p:sp>
      <p:sp>
        <p:nvSpPr>
          <p:cNvPr id="5" name="TextBox 4"/>
          <p:cNvSpPr txBox="1"/>
          <p:nvPr/>
        </p:nvSpPr>
        <p:spPr>
          <a:xfrm>
            <a:off x="548640" y="713232"/>
            <a:ext cx="11000000" cy="707886"/>
          </a:xfrm>
          <a:prstGeom prst="rect">
            <a:avLst/>
          </a:prstGeom>
          <a:noFill/>
        </p:spPr>
        <p:txBody>
          <a:bodyPr wrap="square">
            <a:spAutoFit/>
          </a:bodyPr>
          <a:lstStyle/>
          <a:p>
            <a:pPr algn="l"/>
            <a:r>
              <a:rPr sz="4000" b="0">
                <a:solidFill>
                  <a:srgbClr val="1B2B40"/>
                </a:solidFill>
                <a:latin typeface="Segoe UI Semibold"/>
              </a:rPr>
              <a:t>Expert Evaluation and Feedback</a:t>
            </a:r>
          </a:p>
        </p:txBody>
      </p:sp>
      <p:sp>
        <p:nvSpPr>
          <p:cNvPr id="6" name="Rounded Rectangle 5"/>
          <p:cNvSpPr/>
          <p:nvPr/>
        </p:nvSpPr>
        <p:spPr>
          <a:xfrm>
            <a:off x="640000" y="1900000"/>
            <a:ext cx="6300000" cy="28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9.png"/>
          <p:cNvPicPr>
            <a:picLocks noChangeAspect="1"/>
          </p:cNvPicPr>
          <p:nvPr/>
        </p:nvPicPr>
        <p:blipFill>
          <a:blip r:embed="rId5"/>
          <a:stretch>
            <a:fillRect/>
          </a:stretch>
        </p:blipFill>
        <p:spPr>
          <a:xfrm>
            <a:off x="940000" y="2150000"/>
            <a:ext cx="5700000" cy="1849735"/>
          </a:xfrm>
          <a:prstGeom prst="rect">
            <a:avLst/>
          </a:prstGeom>
        </p:spPr>
      </p:pic>
      <p:pic>
        <p:nvPicPr>
          <p:cNvPr id="19" name="Picture 18" descr="image.png"/>
          <p:cNvPicPr>
            <a:picLocks noChangeAspect="1"/>
          </p:cNvPicPr>
          <p:nvPr/>
        </p:nvPicPr>
        <p:blipFill>
          <a:blip r:embed="rId6"/>
          <a:stretch>
            <a:fillRect/>
          </a:stretch>
        </p:blipFill>
        <p:spPr>
          <a:xfrm>
            <a:off x="11273640" y="327760"/>
            <a:ext cx="549999" cy="330000"/>
          </a:xfrm>
          <a:prstGeom prst="rect">
            <a:avLst/>
          </a:prstGeom>
        </p:spPr>
      </p:pic>
      <p:sp>
        <p:nvSpPr>
          <p:cNvPr id="21" name="TextBox 20"/>
          <p:cNvSpPr txBox="1"/>
          <p:nvPr/>
        </p:nvSpPr>
        <p:spPr>
          <a:xfrm>
            <a:off x="7400000" y="1900000"/>
            <a:ext cx="4250000" cy="400000"/>
          </a:xfrm>
          <a:prstGeom prst="rect">
            <a:avLst/>
          </a:prstGeom>
          <a:noFill/>
        </p:spPr>
        <p:txBody>
          <a:bodyPr wrap="square">
            <a:spAutoFit/>
          </a:bodyPr>
          <a:lstStyle/>
          <a:p>
            <a:pPr algn="l"/>
            <a:r>
              <a:rPr sz="1200" b="1" i="0">
                <a:solidFill>
                  <a:srgbClr val="3F6E9E"/>
                </a:solidFill>
                <a:latin typeface="Segoe UI"/>
              </a:rPr>
              <a:t>O F F I C I A L   S T A T E M E N T</a:t>
            </a:r>
          </a:p>
        </p:txBody>
      </p:sp>
      <p:sp>
        <p:nvSpPr>
          <p:cNvPr id="22" name="bsa_quote_box"/>
          <p:cNvSpPr/>
          <p:nvPr/>
        </p:nvSpPr>
        <p:spPr>
          <a:xfrm>
            <a:off x="7400000" y="2350000"/>
            <a:ext cx="4250000" cy="2450000"/>
          </a:xfrm>
          <a:prstGeom prst="wedgeRoundRectCallout">
            <a:avLst>
              <a:gd name="adj1" fmla="val -56999"/>
              <a:gd name="adj2" fmla="val -5000"/>
              <a:gd name="adj3" fmla="val 16667"/>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50000" y="2380000"/>
            <a:ext cx="800000" cy="700000"/>
          </a:xfrm>
          <a:prstGeom prst="rect">
            <a:avLst/>
          </a:prstGeom>
          <a:noFill/>
        </p:spPr>
        <p:txBody>
          <a:bodyPr wrap="square">
            <a:spAutoFit/>
          </a:bodyPr>
          <a:lstStyle/>
          <a:p>
            <a:pPr algn="l"/>
            <a:r>
              <a:rPr sz="6000" b="1" i="0">
                <a:solidFill>
                  <a:srgbClr val="CE1126"/>
                </a:solidFill>
                <a:latin typeface="Georgia"/>
              </a:rPr>
              <a:t>“</a:t>
            </a:r>
          </a:p>
        </p:txBody>
      </p:sp>
      <p:sp>
        <p:nvSpPr>
          <p:cNvPr id="24" name="bsa_quote_text"/>
          <p:cNvSpPr txBox="1"/>
          <p:nvPr/>
        </p:nvSpPr>
        <p:spPr>
          <a:xfrm>
            <a:off x="7700000" y="2850000"/>
            <a:ext cx="3700000" cy="1450000"/>
          </a:xfrm>
          <a:prstGeom prst="rect">
            <a:avLst/>
          </a:prstGeom>
          <a:noFill/>
        </p:spPr>
        <p:txBody>
          <a:bodyPr wrap="square">
            <a:spAutoFit/>
          </a:bodyPr>
          <a:lstStyle/>
          <a:p>
            <a:pPr algn="l"/>
            <a:r>
              <a:rPr sz="1050" b="0" i="1">
                <a:solidFill>
                  <a:srgbClr val="2E3E52"/>
                </a:solidFill>
                <a:latin typeface="Segoe UI"/>
              </a:rPr>
              <a:t>The Bahrain Space Agency commends Ms. Nahla Nabil for presenting Blue Carbon Guardian, an innovative project using Earth Observation data to monitor regional mangrove ecosystems. The Agency provided specialised assessment and technical feedback, reaffirming its commitment to supporting research and innovation that advance Bahrain's environmental objectives and sustainability goals.</a:t>
            </a:r>
          </a:p>
        </p:txBody>
      </p:sp>
      <p:sp>
        <p:nvSpPr>
          <p:cNvPr id="25" name="bsa_quote_author"/>
          <p:cNvSpPr txBox="1"/>
          <p:nvPr/>
        </p:nvSpPr>
        <p:spPr>
          <a:xfrm>
            <a:off x="7700000" y="4060000"/>
            <a:ext cx="3700000" cy="500000"/>
          </a:xfrm>
          <a:prstGeom prst="rect">
            <a:avLst/>
          </a:prstGeom>
          <a:noFill/>
        </p:spPr>
        <p:txBody>
          <a:bodyPr wrap="square">
            <a:spAutoFit/>
          </a:bodyPr>
          <a:lstStyle/>
          <a:p>
            <a:pPr algn="l"/>
            <a:r>
              <a:rPr sz="1200" b="1" i="0">
                <a:solidFill>
                  <a:srgbClr val="1B2B40"/>
                </a:solidFill>
                <a:latin typeface="Segoe UI"/>
              </a:rPr>
              <a:t>— Bahrain Space Agency, official statement</a:t>
            </a:r>
          </a:p>
        </p:txBody>
      </p:sp>
      <p:sp>
        <p:nvSpPr>
          <p:cNvPr id="27" name="TextBox 26"/>
          <p:cNvSpPr txBox="1"/>
          <p:nvPr/>
        </p:nvSpPr>
        <p:spPr>
          <a:xfrm>
            <a:off x="940000" y="4000000"/>
            <a:ext cx="5700000" cy="330000"/>
          </a:xfrm>
          <a:prstGeom prst="rect">
            <a:avLst/>
          </a:prstGeom>
          <a:noFill/>
        </p:spPr>
        <p:txBody>
          <a:bodyPr wrap="square">
            <a:spAutoFit/>
          </a:bodyPr>
          <a:lstStyle/>
          <a:p>
            <a:pPr algn="ctr"/>
            <a:r>
              <a:rPr sz="1600" b="1">
                <a:solidFill>
                  <a:srgbClr val="1B2B40"/>
                </a:solidFill>
                <a:latin typeface="Segoe UI"/>
              </a:rPr>
              <a:t>Specialised assessment and technical feedback</a:t>
            </a:r>
          </a:p>
        </p:txBody>
      </p:sp>
      <p:sp>
        <p:nvSpPr>
          <p:cNvPr id="28" name="TextBox 27"/>
          <p:cNvSpPr txBox="1"/>
          <p:nvPr/>
        </p:nvSpPr>
        <p:spPr>
          <a:xfrm>
            <a:off x="940000" y="4370000"/>
            <a:ext cx="5700000" cy="300000"/>
          </a:xfrm>
          <a:prstGeom prst="rect">
            <a:avLst/>
          </a:prstGeom>
          <a:noFill/>
        </p:spPr>
        <p:txBody>
          <a:bodyPr wrap="square">
            <a:spAutoFit/>
          </a:bodyPr>
          <a:lstStyle/>
          <a:p>
            <a:pPr algn="ctr"/>
            <a:r>
              <a:rPr sz="1300" b="0">
                <a:solidFill>
                  <a:srgbClr val="5A6B80"/>
                </a:solidFill>
                <a:latin typeface="Segoe UI"/>
              </a:rPr>
              <a:t>for research that advances Bahrain's environmental goals</a:t>
            </a:r>
          </a:p>
        </p:txBody>
      </p:sp>
      <p:sp>
        <p:nvSpPr>
          <p:cNvPr id="29" name="TextBox 28"/>
          <p:cNvSpPr txBox="1"/>
          <p:nvPr/>
        </p:nvSpPr>
        <p:spPr>
          <a:xfrm>
            <a:off x="640000" y="4880000"/>
            <a:ext cx="11000000" cy="330000"/>
          </a:xfrm>
          <a:prstGeom prst="rect">
            <a:avLst/>
          </a:prstGeom>
          <a:noFill/>
        </p:spPr>
        <p:txBody>
          <a:bodyPr wrap="square">
            <a:spAutoFit/>
          </a:bodyPr>
          <a:lstStyle/>
          <a:p>
            <a:pPr algn="l"/>
            <a:r>
              <a:rPr sz="1100" b="1">
                <a:solidFill>
                  <a:srgbClr val="3F6E9E"/>
                </a:solidFill>
                <a:latin typeface="Segoe UI"/>
              </a:rPr>
              <a:t>P O T E N T I A L   A D O P T E R S   I N   B A H R A I N   ·   supporting the national pledge to quadruple mangroves by 2035</a:t>
            </a:r>
          </a:p>
        </p:txBody>
      </p:sp>
      <p:sp>
        <p:nvSpPr>
          <p:cNvPr id="30" name="Rounded Rectangle 29"/>
          <p:cNvSpPr/>
          <p:nvPr/>
        </p:nvSpPr>
        <p:spPr>
          <a:xfrm>
            <a:off x="6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0000" y="5550000"/>
            <a:ext cx="2700000" cy="330000"/>
          </a:xfrm>
          <a:prstGeom prst="rect">
            <a:avLst/>
          </a:prstGeom>
          <a:noFill/>
        </p:spPr>
        <p:txBody>
          <a:bodyPr wrap="square">
            <a:spAutoFit/>
          </a:bodyPr>
          <a:lstStyle/>
          <a:p>
            <a:pPr algn="l"/>
            <a:r>
              <a:rPr sz="1200" b="1">
                <a:solidFill>
                  <a:srgbClr val="1B2B40"/>
                </a:solidFill>
                <a:latin typeface="Segoe UI"/>
              </a:rPr>
              <a:t>Supreme Council for Environment</a:t>
            </a:r>
          </a:p>
        </p:txBody>
      </p:sp>
      <p:sp>
        <p:nvSpPr>
          <p:cNvPr id="33" name="TextBox 32"/>
          <p:cNvSpPr txBox="1"/>
          <p:nvPr/>
        </p:nvSpPr>
        <p:spPr>
          <a:xfrm>
            <a:off x="820000" y="5870000"/>
            <a:ext cx="2700000" cy="330000"/>
          </a:xfrm>
          <a:prstGeom prst="rect">
            <a:avLst/>
          </a:prstGeom>
          <a:noFill/>
        </p:spPr>
        <p:txBody>
          <a:bodyPr wrap="square">
            <a:spAutoFit/>
          </a:bodyPr>
          <a:lstStyle/>
          <a:p>
            <a:pPr algn="l"/>
            <a:r>
              <a:rPr sz="1100" b="0">
                <a:solidFill>
                  <a:srgbClr val="5A6B80"/>
                </a:solidFill>
                <a:latin typeface="Segoe UI"/>
              </a:rPr>
              <a:t>tracking the national mangrove target</a:t>
            </a:r>
          </a:p>
        </p:txBody>
      </p:sp>
      <p:sp>
        <p:nvSpPr>
          <p:cNvPr id="34" name="Rounded Rectangle 33"/>
          <p:cNvSpPr/>
          <p:nvPr/>
        </p:nvSpPr>
        <p:spPr>
          <a:xfrm>
            <a:off x="43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3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20000" y="5550000"/>
            <a:ext cx="2500000" cy="330000"/>
          </a:xfrm>
          <a:prstGeom prst="rect">
            <a:avLst/>
          </a:prstGeom>
          <a:noFill/>
        </p:spPr>
        <p:txBody>
          <a:bodyPr wrap="square">
            <a:spAutoFit/>
          </a:bodyPr>
          <a:lstStyle/>
          <a:p>
            <a:pPr algn="l"/>
            <a:r>
              <a:rPr sz="1200" b="1">
                <a:solidFill>
                  <a:srgbClr val="1B2B40"/>
                </a:solidFill>
                <a:latin typeface="Segoe UI"/>
              </a:rPr>
              <a:t>Municipalities &amp; Agriculture</a:t>
            </a:r>
          </a:p>
        </p:txBody>
      </p:sp>
      <p:sp>
        <p:nvSpPr>
          <p:cNvPr id="37" name="TextBox 36"/>
          <p:cNvSpPr txBox="1"/>
          <p:nvPr/>
        </p:nvSpPr>
        <p:spPr>
          <a:xfrm>
            <a:off x="4520000" y="5870000"/>
            <a:ext cx="2500000" cy="330000"/>
          </a:xfrm>
          <a:prstGeom prst="rect">
            <a:avLst/>
          </a:prstGeom>
          <a:noFill/>
        </p:spPr>
        <p:txBody>
          <a:bodyPr wrap="square">
            <a:spAutoFit/>
          </a:bodyPr>
          <a:lstStyle/>
          <a:p>
            <a:pPr algn="l"/>
            <a:r>
              <a:rPr sz="1100" b="0">
                <a:solidFill>
                  <a:srgbClr val="5A6B80"/>
                </a:solidFill>
                <a:latin typeface="Segoe UI"/>
              </a:rPr>
              <a:t>planting and coastal permits</a:t>
            </a:r>
          </a:p>
        </p:txBody>
      </p:sp>
      <p:sp>
        <p:nvSpPr>
          <p:cNvPr id="38" name="Rounded Rectangle 37"/>
          <p:cNvSpPr/>
          <p:nvPr/>
        </p:nvSpPr>
        <p:spPr>
          <a:xfrm>
            <a:off x="80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20000" y="5550000"/>
            <a:ext cx="2250000" cy="330000"/>
          </a:xfrm>
          <a:prstGeom prst="rect">
            <a:avLst/>
          </a:prstGeom>
          <a:noFill/>
        </p:spPr>
        <p:txBody>
          <a:bodyPr wrap="square">
            <a:spAutoFit/>
          </a:bodyPr>
          <a:lstStyle/>
          <a:p>
            <a:pPr algn="l"/>
            <a:r>
              <a:rPr sz="1200" b="1">
                <a:solidFill>
                  <a:srgbClr val="1B2B40"/>
                </a:solidFill>
                <a:latin typeface="Segoe UI"/>
              </a:rPr>
              <a:t>Universities</a:t>
            </a:r>
          </a:p>
        </p:txBody>
      </p:sp>
      <p:sp>
        <p:nvSpPr>
          <p:cNvPr id="41" name="TextBox 40"/>
          <p:cNvSpPr txBox="1"/>
          <p:nvPr/>
        </p:nvSpPr>
        <p:spPr>
          <a:xfrm>
            <a:off x="8220000" y="5870000"/>
            <a:ext cx="2250000" cy="330000"/>
          </a:xfrm>
          <a:prstGeom prst="rect">
            <a:avLst/>
          </a:prstGeom>
          <a:noFill/>
        </p:spPr>
        <p:txBody>
          <a:bodyPr wrap="square">
            <a:spAutoFit/>
          </a:bodyPr>
          <a:lstStyle/>
          <a:p>
            <a:pPr algn="l"/>
            <a:r>
              <a:rPr sz="1100" b="0">
                <a:solidFill>
                  <a:srgbClr val="5A6B80"/>
                </a:solidFill>
                <a:latin typeface="Segoe UI"/>
              </a:rPr>
              <a:t>Earth-observation research</a:t>
            </a:r>
          </a:p>
        </p:txBody>
      </p:sp>
      <p:pic>
        <p:nvPicPr>
          <p:cNvPr id="42" name="logo_aou" descr="AOU-Logo11.png"/>
          <p:cNvPicPr>
            <a:picLocks noChangeAspect="1"/>
          </p:cNvPicPr>
          <p:nvPr/>
        </p:nvPicPr>
        <p:blipFill>
          <a:blip r:embed="rId7"/>
          <a:stretch>
            <a:fillRect/>
          </a:stretch>
        </p:blipFill>
        <p:spPr>
          <a:xfrm>
            <a:off x="10450000" y="5620000"/>
            <a:ext cx="1102500" cy="560000"/>
          </a:xfrm>
          <a:prstGeom prst="rect">
            <a:avLst/>
          </a:prstGeom>
        </p:spPr>
      </p:pic>
      <p:sp>
        <p:nvSpPr>
          <p:cNvPr id="43" name="bh_small_note"/>
          <p:cNvSpPr txBox="1"/>
          <p:nvPr/>
        </p:nvSpPr>
        <p:spPr>
          <a:xfrm>
            <a:off x="640000" y="5150000"/>
            <a:ext cx="11000000" cy="280000"/>
          </a:xfrm>
          <a:prstGeom prst="rect">
            <a:avLst/>
          </a:prstGeom>
          <a:noFill/>
        </p:spPr>
        <p:txBody>
          <a:bodyPr wrap="square">
            <a:spAutoFit/>
          </a:bodyPr>
          <a:lstStyle/>
          <a:p>
            <a:pPr algn="l"/>
            <a:r>
              <a:rPr sz="1100" b="0" i="1">
                <a:solidFill>
                  <a:srgbClr val="5A6B80"/>
                </a:solidFill>
                <a:latin typeface="Segoe UI"/>
              </a:rPr>
              <a:t>Bahrain's mangrove stands are smaller than Abu Dhabi's: monitoring them needs higher-resolution imagery than open data (10 m) provides.</a:t>
            </a:r>
          </a:p>
        </p:txBody>
      </p:sp>
      <p:pic>
        <p:nvPicPr>
          <p:cNvPr id="44" name="logo_sce" descr="logo_sce.png"/>
          <p:cNvPicPr>
            <a:picLocks noChangeAspect="1"/>
          </p:cNvPicPr>
          <p:nvPr/>
        </p:nvPicPr>
        <p:blipFill>
          <a:blip r:embed="rId8"/>
          <a:stretch>
            <a:fillRect/>
          </a:stretch>
        </p:blipFill>
        <p:spPr>
          <a:xfrm>
            <a:off x="3570308" y="5600000"/>
            <a:ext cx="509693" cy="600000"/>
          </a:xfrm>
          <a:prstGeom prst="rect">
            <a:avLst/>
          </a:prstGeom>
        </p:spPr>
      </p:pic>
      <p:pic>
        <p:nvPicPr>
          <p:cNvPr id="45" name="logo_mma" descr="logo_mma.png"/>
          <p:cNvPicPr>
            <a:picLocks noChangeAspect="1"/>
          </p:cNvPicPr>
          <p:nvPr/>
        </p:nvPicPr>
        <p:blipFill>
          <a:blip r:embed="rId9"/>
          <a:stretch>
            <a:fillRect/>
          </a:stretch>
        </p:blipFill>
        <p:spPr>
          <a:xfrm>
            <a:off x="6944199" y="5590000"/>
            <a:ext cx="835801" cy="620000"/>
          </a:xfrm>
          <a:prstGeom prst="rect">
            <a:avLst/>
          </a:prstGeom>
        </p:spPr>
      </p:pic>
      <p:sp>
        <p:nvSpPr>
          <p:cNvPr id="46" name="bsa_meeting"/>
          <p:cNvSpPr txBox="1"/>
          <p:nvPr/>
        </p:nvSpPr>
        <p:spPr>
          <a:xfrm>
            <a:off x="7700000" y="4300000"/>
            <a:ext cx="3750000" cy="369332"/>
          </a:xfrm>
          <a:prstGeom prst="rect">
            <a:avLst/>
          </a:prstGeom>
          <a:noFill/>
        </p:spPr>
        <p:txBody>
          <a:bodyPr wrap="square">
            <a:spAutoFit/>
          </a:bodyPr>
          <a:lstStyle/>
          <a:p>
            <a:pPr algn="l"/>
            <a:r>
              <a:rPr sz="850" b="0" i="0">
                <a:solidFill>
                  <a:srgbClr val="5A6B80"/>
                </a:solidFill>
                <a:latin typeface="Segoe UI"/>
              </a:rPr>
              <a:t>Meeting and written feedback, 26 Oct 2026 ·</a:t>
            </a:r>
            <a:endParaRPr lang="en-GB" sz="900" b="0" i="0">
              <a:solidFill>
                <a:srgbClr val="5A6B80"/>
              </a:solidFill>
              <a:latin typeface="Segoe UI"/>
            </a:endParaRPr>
          </a:p>
          <a:p>
            <a:pPr algn="l"/>
            <a:r>
              <a:rPr lang="en-GB" sz="850" b="0" i="0">
                <a:solidFill>
                  <a:srgbClr val="5A6B80"/>
                </a:solidFill>
                <a:latin typeface="Segoe UI"/>
              </a:rPr>
              <a:t>Eng. Roaya Bubshait, Head of Satellite Images &amp; Data Analysis,</a:t>
            </a:r>
          </a:p>
          <a:p>
            <a:pPr algn="l"/>
            <a:r>
              <a:rPr lang="en-GB" sz="850" b="0" i="0">
                <a:solidFill>
                  <a:srgbClr val="5A6B80"/>
                </a:solidFill>
                <a:latin typeface="Segoe UI"/>
              </a:rPr>
              <a:t>with Eng. Aysha Aljawder, Eng. Aysha Almahmeed and Eng. Suad Khalifa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txBody>
          <a:bodyPr/>
          <a:lstStyle/>
          <a:p>
            <a:endParaRPr lang="en-GB"/>
          </a:p>
        </p:txBody>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a:solidFill>
                  <a:srgbClr val="D4E2EE"/>
                </a:solidFill>
                <a:latin typeface="Segoe UI Semibold" pitchFamily="34" charset="0"/>
                <a:ea typeface="Segoe UI Semibold" pitchFamily="34" charset="-122"/>
                <a:cs typeface="Segoe UI Semibold" pitchFamily="34" charset="-120"/>
              </a:rPr>
              <a:t>شكراً ل</a:t>
            </a:r>
            <a:r>
              <a:rPr lang="ar-BH" sz="3200">
                <a:solidFill>
                  <a:srgbClr val="D4E2EE"/>
                </a:solidFill>
                <a:latin typeface="Segoe UI Semibold" pitchFamily="34" charset="0"/>
                <a:ea typeface="Segoe UI Semibold" pitchFamily="34" charset="-122"/>
                <a:cs typeface="Segoe UI Semibold" pitchFamily="34" charset="-120"/>
              </a:rPr>
              <a:t>دولة ا</a:t>
            </a:r>
            <a:r>
              <a:rPr lang="en-US" sz="3200">
                <a:solidFill>
                  <a:srgbClr val="D4E2EE"/>
                </a:solidFill>
                <a:latin typeface="Segoe UI Semibold" pitchFamily="34" charset="0"/>
                <a:ea typeface="Segoe UI Semibold" pitchFamily="34" charset="-122"/>
                <a:cs typeface="Segoe UI Semibold" pitchFamily="34" charset="-120"/>
              </a:rPr>
              <a:t>لإمارات</a:t>
            </a:r>
            <a:r>
              <a:rPr lang="ar-BH" sz="3200">
                <a:solidFill>
                  <a:srgbClr val="D4E2EE"/>
                </a:solidFill>
                <a:latin typeface="Segoe UI Semibold" pitchFamily="34" charset="0"/>
                <a:ea typeface="Segoe UI Semibold" pitchFamily="34" charset="-122"/>
                <a:cs typeface="Segoe UI Semibold" pitchFamily="34" charset="-120"/>
              </a:rPr>
              <a:t> العربيـة المتحدة</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t>
            </a:r>
            <a:r>
              <a:rPr lang="en-US" sz="2400" b="1">
                <a:solidFill>
                  <a:srgbClr val="F1D9A0"/>
                </a:solidFill>
                <a:latin typeface="Segoe UI Light" pitchFamily="34" charset="0"/>
                <a:ea typeface="Segoe UI Light" pitchFamily="34" charset="-122"/>
                <a:cs typeface="Segoe UI Light" pitchFamily="34" charset="-120"/>
              </a:rPr>
              <a:t>Arab Emirates</a:t>
            </a:r>
            <a:r>
              <a:rPr lang="en-US" sz="2400">
                <a:solidFill>
                  <a:srgbClr val="FFFFFF"/>
                </a:solidFill>
                <a:latin typeface="Segoe UI Light" pitchFamily="34" charset="0"/>
                <a:ea typeface="Segoe UI Light" pitchFamily="34" charset="-122"/>
                <a:cs typeface="Segoe UI Light" pitchFamily="34" charset="-120"/>
              </a:rPr>
              <a:t> </a:t>
            </a:r>
            <a:r>
              <a:rPr lang="en-US" sz="2400" dirty="0">
                <a:solidFill>
                  <a:srgbClr val="FFFFFF"/>
                </a:solidFill>
                <a:latin typeface="Segoe UI Light" pitchFamily="34" charset="0"/>
                <a:ea typeface="Segoe UI Light" pitchFamily="34" charset="-122"/>
                <a:cs typeface="Segoe UI Light" pitchFamily="34" charset="-120"/>
              </a:rPr>
              <a:t>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a:t>
            </a:r>
            <a:r>
              <a:rPr lang="en-US" sz="1400">
                <a:solidFill>
                  <a:srgbClr val="D4E2EE"/>
                </a:solidFill>
                <a:latin typeface="Segoe UI" pitchFamily="34" charset="0"/>
                <a:ea typeface="Segoe UI" pitchFamily="34" charset="-122"/>
                <a:cs typeface="Segoe UI" pitchFamily="34" charset="-120"/>
              </a:rPr>
              <a:t>gratitude  </a:t>
            </a:r>
            <a:r>
              <a:rPr lang="ar-BH" sz="1400">
                <a:solidFill>
                  <a:srgbClr val="D4E2EE"/>
                </a:solidFill>
                <a:latin typeface="Segoe UI" pitchFamily="34" charset="0"/>
                <a:ea typeface="Segoe UI" pitchFamily="34" charset="-122"/>
                <a:cs typeface="Segoe UI" pitchFamily="34" charset="-120"/>
              </a:rPr>
              <a:t>|</a:t>
            </a:r>
            <a:r>
              <a:rPr lang="en-US" sz="1400">
                <a:solidFill>
                  <a:srgbClr val="D4E2EE"/>
                </a:solidFill>
                <a:latin typeface="Segoe UI" pitchFamily="34" charset="0"/>
                <a:ea typeface="Segoe UI" pitchFamily="34" charset="-122"/>
                <a:cs typeface="Segoe UI" pitchFamily="34" charset="-120"/>
              </a:rPr>
              <a:t>  </a:t>
            </a:r>
            <a:r>
              <a:rPr lang="en-US" sz="1400" dirty="0">
                <a:solidFill>
                  <a:srgbClr val="D4E2EE"/>
                </a:solidFill>
                <a:latin typeface="Segoe UI" pitchFamily="34" charset="0"/>
                <a:ea typeface="Segoe UI" pitchFamily="34" charset="-122"/>
                <a:cs typeface="Segoe UI" pitchFamily="34" charset="-120"/>
              </a:rPr>
              <a:t>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low1" descr="image.png"/>
          <p:cNvPicPr>
            <a:picLocks noChangeAspect="1"/>
          </p:cNvPicPr>
          <p:nvPr/>
        </p:nvPicPr>
        <p:blipFill>
          <a:blip r:embed="rId2"/>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3"/>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spcAft>
                <a:spcPts val="300"/>
              </a:spcAft>
            </a:pPr>
            <a:r>
              <a:rPr sz="1300" b="1">
                <a:solidFill>
                  <a:srgbClr val="3F6E9E"/>
                </a:solidFill>
                <a:latin typeface="Segoe UI"/>
              </a:rPr>
              <a:t>R E F E R E N C E S</a:t>
            </a:r>
          </a:p>
        </p:txBody>
      </p:sp>
      <p:sp>
        <p:nvSpPr>
          <p:cNvPr id="5" name="TextBox 4"/>
          <p:cNvSpPr txBox="1"/>
          <p:nvPr/>
        </p:nvSpPr>
        <p:spPr>
          <a:xfrm>
            <a:off x="548640" y="713232"/>
            <a:ext cx="11000000" cy="700000"/>
          </a:xfrm>
          <a:prstGeom prst="rect">
            <a:avLst/>
          </a:prstGeom>
          <a:noFill/>
        </p:spPr>
        <p:txBody>
          <a:bodyPr wrap="square">
            <a:spAutoFit/>
          </a:bodyPr>
          <a:lstStyle/>
          <a:p>
            <a:pPr algn="l">
              <a:spcAft>
                <a:spcPts val="300"/>
              </a:spcAft>
            </a:pPr>
            <a:r>
              <a:rPr sz="3200" b="0">
                <a:solidFill>
                  <a:srgbClr val="1B2B40"/>
                </a:solidFill>
                <a:latin typeface="Segoe UI"/>
              </a:rPr>
              <a:t>Where every number comes from</a:t>
            </a:r>
          </a:p>
        </p:txBody>
      </p:sp>
      <p:sp>
        <p:nvSpPr>
          <p:cNvPr id="6" name="Rounded Rectangle 5"/>
          <p:cNvSpPr/>
          <p:nvPr/>
        </p:nvSpPr>
        <p:spPr>
          <a:xfrm>
            <a:off x="548640" y="1480000"/>
            <a:ext cx="600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p>
        </p:txBody>
      </p:sp>
      <p:sp>
        <p:nvSpPr>
          <p:cNvPr id="7" name="TextBox 6"/>
          <p:cNvSpPr txBox="1"/>
          <p:nvPr/>
        </p:nvSpPr>
        <p:spPr>
          <a:xfrm>
            <a:off x="718640" y="1560000"/>
            <a:ext cx="5700000" cy="4700000"/>
          </a:xfrm>
          <a:prstGeom prst="rect">
            <a:avLst/>
          </a:prstGeom>
          <a:noFill/>
        </p:spPr>
        <p:txBody>
          <a:bodyPr wrap="square">
            <a:spAutoFit/>
          </a:bodyPr>
          <a:lstStyle/>
          <a:p>
            <a:pPr algn="l">
              <a:spcAft>
                <a:spcPts val="700"/>
              </a:spcAft>
            </a:pPr>
            <a:r>
              <a:rPr sz="1160" b="1">
                <a:solidFill>
                  <a:srgbClr val="3F6E9E"/>
                </a:solidFill>
                <a:latin typeface="Segoe UI"/>
              </a:rPr>
              <a:t>EXTERNAL SOURCES</a:t>
            </a:r>
          </a:p>
          <a:p>
            <a:pPr algn="l">
              <a:spcAft>
                <a:spcPts val="700"/>
              </a:spcAft>
            </a:pPr>
            <a:r>
              <a:rPr sz="1160" b="1">
                <a:solidFill>
                  <a:srgbClr val="1B2B40"/>
                </a:solidFill>
                <a:latin typeface="Segoe UI"/>
              </a:rPr>
              <a:t>UAE: 100 M mangroves by 2030  </a:t>
            </a:r>
            <a:r>
              <a:rPr sz="1100" b="0">
                <a:solidFill>
                  <a:srgbClr val="5A6B80"/>
                </a:solidFill>
                <a:latin typeface="Segoe UI"/>
              </a:rPr>
              <a:t>Ministry of Climate Change and Environment, COP26 (2021); Abu Dhabi Mangrove Initiative, EAD (2022)</a:t>
            </a:r>
          </a:p>
          <a:p>
            <a:pPr algn="l">
              <a:spcAft>
                <a:spcPts val="700"/>
              </a:spcAft>
            </a:pPr>
            <a:r>
              <a:rPr sz="1160" b="1">
                <a:solidFill>
                  <a:srgbClr val="1B2B40"/>
                </a:solidFill>
                <a:latin typeface="Segoe UI"/>
              </a:rPr>
              <a:t>Saudi Arabia: 100 M+ by 2030  </a:t>
            </a:r>
            <a:r>
              <a:rPr sz="1100" b="0">
                <a:solidFill>
                  <a:srgbClr val="5A6B80"/>
                </a:solidFill>
                <a:latin typeface="Segoe UI"/>
              </a:rPr>
              <a:t>Saudi Green Initiative (sgi.gov.sa); Red Sea Global, 50 M by 2030 (2023)</a:t>
            </a:r>
          </a:p>
          <a:p>
            <a:pPr algn="l">
              <a:spcAft>
                <a:spcPts val="700"/>
              </a:spcAft>
            </a:pPr>
            <a:r>
              <a:rPr sz="1160" b="1">
                <a:solidFill>
                  <a:srgbClr val="1B2B40"/>
                </a:solidFill>
                <a:latin typeface="Segoe UI"/>
              </a:rPr>
              <a:t>Bahrain: ×4 mangroves by 2035  </a:t>
            </a:r>
            <a:r>
              <a:rPr sz="1100" b="0">
                <a:solidFill>
                  <a:srgbClr val="5A6B80"/>
                </a:solidFill>
                <a:latin typeface="Segoe UI"/>
              </a:rPr>
              <a:t>COP26 pledge (2021), GDN Online</a:t>
            </a:r>
          </a:p>
          <a:p>
            <a:pPr algn="l">
              <a:spcAft>
                <a:spcPts val="700"/>
              </a:spcAft>
            </a:pPr>
            <a:r>
              <a:rPr sz="1160" b="1">
                <a:solidFill>
                  <a:srgbClr val="1B2B40"/>
                </a:solidFill>
                <a:latin typeface="Segoe UI"/>
              </a:rPr>
              <a:t>GCC mangrove monitoring guide  </a:t>
            </a:r>
            <a:r>
              <a:rPr sz="1100" b="0">
                <a:solidFill>
                  <a:srgbClr val="5A6B80"/>
                </a:solidFill>
                <a:latin typeface="Segoe UI"/>
              </a:rPr>
              <a:t>EAD with IUCN Mangrove Specialist Group (Gulf News, 24 Feb 2026); Guidelines for Mangrove Restoration in the UAE (EAD, MOCCAE, Emirates Nature–WWF)</a:t>
            </a:r>
          </a:p>
          <a:p>
            <a:pPr algn="l">
              <a:spcAft>
                <a:spcPts val="700"/>
              </a:spcAft>
            </a:pPr>
            <a:r>
              <a:rPr sz="1160" b="1">
                <a:solidFill>
                  <a:srgbClr val="1B2B40"/>
                </a:solidFill>
                <a:latin typeface="Segoe UI"/>
              </a:rPr>
              <a:t>Mangrove areas, “uneven” monitoring  </a:t>
            </a:r>
            <a:r>
              <a:rPr sz="1100" b="0">
                <a:solidFill>
                  <a:srgbClr val="5A6B80"/>
                </a:solidFill>
                <a:latin typeface="Segoe UI"/>
              </a:rPr>
              <a:t>Frontiers in Marine Science (2025), doi 10.3389/fmars.2025.1695426</a:t>
            </a:r>
          </a:p>
          <a:p>
            <a:pPr algn="l">
              <a:spcAft>
                <a:spcPts val="700"/>
              </a:spcAft>
            </a:pPr>
            <a:r>
              <a:rPr sz="1160" b="1">
                <a:solidFill>
                  <a:srgbClr val="1B2B40"/>
                </a:solidFill>
                <a:latin typeface="Segoe UI"/>
              </a:rPr>
              <a:t>108 t C/ha (90 % CI 79–138)  </a:t>
            </a:r>
            <a:r>
              <a:rPr sz="1100" b="0">
                <a:solidFill>
                  <a:srgbClr val="5A6B80"/>
                </a:solidFill>
                <a:latin typeface="Segoe UI"/>
              </a:rPr>
              <a:t>Schile et al. 2017, Ecological Applications 27:859–874, doi 10.1002/eap.1489; field data Dryad doi 10.15146/R3K59Z (CC0)</a:t>
            </a:r>
          </a:p>
          <a:p>
            <a:pPr algn="l">
              <a:spcAft>
                <a:spcPts val="700"/>
              </a:spcAft>
            </a:pPr>
            <a:r>
              <a:rPr sz="1160" b="1">
                <a:solidFill>
                  <a:srgbClr val="1B2B40"/>
                </a:solidFill>
                <a:latin typeface="Segoe UI"/>
              </a:rPr>
              <a:t>$25–29 per t CO₂e  </a:t>
            </a:r>
            <a:r>
              <a:rPr sz="1100" b="0">
                <a:solidFill>
                  <a:srgbClr val="5A6B80"/>
                </a:solidFill>
                <a:latin typeface="Segoe UI"/>
              </a:rPr>
              <a:t>S&amp;P Global Platts blue-carbon assessments, 2024–25</a:t>
            </a:r>
          </a:p>
          <a:p>
            <a:pPr algn="l">
              <a:spcAft>
                <a:spcPts val="700"/>
              </a:spcAft>
            </a:pPr>
            <a:r>
              <a:rPr sz="1160" b="1">
                <a:solidFill>
                  <a:srgbClr val="1B2B40"/>
                </a:solidFill>
                <a:latin typeface="Segoe UI"/>
              </a:rPr>
              <a:t>Cost to serve  </a:t>
            </a:r>
            <a:r>
              <a:rPr sz="1100" b="0">
                <a:solidFill>
                  <a:srgbClr val="5A6B80"/>
                </a:solidFill>
                <a:latin typeface="Segoe UI"/>
              </a:rPr>
              <a:t>SkyWatch imagery pricing $19–29/km²; Azure D8s v5 $0.384/h; analyst time = assumption</a:t>
            </a:r>
          </a:p>
          <a:p>
            <a:pPr algn="l">
              <a:spcAft>
                <a:spcPts val="700"/>
              </a:spcAft>
            </a:pPr>
            <a:r>
              <a:rPr sz="1160" b="1">
                <a:solidFill>
                  <a:srgbClr val="1B2B40"/>
                </a:solidFill>
                <a:latin typeface="Segoe UI"/>
              </a:rPr>
              <a:t>Global Mangrove Watch alerts  </a:t>
            </a:r>
            <a:r>
              <a:rPr sz="1100" b="0">
                <a:solidFill>
                  <a:srgbClr val="5A6B80"/>
                </a:solidFill>
                <a:latin typeface="Segoe UI"/>
              </a:rPr>
              <a:t>Bunting et al. 2023, Remote Sensing 15:2050</a:t>
            </a:r>
          </a:p>
          <a:p>
            <a:pPr algn="l">
              <a:spcAft>
                <a:spcPts val="700"/>
              </a:spcAft>
            </a:pPr>
            <a:r>
              <a:rPr sz="1160" b="1">
                <a:solidFill>
                  <a:srgbClr val="1B2B40"/>
                </a:solidFill>
                <a:latin typeface="Segoe UI"/>
              </a:rPr>
              <a:t>Data  </a:t>
            </a:r>
            <a:r>
              <a:rPr sz="1100" b="0">
                <a:solidFill>
                  <a:srgbClr val="5A6B80"/>
                </a:solidFill>
                <a:latin typeface="Segoe UI"/>
              </a:rPr>
              <a:t>Sentinel-2 L2A (ESA Copernicus, via Microsoft Planetary Computer) · EnMAP L2A © DLR 2022, 2025 · ESA WorldCover 2021 (CC BY 4.0) · Esri World Imagery Wayback (Maxar)</a:t>
            </a:r>
          </a:p>
        </p:txBody>
      </p:sp>
      <p:sp>
        <p:nvSpPr>
          <p:cNvPr id="8" name="Rounded Rectangle 7"/>
          <p:cNvSpPr/>
          <p:nvPr/>
        </p:nvSpPr>
        <p:spPr>
          <a:xfrm>
            <a:off x="6688640" y="1480000"/>
            <a:ext cx="495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p>
        </p:txBody>
      </p:sp>
      <p:sp>
        <p:nvSpPr>
          <p:cNvPr id="9" name="TextBox 8"/>
          <p:cNvSpPr txBox="1"/>
          <p:nvPr/>
        </p:nvSpPr>
        <p:spPr>
          <a:xfrm>
            <a:off x="6858640" y="1560000"/>
            <a:ext cx="4650000" cy="4700000"/>
          </a:xfrm>
          <a:prstGeom prst="rect">
            <a:avLst/>
          </a:prstGeom>
          <a:noFill/>
        </p:spPr>
        <p:txBody>
          <a:bodyPr wrap="square">
            <a:spAutoFit/>
          </a:bodyPr>
          <a:lstStyle/>
          <a:p>
            <a:pPr algn="l">
              <a:spcAft>
                <a:spcPts val="700"/>
              </a:spcAft>
            </a:pPr>
            <a:r>
              <a:rPr sz="1160" b="1">
                <a:solidFill>
                  <a:srgbClr val="3F6E9E"/>
                </a:solidFill>
                <a:latin typeface="Segoe UI"/>
              </a:rPr>
              <a:t>OUR OWN RESULTS · FILE IN THE PUBLIC REPOSITORY</a:t>
            </a:r>
          </a:p>
          <a:p>
            <a:pPr algn="l">
              <a:spcAft>
                <a:spcPts val="700"/>
              </a:spcAft>
            </a:pPr>
            <a:r>
              <a:rPr sz="1160" b="1">
                <a:solidFill>
                  <a:srgbClr val="1B2B40"/>
                </a:solidFill>
                <a:latin typeface="Segoe UI"/>
              </a:rPr>
              <a:t>Tide model: −29 to −35 % noise  </a:t>
            </a:r>
            <a:r>
              <a:rPr sz="1100" b="0">
                <a:solidFill>
                  <a:srgbClr val="5A6B80"/>
                </a:solidFill>
                <a:latin typeface="Segoe UI"/>
              </a:rPr>
              <a:t>analysis/07_summary.md</a:t>
            </a:r>
          </a:p>
          <a:p>
            <a:pPr algn="l">
              <a:spcAft>
                <a:spcPts val="700"/>
              </a:spcAft>
            </a:pPr>
            <a:r>
              <a:rPr sz="1160" b="1">
                <a:solidFill>
                  <a:srgbClr val="1B2B40"/>
                </a:solidFill>
                <a:latin typeface="Segoe UI"/>
              </a:rPr>
              <a:t>40 % fewer false alarms (1.61 → 0.96)  </a:t>
            </a:r>
            <a:r>
              <a:rPr sz="1100" b="0">
                <a:solidFill>
                  <a:srgbClr val="5A6B80"/>
                </a:solidFill>
                <a:latin typeface="Segoe UI"/>
              </a:rPr>
              <a:t>analysis/35_textbook_baseline.md</a:t>
            </a:r>
          </a:p>
          <a:p>
            <a:pPr algn="l">
              <a:spcAft>
                <a:spcPts val="700"/>
              </a:spcAft>
            </a:pPr>
            <a:r>
              <a:rPr sz="1160" b="1">
                <a:solidFill>
                  <a:srgbClr val="1B2B40"/>
                </a:solidFill>
                <a:latin typeface="Segoe UI"/>
              </a:rPr>
              <a:t>73 % vs 13 % by chance  </a:t>
            </a:r>
            <a:r>
              <a:rPr sz="1100" b="0">
                <a:solidFill>
                  <a:srgbClr val="5A6B80"/>
                </a:solidFill>
                <a:latin typeface="Segoe UI"/>
              </a:rPr>
              <a:t>analysis/29_cell_trigger.md, 30_backtest_null.md</a:t>
            </a:r>
          </a:p>
          <a:p>
            <a:pPr algn="l">
              <a:spcAft>
                <a:spcPts val="700"/>
              </a:spcAft>
            </a:pPr>
            <a:r>
              <a:rPr sz="1160" b="1">
                <a:solidFill>
                  <a:srgbClr val="1B2B40"/>
                </a:solidFill>
                <a:latin typeface="Segoe UI"/>
              </a:rPr>
              <a:t>0.96 calibrated · 0.79 on 65 unseen stands  </a:t>
            </a:r>
            <a:r>
              <a:rPr sz="1100" b="0">
                <a:solidFill>
                  <a:srgbClr val="5A6B80"/>
                </a:solidFill>
                <a:latin typeface="Segoe UI"/>
              </a:rPr>
              <a:t>analysis/31_union_alerts.py, 33_scaleout_union_summary.md</a:t>
            </a:r>
          </a:p>
          <a:p>
            <a:pPr algn="l">
              <a:spcAft>
                <a:spcPts val="700"/>
              </a:spcAft>
            </a:pPr>
            <a:r>
              <a:rPr sz="1160" b="1">
                <a:solidFill>
                  <a:srgbClr val="1B2B40"/>
                </a:solidFill>
                <a:latin typeface="Segoe UI"/>
              </a:rPr>
              <a:t>Five real events, alert inside image windows  </a:t>
            </a:r>
            <a:r>
              <a:rPr sz="1100" b="0">
                <a:solidFill>
                  <a:srgbClr val="5A6B80"/>
                </a:solidFill>
                <a:latin typeface="Segoe UI"/>
              </a:rPr>
              <a:t>analysis/34_vhr_summary.md, 26_substand_summary.md</a:t>
            </a:r>
          </a:p>
          <a:p>
            <a:pPr algn="l">
              <a:spcAft>
                <a:spcPts val="700"/>
              </a:spcAft>
            </a:pPr>
            <a:r>
              <a:rPr sz="1160" b="1">
                <a:solidFill>
                  <a:srgbClr val="1B2B40"/>
                </a:solidFill>
                <a:latin typeface="Segoe UI"/>
              </a:rPr>
              <a:t>EnMAP r 0.84–0.99 · 26–62 ha lost  </a:t>
            </a:r>
            <a:r>
              <a:rPr sz="1100" b="0">
                <a:solidFill>
                  <a:srgbClr val="5A6B80"/>
                </a:solidFill>
                <a:latin typeface="Segoe UI"/>
              </a:rPr>
              <a:t>analysis/18_enmap_summary.md</a:t>
            </a:r>
          </a:p>
          <a:p>
            <a:pPr algn="l">
              <a:spcAft>
                <a:spcPts val="700"/>
              </a:spcAft>
            </a:pPr>
            <a:r>
              <a:rPr sz="1160" b="1">
                <a:solidFill>
                  <a:srgbClr val="1B2B40"/>
                </a:solidFill>
                <a:latin typeface="Segoe UI"/>
              </a:rPr>
              <a:t>Satellite 813 simulation (97 % / 0.4 %)  </a:t>
            </a:r>
            <a:r>
              <a:rPr sz="1100" b="0">
                <a:solidFill>
                  <a:srgbClr val="5A6B80"/>
                </a:solidFill>
                <a:latin typeface="Segoe UI"/>
              </a:rPr>
              <a:t>analysis/36_sat813_summary.md</a:t>
            </a:r>
          </a:p>
          <a:p>
            <a:pPr algn="l">
              <a:spcAft>
                <a:spcPts val="700"/>
              </a:spcAft>
            </a:pPr>
            <a:r>
              <a:rPr sz="1160" b="1">
                <a:solidFill>
                  <a:srgbClr val="1B2B40"/>
                </a:solidFill>
                <a:latin typeface="Segoe UI"/>
              </a:rPr>
              <a:t>247 kt C · 2.8–6.7 kt C at stake  </a:t>
            </a:r>
            <a:r>
              <a:rPr sz="1100" b="0">
                <a:solidFill>
                  <a:srgbClr val="5A6B80"/>
                </a:solidFill>
                <a:latin typeface="Segoe UI"/>
              </a:rPr>
              <a:t>analysis/13_carbon_summary.md (area × field density)</a:t>
            </a:r>
          </a:p>
          <a:p>
            <a:pPr algn="l">
              <a:spcAft>
                <a:spcPts val="700"/>
              </a:spcAft>
            </a:pPr>
            <a:r>
              <a:rPr sz="1160" b="1">
                <a:solidFill>
                  <a:srgbClr val="1B2B40"/>
                </a:solidFill>
                <a:latin typeface="Segoe UI"/>
              </a:rPr>
              <a:t>Prices and unit economics  </a:t>
            </a:r>
            <a:r>
              <a:rPr sz="1100" b="0">
                <a:solidFill>
                  <a:srgbClr val="5A6B80"/>
                </a:solidFill>
                <a:latin typeface="Segoe UI"/>
              </a:rPr>
              <a:t>docs/business_plan_draft.md (13 numbered sources)</a:t>
            </a:r>
          </a:p>
          <a:p>
            <a:pPr algn="l">
              <a:spcAft>
                <a:spcPts val="700"/>
              </a:spcAft>
            </a:pPr>
            <a:r>
              <a:rPr sz="1160" b="1">
                <a:solidFill>
                  <a:srgbClr val="1B2B40"/>
                </a:solidFill>
                <a:latin typeface="Segoe UI"/>
              </a:rPr>
              <a:t>Everything re-runs  </a:t>
            </a:r>
            <a:r>
              <a:rPr sz="1100" b="0">
                <a:solidFill>
                  <a:srgbClr val="5A6B80"/>
                </a:solidFill>
                <a:latin typeface="Segoe UI"/>
              </a:rPr>
              <a:t>notebooks/01_blue_carbon_guardian.ipynb · github.com/Nahla-Nabil/blue-carbon-guardian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low1" descr="image.png"/>
          <p:cNvPicPr>
            <a:picLocks noChangeAspect="1"/>
          </p:cNvPicPr>
          <p:nvPr/>
        </p:nvPicPr>
        <p:blipFill>
          <a:blip r:embed="rId2"/>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3"/>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spcAft>
                <a:spcPts val="200"/>
              </a:spcAft>
            </a:pPr>
            <a:r>
              <a:rPr sz="1300" b="1">
                <a:solidFill>
                  <a:srgbClr val="3F6E9E"/>
                </a:solidFill>
                <a:latin typeface="Segoe UI"/>
              </a:rPr>
              <a:t>B A C K U P   ·   M E T H O D</a:t>
            </a:r>
          </a:p>
        </p:txBody>
      </p:sp>
      <p:sp>
        <p:nvSpPr>
          <p:cNvPr id="5" name="TextBox 4"/>
          <p:cNvSpPr txBox="1"/>
          <p:nvPr/>
        </p:nvSpPr>
        <p:spPr>
          <a:xfrm>
            <a:off x="548640" y="713232"/>
            <a:ext cx="11000000" cy="700000"/>
          </a:xfrm>
          <a:prstGeom prst="rect">
            <a:avLst/>
          </a:prstGeom>
          <a:noFill/>
        </p:spPr>
        <p:txBody>
          <a:bodyPr wrap="square">
            <a:spAutoFit/>
          </a:bodyPr>
          <a:lstStyle/>
          <a:p>
            <a:pPr>
              <a:spcAft>
                <a:spcPts val="200"/>
              </a:spcAft>
            </a:pPr>
            <a:r>
              <a:rPr sz="3200" b="0">
                <a:solidFill>
                  <a:srgbClr val="1B2B40"/>
                </a:solidFill>
                <a:latin typeface="Segoe UI"/>
              </a:rPr>
              <a:t>All the equations behind the numbers</a:t>
            </a:r>
          </a:p>
        </p:txBody>
      </p:sp>
      <p:sp>
        <p:nvSpPr>
          <p:cNvPr id="6" name="Rounded Rectangle 5"/>
          <p:cNvSpPr/>
          <p:nvPr/>
        </p:nvSpPr>
        <p:spPr>
          <a:xfrm>
            <a:off x="54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1 · Indices (Sentinel-2 bands)</a:t>
            </a:r>
          </a:p>
          <a:p>
            <a:pPr>
              <a:spcAft>
                <a:spcPts val="200"/>
              </a:spcAft>
            </a:pPr>
            <a:r>
              <a:rPr sz="1150" b="0">
                <a:solidFill>
                  <a:srgbClr val="1B2B40"/>
                </a:solidFill>
                <a:latin typeface="Cambria Math"/>
              </a:rPr>
              <a:t>NDVI = (B8 − B4) / (B8 + B4)</a:t>
            </a:r>
          </a:p>
          <a:p>
            <a:pPr>
              <a:spcAft>
                <a:spcPts val="200"/>
              </a:spcAft>
            </a:pPr>
            <a:r>
              <a:rPr sz="1150" b="0">
                <a:solidFill>
                  <a:srgbClr val="1B2B40"/>
                </a:solidFill>
                <a:latin typeface="Cambria Math"/>
              </a:rPr>
              <a:t>NDRE = (B8A − B5) / (B8A + B5)</a:t>
            </a:r>
          </a:p>
          <a:p>
            <a:pPr>
              <a:spcAft>
                <a:spcPts val="200"/>
              </a:spcAft>
            </a:pPr>
            <a:r>
              <a:rPr sz="1150" b="0">
                <a:solidFill>
                  <a:srgbClr val="1B2B40"/>
                </a:solidFill>
                <a:latin typeface="Cambria Math"/>
              </a:rPr>
              <a:t>NDMI = (B8A − B11) / (B8A + B11)</a:t>
            </a:r>
          </a:p>
          <a:p>
            <a:pPr>
              <a:spcAft>
                <a:spcPts val="200"/>
              </a:spcAft>
            </a:pPr>
            <a:r>
              <a:rPr sz="950" b="0">
                <a:solidFill>
                  <a:srgbClr val="5A6B80"/>
                </a:solidFill>
                <a:latin typeface="Segoe UI"/>
              </a:rPr>
              <a:t>greenness · chlorophyll (red edge) · canopy moisture</a:t>
            </a:r>
          </a:p>
        </p:txBody>
      </p:sp>
      <p:sp>
        <p:nvSpPr>
          <p:cNvPr id="8" name="Rounded Rectangle 7"/>
          <p:cNvSpPr/>
          <p:nvPr/>
        </p:nvSpPr>
        <p:spPr>
          <a:xfrm>
            <a:off x="616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2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2 · Tide, from the image</a:t>
            </a:r>
          </a:p>
          <a:p>
            <a:pPr>
              <a:spcAft>
                <a:spcPts val="200"/>
              </a:spcAft>
            </a:pPr>
            <a:r>
              <a:rPr sz="1150" b="0">
                <a:solidFill>
                  <a:srgbClr val="1B2B40"/>
                </a:solidFill>
                <a:latin typeface="Cambria Math"/>
              </a:rPr>
              <a:t>MNDWI = (B3 − B11) / (B3 + B11)</a:t>
            </a:r>
          </a:p>
          <a:p>
            <a:pPr>
              <a:spcAft>
                <a:spcPts val="200"/>
              </a:spcAft>
            </a:pPr>
            <a:r>
              <a:rPr sz="1150" b="0">
                <a:solidFill>
                  <a:srgbClr val="1B2B40"/>
                </a:solidFill>
                <a:latin typeface="Cambria Math"/>
              </a:rPr>
              <a:t>flooded share f = % of pixels with MNDWI &gt; 0</a:t>
            </a:r>
          </a:p>
          <a:p>
            <a:pPr>
              <a:spcAft>
                <a:spcPts val="200"/>
              </a:spcAft>
            </a:pPr>
            <a:r>
              <a:rPr sz="950" b="0">
                <a:solidFill>
                  <a:srgbClr val="5A6B80"/>
                </a:solidFill>
                <a:latin typeface="Segoe UI"/>
              </a:rPr>
              <a:t>median over interior pixels of each stand / cell, every image</a:t>
            </a:r>
          </a:p>
        </p:txBody>
      </p:sp>
      <p:sp>
        <p:nvSpPr>
          <p:cNvPr id="10" name="Rounded Rectangle 9"/>
          <p:cNvSpPr/>
          <p:nvPr/>
        </p:nvSpPr>
        <p:spPr>
          <a:xfrm>
            <a:off x="54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3 · Expected value (per stand, cell, index)</a:t>
            </a:r>
          </a:p>
          <a:p>
            <a:pPr>
              <a:spcAft>
                <a:spcPts val="200"/>
              </a:spcAft>
            </a:pPr>
            <a:r>
              <a:rPr sz="1150" b="0">
                <a:solidFill>
                  <a:srgbClr val="1B2B40"/>
                </a:solidFill>
                <a:latin typeface="Cambria Math"/>
              </a:rPr>
              <a:t>index(t) = a + b·t + seasonal (1 and 2 cycles a year)</a:t>
            </a:r>
          </a:p>
          <a:p>
            <a:pPr>
              <a:spcAft>
                <a:spcPts val="200"/>
              </a:spcAft>
            </a:pPr>
            <a:r>
              <a:rPr sz="1150" b="0">
                <a:solidFill>
                  <a:srgbClr val="1B2B40"/>
                </a:solidFill>
                <a:latin typeface="Cambria Math"/>
              </a:rPr>
              <a:t>        + e₁·MNDWI + e₂·MNDWI² + e₃·f + noise</a:t>
            </a:r>
          </a:p>
          <a:p>
            <a:pPr>
              <a:spcAft>
                <a:spcPts val="200"/>
              </a:spcAft>
            </a:pPr>
            <a:r>
              <a:rPr sz="950" b="0">
                <a:solidFill>
                  <a:srgbClr val="5A6B80"/>
                </a:solidFill>
                <a:latin typeface="Segoe UI"/>
              </a:rPr>
              <a:t>Huber robust regression, refitted monthly on [t − 36 m, t − 3 m]</a:t>
            </a:r>
          </a:p>
        </p:txBody>
      </p:sp>
      <p:sp>
        <p:nvSpPr>
          <p:cNvPr id="12" name="Rounded Rectangle 11"/>
          <p:cNvSpPr/>
          <p:nvPr/>
        </p:nvSpPr>
        <p:spPr>
          <a:xfrm>
            <a:off x="616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4 · How unusual is today?</a:t>
            </a:r>
          </a:p>
          <a:p>
            <a:pPr>
              <a:spcAft>
                <a:spcPts val="200"/>
              </a:spcAft>
            </a:pPr>
            <a:r>
              <a:rPr sz="1150" b="0">
                <a:solidFill>
                  <a:srgbClr val="1B2B40"/>
                </a:solidFill>
                <a:latin typeface="Cambria Math"/>
              </a:rPr>
              <a:t>σ = 1.4826 × median | r − median(r) |</a:t>
            </a:r>
          </a:p>
          <a:p>
            <a:pPr>
              <a:spcAft>
                <a:spcPts val="200"/>
              </a:spcAft>
            </a:pPr>
            <a:r>
              <a:rPr sz="1150" b="0">
                <a:solidFill>
                  <a:srgbClr val="1B2B40"/>
                </a:solidFill>
                <a:latin typeface="Cambria Math"/>
              </a:rPr>
              <a:t>z = (observed − expected) / σ</a:t>
            </a:r>
          </a:p>
          <a:p>
            <a:pPr>
              <a:spcAft>
                <a:spcPts val="200"/>
              </a:spcAft>
            </a:pPr>
            <a:r>
              <a:rPr sz="1150" b="0">
                <a:solidFill>
                  <a:srgbClr val="1B2B40"/>
                </a:solidFill>
                <a:latin typeface="Cambria Math"/>
              </a:rPr>
              <a:t>state = median of last 5 of mean(z_NDVI, z_NDRE, z_NDMI)</a:t>
            </a:r>
          </a:p>
          <a:p>
            <a:pPr>
              <a:spcAft>
                <a:spcPts val="200"/>
              </a:spcAft>
            </a:pPr>
            <a:r>
              <a:rPr sz="950" b="0">
                <a:solidFill>
                  <a:srgbClr val="5A6B80"/>
                </a:solidFill>
                <a:latin typeface="Segoe UI"/>
              </a:rPr>
              <a:t>r = residuals of the fit; one bad image cannot fire an alert</a:t>
            </a:r>
          </a:p>
        </p:txBody>
      </p:sp>
      <p:sp>
        <p:nvSpPr>
          <p:cNvPr id="14" name="Rounded Rectangle 13"/>
          <p:cNvSpPr/>
          <p:nvPr/>
        </p:nvSpPr>
        <p:spPr>
          <a:xfrm>
            <a:off x="54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5 · Alert</a:t>
            </a:r>
          </a:p>
          <a:p>
            <a:pPr>
              <a:spcAft>
                <a:spcPts val="200"/>
              </a:spcAft>
            </a:pPr>
            <a:r>
              <a:rPr sz="1150" b="0">
                <a:solidFill>
                  <a:srgbClr val="1B2B40"/>
                </a:solidFill>
                <a:latin typeface="Cambria Math"/>
              </a:rPr>
              <a:t>ALERT  if  stand state ≤ −1.5   OR   any cell state ≤ −3.5</a:t>
            </a:r>
          </a:p>
          <a:p>
            <a:pPr>
              <a:spcAft>
                <a:spcPts val="200"/>
              </a:spcAft>
            </a:pPr>
            <a:r>
              <a:rPr sz="950" b="0">
                <a:solidFill>
                  <a:srgbClr val="5A6B80"/>
                </a:solidFill>
                <a:latin typeface="Segoe UI"/>
              </a:rPr>
              <a:t>thresholds set on stands with no change → 0.96 false-alarm episodes / stand-year</a:t>
            </a:r>
          </a:p>
        </p:txBody>
      </p:sp>
      <p:sp>
        <p:nvSpPr>
          <p:cNvPr id="16" name="Rounded Rectangle 15"/>
          <p:cNvSpPr/>
          <p:nvPr/>
        </p:nvSpPr>
        <p:spPr>
          <a:xfrm>
            <a:off x="616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6 · Condition (last 12 months vs 2020–21)</a:t>
            </a:r>
          </a:p>
          <a:p>
            <a:pPr>
              <a:spcAft>
                <a:spcPts val="200"/>
              </a:spcAft>
            </a:pPr>
            <a:r>
              <a:rPr sz="1150" b="0">
                <a:solidFill>
                  <a:srgbClr val="1B2B40"/>
                </a:solidFill>
                <a:latin typeface="Cambria Math"/>
              </a:rPr>
              <a:t>change % = (now − base) / |base| × 100</a:t>
            </a:r>
          </a:p>
          <a:p>
            <a:pPr>
              <a:spcAft>
                <a:spcPts val="200"/>
              </a:spcAft>
            </a:pPr>
            <a:r>
              <a:rPr sz="1150" b="0">
                <a:solidFill>
                  <a:srgbClr val="1B2B40"/>
                </a:solidFill>
                <a:latin typeface="Cambria Math"/>
              </a:rPr>
              <a:t>severe: NDVI and NDMI ≤ −50 %   ·   decline: ≤ −15 % and ≤ −3σ</a:t>
            </a:r>
          </a:p>
          <a:p>
            <a:pPr>
              <a:spcAft>
                <a:spcPts val="200"/>
              </a:spcAft>
            </a:pPr>
            <a:r>
              <a:rPr sz="950" b="0">
                <a:solidFill>
                  <a:srgbClr val="5A6B80"/>
                </a:solidFill>
                <a:latin typeface="Segoe UI"/>
              </a:rPr>
              <a:t>on the tide-corrected series; now = median of the last 12 months, base = median of 2020–21</a:t>
            </a:r>
          </a:p>
        </p:txBody>
      </p:sp>
      <p:sp>
        <p:nvSpPr>
          <p:cNvPr id="18" name="Rounded Rectangle 17"/>
          <p:cNvSpPr/>
          <p:nvPr/>
        </p:nvSpPr>
        <p:spPr>
          <a:xfrm>
            <a:off x="54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7 · Carbon</a:t>
            </a:r>
          </a:p>
          <a:p>
            <a:pPr>
              <a:spcAft>
                <a:spcPts val="200"/>
              </a:spcAft>
            </a:pPr>
            <a:r>
              <a:rPr sz="1150" b="0">
                <a:solidFill>
                  <a:srgbClr val="1B2B40"/>
                </a:solidFill>
                <a:latin typeface="Cambria Math"/>
              </a:rPr>
              <a:t>stock = area × 108 t C/ha  (90 % CI 79–138)</a:t>
            </a:r>
          </a:p>
          <a:p>
            <a:pPr>
              <a:spcAft>
                <a:spcPts val="200"/>
              </a:spcAft>
            </a:pPr>
            <a:r>
              <a:rPr sz="1150" b="0">
                <a:solidFill>
                  <a:srgbClr val="1B2B40"/>
                </a:solidFill>
                <a:latin typeface="Cambria Math"/>
              </a:rPr>
              <a:t>CO₂e = C × 44 / 12  (= 3.67)</a:t>
            </a:r>
          </a:p>
          <a:p>
            <a:pPr>
              <a:spcAft>
                <a:spcPts val="200"/>
              </a:spcAft>
            </a:pPr>
            <a:r>
              <a:rPr sz="1150" b="0">
                <a:solidFill>
                  <a:srgbClr val="1B2B40"/>
                </a:solidFill>
                <a:latin typeface="Cambria Math"/>
              </a:rPr>
              <a:t>stand 5: 26–62 ha × 108 = 2.8–6.7 kt C</a:t>
            </a:r>
          </a:p>
          <a:p>
            <a:pPr>
              <a:spcAft>
                <a:spcPts val="200"/>
              </a:spcAft>
            </a:pPr>
            <a:r>
              <a:rPr sz="950" b="0">
                <a:solidFill>
                  <a:srgbClr val="5A6B80"/>
                </a:solidFill>
                <a:latin typeface="Segoe UI"/>
              </a:rPr>
              <a:t>density from 24 field plots near the stands (Schile et al. 2017)</a:t>
            </a:r>
          </a:p>
        </p:txBody>
      </p:sp>
      <p:sp>
        <p:nvSpPr>
          <p:cNvPr id="20" name="Rounded Rectangle 19"/>
          <p:cNvSpPr/>
          <p:nvPr/>
        </p:nvSpPr>
        <p:spPr>
          <a:xfrm>
            <a:off x="616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8 · Validation</a:t>
            </a:r>
          </a:p>
          <a:p>
            <a:pPr>
              <a:spcAft>
                <a:spcPts val="200"/>
              </a:spcAft>
            </a:pPr>
            <a:r>
              <a:rPr sz="1150" b="0">
                <a:solidFill>
                  <a:srgbClr val="1B2B40"/>
                </a:solidFill>
                <a:latin typeface="Cambria Math"/>
              </a:rPr>
              <a:t>false-alarm rate = alert episodes ÷ stand-years (no change)</a:t>
            </a:r>
          </a:p>
          <a:p>
            <a:pPr>
              <a:spcAft>
                <a:spcPts val="200"/>
              </a:spcAft>
            </a:pPr>
            <a:r>
              <a:rPr sz="1150" b="0">
                <a:solidFill>
                  <a:srgbClr val="1B2B40"/>
                </a:solidFill>
                <a:latin typeface="Cambria Math"/>
              </a:rPr>
              <a:t>detection = % of simulated losses with a NEW alert ≤ 60 days</a:t>
            </a:r>
          </a:p>
          <a:p>
            <a:pPr>
              <a:spcAft>
                <a:spcPts val="200"/>
              </a:spcAft>
            </a:pPr>
            <a:r>
              <a:rPr sz="1150" b="0">
                <a:solidFill>
                  <a:srgbClr val="1B2B40"/>
                </a:solidFill>
                <a:latin typeface="Cambria Math"/>
              </a:rPr>
              <a:t>chance = the same test with no loss  →  73 % vs 13 %</a:t>
            </a:r>
          </a:p>
          <a:p>
            <a:pPr>
              <a:spcAft>
                <a:spcPts val="200"/>
              </a:spcAft>
            </a:pPr>
            <a:r>
              <a:rPr sz="950" b="0">
                <a:solidFill>
                  <a:srgbClr val="5A6B80"/>
                </a:solidFill>
                <a:latin typeface="Segoe UI"/>
              </a:rPr>
              <a:t>simulated loss = a tenth of a stand loses half its canopy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NDVI alone against our monitor,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5146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NDVI only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it breaks — 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video_tour">
            <a:hlinkClick r:id="" action="ppaction://media"/>
            <a:extLst>
              <a:ext uri="{FF2B5EF4-FFF2-40B4-BE49-F238E27FC236}">
                <a16:creationId xmlns:a16="http://schemas.microsoft.com/office/drawing/2014/main" id="{ED5274B2-4528-B02F-4143-D04121C45B53}"/>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extLst>
      <p:ext uri="{BB962C8B-B14F-4D97-AF65-F5344CB8AC3E}">
        <p14:creationId xmlns:p14="http://schemas.microsoft.com/office/powerpoint/2010/main" val="2432307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046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4"/>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4"/>
                                        </p:tgtEl>
                                      </p:cBhvr>
                                    </p:cmd>
                                  </p:childTnLst>
                                </p:cTn>
                              </p:par>
                            </p:childTnLst>
                          </p:cTn>
                        </p:par>
                      </p:childTnLst>
                    </p:cTn>
                  </p:par>
                </p:childTnLst>
              </p:cTn>
              <p:nextCondLst>
                <p:cond evt="onClick" delay="0">
                  <p:tgtEl>
                    <p:spTgt spid="4"/>
                  </p:tgtEl>
                </p:cond>
              </p:nextCondLst>
            </p:seq>
            <p:video>
              <p:cMediaNode vol="80000" mute="1">
                <p:cTn id="12" fill="hold" display="0">
                  <p:stCondLst>
                    <p:cond delay="indefinite"/>
                  </p:stCondLst>
                </p:cTn>
                <p:tgtEl>
                  <p:spTgt spid="4"/>
                </p:tgtEl>
              </p:cMediaNode>
            </p:vide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TotalTime>
  <Words>8706</Words>
  <Application>Microsoft Office PowerPoint</Application>
  <PresentationFormat>Widescreen</PresentationFormat>
  <Paragraphs>854</Paragraphs>
  <Slides>27</Slides>
  <Notes>27</Notes>
  <HiddenSlides>0</HiddenSlides>
  <MMClips>5</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Georgia</vt:lpstr>
      <vt:lpstr>Segoe UI</vt:lpstr>
      <vt:lpstr>Segoe UI Emoji</vt:lpstr>
      <vt:lpstr>Segoe UI Light</vt:lpstr>
      <vt:lpstr>Segoe UI Semibold</vt:lpstr>
      <vt:lpstr>Office Theme</vt:lpstr>
      <vt:lpstr>PowerPoint Presentation</vt:lpstr>
      <vt:lpstr>A solo project: one engineer, every role</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PowerPoint Presentation</vt:lpstr>
      <vt:lpstr>The tide looks like tree loss — until you correct for it</vt:lpstr>
      <vt:lpstr>A stand average hides partial loss. 200 m cells do not.</vt:lpstr>
      <vt:lpstr>PowerPoint Presentation</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PowerPoint Presentation</vt:lpstr>
      <vt:lpstr>PowerPoint Presentation</vt:lpstr>
      <vt:lpstr>PowerPoint Presentation</vt:lpstr>
      <vt:lpstr>NDVI alone against our monitor, same alert rule</vt:lpstr>
      <vt:lpstr>Where it breaks — and what we do not claim</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13</cp:revision>
  <dcterms:created xsi:type="dcterms:W3CDTF">2026-10-19T17:43:28Z</dcterms:created>
  <dcterms:modified xsi:type="dcterms:W3CDTF">2026-10-26T13:12:46Z</dcterms:modified>
</cp:coreProperties>
</file>