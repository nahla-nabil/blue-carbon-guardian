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79" r:id="rId12"/>
    <p:sldId id="266" r:id="rId13"/>
    <p:sldId id="267" r:id="rId14"/>
    <p:sldId id="280" r:id="rId15"/>
    <p:sldId id="268" r:id="rId16"/>
    <p:sldId id="269" r:id="rId17"/>
    <p:sldId id="270" r:id="rId18"/>
    <p:sldId id="271" r:id="rId19"/>
    <p:sldId id="272" r:id="rId20"/>
    <p:sldId id="281" r:id="rId21"/>
    <p:sldId id="282" r:id="rId22"/>
    <p:sldId id="273" r:id="rId23"/>
    <p:sldId id="278" r:id="rId24"/>
    <p:sldId id="274" r:id="rId25"/>
    <p:sldId id="283" r:id="rId34"/>
    <p:sldId id="284" r:id="rId35"/>
    <p:sldId id="275" r:id="rId26"/>
    <p:sldId id="27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80202" autoAdjust="0"/>
  </p:normalViewPr>
  <p:slideViewPr>
    <p:cSldViewPr snapToGrid="0" snapToObjects="1">
      <p:cViewPr>
        <p:scale>
          <a:sx n="50" d="100"/>
          <a:sy n="50" d="100"/>
        </p:scale>
        <p:origin x="2194" y="7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7.xml"/><Relationship Id="rId27" Type="http://schemas.openxmlformats.org/officeDocument/2006/relationships/slide" Target="slides/slide28.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5.xml"/><Relationship Id="rId35"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B2B40"/>
                </a:solidFill>
                <a:latin typeface="Segoe UI"/>
              </a:defRPr>
            </a:pPr>
            <a:r>
              <a:rPr lang="en-GB" sz="1300" b="0" i="0" u="none" strike="noStrike">
                <a:solidFill>
                  <a:srgbClr val="1B2B40"/>
                </a:solidFill>
                <a:latin typeface="Segoe UI"/>
              </a:rPr>
              <a:t>Date-to-date noise, 25 stands, 2020–2026</a:t>
            </a:r>
          </a:p>
        </c:rich>
      </c:tx>
      <c:overlay val="0"/>
    </c:title>
    <c:autoTitleDeleted val="0"/>
    <c:plotArea>
      <c:layout/>
      <c:barChart>
        <c:barDir val="col"/>
        <c:grouping val="clustered"/>
        <c:varyColors val="0"/>
        <c:ser>
          <c:idx val="0"/>
          <c:order val="0"/>
          <c:tx>
            <c:strRef>
              <c:f>Sheet1!$B$1</c:f>
              <c:strCache>
                <c:ptCount val="1"/>
                <c:pt idx="0">
                  <c:v>without tide model</c:v>
                </c:pt>
              </c:strCache>
            </c:strRef>
          </c:tx>
          <c:spPr>
            <a:solidFill>
              <a:srgbClr val="B9C6D4"/>
            </a:solidFill>
            <a:effectLst/>
          </c:spPr>
          <c:invertIfNegative val="0"/>
          <c:dLbls>
            <c:numFmt formatCode="0.000" sourceLinked="0"/>
            <c:spPr>
              <a:noFill/>
              <a:ln>
                <a:noFill/>
              </a:ln>
              <a:effectLst/>
            </c:spPr>
            <c:txPr>
              <a:bodyPr/>
              <a:lstStyle/>
              <a:p>
                <a:pPr>
                  <a:defRPr sz="10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NDVI</c:v>
                </c:pt>
                <c:pt idx="1">
                  <c:v>NDRE (red edge)</c:v>
                </c:pt>
                <c:pt idx="2">
                  <c:v>NDMI (moisture)</c:v>
                </c:pt>
              </c:strCache>
            </c:strRef>
          </c:cat>
          <c:val>
            <c:numRef>
              <c:f>Sheet1!$B$2:$B$4</c:f>
              <c:numCache>
                <c:formatCode>General</c:formatCode>
                <c:ptCount val="3"/>
                <c:pt idx="0">
                  <c:v>4.36E-2</c:v>
                </c:pt>
                <c:pt idx="1">
                  <c:v>2.8299999999999999E-2</c:v>
                </c:pt>
                <c:pt idx="2">
                  <c:v>4.3299999999999998E-2</c:v>
                </c:pt>
              </c:numCache>
            </c:numRef>
          </c:val>
          <c:extLst>
            <c:ext xmlns:c16="http://schemas.microsoft.com/office/drawing/2014/chart" uri="{C3380CC4-5D6E-409C-BE32-E72D297353CC}">
              <c16:uniqueId val="{00000000-B884-44E6-A5FA-9D02050FD878}"/>
            </c:ext>
          </c:extLst>
        </c:ser>
        <c:ser>
          <c:idx val="1"/>
          <c:order val="1"/>
          <c:tx>
            <c:strRef>
              <c:f>Sheet1!$C$1</c:f>
              <c:strCache>
                <c:ptCount val="1"/>
                <c:pt idx="0">
                  <c:v>with tide model</c:v>
                </c:pt>
              </c:strCache>
            </c:strRef>
          </c:tx>
          <c:spPr>
            <a:solidFill>
              <a:srgbClr val="3F6E9E"/>
            </a:solidFill>
            <a:effectLst/>
          </c:spPr>
          <c:invertIfNegative val="0"/>
          <c:dLbls>
            <c:numFmt formatCode="0.000" sourceLinked="0"/>
            <c:spPr>
              <a:noFill/>
              <a:ln>
                <a:noFill/>
              </a:ln>
              <a:effectLst/>
            </c:spPr>
            <c:txPr>
              <a:bodyPr/>
              <a:lstStyle/>
              <a:p>
                <a:pPr>
                  <a:defRPr sz="10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NDVI</c:v>
                </c:pt>
                <c:pt idx="1">
                  <c:v>NDRE (red edge)</c:v>
                </c:pt>
                <c:pt idx="2">
                  <c:v>NDMI (moisture)</c:v>
                </c:pt>
              </c:strCache>
            </c:strRef>
          </c:cat>
          <c:val>
            <c:numRef>
              <c:f>Sheet1!$C$2:$C$4</c:f>
              <c:numCache>
                <c:formatCode>General</c:formatCode>
                <c:ptCount val="3"/>
                <c:pt idx="0">
                  <c:v>2.98E-2</c:v>
                </c:pt>
                <c:pt idx="1">
                  <c:v>1.83E-2</c:v>
                </c:pt>
                <c:pt idx="2">
                  <c:v>3.0599999999999999E-2</c:v>
                </c:pt>
              </c:numCache>
            </c:numRef>
          </c:val>
          <c:extLst>
            <c:ext xmlns:c16="http://schemas.microsoft.com/office/drawing/2014/chart" uri="{C3380CC4-5D6E-409C-BE32-E72D297353CC}">
              <c16:uniqueId val="{00000001-B884-44E6-A5FA-9D02050FD87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3E0EE"/>
            </a:solidFill>
            <a:prstDash val="solid"/>
            <a:round/>
          </a:ln>
        </c:spPr>
        <c:txPr>
          <a:bodyPr/>
          <a:lstStyle/>
          <a:p>
            <a:pPr>
              <a:defRPr sz="1100" b="0" i="0" u="none" strike="noStrike">
                <a:solidFill>
                  <a:srgbClr val="5F738A"/>
                </a:solidFill>
                <a:latin typeface="Segoe U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5F738A"/>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B2B40"/>
                </a:solidFill>
                <a:latin typeface="Segoe UI"/>
              </a:defRPr>
            </a:pPr>
            <a:r>
              <a:rPr lang="en-GB" sz="1300" b="0" i="0" u="none" strike="noStrike">
                <a:solidFill>
                  <a:srgbClr val="1B2B40"/>
                </a:solidFill>
                <a:latin typeface="Segoe UI"/>
              </a:rPr>
              <a:t>Artificial loss injected into stands with no known change</a:t>
            </a:r>
          </a:p>
        </c:rich>
      </c:tx>
      <c:overlay val="0"/>
    </c:title>
    <c:autoTitleDeleted val="0"/>
    <c:plotArea>
      <c:layout/>
      <c:barChart>
        <c:barDir val="bar"/>
        <c:grouping val="clustered"/>
        <c:varyColors val="0"/>
        <c:ser>
          <c:idx val="0"/>
          <c:order val="0"/>
          <c:tx>
            <c:strRef>
              <c:f>Sheet1!$B$1</c:f>
              <c:strCache>
                <c:ptCount val="1"/>
                <c:pt idx="0">
                  <c:v>detected</c:v>
                </c:pt>
              </c:strCache>
            </c:strRef>
          </c:tx>
          <c:spPr>
            <a:solidFill>
              <a:srgbClr val="3F6E9E"/>
            </a:solidFill>
            <a:effectLst/>
          </c:spPr>
          <c:invertIfNegative val="0"/>
          <c:dLbls>
            <c:numFmt formatCode="0&quot; %&quot;" sourceLinked="0"/>
            <c:spPr>
              <a:noFill/>
              <a:ln>
                <a:noFill/>
              </a:ln>
              <a:effectLst/>
            </c:spPr>
            <c:txPr>
              <a:bodyPr/>
              <a:lstStyle/>
              <a:p>
                <a:pPr>
                  <a:defRPr sz="12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Whole stand loses 20 % · 6 months</c:v>
                </c:pt>
                <c:pt idx="1">
                  <c:v>Whole stand loses 10 % · 6 months</c:v>
                </c:pt>
                <c:pt idx="2">
                  <c:v>A tenth of a stand loses half · 60 days</c:v>
                </c:pt>
              </c:strCache>
            </c:strRef>
          </c:cat>
          <c:val>
            <c:numRef>
              <c:f>Sheet1!$B$2:$B$4</c:f>
              <c:numCache>
                <c:formatCode>General</c:formatCode>
                <c:ptCount val="3"/>
                <c:pt idx="0">
                  <c:v>83</c:v>
                </c:pt>
                <c:pt idx="1">
                  <c:v>63</c:v>
                </c:pt>
                <c:pt idx="2">
                  <c:v>73</c:v>
                </c:pt>
              </c:numCache>
            </c:numRef>
          </c:val>
          <c:extLst>
            <c:ext xmlns:c16="http://schemas.microsoft.com/office/drawing/2014/chart" uri="{C3380CC4-5D6E-409C-BE32-E72D297353CC}">
              <c16:uniqueId val="{00000000-13F6-4F95-8609-3DEF01F8E711}"/>
            </c:ext>
          </c:extLst>
        </c:ser>
        <c:ser>
          <c:idx val="1"/>
          <c:order val="1"/>
          <c:tx>
            <c:strRef>
              <c:f>Sheet1!$C$1</c:f>
              <c:strCache>
                <c:ptCount val="1"/>
                <c:pt idx="0">
                  <c:v>by chance (same test, no loss)</c:v>
                </c:pt>
              </c:strCache>
            </c:strRef>
          </c:tx>
          <c:spPr>
            <a:solidFill>
              <a:srgbClr val="B9C6D4"/>
            </a:solidFill>
            <a:effectLst/>
          </c:spPr>
          <c:invertIfNegative val="0"/>
          <c:dLbls>
            <c:numFmt formatCode="0&quot; %&quot;" sourceLinked="0"/>
            <c:spPr>
              <a:noFill/>
              <a:ln>
                <a:noFill/>
              </a:ln>
              <a:effectLst/>
            </c:spPr>
            <c:txPr>
              <a:bodyPr/>
              <a:lstStyle/>
              <a:p>
                <a:pPr>
                  <a:defRPr sz="1200" b="0" i="0" u="none" strike="noStrike">
                    <a:solidFill>
                      <a:srgbClr val="1B2B40"/>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Whole stand loses 20 % · 6 months</c:v>
                </c:pt>
                <c:pt idx="1">
                  <c:v>Whole stand loses 10 % · 6 months</c:v>
                </c:pt>
                <c:pt idx="2">
                  <c:v>A tenth of a stand loses half · 60 days</c:v>
                </c:pt>
              </c:strCache>
            </c:strRef>
          </c:cat>
          <c:val>
            <c:numRef>
              <c:f>Sheet1!$C$2:$C$4</c:f>
              <c:numCache>
                <c:formatCode>General</c:formatCode>
                <c:ptCount val="3"/>
                <c:pt idx="0">
                  <c:v>36</c:v>
                </c:pt>
                <c:pt idx="1">
                  <c:v>36</c:v>
                </c:pt>
                <c:pt idx="2">
                  <c:v>13</c:v>
                </c:pt>
              </c:numCache>
            </c:numRef>
          </c:val>
          <c:extLst>
            <c:ext xmlns:c16="http://schemas.microsoft.com/office/drawing/2014/chart" uri="{C3380CC4-5D6E-409C-BE32-E72D297353CC}">
              <c16:uniqueId val="{00000001-13F6-4F95-8609-3DEF01F8E71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3E0EE"/>
            </a:solidFill>
            <a:prstDash val="solid"/>
            <a:round/>
          </a:ln>
        </c:spPr>
        <c:txPr>
          <a:bodyPr/>
          <a:lstStyle/>
          <a:p>
            <a:pPr>
              <a:defRPr sz="1100" b="0" i="0" u="none" strike="noStrike">
                <a:solidFill>
                  <a:srgbClr val="1B2B40"/>
                </a:solidFill>
                <a:latin typeface="Segoe UI"/>
              </a:defRPr>
            </a:pPr>
            <a:endParaRPr lang="en-US"/>
          </a:p>
        </c:txPr>
        <c:crossAx val="2094734552"/>
        <c:crosses val="autoZero"/>
        <c:auto val="1"/>
        <c:lblAlgn val="ctr"/>
        <c:lblOffset val="100"/>
        <c:noMultiLvlLbl val="1"/>
      </c:catAx>
      <c:valAx>
        <c:axId val="2094734552"/>
        <c:scaling>
          <c:orientation val="minMax"/>
          <c:max val="10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5F738A"/>
              </a:solidFill>
              <a:latin typeface="Segoe UI"/>
              <a:cs typeface="Segoe U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373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EAN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EAN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CEAN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11064240" cy="329184"/>
          </a:xfrm>
          <a:prstGeom prst="rect">
            <a:avLst/>
          </a:prstGeom>
          <a:noFill/>
          <a:ln/>
        </p:spPr>
        <p:txBody>
          <a:bodyPr wrap="square" rtlCol="0"/>
          <a:lstStyle>
            <a:lvl1pPr marL="0" indent="0" algn="l">
              <a:buNone/>
              <a:defRPr lang="en-US" sz="1200" kern="0" spc="300" dirty="0">
                <a:solidFill>
                  <a:srgbClr val="3F6E9E"/>
                </a:solidFill>
                <a:latin typeface="Segoe UI Semibold" pitchFamily="34" charset="0"/>
                <a:ea typeface="Segoe UI Semibold" pitchFamily="34" charset="-122"/>
                <a:cs typeface="Segoe UI Semibold" pitchFamily="34" charset="-120"/>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777240"/>
          </a:xfrm>
          <a:prstGeom prst="rect">
            <a:avLst/>
          </a:prstGeom>
          <a:noFill/>
          <a:ln/>
        </p:spPr>
        <p:txBody>
          <a:bodyPr wrap="square" rtlCol="0"/>
          <a:lstStyle>
            <a:lvl1pPr marL="0" indent="0" algn="l">
              <a:buNone/>
              <a:defRPr lang="en-US" sz="3400" dirty="0">
                <a:solidFill>
                  <a:srgbClr val="1B2B40"/>
                </a:solidFill>
                <a:latin typeface="Segoe UI Semibold" pitchFamily="34" charset="0"/>
                <a:ea typeface="Segoe UI Semibold" pitchFamily="34" charset="-122"/>
                <a:cs typeface="Segoe UI Semibold" pitchFamily="34" charset="-120"/>
              </a:defRPr>
            </a:lvl1pPr>
          </a:lstStyle>
          <a:p>
            <a:pPr marL="0" indent="0" algn="l">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8A9BB0"/>
                </a:solidFill>
                <a:latin typeface="Segoe UI" pitchFamily="34" charset="0"/>
                <a:ea typeface="Segoe UI" pitchFamily="34" charset="-122"/>
                <a:cs typeface="Segoe UI" pitchFamily="34" charset="-120"/>
              </a:rPr>
              <a:t>Blue Carbon Guardian   ·   Team Blue Athar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5.xml"/><Relationship Id="rId4" Type="http://schemas.openxmlformats.org/officeDocument/2006/relationships/notesSlide" Target="../notesSlides/notesSlide1.xm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hyperlink" Target="https://www.linkedin.com/in/nahla-nabil-876597211" TargetMode="External"/><Relationship Id="rId1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3.xml"/><Relationship Id="rId4" Type="http://schemas.openxmlformats.org/officeDocument/2006/relationships/notesSlide" Target="../notesSlides/notesSlide4.xm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13.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31.png"/><Relationship Id="rId12"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2.png"/><Relationship Id="rId6" Type="http://schemas.openxmlformats.org/officeDocument/2006/relationships/image" Target="../media/image13.png"/><Relationship Id="rId7" Type="http://schemas.openxmlformats.org/officeDocument/2006/relationships/image" Target="../media/image33.png"/><Relationship Id="rId8" Type="http://schemas.openxmlformats.org/officeDocument/2006/relationships/image" Target="../media/image16.png"/><Relationship Id="rId9" Type="http://schemas.openxmlformats.org/officeDocument/2006/relationships/image" Target="../media/image26.png"/><Relationship Id="rId10"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35.png"/><Relationship Id="rId7"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8.png"/><Relationship Id="rId6" Type="http://schemas.openxmlformats.org/officeDocument/2006/relationships/image" Target="../media/image13.png"/><Relationship Id="rId7" Type="http://schemas.openxmlformats.org/officeDocument/2006/relationships/image" Target="../media/image39.png"/><Relationship Id="rId8"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1.png"/><Relationship Id="rId6"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chart" Target="../charts/chart1.xml"/><Relationship Id="rId6"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4.xml"/><Relationship Id="rId4" Type="http://schemas.openxmlformats.org/officeDocument/2006/relationships/notesSlide" Target="../notesSlides/notesSlide13.xm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15.png"/><Relationship Id="rId8" Type="http://schemas.openxmlformats.org/officeDocument/2006/relationships/image" Target="../media/image31.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3.xml"/><Relationship Id="rId4" Type="http://schemas.openxmlformats.org/officeDocument/2006/relationships/notesSlide" Target="../notesSlides/notesSlide21.xml"/><Relationship Id="rId5"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58.png"/><Relationship Id="rId6" Type="http://schemas.openxmlformats.org/officeDocument/2006/relationships/image" Target="../media/image10.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62.png"/><Relationship Id="rId6" Type="http://schemas.openxmlformats.org/officeDocument/2006/relationships/image" Target="../media/image24.png"/><Relationship Id="rId7" Type="http://schemas.openxmlformats.org/officeDocument/2006/relationships/image" Target="../media/image31.png"/><Relationship Id="rId8" Type="http://schemas.openxmlformats.org/officeDocument/2006/relationships/image" Target="../media/image25.png"/><Relationship Id="rId9" Type="http://schemas.openxmlformats.org/officeDocument/2006/relationships/image" Target="../media/image36.png"/><Relationship Id="rId10"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6766560" y="-2377440"/>
            <a:ext cx="6858000" cy="68580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2926080" y="3291840"/>
            <a:ext cx="6400800" cy="6400800"/>
          </a:xfrm>
          <a:prstGeom prst="rect">
            <a:avLst/>
          </a:prstGeom>
        </p:spPr>
      </p:pic>
      <p:sp>
        <p:nvSpPr>
          <p:cNvPr id="5" name="a3zoom_vframe"/>
          <p:cNvSpPr/>
          <p:nvPr/>
        </p:nvSpPr>
        <p:spPr>
          <a:xfrm>
            <a:off x="6940296" y="1088136"/>
            <a:ext cx="4818888" cy="4230243"/>
          </a:xfrm>
          <a:prstGeom prst="roundRect">
            <a:avLst>
              <a:gd name="adj" fmla="val 2162"/>
            </a:avLst>
          </a:prstGeom>
          <a:solidFill>
            <a:srgbClr val="0A1E3C"/>
          </a:solidFill>
          <a:ln w="15875">
            <a:solidFill>
              <a:srgbClr val="8FB4DE"/>
            </a:solidFill>
            <a:prstDash val="solid"/>
          </a:ln>
          <a:effectLst>
            <a:outerShdw blurRad="152400" dist="38100" dir="5400000" algn="bl" rotWithShape="0">
              <a:srgbClr val="1B2B40">
                <a:alpha val="25000"/>
              </a:srgbClr>
            </a:outerShdw>
          </a:effectLst>
        </p:spPr>
        <p:txBody>
          <a:bodyPr/>
          <a:lstStyle/>
          <a:p>
            <a:endParaRPr lang="en-GB"/>
          </a:p>
        </p:txBody>
      </p:sp>
      <p:pic>
        <p:nvPicPr>
          <p:cNvPr id="4" name="video_cover">
            <a:hlinkClick r:id="" action="ppaction://media"/>
            <a:extLst>
              <a:ext uri="{FF2B5EF4-FFF2-40B4-BE49-F238E27FC236}">
                <a16:creationId xmlns:a16="http://schemas.microsoft.com/office/drawing/2014/main" id="{B44C27CD-7DDF-DC50-170F-2A2E4B63F9B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995160" y="1143001"/>
            <a:ext cx="4709024" cy="4120515"/>
          </a:xfrm>
          <a:prstGeom prst="rect">
            <a:avLst/>
          </a:prstGeom>
        </p:spPr>
      </p:pic>
      <p:pic>
        <p:nvPicPr>
          <p:cNvPr id="7" name="z0drift_sat" descr="preencoded.png"/>
          <p:cNvPicPr>
            <a:picLocks noChangeAspect="1"/>
          </p:cNvPicPr>
          <p:nvPr/>
        </p:nvPicPr>
        <p:blipFill>
          <a:blip r:embed="rId8"/>
          <a:stretch>
            <a:fillRect/>
          </a:stretch>
        </p:blipFill>
        <p:spPr>
          <a:xfrm>
            <a:off x="-640080" y="292608"/>
            <a:ext cx="384048" cy="384048"/>
          </a:xfrm>
          <a:prstGeom prst="rect">
            <a:avLst/>
          </a:prstGeom>
        </p:spPr>
      </p:pic>
      <p:sp>
        <p:nvSpPr>
          <p:cNvPr id="8" name="a0fade_kick"/>
          <p:cNvSpPr txBox="1"/>
          <p:nvPr/>
        </p:nvSpPr>
        <p:spPr>
          <a:xfrm>
            <a:off x="640080" y="1188720"/>
            <a:ext cx="7498080" cy="292608"/>
          </a:xfrm>
          <a:prstGeom prst="rect">
            <a:avLst/>
          </a:prstGeom>
          <a:noFill/>
          <a:ln/>
        </p:spPr>
        <p:txBody>
          <a:bodyPr wrap="square" lIns="0" tIns="0" rIns="0" bIns="0" rtlCol="0" anchor="t"/>
          <a:lstStyle/>
          <a:p>
            <a:pPr marL="0" indent="0" algn="l">
              <a:lnSpc>
                <a:spcPct val="105000"/>
              </a:lnSpc>
              <a:buNone/>
            </a:pPr>
            <a:r>
              <a:rPr lang="en-US" sz="1100" kern="0" spc="200" dirty="0">
                <a:solidFill>
                  <a:srgbClr val="BCD3EC"/>
                </a:solidFill>
                <a:latin typeface="Segoe UI Semibold" pitchFamily="34" charset="0"/>
                <a:ea typeface="Segoe UI Semibold" pitchFamily="34" charset="-122"/>
                <a:cs typeface="Segoe UI Semibold" pitchFamily="34" charset="-120"/>
              </a:rPr>
              <a:t>ARAB YOUTH SPACE HACKATHON 2026  ·  CHALLENGE 813  ·  FINAL</a:t>
            </a:r>
            <a:endParaRPr lang="en-US" sz="1100" dirty="0"/>
          </a:p>
        </p:txBody>
      </p:sp>
      <p:sp>
        <p:nvSpPr>
          <p:cNvPr id="9" name="a1float_title"/>
          <p:cNvSpPr txBox="1"/>
          <p:nvPr/>
        </p:nvSpPr>
        <p:spPr>
          <a:xfrm>
            <a:off x="603504" y="1572768"/>
            <a:ext cx="7498080" cy="914400"/>
          </a:xfrm>
          <a:prstGeom prst="rect">
            <a:avLst/>
          </a:prstGeom>
          <a:noFill/>
          <a:ln/>
        </p:spPr>
        <p:txBody>
          <a:bodyPr wrap="square" lIns="0" tIns="0" rIns="0" bIns="0" rtlCol="0" anchor="t"/>
          <a:lstStyle/>
          <a:p>
            <a:pPr marL="0" indent="0" algn="l">
              <a:lnSpc>
                <a:spcPct val="105000"/>
              </a:lnSpc>
              <a:buNone/>
            </a:pPr>
            <a:r>
              <a:rPr lang="en-US" sz="4600" dirty="0">
                <a:solidFill>
                  <a:srgbClr val="FFFFFF"/>
                </a:solidFill>
                <a:latin typeface="Segoe UI Semibold" pitchFamily="34" charset="0"/>
                <a:ea typeface="Segoe UI Semibold" pitchFamily="34" charset="-122"/>
                <a:cs typeface="Segoe UI Semibold" pitchFamily="34" charset="-120"/>
              </a:rPr>
              <a:t>Blue Carbon Guardian</a:t>
            </a:r>
            <a:endParaRPr lang="en-US" sz="4600" dirty="0"/>
          </a:p>
        </p:txBody>
      </p:sp>
      <p:sp>
        <p:nvSpPr>
          <p:cNvPr id="10" name="a1float_sub"/>
          <p:cNvSpPr txBox="1"/>
          <p:nvPr/>
        </p:nvSpPr>
        <p:spPr>
          <a:xfrm>
            <a:off x="640080" y="2606040"/>
            <a:ext cx="6035040" cy="777240"/>
          </a:xfrm>
          <a:prstGeom prst="rect">
            <a:avLst/>
          </a:prstGeom>
          <a:noFill/>
          <a:ln/>
        </p:spPr>
        <p:txBody>
          <a:bodyPr wrap="square" lIns="0" tIns="0" rIns="0" bIns="0" rtlCol="0" anchor="t"/>
          <a:lstStyle/>
          <a:p>
            <a:pPr marL="0" indent="0" algn="l">
              <a:lnSpc>
                <a:spcPct val="105000"/>
              </a:lnSpc>
              <a:buNone/>
            </a:pPr>
            <a:r>
              <a:rPr lang="en-US" sz="2100" dirty="0">
                <a:solidFill>
                  <a:srgbClr val="D4E2EE"/>
                </a:solidFill>
                <a:latin typeface="Segoe UI Light" pitchFamily="34" charset="0"/>
                <a:ea typeface="Segoe UI Light" pitchFamily="34" charset="-122"/>
                <a:cs typeface="Segoe UI Light" pitchFamily="34" charset="-120"/>
              </a:rPr>
              <a:t>Tide-aware satellite monitoring for </a:t>
            </a:r>
            <a:r>
              <a:rPr lang="en-US" sz="2100">
                <a:solidFill>
                  <a:srgbClr val="D4E2EE"/>
                </a:solidFill>
                <a:latin typeface="Segoe UI Light" pitchFamily="34" charset="0"/>
                <a:ea typeface="Segoe UI Light" pitchFamily="34" charset="-122"/>
                <a:cs typeface="Segoe UI Light" pitchFamily="34" charset="-120"/>
              </a:rPr>
              <a:t>Gulf mangroves</a:t>
            </a:r>
            <a:r>
              <a:rPr lang="en-GB" sz="2100">
                <a:solidFill>
                  <a:srgbClr val="D4E2EE"/>
                </a:solidFill>
                <a:latin typeface="Segoe UI Light" pitchFamily="34" charset="0"/>
                <a:ea typeface="Segoe UI Light" pitchFamily="34" charset="-122"/>
                <a:cs typeface="Segoe UI Light" pitchFamily="34" charset="-120"/>
              </a:rPr>
              <a:t>,</a:t>
            </a:r>
            <a:endParaRPr lang="en-US" sz="2100" dirty="0"/>
          </a:p>
          <a:p>
            <a:pPr marL="0" indent="0" algn="l">
              <a:lnSpc>
                <a:spcPct val="105000"/>
              </a:lnSpc>
              <a:buNone/>
            </a:pPr>
            <a:r>
              <a:rPr lang="en-US" sz="2100" dirty="0">
                <a:solidFill>
                  <a:srgbClr val="D4E2EE"/>
                </a:solidFill>
                <a:latin typeface="Segoe UI Light" pitchFamily="34" charset="0"/>
                <a:ea typeface="Segoe UI Light" pitchFamily="34" charset="-122"/>
                <a:cs typeface="Segoe UI Light" pitchFamily="34" charset="-120"/>
              </a:rPr>
              <a:t>from alert to evidence.</a:t>
            </a:r>
            <a:endParaRPr lang="en-US" sz="2100" dirty="0"/>
          </a:p>
        </p:txBody>
      </p:sp>
      <p:sp>
        <p:nvSpPr>
          <p:cNvPr id="11" name="a2fade_team_bg"/>
          <p:cNvSpPr/>
          <p:nvPr/>
        </p:nvSpPr>
        <p:spPr>
          <a:xfrm>
            <a:off x="640080" y="3611880"/>
            <a:ext cx="2788920" cy="365760"/>
          </a:xfrm>
          <a:prstGeom prst="roundRect">
            <a:avLst>
              <a:gd name="adj" fmla="val 50000"/>
            </a:avLst>
          </a:prstGeom>
          <a:solidFill>
            <a:srgbClr val="BCD3EC">
              <a:alpha val="15000"/>
            </a:srgbClr>
          </a:solidFill>
          <a:ln w="9525">
            <a:solidFill>
              <a:srgbClr val="BCD3EC"/>
            </a:solidFill>
            <a:prstDash val="solid"/>
          </a:ln>
        </p:spPr>
        <p:txBody>
          <a:bodyPr/>
          <a:lstStyle/>
          <a:p>
            <a:endParaRPr lang="en-GB"/>
          </a:p>
        </p:txBody>
      </p:sp>
      <p:sp>
        <p:nvSpPr>
          <p:cNvPr id="12" name="a2fade_team"/>
          <p:cNvSpPr txBox="1"/>
          <p:nvPr/>
        </p:nvSpPr>
        <p:spPr>
          <a:xfrm>
            <a:off x="640080" y="3611880"/>
            <a:ext cx="2788920" cy="365760"/>
          </a:xfrm>
          <a:prstGeom prst="rect">
            <a:avLst/>
          </a:prstGeom>
          <a:noFill/>
          <a:ln/>
        </p:spPr>
        <p:txBody>
          <a:bodyPr wrap="square" lIns="0" tIns="0" rIns="0" bIns="0" rtlCol="0" anchor="ctr"/>
          <a:lstStyle/>
          <a:p>
            <a:pPr marL="0" indent="0" algn="ctr">
              <a:lnSpc>
                <a:spcPct val="105000"/>
              </a:lnSpc>
              <a:buNone/>
            </a:pPr>
            <a:r>
              <a:rPr lang="en-US" sz="1200">
                <a:solidFill>
                  <a:srgbClr val="E3EDF8"/>
                </a:solidFill>
                <a:latin typeface="Segoe UI Semibold" pitchFamily="34" charset="0"/>
                <a:ea typeface="Segoe UI Semibold" pitchFamily="34" charset="-122"/>
                <a:cs typeface="Segoe UI Semibold" pitchFamily="34" charset="-120"/>
              </a:rPr>
              <a:t>Team: </a:t>
            </a:r>
            <a:r>
              <a:rPr lang="en-US" sz="1200" dirty="0">
                <a:solidFill>
                  <a:srgbClr val="E3EDF8"/>
                </a:solidFill>
                <a:latin typeface="Segoe UI Semibold" pitchFamily="34" charset="0"/>
                <a:ea typeface="Segoe UI Semibold" pitchFamily="34" charset="-122"/>
                <a:cs typeface="Segoe UI Semibold" pitchFamily="34" charset="-120"/>
              </a:rPr>
              <a:t>Blue Athar  ·  الأثر الأزرق</a:t>
            </a:r>
            <a:endParaRPr lang="en-US" sz="1200" dirty="0"/>
          </a:p>
        </p:txBody>
      </p:sp>
      <p:sp>
        <p:nvSpPr>
          <p:cNvPr id="13" name="a2fade_theme_bg"/>
          <p:cNvSpPr/>
          <p:nvPr/>
        </p:nvSpPr>
        <p:spPr>
          <a:xfrm>
            <a:off x="640080" y="4087368"/>
            <a:ext cx="3886200" cy="365760"/>
          </a:xfrm>
          <a:prstGeom prst="roundRect">
            <a:avLst>
              <a:gd name="adj" fmla="val 50000"/>
            </a:avLst>
          </a:prstGeom>
          <a:solidFill>
            <a:srgbClr val="C7DCF0">
              <a:alpha val="15000"/>
            </a:srgbClr>
          </a:solidFill>
          <a:ln w="9525">
            <a:solidFill>
              <a:srgbClr val="C7DCF0"/>
            </a:solidFill>
            <a:prstDash val="solid"/>
          </a:ln>
        </p:spPr>
        <p:txBody>
          <a:bodyPr/>
          <a:lstStyle/>
          <a:p>
            <a:endParaRPr lang="en-GB"/>
          </a:p>
        </p:txBody>
      </p:sp>
      <p:sp>
        <p:nvSpPr>
          <p:cNvPr id="14" name="a2fade_theme"/>
          <p:cNvSpPr txBox="1"/>
          <p:nvPr/>
        </p:nvSpPr>
        <p:spPr>
          <a:xfrm>
            <a:off x="640080" y="4087368"/>
            <a:ext cx="3886200" cy="365760"/>
          </a:xfrm>
          <a:prstGeom prst="rect">
            <a:avLst/>
          </a:prstGeom>
          <a:noFill/>
          <a:ln/>
        </p:spPr>
        <p:txBody>
          <a:bodyPr wrap="square" lIns="0" tIns="0" rIns="0" bIns="0" rtlCol="0" anchor="ctr"/>
          <a:lstStyle/>
          <a:p>
            <a:pPr marL="0" indent="0" algn="ctr">
              <a:lnSpc>
                <a:spcPct val="105000"/>
              </a:lnSpc>
              <a:buNone/>
            </a:pPr>
            <a:r>
              <a:rPr lang="en-US" sz="1200" dirty="0">
                <a:solidFill>
                  <a:srgbClr val="CFE4FF"/>
                </a:solidFill>
                <a:latin typeface="Segoe UI Semibold" pitchFamily="34" charset="0"/>
                <a:ea typeface="Segoe UI Semibold" pitchFamily="34" charset="-122"/>
                <a:cs typeface="Segoe UI Semibold" pitchFamily="34" charset="-120"/>
              </a:rPr>
              <a:t>Theme: Ecosystem Health, Biodiversity &amp; Blue Carbon</a:t>
            </a:r>
            <a:endParaRPr lang="en-US" sz="1200" dirty="0"/>
          </a:p>
        </p:txBody>
      </p:sp>
      <p:sp>
        <p:nvSpPr>
          <p:cNvPr id="15" name="a4float_k0"/>
          <p:cNvSpPr/>
          <p:nvPr/>
        </p:nvSpPr>
        <p:spPr>
          <a:xfrm>
            <a:off x="640080"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16" name="a4float_k0n"/>
          <p:cNvSpPr txBox="1"/>
          <p:nvPr/>
        </p:nvSpPr>
        <p:spPr>
          <a:xfrm>
            <a:off x="786384"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91</a:t>
            </a:r>
            <a:endParaRPr lang="en-US" sz="3200" dirty="0"/>
          </a:p>
        </p:txBody>
      </p:sp>
      <p:sp>
        <p:nvSpPr>
          <p:cNvPr id="17" name="a4float_k0t"/>
          <p:cNvSpPr txBox="1"/>
          <p:nvPr/>
        </p:nvSpPr>
        <p:spPr>
          <a:xfrm>
            <a:off x="786384"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stands monitored</a:t>
            </a:r>
            <a:endParaRPr lang="en-US" sz="1100" dirty="0"/>
          </a:p>
        </p:txBody>
      </p:sp>
      <p:sp>
        <p:nvSpPr>
          <p:cNvPr id="18" name="a4float_k1"/>
          <p:cNvSpPr/>
          <p:nvPr/>
        </p:nvSpPr>
        <p:spPr>
          <a:xfrm>
            <a:off x="2157984"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19" name="a4float_k1n"/>
          <p:cNvSpPr txBox="1"/>
          <p:nvPr/>
        </p:nvSpPr>
        <p:spPr>
          <a:xfrm>
            <a:off x="2304288"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4BCC4"/>
                </a:solidFill>
                <a:latin typeface="Segoe UI Light" pitchFamily="34" charset="0"/>
                <a:ea typeface="Segoe UI Light" pitchFamily="34" charset="-122"/>
                <a:cs typeface="Segoe UI Light" pitchFamily="34" charset="-120"/>
              </a:rPr>
              <a:t>5</a:t>
            </a:r>
            <a:endParaRPr lang="en-US" sz="3200" dirty="0"/>
          </a:p>
        </p:txBody>
      </p:sp>
      <p:sp>
        <p:nvSpPr>
          <p:cNvPr id="20" name="a4float_k1t"/>
          <p:cNvSpPr txBox="1"/>
          <p:nvPr/>
        </p:nvSpPr>
        <p:spPr>
          <a:xfrm>
            <a:off x="2304288"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conversions confirmed</a:t>
            </a:r>
            <a:endParaRPr lang="en-US" sz="1100" dirty="0"/>
          </a:p>
        </p:txBody>
      </p:sp>
      <p:sp>
        <p:nvSpPr>
          <p:cNvPr id="21" name="a4float_k2"/>
          <p:cNvSpPr/>
          <p:nvPr/>
        </p:nvSpPr>
        <p:spPr>
          <a:xfrm>
            <a:off x="3675888"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22" name="a4float_k2n"/>
          <p:cNvSpPr txBox="1"/>
          <p:nvPr/>
        </p:nvSpPr>
        <p:spPr>
          <a:xfrm>
            <a:off x="3822192"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73 %</a:t>
            </a:r>
            <a:endParaRPr lang="en-US" sz="3200" dirty="0"/>
          </a:p>
        </p:txBody>
      </p:sp>
      <p:sp>
        <p:nvSpPr>
          <p:cNvPr id="23" name="a4float_k2t"/>
          <p:cNvSpPr txBox="1"/>
          <p:nvPr/>
        </p:nvSpPr>
        <p:spPr>
          <a:xfrm>
            <a:off x="3822192"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partial loss caught (chance 13 %)</a:t>
            </a:r>
            <a:endParaRPr lang="en-US" sz="1100" dirty="0"/>
          </a:p>
        </p:txBody>
      </p:sp>
      <p:sp>
        <p:nvSpPr>
          <p:cNvPr id="24" name="a4float_k3"/>
          <p:cNvSpPr/>
          <p:nvPr/>
        </p:nvSpPr>
        <p:spPr>
          <a:xfrm>
            <a:off x="5193792" y="4681728"/>
            <a:ext cx="1417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25" name="a4float_k3n"/>
          <p:cNvSpPr txBox="1"/>
          <p:nvPr/>
        </p:nvSpPr>
        <p:spPr>
          <a:xfrm>
            <a:off x="5340096" y="4773168"/>
            <a:ext cx="1188720" cy="548640"/>
          </a:xfrm>
          <a:prstGeom prst="rect">
            <a:avLst/>
          </a:prstGeom>
          <a:noFill/>
          <a:ln/>
        </p:spPr>
        <p:txBody>
          <a:bodyPr wrap="square" lIns="0" tIns="0" rIns="0" bIns="0" rtlCol="0" anchor="t"/>
          <a:lstStyle/>
          <a:p>
            <a:pPr marL="0" indent="0" algn="l">
              <a:lnSpc>
                <a:spcPct val="105000"/>
              </a:lnSpc>
              <a:buNone/>
            </a:pPr>
            <a:r>
              <a:rPr lang="en-US" sz="3200" dirty="0">
                <a:solidFill>
                  <a:srgbClr val="F1D9A0"/>
                </a:solidFill>
                <a:latin typeface="Segoe UI Light" pitchFamily="34" charset="0"/>
                <a:ea typeface="Segoe UI Light" pitchFamily="34" charset="-122"/>
                <a:cs typeface="Segoe UI Light" pitchFamily="34" charset="-120"/>
              </a:rPr>
              <a:t>≈ 1</a:t>
            </a:r>
            <a:endParaRPr lang="en-US" sz="3200" dirty="0"/>
          </a:p>
        </p:txBody>
      </p:sp>
      <p:sp>
        <p:nvSpPr>
          <p:cNvPr id="26" name="a4float_k3t"/>
          <p:cNvSpPr txBox="1"/>
          <p:nvPr/>
        </p:nvSpPr>
        <p:spPr>
          <a:xfrm>
            <a:off x="5340096" y="5303520"/>
            <a:ext cx="1188720" cy="502920"/>
          </a:xfrm>
          <a:prstGeom prst="rect">
            <a:avLst/>
          </a:prstGeom>
          <a:noFill/>
          <a:ln/>
        </p:spPr>
        <p:txBody>
          <a:bodyPr wrap="square" lIns="0" tIns="0" rIns="0" bIns="0" rtlCol="0" anchor="t"/>
          <a:lstStyle/>
          <a:p>
            <a:pPr marL="0" indent="0" algn="l">
              <a:lnSpc>
                <a:spcPct val="105000"/>
              </a:lnSpc>
              <a:buNone/>
            </a:pPr>
            <a:r>
              <a:rPr lang="en-US" sz="1100" dirty="0">
                <a:solidFill>
                  <a:srgbClr val="D5E2F0"/>
                </a:solidFill>
                <a:latin typeface="Segoe UI" pitchFamily="34" charset="0"/>
                <a:ea typeface="Segoe UI" pitchFamily="34" charset="-122"/>
                <a:cs typeface="Segoe UI" pitchFamily="34" charset="-120"/>
              </a:rPr>
              <a:t>false alarm per stand-year</a:t>
            </a:r>
            <a:endParaRPr lang="en-US" sz="1100" dirty="0"/>
          </a:p>
        </p:txBody>
      </p:sp>
      <p:sp>
        <p:nvSpPr>
          <p:cNvPr id="27" name="a5fade_name"/>
          <p:cNvSpPr txBox="1"/>
          <p:nvPr/>
        </p:nvSpPr>
        <p:spPr>
          <a:xfrm>
            <a:off x="640080" y="6126480"/>
            <a:ext cx="4572000" cy="320040"/>
          </a:xfrm>
          <a:prstGeom prst="rect">
            <a:avLst/>
          </a:prstGeom>
          <a:noFill/>
          <a:ln/>
        </p:spPr>
        <p:txBody>
          <a:bodyPr wrap="square" lIns="0" tIns="0" rIns="0" bIns="0" rtlCol="0" anchor="t"/>
          <a:lstStyle/>
          <a:p>
            <a:pPr marL="0" indent="0" algn="l">
              <a:lnSpc>
                <a:spcPct val="105000"/>
              </a:lnSpc>
              <a:buNone/>
            </a:pPr>
            <a:r>
              <a:rPr lang="en-US" sz="1600" dirty="0">
                <a:solidFill>
                  <a:srgbClr val="D4E2EE"/>
                </a:solidFill>
                <a:latin typeface="Segoe UI Semibold" pitchFamily="34" charset="0"/>
                <a:ea typeface="Segoe UI Semibold" pitchFamily="34" charset="-122"/>
                <a:cs typeface="Segoe UI Semibold" pitchFamily="34" charset="-120"/>
              </a:rPr>
              <a:t>Nahla Nabil  ·  Bahrain</a:t>
            </a:r>
            <a:endParaRPr lang="en-US" sz="1600" dirty="0"/>
          </a:p>
        </p:txBody>
      </p:sp>
      <p:pic>
        <p:nvPicPr>
          <p:cNvPr id="28" name="a5fade_fae" descr="C:\Users\nahla\Desktop\UAE-Space-Hackatoon\deck_pptx\flag_ae.png"/>
          <p:cNvPicPr>
            <a:picLocks noChangeAspect="1"/>
          </p:cNvPicPr>
          <p:nvPr/>
        </p:nvPicPr>
        <p:blipFill>
          <a:blip r:embed="rId9"/>
          <a:stretch>
            <a:fillRect/>
          </a:stretch>
        </p:blipFill>
        <p:spPr>
          <a:xfrm>
            <a:off x="6995160" y="5577840"/>
            <a:ext cx="438912" cy="219456"/>
          </a:xfrm>
          <a:prstGeom prst="rect">
            <a:avLst/>
          </a:prstGeom>
        </p:spPr>
      </p:pic>
      <p:sp>
        <p:nvSpPr>
          <p:cNvPr id="29" name="a5fade_fael"/>
          <p:cNvSpPr txBox="1"/>
          <p:nvPr/>
        </p:nvSpPr>
        <p:spPr>
          <a:xfrm>
            <a:off x="7498080" y="5504688"/>
            <a:ext cx="2377440" cy="365760"/>
          </a:xfrm>
          <a:prstGeom prst="rect">
            <a:avLst/>
          </a:prstGeom>
          <a:noFill/>
          <a:ln/>
        </p:spPr>
        <p:txBody>
          <a:bodyPr wrap="square" lIns="0" tIns="0" rIns="0" bIns="0" rtlCol="0" anchor="ctr"/>
          <a:lstStyle/>
          <a:p>
            <a:pPr marL="0" indent="0" algn="l">
              <a:lnSpc>
                <a:spcPct val="105000"/>
              </a:lnSpc>
              <a:buNone/>
            </a:pPr>
            <a:r>
              <a:rPr lang="en-US" sz="1200" dirty="0">
                <a:solidFill>
                  <a:srgbClr val="D4E2EE"/>
                </a:solidFill>
                <a:latin typeface="Segoe UI" pitchFamily="34" charset="0"/>
                <a:ea typeface="Segoe UI" pitchFamily="34" charset="-122"/>
                <a:cs typeface="Segoe UI" pitchFamily="34" charset="-120"/>
              </a:rPr>
              <a:t>Study area: Abu Dhabi, UAE</a:t>
            </a:r>
            <a:endParaRPr lang="en-US" sz="1200" dirty="0"/>
          </a:p>
        </p:txBody>
      </p:sp>
      <p:pic>
        <p:nvPicPr>
          <p:cNvPr id="30" name="a5fade_fbh" descr="C:\Users\nahla\Desktop\UAE-Space-Hackatoon\deck_pptx\flag_bh.png"/>
          <p:cNvPicPr>
            <a:picLocks noChangeAspect="1"/>
          </p:cNvPicPr>
          <p:nvPr/>
        </p:nvPicPr>
        <p:blipFill>
          <a:blip r:embed="rId10"/>
          <a:stretch>
            <a:fillRect/>
          </a:stretch>
        </p:blipFill>
        <p:spPr>
          <a:xfrm>
            <a:off x="9646920" y="5577840"/>
            <a:ext cx="365760" cy="219456"/>
          </a:xfrm>
          <a:prstGeom prst="rect">
            <a:avLst/>
          </a:prstGeom>
        </p:spPr>
      </p:pic>
      <p:sp>
        <p:nvSpPr>
          <p:cNvPr id="31" name="a5fade_fbhl"/>
          <p:cNvSpPr txBox="1"/>
          <p:nvPr/>
        </p:nvSpPr>
        <p:spPr>
          <a:xfrm>
            <a:off x="10076688" y="5504688"/>
            <a:ext cx="1645920" cy="365760"/>
          </a:xfrm>
          <a:prstGeom prst="rect">
            <a:avLst/>
          </a:prstGeom>
          <a:noFill/>
          <a:ln/>
        </p:spPr>
        <p:txBody>
          <a:bodyPr wrap="square" lIns="0" tIns="0" rIns="0" bIns="0" rtlCol="0" anchor="ctr"/>
          <a:lstStyle/>
          <a:p>
            <a:pPr marL="0" indent="0" algn="l">
              <a:lnSpc>
                <a:spcPct val="105000"/>
              </a:lnSpc>
              <a:buNone/>
            </a:pPr>
            <a:r>
              <a:rPr lang="en-US" sz="1200" dirty="0">
                <a:solidFill>
                  <a:srgbClr val="D4E2EE"/>
                </a:solidFill>
                <a:latin typeface="Segoe UI" pitchFamily="34" charset="0"/>
                <a:ea typeface="Segoe UI" pitchFamily="34" charset="-122"/>
                <a:cs typeface="Segoe UI" pitchFamily="34" charset="-120"/>
              </a:rPr>
              <a:t>Built in Bahrain</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8000" fill="hold"/>
                                        <p:tgtEl>
                                          <p:spTgt spid="4"/>
                                        </p:tgtEl>
                                      </p:cBhvr>
                                    </p:cmd>
                                  </p:childTnLst>
                                </p:cTn>
                              </p:par>
                              <p:par>
                                <p:cTn id="7" presetID="0" presetClass="path" presetSubtype="0" repeatCount="indefinite" fill="hold" grpId="0" nodeType="withEffect">
                                  <p:stCondLst>
                                    <p:cond delay="250"/>
                                  </p:stCondLst>
                                  <p:childTnLst>
                                    <p:animMotion origin="layout" path="M 0 0 L 1.12 -0.03 E" pathEditMode="relative" ptsTypes="">
                                      <p:cBhvr>
                                        <p:cTn id="8" dur="18000" fill="hold"/>
                                        <p:tgtEl>
                                          <p:spTgt spid="7"/>
                                        </p:tgtEl>
                                        <p:attrNameLst>
                                          <p:attrName>ppt_x</p:attrName>
                                          <p:attrName>ppt_y</p:attrName>
                                        </p:attrNameLst>
                                      </p:cBhvr>
                                    </p:animMotion>
                                  </p:childTnLst>
                                </p:cTn>
                              </p:par>
                              <p:par>
                                <p:cTn id="9" presetID="10" presetClass="entr" presetSubtype="0" decel="100000" fill="hold" grpId="0" nodeType="withEffect">
                                  <p:stCondLst>
                                    <p:cond delay="25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par>
                                <p:cTn id="12" presetID="42" presetClass="entr" presetSubtype="0" decel="10000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00"/>
                                        <p:tgtEl>
                                          <p:spTgt spid="9"/>
                                        </p:tgtEl>
                                      </p:cBhvr>
                                    </p:animEffect>
                                    <p:anim calcmode="lin" valueType="num">
                                      <p:cBhvr additive="base">
                                        <p:cTn id="15" dur="700" fill="hold"/>
                                        <p:tgtEl>
                                          <p:spTgt spid="9"/>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additive="base">
                                        <p:cTn id="19" dur="700" fill="hold"/>
                                        <p:tgtEl>
                                          <p:spTgt spid="10"/>
                                        </p:tgtEl>
                                        <p:attrNameLst>
                                          <p:attrName>ppt_y</p:attrName>
                                        </p:attrNameLst>
                                      </p:cBhvr>
                                      <p:tavLst>
                                        <p:tav tm="0">
                                          <p:val>
                                            <p:strVal val="#ppt_y+0.03"/>
                                          </p:val>
                                        </p:tav>
                                        <p:tav tm="100000">
                                          <p:val>
                                            <p:strVal val="#ppt_y"/>
                                          </p:val>
                                        </p:tav>
                                      </p:tavLst>
                                    </p:anim>
                                  </p:childTnLst>
                                </p:cTn>
                              </p:par>
                              <p:par>
                                <p:cTn id="20" presetID="10" presetClass="entr" presetSubtype="0" decel="100000" fill="hold" grpId="0" nodeType="withEffect">
                                  <p:stCondLst>
                                    <p:cond delay="69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decel="100000" fill="hold" grpId="0" nodeType="withEffect">
                                  <p:stCondLst>
                                    <p:cond delay="69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par>
                                <p:cTn id="26" presetID="10" presetClass="entr" presetSubtype="0" decel="100000" fill="hold" grpId="0" nodeType="withEffect">
                                  <p:stCondLst>
                                    <p:cond delay="69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600"/>
                                        <p:tgtEl>
                                          <p:spTgt spid="13"/>
                                        </p:tgtEl>
                                      </p:cBhvr>
                                    </p:animEffect>
                                  </p:childTnLst>
                                </p:cTn>
                              </p:par>
                              <p:par>
                                <p:cTn id="29" presetID="10" presetClass="entr" presetSubtype="0" decel="100000" fill="hold" grpId="0" nodeType="withEffect">
                                  <p:stCondLst>
                                    <p:cond delay="69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00"/>
                                        <p:tgtEl>
                                          <p:spTgt spid="14"/>
                                        </p:tgtEl>
                                      </p:cBhvr>
                                    </p:animEffect>
                                  </p:childTnLst>
                                </p:cTn>
                              </p:par>
                              <p:par>
                                <p:cTn id="32" presetID="53" presetClass="entr" presetSubtype="16" decel="100000" fill="hold" grpId="0" nodeType="withEffect">
                                  <p:stCondLst>
                                    <p:cond delay="91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700"/>
                                        <p:tgtEl>
                                          <p:spTgt spid="5"/>
                                        </p:tgtEl>
                                      </p:cBhvr>
                                    </p:animEffect>
                                    <p:anim calcmode="lin" valueType="num">
                                      <p:cBhvr additive="base">
                                        <p:cTn id="35" dur="800" fill="hold"/>
                                        <p:tgtEl>
                                          <p:spTgt spid="5"/>
                                        </p:tgtEl>
                                        <p:attrNameLst>
                                          <p:attrName>ppt_w</p:attrName>
                                        </p:attrNameLst>
                                      </p:cBhvr>
                                      <p:tavLst>
                                        <p:tav tm="0">
                                          <p:val>
                                            <p:strVal val="#ppt_w*0.85"/>
                                          </p:val>
                                        </p:tav>
                                        <p:tav tm="100000">
                                          <p:val>
                                            <p:strVal val="#ppt_w"/>
                                          </p:val>
                                        </p:tav>
                                      </p:tavLst>
                                    </p:anim>
                                    <p:anim calcmode="lin" valueType="num">
                                      <p:cBhvr additive="base">
                                        <p:cTn id="36" dur="800" fill="hold"/>
                                        <p:tgtEl>
                                          <p:spTgt spid="5"/>
                                        </p:tgtEl>
                                        <p:attrNameLst>
                                          <p:attrName>ppt_h</p:attrName>
                                        </p:attrNameLst>
                                      </p:cBhvr>
                                      <p:tavLst>
                                        <p:tav tm="0">
                                          <p:val>
                                            <p:strVal val="#ppt_h*0.85"/>
                                          </p:val>
                                        </p:tav>
                                        <p:tav tm="100000">
                                          <p:val>
                                            <p:strVal val="#ppt_h"/>
                                          </p:val>
                                        </p:tav>
                                      </p:tavLst>
                                    </p:anim>
                                  </p:childTnLst>
                                </p:cTn>
                              </p:par>
                              <p:par>
                                <p:cTn id="37" presetID="42" presetClass="entr" presetSubtype="0" decel="100000" fill="hold" grpId="0" nodeType="withEffect">
                                  <p:stCondLst>
                                    <p:cond delay="113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700"/>
                                        <p:tgtEl>
                                          <p:spTgt spid="15"/>
                                        </p:tgtEl>
                                      </p:cBhvr>
                                    </p:animEffect>
                                    <p:anim calcmode="lin" valueType="num">
                                      <p:cBhvr additive="base">
                                        <p:cTn id="40" dur="700" fill="hold"/>
                                        <p:tgtEl>
                                          <p:spTgt spid="15"/>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113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700"/>
                                        <p:tgtEl>
                                          <p:spTgt spid="16"/>
                                        </p:tgtEl>
                                      </p:cBhvr>
                                    </p:animEffect>
                                    <p:anim calcmode="lin" valueType="num">
                                      <p:cBhvr additive="base">
                                        <p:cTn id="44" dur="700" fill="hold"/>
                                        <p:tgtEl>
                                          <p:spTgt spid="16"/>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113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700"/>
                                        <p:tgtEl>
                                          <p:spTgt spid="17"/>
                                        </p:tgtEl>
                                      </p:cBhvr>
                                    </p:animEffect>
                                    <p:anim calcmode="lin" valueType="num">
                                      <p:cBhvr additive="base">
                                        <p:cTn id="48" dur="700" fill="hold"/>
                                        <p:tgtEl>
                                          <p:spTgt spid="17"/>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113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700"/>
                                        <p:tgtEl>
                                          <p:spTgt spid="18"/>
                                        </p:tgtEl>
                                      </p:cBhvr>
                                    </p:animEffect>
                                    <p:anim calcmode="lin" valueType="num">
                                      <p:cBhvr additive="base">
                                        <p:cTn id="52" dur="700" fill="hold"/>
                                        <p:tgtEl>
                                          <p:spTgt spid="18"/>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113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700"/>
                                        <p:tgtEl>
                                          <p:spTgt spid="19"/>
                                        </p:tgtEl>
                                      </p:cBhvr>
                                    </p:animEffect>
                                    <p:anim calcmode="lin" valueType="num">
                                      <p:cBhvr additive="base">
                                        <p:cTn id="56" dur="700" fill="hold"/>
                                        <p:tgtEl>
                                          <p:spTgt spid="19"/>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113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700"/>
                                        <p:tgtEl>
                                          <p:spTgt spid="20"/>
                                        </p:tgtEl>
                                      </p:cBhvr>
                                    </p:animEffect>
                                    <p:anim calcmode="lin" valueType="num">
                                      <p:cBhvr additive="base">
                                        <p:cTn id="60" dur="700" fill="hold"/>
                                        <p:tgtEl>
                                          <p:spTgt spid="20"/>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113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700"/>
                                        <p:tgtEl>
                                          <p:spTgt spid="21"/>
                                        </p:tgtEl>
                                      </p:cBhvr>
                                    </p:animEffect>
                                    <p:anim calcmode="lin" valueType="num">
                                      <p:cBhvr additive="base">
                                        <p:cTn id="64" dur="700" fill="hold"/>
                                        <p:tgtEl>
                                          <p:spTgt spid="21"/>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113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700"/>
                                        <p:tgtEl>
                                          <p:spTgt spid="22"/>
                                        </p:tgtEl>
                                      </p:cBhvr>
                                    </p:animEffect>
                                    <p:anim calcmode="lin" valueType="num">
                                      <p:cBhvr additive="base">
                                        <p:cTn id="68" dur="700" fill="hold"/>
                                        <p:tgtEl>
                                          <p:spTgt spid="22"/>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113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700"/>
                                        <p:tgtEl>
                                          <p:spTgt spid="23"/>
                                        </p:tgtEl>
                                      </p:cBhvr>
                                    </p:animEffect>
                                    <p:anim calcmode="lin" valueType="num">
                                      <p:cBhvr additive="base">
                                        <p:cTn id="72" dur="700" fill="hold"/>
                                        <p:tgtEl>
                                          <p:spTgt spid="23"/>
                                        </p:tgtEl>
                                        <p:attrNameLst>
                                          <p:attrName>ppt_y</p:attrName>
                                        </p:attrNameLst>
                                      </p:cBhvr>
                                      <p:tavLst>
                                        <p:tav tm="0">
                                          <p:val>
                                            <p:strVal val="#ppt_y+0.03"/>
                                          </p:val>
                                        </p:tav>
                                        <p:tav tm="100000">
                                          <p:val>
                                            <p:strVal val="#ppt_y"/>
                                          </p:val>
                                        </p:tav>
                                      </p:tavLst>
                                    </p:anim>
                                  </p:childTnLst>
                                </p:cTn>
                              </p:par>
                              <p:par>
                                <p:cTn id="73" presetID="42" presetClass="entr" presetSubtype="0" decel="100000" fill="hold" grpId="0" nodeType="withEffect">
                                  <p:stCondLst>
                                    <p:cond delay="113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700"/>
                                        <p:tgtEl>
                                          <p:spTgt spid="24"/>
                                        </p:tgtEl>
                                      </p:cBhvr>
                                    </p:animEffect>
                                    <p:anim calcmode="lin" valueType="num">
                                      <p:cBhvr additive="base">
                                        <p:cTn id="76" dur="700" fill="hold"/>
                                        <p:tgtEl>
                                          <p:spTgt spid="24"/>
                                        </p:tgtEl>
                                        <p:attrNameLst>
                                          <p:attrName>ppt_y</p:attrName>
                                        </p:attrNameLst>
                                      </p:cBhvr>
                                      <p:tavLst>
                                        <p:tav tm="0">
                                          <p:val>
                                            <p:strVal val="#ppt_y+0.03"/>
                                          </p:val>
                                        </p:tav>
                                        <p:tav tm="100000">
                                          <p:val>
                                            <p:strVal val="#ppt_y"/>
                                          </p:val>
                                        </p:tav>
                                      </p:tavLst>
                                    </p:anim>
                                  </p:childTnLst>
                                </p:cTn>
                              </p:par>
                              <p:par>
                                <p:cTn id="77" presetID="42" presetClass="entr" presetSubtype="0" decel="100000" fill="hold" grpId="0" nodeType="withEffect">
                                  <p:stCondLst>
                                    <p:cond delay="113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700"/>
                                        <p:tgtEl>
                                          <p:spTgt spid="25"/>
                                        </p:tgtEl>
                                      </p:cBhvr>
                                    </p:animEffect>
                                    <p:anim calcmode="lin" valueType="num">
                                      <p:cBhvr additive="base">
                                        <p:cTn id="80" dur="700" fill="hold"/>
                                        <p:tgtEl>
                                          <p:spTgt spid="25"/>
                                        </p:tgtEl>
                                        <p:attrNameLst>
                                          <p:attrName>ppt_y</p:attrName>
                                        </p:attrNameLst>
                                      </p:cBhvr>
                                      <p:tavLst>
                                        <p:tav tm="0">
                                          <p:val>
                                            <p:strVal val="#ppt_y+0.03"/>
                                          </p:val>
                                        </p:tav>
                                        <p:tav tm="100000">
                                          <p:val>
                                            <p:strVal val="#ppt_y"/>
                                          </p:val>
                                        </p:tav>
                                      </p:tavLst>
                                    </p:anim>
                                  </p:childTnLst>
                                </p:cTn>
                              </p:par>
                              <p:par>
                                <p:cTn id="81" presetID="42" presetClass="entr" presetSubtype="0" decel="100000" fill="hold" grpId="0" nodeType="withEffect">
                                  <p:stCondLst>
                                    <p:cond delay="113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700"/>
                                        <p:tgtEl>
                                          <p:spTgt spid="26"/>
                                        </p:tgtEl>
                                      </p:cBhvr>
                                    </p:animEffect>
                                    <p:anim calcmode="lin" valueType="num">
                                      <p:cBhvr additive="base">
                                        <p:cTn id="84" dur="700" fill="hold"/>
                                        <p:tgtEl>
                                          <p:spTgt spid="26"/>
                                        </p:tgtEl>
                                        <p:attrNameLst>
                                          <p:attrName>ppt_y</p:attrName>
                                        </p:attrNameLst>
                                      </p:cBhvr>
                                      <p:tavLst>
                                        <p:tav tm="0">
                                          <p:val>
                                            <p:strVal val="#ppt_y+0.03"/>
                                          </p:val>
                                        </p:tav>
                                        <p:tav tm="100000">
                                          <p:val>
                                            <p:strVal val="#ppt_y"/>
                                          </p:val>
                                        </p:tav>
                                      </p:tavLst>
                                    </p:anim>
                                  </p:childTnLst>
                                </p:cTn>
                              </p:par>
                              <p:par>
                                <p:cTn id="85" presetID="10" presetClass="entr" presetSubtype="0" decel="100000" fill="hold" grpId="0" nodeType="withEffect">
                                  <p:stCondLst>
                                    <p:cond delay="135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600"/>
                                        <p:tgtEl>
                                          <p:spTgt spid="27"/>
                                        </p:tgtEl>
                                      </p:cBhvr>
                                    </p:animEffect>
                                  </p:childTnLst>
                                </p:cTn>
                              </p:par>
                              <p:par>
                                <p:cTn id="88" presetID="10" presetClass="entr" presetSubtype="0" decel="100000" fill="hold" grpId="0" nodeType="withEffect">
                                  <p:stCondLst>
                                    <p:cond delay="135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600"/>
                                        <p:tgtEl>
                                          <p:spTgt spid="28"/>
                                        </p:tgtEl>
                                      </p:cBhvr>
                                    </p:animEffect>
                                  </p:childTnLst>
                                </p:cTn>
                              </p:par>
                              <p:par>
                                <p:cTn id="91" presetID="10" presetClass="entr" presetSubtype="0" decel="100000" fill="hold" grpId="0" nodeType="withEffect">
                                  <p:stCondLst>
                                    <p:cond delay="135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600"/>
                                        <p:tgtEl>
                                          <p:spTgt spid="29"/>
                                        </p:tgtEl>
                                      </p:cBhvr>
                                    </p:animEffect>
                                  </p:childTnLst>
                                </p:cTn>
                              </p:par>
                              <p:par>
                                <p:cTn id="94" presetID="10" presetClass="entr" presetSubtype="0" decel="100000" fill="hold" grpId="0" nodeType="withEffect">
                                  <p:stCondLst>
                                    <p:cond delay="135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600"/>
                                        <p:tgtEl>
                                          <p:spTgt spid="30"/>
                                        </p:tgtEl>
                                      </p:cBhvr>
                                    </p:animEffect>
                                  </p:childTnLst>
                                </p:cTn>
                              </p:par>
                              <p:par>
                                <p:cTn id="97" presetID="10" presetClass="entr" presetSubtype="0" decel="100000" fill="hold" grpId="0" nodeType="withEffect">
                                  <p:stCondLst>
                                    <p:cond delay="135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0" restart="whenNotActive" fill="hold" evtFilter="cancelBubble" nodeType="interactiveSeq">
                <p:stCondLst>
                  <p:cond evt="onClick" delay="0">
                    <p:tgtEl>
                      <p:spTgt spid="4"/>
                    </p:tgtEl>
                  </p:cond>
                </p:stCondLst>
                <p:endSync evt="end" delay="0">
                  <p:rtn val="all"/>
                </p:endSync>
                <p:childTnLst>
                  <p:par>
                    <p:cTn id="101" fill="hold">
                      <p:stCondLst>
                        <p:cond delay="0"/>
                      </p:stCondLst>
                      <p:childTnLst>
                        <p:par>
                          <p:cTn id="102" fill="hold">
                            <p:stCondLst>
                              <p:cond delay="0"/>
                            </p:stCondLst>
                            <p:childTnLst>
                              <p:par>
                                <p:cTn id="103" presetID="2" presetClass="mediacall" presetSubtype="0" fill="hold" nodeType="clickEffect">
                                  <p:stCondLst>
                                    <p:cond delay="0"/>
                                  </p:stCondLst>
                                  <p:childTnLst>
                                    <p:cmd type="call" cmd="togglePause">
                                      <p:cBhvr>
                                        <p:cTn id="104" dur="1" fill="hold"/>
                                        <p:tgtEl>
                                          <p:spTgt spid="4"/>
                                        </p:tgtEl>
                                      </p:cBhvr>
                                    </p:cmd>
                                  </p:childTnLst>
                                </p:cTn>
                              </p:par>
                            </p:childTnLst>
                          </p:cTn>
                        </p:par>
                      </p:childTnLst>
                    </p:cTn>
                  </p:par>
                </p:childTnLst>
              </p:cTn>
              <p:nextCondLst>
                <p:cond evt="onClick" delay="0">
                  <p:tgtEl>
                    <p:spTgt spid="4"/>
                  </p:tgtEl>
                </p:cond>
              </p:nextCondLst>
            </p:seq>
            <p:video>
              <p:cMediaNode vol="80000" mute="1">
                <p:cTn id="105" repeatCount="indefinite" fill="hold" display="0">
                  <p:stCondLst>
                    <p:cond delay="indefinite"/>
                  </p:stCondLst>
                </p:cTn>
                <p:tgtEl>
                  <p:spTgt spid="4"/>
                </p:tgtEl>
              </p:cMediaNode>
            </p:video>
          </p:childTnLst>
        </p:cTn>
      </p:par>
    </p:tnLst>
    <p:bldLst>
      <p:bldP spid="5"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animBg="1"/>
      <p:bldP spid="30" grpId="0"/>
      <p:bldP spid="3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1945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595360" y="-274320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THE TEAM</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A solo project: one engineer, every role</a:t>
            </a:r>
            <a:endParaRPr lang="en-US" sz="3400" dirty="0"/>
          </a:p>
        </p:txBody>
      </p:sp>
      <p:sp>
        <p:nvSpPr>
          <p:cNvPr id="7" name="a1float_panel"/>
          <p:cNvSpPr/>
          <p:nvPr/>
        </p:nvSpPr>
        <p:spPr>
          <a:xfrm>
            <a:off x="548640" y="1691640"/>
            <a:ext cx="4160520" cy="4480560"/>
          </a:xfrm>
          <a:prstGeom prst="roundRect">
            <a:avLst>
              <a:gd name="adj" fmla="val 3077"/>
            </a:avLst>
          </a:prstGeom>
          <a:solidFill>
            <a:srgbClr val="E8F0F9">
              <a:alpha val="9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avring"/>
          <p:cNvSpPr/>
          <p:nvPr/>
        </p:nvSpPr>
        <p:spPr>
          <a:xfrm>
            <a:off x="731520" y="1847088"/>
            <a:ext cx="1207008" cy="1207008"/>
          </a:xfrm>
          <a:prstGeom prst="ellipse">
            <a:avLst/>
          </a:prstGeom>
          <a:solidFill>
            <a:srgbClr val="FFFFFF"/>
          </a:solidFill>
          <a:ln w="25400">
            <a:solidFill>
              <a:srgbClr val="3F6E9E"/>
            </a:solidFill>
            <a:prstDash val="solid"/>
          </a:ln>
        </p:spPr>
        <p:txBody>
          <a:bodyPr/>
          <a:lstStyle/>
          <a:p>
            <a:endParaRPr lang="en-GB"/>
          </a:p>
        </p:txBody>
      </p:sp>
      <p:pic>
        <p:nvPicPr>
          <p:cNvPr id="9" name="a1float_av" descr="C:\Users\nahla\Desktop\UAE-Space-Hackatoon\deck_pptx\nahla.png"/>
          <p:cNvPicPr>
            <a:picLocks noChangeAspect="1"/>
          </p:cNvPicPr>
          <p:nvPr/>
        </p:nvPicPr>
        <p:blipFill>
          <a:blip r:embed="rId5"/>
          <a:stretch>
            <a:fillRect/>
          </a:stretch>
        </p:blipFill>
        <p:spPr>
          <a:xfrm>
            <a:off x="777240" y="1892808"/>
            <a:ext cx="1115568" cy="1115568"/>
          </a:xfrm>
          <a:prstGeom prst="rect">
            <a:avLst/>
          </a:prstGeom>
        </p:spPr>
      </p:pic>
      <p:sp>
        <p:nvSpPr>
          <p:cNvPr id="10" name="a1float_name"/>
          <p:cNvSpPr txBox="1"/>
          <p:nvPr/>
        </p:nvSpPr>
        <p:spPr>
          <a:xfrm>
            <a:off x="2084832" y="1920240"/>
            <a:ext cx="2560320" cy="411480"/>
          </a:xfrm>
          <a:prstGeom prst="rect">
            <a:avLst/>
          </a:prstGeom>
          <a:noFill/>
          <a:ln/>
        </p:spPr>
        <p:txBody>
          <a:bodyPr wrap="square" lIns="0" tIns="0" rIns="0" bIns="0" rtlCol="0" anchor="t"/>
          <a:lstStyle/>
          <a:p>
            <a:pPr marL="0" indent="0" algn="l">
              <a:lnSpc>
                <a:spcPct val="105000"/>
              </a:lnSpc>
              <a:buNone/>
            </a:pPr>
            <a:r>
              <a:rPr lang="en-US" sz="2200" dirty="0">
                <a:solidFill>
                  <a:srgbClr val="1B2B40"/>
                </a:solidFill>
                <a:latin typeface="Segoe UI Semibold" pitchFamily="34" charset="0"/>
                <a:ea typeface="Segoe UI Semibold" pitchFamily="34" charset="-122"/>
                <a:cs typeface="Segoe UI Semibold" pitchFamily="34" charset="-120"/>
              </a:rPr>
              <a:t>Nahla Nabil</a:t>
            </a:r>
            <a:endParaRPr lang="en-US" sz="2200" dirty="0"/>
          </a:p>
        </p:txBody>
      </p:sp>
      <p:sp>
        <p:nvSpPr>
          <p:cNvPr id="11" name="a1float_role"/>
          <p:cNvSpPr txBox="1"/>
          <p:nvPr/>
        </p:nvSpPr>
        <p:spPr>
          <a:xfrm>
            <a:off x="2084832" y="2331720"/>
            <a:ext cx="2560320" cy="4572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Solo founder · AI engineer</a:t>
            </a:r>
            <a:endParaRPr lang="en-US" sz="1100" dirty="0"/>
          </a:p>
        </p:txBody>
      </p:sp>
      <p:sp>
        <p:nvSpPr>
          <p:cNvPr id="12" name="a1float_ctry"/>
          <p:cNvSpPr txBox="1"/>
          <p:nvPr/>
        </p:nvSpPr>
        <p:spPr>
          <a:xfrm>
            <a:off x="2084832" y="2596896"/>
            <a:ext cx="2560320" cy="256032"/>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Bahrain</a:t>
            </a:r>
            <a:endParaRPr lang="en-US" sz="1100" dirty="0"/>
          </a:p>
        </p:txBody>
      </p:sp>
      <p:sp>
        <p:nvSpPr>
          <p:cNvPr id="13" name="a2fade_l0"/>
          <p:cNvSpPr txBox="1"/>
          <p:nvPr/>
        </p:nvSpPr>
        <p:spPr>
          <a:xfrm>
            <a:off x="804672" y="3127248"/>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EDUCATION</a:t>
            </a:r>
            <a:endParaRPr lang="en-US" sz="1100" dirty="0"/>
          </a:p>
        </p:txBody>
      </p:sp>
      <p:sp>
        <p:nvSpPr>
          <p:cNvPr id="14" name="a2fade_edu"/>
          <p:cNvSpPr txBox="1"/>
          <p:nvPr/>
        </p:nvSpPr>
        <p:spPr>
          <a:xfrm>
            <a:off x="804672" y="3346704"/>
            <a:ext cx="3749040" cy="457200"/>
          </a:xfrm>
          <a:prstGeom prst="rect">
            <a:avLst/>
          </a:prstGeom>
          <a:noFill/>
          <a:ln/>
        </p:spPr>
        <p:txBody>
          <a:bodyPr wrap="square" lIns="0" tIns="0" rIns="0" bIns="0" rtlCol="0" anchor="t"/>
          <a:lstStyle/>
          <a:p>
            <a:pPr marL="0" indent="0" algn="l">
              <a:lnSpc>
                <a:spcPct val="105000"/>
              </a:lnSpc>
              <a:buNone/>
            </a:pPr>
            <a:r>
              <a:rPr lang="en-US" sz="1150" b="1" dirty="0">
                <a:solidFill>
                  <a:srgbClr val="1B2B40"/>
                </a:solidFill>
                <a:latin typeface="Segoe UI" pitchFamily="34" charset="0"/>
                <a:ea typeface="Segoe UI" pitchFamily="34" charset="-122"/>
                <a:cs typeface="Segoe UI" pitchFamily="34" charset="-120"/>
              </a:rPr>
              <a:t>BSc Artificial Intelligence</a:t>
            </a:r>
            <a:r>
              <a:rPr lang="en-US" sz="1150" dirty="0">
                <a:solidFill>
                  <a:srgbClr val="1B2B40"/>
                </a:solidFill>
                <a:latin typeface="Segoe UI" pitchFamily="34" charset="0"/>
                <a:ea typeface="Segoe UI" pitchFamily="34" charset="-122"/>
                <a:cs typeface="Segoe UI" pitchFamily="34" charset="-120"/>
              </a:rPr>
              <a:t> · Arab Open University</a:t>
            </a:r>
            <a:r>
              <a:rPr lang="en-US" sz="1150">
                <a:solidFill>
                  <a:srgbClr val="1B2B40"/>
                </a:solidFill>
                <a:latin typeface="Segoe UI" pitchFamily="34" charset="0"/>
                <a:ea typeface="Segoe UI" pitchFamily="34" charset="-122"/>
                <a:cs typeface="Segoe UI" pitchFamily="34" charset="-120"/>
              </a:rPr>
              <a:t>, Bahrain, UK </a:t>
            </a:r>
            <a:r>
              <a:rPr lang="en-US" sz="1150" dirty="0">
                <a:solidFill>
                  <a:srgbClr val="1B2B40"/>
                </a:solidFill>
                <a:latin typeface="Segoe UI" pitchFamily="34" charset="0"/>
                <a:ea typeface="Segoe UI" pitchFamily="34" charset="-122"/>
                <a:cs typeface="Segoe UI" pitchFamily="34" charset="-120"/>
              </a:rPr>
              <a:t>· final semester · First-Class Honours standing</a:t>
            </a:r>
            <a:endParaRPr lang="en-US" sz="1150" dirty="0"/>
          </a:p>
        </p:txBody>
      </p:sp>
      <p:sp>
        <p:nvSpPr>
          <p:cNvPr id="15" name="a2fade_l1"/>
          <p:cNvSpPr txBox="1"/>
          <p:nvPr/>
        </p:nvSpPr>
        <p:spPr>
          <a:xfrm>
            <a:off x="804672" y="384000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RESEARCH</a:t>
            </a:r>
            <a:endParaRPr lang="en-US" sz="1100" dirty="0"/>
          </a:p>
        </p:txBody>
      </p:sp>
      <p:sp>
        <p:nvSpPr>
          <p:cNvPr id="16" name="a2fade_skills"/>
          <p:cNvSpPr txBox="1"/>
          <p:nvPr/>
        </p:nvSpPr>
        <p:spPr>
          <a:xfrm>
            <a:off x="804672" y="4070000"/>
            <a:ext cx="3794760" cy="680000"/>
          </a:xfrm>
          <a:prstGeom prst="rect">
            <a:avLst/>
          </a:prstGeom>
          <a:noFill/>
          <a:ln/>
        </p:spPr>
        <p:txBody>
          <a:bodyPr wrap="square" lIns="0" tIns="0" rIns="0" bIns="0" rtlCol="0" anchor="t"/>
          <a:lstStyle/>
          <a:p>
            <a:pPr marL="152400" indent="-152400">
              <a:spcAft>
                <a:spcPts val="300"/>
              </a:spcAft>
              <a:buSzPct val="100000"/>
              <a:buChar char="•"/>
            </a:pPr>
            <a:r>
              <a:rPr lang="en-US" sz="1050" b="0" dirty="0">
                <a:solidFill>
                  <a:srgbClr val="3F6E9E"/>
                </a:solidFill>
                <a:latin typeface="Segoe UI" pitchFamily="34" charset="0"/>
                <a:ea typeface="Segoe UI" pitchFamily="34" charset="-122"/>
                <a:cs typeface="Segoe UI" pitchFamily="34" charset="-120"/>
              </a:rPr>
              <a:t>Current focus: AI for measuring blue carbon</a:t>
            </a:r>
            <a:endParaRPr lang="en-US" sz="1050" dirty="0"/>
          </a:p>
          <a:p>
            <a:pPr marL="152400" indent="-152400">
              <a:spcAft>
                <a:spcPts val="300"/>
              </a:spcAft>
              <a:buSzPct val="100000"/>
              <a:buChar char="•"/>
            </a:pPr>
            <a:r>
              <a:rPr lang="en-US" sz="1050" b="0" dirty="0">
                <a:solidFill>
                  <a:srgbClr val="1B2B40"/>
                </a:solidFill>
                <a:latin typeface="Segoe UI" pitchFamily="34" charset="0"/>
                <a:ea typeface="Segoe UI" pitchFamily="34" charset="-122"/>
                <a:cs typeface="Segoe UI" pitchFamily="34" charset="-120"/>
              </a:rPr>
              <a:t>2 IEEE papers: ICCA 2025 and ICAISET 2026</a:t>
            </a:r>
            <a:endParaRPr lang="en-US" sz="1050" dirty="0"/>
          </a:p>
          <a:p>
            <a:pPr marL="152400" indent="-152400">
              <a:spcAft>
                <a:spcPts val="300"/>
              </a:spcAft>
              <a:buSzPct val="100000"/>
              <a:buChar char="•"/>
            </a:pPr>
            <a:r>
              <a:rPr lang="en-US" sz="1050" b="1" dirty="0">
                <a:solidFill>
                  <a:srgbClr val="1B2B40"/>
                </a:solidFill>
                <a:latin typeface="Segoe UI" pitchFamily="34" charset="0"/>
                <a:ea typeface="Segoe UI" pitchFamily="34" charset="-122"/>
                <a:cs typeface="Segoe UI" pitchFamily="34" charset="-120"/>
              </a:rPr>
              <a:t>3rd paper, presenting 29 Oct 2026: PIGNN-UQ, uncertainty-aware blue carbon crediting</a:t>
            </a:r>
            <a:endParaRPr lang="en-US" sz="1050" dirty="0"/>
          </a:p>
        </p:txBody>
      </p:sp>
      <p:sp>
        <p:nvSpPr>
          <p:cNvPr id="17" name="a3fade_l2"/>
          <p:cNvSpPr txBox="1"/>
          <p:nvPr/>
        </p:nvSpPr>
        <p:spPr>
          <a:xfrm>
            <a:off x="804672" y="563000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COMMUNITY</a:t>
            </a:r>
            <a:endParaRPr lang="en-US" sz="1100" dirty="0"/>
          </a:p>
        </p:txBody>
      </p:sp>
      <p:sp>
        <p:nvSpPr>
          <p:cNvPr id="18" name="a3fade_comm"/>
          <p:cNvSpPr txBox="1"/>
          <p:nvPr/>
        </p:nvSpPr>
        <p:spPr>
          <a:xfrm>
            <a:off x="804672" y="5850000"/>
            <a:ext cx="3794760" cy="280000"/>
          </a:xfrm>
          <a:prstGeom prst="rect">
            <a:avLst/>
          </a:prstGeom>
          <a:noFill/>
          <a:ln/>
        </p:spPr>
        <p:txBody>
          <a:bodyPr wrap="square" lIns="0" tIns="0" rIns="0" bIns="0" rtlCol="0" anchor="t"/>
          <a:lstStyle/>
          <a:p>
            <a:pPr marL="0" indent="0" algn="l">
              <a:lnSpc>
                <a:spcPct val="105000"/>
              </a:lnSpc>
              <a:buNone/>
            </a:pPr>
            <a:r>
              <a:rPr lang="en-US" sz="1000" b="1" dirty="0">
                <a:solidFill>
                  <a:srgbClr val="C00000"/>
                </a:solidFill>
                <a:latin typeface="Segoe UI" pitchFamily="34" charset="0"/>
                <a:ea typeface="Segoe UI" pitchFamily="34" charset="-122"/>
                <a:cs typeface="Segoe UI" pitchFamily="34" charset="-120"/>
              </a:rPr>
              <a:t>NASA Space Apps </a:t>
            </a:r>
            <a:r>
              <a:rPr lang="en-US" sz="1000" b="1">
                <a:solidFill>
                  <a:srgbClr val="C00000"/>
                </a:solidFill>
                <a:latin typeface="Segoe UI" pitchFamily="34" charset="0"/>
                <a:ea typeface="Segoe UI" pitchFamily="34" charset="-122"/>
                <a:cs typeface="Segoe UI" pitchFamily="34" charset="-120"/>
              </a:rPr>
              <a:t>Challenge Local </a:t>
            </a:r>
            <a:r>
              <a:rPr lang="en-US" sz="1000" b="1" dirty="0">
                <a:solidFill>
                  <a:srgbClr val="C00000"/>
                </a:solidFill>
                <a:latin typeface="Segoe UI" pitchFamily="34" charset="0"/>
                <a:ea typeface="Segoe UI" pitchFamily="34" charset="-122"/>
                <a:cs typeface="Segoe UI" pitchFamily="34" charset="-120"/>
              </a:rPr>
              <a:t>L</a:t>
            </a:r>
            <a:r>
              <a:rPr lang="en-US" sz="1000" b="1">
                <a:solidFill>
                  <a:srgbClr val="C00000"/>
                </a:solidFill>
                <a:latin typeface="Segoe UI" pitchFamily="34" charset="0"/>
                <a:ea typeface="Segoe UI" pitchFamily="34" charset="-122"/>
                <a:cs typeface="Segoe UI" pitchFamily="34" charset="-120"/>
              </a:rPr>
              <a:t>ead, Manama 2026</a:t>
            </a:r>
            <a:endParaRPr lang="en-US" sz="1000" b="1" dirty="0">
              <a:solidFill>
                <a:srgbClr val="C00000"/>
              </a:solidFill>
            </a:endParaRPr>
          </a:p>
        </p:txBody>
      </p:sp>
      <p:sp>
        <p:nvSpPr>
          <p:cNvPr id="19" name="a1fade_l4"/>
          <p:cNvSpPr txBox="1"/>
          <p:nvPr/>
        </p:nvSpPr>
        <p:spPr>
          <a:xfrm>
            <a:off x="4983480" y="1691640"/>
            <a:ext cx="64008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ROLES &amp; RESPONSIBILITIES IN THIS PROJECT</a:t>
            </a:r>
            <a:endParaRPr lang="en-US" sz="1100" dirty="0"/>
          </a:p>
        </p:txBody>
      </p:sp>
      <p:sp>
        <p:nvSpPr>
          <p:cNvPr id="20" name="a2float_r0"/>
          <p:cNvSpPr/>
          <p:nvPr/>
        </p:nvSpPr>
        <p:spPr>
          <a:xfrm>
            <a:off x="4983480" y="202996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1" name="a2float_r0ic_c"/>
          <p:cNvSpPr/>
          <p:nvPr/>
        </p:nvSpPr>
        <p:spPr>
          <a:xfrm>
            <a:off x="5166360" y="229514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2" name="a2float_r0ic_i" descr="preencoded.png"/>
          <p:cNvPicPr>
            <a:picLocks noChangeAspect="1"/>
          </p:cNvPicPr>
          <p:nvPr/>
        </p:nvPicPr>
        <p:blipFill>
          <a:blip r:embed="rId6"/>
          <a:stretch>
            <a:fillRect/>
          </a:stretch>
        </p:blipFill>
        <p:spPr>
          <a:xfrm>
            <a:off x="5289255" y="2418039"/>
            <a:ext cx="266273" cy="266273"/>
          </a:xfrm>
          <a:prstGeom prst="rect">
            <a:avLst/>
          </a:prstGeom>
        </p:spPr>
      </p:pic>
      <p:sp>
        <p:nvSpPr>
          <p:cNvPr id="23" name="a2float_r0t"/>
          <p:cNvSpPr txBox="1"/>
          <p:nvPr/>
        </p:nvSpPr>
        <p:spPr>
          <a:xfrm>
            <a:off x="5824728" y="219456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Project lead &amp; owner</a:t>
            </a:r>
            <a:endParaRPr lang="en-US" sz="1400" dirty="0"/>
          </a:p>
        </p:txBody>
      </p:sp>
      <p:sp>
        <p:nvSpPr>
          <p:cNvPr id="24" name="a2float_r0d"/>
          <p:cNvSpPr txBox="1"/>
          <p:nvPr/>
        </p:nvSpPr>
        <p:spPr>
          <a:xfrm>
            <a:off x="5824728" y="253288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problem framing, user needs, scope, every claim</a:t>
            </a:r>
            <a:endParaRPr lang="en-US" sz="1200" dirty="0"/>
          </a:p>
        </p:txBody>
      </p:sp>
      <p:sp>
        <p:nvSpPr>
          <p:cNvPr id="25" name="a2float_r1"/>
          <p:cNvSpPr/>
          <p:nvPr/>
        </p:nvSpPr>
        <p:spPr>
          <a:xfrm>
            <a:off x="8366760" y="202996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6" name="a2float_r1ic_c"/>
          <p:cNvSpPr/>
          <p:nvPr/>
        </p:nvSpPr>
        <p:spPr>
          <a:xfrm>
            <a:off x="8549640" y="229514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7" name="a2float_r1ic_i" descr="preencoded.png"/>
          <p:cNvPicPr>
            <a:picLocks noChangeAspect="1"/>
          </p:cNvPicPr>
          <p:nvPr/>
        </p:nvPicPr>
        <p:blipFill>
          <a:blip r:embed="rId7"/>
          <a:stretch>
            <a:fillRect/>
          </a:stretch>
        </p:blipFill>
        <p:spPr>
          <a:xfrm>
            <a:off x="8672535" y="2418039"/>
            <a:ext cx="266273" cy="266273"/>
          </a:xfrm>
          <a:prstGeom prst="rect">
            <a:avLst/>
          </a:prstGeom>
        </p:spPr>
      </p:pic>
      <p:sp>
        <p:nvSpPr>
          <p:cNvPr id="28" name="a2float_r1t"/>
          <p:cNvSpPr txBox="1"/>
          <p:nvPr/>
        </p:nvSpPr>
        <p:spPr>
          <a:xfrm>
            <a:off x="9208008" y="219456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EO data engineer</a:t>
            </a:r>
            <a:endParaRPr lang="en-US" sz="1400" dirty="0"/>
          </a:p>
        </p:txBody>
      </p:sp>
      <p:sp>
        <p:nvSpPr>
          <p:cNvPr id="29" name="a2float_r1d"/>
          <p:cNvSpPr txBox="1"/>
          <p:nvPr/>
        </p:nvSpPr>
        <p:spPr>
          <a:xfrm>
            <a:off x="9208008" y="253288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778 Sentinel-2 dates, EnMAP reader, sub-metre checks</a:t>
            </a:r>
            <a:endParaRPr lang="en-US" sz="1200" dirty="0"/>
          </a:p>
        </p:txBody>
      </p:sp>
      <p:sp>
        <p:nvSpPr>
          <p:cNvPr id="30" name="a3float_r2"/>
          <p:cNvSpPr/>
          <p:nvPr/>
        </p:nvSpPr>
        <p:spPr>
          <a:xfrm>
            <a:off x="4983480" y="321868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1" name="a3float_r2ic_c"/>
          <p:cNvSpPr/>
          <p:nvPr/>
        </p:nvSpPr>
        <p:spPr>
          <a:xfrm>
            <a:off x="5166360" y="348386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2" name="a3float_r2ic_i" descr="preencoded.png"/>
          <p:cNvPicPr>
            <a:picLocks noChangeAspect="1"/>
          </p:cNvPicPr>
          <p:nvPr/>
        </p:nvPicPr>
        <p:blipFill>
          <a:blip r:embed="rId8"/>
          <a:stretch>
            <a:fillRect/>
          </a:stretch>
        </p:blipFill>
        <p:spPr>
          <a:xfrm>
            <a:off x="5289255" y="3606759"/>
            <a:ext cx="266273" cy="266273"/>
          </a:xfrm>
          <a:prstGeom prst="rect">
            <a:avLst/>
          </a:prstGeom>
        </p:spPr>
      </p:pic>
      <p:sp>
        <p:nvSpPr>
          <p:cNvPr id="33" name="a3float_r2t"/>
          <p:cNvSpPr txBox="1"/>
          <p:nvPr/>
        </p:nvSpPr>
        <p:spPr>
          <a:xfrm>
            <a:off x="5824728" y="338328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Modelling &amp; statistics</a:t>
            </a:r>
            <a:endParaRPr lang="en-US" sz="1400" dirty="0"/>
          </a:p>
        </p:txBody>
      </p:sp>
      <p:sp>
        <p:nvSpPr>
          <p:cNvPr id="34" name="a3float_r2d"/>
          <p:cNvSpPr txBox="1"/>
          <p:nvPr/>
        </p:nvSpPr>
        <p:spPr>
          <a:xfrm>
            <a:off x="5824728" y="372160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tide-aware model, stand + cell alert, calibration</a:t>
            </a:r>
            <a:endParaRPr lang="en-US" sz="1200" dirty="0"/>
          </a:p>
        </p:txBody>
      </p:sp>
      <p:sp>
        <p:nvSpPr>
          <p:cNvPr id="35" name="a3float_r3"/>
          <p:cNvSpPr/>
          <p:nvPr/>
        </p:nvSpPr>
        <p:spPr>
          <a:xfrm>
            <a:off x="8366760" y="321868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6" name="a3float_r3ic_c"/>
          <p:cNvSpPr/>
          <p:nvPr/>
        </p:nvSpPr>
        <p:spPr>
          <a:xfrm>
            <a:off x="8549640" y="348386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7" name="a3float_r3ic_i" descr="preencoded.png"/>
          <p:cNvPicPr>
            <a:picLocks noChangeAspect="1"/>
          </p:cNvPicPr>
          <p:nvPr/>
        </p:nvPicPr>
        <p:blipFill>
          <a:blip r:embed="rId9"/>
          <a:stretch>
            <a:fillRect/>
          </a:stretch>
        </p:blipFill>
        <p:spPr>
          <a:xfrm>
            <a:off x="8672535" y="3606759"/>
            <a:ext cx="266273" cy="266273"/>
          </a:xfrm>
          <a:prstGeom prst="rect">
            <a:avLst/>
          </a:prstGeom>
        </p:spPr>
      </p:pic>
      <p:sp>
        <p:nvSpPr>
          <p:cNvPr id="38" name="a3float_r3t"/>
          <p:cNvSpPr txBox="1"/>
          <p:nvPr/>
        </p:nvSpPr>
        <p:spPr>
          <a:xfrm>
            <a:off x="9208008" y="338328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Validation &amp; integrity</a:t>
            </a:r>
            <a:endParaRPr lang="en-US" sz="1400" dirty="0"/>
          </a:p>
        </p:txBody>
      </p:sp>
      <p:sp>
        <p:nvSpPr>
          <p:cNvPr id="39" name="a3float_r3d"/>
          <p:cNvSpPr txBox="1"/>
          <p:nvPr/>
        </p:nvSpPr>
        <p:spPr>
          <a:xfrm>
            <a:off x="9208008" y="372160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real events, simulations, unseen stands</a:t>
            </a:r>
            <a:endParaRPr lang="en-US" sz="1200" dirty="0"/>
          </a:p>
        </p:txBody>
      </p:sp>
      <p:sp>
        <p:nvSpPr>
          <p:cNvPr id="40" name="a4float_r4"/>
          <p:cNvSpPr/>
          <p:nvPr/>
        </p:nvSpPr>
        <p:spPr>
          <a:xfrm>
            <a:off x="4983480" y="440740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41" name="a4float_r4ic_c"/>
          <p:cNvSpPr/>
          <p:nvPr/>
        </p:nvSpPr>
        <p:spPr>
          <a:xfrm>
            <a:off x="5166360" y="467258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2" name="a4float_r4ic_i" descr="preencoded.png"/>
          <p:cNvPicPr>
            <a:picLocks noChangeAspect="1"/>
          </p:cNvPicPr>
          <p:nvPr/>
        </p:nvPicPr>
        <p:blipFill>
          <a:blip r:embed="rId10"/>
          <a:stretch>
            <a:fillRect/>
          </a:stretch>
        </p:blipFill>
        <p:spPr>
          <a:xfrm>
            <a:off x="5289255" y="4795479"/>
            <a:ext cx="266273" cy="266273"/>
          </a:xfrm>
          <a:prstGeom prst="rect">
            <a:avLst/>
          </a:prstGeom>
        </p:spPr>
      </p:pic>
      <p:sp>
        <p:nvSpPr>
          <p:cNvPr id="43" name="a4float_r4t"/>
          <p:cNvSpPr txBox="1"/>
          <p:nvPr/>
        </p:nvSpPr>
        <p:spPr>
          <a:xfrm>
            <a:off x="5824728" y="457200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Product &amp; delivery</a:t>
            </a:r>
            <a:endParaRPr lang="en-US" sz="1400" dirty="0"/>
          </a:p>
        </p:txBody>
      </p:sp>
      <p:sp>
        <p:nvSpPr>
          <p:cNvPr id="44" name="a4float_r4d"/>
          <p:cNvSpPr txBox="1"/>
          <p:nvPr/>
        </p:nvSpPr>
        <p:spPr>
          <a:xfrm>
            <a:off x="5824728" y="491032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dashboard, website, site reports, notebook</a:t>
            </a:r>
            <a:endParaRPr lang="en-US" sz="1200" dirty="0"/>
          </a:p>
        </p:txBody>
      </p:sp>
      <p:sp>
        <p:nvSpPr>
          <p:cNvPr id="45" name="a4float_r5"/>
          <p:cNvSpPr/>
          <p:nvPr/>
        </p:nvSpPr>
        <p:spPr>
          <a:xfrm>
            <a:off x="8366760" y="4407408"/>
            <a:ext cx="3255264" cy="1051560"/>
          </a:xfrm>
          <a:prstGeom prst="roundRect">
            <a:avLst>
              <a:gd name="adj" fmla="val 1217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46" name="a4float_r5ic_c"/>
          <p:cNvSpPr/>
          <p:nvPr/>
        </p:nvSpPr>
        <p:spPr>
          <a:xfrm>
            <a:off x="8549640" y="467258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7" name="a4float_r5ic_i" descr="preencoded.png"/>
          <p:cNvPicPr>
            <a:picLocks noChangeAspect="1"/>
          </p:cNvPicPr>
          <p:nvPr/>
        </p:nvPicPr>
        <p:blipFill>
          <a:blip r:embed="rId11"/>
          <a:stretch>
            <a:fillRect/>
          </a:stretch>
        </p:blipFill>
        <p:spPr>
          <a:xfrm>
            <a:off x="8672535" y="4795479"/>
            <a:ext cx="266273" cy="266273"/>
          </a:xfrm>
          <a:prstGeom prst="rect">
            <a:avLst/>
          </a:prstGeom>
        </p:spPr>
      </p:pic>
      <p:sp>
        <p:nvSpPr>
          <p:cNvPr id="48" name="a4float_r5t"/>
          <p:cNvSpPr txBox="1"/>
          <p:nvPr/>
        </p:nvSpPr>
        <p:spPr>
          <a:xfrm>
            <a:off x="9208008" y="4572000"/>
            <a:ext cx="2286000" cy="329184"/>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Business &amp; impact</a:t>
            </a:r>
            <a:endParaRPr lang="en-US" sz="1400" dirty="0"/>
          </a:p>
        </p:txBody>
      </p:sp>
      <p:sp>
        <p:nvSpPr>
          <p:cNvPr id="49" name="a4float_r5d"/>
          <p:cNvSpPr txBox="1"/>
          <p:nvPr/>
        </p:nvSpPr>
        <p:spPr>
          <a:xfrm>
            <a:off x="9208008" y="4910328"/>
            <a:ext cx="228600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customers, pricing hypotheses, carbon ranges</a:t>
            </a:r>
            <a:endParaRPr lang="en-US" sz="1200" dirty="0"/>
          </a:p>
        </p:txBody>
      </p:sp>
      <p:sp>
        <p:nvSpPr>
          <p:cNvPr id="50" name="a5float_gap"/>
          <p:cNvSpPr/>
          <p:nvPr/>
        </p:nvSpPr>
        <p:spPr>
          <a:xfrm>
            <a:off x="4983480" y="5596128"/>
            <a:ext cx="6638544" cy="576072"/>
          </a:xfrm>
          <a:prstGeom prst="roundRect">
            <a:avLst>
              <a:gd name="adj" fmla="val 22222"/>
            </a:avLst>
          </a:prstGeom>
          <a:solidFill>
            <a:srgbClr val="3F6E9E">
              <a:alpha val="14000"/>
            </a:srgbClr>
          </a:solidFill>
          <a:ln w="9525">
            <a:solidFill>
              <a:srgbClr val="3F6E9E"/>
            </a:solidFill>
            <a:prstDash val="solid"/>
          </a:ln>
          <a:effectLst>
            <a:outerShdw blurRad="152400" dist="38100" dir="5400000" algn="bl" rotWithShape="0">
              <a:srgbClr val="1B2B40">
                <a:alpha val="12000"/>
              </a:srgbClr>
            </a:outerShdw>
          </a:effectLst>
        </p:spPr>
        <p:txBody>
          <a:bodyPr/>
          <a:lstStyle/>
          <a:p>
            <a:endParaRPr lang="en-GB"/>
          </a:p>
        </p:txBody>
      </p:sp>
      <p:sp>
        <p:nvSpPr>
          <p:cNvPr id="51" name="a5float_gapt"/>
          <p:cNvSpPr txBox="1"/>
          <p:nvPr/>
        </p:nvSpPr>
        <p:spPr>
          <a:xfrm>
            <a:off x="5212080" y="5596128"/>
            <a:ext cx="6309360" cy="576072"/>
          </a:xfrm>
          <a:prstGeom prst="rect">
            <a:avLst/>
          </a:prstGeom>
          <a:noFill/>
          <a:ln/>
        </p:spPr>
        <p:txBody>
          <a:bodyPr wrap="square" lIns="0" tIns="0" rIns="0" bIns="0" rtlCol="0" anchor="ctr"/>
          <a:lstStyle/>
          <a:p>
            <a:pPr marL="0" indent="0" algn="l">
              <a:lnSpc>
                <a:spcPct val="105000"/>
              </a:lnSpc>
              <a:buNone/>
            </a:pPr>
            <a:r>
              <a:rPr lang="en-US" sz="1300" b="1" dirty="0">
                <a:solidFill>
                  <a:srgbClr val="2F5D8F"/>
                </a:solidFill>
                <a:latin typeface="Segoe UI" pitchFamily="34" charset="0"/>
                <a:ea typeface="Segoe UI" pitchFamily="34" charset="-122"/>
                <a:cs typeface="Segoe UI" pitchFamily="34" charset="-120"/>
              </a:rPr>
              <a:t>Incubation gap we will close:  </a:t>
            </a:r>
            <a:r>
              <a:rPr lang="en-US" sz="1300" dirty="0">
                <a:solidFill>
                  <a:srgbClr val="1B2B40"/>
                </a:solidFill>
                <a:latin typeface="Segoe UI" pitchFamily="34" charset="0"/>
                <a:ea typeface="Segoe UI" pitchFamily="34" charset="-122"/>
                <a:cs typeface="Segoe UI" pitchFamily="34" charset="-120"/>
              </a:rPr>
              <a:t>a mangrove ecologist mentor · a restoration or agency partner · a GIS analyst</a:t>
            </a:r>
            <a:endParaRPr lang="en-US" sz="1300" dirty="0"/>
          </a:p>
        </p:txBody>
      </p:sp>
      <p:sp>
        <p:nvSpPr>
          <p:cNvPr id="5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a:t>
            </a:fld>
            <a:endParaRPr lang="en-US"/>
          </a:p>
        </p:txBody>
      </p:sp>
      <p:pic>
        <p:nvPicPr>
          <p:cNvPr id="185" name="a1float_li_icon" descr="linkedin.png">
            <a:hlinkClick r:id="rId12"/>
          </p:cNvPr>
          <p:cNvPicPr>
            <a:picLocks noChangeAspect="1"/>
          </p:cNvPicPr>
          <p:nvPr/>
        </p:nvPicPr>
        <p:blipFill>
          <a:blip r:embed="rId13"/>
          <a:stretch>
            <a:fillRect/>
          </a:stretch>
        </p:blipFill>
        <p:spPr>
          <a:xfrm>
            <a:off x="2102832" y="2872928"/>
            <a:ext cx="200000" cy="200000"/>
          </a:xfrm>
          <a:prstGeom prst="rect">
            <a:avLst/>
          </a:prstGeom>
        </p:spPr>
      </p:pic>
      <p:sp>
        <p:nvSpPr>
          <p:cNvPr id="186" name="a1float_li_text"/>
          <p:cNvSpPr txBox="1"/>
          <p:nvPr/>
        </p:nvSpPr>
        <p:spPr>
          <a:xfrm>
            <a:off x="2372832" y="2820928"/>
            <a:ext cx="2400000" cy="300000"/>
          </a:xfrm>
          <a:prstGeom prst="rect">
            <a:avLst/>
          </a:prstGeom>
          <a:noFill/>
        </p:spPr>
        <p:txBody>
          <a:bodyPr wrap="none" lIns="0" rIns="0" bIns="0">
            <a:spAutoFit/>
          </a:bodyPr>
          <a:lstStyle/>
          <a:p>
            <a:r>
              <a:rPr sz="1000" u="none">
                <a:solidFill>
                  <a:srgbClr val="0A66C2"/>
                </a:solidFill>
                <a:latin typeface="Segoe UI"/>
                <a:hlinkClick r:id="rId12"/>
              </a:rPr>
              <a:t>linkedin.com/in/nahla-nabil-876597211</a:t>
            </a:r>
          </a:p>
        </p:txBody>
      </p:sp>
      <p:sp>
        <p:nvSpPr>
          <p:cNvPr id="187" name="a3fade_expl"/>
          <p:cNvSpPr txBox="1"/>
          <p:nvPr/>
        </p:nvSpPr>
        <p:spPr>
          <a:xfrm>
            <a:off x="804672" y="480000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EXPERIENCE</a:t>
            </a:r>
            <a:endParaRPr lang="en-US" sz="1100" dirty="0"/>
          </a:p>
        </p:txBody>
      </p:sp>
      <p:sp>
        <p:nvSpPr>
          <p:cNvPr id="188" name="a3fade_exp"/>
          <p:cNvSpPr txBox="1"/>
          <p:nvPr/>
        </p:nvSpPr>
        <p:spPr>
          <a:xfrm>
            <a:off x="804672" y="5030000"/>
            <a:ext cx="3794760" cy="560000"/>
          </a:xfrm>
          <a:prstGeom prst="rect">
            <a:avLst/>
          </a:prstGeom>
          <a:noFill/>
          <a:ln/>
        </p:spPr>
        <p:txBody>
          <a:bodyPr wrap="square" lIns="0" tIns="0" rIns="0" bIns="0" rtlCol="0" anchor="t"/>
          <a:lstStyle/>
          <a:p>
            <a:pPr marL="152400" indent="-152400">
              <a:spcAft>
                <a:spcPts val="300"/>
              </a:spcAft>
              <a:buSzPct val="100000"/>
              <a:buChar char="•"/>
            </a:pPr>
            <a:r>
              <a:rPr lang="en-US" sz="1050" b="0" dirty="0">
                <a:solidFill>
                  <a:srgbClr val="1B2B40"/>
                </a:solidFill>
                <a:latin typeface="Segoe UI" pitchFamily="34" charset="0"/>
                <a:ea typeface="Segoe UI" pitchFamily="34" charset="-122"/>
                <a:cs typeface="Segoe UI" pitchFamily="34" charset="-120"/>
              </a:rPr>
              <a:t>IT intern · Ministry of Interior</a:t>
            </a:r>
            <a:r>
              <a:rPr lang="en-US" sz="1050" b="0">
                <a:solidFill>
                  <a:srgbClr val="1B2B40"/>
                </a:solidFill>
                <a:latin typeface="Segoe UI" pitchFamily="34" charset="0"/>
                <a:ea typeface="Segoe UI" pitchFamily="34" charset="-122"/>
                <a:cs typeface="Segoe UI" pitchFamily="34" charset="-120"/>
              </a:rPr>
              <a:t>, Bahrain</a:t>
            </a:r>
            <a:endParaRPr lang="en-US" sz="1050" dirty="0"/>
          </a:p>
          <a:p>
            <a:pPr marL="152400" indent="-152400">
              <a:spcAft>
                <a:spcPts val="300"/>
              </a:spcAft>
              <a:buSzPct val="100000"/>
              <a:buChar char="•"/>
            </a:pPr>
            <a:r>
              <a:rPr lang="en-US" sz="1050" b="0" dirty="0">
                <a:solidFill>
                  <a:srgbClr val="1B2B40"/>
                </a:solidFill>
                <a:latin typeface="Segoe UI" pitchFamily="34" charset="0"/>
                <a:ea typeface="Segoe UI" pitchFamily="34" charset="-122"/>
                <a:cs typeface="Segoe UI" pitchFamily="34" charset="-120"/>
              </a:rPr>
              <a:t>AI &amp; LLM engineering · Doo Bahrain</a:t>
            </a:r>
            <a:r>
              <a:rPr lang="en-US" sz="1050" b="0">
                <a:solidFill>
                  <a:srgbClr val="1B2B40"/>
                </a:solidFill>
                <a:latin typeface="Segoe UI" pitchFamily="34" charset="0"/>
                <a:ea typeface="Segoe UI" pitchFamily="34" charset="-122"/>
                <a:cs typeface="Segoe UI" pitchFamily="34" charset="-120"/>
              </a:rPr>
              <a:t>, FlyRank US</a:t>
            </a:r>
          </a:p>
          <a:p>
            <a:pPr marL="152400" indent="-152400">
              <a:spcAft>
                <a:spcPts val="300"/>
              </a:spcAft>
              <a:buSzPct val="100000"/>
              <a:buChar char="•"/>
            </a:pPr>
            <a:r>
              <a:rPr lang="en-US" sz="1050">
                <a:solidFill>
                  <a:srgbClr val="1B2B40"/>
                </a:solidFill>
                <a:latin typeface="Segoe UI" pitchFamily="34" charset="0"/>
                <a:cs typeface="Segoe UI" pitchFamily="34" charset="-120"/>
              </a:rPr>
              <a:t>Data </a:t>
            </a:r>
            <a:r>
              <a:rPr lang="en-GB" sz="1050">
                <a:solidFill>
                  <a:srgbClr val="1B2B40"/>
                </a:solidFill>
                <a:latin typeface="Segoe UI" pitchFamily="34" charset="0"/>
                <a:cs typeface="Segoe UI" pitchFamily="34" charset="-120"/>
              </a:rPr>
              <a:t>Analysis </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nodeType="withEffect">
                                  <p:stCondLst>
                                    <p:cond delay="470"/>
                                  </p:stCondLst>
                                  <p:childTnLst>
                                    <p:set>
                                      <p:cBhvr>
                                        <p:cTn id="37" dur="1" fill="hold">
                                          <p:stCondLst>
                                            <p:cond delay="0"/>
                                          </p:stCondLst>
                                        </p:cTn>
                                        <p:tgtEl>
                                          <p:spTgt spid="185"/>
                                        </p:tgtEl>
                                        <p:attrNameLst>
                                          <p:attrName>style.visibility</p:attrName>
                                        </p:attrNameLst>
                                      </p:cBhvr>
                                      <p:to>
                                        <p:strVal val="visible"/>
                                      </p:to>
                                    </p:set>
                                    <p:animEffect transition="in" filter="fade">
                                      <p:cBhvr>
                                        <p:cTn id="38" dur="700"/>
                                        <p:tgtEl>
                                          <p:spTgt spid="185"/>
                                        </p:tgtEl>
                                      </p:cBhvr>
                                    </p:animEffect>
                                    <p:anim calcmode="lin" valueType="num">
                                      <p:cBhvr additive="base">
                                        <p:cTn id="39" dur="700" fill="hold"/>
                                        <p:tgtEl>
                                          <p:spTgt spid="185"/>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470"/>
                                  </p:stCondLst>
                                  <p:childTnLst>
                                    <p:set>
                                      <p:cBhvr>
                                        <p:cTn id="41" dur="1" fill="hold">
                                          <p:stCondLst>
                                            <p:cond delay="0"/>
                                          </p:stCondLst>
                                        </p:cTn>
                                        <p:tgtEl>
                                          <p:spTgt spid="186"/>
                                        </p:tgtEl>
                                        <p:attrNameLst>
                                          <p:attrName>style.visibility</p:attrName>
                                        </p:attrNameLst>
                                      </p:cBhvr>
                                      <p:to>
                                        <p:strVal val="visible"/>
                                      </p:to>
                                    </p:set>
                                    <p:animEffect transition="in" filter="fade">
                                      <p:cBhvr>
                                        <p:cTn id="42" dur="700"/>
                                        <p:tgtEl>
                                          <p:spTgt spid="186"/>
                                        </p:tgtEl>
                                      </p:cBhvr>
                                    </p:animEffect>
                                    <p:anim calcmode="lin" valueType="num">
                                      <p:cBhvr additive="base">
                                        <p:cTn id="43" dur="700" fill="hold"/>
                                        <p:tgtEl>
                                          <p:spTgt spid="186"/>
                                        </p:tgtEl>
                                        <p:attrNameLst>
                                          <p:attrName>ppt_y</p:attrName>
                                        </p:attrNameLst>
                                      </p:cBhvr>
                                      <p:tavLst>
                                        <p:tav tm="0">
                                          <p:val>
                                            <p:strVal val="#ppt_y+0.03"/>
                                          </p:val>
                                        </p:tav>
                                        <p:tav tm="100000">
                                          <p:val>
                                            <p:strVal val="#ppt_y"/>
                                          </p:val>
                                        </p:tav>
                                      </p:tavLst>
                                    </p:anim>
                                  </p:childTnLst>
                                </p:cTn>
                              </p:par>
                              <p:par>
                                <p:cTn id="44" presetID="10" presetClass="entr" presetSubtype="0" decel="100000" fill="hold" grpId="0" nodeType="withEffect">
                                  <p:stCondLst>
                                    <p:cond delay="47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600"/>
                                        <p:tgtEl>
                                          <p:spTgt spid="19"/>
                                        </p:tgtEl>
                                      </p:cBhvr>
                                    </p:animEffect>
                                  </p:childTnLst>
                                </p:cTn>
                              </p:par>
                              <p:par>
                                <p:cTn id="47" presetID="10" presetClass="entr" presetSubtype="0" decel="100000" fill="hold" grpId="0" nodeType="withEffect">
                                  <p:stCondLst>
                                    <p:cond delay="69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childTnLst>
                                </p:cTn>
                              </p:par>
                              <p:par>
                                <p:cTn id="50" presetID="10" presetClass="entr" presetSubtype="0" decel="100000" fill="hold" grpId="0" nodeType="withEffect">
                                  <p:stCondLst>
                                    <p:cond delay="69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childTnLst>
                                </p:cTn>
                              </p:par>
                              <p:par>
                                <p:cTn id="53" presetID="10" presetClass="entr" presetSubtype="0" decel="100000" fill="hold" grpId="0" nodeType="withEffect">
                                  <p:stCondLst>
                                    <p:cond delay="69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00"/>
                                        <p:tgtEl>
                                          <p:spTgt spid="15"/>
                                        </p:tgtEl>
                                      </p:cBhvr>
                                    </p:animEffect>
                                  </p:childTnLst>
                                </p:cTn>
                              </p:par>
                              <p:par>
                                <p:cTn id="56" presetID="10" presetClass="entr" presetSubtype="0" decel="100000" fill="hold" grpId="0" nodeType="withEffect">
                                  <p:stCondLst>
                                    <p:cond delay="69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600"/>
                                        <p:tgtEl>
                                          <p:spTgt spid="16"/>
                                        </p:tgtEl>
                                      </p:cBhvr>
                                    </p:animEffect>
                                  </p:childTnLst>
                                </p:cTn>
                              </p:par>
                              <p:par>
                                <p:cTn id="59" presetID="10" presetClass="entr" presetSubtype="0" decel="100000" fill="hold" grpId="0" nodeType="withEffect">
                                  <p:stCondLst>
                                    <p:cond delay="690"/>
                                  </p:stCondLst>
                                  <p:childTnLst>
                                    <p:set>
                                      <p:cBhvr>
                                        <p:cTn id="60" dur="1" fill="hold">
                                          <p:stCondLst>
                                            <p:cond delay="0"/>
                                          </p:stCondLst>
                                        </p:cTn>
                                        <p:tgtEl>
                                          <p:spTgt spid="188"/>
                                        </p:tgtEl>
                                        <p:attrNameLst>
                                          <p:attrName>style.visibility</p:attrName>
                                        </p:attrNameLst>
                                      </p:cBhvr>
                                      <p:to>
                                        <p:strVal val="visible"/>
                                      </p:to>
                                    </p:set>
                                    <p:animEffect transition="in" filter="fade">
                                      <p:cBhvr>
                                        <p:cTn id="61" dur="600"/>
                                        <p:tgtEl>
                                          <p:spTgt spid="188"/>
                                        </p:tgtEl>
                                      </p:cBhvr>
                                    </p:animEffect>
                                  </p:childTnLst>
                                </p:cTn>
                              </p:par>
                              <p:par>
                                <p:cTn id="62" presetID="42" presetClass="entr" presetSubtype="0" decel="100000" fill="hold" grpId="0" nodeType="withEffect">
                                  <p:stCondLst>
                                    <p:cond delay="69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700"/>
                                        <p:tgtEl>
                                          <p:spTgt spid="20"/>
                                        </p:tgtEl>
                                      </p:cBhvr>
                                    </p:animEffect>
                                    <p:anim calcmode="lin" valueType="num">
                                      <p:cBhvr additive="base">
                                        <p:cTn id="65" dur="700" fill="hold"/>
                                        <p:tgtEl>
                                          <p:spTgt spid="20"/>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69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00"/>
                                        <p:tgtEl>
                                          <p:spTgt spid="21"/>
                                        </p:tgtEl>
                                      </p:cBhvr>
                                    </p:animEffect>
                                    <p:anim calcmode="lin" valueType="num">
                                      <p:cBhvr additive="base">
                                        <p:cTn id="69" dur="700" fill="hold"/>
                                        <p:tgtEl>
                                          <p:spTgt spid="21"/>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69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700"/>
                                        <p:tgtEl>
                                          <p:spTgt spid="22"/>
                                        </p:tgtEl>
                                      </p:cBhvr>
                                    </p:animEffect>
                                    <p:anim calcmode="lin" valueType="num">
                                      <p:cBhvr additive="base">
                                        <p:cTn id="73" dur="700" fill="hold"/>
                                        <p:tgtEl>
                                          <p:spTgt spid="22"/>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69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700"/>
                                        <p:tgtEl>
                                          <p:spTgt spid="23"/>
                                        </p:tgtEl>
                                      </p:cBhvr>
                                    </p:animEffect>
                                    <p:anim calcmode="lin" valueType="num">
                                      <p:cBhvr additive="base">
                                        <p:cTn id="77" dur="700" fill="hold"/>
                                        <p:tgtEl>
                                          <p:spTgt spid="23"/>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69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700"/>
                                        <p:tgtEl>
                                          <p:spTgt spid="24"/>
                                        </p:tgtEl>
                                      </p:cBhvr>
                                    </p:animEffect>
                                    <p:anim calcmode="lin" valueType="num">
                                      <p:cBhvr additive="base">
                                        <p:cTn id="81" dur="700" fill="hold"/>
                                        <p:tgtEl>
                                          <p:spTgt spid="24"/>
                                        </p:tgtEl>
                                        <p:attrNameLst>
                                          <p:attrName>ppt_y</p:attrName>
                                        </p:attrNameLst>
                                      </p:cBhvr>
                                      <p:tavLst>
                                        <p:tav tm="0">
                                          <p:val>
                                            <p:strVal val="#ppt_y+0.03"/>
                                          </p:val>
                                        </p:tav>
                                        <p:tav tm="100000">
                                          <p:val>
                                            <p:strVal val="#ppt_y"/>
                                          </p:val>
                                        </p:tav>
                                      </p:tavLst>
                                    </p:anim>
                                  </p:childTnLst>
                                </p:cTn>
                              </p:par>
                              <p:par>
                                <p:cTn id="82" presetID="42" presetClass="entr" presetSubtype="0" decel="100000" fill="hold" grpId="0" nodeType="withEffect">
                                  <p:stCondLst>
                                    <p:cond delay="69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700"/>
                                        <p:tgtEl>
                                          <p:spTgt spid="25"/>
                                        </p:tgtEl>
                                      </p:cBhvr>
                                    </p:animEffect>
                                    <p:anim calcmode="lin" valueType="num">
                                      <p:cBhvr additive="base">
                                        <p:cTn id="85" dur="700" fill="hold"/>
                                        <p:tgtEl>
                                          <p:spTgt spid="25"/>
                                        </p:tgtEl>
                                        <p:attrNameLst>
                                          <p:attrName>ppt_y</p:attrName>
                                        </p:attrNameLst>
                                      </p:cBhvr>
                                      <p:tavLst>
                                        <p:tav tm="0">
                                          <p:val>
                                            <p:strVal val="#ppt_y+0.03"/>
                                          </p:val>
                                        </p:tav>
                                        <p:tav tm="100000">
                                          <p:val>
                                            <p:strVal val="#ppt_y"/>
                                          </p:val>
                                        </p:tav>
                                      </p:tavLst>
                                    </p:anim>
                                  </p:childTnLst>
                                </p:cTn>
                              </p:par>
                              <p:par>
                                <p:cTn id="86" presetID="42" presetClass="entr" presetSubtype="0" decel="100000" fill="hold" grpId="0" nodeType="withEffect">
                                  <p:stCondLst>
                                    <p:cond delay="69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700"/>
                                        <p:tgtEl>
                                          <p:spTgt spid="26"/>
                                        </p:tgtEl>
                                      </p:cBhvr>
                                    </p:animEffect>
                                    <p:anim calcmode="lin" valueType="num">
                                      <p:cBhvr additive="base">
                                        <p:cTn id="89" dur="700" fill="hold"/>
                                        <p:tgtEl>
                                          <p:spTgt spid="26"/>
                                        </p:tgtEl>
                                        <p:attrNameLst>
                                          <p:attrName>ppt_y</p:attrName>
                                        </p:attrNameLst>
                                      </p:cBhvr>
                                      <p:tavLst>
                                        <p:tav tm="0">
                                          <p:val>
                                            <p:strVal val="#ppt_y+0.03"/>
                                          </p:val>
                                        </p:tav>
                                        <p:tav tm="100000">
                                          <p:val>
                                            <p:strVal val="#ppt_y"/>
                                          </p:val>
                                        </p:tav>
                                      </p:tavLst>
                                    </p:anim>
                                  </p:childTnLst>
                                </p:cTn>
                              </p:par>
                              <p:par>
                                <p:cTn id="90" presetID="42" presetClass="entr" presetSubtype="0" decel="100000" fill="hold" grpId="0" nodeType="withEffect">
                                  <p:stCondLst>
                                    <p:cond delay="69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700"/>
                                        <p:tgtEl>
                                          <p:spTgt spid="27"/>
                                        </p:tgtEl>
                                      </p:cBhvr>
                                    </p:animEffect>
                                    <p:anim calcmode="lin" valueType="num">
                                      <p:cBhvr additive="base">
                                        <p:cTn id="93" dur="700" fill="hold"/>
                                        <p:tgtEl>
                                          <p:spTgt spid="27"/>
                                        </p:tgtEl>
                                        <p:attrNameLst>
                                          <p:attrName>ppt_y</p:attrName>
                                        </p:attrNameLst>
                                      </p:cBhvr>
                                      <p:tavLst>
                                        <p:tav tm="0">
                                          <p:val>
                                            <p:strVal val="#ppt_y+0.03"/>
                                          </p:val>
                                        </p:tav>
                                        <p:tav tm="100000">
                                          <p:val>
                                            <p:strVal val="#ppt_y"/>
                                          </p:val>
                                        </p:tav>
                                      </p:tavLst>
                                    </p:anim>
                                  </p:childTnLst>
                                </p:cTn>
                              </p:par>
                              <p:par>
                                <p:cTn id="94" presetID="42" presetClass="entr" presetSubtype="0" decel="100000" fill="hold" grpId="0" nodeType="withEffect">
                                  <p:stCondLst>
                                    <p:cond delay="69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700"/>
                                        <p:tgtEl>
                                          <p:spTgt spid="28"/>
                                        </p:tgtEl>
                                      </p:cBhvr>
                                    </p:animEffect>
                                    <p:anim calcmode="lin" valueType="num">
                                      <p:cBhvr additive="base">
                                        <p:cTn id="97" dur="700" fill="hold"/>
                                        <p:tgtEl>
                                          <p:spTgt spid="28"/>
                                        </p:tgtEl>
                                        <p:attrNameLst>
                                          <p:attrName>ppt_y</p:attrName>
                                        </p:attrNameLst>
                                      </p:cBhvr>
                                      <p:tavLst>
                                        <p:tav tm="0">
                                          <p:val>
                                            <p:strVal val="#ppt_y+0.03"/>
                                          </p:val>
                                        </p:tav>
                                        <p:tav tm="100000">
                                          <p:val>
                                            <p:strVal val="#ppt_y"/>
                                          </p:val>
                                        </p:tav>
                                      </p:tavLst>
                                    </p:anim>
                                  </p:childTnLst>
                                </p:cTn>
                              </p:par>
                              <p:par>
                                <p:cTn id="98" presetID="42" presetClass="entr" presetSubtype="0" decel="100000" fill="hold" grpId="0" nodeType="withEffect">
                                  <p:stCondLst>
                                    <p:cond delay="690"/>
                                  </p:stCondLst>
                                  <p:childTnLst>
                                    <p:set>
                                      <p:cBhvr>
                                        <p:cTn id="99" dur="1" fill="hold">
                                          <p:stCondLst>
                                            <p:cond delay="0"/>
                                          </p:stCondLst>
                                        </p:cTn>
                                        <p:tgtEl>
                                          <p:spTgt spid="29"/>
                                        </p:tgtEl>
                                        <p:attrNameLst>
                                          <p:attrName>style.visibility</p:attrName>
                                        </p:attrNameLst>
                                      </p:cBhvr>
                                      <p:to>
                                        <p:strVal val="visible"/>
                                      </p:to>
                                    </p:set>
                                    <p:animEffect transition="in" filter="fade">
                                      <p:cBhvr>
                                        <p:cTn id="100" dur="700"/>
                                        <p:tgtEl>
                                          <p:spTgt spid="29"/>
                                        </p:tgtEl>
                                      </p:cBhvr>
                                    </p:animEffect>
                                    <p:anim calcmode="lin" valueType="num">
                                      <p:cBhvr additive="base">
                                        <p:cTn id="101" dur="700" fill="hold"/>
                                        <p:tgtEl>
                                          <p:spTgt spid="29"/>
                                        </p:tgtEl>
                                        <p:attrNameLst>
                                          <p:attrName>ppt_y</p:attrName>
                                        </p:attrNameLst>
                                      </p:cBhvr>
                                      <p:tavLst>
                                        <p:tav tm="0">
                                          <p:val>
                                            <p:strVal val="#ppt_y+0.03"/>
                                          </p:val>
                                        </p:tav>
                                        <p:tav tm="100000">
                                          <p:val>
                                            <p:strVal val="#ppt_y"/>
                                          </p:val>
                                        </p:tav>
                                      </p:tavLst>
                                    </p:anim>
                                  </p:childTnLst>
                                </p:cTn>
                              </p:par>
                              <p:par>
                                <p:cTn id="102" presetID="10" presetClass="entr" presetSubtype="0" decel="100000" fill="hold" grpId="0" nodeType="withEffect">
                                  <p:stCondLst>
                                    <p:cond delay="910"/>
                                  </p:stCondLst>
                                  <p:childTnLst>
                                    <p:set>
                                      <p:cBhvr>
                                        <p:cTn id="103" dur="1" fill="hold">
                                          <p:stCondLst>
                                            <p:cond delay="0"/>
                                          </p:stCondLst>
                                        </p:cTn>
                                        <p:tgtEl>
                                          <p:spTgt spid="17"/>
                                        </p:tgtEl>
                                        <p:attrNameLst>
                                          <p:attrName>style.visibility</p:attrName>
                                        </p:attrNameLst>
                                      </p:cBhvr>
                                      <p:to>
                                        <p:strVal val="visible"/>
                                      </p:to>
                                    </p:set>
                                    <p:animEffect transition="in" filter="fade">
                                      <p:cBhvr>
                                        <p:cTn id="104" dur="600"/>
                                        <p:tgtEl>
                                          <p:spTgt spid="17"/>
                                        </p:tgtEl>
                                      </p:cBhvr>
                                    </p:animEffect>
                                  </p:childTnLst>
                                </p:cTn>
                              </p:par>
                              <p:par>
                                <p:cTn id="105" presetID="10" presetClass="entr" presetSubtype="0" decel="100000" fill="hold" grpId="0" nodeType="withEffect">
                                  <p:stCondLst>
                                    <p:cond delay="910"/>
                                  </p:stCondLst>
                                  <p:childTnLst>
                                    <p:set>
                                      <p:cBhvr>
                                        <p:cTn id="106" dur="1" fill="hold">
                                          <p:stCondLst>
                                            <p:cond delay="0"/>
                                          </p:stCondLst>
                                        </p:cTn>
                                        <p:tgtEl>
                                          <p:spTgt spid="187"/>
                                        </p:tgtEl>
                                        <p:attrNameLst>
                                          <p:attrName>style.visibility</p:attrName>
                                        </p:attrNameLst>
                                      </p:cBhvr>
                                      <p:to>
                                        <p:strVal val="visible"/>
                                      </p:to>
                                    </p:set>
                                    <p:animEffect transition="in" filter="fade">
                                      <p:cBhvr>
                                        <p:cTn id="107" dur="600"/>
                                        <p:tgtEl>
                                          <p:spTgt spid="187"/>
                                        </p:tgtEl>
                                      </p:cBhvr>
                                    </p:animEffect>
                                  </p:childTnLst>
                                </p:cTn>
                              </p:par>
                              <p:par>
                                <p:cTn id="108" presetID="10" presetClass="entr" presetSubtype="0" decel="100000" fill="hold" grpId="0" nodeType="withEffect">
                                  <p:stCondLst>
                                    <p:cond delay="910"/>
                                  </p:stCondLst>
                                  <p:childTnLst>
                                    <p:set>
                                      <p:cBhvr>
                                        <p:cTn id="109" dur="1" fill="hold">
                                          <p:stCondLst>
                                            <p:cond delay="0"/>
                                          </p:stCondLst>
                                        </p:cTn>
                                        <p:tgtEl>
                                          <p:spTgt spid="18"/>
                                        </p:tgtEl>
                                        <p:attrNameLst>
                                          <p:attrName>style.visibility</p:attrName>
                                        </p:attrNameLst>
                                      </p:cBhvr>
                                      <p:to>
                                        <p:strVal val="visible"/>
                                      </p:to>
                                    </p:set>
                                    <p:animEffect transition="in" filter="fade">
                                      <p:cBhvr>
                                        <p:cTn id="110" dur="600"/>
                                        <p:tgtEl>
                                          <p:spTgt spid="18"/>
                                        </p:tgtEl>
                                      </p:cBhvr>
                                    </p:animEffect>
                                  </p:childTnLst>
                                </p:cTn>
                              </p:par>
                              <p:par>
                                <p:cTn id="111" presetID="42" presetClass="entr" presetSubtype="0" decel="100000" fill="hold" grpId="0" nodeType="withEffect">
                                  <p:stCondLst>
                                    <p:cond delay="91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700"/>
                                        <p:tgtEl>
                                          <p:spTgt spid="30"/>
                                        </p:tgtEl>
                                      </p:cBhvr>
                                    </p:animEffect>
                                    <p:anim calcmode="lin" valueType="num">
                                      <p:cBhvr additive="base">
                                        <p:cTn id="114" dur="700" fill="hold"/>
                                        <p:tgtEl>
                                          <p:spTgt spid="30"/>
                                        </p:tgtEl>
                                        <p:attrNameLst>
                                          <p:attrName>ppt_y</p:attrName>
                                        </p:attrNameLst>
                                      </p:cBhvr>
                                      <p:tavLst>
                                        <p:tav tm="0">
                                          <p:val>
                                            <p:strVal val="#ppt_y+0.03"/>
                                          </p:val>
                                        </p:tav>
                                        <p:tav tm="100000">
                                          <p:val>
                                            <p:strVal val="#ppt_y"/>
                                          </p:val>
                                        </p:tav>
                                      </p:tavLst>
                                    </p:anim>
                                  </p:childTnLst>
                                </p:cTn>
                              </p:par>
                              <p:par>
                                <p:cTn id="115" presetID="42" presetClass="entr" presetSubtype="0" decel="100000" fill="hold" grpId="0" nodeType="withEffect">
                                  <p:stCondLst>
                                    <p:cond delay="91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700"/>
                                        <p:tgtEl>
                                          <p:spTgt spid="31"/>
                                        </p:tgtEl>
                                      </p:cBhvr>
                                    </p:animEffect>
                                    <p:anim calcmode="lin" valueType="num">
                                      <p:cBhvr additive="base">
                                        <p:cTn id="118" dur="700" fill="hold"/>
                                        <p:tgtEl>
                                          <p:spTgt spid="31"/>
                                        </p:tgtEl>
                                        <p:attrNameLst>
                                          <p:attrName>ppt_y</p:attrName>
                                        </p:attrNameLst>
                                      </p:cBhvr>
                                      <p:tavLst>
                                        <p:tav tm="0">
                                          <p:val>
                                            <p:strVal val="#ppt_y+0.03"/>
                                          </p:val>
                                        </p:tav>
                                        <p:tav tm="100000">
                                          <p:val>
                                            <p:strVal val="#ppt_y"/>
                                          </p:val>
                                        </p:tav>
                                      </p:tavLst>
                                    </p:anim>
                                  </p:childTnLst>
                                </p:cTn>
                              </p:par>
                              <p:par>
                                <p:cTn id="119" presetID="42" presetClass="entr" presetSubtype="0" decel="100000" fill="hold" grpId="0" nodeType="withEffect">
                                  <p:stCondLst>
                                    <p:cond delay="910"/>
                                  </p:stCondLst>
                                  <p:childTnLst>
                                    <p:set>
                                      <p:cBhvr>
                                        <p:cTn id="120" dur="1" fill="hold">
                                          <p:stCondLst>
                                            <p:cond delay="0"/>
                                          </p:stCondLst>
                                        </p:cTn>
                                        <p:tgtEl>
                                          <p:spTgt spid="32"/>
                                        </p:tgtEl>
                                        <p:attrNameLst>
                                          <p:attrName>style.visibility</p:attrName>
                                        </p:attrNameLst>
                                      </p:cBhvr>
                                      <p:to>
                                        <p:strVal val="visible"/>
                                      </p:to>
                                    </p:set>
                                    <p:animEffect transition="in" filter="fade">
                                      <p:cBhvr>
                                        <p:cTn id="121" dur="700"/>
                                        <p:tgtEl>
                                          <p:spTgt spid="32"/>
                                        </p:tgtEl>
                                      </p:cBhvr>
                                    </p:animEffect>
                                    <p:anim calcmode="lin" valueType="num">
                                      <p:cBhvr additive="base">
                                        <p:cTn id="122" dur="700" fill="hold"/>
                                        <p:tgtEl>
                                          <p:spTgt spid="32"/>
                                        </p:tgtEl>
                                        <p:attrNameLst>
                                          <p:attrName>ppt_y</p:attrName>
                                        </p:attrNameLst>
                                      </p:cBhvr>
                                      <p:tavLst>
                                        <p:tav tm="0">
                                          <p:val>
                                            <p:strVal val="#ppt_y+0.03"/>
                                          </p:val>
                                        </p:tav>
                                        <p:tav tm="100000">
                                          <p:val>
                                            <p:strVal val="#ppt_y"/>
                                          </p:val>
                                        </p:tav>
                                      </p:tavLst>
                                    </p:anim>
                                  </p:childTnLst>
                                </p:cTn>
                              </p:par>
                              <p:par>
                                <p:cTn id="123" presetID="42" presetClass="entr" presetSubtype="0" decel="100000" fill="hold" grpId="0" nodeType="withEffect">
                                  <p:stCondLst>
                                    <p:cond delay="910"/>
                                  </p:stCondLst>
                                  <p:childTnLst>
                                    <p:set>
                                      <p:cBhvr>
                                        <p:cTn id="124" dur="1" fill="hold">
                                          <p:stCondLst>
                                            <p:cond delay="0"/>
                                          </p:stCondLst>
                                        </p:cTn>
                                        <p:tgtEl>
                                          <p:spTgt spid="33"/>
                                        </p:tgtEl>
                                        <p:attrNameLst>
                                          <p:attrName>style.visibility</p:attrName>
                                        </p:attrNameLst>
                                      </p:cBhvr>
                                      <p:to>
                                        <p:strVal val="visible"/>
                                      </p:to>
                                    </p:set>
                                    <p:animEffect transition="in" filter="fade">
                                      <p:cBhvr>
                                        <p:cTn id="125" dur="700"/>
                                        <p:tgtEl>
                                          <p:spTgt spid="33"/>
                                        </p:tgtEl>
                                      </p:cBhvr>
                                    </p:animEffect>
                                    <p:anim calcmode="lin" valueType="num">
                                      <p:cBhvr additive="base">
                                        <p:cTn id="126" dur="700" fill="hold"/>
                                        <p:tgtEl>
                                          <p:spTgt spid="33"/>
                                        </p:tgtEl>
                                        <p:attrNameLst>
                                          <p:attrName>ppt_y</p:attrName>
                                        </p:attrNameLst>
                                      </p:cBhvr>
                                      <p:tavLst>
                                        <p:tav tm="0">
                                          <p:val>
                                            <p:strVal val="#ppt_y+0.03"/>
                                          </p:val>
                                        </p:tav>
                                        <p:tav tm="100000">
                                          <p:val>
                                            <p:strVal val="#ppt_y"/>
                                          </p:val>
                                        </p:tav>
                                      </p:tavLst>
                                    </p:anim>
                                  </p:childTnLst>
                                </p:cTn>
                              </p:par>
                              <p:par>
                                <p:cTn id="127" presetID="42" presetClass="entr" presetSubtype="0" decel="100000" fill="hold" grpId="0" nodeType="withEffect">
                                  <p:stCondLst>
                                    <p:cond delay="910"/>
                                  </p:stCondLst>
                                  <p:childTnLst>
                                    <p:set>
                                      <p:cBhvr>
                                        <p:cTn id="128" dur="1" fill="hold">
                                          <p:stCondLst>
                                            <p:cond delay="0"/>
                                          </p:stCondLst>
                                        </p:cTn>
                                        <p:tgtEl>
                                          <p:spTgt spid="34"/>
                                        </p:tgtEl>
                                        <p:attrNameLst>
                                          <p:attrName>style.visibility</p:attrName>
                                        </p:attrNameLst>
                                      </p:cBhvr>
                                      <p:to>
                                        <p:strVal val="visible"/>
                                      </p:to>
                                    </p:set>
                                    <p:animEffect transition="in" filter="fade">
                                      <p:cBhvr>
                                        <p:cTn id="129" dur="700"/>
                                        <p:tgtEl>
                                          <p:spTgt spid="34"/>
                                        </p:tgtEl>
                                      </p:cBhvr>
                                    </p:animEffect>
                                    <p:anim calcmode="lin" valueType="num">
                                      <p:cBhvr additive="base">
                                        <p:cTn id="130" dur="700" fill="hold"/>
                                        <p:tgtEl>
                                          <p:spTgt spid="34"/>
                                        </p:tgtEl>
                                        <p:attrNameLst>
                                          <p:attrName>ppt_y</p:attrName>
                                        </p:attrNameLst>
                                      </p:cBhvr>
                                      <p:tavLst>
                                        <p:tav tm="0">
                                          <p:val>
                                            <p:strVal val="#ppt_y+0.03"/>
                                          </p:val>
                                        </p:tav>
                                        <p:tav tm="100000">
                                          <p:val>
                                            <p:strVal val="#ppt_y"/>
                                          </p:val>
                                        </p:tav>
                                      </p:tavLst>
                                    </p:anim>
                                  </p:childTnLst>
                                </p:cTn>
                              </p:par>
                              <p:par>
                                <p:cTn id="131" presetID="42" presetClass="entr" presetSubtype="0" decel="100000" fill="hold" grpId="0" nodeType="withEffect">
                                  <p:stCondLst>
                                    <p:cond delay="910"/>
                                  </p:stCondLst>
                                  <p:childTnLst>
                                    <p:set>
                                      <p:cBhvr>
                                        <p:cTn id="132" dur="1" fill="hold">
                                          <p:stCondLst>
                                            <p:cond delay="0"/>
                                          </p:stCondLst>
                                        </p:cTn>
                                        <p:tgtEl>
                                          <p:spTgt spid="35"/>
                                        </p:tgtEl>
                                        <p:attrNameLst>
                                          <p:attrName>style.visibility</p:attrName>
                                        </p:attrNameLst>
                                      </p:cBhvr>
                                      <p:to>
                                        <p:strVal val="visible"/>
                                      </p:to>
                                    </p:set>
                                    <p:animEffect transition="in" filter="fade">
                                      <p:cBhvr>
                                        <p:cTn id="133" dur="700"/>
                                        <p:tgtEl>
                                          <p:spTgt spid="35"/>
                                        </p:tgtEl>
                                      </p:cBhvr>
                                    </p:animEffect>
                                    <p:anim calcmode="lin" valueType="num">
                                      <p:cBhvr additive="base">
                                        <p:cTn id="134" dur="700" fill="hold"/>
                                        <p:tgtEl>
                                          <p:spTgt spid="35"/>
                                        </p:tgtEl>
                                        <p:attrNameLst>
                                          <p:attrName>ppt_y</p:attrName>
                                        </p:attrNameLst>
                                      </p:cBhvr>
                                      <p:tavLst>
                                        <p:tav tm="0">
                                          <p:val>
                                            <p:strVal val="#ppt_y+0.03"/>
                                          </p:val>
                                        </p:tav>
                                        <p:tav tm="100000">
                                          <p:val>
                                            <p:strVal val="#ppt_y"/>
                                          </p:val>
                                        </p:tav>
                                      </p:tavLst>
                                    </p:anim>
                                  </p:childTnLst>
                                </p:cTn>
                              </p:par>
                              <p:par>
                                <p:cTn id="135" presetID="42" presetClass="entr" presetSubtype="0" decel="100000" fill="hold" grpId="0" nodeType="withEffect">
                                  <p:stCondLst>
                                    <p:cond delay="910"/>
                                  </p:stCondLst>
                                  <p:childTnLst>
                                    <p:set>
                                      <p:cBhvr>
                                        <p:cTn id="136" dur="1" fill="hold">
                                          <p:stCondLst>
                                            <p:cond delay="0"/>
                                          </p:stCondLst>
                                        </p:cTn>
                                        <p:tgtEl>
                                          <p:spTgt spid="36"/>
                                        </p:tgtEl>
                                        <p:attrNameLst>
                                          <p:attrName>style.visibility</p:attrName>
                                        </p:attrNameLst>
                                      </p:cBhvr>
                                      <p:to>
                                        <p:strVal val="visible"/>
                                      </p:to>
                                    </p:set>
                                    <p:animEffect transition="in" filter="fade">
                                      <p:cBhvr>
                                        <p:cTn id="137" dur="700"/>
                                        <p:tgtEl>
                                          <p:spTgt spid="36"/>
                                        </p:tgtEl>
                                      </p:cBhvr>
                                    </p:animEffect>
                                    <p:anim calcmode="lin" valueType="num">
                                      <p:cBhvr additive="base">
                                        <p:cTn id="138" dur="700" fill="hold"/>
                                        <p:tgtEl>
                                          <p:spTgt spid="36"/>
                                        </p:tgtEl>
                                        <p:attrNameLst>
                                          <p:attrName>ppt_y</p:attrName>
                                        </p:attrNameLst>
                                      </p:cBhvr>
                                      <p:tavLst>
                                        <p:tav tm="0">
                                          <p:val>
                                            <p:strVal val="#ppt_y+0.03"/>
                                          </p:val>
                                        </p:tav>
                                        <p:tav tm="100000">
                                          <p:val>
                                            <p:strVal val="#ppt_y"/>
                                          </p:val>
                                        </p:tav>
                                      </p:tavLst>
                                    </p:anim>
                                  </p:childTnLst>
                                </p:cTn>
                              </p:par>
                              <p:par>
                                <p:cTn id="139" presetID="42" presetClass="entr" presetSubtype="0" decel="100000" fill="hold" grpId="0" nodeType="withEffect">
                                  <p:stCondLst>
                                    <p:cond delay="910"/>
                                  </p:stCondLst>
                                  <p:childTnLst>
                                    <p:set>
                                      <p:cBhvr>
                                        <p:cTn id="140" dur="1" fill="hold">
                                          <p:stCondLst>
                                            <p:cond delay="0"/>
                                          </p:stCondLst>
                                        </p:cTn>
                                        <p:tgtEl>
                                          <p:spTgt spid="37"/>
                                        </p:tgtEl>
                                        <p:attrNameLst>
                                          <p:attrName>style.visibility</p:attrName>
                                        </p:attrNameLst>
                                      </p:cBhvr>
                                      <p:to>
                                        <p:strVal val="visible"/>
                                      </p:to>
                                    </p:set>
                                    <p:animEffect transition="in" filter="fade">
                                      <p:cBhvr>
                                        <p:cTn id="141" dur="700"/>
                                        <p:tgtEl>
                                          <p:spTgt spid="37"/>
                                        </p:tgtEl>
                                      </p:cBhvr>
                                    </p:animEffect>
                                    <p:anim calcmode="lin" valueType="num">
                                      <p:cBhvr additive="base">
                                        <p:cTn id="142" dur="700" fill="hold"/>
                                        <p:tgtEl>
                                          <p:spTgt spid="37"/>
                                        </p:tgtEl>
                                        <p:attrNameLst>
                                          <p:attrName>ppt_y</p:attrName>
                                        </p:attrNameLst>
                                      </p:cBhvr>
                                      <p:tavLst>
                                        <p:tav tm="0">
                                          <p:val>
                                            <p:strVal val="#ppt_y+0.03"/>
                                          </p:val>
                                        </p:tav>
                                        <p:tav tm="100000">
                                          <p:val>
                                            <p:strVal val="#ppt_y"/>
                                          </p:val>
                                        </p:tav>
                                      </p:tavLst>
                                    </p:anim>
                                  </p:childTnLst>
                                </p:cTn>
                              </p:par>
                              <p:par>
                                <p:cTn id="143" presetID="42" presetClass="entr" presetSubtype="0" decel="100000" fill="hold" grpId="0" nodeType="withEffect">
                                  <p:stCondLst>
                                    <p:cond delay="910"/>
                                  </p:stCondLst>
                                  <p:childTnLst>
                                    <p:set>
                                      <p:cBhvr>
                                        <p:cTn id="144" dur="1" fill="hold">
                                          <p:stCondLst>
                                            <p:cond delay="0"/>
                                          </p:stCondLst>
                                        </p:cTn>
                                        <p:tgtEl>
                                          <p:spTgt spid="38"/>
                                        </p:tgtEl>
                                        <p:attrNameLst>
                                          <p:attrName>style.visibility</p:attrName>
                                        </p:attrNameLst>
                                      </p:cBhvr>
                                      <p:to>
                                        <p:strVal val="visible"/>
                                      </p:to>
                                    </p:set>
                                    <p:animEffect transition="in" filter="fade">
                                      <p:cBhvr>
                                        <p:cTn id="145" dur="700"/>
                                        <p:tgtEl>
                                          <p:spTgt spid="38"/>
                                        </p:tgtEl>
                                      </p:cBhvr>
                                    </p:animEffect>
                                    <p:anim calcmode="lin" valueType="num">
                                      <p:cBhvr additive="base">
                                        <p:cTn id="146" dur="700" fill="hold"/>
                                        <p:tgtEl>
                                          <p:spTgt spid="38"/>
                                        </p:tgtEl>
                                        <p:attrNameLst>
                                          <p:attrName>ppt_y</p:attrName>
                                        </p:attrNameLst>
                                      </p:cBhvr>
                                      <p:tavLst>
                                        <p:tav tm="0">
                                          <p:val>
                                            <p:strVal val="#ppt_y+0.03"/>
                                          </p:val>
                                        </p:tav>
                                        <p:tav tm="100000">
                                          <p:val>
                                            <p:strVal val="#ppt_y"/>
                                          </p:val>
                                        </p:tav>
                                      </p:tavLst>
                                    </p:anim>
                                  </p:childTnLst>
                                </p:cTn>
                              </p:par>
                              <p:par>
                                <p:cTn id="147" presetID="42" presetClass="entr" presetSubtype="0" decel="100000" fill="hold" grpId="0" nodeType="withEffect">
                                  <p:stCondLst>
                                    <p:cond delay="910"/>
                                  </p:stCondLst>
                                  <p:childTnLst>
                                    <p:set>
                                      <p:cBhvr>
                                        <p:cTn id="148" dur="1" fill="hold">
                                          <p:stCondLst>
                                            <p:cond delay="0"/>
                                          </p:stCondLst>
                                        </p:cTn>
                                        <p:tgtEl>
                                          <p:spTgt spid="39"/>
                                        </p:tgtEl>
                                        <p:attrNameLst>
                                          <p:attrName>style.visibility</p:attrName>
                                        </p:attrNameLst>
                                      </p:cBhvr>
                                      <p:to>
                                        <p:strVal val="visible"/>
                                      </p:to>
                                    </p:set>
                                    <p:animEffect transition="in" filter="fade">
                                      <p:cBhvr>
                                        <p:cTn id="149" dur="700"/>
                                        <p:tgtEl>
                                          <p:spTgt spid="39"/>
                                        </p:tgtEl>
                                      </p:cBhvr>
                                    </p:animEffect>
                                    <p:anim calcmode="lin" valueType="num">
                                      <p:cBhvr additive="base">
                                        <p:cTn id="150" dur="700" fill="hold"/>
                                        <p:tgtEl>
                                          <p:spTgt spid="39"/>
                                        </p:tgtEl>
                                        <p:attrNameLst>
                                          <p:attrName>ppt_y</p:attrName>
                                        </p:attrNameLst>
                                      </p:cBhvr>
                                      <p:tavLst>
                                        <p:tav tm="0">
                                          <p:val>
                                            <p:strVal val="#ppt_y+0.03"/>
                                          </p:val>
                                        </p:tav>
                                        <p:tav tm="100000">
                                          <p:val>
                                            <p:strVal val="#ppt_y"/>
                                          </p:val>
                                        </p:tav>
                                      </p:tavLst>
                                    </p:anim>
                                  </p:childTnLst>
                                </p:cTn>
                              </p:par>
                              <p:par>
                                <p:cTn id="151" presetID="42" presetClass="entr" presetSubtype="0" decel="100000" fill="hold" grpId="0" nodeType="withEffect">
                                  <p:stCondLst>
                                    <p:cond delay="1130"/>
                                  </p:stCondLst>
                                  <p:childTnLst>
                                    <p:set>
                                      <p:cBhvr>
                                        <p:cTn id="152" dur="1" fill="hold">
                                          <p:stCondLst>
                                            <p:cond delay="0"/>
                                          </p:stCondLst>
                                        </p:cTn>
                                        <p:tgtEl>
                                          <p:spTgt spid="40"/>
                                        </p:tgtEl>
                                        <p:attrNameLst>
                                          <p:attrName>style.visibility</p:attrName>
                                        </p:attrNameLst>
                                      </p:cBhvr>
                                      <p:to>
                                        <p:strVal val="visible"/>
                                      </p:to>
                                    </p:set>
                                    <p:animEffect transition="in" filter="fade">
                                      <p:cBhvr>
                                        <p:cTn id="153" dur="700"/>
                                        <p:tgtEl>
                                          <p:spTgt spid="40"/>
                                        </p:tgtEl>
                                      </p:cBhvr>
                                    </p:animEffect>
                                    <p:anim calcmode="lin" valueType="num">
                                      <p:cBhvr additive="base">
                                        <p:cTn id="154" dur="700" fill="hold"/>
                                        <p:tgtEl>
                                          <p:spTgt spid="40"/>
                                        </p:tgtEl>
                                        <p:attrNameLst>
                                          <p:attrName>ppt_y</p:attrName>
                                        </p:attrNameLst>
                                      </p:cBhvr>
                                      <p:tavLst>
                                        <p:tav tm="0">
                                          <p:val>
                                            <p:strVal val="#ppt_y+0.03"/>
                                          </p:val>
                                        </p:tav>
                                        <p:tav tm="100000">
                                          <p:val>
                                            <p:strVal val="#ppt_y"/>
                                          </p:val>
                                        </p:tav>
                                      </p:tavLst>
                                    </p:anim>
                                  </p:childTnLst>
                                </p:cTn>
                              </p:par>
                              <p:par>
                                <p:cTn id="155" presetID="42" presetClass="entr" presetSubtype="0" decel="100000" fill="hold" grpId="0" nodeType="withEffect">
                                  <p:stCondLst>
                                    <p:cond delay="113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700"/>
                                        <p:tgtEl>
                                          <p:spTgt spid="41"/>
                                        </p:tgtEl>
                                      </p:cBhvr>
                                    </p:animEffect>
                                    <p:anim calcmode="lin" valueType="num">
                                      <p:cBhvr additive="base">
                                        <p:cTn id="158" dur="700" fill="hold"/>
                                        <p:tgtEl>
                                          <p:spTgt spid="41"/>
                                        </p:tgtEl>
                                        <p:attrNameLst>
                                          <p:attrName>ppt_y</p:attrName>
                                        </p:attrNameLst>
                                      </p:cBhvr>
                                      <p:tavLst>
                                        <p:tav tm="0">
                                          <p:val>
                                            <p:strVal val="#ppt_y+0.03"/>
                                          </p:val>
                                        </p:tav>
                                        <p:tav tm="100000">
                                          <p:val>
                                            <p:strVal val="#ppt_y"/>
                                          </p:val>
                                        </p:tav>
                                      </p:tavLst>
                                    </p:anim>
                                  </p:childTnLst>
                                </p:cTn>
                              </p:par>
                              <p:par>
                                <p:cTn id="159" presetID="42" presetClass="entr" presetSubtype="0" decel="100000" fill="hold" grpId="0" nodeType="withEffect">
                                  <p:stCondLst>
                                    <p:cond delay="1130"/>
                                  </p:stCondLst>
                                  <p:childTnLst>
                                    <p:set>
                                      <p:cBhvr>
                                        <p:cTn id="160" dur="1" fill="hold">
                                          <p:stCondLst>
                                            <p:cond delay="0"/>
                                          </p:stCondLst>
                                        </p:cTn>
                                        <p:tgtEl>
                                          <p:spTgt spid="42"/>
                                        </p:tgtEl>
                                        <p:attrNameLst>
                                          <p:attrName>style.visibility</p:attrName>
                                        </p:attrNameLst>
                                      </p:cBhvr>
                                      <p:to>
                                        <p:strVal val="visible"/>
                                      </p:to>
                                    </p:set>
                                    <p:animEffect transition="in" filter="fade">
                                      <p:cBhvr>
                                        <p:cTn id="161" dur="700"/>
                                        <p:tgtEl>
                                          <p:spTgt spid="42"/>
                                        </p:tgtEl>
                                      </p:cBhvr>
                                    </p:animEffect>
                                    <p:anim calcmode="lin" valueType="num">
                                      <p:cBhvr additive="base">
                                        <p:cTn id="162" dur="700" fill="hold"/>
                                        <p:tgtEl>
                                          <p:spTgt spid="42"/>
                                        </p:tgtEl>
                                        <p:attrNameLst>
                                          <p:attrName>ppt_y</p:attrName>
                                        </p:attrNameLst>
                                      </p:cBhvr>
                                      <p:tavLst>
                                        <p:tav tm="0">
                                          <p:val>
                                            <p:strVal val="#ppt_y+0.03"/>
                                          </p:val>
                                        </p:tav>
                                        <p:tav tm="100000">
                                          <p:val>
                                            <p:strVal val="#ppt_y"/>
                                          </p:val>
                                        </p:tav>
                                      </p:tavLst>
                                    </p:anim>
                                  </p:childTnLst>
                                </p:cTn>
                              </p:par>
                              <p:par>
                                <p:cTn id="163" presetID="42" presetClass="entr" presetSubtype="0" decel="100000" fill="hold" grpId="0" nodeType="withEffect">
                                  <p:stCondLst>
                                    <p:cond delay="1130"/>
                                  </p:stCondLst>
                                  <p:childTnLst>
                                    <p:set>
                                      <p:cBhvr>
                                        <p:cTn id="164" dur="1" fill="hold">
                                          <p:stCondLst>
                                            <p:cond delay="0"/>
                                          </p:stCondLst>
                                        </p:cTn>
                                        <p:tgtEl>
                                          <p:spTgt spid="43"/>
                                        </p:tgtEl>
                                        <p:attrNameLst>
                                          <p:attrName>style.visibility</p:attrName>
                                        </p:attrNameLst>
                                      </p:cBhvr>
                                      <p:to>
                                        <p:strVal val="visible"/>
                                      </p:to>
                                    </p:set>
                                    <p:animEffect transition="in" filter="fade">
                                      <p:cBhvr>
                                        <p:cTn id="165" dur="700"/>
                                        <p:tgtEl>
                                          <p:spTgt spid="43"/>
                                        </p:tgtEl>
                                      </p:cBhvr>
                                    </p:animEffect>
                                    <p:anim calcmode="lin" valueType="num">
                                      <p:cBhvr additive="base">
                                        <p:cTn id="166" dur="700" fill="hold"/>
                                        <p:tgtEl>
                                          <p:spTgt spid="43"/>
                                        </p:tgtEl>
                                        <p:attrNameLst>
                                          <p:attrName>ppt_y</p:attrName>
                                        </p:attrNameLst>
                                      </p:cBhvr>
                                      <p:tavLst>
                                        <p:tav tm="0">
                                          <p:val>
                                            <p:strVal val="#ppt_y+0.03"/>
                                          </p:val>
                                        </p:tav>
                                        <p:tav tm="100000">
                                          <p:val>
                                            <p:strVal val="#ppt_y"/>
                                          </p:val>
                                        </p:tav>
                                      </p:tavLst>
                                    </p:anim>
                                  </p:childTnLst>
                                </p:cTn>
                              </p:par>
                              <p:par>
                                <p:cTn id="167" presetID="42" presetClass="entr" presetSubtype="0" decel="100000" fill="hold" grpId="0" nodeType="withEffect">
                                  <p:stCondLst>
                                    <p:cond delay="1130"/>
                                  </p:stCondLst>
                                  <p:childTnLst>
                                    <p:set>
                                      <p:cBhvr>
                                        <p:cTn id="168" dur="1" fill="hold">
                                          <p:stCondLst>
                                            <p:cond delay="0"/>
                                          </p:stCondLst>
                                        </p:cTn>
                                        <p:tgtEl>
                                          <p:spTgt spid="44"/>
                                        </p:tgtEl>
                                        <p:attrNameLst>
                                          <p:attrName>style.visibility</p:attrName>
                                        </p:attrNameLst>
                                      </p:cBhvr>
                                      <p:to>
                                        <p:strVal val="visible"/>
                                      </p:to>
                                    </p:set>
                                    <p:animEffect transition="in" filter="fade">
                                      <p:cBhvr>
                                        <p:cTn id="169" dur="700"/>
                                        <p:tgtEl>
                                          <p:spTgt spid="44"/>
                                        </p:tgtEl>
                                      </p:cBhvr>
                                    </p:animEffect>
                                    <p:anim calcmode="lin" valueType="num">
                                      <p:cBhvr additive="base">
                                        <p:cTn id="170" dur="700" fill="hold"/>
                                        <p:tgtEl>
                                          <p:spTgt spid="44"/>
                                        </p:tgtEl>
                                        <p:attrNameLst>
                                          <p:attrName>ppt_y</p:attrName>
                                        </p:attrNameLst>
                                      </p:cBhvr>
                                      <p:tavLst>
                                        <p:tav tm="0">
                                          <p:val>
                                            <p:strVal val="#ppt_y+0.03"/>
                                          </p:val>
                                        </p:tav>
                                        <p:tav tm="100000">
                                          <p:val>
                                            <p:strVal val="#ppt_y"/>
                                          </p:val>
                                        </p:tav>
                                      </p:tavLst>
                                    </p:anim>
                                  </p:childTnLst>
                                </p:cTn>
                              </p:par>
                              <p:par>
                                <p:cTn id="171" presetID="42" presetClass="entr" presetSubtype="0" decel="100000" fill="hold" grpId="0" nodeType="withEffect">
                                  <p:stCondLst>
                                    <p:cond delay="1130"/>
                                  </p:stCondLst>
                                  <p:childTnLst>
                                    <p:set>
                                      <p:cBhvr>
                                        <p:cTn id="172" dur="1" fill="hold">
                                          <p:stCondLst>
                                            <p:cond delay="0"/>
                                          </p:stCondLst>
                                        </p:cTn>
                                        <p:tgtEl>
                                          <p:spTgt spid="45"/>
                                        </p:tgtEl>
                                        <p:attrNameLst>
                                          <p:attrName>style.visibility</p:attrName>
                                        </p:attrNameLst>
                                      </p:cBhvr>
                                      <p:to>
                                        <p:strVal val="visible"/>
                                      </p:to>
                                    </p:set>
                                    <p:animEffect transition="in" filter="fade">
                                      <p:cBhvr>
                                        <p:cTn id="173" dur="700"/>
                                        <p:tgtEl>
                                          <p:spTgt spid="45"/>
                                        </p:tgtEl>
                                      </p:cBhvr>
                                    </p:animEffect>
                                    <p:anim calcmode="lin" valueType="num">
                                      <p:cBhvr additive="base">
                                        <p:cTn id="174" dur="700" fill="hold"/>
                                        <p:tgtEl>
                                          <p:spTgt spid="45"/>
                                        </p:tgtEl>
                                        <p:attrNameLst>
                                          <p:attrName>ppt_y</p:attrName>
                                        </p:attrNameLst>
                                      </p:cBhvr>
                                      <p:tavLst>
                                        <p:tav tm="0">
                                          <p:val>
                                            <p:strVal val="#ppt_y+0.03"/>
                                          </p:val>
                                        </p:tav>
                                        <p:tav tm="100000">
                                          <p:val>
                                            <p:strVal val="#ppt_y"/>
                                          </p:val>
                                        </p:tav>
                                      </p:tavLst>
                                    </p:anim>
                                  </p:childTnLst>
                                </p:cTn>
                              </p:par>
                              <p:par>
                                <p:cTn id="175" presetID="42" presetClass="entr" presetSubtype="0" decel="100000" fill="hold" grpId="0" nodeType="withEffect">
                                  <p:stCondLst>
                                    <p:cond delay="1130"/>
                                  </p:stCondLst>
                                  <p:childTnLst>
                                    <p:set>
                                      <p:cBhvr>
                                        <p:cTn id="176" dur="1" fill="hold">
                                          <p:stCondLst>
                                            <p:cond delay="0"/>
                                          </p:stCondLst>
                                        </p:cTn>
                                        <p:tgtEl>
                                          <p:spTgt spid="46"/>
                                        </p:tgtEl>
                                        <p:attrNameLst>
                                          <p:attrName>style.visibility</p:attrName>
                                        </p:attrNameLst>
                                      </p:cBhvr>
                                      <p:to>
                                        <p:strVal val="visible"/>
                                      </p:to>
                                    </p:set>
                                    <p:animEffect transition="in" filter="fade">
                                      <p:cBhvr>
                                        <p:cTn id="177" dur="700"/>
                                        <p:tgtEl>
                                          <p:spTgt spid="46"/>
                                        </p:tgtEl>
                                      </p:cBhvr>
                                    </p:animEffect>
                                    <p:anim calcmode="lin" valueType="num">
                                      <p:cBhvr additive="base">
                                        <p:cTn id="178" dur="700" fill="hold"/>
                                        <p:tgtEl>
                                          <p:spTgt spid="46"/>
                                        </p:tgtEl>
                                        <p:attrNameLst>
                                          <p:attrName>ppt_y</p:attrName>
                                        </p:attrNameLst>
                                      </p:cBhvr>
                                      <p:tavLst>
                                        <p:tav tm="0">
                                          <p:val>
                                            <p:strVal val="#ppt_y+0.03"/>
                                          </p:val>
                                        </p:tav>
                                        <p:tav tm="100000">
                                          <p:val>
                                            <p:strVal val="#ppt_y"/>
                                          </p:val>
                                        </p:tav>
                                      </p:tavLst>
                                    </p:anim>
                                  </p:childTnLst>
                                </p:cTn>
                              </p:par>
                              <p:par>
                                <p:cTn id="179" presetID="42" presetClass="entr" presetSubtype="0" decel="100000" fill="hold" grpId="0" nodeType="withEffect">
                                  <p:stCondLst>
                                    <p:cond delay="1130"/>
                                  </p:stCondLst>
                                  <p:childTnLst>
                                    <p:set>
                                      <p:cBhvr>
                                        <p:cTn id="180" dur="1" fill="hold">
                                          <p:stCondLst>
                                            <p:cond delay="0"/>
                                          </p:stCondLst>
                                        </p:cTn>
                                        <p:tgtEl>
                                          <p:spTgt spid="47"/>
                                        </p:tgtEl>
                                        <p:attrNameLst>
                                          <p:attrName>style.visibility</p:attrName>
                                        </p:attrNameLst>
                                      </p:cBhvr>
                                      <p:to>
                                        <p:strVal val="visible"/>
                                      </p:to>
                                    </p:set>
                                    <p:animEffect transition="in" filter="fade">
                                      <p:cBhvr>
                                        <p:cTn id="181" dur="700"/>
                                        <p:tgtEl>
                                          <p:spTgt spid="47"/>
                                        </p:tgtEl>
                                      </p:cBhvr>
                                    </p:animEffect>
                                    <p:anim calcmode="lin" valueType="num">
                                      <p:cBhvr additive="base">
                                        <p:cTn id="182" dur="700" fill="hold"/>
                                        <p:tgtEl>
                                          <p:spTgt spid="47"/>
                                        </p:tgtEl>
                                        <p:attrNameLst>
                                          <p:attrName>ppt_y</p:attrName>
                                        </p:attrNameLst>
                                      </p:cBhvr>
                                      <p:tavLst>
                                        <p:tav tm="0">
                                          <p:val>
                                            <p:strVal val="#ppt_y+0.03"/>
                                          </p:val>
                                        </p:tav>
                                        <p:tav tm="100000">
                                          <p:val>
                                            <p:strVal val="#ppt_y"/>
                                          </p:val>
                                        </p:tav>
                                      </p:tavLst>
                                    </p:anim>
                                  </p:childTnLst>
                                </p:cTn>
                              </p:par>
                              <p:par>
                                <p:cTn id="183" presetID="42" presetClass="entr" presetSubtype="0" decel="100000" fill="hold" grpId="0" nodeType="withEffect">
                                  <p:stCondLst>
                                    <p:cond delay="1130"/>
                                  </p:stCondLst>
                                  <p:childTnLst>
                                    <p:set>
                                      <p:cBhvr>
                                        <p:cTn id="184" dur="1" fill="hold">
                                          <p:stCondLst>
                                            <p:cond delay="0"/>
                                          </p:stCondLst>
                                        </p:cTn>
                                        <p:tgtEl>
                                          <p:spTgt spid="48"/>
                                        </p:tgtEl>
                                        <p:attrNameLst>
                                          <p:attrName>style.visibility</p:attrName>
                                        </p:attrNameLst>
                                      </p:cBhvr>
                                      <p:to>
                                        <p:strVal val="visible"/>
                                      </p:to>
                                    </p:set>
                                    <p:animEffect transition="in" filter="fade">
                                      <p:cBhvr>
                                        <p:cTn id="185" dur="700"/>
                                        <p:tgtEl>
                                          <p:spTgt spid="48"/>
                                        </p:tgtEl>
                                      </p:cBhvr>
                                    </p:animEffect>
                                    <p:anim calcmode="lin" valueType="num">
                                      <p:cBhvr additive="base">
                                        <p:cTn id="186" dur="700" fill="hold"/>
                                        <p:tgtEl>
                                          <p:spTgt spid="48"/>
                                        </p:tgtEl>
                                        <p:attrNameLst>
                                          <p:attrName>ppt_y</p:attrName>
                                        </p:attrNameLst>
                                      </p:cBhvr>
                                      <p:tavLst>
                                        <p:tav tm="0">
                                          <p:val>
                                            <p:strVal val="#ppt_y+0.03"/>
                                          </p:val>
                                        </p:tav>
                                        <p:tav tm="100000">
                                          <p:val>
                                            <p:strVal val="#ppt_y"/>
                                          </p:val>
                                        </p:tav>
                                      </p:tavLst>
                                    </p:anim>
                                  </p:childTnLst>
                                </p:cTn>
                              </p:par>
                              <p:par>
                                <p:cTn id="187" presetID="42" presetClass="entr" presetSubtype="0" decel="100000" fill="hold" grpId="0" nodeType="withEffect">
                                  <p:stCondLst>
                                    <p:cond delay="1130"/>
                                  </p:stCondLst>
                                  <p:childTnLst>
                                    <p:set>
                                      <p:cBhvr>
                                        <p:cTn id="188" dur="1" fill="hold">
                                          <p:stCondLst>
                                            <p:cond delay="0"/>
                                          </p:stCondLst>
                                        </p:cTn>
                                        <p:tgtEl>
                                          <p:spTgt spid="49"/>
                                        </p:tgtEl>
                                        <p:attrNameLst>
                                          <p:attrName>style.visibility</p:attrName>
                                        </p:attrNameLst>
                                      </p:cBhvr>
                                      <p:to>
                                        <p:strVal val="visible"/>
                                      </p:to>
                                    </p:set>
                                    <p:animEffect transition="in" filter="fade">
                                      <p:cBhvr>
                                        <p:cTn id="189" dur="700"/>
                                        <p:tgtEl>
                                          <p:spTgt spid="49"/>
                                        </p:tgtEl>
                                      </p:cBhvr>
                                    </p:animEffect>
                                    <p:anim calcmode="lin" valueType="num">
                                      <p:cBhvr additive="base">
                                        <p:cTn id="190" dur="700" fill="hold"/>
                                        <p:tgtEl>
                                          <p:spTgt spid="49"/>
                                        </p:tgtEl>
                                        <p:attrNameLst>
                                          <p:attrName>ppt_y</p:attrName>
                                        </p:attrNameLst>
                                      </p:cBhvr>
                                      <p:tavLst>
                                        <p:tav tm="0">
                                          <p:val>
                                            <p:strVal val="#ppt_y+0.03"/>
                                          </p:val>
                                        </p:tav>
                                        <p:tav tm="100000">
                                          <p:val>
                                            <p:strVal val="#ppt_y"/>
                                          </p:val>
                                        </p:tav>
                                      </p:tavLst>
                                    </p:anim>
                                  </p:childTnLst>
                                </p:cTn>
                              </p:par>
                              <p:par>
                                <p:cTn id="191" presetID="42" presetClass="entr" presetSubtype="0" decel="100000" fill="hold" grpId="0" nodeType="withEffect">
                                  <p:stCondLst>
                                    <p:cond delay="1350"/>
                                  </p:stCondLst>
                                  <p:childTnLst>
                                    <p:set>
                                      <p:cBhvr>
                                        <p:cTn id="192" dur="1" fill="hold">
                                          <p:stCondLst>
                                            <p:cond delay="0"/>
                                          </p:stCondLst>
                                        </p:cTn>
                                        <p:tgtEl>
                                          <p:spTgt spid="50"/>
                                        </p:tgtEl>
                                        <p:attrNameLst>
                                          <p:attrName>style.visibility</p:attrName>
                                        </p:attrNameLst>
                                      </p:cBhvr>
                                      <p:to>
                                        <p:strVal val="visible"/>
                                      </p:to>
                                    </p:set>
                                    <p:animEffect transition="in" filter="fade">
                                      <p:cBhvr>
                                        <p:cTn id="193" dur="700"/>
                                        <p:tgtEl>
                                          <p:spTgt spid="50"/>
                                        </p:tgtEl>
                                      </p:cBhvr>
                                    </p:animEffect>
                                    <p:anim calcmode="lin" valueType="num">
                                      <p:cBhvr additive="base">
                                        <p:cTn id="194" dur="700" fill="hold"/>
                                        <p:tgtEl>
                                          <p:spTgt spid="50"/>
                                        </p:tgtEl>
                                        <p:attrNameLst>
                                          <p:attrName>ppt_y</p:attrName>
                                        </p:attrNameLst>
                                      </p:cBhvr>
                                      <p:tavLst>
                                        <p:tav tm="0">
                                          <p:val>
                                            <p:strVal val="#ppt_y+0.03"/>
                                          </p:val>
                                        </p:tav>
                                        <p:tav tm="100000">
                                          <p:val>
                                            <p:strVal val="#ppt_y"/>
                                          </p:val>
                                        </p:tav>
                                      </p:tavLst>
                                    </p:anim>
                                  </p:childTnLst>
                                </p:cTn>
                              </p:par>
                              <p:par>
                                <p:cTn id="195" presetID="42" presetClass="entr" presetSubtype="0" decel="100000" fill="hold" grpId="0" nodeType="withEffect">
                                  <p:stCondLst>
                                    <p:cond delay="1350"/>
                                  </p:stCondLst>
                                  <p:childTnLst>
                                    <p:set>
                                      <p:cBhvr>
                                        <p:cTn id="196" dur="1" fill="hold">
                                          <p:stCondLst>
                                            <p:cond delay="0"/>
                                          </p:stCondLst>
                                        </p:cTn>
                                        <p:tgtEl>
                                          <p:spTgt spid="51"/>
                                        </p:tgtEl>
                                        <p:attrNameLst>
                                          <p:attrName>style.visibility</p:attrName>
                                        </p:attrNameLst>
                                      </p:cBhvr>
                                      <p:to>
                                        <p:strVal val="visible"/>
                                      </p:to>
                                    </p:set>
                                    <p:animEffect transition="in" filter="fade">
                                      <p:cBhvr>
                                        <p:cTn id="197" dur="700"/>
                                        <p:tgtEl>
                                          <p:spTgt spid="51"/>
                                        </p:tgtEl>
                                      </p:cBhvr>
                                    </p:animEffect>
                                    <p:anim calcmode="lin" valueType="num">
                                      <p:cBhvr additive="base">
                                        <p:cTn id="198" dur="700" fill="hold"/>
                                        <p:tgtEl>
                                          <p:spTgt spid="51"/>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animBg="1"/>
      <p:bldP spid="26" grpId="0" animBg="1"/>
      <p:bldP spid="27" grpId="0"/>
      <p:bldP spid="28" grpId="0" animBg="1"/>
      <p:bldP spid="29" grpId="0" animBg="1"/>
      <p:bldP spid="30" grpId="0" animBg="1"/>
      <p:bldP spid="31" grpId="0" animBg="1"/>
      <p:bldP spid="32" grpId="0"/>
      <p:bldP spid="33" grpId="0" animBg="1"/>
      <p:bldP spid="34" grpId="0" animBg="1"/>
      <p:bldP spid="35" grpId="0" animBg="1"/>
      <p:bldP spid="36" grpId="0" animBg="1"/>
      <p:bldP spid="37" grpId="0"/>
      <p:bldP spid="38" grpId="0" animBg="1"/>
      <p:bldP spid="39" grpId="0" animBg="1"/>
      <p:bldP spid="40" grpId="0" animBg="1"/>
      <p:bldP spid="41" grpId="0" animBg="1"/>
      <p:bldP spid="42" grpId="0"/>
      <p:bldP spid="43" grpId="0" animBg="1"/>
      <p:bldP spid="44" grpId="0" animBg="1"/>
      <p:bldP spid="45" grpId="0" animBg="1"/>
      <p:bldP spid="46" grpId="0" animBg="1"/>
      <p:bldP spid="47" grpId="0"/>
      <p:bldP spid="48" grpId="0" animBg="1"/>
      <p:bldP spid="49" grpId="0" animBg="1"/>
      <p:bldP spid="50" grpId="0" animBg="1"/>
      <p:bldP spid="51" grpId="0" animBg="1"/>
      <p:bldP spid="186" grpId="0" animBg="1"/>
      <p:bldP spid="187" grpId="0" animBg="1"/>
      <p:bldP spid="18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01168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286000" y="384048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THE PROBLEM</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Restoration is scaling faster than monitoring</a:t>
            </a:r>
            <a:endParaRPr lang="en-US" sz="3400" dirty="0"/>
          </a:p>
        </p:txBody>
      </p:sp>
      <p:sp>
        <p:nvSpPr>
          <p:cNvPr id="7" name="a1float_s0"/>
          <p:cNvSpPr/>
          <p:nvPr/>
        </p:nvSpPr>
        <p:spPr>
          <a:xfrm>
            <a:off x="548640" y="1691640"/>
            <a:ext cx="5394960" cy="760000"/>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s0n"/>
          <p:cNvSpPr txBox="1"/>
          <p:nvPr/>
        </p:nvSpPr>
        <p:spPr>
          <a:xfrm>
            <a:off x="777240" y="1741640"/>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100 M</a:t>
            </a:r>
            <a:endParaRPr lang="en-US" sz="3200" dirty="0"/>
          </a:p>
        </p:txBody>
      </p:sp>
      <p:sp>
        <p:nvSpPr>
          <p:cNvPr id="9" name="a1float_s0t"/>
          <p:cNvSpPr txBox="1"/>
          <p:nvPr/>
        </p:nvSpPr>
        <p:spPr>
          <a:xfrm>
            <a:off x="2743200" y="1771640"/>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UAE mangrove pledge by 2030</a:t>
            </a:r>
            <a:endParaRPr lang="en-US" sz="1400" dirty="0"/>
          </a:p>
        </p:txBody>
      </p:sp>
      <p:sp>
        <p:nvSpPr>
          <p:cNvPr id="10" name="a1float_s0c"/>
          <p:cNvSpPr txBox="1"/>
          <p:nvPr/>
        </p:nvSpPr>
        <p:spPr>
          <a:xfrm>
            <a:off x="2743200" y="2111640"/>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COP26, 2021 · Abu Dhabi Mangrove Initiative</a:t>
            </a:r>
            <a:endParaRPr lang="en-US" sz="1100" dirty="0"/>
          </a:p>
        </p:txBody>
      </p:sp>
      <p:sp>
        <p:nvSpPr>
          <p:cNvPr id="11" name="a2float_s1"/>
          <p:cNvSpPr/>
          <p:nvPr/>
        </p:nvSpPr>
        <p:spPr>
          <a:xfrm>
            <a:off x="548640" y="2533640"/>
            <a:ext cx="5394960" cy="760000"/>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2" name="a2float_s1n"/>
          <p:cNvSpPr txBox="1"/>
          <p:nvPr/>
        </p:nvSpPr>
        <p:spPr>
          <a:xfrm>
            <a:off x="777240" y="2583640"/>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100 M+</a:t>
            </a:r>
            <a:endParaRPr lang="en-US" sz="3200" dirty="0"/>
          </a:p>
        </p:txBody>
      </p:sp>
      <p:sp>
        <p:nvSpPr>
          <p:cNvPr id="13" name="a2float_s1t"/>
          <p:cNvSpPr txBox="1"/>
          <p:nvPr/>
        </p:nvSpPr>
        <p:spPr>
          <a:xfrm>
            <a:off x="2743200" y="2613640"/>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Saudi mangrove pledge by 2030</a:t>
            </a:r>
            <a:endParaRPr lang="en-US" sz="1400" dirty="0"/>
          </a:p>
        </p:txBody>
      </p:sp>
      <p:sp>
        <p:nvSpPr>
          <p:cNvPr id="14" name="a2float_s1c"/>
          <p:cNvSpPr txBox="1"/>
          <p:nvPr/>
        </p:nvSpPr>
        <p:spPr>
          <a:xfrm>
            <a:off x="2743200" y="2953640"/>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Saudi Green Initiative</a:t>
            </a:r>
            <a:endParaRPr lang="en-US" sz="1100" dirty="0"/>
          </a:p>
        </p:txBody>
      </p:sp>
      <p:sp>
        <p:nvSpPr>
          <p:cNvPr id="15" name="a3float_s2"/>
          <p:cNvSpPr/>
          <p:nvPr/>
        </p:nvSpPr>
        <p:spPr>
          <a:xfrm>
            <a:off x="548640" y="3375640"/>
            <a:ext cx="5394960" cy="760000"/>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6" name="a3float_s2n"/>
          <p:cNvSpPr txBox="1"/>
          <p:nvPr/>
        </p:nvSpPr>
        <p:spPr>
          <a:xfrm>
            <a:off x="777240" y="3425640"/>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×4</a:t>
            </a:r>
            <a:endParaRPr lang="en-US" sz="3200" dirty="0"/>
          </a:p>
        </p:txBody>
      </p:sp>
      <p:sp>
        <p:nvSpPr>
          <p:cNvPr id="17" name="a3float_s2t"/>
          <p:cNvSpPr txBox="1"/>
          <p:nvPr/>
        </p:nvSpPr>
        <p:spPr>
          <a:xfrm>
            <a:off x="2743200" y="3455640"/>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Bahrain mangrove pledge by 2035</a:t>
            </a:r>
            <a:endParaRPr lang="en-US" sz="1400" dirty="0"/>
          </a:p>
        </p:txBody>
      </p:sp>
      <p:sp>
        <p:nvSpPr>
          <p:cNvPr id="18" name="a3float_s2c"/>
          <p:cNvSpPr txBox="1"/>
          <p:nvPr/>
        </p:nvSpPr>
        <p:spPr>
          <a:xfrm>
            <a:off x="2743200" y="3795640"/>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COP26, 2021 · national net-zero path</a:t>
            </a:r>
            <a:endParaRPr lang="en-US" sz="1100" dirty="0"/>
          </a:p>
        </p:txBody>
      </p:sp>
      <p:sp>
        <p:nvSpPr>
          <p:cNvPr id="19" name="a4float_today"/>
          <p:cNvSpPr/>
          <p:nvPr/>
        </p:nvSpPr>
        <p:spPr>
          <a:xfrm>
            <a:off x="548640" y="5074920"/>
            <a:ext cx="5394960" cy="1097280"/>
          </a:xfrm>
          <a:prstGeom prst="roundRect">
            <a:avLst>
              <a:gd name="adj" fmla="val 11667"/>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0" name="a4float_todayt"/>
          <p:cNvSpPr txBox="1"/>
          <p:nvPr/>
        </p:nvSpPr>
        <p:spPr>
          <a:xfrm>
            <a:off x="777240" y="5120640"/>
            <a:ext cx="4983480" cy="1005840"/>
          </a:xfrm>
          <a:prstGeom prst="rect">
            <a:avLst/>
          </a:prstGeom>
          <a:noFill/>
          <a:ln/>
        </p:spPr>
        <p:txBody>
          <a:bodyPr wrap="square" lIns="0" tIns="0" rIns="0" bIns="0" rtlCol="0" anchor="ctr"/>
          <a:lstStyle/>
          <a:p>
            <a:pPr marL="0" indent="0" algn="l">
              <a:lnSpc>
                <a:spcPct val="115000"/>
              </a:lnSpc>
              <a:buNone/>
            </a:pPr>
            <a:r>
              <a:rPr lang="en-US" sz="1300" b="1" dirty="0">
                <a:solidFill>
                  <a:srgbClr val="BE5F6D"/>
                </a:solidFill>
                <a:latin typeface="Segoe UI Semibold" pitchFamily="34" charset="0"/>
                <a:ea typeface="Segoe UI Semibold" pitchFamily="34" charset="-122"/>
                <a:cs typeface="Segoe UI Semibold" pitchFamily="34" charset="-120"/>
              </a:rPr>
              <a:t>TODAY  </a:t>
            </a:r>
            <a:r>
              <a:rPr lang="en-US" sz="1300" dirty="0">
                <a:solidFill>
                  <a:srgbClr val="1B2B40"/>
                </a:solidFill>
                <a:latin typeface="Segoe UI" pitchFamily="34" charset="0"/>
                <a:ea typeface="Segoe UI" pitchFamily="34" charset="-122"/>
                <a:cs typeface="Segoe UI" pitchFamily="34" charset="-120"/>
              </a:rPr>
              <a:t>field surveys and one-off studies, no standing alert.</a:t>
            </a:r>
            <a:endParaRPr lang="en-US" sz="1300" dirty="0"/>
          </a:p>
          <a:p>
            <a:pPr marL="0" indent="0" algn="l">
              <a:lnSpc>
                <a:spcPct val="115000"/>
              </a:lnSpc>
              <a:buNone/>
            </a:pPr>
            <a:r>
              <a:rPr lang="en-US" sz="1300" b="1" dirty="0">
                <a:solidFill>
                  <a:srgbClr val="2F5D8F"/>
                </a:solidFill>
                <a:latin typeface="Segoe UI Semibold" pitchFamily="34" charset="0"/>
                <a:ea typeface="Segoe UI Semibold" pitchFamily="34" charset="-122"/>
                <a:cs typeface="Segoe UI Semibold" pitchFamily="34" charset="-120"/>
              </a:rPr>
              <a:t>WE SOLVE  </a:t>
            </a:r>
            <a:r>
              <a:rPr lang="en-US" sz="1300" dirty="0">
                <a:solidFill>
                  <a:srgbClr val="1B2B40"/>
                </a:solidFill>
                <a:latin typeface="Segoe UI" pitchFamily="34" charset="0"/>
                <a:ea typeface="Segoe UI" pitchFamily="34" charset="-122"/>
                <a:cs typeface="Segoe UI" pitchFamily="34" charset="-120"/>
              </a:rPr>
              <a:t>a calibrated alert every ~5 days that says where to inspect and what carbon is at stake.</a:t>
            </a:r>
            <a:endParaRPr lang="en-US" sz="1300" dirty="0"/>
          </a:p>
        </p:txBody>
      </p:sp>
      <p:sp>
        <p:nvSpPr>
          <p:cNvPr id="21" name="a1fade_l"/>
          <p:cNvSpPr txBox="1"/>
          <p:nvPr/>
        </p:nvSpPr>
        <p:spPr>
          <a:xfrm>
            <a:off x="6355080" y="1691640"/>
            <a:ext cx="53035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BE5F6D"/>
                </a:solidFill>
                <a:latin typeface="Segoe UI Semibold" pitchFamily="34" charset="0"/>
                <a:ea typeface="Segoe UI Semibold" pitchFamily="34" charset="-122"/>
                <a:cs typeface="Segoe UI Semibold" pitchFamily="34" charset="-120"/>
              </a:rPr>
              <a:t>THIS IS HAPPENING NOW  ·  STAND 5, ABU DHABI</a:t>
            </a:r>
            <a:endParaRPr lang="en-US" sz="1100" dirty="0"/>
          </a:p>
        </p:txBody>
      </p:sp>
      <p:pic>
        <p:nvPicPr>
          <p:cNvPr id="22" name="a2zoom_c0" descr="C:\Users\nahla\Desktop\UAE-Space-Hackatoon\deck_source\images\s2_stand5_2021-11.png"/>
          <p:cNvPicPr>
            <a:picLocks noChangeAspect="1"/>
          </p:cNvPicPr>
          <p:nvPr/>
        </p:nvPicPr>
        <p:blipFill>
          <a:blip r:embed="rId5"/>
          <a:srcRect/>
          <a:stretch/>
        </p:blipFill>
        <p:spPr>
          <a:xfrm>
            <a:off x="6355080" y="2029968"/>
            <a:ext cx="2560320" cy="1874520"/>
          </a:xfrm>
          <a:prstGeom prst="rect">
            <a:avLst/>
          </a:prstGeom>
        </p:spPr>
      </p:pic>
      <p:sp>
        <p:nvSpPr>
          <p:cNvPr id="23" name="a2zoom_c0lb"/>
          <p:cNvSpPr/>
          <p:nvPr/>
        </p:nvSpPr>
        <p:spPr>
          <a:xfrm>
            <a:off x="6446520" y="2121408"/>
            <a:ext cx="1691640" cy="292608"/>
          </a:xfrm>
          <a:prstGeom prst="roundRect">
            <a:avLst>
              <a:gd name="adj" fmla="val 25000"/>
            </a:avLst>
          </a:prstGeom>
          <a:solidFill>
            <a:srgbClr val="3F6E9E">
              <a:alpha val="95000"/>
            </a:srgbClr>
          </a:solidFill>
          <a:ln/>
        </p:spPr>
        <p:txBody>
          <a:bodyPr/>
          <a:lstStyle/>
          <a:p>
            <a:endParaRPr lang="en-GB"/>
          </a:p>
        </p:txBody>
      </p:sp>
      <p:sp>
        <p:nvSpPr>
          <p:cNvPr id="24" name="a2zoom_c0lt"/>
          <p:cNvSpPr txBox="1"/>
          <p:nvPr/>
        </p:nvSpPr>
        <p:spPr>
          <a:xfrm>
            <a:off x="6519672" y="212140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Nov 2021 · intact</a:t>
            </a:r>
            <a:endParaRPr lang="en-US" sz="1100" dirty="0"/>
          </a:p>
        </p:txBody>
      </p:sp>
      <p:pic>
        <p:nvPicPr>
          <p:cNvPr id="25" name="a3zoom_c1" descr="C:\Users\nahla\Desktop\UAE-Space-Hackatoon\deck_source\images\s2_stand5_2022-10.png"/>
          <p:cNvPicPr>
            <a:picLocks noChangeAspect="1"/>
          </p:cNvPicPr>
          <p:nvPr/>
        </p:nvPicPr>
        <p:blipFill>
          <a:blip r:embed="rId6"/>
          <a:srcRect/>
          <a:stretch/>
        </p:blipFill>
        <p:spPr>
          <a:xfrm>
            <a:off x="9034272" y="2029968"/>
            <a:ext cx="2560320" cy="1874520"/>
          </a:xfrm>
          <a:prstGeom prst="rect">
            <a:avLst/>
          </a:prstGeom>
        </p:spPr>
      </p:pic>
      <p:sp>
        <p:nvSpPr>
          <p:cNvPr id="26" name="a3zoom_c1lb"/>
          <p:cNvSpPr/>
          <p:nvPr/>
        </p:nvSpPr>
        <p:spPr>
          <a:xfrm>
            <a:off x="9125712" y="2121408"/>
            <a:ext cx="2377440" cy="292608"/>
          </a:xfrm>
          <a:prstGeom prst="roundRect">
            <a:avLst>
              <a:gd name="adj" fmla="val 25000"/>
            </a:avLst>
          </a:prstGeom>
          <a:solidFill>
            <a:srgbClr val="B5535F">
              <a:alpha val="95000"/>
            </a:srgbClr>
          </a:solidFill>
          <a:ln/>
        </p:spPr>
        <p:txBody>
          <a:bodyPr/>
          <a:lstStyle/>
          <a:p>
            <a:endParaRPr lang="en-GB"/>
          </a:p>
        </p:txBody>
      </p:sp>
      <p:sp>
        <p:nvSpPr>
          <p:cNvPr id="27" name="a3zoom_c1lt"/>
          <p:cNvSpPr txBox="1"/>
          <p:nvPr/>
        </p:nvSpPr>
        <p:spPr>
          <a:xfrm>
            <a:off x="9198864" y="2121408"/>
            <a:ext cx="22860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Oct 2022 · works start, alert fires</a:t>
            </a:r>
            <a:endParaRPr lang="en-US" sz="1100" dirty="0"/>
          </a:p>
        </p:txBody>
      </p:sp>
      <p:pic>
        <p:nvPicPr>
          <p:cNvPr id="28" name="a4zoom_c2" descr="C:\Users\nahla\Desktop\UAE-Space-Hackatoon\deck_source\images\s2_stand5_2023-06.png"/>
          <p:cNvPicPr>
            <a:picLocks noChangeAspect="1"/>
          </p:cNvPicPr>
          <p:nvPr/>
        </p:nvPicPr>
        <p:blipFill>
          <a:blip r:embed="rId7"/>
          <a:srcRect/>
          <a:stretch/>
        </p:blipFill>
        <p:spPr>
          <a:xfrm>
            <a:off x="6355080" y="4041648"/>
            <a:ext cx="2560320" cy="1874520"/>
          </a:xfrm>
          <a:prstGeom prst="rect">
            <a:avLst/>
          </a:prstGeom>
        </p:spPr>
      </p:pic>
      <p:sp>
        <p:nvSpPr>
          <p:cNvPr id="29" name="a4zoom_c2lb"/>
          <p:cNvSpPr/>
          <p:nvPr/>
        </p:nvSpPr>
        <p:spPr>
          <a:xfrm>
            <a:off x="6446520" y="4133088"/>
            <a:ext cx="1691640" cy="292608"/>
          </a:xfrm>
          <a:prstGeom prst="roundRect">
            <a:avLst>
              <a:gd name="adj" fmla="val 25000"/>
            </a:avLst>
          </a:prstGeom>
          <a:solidFill>
            <a:srgbClr val="3F6E9E">
              <a:alpha val="95000"/>
            </a:srgbClr>
          </a:solidFill>
          <a:ln/>
        </p:spPr>
        <p:txBody>
          <a:bodyPr/>
          <a:lstStyle/>
          <a:p>
            <a:endParaRPr lang="en-GB"/>
          </a:p>
        </p:txBody>
      </p:sp>
      <p:sp>
        <p:nvSpPr>
          <p:cNvPr id="30" name="a4zoom_c2lt"/>
          <p:cNvSpPr txBox="1"/>
          <p:nvPr/>
        </p:nvSpPr>
        <p:spPr>
          <a:xfrm>
            <a:off x="6519672" y="413308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Jun 2023 · canals cut</a:t>
            </a:r>
            <a:endParaRPr lang="en-US" sz="1100" dirty="0"/>
          </a:p>
        </p:txBody>
      </p:sp>
      <p:pic>
        <p:nvPicPr>
          <p:cNvPr id="31" name="a5zoom_c3" descr="C:\Users\nahla\Desktop\UAE-Space-Hackatoon\deck_source\images\s2_stand5_2026-05.png"/>
          <p:cNvPicPr>
            <a:picLocks noChangeAspect="1"/>
          </p:cNvPicPr>
          <p:nvPr/>
        </p:nvPicPr>
        <p:blipFill>
          <a:blip r:embed="rId8"/>
          <a:srcRect/>
          <a:stretch/>
        </p:blipFill>
        <p:spPr>
          <a:xfrm>
            <a:off x="9034272" y="4041648"/>
            <a:ext cx="2560320" cy="1874520"/>
          </a:xfrm>
          <a:prstGeom prst="rect">
            <a:avLst/>
          </a:prstGeom>
        </p:spPr>
      </p:pic>
      <p:sp>
        <p:nvSpPr>
          <p:cNvPr id="32" name="a5zoom_c3lb"/>
          <p:cNvSpPr/>
          <p:nvPr/>
        </p:nvSpPr>
        <p:spPr>
          <a:xfrm>
            <a:off x="9125712" y="4133088"/>
            <a:ext cx="1691640" cy="292608"/>
          </a:xfrm>
          <a:prstGeom prst="roundRect">
            <a:avLst>
              <a:gd name="adj" fmla="val 25000"/>
            </a:avLst>
          </a:prstGeom>
          <a:solidFill>
            <a:srgbClr val="3F6E9E">
              <a:alpha val="95000"/>
            </a:srgbClr>
          </a:solidFill>
          <a:ln/>
        </p:spPr>
        <p:txBody>
          <a:bodyPr/>
          <a:lstStyle/>
          <a:p>
            <a:endParaRPr lang="en-GB"/>
          </a:p>
        </p:txBody>
      </p:sp>
      <p:sp>
        <p:nvSpPr>
          <p:cNvPr id="33" name="a5zoom_c3lt"/>
          <p:cNvSpPr txBox="1"/>
          <p:nvPr/>
        </p:nvSpPr>
        <p:spPr>
          <a:xfrm>
            <a:off x="9198864" y="4133088"/>
            <a:ext cx="1600200" cy="292608"/>
          </a:xfrm>
          <a:prstGeom prst="rect">
            <a:avLst/>
          </a:prstGeom>
          <a:noFill/>
          <a:ln/>
        </p:spPr>
        <p:txBody>
          <a:bodyPr wrap="square" lIns="0" tIns="0" rIns="0" bIns="0" rtlCol="0" anchor="ctr"/>
          <a:lstStyle/>
          <a:p>
            <a:pPr marL="0" indent="0" algn="l">
              <a:lnSpc>
                <a:spcPct val="105000"/>
              </a:lnSpc>
              <a:buNone/>
            </a:pPr>
            <a:r>
              <a:rPr lang="en-US" sz="1100" dirty="0">
                <a:solidFill>
                  <a:srgbClr val="FFFFFF"/>
                </a:solidFill>
                <a:latin typeface="Segoe UI Semibold" pitchFamily="34" charset="0"/>
                <a:ea typeface="Segoe UI Semibold" pitchFamily="34" charset="-122"/>
                <a:cs typeface="Segoe UI Semibold" pitchFamily="34" charset="-120"/>
              </a:rPr>
              <a:t>May 2026 · development</a:t>
            </a:r>
            <a:endParaRPr lang="en-US" sz="1100" dirty="0"/>
          </a:p>
        </p:txBody>
      </p:sp>
      <p:sp>
        <p:nvSpPr>
          <p:cNvPr id="34" name="a7ping_alert"/>
          <p:cNvSpPr/>
          <p:nvPr/>
        </p:nvSpPr>
        <p:spPr>
          <a:xfrm>
            <a:off x="9125712" y="2121408"/>
            <a:ext cx="2377440" cy="292608"/>
          </a:xfrm>
          <a:prstGeom prst="roundRect">
            <a:avLst>
              <a:gd name="adj" fmla="val 25000"/>
            </a:avLst>
          </a:prstGeom>
          <a:ln w="25400">
            <a:solidFill>
              <a:srgbClr val="BE5F6D"/>
            </a:solidFill>
            <a:prstDash val="solid"/>
          </a:ln>
        </p:spPr>
        <p:txBody>
          <a:bodyPr/>
          <a:lstStyle/>
          <a:p>
            <a:endParaRPr lang="en-GB"/>
          </a:p>
        </p:txBody>
      </p:sp>
      <p:sp>
        <p:nvSpPr>
          <p:cNvPr id="35" name="a6fade_cap"/>
          <p:cNvSpPr txBox="1"/>
          <p:nvPr/>
        </p:nvSpPr>
        <p:spPr>
          <a:xfrm>
            <a:off x="6355080" y="5916168"/>
            <a:ext cx="53035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Sentinel-2 true colour (contains modified Copernicus Sentinel data). Our alert began on 25 Oct 2022, during the works.</a:t>
            </a:r>
            <a:endParaRPr lang="en-US" sz="11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3</a:t>
            </a:fld>
            <a:endParaRPr lang="en-US"/>
          </a:p>
        </p:txBody>
      </p:sp>
      <p:sp>
        <p:nvSpPr>
          <p:cNvPr id="40" name="a4float_s3"/>
          <p:cNvSpPr/>
          <p:nvPr/>
        </p:nvSpPr>
        <p:spPr>
          <a:xfrm>
            <a:off x="548640" y="4217640"/>
            <a:ext cx="5394960" cy="760000"/>
          </a:xfrm>
          <a:prstGeom prst="roundRect">
            <a:avLst>
              <a:gd name="adj" fmla="val 1296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7" name="a4float_s3n"/>
          <p:cNvSpPr txBox="1"/>
          <p:nvPr/>
        </p:nvSpPr>
        <p:spPr>
          <a:xfrm>
            <a:off x="777240" y="4267640"/>
            <a:ext cx="1920240" cy="640080"/>
          </a:xfrm>
          <a:prstGeom prst="rect">
            <a:avLst/>
          </a:prstGeom>
          <a:noFill/>
          <a:ln/>
        </p:spPr>
        <p:txBody>
          <a:bodyPr wrap="square" lIns="0" tIns="0" rIns="0" bIns="0" rtlCol="0" anchor="ctr"/>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Feb 2026</a:t>
            </a:r>
            <a:endParaRPr lang="en-US" sz="3200" dirty="0"/>
          </a:p>
        </p:txBody>
      </p:sp>
      <p:sp>
        <p:nvSpPr>
          <p:cNvPr id="38" name="a4float_s3t"/>
          <p:cNvSpPr txBox="1"/>
          <p:nvPr/>
        </p:nvSpPr>
        <p:spPr>
          <a:xfrm>
            <a:off x="2743200" y="4297640"/>
            <a:ext cx="3063240" cy="36576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first GCC mangrove monitoring guide</a:t>
            </a:r>
            <a:endParaRPr lang="en-US" sz="1400" dirty="0"/>
          </a:p>
        </p:txBody>
      </p:sp>
      <p:sp>
        <p:nvSpPr>
          <p:cNvPr id="39" name="a4float_s3c"/>
          <p:cNvSpPr txBox="1"/>
          <p:nvPr/>
        </p:nvSpPr>
        <p:spPr>
          <a:xfrm>
            <a:off x="2743200" y="4637640"/>
            <a:ext cx="306324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EAD + IUCN Mangrove Specialist Group</a:t>
            </a:r>
            <a:endParaRPr lang="en-US" sz="1100" dirty="0"/>
          </a:p>
        </p:txBody>
      </p:sp>
      <p:sp>
        <p:nvSpPr>
          <p:cNvPr id="153" name="src_footer"/>
          <p:cNvSpPr txBox="1"/>
          <p:nvPr/>
        </p:nvSpPr>
        <p:spPr>
          <a:xfrm>
            <a:off x="3500000" y="6390000"/>
            <a:ext cx="7550000" cy="420000"/>
          </a:xfrm>
          <a:prstGeom prst="rect">
            <a:avLst/>
          </a:prstGeom>
          <a:noFill/>
        </p:spPr>
        <p:txBody>
          <a:bodyPr wrap="square">
            <a:spAutoFit/>
          </a:bodyPr>
          <a:lstStyle/>
          <a:p>
            <a:pPr algn="l"/>
            <a:r>
              <a:rPr sz="800" b="0" i="0">
                <a:solidFill>
                  <a:srgbClr val="5A6B80"/>
                </a:solidFill>
                <a:latin typeface="Segoe UI"/>
              </a:rPr>
              <a:t>Sources: UAE 100 M by 2030 — MOCCAE, COP26 (2021) · Saudi 100 M+ — Saudi Green Initiative · Bahrain ×4 by 2035 — COP26 (2021) · GCC mangrove monitoring guide — Environment Agency – Abu Dhabi with IUCN Mangrove Specialist Group (Feb 2026) · Guidelines for Mangrove Restoration in the UAE — EAD, MOCCAE, Emirates Nature–WWF</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10" presetClass="entr" presetSubtype="0" decel="100000" fill="hold" grpId="0" nodeType="withEffect">
                                  <p:stCondLst>
                                    <p:cond delay="47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00"/>
                                        <p:tgtEl>
                                          <p:spTgt spid="21"/>
                                        </p:tgtEl>
                                      </p:cBhvr>
                                    </p:animEffect>
                                  </p:childTnLst>
                                </p:cTn>
                              </p:par>
                              <p:par>
                                <p:cTn id="31" presetID="42" presetClass="entr" presetSubtype="0" decel="100000" fill="hold" grpId="0" nodeType="withEffect">
                                  <p:stCondLst>
                                    <p:cond delay="69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6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69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69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03"/>
                                          </p:val>
                                        </p:tav>
                                        <p:tav tm="100000">
                                          <p:val>
                                            <p:strVal val="#ppt_y"/>
                                          </p:val>
                                        </p:tav>
                                      </p:tavLst>
                                    </p:anim>
                                  </p:childTnLst>
                                </p:cTn>
                              </p:par>
                              <p:par>
                                <p:cTn id="47" presetID="53" presetClass="entr" presetSubtype="16" decel="100000" fill="hold" grpId="0" nodeType="withEffect">
                                  <p:stCondLst>
                                    <p:cond delay="69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700"/>
                                        <p:tgtEl>
                                          <p:spTgt spid="22"/>
                                        </p:tgtEl>
                                      </p:cBhvr>
                                    </p:animEffect>
                                    <p:anim calcmode="lin" valueType="num">
                                      <p:cBhvr additive="base">
                                        <p:cTn id="50" dur="800" fill="hold"/>
                                        <p:tgtEl>
                                          <p:spTgt spid="22"/>
                                        </p:tgtEl>
                                        <p:attrNameLst>
                                          <p:attrName>ppt_w</p:attrName>
                                        </p:attrNameLst>
                                      </p:cBhvr>
                                      <p:tavLst>
                                        <p:tav tm="0">
                                          <p:val>
                                            <p:strVal val="#ppt_w*0.85"/>
                                          </p:val>
                                        </p:tav>
                                        <p:tav tm="100000">
                                          <p:val>
                                            <p:strVal val="#ppt_w"/>
                                          </p:val>
                                        </p:tav>
                                      </p:tavLst>
                                    </p:anim>
                                    <p:anim calcmode="lin" valueType="num">
                                      <p:cBhvr additive="base">
                                        <p:cTn id="51" dur="800" fill="hold"/>
                                        <p:tgtEl>
                                          <p:spTgt spid="22"/>
                                        </p:tgtEl>
                                        <p:attrNameLst>
                                          <p:attrName>ppt_h</p:attrName>
                                        </p:attrNameLst>
                                      </p:cBhvr>
                                      <p:tavLst>
                                        <p:tav tm="0">
                                          <p:val>
                                            <p:strVal val="#ppt_h*0.85"/>
                                          </p:val>
                                        </p:tav>
                                        <p:tav tm="100000">
                                          <p:val>
                                            <p:strVal val="#ppt_h"/>
                                          </p:val>
                                        </p:tav>
                                      </p:tavLst>
                                    </p:anim>
                                  </p:childTnLst>
                                </p:cTn>
                              </p:par>
                              <p:par>
                                <p:cTn id="52" presetID="53" presetClass="entr" presetSubtype="16" decel="100000" fill="hold" grpId="0" nodeType="withEffect">
                                  <p:stCondLst>
                                    <p:cond delay="69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700"/>
                                        <p:tgtEl>
                                          <p:spTgt spid="23"/>
                                        </p:tgtEl>
                                      </p:cBhvr>
                                    </p:animEffect>
                                    <p:anim calcmode="lin" valueType="num">
                                      <p:cBhvr additive="base">
                                        <p:cTn id="55" dur="800" fill="hold"/>
                                        <p:tgtEl>
                                          <p:spTgt spid="23"/>
                                        </p:tgtEl>
                                        <p:attrNameLst>
                                          <p:attrName>ppt_w</p:attrName>
                                        </p:attrNameLst>
                                      </p:cBhvr>
                                      <p:tavLst>
                                        <p:tav tm="0">
                                          <p:val>
                                            <p:strVal val="#ppt_w*0.85"/>
                                          </p:val>
                                        </p:tav>
                                        <p:tav tm="100000">
                                          <p:val>
                                            <p:strVal val="#ppt_w"/>
                                          </p:val>
                                        </p:tav>
                                      </p:tavLst>
                                    </p:anim>
                                    <p:anim calcmode="lin" valueType="num">
                                      <p:cBhvr additive="base">
                                        <p:cTn id="56" dur="800" fill="hold"/>
                                        <p:tgtEl>
                                          <p:spTgt spid="23"/>
                                        </p:tgtEl>
                                        <p:attrNameLst>
                                          <p:attrName>ppt_h</p:attrName>
                                        </p:attrNameLst>
                                      </p:cBhvr>
                                      <p:tavLst>
                                        <p:tav tm="0">
                                          <p:val>
                                            <p:strVal val="#ppt_h*0.85"/>
                                          </p:val>
                                        </p:tav>
                                        <p:tav tm="100000">
                                          <p:val>
                                            <p:strVal val="#ppt_h"/>
                                          </p:val>
                                        </p:tav>
                                      </p:tavLst>
                                    </p:anim>
                                  </p:childTnLst>
                                </p:cTn>
                              </p:par>
                              <p:par>
                                <p:cTn id="57" presetID="53" presetClass="entr" presetSubtype="16" decel="100000" fill="hold" grpId="0" nodeType="withEffect">
                                  <p:stCondLst>
                                    <p:cond delay="69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700"/>
                                        <p:tgtEl>
                                          <p:spTgt spid="24"/>
                                        </p:tgtEl>
                                      </p:cBhvr>
                                    </p:animEffect>
                                    <p:anim calcmode="lin" valueType="num">
                                      <p:cBhvr additive="base">
                                        <p:cTn id="60" dur="800" fill="hold"/>
                                        <p:tgtEl>
                                          <p:spTgt spid="24"/>
                                        </p:tgtEl>
                                        <p:attrNameLst>
                                          <p:attrName>ppt_w</p:attrName>
                                        </p:attrNameLst>
                                      </p:cBhvr>
                                      <p:tavLst>
                                        <p:tav tm="0">
                                          <p:val>
                                            <p:strVal val="#ppt_w*0.85"/>
                                          </p:val>
                                        </p:tav>
                                        <p:tav tm="100000">
                                          <p:val>
                                            <p:strVal val="#ppt_w"/>
                                          </p:val>
                                        </p:tav>
                                      </p:tavLst>
                                    </p:anim>
                                    <p:anim calcmode="lin" valueType="num">
                                      <p:cBhvr additive="base">
                                        <p:cTn id="61" dur="800" fill="hold"/>
                                        <p:tgtEl>
                                          <p:spTgt spid="24"/>
                                        </p:tgtEl>
                                        <p:attrNameLst>
                                          <p:attrName>ppt_h</p:attrName>
                                        </p:attrNameLst>
                                      </p:cBhvr>
                                      <p:tavLst>
                                        <p:tav tm="0">
                                          <p:val>
                                            <p:strVal val="#ppt_h*0.85"/>
                                          </p:val>
                                        </p:tav>
                                        <p:tav tm="100000">
                                          <p:val>
                                            <p:strVal val="#ppt_h"/>
                                          </p:val>
                                        </p:tav>
                                      </p:tavLst>
                                    </p:anim>
                                  </p:childTnLst>
                                </p:cTn>
                              </p:par>
                              <p:par>
                                <p:cTn id="62" presetID="42" presetClass="entr" presetSubtype="0" decel="100000" fill="hold" grpId="0" nodeType="withEffect">
                                  <p:stCondLst>
                                    <p:cond delay="91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700"/>
                                        <p:tgtEl>
                                          <p:spTgt spid="15"/>
                                        </p:tgtEl>
                                      </p:cBhvr>
                                    </p:animEffect>
                                    <p:anim calcmode="lin" valueType="num">
                                      <p:cBhvr additive="base">
                                        <p:cTn id="65" dur="700" fill="hold"/>
                                        <p:tgtEl>
                                          <p:spTgt spid="15"/>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91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700"/>
                                        <p:tgtEl>
                                          <p:spTgt spid="40"/>
                                        </p:tgtEl>
                                      </p:cBhvr>
                                    </p:animEffect>
                                    <p:anim calcmode="lin" valueType="num">
                                      <p:cBhvr additive="base">
                                        <p:cTn id="69" dur="700" fill="hold"/>
                                        <p:tgtEl>
                                          <p:spTgt spid="40"/>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91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700"/>
                                        <p:tgtEl>
                                          <p:spTgt spid="16"/>
                                        </p:tgtEl>
                                      </p:cBhvr>
                                    </p:animEffect>
                                    <p:anim calcmode="lin" valueType="num">
                                      <p:cBhvr additive="base">
                                        <p:cTn id="73" dur="700" fill="hold"/>
                                        <p:tgtEl>
                                          <p:spTgt spid="16"/>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91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700"/>
                                        <p:tgtEl>
                                          <p:spTgt spid="37"/>
                                        </p:tgtEl>
                                      </p:cBhvr>
                                    </p:animEffect>
                                    <p:anim calcmode="lin" valueType="num">
                                      <p:cBhvr additive="base">
                                        <p:cTn id="77" dur="700" fill="hold"/>
                                        <p:tgtEl>
                                          <p:spTgt spid="37"/>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91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700"/>
                                        <p:tgtEl>
                                          <p:spTgt spid="17"/>
                                        </p:tgtEl>
                                      </p:cBhvr>
                                    </p:animEffect>
                                    <p:anim calcmode="lin" valueType="num">
                                      <p:cBhvr additive="base">
                                        <p:cTn id="81" dur="700" fill="hold"/>
                                        <p:tgtEl>
                                          <p:spTgt spid="17"/>
                                        </p:tgtEl>
                                        <p:attrNameLst>
                                          <p:attrName>ppt_y</p:attrName>
                                        </p:attrNameLst>
                                      </p:cBhvr>
                                      <p:tavLst>
                                        <p:tav tm="0">
                                          <p:val>
                                            <p:strVal val="#ppt_y+0.03"/>
                                          </p:val>
                                        </p:tav>
                                        <p:tav tm="100000">
                                          <p:val>
                                            <p:strVal val="#ppt_y"/>
                                          </p:val>
                                        </p:tav>
                                      </p:tavLst>
                                    </p:anim>
                                  </p:childTnLst>
                                </p:cTn>
                              </p:par>
                              <p:par>
                                <p:cTn id="82" presetID="42" presetClass="entr" presetSubtype="0" decel="100000" fill="hold" grpId="0" nodeType="withEffect">
                                  <p:stCondLst>
                                    <p:cond delay="91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700"/>
                                        <p:tgtEl>
                                          <p:spTgt spid="38"/>
                                        </p:tgtEl>
                                      </p:cBhvr>
                                    </p:animEffect>
                                    <p:anim calcmode="lin" valueType="num">
                                      <p:cBhvr additive="base">
                                        <p:cTn id="85" dur="700" fill="hold"/>
                                        <p:tgtEl>
                                          <p:spTgt spid="38"/>
                                        </p:tgtEl>
                                        <p:attrNameLst>
                                          <p:attrName>ppt_y</p:attrName>
                                        </p:attrNameLst>
                                      </p:cBhvr>
                                      <p:tavLst>
                                        <p:tav tm="0">
                                          <p:val>
                                            <p:strVal val="#ppt_y+0.03"/>
                                          </p:val>
                                        </p:tav>
                                        <p:tav tm="100000">
                                          <p:val>
                                            <p:strVal val="#ppt_y"/>
                                          </p:val>
                                        </p:tav>
                                      </p:tavLst>
                                    </p:anim>
                                  </p:childTnLst>
                                </p:cTn>
                              </p:par>
                              <p:par>
                                <p:cTn id="86" presetID="42" presetClass="entr" presetSubtype="0" decel="100000" fill="hold" grpId="0" nodeType="withEffect">
                                  <p:stCondLst>
                                    <p:cond delay="91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700"/>
                                        <p:tgtEl>
                                          <p:spTgt spid="18"/>
                                        </p:tgtEl>
                                      </p:cBhvr>
                                    </p:animEffect>
                                    <p:anim calcmode="lin" valueType="num">
                                      <p:cBhvr additive="base">
                                        <p:cTn id="89" dur="700" fill="hold"/>
                                        <p:tgtEl>
                                          <p:spTgt spid="18"/>
                                        </p:tgtEl>
                                        <p:attrNameLst>
                                          <p:attrName>ppt_y</p:attrName>
                                        </p:attrNameLst>
                                      </p:cBhvr>
                                      <p:tavLst>
                                        <p:tav tm="0">
                                          <p:val>
                                            <p:strVal val="#ppt_y+0.03"/>
                                          </p:val>
                                        </p:tav>
                                        <p:tav tm="100000">
                                          <p:val>
                                            <p:strVal val="#ppt_y"/>
                                          </p:val>
                                        </p:tav>
                                      </p:tavLst>
                                    </p:anim>
                                  </p:childTnLst>
                                </p:cTn>
                              </p:par>
                              <p:par>
                                <p:cTn id="90" presetID="42" presetClass="entr" presetSubtype="0" decel="100000" fill="hold" grpId="0" nodeType="withEffect">
                                  <p:stCondLst>
                                    <p:cond delay="91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700"/>
                                        <p:tgtEl>
                                          <p:spTgt spid="39"/>
                                        </p:tgtEl>
                                      </p:cBhvr>
                                    </p:animEffect>
                                    <p:anim calcmode="lin" valueType="num">
                                      <p:cBhvr additive="base">
                                        <p:cTn id="93" dur="700" fill="hold"/>
                                        <p:tgtEl>
                                          <p:spTgt spid="39"/>
                                        </p:tgtEl>
                                        <p:attrNameLst>
                                          <p:attrName>ppt_y</p:attrName>
                                        </p:attrNameLst>
                                      </p:cBhvr>
                                      <p:tavLst>
                                        <p:tav tm="0">
                                          <p:val>
                                            <p:strVal val="#ppt_y+0.03"/>
                                          </p:val>
                                        </p:tav>
                                        <p:tav tm="100000">
                                          <p:val>
                                            <p:strVal val="#ppt_y"/>
                                          </p:val>
                                        </p:tav>
                                      </p:tavLst>
                                    </p:anim>
                                  </p:childTnLst>
                                </p:cTn>
                              </p:par>
                              <p:par>
                                <p:cTn id="94" presetID="53" presetClass="entr" presetSubtype="16" decel="100000" fill="hold" grpId="0" nodeType="withEffect">
                                  <p:stCondLst>
                                    <p:cond delay="91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700"/>
                                        <p:tgtEl>
                                          <p:spTgt spid="25"/>
                                        </p:tgtEl>
                                      </p:cBhvr>
                                    </p:animEffect>
                                    <p:anim calcmode="lin" valueType="num">
                                      <p:cBhvr additive="base">
                                        <p:cTn id="97" dur="800" fill="hold"/>
                                        <p:tgtEl>
                                          <p:spTgt spid="25"/>
                                        </p:tgtEl>
                                        <p:attrNameLst>
                                          <p:attrName>ppt_w</p:attrName>
                                        </p:attrNameLst>
                                      </p:cBhvr>
                                      <p:tavLst>
                                        <p:tav tm="0">
                                          <p:val>
                                            <p:strVal val="#ppt_w*0.85"/>
                                          </p:val>
                                        </p:tav>
                                        <p:tav tm="100000">
                                          <p:val>
                                            <p:strVal val="#ppt_w"/>
                                          </p:val>
                                        </p:tav>
                                      </p:tavLst>
                                    </p:anim>
                                    <p:anim calcmode="lin" valueType="num">
                                      <p:cBhvr additive="base">
                                        <p:cTn id="98" dur="800" fill="hold"/>
                                        <p:tgtEl>
                                          <p:spTgt spid="25"/>
                                        </p:tgtEl>
                                        <p:attrNameLst>
                                          <p:attrName>ppt_h</p:attrName>
                                        </p:attrNameLst>
                                      </p:cBhvr>
                                      <p:tavLst>
                                        <p:tav tm="0">
                                          <p:val>
                                            <p:strVal val="#ppt_h*0.85"/>
                                          </p:val>
                                        </p:tav>
                                        <p:tav tm="100000">
                                          <p:val>
                                            <p:strVal val="#ppt_h"/>
                                          </p:val>
                                        </p:tav>
                                      </p:tavLst>
                                    </p:anim>
                                  </p:childTnLst>
                                </p:cTn>
                              </p:par>
                              <p:par>
                                <p:cTn id="99" presetID="53" presetClass="entr" presetSubtype="16" decel="100000" fill="hold" grpId="0" nodeType="withEffect">
                                  <p:stCondLst>
                                    <p:cond delay="91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700"/>
                                        <p:tgtEl>
                                          <p:spTgt spid="26"/>
                                        </p:tgtEl>
                                      </p:cBhvr>
                                    </p:animEffect>
                                    <p:anim calcmode="lin" valueType="num">
                                      <p:cBhvr additive="base">
                                        <p:cTn id="102" dur="800" fill="hold"/>
                                        <p:tgtEl>
                                          <p:spTgt spid="26"/>
                                        </p:tgtEl>
                                        <p:attrNameLst>
                                          <p:attrName>ppt_w</p:attrName>
                                        </p:attrNameLst>
                                      </p:cBhvr>
                                      <p:tavLst>
                                        <p:tav tm="0">
                                          <p:val>
                                            <p:strVal val="#ppt_w*0.85"/>
                                          </p:val>
                                        </p:tav>
                                        <p:tav tm="100000">
                                          <p:val>
                                            <p:strVal val="#ppt_w"/>
                                          </p:val>
                                        </p:tav>
                                      </p:tavLst>
                                    </p:anim>
                                    <p:anim calcmode="lin" valueType="num">
                                      <p:cBhvr additive="base">
                                        <p:cTn id="103" dur="800" fill="hold"/>
                                        <p:tgtEl>
                                          <p:spTgt spid="26"/>
                                        </p:tgtEl>
                                        <p:attrNameLst>
                                          <p:attrName>ppt_h</p:attrName>
                                        </p:attrNameLst>
                                      </p:cBhvr>
                                      <p:tavLst>
                                        <p:tav tm="0">
                                          <p:val>
                                            <p:strVal val="#ppt_h*0.85"/>
                                          </p:val>
                                        </p:tav>
                                        <p:tav tm="100000">
                                          <p:val>
                                            <p:strVal val="#ppt_h"/>
                                          </p:val>
                                        </p:tav>
                                      </p:tavLst>
                                    </p:anim>
                                  </p:childTnLst>
                                </p:cTn>
                              </p:par>
                              <p:par>
                                <p:cTn id="104" presetID="53" presetClass="entr" presetSubtype="16" decel="100000" fill="hold" grpId="0" nodeType="withEffect">
                                  <p:stCondLst>
                                    <p:cond delay="91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700"/>
                                        <p:tgtEl>
                                          <p:spTgt spid="27"/>
                                        </p:tgtEl>
                                      </p:cBhvr>
                                    </p:animEffect>
                                    <p:anim calcmode="lin" valueType="num">
                                      <p:cBhvr additive="base">
                                        <p:cTn id="107" dur="800" fill="hold"/>
                                        <p:tgtEl>
                                          <p:spTgt spid="27"/>
                                        </p:tgtEl>
                                        <p:attrNameLst>
                                          <p:attrName>ppt_w</p:attrName>
                                        </p:attrNameLst>
                                      </p:cBhvr>
                                      <p:tavLst>
                                        <p:tav tm="0">
                                          <p:val>
                                            <p:strVal val="#ppt_w*0.85"/>
                                          </p:val>
                                        </p:tav>
                                        <p:tav tm="100000">
                                          <p:val>
                                            <p:strVal val="#ppt_w"/>
                                          </p:val>
                                        </p:tav>
                                      </p:tavLst>
                                    </p:anim>
                                    <p:anim calcmode="lin" valueType="num">
                                      <p:cBhvr additive="base">
                                        <p:cTn id="108" dur="800" fill="hold"/>
                                        <p:tgtEl>
                                          <p:spTgt spid="27"/>
                                        </p:tgtEl>
                                        <p:attrNameLst>
                                          <p:attrName>ppt_h</p:attrName>
                                        </p:attrNameLst>
                                      </p:cBhvr>
                                      <p:tavLst>
                                        <p:tav tm="0">
                                          <p:val>
                                            <p:strVal val="#ppt_h*0.85"/>
                                          </p:val>
                                        </p:tav>
                                        <p:tav tm="100000">
                                          <p:val>
                                            <p:strVal val="#ppt_h"/>
                                          </p:val>
                                        </p:tav>
                                      </p:tavLst>
                                    </p:anim>
                                  </p:childTnLst>
                                </p:cTn>
                              </p:par>
                              <p:par>
                                <p:cTn id="109" presetID="42" presetClass="entr" presetSubtype="0" decel="100000" fill="hold" grpId="0" nodeType="withEffect">
                                  <p:stCondLst>
                                    <p:cond delay="113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700"/>
                                        <p:tgtEl>
                                          <p:spTgt spid="19"/>
                                        </p:tgtEl>
                                      </p:cBhvr>
                                    </p:animEffect>
                                    <p:anim calcmode="lin" valueType="num">
                                      <p:cBhvr additive="base">
                                        <p:cTn id="112" dur="700" fill="hold"/>
                                        <p:tgtEl>
                                          <p:spTgt spid="19"/>
                                        </p:tgtEl>
                                        <p:attrNameLst>
                                          <p:attrName>ppt_y</p:attrName>
                                        </p:attrNameLst>
                                      </p:cBhvr>
                                      <p:tavLst>
                                        <p:tav tm="0">
                                          <p:val>
                                            <p:strVal val="#ppt_y+0.03"/>
                                          </p:val>
                                        </p:tav>
                                        <p:tav tm="100000">
                                          <p:val>
                                            <p:strVal val="#ppt_y"/>
                                          </p:val>
                                        </p:tav>
                                      </p:tavLst>
                                    </p:anim>
                                  </p:childTnLst>
                                </p:cTn>
                              </p:par>
                              <p:par>
                                <p:cTn id="113" presetID="42" presetClass="entr" presetSubtype="0" decel="100000" fill="hold" grpId="0" nodeType="withEffect">
                                  <p:stCondLst>
                                    <p:cond delay="113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700"/>
                                        <p:tgtEl>
                                          <p:spTgt spid="20"/>
                                        </p:tgtEl>
                                      </p:cBhvr>
                                    </p:animEffect>
                                    <p:anim calcmode="lin" valueType="num">
                                      <p:cBhvr additive="base">
                                        <p:cTn id="116" dur="700" fill="hold"/>
                                        <p:tgtEl>
                                          <p:spTgt spid="20"/>
                                        </p:tgtEl>
                                        <p:attrNameLst>
                                          <p:attrName>ppt_y</p:attrName>
                                        </p:attrNameLst>
                                      </p:cBhvr>
                                      <p:tavLst>
                                        <p:tav tm="0">
                                          <p:val>
                                            <p:strVal val="#ppt_y+0.03"/>
                                          </p:val>
                                        </p:tav>
                                        <p:tav tm="100000">
                                          <p:val>
                                            <p:strVal val="#ppt_y"/>
                                          </p:val>
                                        </p:tav>
                                      </p:tavLst>
                                    </p:anim>
                                  </p:childTnLst>
                                </p:cTn>
                              </p:par>
                              <p:par>
                                <p:cTn id="117" presetID="53" presetClass="entr" presetSubtype="16" decel="100000" fill="hold" grpId="0" nodeType="withEffect">
                                  <p:stCondLst>
                                    <p:cond delay="1130"/>
                                  </p:stCondLst>
                                  <p:childTnLst>
                                    <p:set>
                                      <p:cBhvr>
                                        <p:cTn id="118" dur="1" fill="hold">
                                          <p:stCondLst>
                                            <p:cond delay="0"/>
                                          </p:stCondLst>
                                        </p:cTn>
                                        <p:tgtEl>
                                          <p:spTgt spid="28"/>
                                        </p:tgtEl>
                                        <p:attrNameLst>
                                          <p:attrName>style.visibility</p:attrName>
                                        </p:attrNameLst>
                                      </p:cBhvr>
                                      <p:to>
                                        <p:strVal val="visible"/>
                                      </p:to>
                                    </p:set>
                                    <p:animEffect transition="in" filter="fade">
                                      <p:cBhvr>
                                        <p:cTn id="119" dur="700"/>
                                        <p:tgtEl>
                                          <p:spTgt spid="28"/>
                                        </p:tgtEl>
                                      </p:cBhvr>
                                    </p:animEffect>
                                    <p:anim calcmode="lin" valueType="num">
                                      <p:cBhvr additive="base">
                                        <p:cTn id="120" dur="800" fill="hold"/>
                                        <p:tgtEl>
                                          <p:spTgt spid="28"/>
                                        </p:tgtEl>
                                        <p:attrNameLst>
                                          <p:attrName>ppt_w</p:attrName>
                                        </p:attrNameLst>
                                      </p:cBhvr>
                                      <p:tavLst>
                                        <p:tav tm="0">
                                          <p:val>
                                            <p:strVal val="#ppt_w*0.85"/>
                                          </p:val>
                                        </p:tav>
                                        <p:tav tm="100000">
                                          <p:val>
                                            <p:strVal val="#ppt_w"/>
                                          </p:val>
                                        </p:tav>
                                      </p:tavLst>
                                    </p:anim>
                                    <p:anim calcmode="lin" valueType="num">
                                      <p:cBhvr additive="base">
                                        <p:cTn id="121" dur="800" fill="hold"/>
                                        <p:tgtEl>
                                          <p:spTgt spid="28"/>
                                        </p:tgtEl>
                                        <p:attrNameLst>
                                          <p:attrName>ppt_h</p:attrName>
                                        </p:attrNameLst>
                                      </p:cBhvr>
                                      <p:tavLst>
                                        <p:tav tm="0">
                                          <p:val>
                                            <p:strVal val="#ppt_h*0.85"/>
                                          </p:val>
                                        </p:tav>
                                        <p:tav tm="100000">
                                          <p:val>
                                            <p:strVal val="#ppt_h"/>
                                          </p:val>
                                        </p:tav>
                                      </p:tavLst>
                                    </p:anim>
                                  </p:childTnLst>
                                </p:cTn>
                              </p:par>
                              <p:par>
                                <p:cTn id="122" presetID="53" presetClass="entr" presetSubtype="16" decel="100000" fill="hold" grpId="0" nodeType="withEffect">
                                  <p:stCondLst>
                                    <p:cond delay="113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700"/>
                                        <p:tgtEl>
                                          <p:spTgt spid="29"/>
                                        </p:tgtEl>
                                      </p:cBhvr>
                                    </p:animEffect>
                                    <p:anim calcmode="lin" valueType="num">
                                      <p:cBhvr additive="base">
                                        <p:cTn id="125" dur="800" fill="hold"/>
                                        <p:tgtEl>
                                          <p:spTgt spid="29"/>
                                        </p:tgtEl>
                                        <p:attrNameLst>
                                          <p:attrName>ppt_w</p:attrName>
                                        </p:attrNameLst>
                                      </p:cBhvr>
                                      <p:tavLst>
                                        <p:tav tm="0">
                                          <p:val>
                                            <p:strVal val="#ppt_w*0.85"/>
                                          </p:val>
                                        </p:tav>
                                        <p:tav tm="100000">
                                          <p:val>
                                            <p:strVal val="#ppt_w"/>
                                          </p:val>
                                        </p:tav>
                                      </p:tavLst>
                                    </p:anim>
                                    <p:anim calcmode="lin" valueType="num">
                                      <p:cBhvr additive="base">
                                        <p:cTn id="126" dur="800" fill="hold"/>
                                        <p:tgtEl>
                                          <p:spTgt spid="29"/>
                                        </p:tgtEl>
                                        <p:attrNameLst>
                                          <p:attrName>ppt_h</p:attrName>
                                        </p:attrNameLst>
                                      </p:cBhvr>
                                      <p:tavLst>
                                        <p:tav tm="0">
                                          <p:val>
                                            <p:strVal val="#ppt_h*0.85"/>
                                          </p:val>
                                        </p:tav>
                                        <p:tav tm="100000">
                                          <p:val>
                                            <p:strVal val="#ppt_h"/>
                                          </p:val>
                                        </p:tav>
                                      </p:tavLst>
                                    </p:anim>
                                  </p:childTnLst>
                                </p:cTn>
                              </p:par>
                              <p:par>
                                <p:cTn id="127" presetID="53" presetClass="entr" presetSubtype="16" decel="100000" fill="hold" grpId="0" nodeType="withEffect">
                                  <p:stCondLst>
                                    <p:cond delay="1130"/>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700"/>
                                        <p:tgtEl>
                                          <p:spTgt spid="30"/>
                                        </p:tgtEl>
                                      </p:cBhvr>
                                    </p:animEffect>
                                    <p:anim calcmode="lin" valueType="num">
                                      <p:cBhvr additive="base">
                                        <p:cTn id="130" dur="800" fill="hold"/>
                                        <p:tgtEl>
                                          <p:spTgt spid="30"/>
                                        </p:tgtEl>
                                        <p:attrNameLst>
                                          <p:attrName>ppt_w</p:attrName>
                                        </p:attrNameLst>
                                      </p:cBhvr>
                                      <p:tavLst>
                                        <p:tav tm="0">
                                          <p:val>
                                            <p:strVal val="#ppt_w*0.85"/>
                                          </p:val>
                                        </p:tav>
                                        <p:tav tm="100000">
                                          <p:val>
                                            <p:strVal val="#ppt_w"/>
                                          </p:val>
                                        </p:tav>
                                      </p:tavLst>
                                    </p:anim>
                                    <p:anim calcmode="lin" valueType="num">
                                      <p:cBhvr additive="base">
                                        <p:cTn id="131" dur="800" fill="hold"/>
                                        <p:tgtEl>
                                          <p:spTgt spid="30"/>
                                        </p:tgtEl>
                                        <p:attrNameLst>
                                          <p:attrName>ppt_h</p:attrName>
                                        </p:attrNameLst>
                                      </p:cBhvr>
                                      <p:tavLst>
                                        <p:tav tm="0">
                                          <p:val>
                                            <p:strVal val="#ppt_h*0.85"/>
                                          </p:val>
                                        </p:tav>
                                        <p:tav tm="100000">
                                          <p:val>
                                            <p:strVal val="#ppt_h"/>
                                          </p:val>
                                        </p:tav>
                                      </p:tavLst>
                                    </p:anim>
                                  </p:childTnLst>
                                </p:cTn>
                              </p:par>
                              <p:par>
                                <p:cTn id="132" presetID="53" presetClass="entr" presetSubtype="16" decel="100000" fill="hold" grpId="0" nodeType="withEffect">
                                  <p:stCondLst>
                                    <p:cond delay="135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700"/>
                                        <p:tgtEl>
                                          <p:spTgt spid="31"/>
                                        </p:tgtEl>
                                      </p:cBhvr>
                                    </p:animEffect>
                                    <p:anim calcmode="lin" valueType="num">
                                      <p:cBhvr additive="base">
                                        <p:cTn id="135" dur="800" fill="hold"/>
                                        <p:tgtEl>
                                          <p:spTgt spid="31"/>
                                        </p:tgtEl>
                                        <p:attrNameLst>
                                          <p:attrName>ppt_w</p:attrName>
                                        </p:attrNameLst>
                                      </p:cBhvr>
                                      <p:tavLst>
                                        <p:tav tm="0">
                                          <p:val>
                                            <p:strVal val="#ppt_w*0.85"/>
                                          </p:val>
                                        </p:tav>
                                        <p:tav tm="100000">
                                          <p:val>
                                            <p:strVal val="#ppt_w"/>
                                          </p:val>
                                        </p:tav>
                                      </p:tavLst>
                                    </p:anim>
                                    <p:anim calcmode="lin" valueType="num">
                                      <p:cBhvr additive="base">
                                        <p:cTn id="136" dur="800" fill="hold"/>
                                        <p:tgtEl>
                                          <p:spTgt spid="31"/>
                                        </p:tgtEl>
                                        <p:attrNameLst>
                                          <p:attrName>ppt_h</p:attrName>
                                        </p:attrNameLst>
                                      </p:cBhvr>
                                      <p:tavLst>
                                        <p:tav tm="0">
                                          <p:val>
                                            <p:strVal val="#ppt_h*0.85"/>
                                          </p:val>
                                        </p:tav>
                                        <p:tav tm="100000">
                                          <p:val>
                                            <p:strVal val="#ppt_h"/>
                                          </p:val>
                                        </p:tav>
                                      </p:tavLst>
                                    </p:anim>
                                  </p:childTnLst>
                                </p:cTn>
                              </p:par>
                              <p:par>
                                <p:cTn id="137" presetID="53" presetClass="entr" presetSubtype="16" decel="100000" fill="hold" grpId="0" nodeType="withEffect">
                                  <p:stCondLst>
                                    <p:cond delay="1350"/>
                                  </p:stCondLst>
                                  <p:childTnLst>
                                    <p:set>
                                      <p:cBhvr>
                                        <p:cTn id="138" dur="1" fill="hold">
                                          <p:stCondLst>
                                            <p:cond delay="0"/>
                                          </p:stCondLst>
                                        </p:cTn>
                                        <p:tgtEl>
                                          <p:spTgt spid="32"/>
                                        </p:tgtEl>
                                        <p:attrNameLst>
                                          <p:attrName>style.visibility</p:attrName>
                                        </p:attrNameLst>
                                      </p:cBhvr>
                                      <p:to>
                                        <p:strVal val="visible"/>
                                      </p:to>
                                    </p:set>
                                    <p:animEffect transition="in" filter="fade">
                                      <p:cBhvr>
                                        <p:cTn id="139" dur="700"/>
                                        <p:tgtEl>
                                          <p:spTgt spid="32"/>
                                        </p:tgtEl>
                                      </p:cBhvr>
                                    </p:animEffect>
                                    <p:anim calcmode="lin" valueType="num">
                                      <p:cBhvr additive="base">
                                        <p:cTn id="140" dur="800" fill="hold"/>
                                        <p:tgtEl>
                                          <p:spTgt spid="32"/>
                                        </p:tgtEl>
                                        <p:attrNameLst>
                                          <p:attrName>ppt_w</p:attrName>
                                        </p:attrNameLst>
                                      </p:cBhvr>
                                      <p:tavLst>
                                        <p:tav tm="0">
                                          <p:val>
                                            <p:strVal val="#ppt_w*0.85"/>
                                          </p:val>
                                        </p:tav>
                                        <p:tav tm="100000">
                                          <p:val>
                                            <p:strVal val="#ppt_w"/>
                                          </p:val>
                                        </p:tav>
                                      </p:tavLst>
                                    </p:anim>
                                    <p:anim calcmode="lin" valueType="num">
                                      <p:cBhvr additive="base">
                                        <p:cTn id="141" dur="800" fill="hold"/>
                                        <p:tgtEl>
                                          <p:spTgt spid="32"/>
                                        </p:tgtEl>
                                        <p:attrNameLst>
                                          <p:attrName>ppt_h</p:attrName>
                                        </p:attrNameLst>
                                      </p:cBhvr>
                                      <p:tavLst>
                                        <p:tav tm="0">
                                          <p:val>
                                            <p:strVal val="#ppt_h*0.85"/>
                                          </p:val>
                                        </p:tav>
                                        <p:tav tm="100000">
                                          <p:val>
                                            <p:strVal val="#ppt_h"/>
                                          </p:val>
                                        </p:tav>
                                      </p:tavLst>
                                    </p:anim>
                                  </p:childTnLst>
                                </p:cTn>
                              </p:par>
                              <p:par>
                                <p:cTn id="142" presetID="53" presetClass="entr" presetSubtype="16" decel="100000" fill="hold" grpId="0" nodeType="withEffect">
                                  <p:stCondLst>
                                    <p:cond delay="1350"/>
                                  </p:stCondLst>
                                  <p:childTnLst>
                                    <p:set>
                                      <p:cBhvr>
                                        <p:cTn id="143" dur="1" fill="hold">
                                          <p:stCondLst>
                                            <p:cond delay="0"/>
                                          </p:stCondLst>
                                        </p:cTn>
                                        <p:tgtEl>
                                          <p:spTgt spid="33"/>
                                        </p:tgtEl>
                                        <p:attrNameLst>
                                          <p:attrName>style.visibility</p:attrName>
                                        </p:attrNameLst>
                                      </p:cBhvr>
                                      <p:to>
                                        <p:strVal val="visible"/>
                                      </p:to>
                                    </p:set>
                                    <p:animEffect transition="in" filter="fade">
                                      <p:cBhvr>
                                        <p:cTn id="144" dur="700"/>
                                        <p:tgtEl>
                                          <p:spTgt spid="33"/>
                                        </p:tgtEl>
                                      </p:cBhvr>
                                    </p:animEffect>
                                    <p:anim calcmode="lin" valueType="num">
                                      <p:cBhvr additive="base">
                                        <p:cTn id="145" dur="800" fill="hold"/>
                                        <p:tgtEl>
                                          <p:spTgt spid="33"/>
                                        </p:tgtEl>
                                        <p:attrNameLst>
                                          <p:attrName>ppt_w</p:attrName>
                                        </p:attrNameLst>
                                      </p:cBhvr>
                                      <p:tavLst>
                                        <p:tav tm="0">
                                          <p:val>
                                            <p:strVal val="#ppt_w*0.85"/>
                                          </p:val>
                                        </p:tav>
                                        <p:tav tm="100000">
                                          <p:val>
                                            <p:strVal val="#ppt_w"/>
                                          </p:val>
                                        </p:tav>
                                      </p:tavLst>
                                    </p:anim>
                                    <p:anim calcmode="lin" valueType="num">
                                      <p:cBhvr additive="base">
                                        <p:cTn id="146" dur="800" fill="hold"/>
                                        <p:tgtEl>
                                          <p:spTgt spid="33"/>
                                        </p:tgtEl>
                                        <p:attrNameLst>
                                          <p:attrName>ppt_h</p:attrName>
                                        </p:attrNameLst>
                                      </p:cBhvr>
                                      <p:tavLst>
                                        <p:tav tm="0">
                                          <p:val>
                                            <p:strVal val="#ppt_h*0.85"/>
                                          </p:val>
                                        </p:tav>
                                        <p:tav tm="100000">
                                          <p:val>
                                            <p:strVal val="#ppt_h"/>
                                          </p:val>
                                        </p:tav>
                                      </p:tavLst>
                                    </p:anim>
                                  </p:childTnLst>
                                </p:cTn>
                              </p:par>
                              <p:par>
                                <p:cTn id="147" presetID="10" presetClass="entr" presetSubtype="0" decel="100000" fill="hold" grpId="0" nodeType="withEffect">
                                  <p:stCondLst>
                                    <p:cond delay="1570"/>
                                  </p:stCondLst>
                                  <p:childTnLst>
                                    <p:set>
                                      <p:cBhvr>
                                        <p:cTn id="148" dur="1" fill="hold">
                                          <p:stCondLst>
                                            <p:cond delay="0"/>
                                          </p:stCondLst>
                                        </p:cTn>
                                        <p:tgtEl>
                                          <p:spTgt spid="35"/>
                                        </p:tgtEl>
                                        <p:attrNameLst>
                                          <p:attrName>style.visibility</p:attrName>
                                        </p:attrNameLst>
                                      </p:cBhvr>
                                      <p:to>
                                        <p:strVal val="visible"/>
                                      </p:to>
                                    </p:set>
                                    <p:animEffect transition="in" filter="fade">
                                      <p:cBhvr>
                                        <p:cTn id="149" dur="600"/>
                                        <p:tgtEl>
                                          <p:spTgt spid="35"/>
                                        </p:tgtEl>
                                      </p:cBhvr>
                                    </p:animEffect>
                                  </p:childTnLst>
                                </p:cTn>
                              </p:par>
                              <p:par>
                                <p:cTn id="150" presetID="6" presetClass="emph" presetSubtype="0" repeatCount="indefinite" fill="hold" grpId="0" nodeType="withEffect">
                                  <p:stCondLst>
                                    <p:cond delay="1790"/>
                                  </p:stCondLst>
                                  <p:childTnLst>
                                    <p:animScale>
                                      <p:cBhvr>
                                        <p:cTn id="151" dur="1600" fill="hold"/>
                                        <p:tgtEl>
                                          <p:spTgt spid="34"/>
                                        </p:tgtEl>
                                      </p:cBhvr>
                                      <p:by x="160000" y="160000"/>
                                    </p:animScale>
                                    <p:anim calcmode="lin" valueType="num">
                                      <p:cBhvr>
                                        <p:cTn id="152" dur="1600" fill="hold"/>
                                        <p:tgtEl>
                                          <p:spTgt spid="34"/>
                                        </p:tgtEl>
                                        <p:attrNameLst>
                                          <p:attrName>style.opacity</p:attrName>
                                        </p:attrNameLst>
                                      </p:cBhvr>
                                      <p:tavLst>
                                        <p:tav tm="0">
                                          <p:val>
                                            <p:fltVal val="1"/>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p:bldP spid="26" grpId="0" animBg="1"/>
      <p:bldP spid="27" grpId="0" animBg="1"/>
      <p:bldP spid="28" grpId="0"/>
      <p:bldP spid="29" grpId="0" animBg="1"/>
      <p:bldP spid="30" grpId="0" animBg="1"/>
      <p:bldP spid="31" grpId="0"/>
      <p:bldP spid="32" grpId="0" animBg="1"/>
      <p:bldP spid="33" grpId="0" animBg="1"/>
      <p:bldP spid="34" grpId="0" animBg="1"/>
      <p:bldP spid="35" grpId="0" animBg="1"/>
      <p:bldP spid="40" grpId="0" animBg="1"/>
      <p:bldP spid="37" grpId="0" animBg="1"/>
      <p:bldP spid="38" grpId="0" animBg="1"/>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7863840" y="-2743200"/>
            <a:ext cx="5943600" cy="59436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2560320" y="292608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EXAMPLE OUTPUT · THE PRODUCT</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From signal to decision, in one screen</a:t>
            </a:r>
            <a:endParaRPr lang="en-US" sz="3400" dirty="0"/>
          </a:p>
        </p:txBody>
      </p:sp>
      <p:sp>
        <p:nvSpPr>
          <p:cNvPr id="7" name="a1zoom_bf"/>
          <p:cNvSpPr/>
          <p:nvPr/>
        </p:nvSpPr>
        <p:spPr>
          <a:xfrm>
            <a:off x="548640" y="1691640"/>
            <a:ext cx="6903720" cy="4625721"/>
          </a:xfrm>
          <a:prstGeom prst="roundRect">
            <a:avLst>
              <a:gd name="adj" fmla="val 1977"/>
            </a:avLst>
          </a:prstGeom>
          <a:solidFill>
            <a:srgbClr val="E9EFF6"/>
          </a:solidFill>
          <a:ln w="12700">
            <a:solidFill>
              <a:srgbClr val="D3E0EE"/>
            </a:solidFill>
            <a:prstDash val="solid"/>
          </a:ln>
          <a:effectLst>
            <a:outerShdw blurRad="152400" dist="38100" dir="5400000" algn="bl" rotWithShape="0">
              <a:srgbClr val="1B2B40">
                <a:alpha val="12000"/>
              </a:srgbClr>
            </a:outerShdw>
          </a:effectLst>
        </p:spPr>
        <p:txBody>
          <a:bodyPr/>
          <a:lstStyle/>
          <a:p>
            <a:endParaRPr/>
          </a:p>
        </p:txBody>
      </p:sp>
      <p:sp>
        <p:nvSpPr>
          <p:cNvPr id="8" name="a1zoom_dot0"/>
          <p:cNvSpPr/>
          <p:nvPr/>
        </p:nvSpPr>
        <p:spPr>
          <a:xfrm>
            <a:off x="694944" y="1792224"/>
            <a:ext cx="109728" cy="109728"/>
          </a:xfrm>
          <a:prstGeom prst="ellipse">
            <a:avLst/>
          </a:prstGeom>
          <a:solidFill>
            <a:srgbClr val="FF5F57"/>
          </a:solidFill>
          <a:ln/>
        </p:spPr>
        <p:txBody>
          <a:bodyPr/>
          <a:lstStyle/>
          <a:p>
            <a:endParaRPr/>
          </a:p>
        </p:txBody>
      </p:sp>
      <p:sp>
        <p:nvSpPr>
          <p:cNvPr id="9" name="a1zoom_dot1"/>
          <p:cNvSpPr/>
          <p:nvPr/>
        </p:nvSpPr>
        <p:spPr>
          <a:xfrm>
            <a:off x="877824" y="1792224"/>
            <a:ext cx="109728" cy="109728"/>
          </a:xfrm>
          <a:prstGeom prst="ellipse">
            <a:avLst/>
          </a:prstGeom>
          <a:solidFill>
            <a:srgbClr val="FEBC2E"/>
          </a:solidFill>
          <a:ln/>
        </p:spPr>
        <p:txBody>
          <a:bodyPr/>
          <a:lstStyle/>
          <a:p>
            <a:endParaRPr/>
          </a:p>
        </p:txBody>
      </p:sp>
      <p:sp>
        <p:nvSpPr>
          <p:cNvPr id="10" name="a1zoom_dot2"/>
          <p:cNvSpPr/>
          <p:nvPr/>
        </p:nvSpPr>
        <p:spPr>
          <a:xfrm>
            <a:off x="1060704" y="1792224"/>
            <a:ext cx="109728" cy="109728"/>
          </a:xfrm>
          <a:prstGeom prst="ellipse">
            <a:avLst/>
          </a:prstGeom>
          <a:solidFill>
            <a:srgbClr val="28C840"/>
          </a:solidFill>
          <a:ln/>
        </p:spPr>
        <p:txBody>
          <a:bodyPr/>
          <a:lstStyle/>
          <a:p>
            <a:endParaRPr/>
          </a:p>
        </p:txBody>
      </p:sp>
      <p:sp>
        <p:nvSpPr>
          <p:cNvPr id="11" name="a1zoom_url"/>
          <p:cNvSpPr txBox="1"/>
          <p:nvPr/>
        </p:nvSpPr>
        <p:spPr>
          <a:xfrm>
            <a:off x="1371600" y="1728216"/>
            <a:ext cx="4572000" cy="237744"/>
          </a:xfrm>
          <a:prstGeom prst="rect">
            <a:avLst/>
          </a:prstGeom>
          <a:noFill/>
          <a:ln/>
        </p:spPr>
        <p:txBody>
          <a:bodyPr wrap="square" lIns="0" tIns="0" rIns="0" bIns="0" rtlCol="0" anchor="ctr"/>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nahla-nabil.github.io/blue-carbon-guardian</a:t>
            </a:r>
            <a:endParaRPr lang="en-US" sz="1000" dirty="0"/>
          </a:p>
        </p:txBody>
      </p:sp>
      <p:sp>
        <p:nvSpPr>
          <p:cNvPr id="13" name="a2float_f0_c"/>
          <p:cNvSpPr/>
          <p:nvPr/>
        </p:nvSpPr>
        <p:spPr>
          <a:xfrm>
            <a:off x="7772400" y="1737360"/>
            <a:ext cx="512064" cy="512064"/>
          </a:xfrm>
          <a:prstGeom prst="ellipse">
            <a:avLst/>
          </a:prstGeom>
          <a:solidFill>
            <a:srgbClr val="3F6E9E">
              <a:alpha val="18000"/>
            </a:srgbClr>
          </a:solidFill>
          <a:ln w="12700">
            <a:solidFill>
              <a:srgbClr val="3F6E9E"/>
            </a:solidFill>
            <a:prstDash val="solid"/>
          </a:ln>
        </p:spPr>
        <p:txBody>
          <a:bodyPr/>
          <a:lstStyle/>
          <a:p>
            <a:endParaRPr/>
          </a:p>
        </p:txBody>
      </p:sp>
      <p:pic>
        <p:nvPicPr>
          <p:cNvPr id="14" name="a2float_f0_i" descr="preencoded.png"/>
          <p:cNvPicPr>
            <a:picLocks noChangeAspect="1"/>
          </p:cNvPicPr>
          <p:nvPr/>
        </p:nvPicPr>
        <p:blipFill>
          <a:blip r:embed="rId7"/>
          <a:stretch>
            <a:fillRect/>
          </a:stretch>
        </p:blipFill>
        <p:spPr>
          <a:xfrm>
            <a:off x="7895295" y="1860255"/>
            <a:ext cx="266273" cy="266273"/>
          </a:xfrm>
          <a:prstGeom prst="rect">
            <a:avLst/>
          </a:prstGeom>
        </p:spPr>
      </p:pic>
      <p:sp>
        <p:nvSpPr>
          <p:cNvPr id="15" name="a2float_f0t"/>
          <p:cNvSpPr txBox="1"/>
          <p:nvPr/>
        </p:nvSpPr>
        <p:spPr>
          <a:xfrm>
            <a:off x="8458200" y="1719072"/>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One alert</a:t>
            </a:r>
            <a:endParaRPr lang="en-US" sz="1500" dirty="0"/>
          </a:p>
        </p:txBody>
      </p:sp>
      <p:sp>
        <p:nvSpPr>
          <p:cNvPr id="16" name="a2float_f0d"/>
          <p:cNvSpPr txBox="1"/>
          <p:nvPr/>
        </p:nvSpPr>
        <p:spPr>
          <a:xfrm>
            <a:off x="8458200" y="2011680"/>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stand OR any 200 m cell, calibrated</a:t>
            </a:r>
            <a:endParaRPr lang="en-US" sz="1200" dirty="0"/>
          </a:p>
        </p:txBody>
      </p:sp>
      <p:sp>
        <p:nvSpPr>
          <p:cNvPr id="17" name="a3float_f1_c"/>
          <p:cNvSpPr/>
          <p:nvPr/>
        </p:nvSpPr>
        <p:spPr>
          <a:xfrm>
            <a:off x="7772400" y="2505456"/>
            <a:ext cx="512064" cy="512064"/>
          </a:xfrm>
          <a:prstGeom prst="ellipse">
            <a:avLst/>
          </a:prstGeom>
          <a:solidFill>
            <a:srgbClr val="3F6E9E">
              <a:alpha val="18000"/>
            </a:srgbClr>
          </a:solidFill>
          <a:ln w="12700">
            <a:solidFill>
              <a:srgbClr val="3F6E9E"/>
            </a:solidFill>
            <a:prstDash val="solid"/>
          </a:ln>
        </p:spPr>
        <p:txBody>
          <a:bodyPr/>
          <a:lstStyle/>
          <a:p>
            <a:endParaRPr/>
          </a:p>
        </p:txBody>
      </p:sp>
      <p:pic>
        <p:nvPicPr>
          <p:cNvPr id="18" name="a3float_f1_i" descr="preencoded.png"/>
          <p:cNvPicPr>
            <a:picLocks noChangeAspect="1"/>
          </p:cNvPicPr>
          <p:nvPr/>
        </p:nvPicPr>
        <p:blipFill>
          <a:blip r:embed="rId8"/>
          <a:stretch>
            <a:fillRect/>
          </a:stretch>
        </p:blipFill>
        <p:spPr>
          <a:xfrm>
            <a:off x="7895295" y="2628351"/>
            <a:ext cx="266273" cy="266273"/>
          </a:xfrm>
          <a:prstGeom prst="rect">
            <a:avLst/>
          </a:prstGeom>
        </p:spPr>
      </p:pic>
      <p:sp>
        <p:nvSpPr>
          <p:cNvPr id="19" name="a3float_f1t"/>
          <p:cNvSpPr txBox="1"/>
          <p:nvPr/>
        </p:nvSpPr>
        <p:spPr>
          <a:xfrm>
            <a:off x="8458200" y="2487168"/>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Where to look</a:t>
            </a:r>
            <a:endParaRPr lang="en-US" sz="1500" dirty="0"/>
          </a:p>
        </p:txBody>
      </p:sp>
      <p:sp>
        <p:nvSpPr>
          <p:cNvPr id="20" name="a3float_f1d"/>
          <p:cNvSpPr txBox="1"/>
          <p:nvPr/>
        </p:nvSpPr>
        <p:spPr>
          <a:xfrm>
            <a:off x="8458200" y="2779776"/>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 200 m cell map for the inspector</a:t>
            </a:r>
            <a:endParaRPr lang="en-US" sz="1200" dirty="0"/>
          </a:p>
        </p:txBody>
      </p:sp>
      <p:sp>
        <p:nvSpPr>
          <p:cNvPr id="21" name="a4float_f2_c"/>
          <p:cNvSpPr/>
          <p:nvPr/>
        </p:nvSpPr>
        <p:spPr>
          <a:xfrm>
            <a:off x="7772400" y="3273552"/>
            <a:ext cx="512064" cy="512064"/>
          </a:xfrm>
          <a:prstGeom prst="ellipse">
            <a:avLst/>
          </a:prstGeom>
          <a:solidFill>
            <a:srgbClr val="3F6E9E">
              <a:alpha val="18000"/>
            </a:srgbClr>
          </a:solidFill>
          <a:ln w="12700">
            <a:solidFill>
              <a:srgbClr val="3F6E9E"/>
            </a:solidFill>
            <a:prstDash val="solid"/>
          </a:ln>
        </p:spPr>
        <p:txBody>
          <a:bodyPr/>
          <a:lstStyle/>
          <a:p>
            <a:endParaRPr/>
          </a:p>
        </p:txBody>
      </p:sp>
      <p:pic>
        <p:nvPicPr>
          <p:cNvPr id="22" name="a4float_f2_i" descr="preencoded.png"/>
          <p:cNvPicPr>
            <a:picLocks noChangeAspect="1"/>
          </p:cNvPicPr>
          <p:nvPr/>
        </p:nvPicPr>
        <p:blipFill>
          <a:blip r:embed="rId9"/>
          <a:stretch>
            <a:fillRect/>
          </a:stretch>
        </p:blipFill>
        <p:spPr>
          <a:xfrm>
            <a:off x="7895295" y="3396447"/>
            <a:ext cx="266273" cy="266273"/>
          </a:xfrm>
          <a:prstGeom prst="rect">
            <a:avLst/>
          </a:prstGeom>
        </p:spPr>
      </p:pic>
      <p:sp>
        <p:nvSpPr>
          <p:cNvPr id="23" name="a4float_f2t"/>
          <p:cNvSpPr txBox="1"/>
          <p:nvPr/>
        </p:nvSpPr>
        <p:spPr>
          <a:xfrm>
            <a:off x="8458200" y="3255264"/>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Condition</a:t>
            </a:r>
            <a:endParaRPr lang="en-US" sz="1500" dirty="0"/>
          </a:p>
        </p:txBody>
      </p:sp>
      <p:sp>
        <p:nvSpPr>
          <p:cNvPr id="24" name="a4float_f2d"/>
          <p:cNvSpPr txBox="1"/>
          <p:nvPr/>
        </p:nvSpPr>
        <p:spPr>
          <a:xfrm>
            <a:off x="8458200" y="3547872"/>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last 12 months vs own 2020–21 baseline</a:t>
            </a:r>
            <a:endParaRPr lang="en-US" sz="1200" dirty="0"/>
          </a:p>
        </p:txBody>
      </p:sp>
      <p:sp>
        <p:nvSpPr>
          <p:cNvPr id="25" name="a5float_f3_c"/>
          <p:cNvSpPr/>
          <p:nvPr/>
        </p:nvSpPr>
        <p:spPr>
          <a:xfrm>
            <a:off x="7772400" y="4041648"/>
            <a:ext cx="512064" cy="512064"/>
          </a:xfrm>
          <a:prstGeom prst="ellipse">
            <a:avLst/>
          </a:prstGeom>
          <a:solidFill>
            <a:srgbClr val="3F6E9E">
              <a:alpha val="18000"/>
            </a:srgbClr>
          </a:solidFill>
          <a:ln w="12700">
            <a:solidFill>
              <a:srgbClr val="3F6E9E"/>
            </a:solidFill>
            <a:prstDash val="solid"/>
          </a:ln>
        </p:spPr>
        <p:txBody>
          <a:bodyPr/>
          <a:lstStyle/>
          <a:p>
            <a:endParaRPr/>
          </a:p>
        </p:txBody>
      </p:sp>
      <p:pic>
        <p:nvPicPr>
          <p:cNvPr id="26" name="a5float_f3_i" descr="preencoded.png"/>
          <p:cNvPicPr>
            <a:picLocks noChangeAspect="1"/>
          </p:cNvPicPr>
          <p:nvPr/>
        </p:nvPicPr>
        <p:blipFill>
          <a:blip r:embed="rId10"/>
          <a:stretch>
            <a:fillRect/>
          </a:stretch>
        </p:blipFill>
        <p:spPr>
          <a:xfrm>
            <a:off x="7895295" y="4164543"/>
            <a:ext cx="266273" cy="266273"/>
          </a:xfrm>
          <a:prstGeom prst="rect">
            <a:avLst/>
          </a:prstGeom>
        </p:spPr>
      </p:pic>
      <p:sp>
        <p:nvSpPr>
          <p:cNvPr id="27" name="a5float_f3t"/>
          <p:cNvSpPr txBox="1"/>
          <p:nvPr/>
        </p:nvSpPr>
        <p:spPr>
          <a:xfrm>
            <a:off x="8458200" y="4023360"/>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Carbon at stake</a:t>
            </a:r>
            <a:endParaRPr lang="en-US" sz="1500" dirty="0"/>
          </a:p>
        </p:txBody>
      </p:sp>
      <p:sp>
        <p:nvSpPr>
          <p:cNvPr id="28" name="a5float_f3d"/>
          <p:cNvSpPr txBox="1"/>
          <p:nvPr/>
        </p:nvSpPr>
        <p:spPr>
          <a:xfrm>
            <a:off x="8458200" y="4315968"/>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stock with a range, from field data</a:t>
            </a:r>
            <a:endParaRPr lang="en-US" sz="1200" dirty="0"/>
          </a:p>
        </p:txBody>
      </p:sp>
      <p:sp>
        <p:nvSpPr>
          <p:cNvPr id="29" name="a6float_f4_c"/>
          <p:cNvSpPr/>
          <p:nvPr/>
        </p:nvSpPr>
        <p:spPr>
          <a:xfrm>
            <a:off x="7772400" y="4809744"/>
            <a:ext cx="512064" cy="512064"/>
          </a:xfrm>
          <a:prstGeom prst="ellipse">
            <a:avLst/>
          </a:prstGeom>
          <a:solidFill>
            <a:srgbClr val="3F6E9E">
              <a:alpha val="18000"/>
            </a:srgbClr>
          </a:solidFill>
          <a:ln w="12700">
            <a:solidFill>
              <a:srgbClr val="3F6E9E"/>
            </a:solidFill>
            <a:prstDash val="solid"/>
          </a:ln>
        </p:spPr>
        <p:txBody>
          <a:bodyPr/>
          <a:lstStyle/>
          <a:p>
            <a:endParaRPr/>
          </a:p>
        </p:txBody>
      </p:sp>
      <p:pic>
        <p:nvPicPr>
          <p:cNvPr id="30" name="a6float_f4_i" descr="preencoded.png"/>
          <p:cNvPicPr>
            <a:picLocks noChangeAspect="1"/>
          </p:cNvPicPr>
          <p:nvPr/>
        </p:nvPicPr>
        <p:blipFill>
          <a:blip r:embed="rId11"/>
          <a:stretch>
            <a:fillRect/>
          </a:stretch>
        </p:blipFill>
        <p:spPr>
          <a:xfrm>
            <a:off x="7895295" y="4932639"/>
            <a:ext cx="266273" cy="266273"/>
          </a:xfrm>
          <a:prstGeom prst="rect">
            <a:avLst/>
          </a:prstGeom>
        </p:spPr>
      </p:pic>
      <p:sp>
        <p:nvSpPr>
          <p:cNvPr id="31" name="a6float_f4t"/>
          <p:cNvSpPr txBox="1"/>
          <p:nvPr/>
        </p:nvSpPr>
        <p:spPr>
          <a:xfrm>
            <a:off x="8458200" y="4791456"/>
            <a:ext cx="310896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Site report</a:t>
            </a:r>
            <a:endParaRPr lang="en-US" sz="1500" dirty="0"/>
          </a:p>
        </p:txBody>
      </p:sp>
      <p:sp>
        <p:nvSpPr>
          <p:cNvPr id="32" name="a6float_f4d"/>
          <p:cNvSpPr txBox="1"/>
          <p:nvPr/>
        </p:nvSpPr>
        <p:spPr>
          <a:xfrm>
            <a:off x="8458200" y="5084064"/>
            <a:ext cx="315468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one page per stand, every number traced</a:t>
            </a:r>
            <a:endParaRPr lang="en-US" sz="1200" dirty="0"/>
          </a:p>
        </p:txBody>
      </p:sp>
      <p:sp>
        <p:nvSpPr>
          <p:cNvPr id="33" name="a8ping_liver"/>
          <p:cNvSpPr/>
          <p:nvPr/>
        </p:nvSpPr>
        <p:spPr>
          <a:xfrm>
            <a:off x="7772400" y="5715000"/>
            <a:ext cx="3840480" cy="438912"/>
          </a:xfrm>
          <a:prstGeom prst="roundRect">
            <a:avLst>
              <a:gd name="adj" fmla="val 50000"/>
            </a:avLst>
          </a:prstGeom>
          <a:ln w="25400">
            <a:solidFill>
              <a:srgbClr val="BE5F6D"/>
            </a:solidFill>
            <a:prstDash val="solid"/>
          </a:ln>
        </p:spPr>
        <p:txBody>
          <a:bodyPr/>
          <a:lstStyle/>
          <a:p>
            <a:endParaRPr/>
          </a:p>
        </p:txBody>
      </p:sp>
      <p:sp>
        <p:nvSpPr>
          <p:cNvPr id="34" name="a7pop_live_bg"/>
          <p:cNvSpPr/>
          <p:nvPr/>
        </p:nvSpPr>
        <p:spPr>
          <a:xfrm>
            <a:off x="7772400" y="5715000"/>
            <a:ext cx="3840480" cy="438912"/>
          </a:xfrm>
          <a:prstGeom prst="roundRect">
            <a:avLst>
              <a:gd name="adj" fmla="val 41667"/>
            </a:avLst>
          </a:prstGeom>
          <a:solidFill>
            <a:srgbClr val="BE5F6D">
              <a:alpha val="20000"/>
            </a:srgbClr>
          </a:solidFill>
          <a:ln w="9525">
            <a:solidFill>
              <a:srgbClr val="BE5F6D"/>
            </a:solidFill>
            <a:prstDash val="solid"/>
          </a:ln>
        </p:spPr>
        <p:txBody>
          <a:bodyPr/>
          <a:lstStyle/>
          <a:p>
            <a:endParaRPr/>
          </a:p>
        </p:txBody>
      </p:sp>
      <p:sp>
        <p:nvSpPr>
          <p:cNvPr id="35" name="a7pop_live"/>
          <p:cNvSpPr txBox="1"/>
          <p:nvPr/>
        </p:nvSpPr>
        <p:spPr>
          <a:xfrm>
            <a:off x="7772400" y="5715000"/>
            <a:ext cx="3840480" cy="438912"/>
          </a:xfrm>
          <a:prstGeom prst="rect">
            <a:avLst/>
          </a:prstGeom>
          <a:noFill/>
          <a:ln/>
        </p:spPr>
        <p:txBody>
          <a:bodyPr wrap="square" lIns="0" tIns="0" rIns="0" bIns="0" rtlCol="0" anchor="ctr"/>
          <a:lstStyle/>
          <a:p>
            <a:pPr marL="0" indent="0" algn="ctr">
              <a:lnSpc>
                <a:spcPct val="105000"/>
              </a:lnSpc>
              <a:buNone/>
            </a:pPr>
            <a:r>
              <a:rPr lang="en-US" sz="1300" dirty="0">
                <a:solidFill>
                  <a:srgbClr val="A04B58"/>
                </a:solidFill>
                <a:latin typeface="Segoe UI Semibold" pitchFamily="34" charset="0"/>
                <a:ea typeface="Segoe UI Semibold" pitchFamily="34" charset="-122"/>
                <a:cs typeface="Segoe UI Semibold" pitchFamily="34" charset="-120"/>
              </a:rPr>
              <a:t>●  DEMO  ·  the live website, stand 9</a:t>
            </a:r>
            <a:endParaRPr lang="en-US" sz="13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4</a:t>
            </a:fld>
            <a:endParaRPr lang="en-US"/>
          </a:p>
        </p:txBody>
      </p:sp>
      <p:pic>
        <p:nvPicPr>
          <p:cNvPr id="6" name="video_product">
            <a:hlinkClick r:id="" action="ppaction://media"/>
            <a:extLst>
              <a:ext uri="{FF2B5EF4-FFF2-40B4-BE49-F238E27FC236}">
                <a16:creationId xmlns:a16="http://schemas.microsoft.com/office/drawing/2014/main" id="{B6245078-A30E-4FC1-06B0-E67D597384DF}"/>
              </a:ext>
            </a:extLst>
          </p:cNvPr>
          <p:cNvPicPr>
            <a:picLocks noChangeAspect="1"/>
          </p:cNvPicPr>
          <p:nvPr>
            <a:videoFile r:link="rId2"/>
            <p:extLst>
              <p:ext uri="{DAA4B4D4-6D71-4841-9C94-3DE7FCFB9230}">
                <p14:media xmlns:p14="http://schemas.microsoft.com/office/powerpoint/2010/main" r:embed="rId1"/>
              </p:ext>
            </p:extLst>
          </p:nvPr>
        </p:nvPicPr>
        <p:blipFill>
          <a:blip r:embed="rId12"/>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21034" fill="hold"/>
                                        <p:tgtEl>
                                          <p:spTgt spid="6"/>
                                        </p:tgtEl>
                                      </p:cBhvr>
                                    </p:cmd>
                                  </p:childTnLst>
                                </p:cTn>
                              </p:par>
                              <p:par>
                                <p:cTn id="7" presetID="10" presetClass="entr" presetSubtype="0" decel="100000" fill="hold" grpId="0"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42" presetClass="entr" presetSubtype="0" decel="10000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ppt_y</p:attrName>
                                        </p:attrNameLst>
                                      </p:cBhvr>
                                      <p:tavLst>
                                        <p:tav tm="0">
                                          <p:val>
                                            <p:strVal val="#ppt_y+0.03"/>
                                          </p:val>
                                        </p:tav>
                                        <p:tav tm="100000">
                                          <p:val>
                                            <p:strVal val="#ppt_y"/>
                                          </p:val>
                                        </p:tav>
                                      </p:tavLst>
                                    </p:anim>
                                  </p:childTnLst>
                                </p:cTn>
                              </p:par>
                              <p:par>
                                <p:cTn id="14" presetID="53" presetClass="entr" presetSubtype="16" decel="100000" fill="hold" grpId="0" nodeType="withEffect">
                                  <p:stCondLst>
                                    <p:cond delay="47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700"/>
                                        <p:tgtEl>
                                          <p:spTgt spid="7"/>
                                        </p:tgtEl>
                                      </p:cBhvr>
                                    </p:animEffect>
                                    <p:anim calcmode="lin" valueType="num">
                                      <p:cBhvr additive="base">
                                        <p:cTn id="17" dur="800" fill="hold"/>
                                        <p:tgtEl>
                                          <p:spTgt spid="7"/>
                                        </p:tgtEl>
                                        <p:attrNameLst>
                                          <p:attrName>ppt_w</p:attrName>
                                        </p:attrNameLst>
                                      </p:cBhvr>
                                      <p:tavLst>
                                        <p:tav tm="0">
                                          <p:val>
                                            <p:strVal val="#ppt_w*0.85"/>
                                          </p:val>
                                        </p:tav>
                                        <p:tav tm="100000">
                                          <p:val>
                                            <p:strVal val="#ppt_w"/>
                                          </p:val>
                                        </p:tav>
                                      </p:tavLst>
                                    </p:anim>
                                    <p:anim calcmode="lin" valueType="num">
                                      <p:cBhvr additive="base">
                                        <p:cTn id="18" dur="800" fill="hold"/>
                                        <p:tgtEl>
                                          <p:spTgt spid="7"/>
                                        </p:tgtEl>
                                        <p:attrNameLst>
                                          <p:attrName>ppt_h</p:attrName>
                                        </p:attrNameLst>
                                      </p:cBhvr>
                                      <p:tavLst>
                                        <p:tav tm="0">
                                          <p:val>
                                            <p:strVal val="#ppt_h*0.85"/>
                                          </p:val>
                                        </p:tav>
                                        <p:tav tm="100000">
                                          <p:val>
                                            <p:strVal val="#ppt_h"/>
                                          </p:val>
                                        </p:tav>
                                      </p:tavLst>
                                    </p:anim>
                                  </p:childTnLst>
                                </p:cTn>
                              </p:par>
                              <p:par>
                                <p:cTn id="19" presetID="53" presetClass="entr" presetSubtype="16" decel="100000" fill="hold" grpId="0" nodeType="withEffect">
                                  <p:stCondLst>
                                    <p:cond delay="47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00"/>
                                        <p:tgtEl>
                                          <p:spTgt spid="8"/>
                                        </p:tgtEl>
                                      </p:cBhvr>
                                    </p:animEffect>
                                    <p:anim calcmode="lin" valueType="num">
                                      <p:cBhvr additive="base">
                                        <p:cTn id="22" dur="800" fill="hold"/>
                                        <p:tgtEl>
                                          <p:spTgt spid="8"/>
                                        </p:tgtEl>
                                        <p:attrNameLst>
                                          <p:attrName>ppt_w</p:attrName>
                                        </p:attrNameLst>
                                      </p:cBhvr>
                                      <p:tavLst>
                                        <p:tav tm="0">
                                          <p:val>
                                            <p:strVal val="#ppt_w*0.85"/>
                                          </p:val>
                                        </p:tav>
                                        <p:tav tm="100000">
                                          <p:val>
                                            <p:strVal val="#ppt_w"/>
                                          </p:val>
                                        </p:tav>
                                      </p:tavLst>
                                    </p:anim>
                                    <p:anim calcmode="lin" valueType="num">
                                      <p:cBhvr additive="base">
                                        <p:cTn id="23" dur="800" fill="hold"/>
                                        <p:tgtEl>
                                          <p:spTgt spid="8"/>
                                        </p:tgtEl>
                                        <p:attrNameLst>
                                          <p:attrName>ppt_h</p:attrName>
                                        </p:attrNameLst>
                                      </p:cBhvr>
                                      <p:tavLst>
                                        <p:tav tm="0">
                                          <p:val>
                                            <p:strVal val="#ppt_h*0.85"/>
                                          </p:val>
                                        </p:tav>
                                        <p:tav tm="100000">
                                          <p:val>
                                            <p:strVal val="#ppt_h"/>
                                          </p:val>
                                        </p:tav>
                                      </p:tavLst>
                                    </p:anim>
                                  </p:childTnLst>
                                </p:cTn>
                              </p:par>
                              <p:par>
                                <p:cTn id="24" presetID="53" presetClass="entr" presetSubtype="16" decel="100000" fill="hold" grpId="0" nodeType="withEffect">
                                  <p:stCondLst>
                                    <p:cond delay="47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700"/>
                                        <p:tgtEl>
                                          <p:spTgt spid="9"/>
                                        </p:tgtEl>
                                      </p:cBhvr>
                                    </p:animEffect>
                                    <p:anim calcmode="lin" valueType="num">
                                      <p:cBhvr additive="base">
                                        <p:cTn id="27" dur="800" fill="hold"/>
                                        <p:tgtEl>
                                          <p:spTgt spid="9"/>
                                        </p:tgtEl>
                                        <p:attrNameLst>
                                          <p:attrName>ppt_w</p:attrName>
                                        </p:attrNameLst>
                                      </p:cBhvr>
                                      <p:tavLst>
                                        <p:tav tm="0">
                                          <p:val>
                                            <p:strVal val="#ppt_w*0.85"/>
                                          </p:val>
                                        </p:tav>
                                        <p:tav tm="100000">
                                          <p:val>
                                            <p:strVal val="#ppt_w"/>
                                          </p:val>
                                        </p:tav>
                                      </p:tavLst>
                                    </p:anim>
                                    <p:anim calcmode="lin" valueType="num">
                                      <p:cBhvr additive="base">
                                        <p:cTn id="28" dur="800" fill="hold"/>
                                        <p:tgtEl>
                                          <p:spTgt spid="9"/>
                                        </p:tgtEl>
                                        <p:attrNameLst>
                                          <p:attrName>ppt_h</p:attrName>
                                        </p:attrNameLst>
                                      </p:cBhvr>
                                      <p:tavLst>
                                        <p:tav tm="0">
                                          <p:val>
                                            <p:strVal val="#ppt_h*0.85"/>
                                          </p:val>
                                        </p:tav>
                                        <p:tav tm="100000">
                                          <p:val>
                                            <p:strVal val="#ppt_h"/>
                                          </p:val>
                                        </p:tav>
                                      </p:tavLst>
                                    </p:anim>
                                  </p:childTnLst>
                                </p:cTn>
                              </p:par>
                              <p:par>
                                <p:cTn id="29" presetID="53" presetClass="entr" presetSubtype="16" decel="100000" fill="hold" grpId="0" nodeType="withEffect">
                                  <p:stCondLst>
                                    <p:cond delay="47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700"/>
                                        <p:tgtEl>
                                          <p:spTgt spid="10"/>
                                        </p:tgtEl>
                                      </p:cBhvr>
                                    </p:animEffect>
                                    <p:anim calcmode="lin" valueType="num">
                                      <p:cBhvr additive="base">
                                        <p:cTn id="32" dur="800" fill="hold"/>
                                        <p:tgtEl>
                                          <p:spTgt spid="10"/>
                                        </p:tgtEl>
                                        <p:attrNameLst>
                                          <p:attrName>ppt_w</p:attrName>
                                        </p:attrNameLst>
                                      </p:cBhvr>
                                      <p:tavLst>
                                        <p:tav tm="0">
                                          <p:val>
                                            <p:strVal val="#ppt_w*0.85"/>
                                          </p:val>
                                        </p:tav>
                                        <p:tav tm="100000">
                                          <p:val>
                                            <p:strVal val="#ppt_w"/>
                                          </p:val>
                                        </p:tav>
                                      </p:tavLst>
                                    </p:anim>
                                    <p:anim calcmode="lin" valueType="num">
                                      <p:cBhvr additive="base">
                                        <p:cTn id="33" dur="800" fill="hold"/>
                                        <p:tgtEl>
                                          <p:spTgt spid="10"/>
                                        </p:tgtEl>
                                        <p:attrNameLst>
                                          <p:attrName>ppt_h</p:attrName>
                                        </p:attrNameLst>
                                      </p:cBhvr>
                                      <p:tavLst>
                                        <p:tav tm="0">
                                          <p:val>
                                            <p:strVal val="#ppt_h*0.85"/>
                                          </p:val>
                                        </p:tav>
                                        <p:tav tm="100000">
                                          <p:val>
                                            <p:strVal val="#ppt_h"/>
                                          </p:val>
                                        </p:tav>
                                      </p:tavLst>
                                    </p:anim>
                                  </p:childTnLst>
                                </p:cTn>
                              </p:par>
                              <p:par>
                                <p:cTn id="34" presetID="53" presetClass="entr" presetSubtype="16" decel="100000" fill="hold" grpId="0" nodeType="withEffect">
                                  <p:stCondLst>
                                    <p:cond delay="47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700"/>
                                        <p:tgtEl>
                                          <p:spTgt spid="11"/>
                                        </p:tgtEl>
                                      </p:cBhvr>
                                    </p:animEffect>
                                    <p:anim calcmode="lin" valueType="num">
                                      <p:cBhvr additive="base">
                                        <p:cTn id="37" dur="800" fill="hold"/>
                                        <p:tgtEl>
                                          <p:spTgt spid="11"/>
                                        </p:tgtEl>
                                        <p:attrNameLst>
                                          <p:attrName>ppt_w</p:attrName>
                                        </p:attrNameLst>
                                      </p:cBhvr>
                                      <p:tavLst>
                                        <p:tav tm="0">
                                          <p:val>
                                            <p:strVal val="#ppt_w*0.85"/>
                                          </p:val>
                                        </p:tav>
                                        <p:tav tm="100000">
                                          <p:val>
                                            <p:strVal val="#ppt_w"/>
                                          </p:val>
                                        </p:tav>
                                      </p:tavLst>
                                    </p:anim>
                                    <p:anim calcmode="lin" valueType="num">
                                      <p:cBhvr additive="base">
                                        <p:cTn id="38" dur="800" fill="hold"/>
                                        <p:tgtEl>
                                          <p:spTgt spid="11"/>
                                        </p:tgtEl>
                                        <p:attrNameLst>
                                          <p:attrName>ppt_h</p:attrName>
                                        </p:attrNameLst>
                                      </p:cBhvr>
                                      <p:tavLst>
                                        <p:tav tm="0">
                                          <p:val>
                                            <p:strVal val="#ppt_h*0.85"/>
                                          </p:val>
                                        </p:tav>
                                        <p:tav tm="100000">
                                          <p:val>
                                            <p:strVal val="#ppt_h"/>
                                          </p:val>
                                        </p:tav>
                                      </p:tavLst>
                                    </p:anim>
                                  </p:childTnLst>
                                </p:cTn>
                              </p:par>
                              <p:par>
                                <p:cTn id="39" presetID="42" presetClass="entr" presetSubtype="0" decel="100000" fill="hold" grpId="0" nodeType="withEffect">
                                  <p:stCondLst>
                                    <p:cond delay="69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700"/>
                                        <p:tgtEl>
                                          <p:spTgt spid="13"/>
                                        </p:tgtEl>
                                      </p:cBhvr>
                                    </p:animEffect>
                                    <p:anim calcmode="lin" valueType="num">
                                      <p:cBhvr additive="base">
                                        <p:cTn id="42" dur="700" fill="hold"/>
                                        <p:tgtEl>
                                          <p:spTgt spid="13"/>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69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00"/>
                                        <p:tgtEl>
                                          <p:spTgt spid="14"/>
                                        </p:tgtEl>
                                      </p:cBhvr>
                                    </p:animEffect>
                                    <p:anim calcmode="lin" valueType="num">
                                      <p:cBhvr additive="base">
                                        <p:cTn id="46" dur="700" fill="hold"/>
                                        <p:tgtEl>
                                          <p:spTgt spid="14"/>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69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700"/>
                                        <p:tgtEl>
                                          <p:spTgt spid="15"/>
                                        </p:tgtEl>
                                      </p:cBhvr>
                                    </p:animEffect>
                                    <p:anim calcmode="lin" valueType="num">
                                      <p:cBhvr additive="base">
                                        <p:cTn id="50" dur="700" fill="hold"/>
                                        <p:tgtEl>
                                          <p:spTgt spid="15"/>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69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700"/>
                                        <p:tgtEl>
                                          <p:spTgt spid="16"/>
                                        </p:tgtEl>
                                      </p:cBhvr>
                                    </p:animEffect>
                                    <p:anim calcmode="lin" valueType="num">
                                      <p:cBhvr additive="base">
                                        <p:cTn id="54" dur="700" fill="hold"/>
                                        <p:tgtEl>
                                          <p:spTgt spid="16"/>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91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700"/>
                                        <p:tgtEl>
                                          <p:spTgt spid="17"/>
                                        </p:tgtEl>
                                      </p:cBhvr>
                                    </p:animEffect>
                                    <p:anim calcmode="lin" valueType="num">
                                      <p:cBhvr additive="base">
                                        <p:cTn id="58" dur="700" fill="hold"/>
                                        <p:tgtEl>
                                          <p:spTgt spid="17"/>
                                        </p:tgtEl>
                                        <p:attrNameLst>
                                          <p:attrName>ppt_y</p:attrName>
                                        </p:attrNameLst>
                                      </p:cBhvr>
                                      <p:tavLst>
                                        <p:tav tm="0">
                                          <p:val>
                                            <p:strVal val="#ppt_y+0.03"/>
                                          </p:val>
                                        </p:tav>
                                        <p:tav tm="100000">
                                          <p:val>
                                            <p:strVal val="#ppt_y"/>
                                          </p:val>
                                        </p:tav>
                                      </p:tavLst>
                                    </p:anim>
                                  </p:childTnLst>
                                </p:cTn>
                              </p:par>
                              <p:par>
                                <p:cTn id="59" presetID="42" presetClass="entr" presetSubtype="0" decel="100000" fill="hold" grpId="0" nodeType="withEffect">
                                  <p:stCondLst>
                                    <p:cond delay="91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700"/>
                                        <p:tgtEl>
                                          <p:spTgt spid="18"/>
                                        </p:tgtEl>
                                      </p:cBhvr>
                                    </p:animEffect>
                                    <p:anim calcmode="lin" valueType="num">
                                      <p:cBhvr additive="base">
                                        <p:cTn id="62" dur="700" fill="hold"/>
                                        <p:tgtEl>
                                          <p:spTgt spid="18"/>
                                        </p:tgtEl>
                                        <p:attrNameLst>
                                          <p:attrName>ppt_y</p:attrName>
                                        </p:attrNameLst>
                                      </p:cBhvr>
                                      <p:tavLst>
                                        <p:tav tm="0">
                                          <p:val>
                                            <p:strVal val="#ppt_y+0.03"/>
                                          </p:val>
                                        </p:tav>
                                        <p:tav tm="100000">
                                          <p:val>
                                            <p:strVal val="#ppt_y"/>
                                          </p:val>
                                        </p:tav>
                                      </p:tavLst>
                                    </p:anim>
                                  </p:childTnLst>
                                </p:cTn>
                              </p:par>
                              <p:par>
                                <p:cTn id="63" presetID="42" presetClass="entr" presetSubtype="0" decel="100000" fill="hold" grpId="0" nodeType="withEffect">
                                  <p:stCondLst>
                                    <p:cond delay="91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additive="base">
                                        <p:cTn id="66" dur="700" fill="hold"/>
                                        <p:tgtEl>
                                          <p:spTgt spid="19"/>
                                        </p:tgtEl>
                                        <p:attrNameLst>
                                          <p:attrName>ppt_y</p:attrName>
                                        </p:attrNameLst>
                                      </p:cBhvr>
                                      <p:tavLst>
                                        <p:tav tm="0">
                                          <p:val>
                                            <p:strVal val="#ppt_y+0.03"/>
                                          </p:val>
                                        </p:tav>
                                        <p:tav tm="100000">
                                          <p:val>
                                            <p:strVal val="#ppt_y"/>
                                          </p:val>
                                        </p:tav>
                                      </p:tavLst>
                                    </p:anim>
                                  </p:childTnLst>
                                </p:cTn>
                              </p:par>
                              <p:par>
                                <p:cTn id="67" presetID="42" presetClass="entr" presetSubtype="0" decel="100000" fill="hold" grpId="0" nodeType="withEffect">
                                  <p:stCondLst>
                                    <p:cond delay="91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700"/>
                                        <p:tgtEl>
                                          <p:spTgt spid="20"/>
                                        </p:tgtEl>
                                      </p:cBhvr>
                                    </p:animEffect>
                                    <p:anim calcmode="lin" valueType="num">
                                      <p:cBhvr additive="base">
                                        <p:cTn id="70" dur="700" fill="hold"/>
                                        <p:tgtEl>
                                          <p:spTgt spid="20"/>
                                        </p:tgtEl>
                                        <p:attrNameLst>
                                          <p:attrName>ppt_y</p:attrName>
                                        </p:attrNameLst>
                                      </p:cBhvr>
                                      <p:tavLst>
                                        <p:tav tm="0">
                                          <p:val>
                                            <p:strVal val="#ppt_y+0.03"/>
                                          </p:val>
                                        </p:tav>
                                        <p:tav tm="100000">
                                          <p:val>
                                            <p:strVal val="#ppt_y"/>
                                          </p:val>
                                        </p:tav>
                                      </p:tavLst>
                                    </p:anim>
                                  </p:childTnLst>
                                </p:cTn>
                              </p:par>
                              <p:par>
                                <p:cTn id="71" presetID="42" presetClass="entr" presetSubtype="0" decel="100000" fill="hold" grpId="0" nodeType="withEffect">
                                  <p:stCondLst>
                                    <p:cond delay="113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700"/>
                                        <p:tgtEl>
                                          <p:spTgt spid="21"/>
                                        </p:tgtEl>
                                      </p:cBhvr>
                                    </p:animEffect>
                                    <p:anim calcmode="lin" valueType="num">
                                      <p:cBhvr additive="base">
                                        <p:cTn id="74" dur="700" fill="hold"/>
                                        <p:tgtEl>
                                          <p:spTgt spid="21"/>
                                        </p:tgtEl>
                                        <p:attrNameLst>
                                          <p:attrName>ppt_y</p:attrName>
                                        </p:attrNameLst>
                                      </p:cBhvr>
                                      <p:tavLst>
                                        <p:tav tm="0">
                                          <p:val>
                                            <p:strVal val="#ppt_y+0.03"/>
                                          </p:val>
                                        </p:tav>
                                        <p:tav tm="100000">
                                          <p:val>
                                            <p:strVal val="#ppt_y"/>
                                          </p:val>
                                        </p:tav>
                                      </p:tavLst>
                                    </p:anim>
                                  </p:childTnLst>
                                </p:cTn>
                              </p:par>
                              <p:par>
                                <p:cTn id="75" presetID="42" presetClass="entr" presetSubtype="0" decel="100000" fill="hold" grpId="0" nodeType="withEffect">
                                  <p:stCondLst>
                                    <p:cond delay="113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700"/>
                                        <p:tgtEl>
                                          <p:spTgt spid="22"/>
                                        </p:tgtEl>
                                      </p:cBhvr>
                                    </p:animEffect>
                                    <p:anim calcmode="lin" valueType="num">
                                      <p:cBhvr additive="base">
                                        <p:cTn id="78" dur="700" fill="hold"/>
                                        <p:tgtEl>
                                          <p:spTgt spid="22"/>
                                        </p:tgtEl>
                                        <p:attrNameLst>
                                          <p:attrName>ppt_y</p:attrName>
                                        </p:attrNameLst>
                                      </p:cBhvr>
                                      <p:tavLst>
                                        <p:tav tm="0">
                                          <p:val>
                                            <p:strVal val="#ppt_y+0.03"/>
                                          </p:val>
                                        </p:tav>
                                        <p:tav tm="100000">
                                          <p:val>
                                            <p:strVal val="#ppt_y"/>
                                          </p:val>
                                        </p:tav>
                                      </p:tavLst>
                                    </p:anim>
                                  </p:childTnLst>
                                </p:cTn>
                              </p:par>
                              <p:par>
                                <p:cTn id="79" presetID="42" presetClass="entr" presetSubtype="0" decel="100000" fill="hold" grpId="0" nodeType="withEffect">
                                  <p:stCondLst>
                                    <p:cond delay="113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700"/>
                                        <p:tgtEl>
                                          <p:spTgt spid="23"/>
                                        </p:tgtEl>
                                      </p:cBhvr>
                                    </p:animEffect>
                                    <p:anim calcmode="lin" valueType="num">
                                      <p:cBhvr additive="base">
                                        <p:cTn id="82" dur="700" fill="hold"/>
                                        <p:tgtEl>
                                          <p:spTgt spid="23"/>
                                        </p:tgtEl>
                                        <p:attrNameLst>
                                          <p:attrName>ppt_y</p:attrName>
                                        </p:attrNameLst>
                                      </p:cBhvr>
                                      <p:tavLst>
                                        <p:tav tm="0">
                                          <p:val>
                                            <p:strVal val="#ppt_y+0.03"/>
                                          </p:val>
                                        </p:tav>
                                        <p:tav tm="100000">
                                          <p:val>
                                            <p:strVal val="#ppt_y"/>
                                          </p:val>
                                        </p:tav>
                                      </p:tavLst>
                                    </p:anim>
                                  </p:childTnLst>
                                </p:cTn>
                              </p:par>
                              <p:par>
                                <p:cTn id="83" presetID="42" presetClass="entr" presetSubtype="0" decel="100000" fill="hold" grpId="0" nodeType="withEffect">
                                  <p:stCondLst>
                                    <p:cond delay="113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700"/>
                                        <p:tgtEl>
                                          <p:spTgt spid="24"/>
                                        </p:tgtEl>
                                      </p:cBhvr>
                                    </p:animEffect>
                                    <p:anim calcmode="lin" valueType="num">
                                      <p:cBhvr additive="base">
                                        <p:cTn id="86" dur="700" fill="hold"/>
                                        <p:tgtEl>
                                          <p:spTgt spid="24"/>
                                        </p:tgtEl>
                                        <p:attrNameLst>
                                          <p:attrName>ppt_y</p:attrName>
                                        </p:attrNameLst>
                                      </p:cBhvr>
                                      <p:tavLst>
                                        <p:tav tm="0">
                                          <p:val>
                                            <p:strVal val="#ppt_y+0.03"/>
                                          </p:val>
                                        </p:tav>
                                        <p:tav tm="100000">
                                          <p:val>
                                            <p:strVal val="#ppt_y"/>
                                          </p:val>
                                        </p:tav>
                                      </p:tavLst>
                                    </p:anim>
                                  </p:childTnLst>
                                </p:cTn>
                              </p:par>
                              <p:par>
                                <p:cTn id="87" presetID="42" presetClass="entr" presetSubtype="0" decel="100000" fill="hold" grpId="0" nodeType="withEffect">
                                  <p:stCondLst>
                                    <p:cond delay="135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700"/>
                                        <p:tgtEl>
                                          <p:spTgt spid="25"/>
                                        </p:tgtEl>
                                      </p:cBhvr>
                                    </p:animEffect>
                                    <p:anim calcmode="lin" valueType="num">
                                      <p:cBhvr additive="base">
                                        <p:cTn id="90" dur="700" fill="hold"/>
                                        <p:tgtEl>
                                          <p:spTgt spid="25"/>
                                        </p:tgtEl>
                                        <p:attrNameLst>
                                          <p:attrName>ppt_y</p:attrName>
                                        </p:attrNameLst>
                                      </p:cBhvr>
                                      <p:tavLst>
                                        <p:tav tm="0">
                                          <p:val>
                                            <p:strVal val="#ppt_y+0.03"/>
                                          </p:val>
                                        </p:tav>
                                        <p:tav tm="100000">
                                          <p:val>
                                            <p:strVal val="#ppt_y"/>
                                          </p:val>
                                        </p:tav>
                                      </p:tavLst>
                                    </p:anim>
                                  </p:childTnLst>
                                </p:cTn>
                              </p:par>
                              <p:par>
                                <p:cTn id="91" presetID="42" presetClass="entr" presetSubtype="0" decel="100000" fill="hold" grpId="0" nodeType="withEffect">
                                  <p:stCondLst>
                                    <p:cond delay="135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700"/>
                                        <p:tgtEl>
                                          <p:spTgt spid="26"/>
                                        </p:tgtEl>
                                      </p:cBhvr>
                                    </p:animEffect>
                                    <p:anim calcmode="lin" valueType="num">
                                      <p:cBhvr additive="base">
                                        <p:cTn id="94" dur="700" fill="hold"/>
                                        <p:tgtEl>
                                          <p:spTgt spid="26"/>
                                        </p:tgtEl>
                                        <p:attrNameLst>
                                          <p:attrName>ppt_y</p:attrName>
                                        </p:attrNameLst>
                                      </p:cBhvr>
                                      <p:tavLst>
                                        <p:tav tm="0">
                                          <p:val>
                                            <p:strVal val="#ppt_y+0.03"/>
                                          </p:val>
                                        </p:tav>
                                        <p:tav tm="100000">
                                          <p:val>
                                            <p:strVal val="#ppt_y"/>
                                          </p:val>
                                        </p:tav>
                                      </p:tavLst>
                                    </p:anim>
                                  </p:childTnLst>
                                </p:cTn>
                              </p:par>
                              <p:par>
                                <p:cTn id="95" presetID="42" presetClass="entr" presetSubtype="0" decel="100000" fill="hold" grpId="0" nodeType="withEffect">
                                  <p:stCondLst>
                                    <p:cond delay="135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700"/>
                                        <p:tgtEl>
                                          <p:spTgt spid="27"/>
                                        </p:tgtEl>
                                      </p:cBhvr>
                                    </p:animEffect>
                                    <p:anim calcmode="lin" valueType="num">
                                      <p:cBhvr additive="base">
                                        <p:cTn id="98" dur="700" fill="hold"/>
                                        <p:tgtEl>
                                          <p:spTgt spid="27"/>
                                        </p:tgtEl>
                                        <p:attrNameLst>
                                          <p:attrName>ppt_y</p:attrName>
                                        </p:attrNameLst>
                                      </p:cBhvr>
                                      <p:tavLst>
                                        <p:tav tm="0">
                                          <p:val>
                                            <p:strVal val="#ppt_y+0.03"/>
                                          </p:val>
                                        </p:tav>
                                        <p:tav tm="100000">
                                          <p:val>
                                            <p:strVal val="#ppt_y"/>
                                          </p:val>
                                        </p:tav>
                                      </p:tavLst>
                                    </p:anim>
                                  </p:childTnLst>
                                </p:cTn>
                              </p:par>
                              <p:par>
                                <p:cTn id="99" presetID="42" presetClass="entr" presetSubtype="0" decel="100000" fill="hold" grpId="0" nodeType="withEffect">
                                  <p:stCondLst>
                                    <p:cond delay="135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700"/>
                                        <p:tgtEl>
                                          <p:spTgt spid="28"/>
                                        </p:tgtEl>
                                      </p:cBhvr>
                                    </p:animEffect>
                                    <p:anim calcmode="lin" valueType="num">
                                      <p:cBhvr additive="base">
                                        <p:cTn id="102" dur="700" fill="hold"/>
                                        <p:tgtEl>
                                          <p:spTgt spid="28"/>
                                        </p:tgtEl>
                                        <p:attrNameLst>
                                          <p:attrName>ppt_y</p:attrName>
                                        </p:attrNameLst>
                                      </p:cBhvr>
                                      <p:tavLst>
                                        <p:tav tm="0">
                                          <p:val>
                                            <p:strVal val="#ppt_y+0.03"/>
                                          </p:val>
                                        </p:tav>
                                        <p:tav tm="100000">
                                          <p:val>
                                            <p:strVal val="#ppt_y"/>
                                          </p:val>
                                        </p:tav>
                                      </p:tavLst>
                                    </p:anim>
                                  </p:childTnLst>
                                </p:cTn>
                              </p:par>
                              <p:par>
                                <p:cTn id="103" presetID="42" presetClass="entr" presetSubtype="0" decel="100000" fill="hold" grpId="0" nodeType="withEffect">
                                  <p:stCondLst>
                                    <p:cond delay="157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700"/>
                                        <p:tgtEl>
                                          <p:spTgt spid="29"/>
                                        </p:tgtEl>
                                      </p:cBhvr>
                                    </p:animEffect>
                                    <p:anim calcmode="lin" valueType="num">
                                      <p:cBhvr additive="base">
                                        <p:cTn id="106" dur="700" fill="hold"/>
                                        <p:tgtEl>
                                          <p:spTgt spid="29"/>
                                        </p:tgtEl>
                                        <p:attrNameLst>
                                          <p:attrName>ppt_y</p:attrName>
                                        </p:attrNameLst>
                                      </p:cBhvr>
                                      <p:tavLst>
                                        <p:tav tm="0">
                                          <p:val>
                                            <p:strVal val="#ppt_y+0.03"/>
                                          </p:val>
                                        </p:tav>
                                        <p:tav tm="100000">
                                          <p:val>
                                            <p:strVal val="#ppt_y"/>
                                          </p:val>
                                        </p:tav>
                                      </p:tavLst>
                                    </p:anim>
                                  </p:childTnLst>
                                </p:cTn>
                              </p:par>
                              <p:par>
                                <p:cTn id="107" presetID="42" presetClass="entr" presetSubtype="0" decel="100000" fill="hold" grpId="0" nodeType="withEffect">
                                  <p:stCondLst>
                                    <p:cond delay="157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700"/>
                                        <p:tgtEl>
                                          <p:spTgt spid="30"/>
                                        </p:tgtEl>
                                      </p:cBhvr>
                                    </p:animEffect>
                                    <p:anim calcmode="lin" valueType="num">
                                      <p:cBhvr additive="base">
                                        <p:cTn id="110" dur="700" fill="hold"/>
                                        <p:tgtEl>
                                          <p:spTgt spid="30"/>
                                        </p:tgtEl>
                                        <p:attrNameLst>
                                          <p:attrName>ppt_y</p:attrName>
                                        </p:attrNameLst>
                                      </p:cBhvr>
                                      <p:tavLst>
                                        <p:tav tm="0">
                                          <p:val>
                                            <p:strVal val="#ppt_y+0.03"/>
                                          </p:val>
                                        </p:tav>
                                        <p:tav tm="100000">
                                          <p:val>
                                            <p:strVal val="#ppt_y"/>
                                          </p:val>
                                        </p:tav>
                                      </p:tavLst>
                                    </p:anim>
                                  </p:childTnLst>
                                </p:cTn>
                              </p:par>
                              <p:par>
                                <p:cTn id="111" presetID="42" presetClass="entr" presetSubtype="0" decel="100000" fill="hold" grpId="0" nodeType="withEffect">
                                  <p:stCondLst>
                                    <p:cond delay="1570"/>
                                  </p:stCondLst>
                                  <p:childTnLst>
                                    <p:set>
                                      <p:cBhvr>
                                        <p:cTn id="112" dur="1" fill="hold">
                                          <p:stCondLst>
                                            <p:cond delay="0"/>
                                          </p:stCondLst>
                                        </p:cTn>
                                        <p:tgtEl>
                                          <p:spTgt spid="31"/>
                                        </p:tgtEl>
                                        <p:attrNameLst>
                                          <p:attrName>style.visibility</p:attrName>
                                        </p:attrNameLst>
                                      </p:cBhvr>
                                      <p:to>
                                        <p:strVal val="visible"/>
                                      </p:to>
                                    </p:set>
                                    <p:animEffect transition="in" filter="fade">
                                      <p:cBhvr>
                                        <p:cTn id="113" dur="700"/>
                                        <p:tgtEl>
                                          <p:spTgt spid="31"/>
                                        </p:tgtEl>
                                      </p:cBhvr>
                                    </p:animEffect>
                                    <p:anim calcmode="lin" valueType="num">
                                      <p:cBhvr additive="base">
                                        <p:cTn id="114" dur="700" fill="hold"/>
                                        <p:tgtEl>
                                          <p:spTgt spid="31"/>
                                        </p:tgtEl>
                                        <p:attrNameLst>
                                          <p:attrName>ppt_y</p:attrName>
                                        </p:attrNameLst>
                                      </p:cBhvr>
                                      <p:tavLst>
                                        <p:tav tm="0">
                                          <p:val>
                                            <p:strVal val="#ppt_y+0.03"/>
                                          </p:val>
                                        </p:tav>
                                        <p:tav tm="100000">
                                          <p:val>
                                            <p:strVal val="#ppt_y"/>
                                          </p:val>
                                        </p:tav>
                                      </p:tavLst>
                                    </p:anim>
                                  </p:childTnLst>
                                </p:cTn>
                              </p:par>
                              <p:par>
                                <p:cTn id="115" presetID="42" presetClass="entr" presetSubtype="0" decel="100000" fill="hold" grpId="0" nodeType="withEffect">
                                  <p:stCondLst>
                                    <p:cond delay="157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700"/>
                                        <p:tgtEl>
                                          <p:spTgt spid="32"/>
                                        </p:tgtEl>
                                      </p:cBhvr>
                                    </p:animEffect>
                                    <p:anim calcmode="lin" valueType="num">
                                      <p:cBhvr additive="base">
                                        <p:cTn id="118" dur="700" fill="hold"/>
                                        <p:tgtEl>
                                          <p:spTgt spid="32"/>
                                        </p:tgtEl>
                                        <p:attrNameLst>
                                          <p:attrName>ppt_y</p:attrName>
                                        </p:attrNameLst>
                                      </p:cBhvr>
                                      <p:tavLst>
                                        <p:tav tm="0">
                                          <p:val>
                                            <p:strVal val="#ppt_y+0.03"/>
                                          </p:val>
                                        </p:tav>
                                        <p:tav tm="100000">
                                          <p:val>
                                            <p:strVal val="#ppt_y"/>
                                          </p:val>
                                        </p:tav>
                                      </p:tavLst>
                                    </p:anim>
                                  </p:childTnLst>
                                </p:cTn>
                              </p:par>
                              <p:par>
                                <p:cTn id="119" presetID="53" presetClass="entr" presetSubtype="16" decel="100000" fill="hold" grpId="0" nodeType="withEffect">
                                  <p:stCondLst>
                                    <p:cond delay="1790"/>
                                  </p:stCondLst>
                                  <p:childTnLst>
                                    <p:set>
                                      <p:cBhvr>
                                        <p:cTn id="120" dur="1" fill="hold">
                                          <p:stCondLst>
                                            <p:cond delay="0"/>
                                          </p:stCondLst>
                                        </p:cTn>
                                        <p:tgtEl>
                                          <p:spTgt spid="34"/>
                                        </p:tgtEl>
                                        <p:attrNameLst>
                                          <p:attrName>style.visibility</p:attrName>
                                        </p:attrNameLst>
                                      </p:cBhvr>
                                      <p:to>
                                        <p:strVal val="visible"/>
                                      </p:to>
                                    </p:set>
                                    <p:animEffect transition="in" filter="fade">
                                      <p:cBhvr>
                                        <p:cTn id="121" dur="450"/>
                                        <p:tgtEl>
                                          <p:spTgt spid="34"/>
                                        </p:tgtEl>
                                      </p:cBhvr>
                                    </p:animEffect>
                                    <p:anim calcmode="lin" valueType="num">
                                      <p:cBhvr additive="base">
                                        <p:cTn id="122" dur="450" fill="hold"/>
                                        <p:tgtEl>
                                          <p:spTgt spid="34"/>
                                        </p:tgtEl>
                                        <p:attrNameLst>
                                          <p:attrName>ppt_w</p:attrName>
                                        </p:attrNameLst>
                                      </p:cBhvr>
                                      <p:tavLst>
                                        <p:tav tm="0">
                                          <p:val>
                                            <p:strVal val="#ppt_w*0.2"/>
                                          </p:val>
                                        </p:tav>
                                        <p:tav tm="100000">
                                          <p:val>
                                            <p:strVal val="#ppt_w"/>
                                          </p:val>
                                        </p:tav>
                                      </p:tavLst>
                                    </p:anim>
                                    <p:anim calcmode="lin" valueType="num">
                                      <p:cBhvr additive="base">
                                        <p:cTn id="123" dur="450" fill="hold"/>
                                        <p:tgtEl>
                                          <p:spTgt spid="34"/>
                                        </p:tgtEl>
                                        <p:attrNameLst>
                                          <p:attrName>ppt_h</p:attrName>
                                        </p:attrNameLst>
                                      </p:cBhvr>
                                      <p:tavLst>
                                        <p:tav tm="0">
                                          <p:val>
                                            <p:strVal val="#ppt_h*0.2"/>
                                          </p:val>
                                        </p:tav>
                                        <p:tav tm="100000">
                                          <p:val>
                                            <p:strVal val="#ppt_h"/>
                                          </p:val>
                                        </p:tav>
                                      </p:tavLst>
                                    </p:anim>
                                  </p:childTnLst>
                                </p:cTn>
                              </p:par>
                              <p:par>
                                <p:cTn id="124" presetID="53" presetClass="entr" presetSubtype="16" decel="100000" fill="hold" grpId="0" nodeType="withEffect">
                                  <p:stCondLst>
                                    <p:cond delay="179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450"/>
                                        <p:tgtEl>
                                          <p:spTgt spid="35"/>
                                        </p:tgtEl>
                                      </p:cBhvr>
                                    </p:animEffect>
                                    <p:anim calcmode="lin" valueType="num">
                                      <p:cBhvr additive="base">
                                        <p:cTn id="127" dur="450" fill="hold"/>
                                        <p:tgtEl>
                                          <p:spTgt spid="35"/>
                                        </p:tgtEl>
                                        <p:attrNameLst>
                                          <p:attrName>ppt_w</p:attrName>
                                        </p:attrNameLst>
                                      </p:cBhvr>
                                      <p:tavLst>
                                        <p:tav tm="0">
                                          <p:val>
                                            <p:strVal val="#ppt_w*0.2"/>
                                          </p:val>
                                        </p:tav>
                                        <p:tav tm="100000">
                                          <p:val>
                                            <p:strVal val="#ppt_w"/>
                                          </p:val>
                                        </p:tav>
                                      </p:tavLst>
                                    </p:anim>
                                    <p:anim calcmode="lin" valueType="num">
                                      <p:cBhvr additive="base">
                                        <p:cTn id="128" dur="450" fill="hold"/>
                                        <p:tgtEl>
                                          <p:spTgt spid="35"/>
                                        </p:tgtEl>
                                        <p:attrNameLst>
                                          <p:attrName>ppt_h</p:attrName>
                                        </p:attrNameLst>
                                      </p:cBhvr>
                                      <p:tavLst>
                                        <p:tav tm="0">
                                          <p:val>
                                            <p:strVal val="#ppt_h*0.2"/>
                                          </p:val>
                                        </p:tav>
                                        <p:tav tm="100000">
                                          <p:val>
                                            <p:strVal val="#ppt_h"/>
                                          </p:val>
                                        </p:tav>
                                      </p:tavLst>
                                    </p:anim>
                                  </p:childTnLst>
                                </p:cTn>
                              </p:par>
                              <p:par>
                                <p:cTn id="129" presetID="6" presetClass="emph" presetSubtype="0" repeatCount="indefinite" fill="hold" grpId="0" nodeType="withEffect">
                                  <p:stCondLst>
                                    <p:cond delay="2010"/>
                                  </p:stCondLst>
                                  <p:childTnLst>
                                    <p:animScale>
                                      <p:cBhvr>
                                        <p:cTn id="130" dur="1600" fill="hold"/>
                                        <p:tgtEl>
                                          <p:spTgt spid="33"/>
                                        </p:tgtEl>
                                      </p:cBhvr>
                                      <p:by x="160000" y="160000"/>
                                    </p:animScale>
                                    <p:anim calcmode="lin" valueType="num">
                                      <p:cBhvr>
                                        <p:cTn id="131" dur="1600" fill="hold"/>
                                        <p:tgtEl>
                                          <p:spTgt spid="33"/>
                                        </p:tgtEl>
                                        <p:attrNameLst>
                                          <p:attrName>style.opacity</p:attrName>
                                        </p:attrNameLst>
                                      </p:cBhvr>
                                      <p:tavLst>
                                        <p:tav tm="0">
                                          <p:val>
                                            <p:fltVal val="1"/>
                                          </p:val>
                                        </p:tav>
                                        <p:tav tm="100000">
                                          <p:val>
                                            <p:fltVal val="0"/>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2" restart="whenNotActive" fill="hold" evtFilter="cancelBubble" nodeType="interactiveSeq">
                <p:stCondLst>
                  <p:cond evt="onClick" delay="0">
                    <p:tgtEl>
                      <p:spTgt spid="6"/>
                    </p:tgtEl>
                  </p:cond>
                </p:stCondLst>
                <p:endSync evt="end" delay="0">
                  <p:rtn val="all"/>
                </p:endSync>
                <p:childTnLst>
                  <p:par>
                    <p:cTn id="133" fill="hold">
                      <p:stCondLst>
                        <p:cond delay="0"/>
                      </p:stCondLst>
                      <p:childTnLst>
                        <p:par>
                          <p:cTn id="134" fill="hold">
                            <p:stCondLst>
                              <p:cond delay="0"/>
                            </p:stCondLst>
                            <p:childTnLst>
                              <p:par>
                                <p:cTn id="135" presetID="2" presetClass="mediacall" presetSubtype="0" fill="hold" nodeType="clickEffect">
                                  <p:stCondLst>
                                    <p:cond delay="0"/>
                                  </p:stCondLst>
                                  <p:childTnLst>
                                    <p:cmd type="call" cmd="togglePause">
                                      <p:cBhvr>
                                        <p:cTn id="136" dur="1" fill="hold"/>
                                        <p:tgtEl>
                                          <p:spTgt spid="6"/>
                                        </p:tgtEl>
                                      </p:cBhvr>
                                    </p:cmd>
                                  </p:childTnLst>
                                </p:cTn>
                              </p:par>
                            </p:childTnLst>
                          </p:cTn>
                        </p:par>
                      </p:childTnLst>
                    </p:cTn>
                  </p:par>
                </p:childTnLst>
              </p:cTn>
              <p:nextCondLst>
                <p:cond evt="onClick" delay="0">
                  <p:tgtEl>
                    <p:spTgt spid="6"/>
                  </p:tgtEl>
                </p:cond>
              </p:nextCondLst>
            </p:seq>
            <p:video>
              <p:cMediaNode vol="80000" mute="1">
                <p:cTn id="137" fill="hold" display="0">
                  <p:stCondLst>
                    <p:cond delay="indefinite"/>
                  </p:stCondLst>
                </p:cTn>
                <p:tgtEl>
                  <p:spTgt spid="6"/>
                </p:tgtEl>
              </p:cMediaNode>
            </p:video>
          </p:childTnLst>
        </p:cTn>
      </p:par>
    </p:tnLst>
    <p:bldLst>
      <p:bldP spid="4" grpId="0" animBg="1"/>
      <p:bldP spid="5" grpId="0" animBg="1"/>
      <p:bldP spid="7" grpId="0" animBg="1"/>
      <p:bldP spid="8" grpId="0" animBg="1"/>
      <p:bldP spid="9" grpId="0" animBg="1"/>
      <p:bldP spid="10" grpId="0" animBg="1"/>
      <p:bldP spid="11" grpId="0" animBg="1"/>
      <p:bldP spid="13" grpId="0" animBg="1"/>
      <p:bldP spid="14" grpId="0"/>
      <p:bldP spid="15" grpId="0" animBg="1"/>
      <p:bldP spid="16" grpId="0" animBg="1"/>
      <p:bldP spid="17" grpId="0" animBg="1"/>
      <p:bldP spid="18" grpId="0"/>
      <p:bldP spid="19" grpId="0" animBg="1"/>
      <p:bldP spid="20" grpId="0" animBg="1"/>
      <p:bldP spid="21" grpId="0" animBg="1"/>
      <p:bldP spid="22" grpId="0"/>
      <p:bldP spid="23" grpId="0" animBg="1"/>
      <p:bldP spid="24" grpId="0" animBg="1"/>
      <p:bldP spid="25" grpId="0" animBg="1"/>
      <p:bldP spid="26" grpId="0"/>
      <p:bldP spid="27" grpId="0" animBg="1"/>
      <p:bldP spid="28" grpId="0" animBg="1"/>
      <p:bldP spid="29" grpId="0" animBg="1"/>
      <p:bldP spid="30" grpId="0"/>
      <p:bldP spid="31" grpId="0" animBg="1"/>
      <p:bldP spid="32"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200400" y="-292608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7772400" y="329184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BUSINESS USE CASE &amp; END USERS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Who uses it, and for which decision</a:t>
            </a:r>
            <a:endParaRPr lang="en-US" sz="3400" dirty="0"/>
          </a:p>
        </p:txBody>
      </p:sp>
      <p:sp>
        <p:nvSpPr>
          <p:cNvPr id="7" name="a1float_p0"/>
          <p:cNvSpPr/>
          <p:nvPr/>
        </p:nvSpPr>
        <p:spPr>
          <a:xfrm>
            <a:off x="54864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p0ic_c"/>
          <p:cNvSpPr/>
          <p:nvPr/>
        </p:nvSpPr>
        <p:spPr>
          <a:xfrm>
            <a:off x="777240" y="1892808"/>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9" name="a1float_p0ic_i" descr="preencoded.png"/>
          <p:cNvPicPr>
            <a:picLocks noChangeAspect="1"/>
          </p:cNvPicPr>
          <p:nvPr/>
        </p:nvPicPr>
        <p:blipFill>
          <a:blip r:embed="rId5"/>
          <a:stretch>
            <a:fillRect/>
          </a:stretch>
        </p:blipFill>
        <p:spPr>
          <a:xfrm>
            <a:off x="913303" y="2028871"/>
            <a:ext cx="294803" cy="294803"/>
          </a:xfrm>
          <a:prstGeom prst="rect">
            <a:avLst/>
          </a:prstGeom>
        </p:spPr>
      </p:pic>
      <p:sp>
        <p:nvSpPr>
          <p:cNvPr id="10" name="a1float_p0n"/>
          <p:cNvSpPr txBox="1"/>
          <p:nvPr/>
        </p:nvSpPr>
        <p:spPr>
          <a:xfrm>
            <a:off x="148132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Environment agencies</a:t>
            </a:r>
            <a:endParaRPr lang="en-US" sz="1500" dirty="0"/>
          </a:p>
        </p:txBody>
      </p:sp>
      <p:sp>
        <p:nvSpPr>
          <p:cNvPr id="11" name="a1float_p0w"/>
          <p:cNvSpPr txBox="1"/>
          <p:nvPr/>
        </p:nvSpPr>
        <p:spPr>
          <a:xfrm>
            <a:off x="148132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EAD, MOCCAE, Saudi NCVC</a:t>
            </a:r>
            <a:endParaRPr lang="en-US" sz="1100" dirty="0"/>
          </a:p>
        </p:txBody>
      </p:sp>
      <p:sp>
        <p:nvSpPr>
          <p:cNvPr id="12" name="a1float_p0l1"/>
          <p:cNvSpPr txBox="1"/>
          <p:nvPr/>
        </p:nvSpPr>
        <p:spPr>
          <a:xfrm>
            <a:off x="77724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13" name="a1float_p0d"/>
          <p:cNvSpPr txBox="1"/>
          <p:nvPr/>
        </p:nvSpPr>
        <p:spPr>
          <a:xfrm>
            <a:off x="77724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Which stands do we inspect this month?</a:t>
            </a:r>
            <a:endParaRPr lang="en-US" sz="1500" dirty="0"/>
          </a:p>
        </p:txBody>
      </p:sp>
      <p:sp>
        <p:nvSpPr>
          <p:cNvPr id="14" name="a1float_p0t"/>
          <p:cNvSpPr txBox="1"/>
          <p:nvPr/>
        </p:nvSpPr>
        <p:spPr>
          <a:xfrm>
            <a:off x="77724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periodic field surveys</a:t>
            </a:r>
            <a:endParaRPr lang="en-US" sz="1200" dirty="0"/>
          </a:p>
        </p:txBody>
      </p:sp>
      <p:sp>
        <p:nvSpPr>
          <p:cNvPr id="15" name="a1float_p0gb"/>
          <p:cNvSpPr/>
          <p:nvPr/>
        </p:nvSpPr>
        <p:spPr>
          <a:xfrm>
            <a:off x="713232" y="3977640"/>
            <a:ext cx="3264408" cy="804672"/>
          </a:xfrm>
          <a:prstGeom prst="roundRect">
            <a:avLst>
              <a:gd name="adj" fmla="val 11364"/>
            </a:avLst>
          </a:prstGeom>
          <a:solidFill>
            <a:srgbClr val="3F6E9E">
              <a:alpha val="14000"/>
            </a:srgbClr>
          </a:solidFill>
          <a:ln/>
        </p:spPr>
        <p:txBody>
          <a:bodyPr/>
          <a:lstStyle/>
          <a:p>
            <a:endParaRPr lang="en-GB"/>
          </a:p>
        </p:txBody>
      </p:sp>
      <p:sp>
        <p:nvSpPr>
          <p:cNvPr id="16" name="a1float_p0g"/>
          <p:cNvSpPr txBox="1"/>
          <p:nvPr/>
        </p:nvSpPr>
        <p:spPr>
          <a:xfrm>
            <a:off x="85039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monthly alert + 200 m cell map: inspect only flagged cells</a:t>
            </a:r>
            <a:endParaRPr lang="en-US" sz="1300" dirty="0"/>
          </a:p>
        </p:txBody>
      </p:sp>
      <p:sp>
        <p:nvSpPr>
          <p:cNvPr id="17" name="a2float_p1"/>
          <p:cNvSpPr/>
          <p:nvPr/>
        </p:nvSpPr>
        <p:spPr>
          <a:xfrm>
            <a:off x="429768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8" name="a2float_p1ic_c"/>
          <p:cNvSpPr/>
          <p:nvPr/>
        </p:nvSpPr>
        <p:spPr>
          <a:xfrm>
            <a:off x="4526280" y="1892808"/>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9" name="a2float_p1ic_i" descr="preencoded.png"/>
          <p:cNvPicPr>
            <a:picLocks noChangeAspect="1"/>
          </p:cNvPicPr>
          <p:nvPr/>
        </p:nvPicPr>
        <p:blipFill>
          <a:blip r:embed="rId6"/>
          <a:stretch>
            <a:fillRect/>
          </a:stretch>
        </p:blipFill>
        <p:spPr>
          <a:xfrm>
            <a:off x="4662343" y="2028871"/>
            <a:ext cx="294803" cy="294803"/>
          </a:xfrm>
          <a:prstGeom prst="rect">
            <a:avLst/>
          </a:prstGeom>
        </p:spPr>
      </p:pic>
      <p:sp>
        <p:nvSpPr>
          <p:cNvPr id="20" name="a2float_p1n"/>
          <p:cNvSpPr txBox="1"/>
          <p:nvPr/>
        </p:nvSpPr>
        <p:spPr>
          <a:xfrm>
            <a:off x="523036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Planting &amp; carbon developers</a:t>
            </a:r>
            <a:endParaRPr lang="en-US" sz="1500" dirty="0"/>
          </a:p>
        </p:txBody>
      </p:sp>
      <p:sp>
        <p:nvSpPr>
          <p:cNvPr id="21" name="a2float_p1w"/>
          <p:cNvSpPr txBox="1"/>
          <p:nvPr/>
        </p:nvSpPr>
        <p:spPr>
          <a:xfrm>
            <a:off x="523036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ADNOC, Red Sea Global, carbon projects</a:t>
            </a:r>
            <a:endParaRPr lang="en-US" sz="1100" dirty="0"/>
          </a:p>
        </p:txBody>
      </p:sp>
      <p:sp>
        <p:nvSpPr>
          <p:cNvPr id="22" name="a2float_p1l1"/>
          <p:cNvSpPr txBox="1"/>
          <p:nvPr/>
        </p:nvSpPr>
        <p:spPr>
          <a:xfrm>
            <a:off x="452628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23" name="a2float_p1d"/>
          <p:cNvSpPr txBox="1"/>
          <p:nvPr/>
        </p:nvSpPr>
        <p:spPr>
          <a:xfrm>
            <a:off x="452628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Is the carbon we report still there?</a:t>
            </a:r>
            <a:endParaRPr lang="en-US" sz="1500" dirty="0"/>
          </a:p>
        </p:txBody>
      </p:sp>
      <p:sp>
        <p:nvSpPr>
          <p:cNvPr id="24" name="a2float_p1t"/>
          <p:cNvSpPr txBox="1"/>
          <p:nvPr/>
        </p:nvSpPr>
        <p:spPr>
          <a:xfrm>
            <a:off x="452628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plots and drone campaigns</a:t>
            </a:r>
            <a:endParaRPr lang="en-US" sz="1200" dirty="0"/>
          </a:p>
        </p:txBody>
      </p:sp>
      <p:sp>
        <p:nvSpPr>
          <p:cNvPr id="25" name="a2float_p1gb"/>
          <p:cNvSpPr/>
          <p:nvPr/>
        </p:nvSpPr>
        <p:spPr>
          <a:xfrm>
            <a:off x="4462272" y="3977640"/>
            <a:ext cx="3264408" cy="804672"/>
          </a:xfrm>
          <a:prstGeom prst="roundRect">
            <a:avLst>
              <a:gd name="adj" fmla="val 11364"/>
            </a:avLst>
          </a:prstGeom>
          <a:solidFill>
            <a:srgbClr val="3F6E9E">
              <a:alpha val="14000"/>
            </a:srgbClr>
          </a:solidFill>
          <a:ln/>
        </p:spPr>
        <p:txBody>
          <a:bodyPr/>
          <a:lstStyle/>
          <a:p>
            <a:endParaRPr lang="en-GB"/>
          </a:p>
        </p:txBody>
      </p:sp>
      <p:sp>
        <p:nvSpPr>
          <p:cNvPr id="26" name="a2float_p1g"/>
          <p:cNvSpPr txBox="1"/>
          <p:nvPr/>
        </p:nvSpPr>
        <p:spPr>
          <a:xfrm>
            <a:off x="459943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condition + carbon stock with a range, a site report</a:t>
            </a:r>
            <a:endParaRPr lang="en-US" sz="1300" dirty="0"/>
          </a:p>
        </p:txBody>
      </p:sp>
      <p:sp>
        <p:nvSpPr>
          <p:cNvPr id="27" name="a3float_p2"/>
          <p:cNvSpPr/>
          <p:nvPr/>
        </p:nvSpPr>
        <p:spPr>
          <a:xfrm>
            <a:off x="8046720" y="1691640"/>
            <a:ext cx="359359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8" name="a3float_p2ic_c"/>
          <p:cNvSpPr/>
          <p:nvPr/>
        </p:nvSpPr>
        <p:spPr>
          <a:xfrm>
            <a:off x="8275320" y="1892808"/>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9" name="a3float_p2ic_i" descr="preencoded.png"/>
          <p:cNvPicPr>
            <a:picLocks noChangeAspect="1"/>
          </p:cNvPicPr>
          <p:nvPr/>
        </p:nvPicPr>
        <p:blipFill>
          <a:blip r:embed="rId7"/>
          <a:stretch>
            <a:fillRect/>
          </a:stretch>
        </p:blipFill>
        <p:spPr>
          <a:xfrm>
            <a:off x="8411383" y="2028871"/>
            <a:ext cx="294803" cy="294803"/>
          </a:xfrm>
          <a:prstGeom prst="rect">
            <a:avLst/>
          </a:prstGeom>
        </p:spPr>
      </p:pic>
      <p:sp>
        <p:nvSpPr>
          <p:cNvPr id="30" name="a3float_p2n"/>
          <p:cNvSpPr txBox="1"/>
          <p:nvPr/>
        </p:nvSpPr>
        <p:spPr>
          <a:xfrm>
            <a:off x="8979408" y="1892808"/>
            <a:ext cx="256032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Developers &amp; regulators</a:t>
            </a:r>
            <a:endParaRPr lang="en-US" sz="1500" dirty="0"/>
          </a:p>
        </p:txBody>
      </p:sp>
      <p:sp>
        <p:nvSpPr>
          <p:cNvPr id="31" name="a3float_p2w"/>
          <p:cNvSpPr txBox="1"/>
          <p:nvPr/>
        </p:nvSpPr>
        <p:spPr>
          <a:xfrm>
            <a:off x="8979408" y="2212848"/>
            <a:ext cx="256032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EIA consultants, permit offices</a:t>
            </a:r>
            <a:endParaRPr lang="en-US" sz="1100" dirty="0"/>
          </a:p>
        </p:txBody>
      </p:sp>
      <p:sp>
        <p:nvSpPr>
          <p:cNvPr id="32" name="a3float_p2l1"/>
          <p:cNvSpPr txBox="1"/>
          <p:nvPr/>
        </p:nvSpPr>
        <p:spPr>
          <a:xfrm>
            <a:off x="8275320" y="2697480"/>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THEIR DECISION</a:t>
            </a:r>
            <a:endParaRPr lang="en-US" sz="1100" dirty="0"/>
          </a:p>
        </p:txBody>
      </p:sp>
      <p:sp>
        <p:nvSpPr>
          <p:cNvPr id="33" name="a3float_p2d"/>
          <p:cNvSpPr txBox="1"/>
          <p:nvPr/>
        </p:nvSpPr>
        <p:spPr>
          <a:xfrm>
            <a:off x="8275320" y="2953512"/>
            <a:ext cx="3154680" cy="56692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Did works stay outside the mangrove line?</a:t>
            </a:r>
            <a:endParaRPr lang="en-US" sz="1500" dirty="0"/>
          </a:p>
        </p:txBody>
      </p:sp>
      <p:sp>
        <p:nvSpPr>
          <p:cNvPr id="34" name="a3float_p2t"/>
          <p:cNvSpPr txBox="1"/>
          <p:nvPr/>
        </p:nvSpPr>
        <p:spPr>
          <a:xfrm>
            <a:off x="8275320" y="3584448"/>
            <a:ext cx="3154680" cy="292608"/>
          </a:xfrm>
          <a:prstGeom prst="rect">
            <a:avLst/>
          </a:prstGeom>
          <a:noFill/>
          <a:ln/>
        </p:spPr>
        <p:txBody>
          <a:bodyPr wrap="square" lIns="0" tIns="0" rIns="0" bIns="0" rtlCol="0" anchor="t"/>
          <a:lstStyle/>
          <a:p>
            <a:pPr marL="0" indent="0" algn="l">
              <a:lnSpc>
                <a:spcPct val="105000"/>
              </a:lnSpc>
              <a:buNone/>
            </a:pPr>
            <a:r>
              <a:rPr lang="en-US" sz="1200" b="1" dirty="0">
                <a:solidFill>
                  <a:srgbClr val="5F738A"/>
                </a:solidFill>
                <a:latin typeface="Segoe UI" pitchFamily="34" charset="0"/>
                <a:ea typeface="Segoe UI" pitchFamily="34" charset="-122"/>
                <a:cs typeface="Segoe UI" pitchFamily="34" charset="-120"/>
              </a:rPr>
              <a:t>Today: </a:t>
            </a:r>
            <a:r>
              <a:rPr lang="en-US" sz="1200" dirty="0">
                <a:solidFill>
                  <a:srgbClr val="5F738A"/>
                </a:solidFill>
                <a:latin typeface="Segoe UI" pitchFamily="34" charset="0"/>
                <a:ea typeface="Segoe UI" pitchFamily="34" charset="-122"/>
                <a:cs typeface="Segoe UI" pitchFamily="34" charset="-120"/>
              </a:rPr>
              <a:t>comparing two images by eye</a:t>
            </a:r>
            <a:endParaRPr lang="en-US" sz="1200" dirty="0"/>
          </a:p>
        </p:txBody>
      </p:sp>
      <p:sp>
        <p:nvSpPr>
          <p:cNvPr id="35" name="a3float_p2gb"/>
          <p:cNvSpPr/>
          <p:nvPr/>
        </p:nvSpPr>
        <p:spPr>
          <a:xfrm>
            <a:off x="8211312" y="3977640"/>
            <a:ext cx="3264408" cy="804672"/>
          </a:xfrm>
          <a:prstGeom prst="roundRect">
            <a:avLst>
              <a:gd name="adj" fmla="val 11364"/>
            </a:avLst>
          </a:prstGeom>
          <a:solidFill>
            <a:srgbClr val="3F6E9E">
              <a:alpha val="14000"/>
            </a:srgbClr>
          </a:solidFill>
          <a:ln/>
        </p:spPr>
        <p:txBody>
          <a:bodyPr/>
          <a:lstStyle/>
          <a:p>
            <a:endParaRPr lang="en-GB"/>
          </a:p>
        </p:txBody>
      </p:sp>
      <p:sp>
        <p:nvSpPr>
          <p:cNvPr id="36" name="a3float_p2g"/>
          <p:cNvSpPr txBox="1"/>
          <p:nvPr/>
        </p:nvSpPr>
        <p:spPr>
          <a:xfrm>
            <a:off x="8348472" y="3977640"/>
            <a:ext cx="3017520" cy="804672"/>
          </a:xfrm>
          <a:prstGeom prst="rect">
            <a:avLst/>
          </a:prstGeom>
          <a:noFill/>
          <a:ln/>
        </p:spPr>
        <p:txBody>
          <a:bodyPr wrap="square" lIns="0" tIns="0" rIns="0" bIns="0" rtlCol="0" anchor="ctr"/>
          <a:lstStyle/>
          <a:p>
            <a:pPr marL="0" indent="0" algn="l">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an alert when works enter mangrove cells, dated evidence</a:t>
            </a:r>
            <a:endParaRPr lang="en-US" sz="1300" dirty="0"/>
          </a:p>
        </p:txBody>
      </p:sp>
      <p:sp>
        <p:nvSpPr>
          <p:cNvPr id="37" name="a4fade_flow"/>
          <p:cNvSpPr/>
          <p:nvPr/>
        </p:nvSpPr>
        <p:spPr>
          <a:xfrm>
            <a:off x="548640" y="5120640"/>
            <a:ext cx="11091672" cy="1051560"/>
          </a:xfrm>
          <a:prstGeom prst="roundRect">
            <a:avLst>
              <a:gd name="adj" fmla="val 12174"/>
            </a:avLst>
          </a:prstGeom>
          <a:solidFill>
            <a:srgbClr val="E8F0F9">
              <a:alpha val="90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8" name="a5pop_f0_c"/>
          <p:cNvSpPr/>
          <p:nvPr/>
        </p:nvSpPr>
        <p:spPr>
          <a:xfrm>
            <a:off x="868680" y="5349240"/>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9" name="a5pop_f0_i" descr="preencoded.png"/>
          <p:cNvPicPr>
            <a:picLocks noChangeAspect="1"/>
          </p:cNvPicPr>
          <p:nvPr/>
        </p:nvPicPr>
        <p:blipFill>
          <a:blip r:embed="rId8"/>
          <a:stretch>
            <a:fillRect/>
          </a:stretch>
        </p:blipFill>
        <p:spPr>
          <a:xfrm>
            <a:off x="1004743" y="5485303"/>
            <a:ext cx="294803" cy="294803"/>
          </a:xfrm>
          <a:prstGeom prst="rect">
            <a:avLst/>
          </a:prstGeom>
        </p:spPr>
      </p:pic>
      <p:sp>
        <p:nvSpPr>
          <p:cNvPr id="40" name="a5pop_f0t"/>
          <p:cNvSpPr txBox="1"/>
          <p:nvPr/>
        </p:nvSpPr>
        <p:spPr>
          <a:xfrm>
            <a:off x="1554480"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New scene</a:t>
            </a:r>
            <a:endParaRPr lang="en-US" sz="1400" dirty="0"/>
          </a:p>
        </p:txBody>
      </p:sp>
      <p:sp>
        <p:nvSpPr>
          <p:cNvPr id="41" name="a5pop_f0d"/>
          <p:cNvSpPr txBox="1"/>
          <p:nvPr/>
        </p:nvSpPr>
        <p:spPr>
          <a:xfrm>
            <a:off x="1554480"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every ~5 days</a:t>
            </a:r>
            <a:endParaRPr lang="en-US" sz="1100" dirty="0"/>
          </a:p>
        </p:txBody>
      </p:sp>
      <p:sp>
        <p:nvSpPr>
          <p:cNvPr id="42" name="a5fade_ar0"/>
          <p:cNvSpPr/>
          <p:nvPr/>
        </p:nvSpPr>
        <p:spPr>
          <a:xfrm>
            <a:off x="2807208" y="5632704"/>
            <a:ext cx="182880" cy="0"/>
          </a:xfrm>
          <a:prstGeom prst="line">
            <a:avLst/>
          </a:prstGeom>
          <a:noFill/>
          <a:ln w="19050">
            <a:solidFill>
              <a:srgbClr val="3F6E9E"/>
            </a:solidFill>
            <a:prstDash val="solid"/>
            <a:tailEnd type="triangle"/>
          </a:ln>
        </p:spPr>
        <p:txBody>
          <a:bodyPr/>
          <a:lstStyle/>
          <a:p>
            <a:endParaRPr lang="en-GB"/>
          </a:p>
        </p:txBody>
      </p:sp>
      <p:sp>
        <p:nvSpPr>
          <p:cNvPr id="43" name="a6pop_f1_c"/>
          <p:cNvSpPr/>
          <p:nvPr/>
        </p:nvSpPr>
        <p:spPr>
          <a:xfrm>
            <a:off x="3081528" y="5349240"/>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4" name="a6pop_f1_i" descr="preencoded.png"/>
          <p:cNvPicPr>
            <a:picLocks noChangeAspect="1"/>
          </p:cNvPicPr>
          <p:nvPr/>
        </p:nvPicPr>
        <p:blipFill>
          <a:blip r:embed="rId9"/>
          <a:stretch>
            <a:fillRect/>
          </a:stretch>
        </p:blipFill>
        <p:spPr>
          <a:xfrm>
            <a:off x="3217591" y="5485303"/>
            <a:ext cx="294803" cy="294803"/>
          </a:xfrm>
          <a:prstGeom prst="rect">
            <a:avLst/>
          </a:prstGeom>
        </p:spPr>
      </p:pic>
      <p:sp>
        <p:nvSpPr>
          <p:cNvPr id="45" name="a6pop_f1t"/>
          <p:cNvSpPr txBox="1"/>
          <p:nvPr/>
        </p:nvSpPr>
        <p:spPr>
          <a:xfrm>
            <a:off x="3767328"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Alert</a:t>
            </a:r>
            <a:endParaRPr lang="en-US" sz="1400" dirty="0"/>
          </a:p>
        </p:txBody>
      </p:sp>
      <p:sp>
        <p:nvSpPr>
          <p:cNvPr id="46" name="a6pop_f1d"/>
          <p:cNvSpPr txBox="1"/>
          <p:nvPr/>
        </p:nvSpPr>
        <p:spPr>
          <a:xfrm>
            <a:off x="3767328"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~1 false alarm / stand-yr</a:t>
            </a:r>
            <a:endParaRPr lang="en-US" sz="1100" dirty="0"/>
          </a:p>
        </p:txBody>
      </p:sp>
      <p:sp>
        <p:nvSpPr>
          <p:cNvPr id="47" name="a6fade_ar1"/>
          <p:cNvSpPr/>
          <p:nvPr/>
        </p:nvSpPr>
        <p:spPr>
          <a:xfrm>
            <a:off x="5020056" y="5632704"/>
            <a:ext cx="182880" cy="0"/>
          </a:xfrm>
          <a:prstGeom prst="line">
            <a:avLst/>
          </a:prstGeom>
          <a:noFill/>
          <a:ln w="19050">
            <a:solidFill>
              <a:srgbClr val="3F6E9E"/>
            </a:solidFill>
            <a:prstDash val="solid"/>
            <a:tailEnd type="triangle"/>
          </a:ln>
        </p:spPr>
        <p:txBody>
          <a:bodyPr/>
          <a:lstStyle/>
          <a:p>
            <a:endParaRPr lang="en-GB"/>
          </a:p>
        </p:txBody>
      </p:sp>
      <p:sp>
        <p:nvSpPr>
          <p:cNvPr id="48" name="a7pop_f2_c"/>
          <p:cNvSpPr/>
          <p:nvPr/>
        </p:nvSpPr>
        <p:spPr>
          <a:xfrm>
            <a:off x="5294376" y="5349240"/>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9" name="a7pop_f2_i" descr="preencoded.png"/>
          <p:cNvPicPr>
            <a:picLocks noChangeAspect="1"/>
          </p:cNvPicPr>
          <p:nvPr/>
        </p:nvPicPr>
        <p:blipFill>
          <a:blip r:embed="rId10"/>
          <a:stretch>
            <a:fillRect/>
          </a:stretch>
        </p:blipFill>
        <p:spPr>
          <a:xfrm>
            <a:off x="5430439" y="5485303"/>
            <a:ext cx="294803" cy="294803"/>
          </a:xfrm>
          <a:prstGeom prst="rect">
            <a:avLst/>
          </a:prstGeom>
        </p:spPr>
      </p:pic>
      <p:sp>
        <p:nvSpPr>
          <p:cNvPr id="50" name="a7pop_f2t"/>
          <p:cNvSpPr txBox="1"/>
          <p:nvPr/>
        </p:nvSpPr>
        <p:spPr>
          <a:xfrm>
            <a:off x="5980176"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Cell map</a:t>
            </a:r>
            <a:endParaRPr lang="en-US" sz="1400" dirty="0"/>
          </a:p>
        </p:txBody>
      </p:sp>
      <p:sp>
        <p:nvSpPr>
          <p:cNvPr id="51" name="a7pop_f2d"/>
          <p:cNvSpPr txBox="1"/>
          <p:nvPr/>
        </p:nvSpPr>
        <p:spPr>
          <a:xfrm>
            <a:off x="5980176"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where to look</a:t>
            </a:r>
            <a:endParaRPr lang="en-US" sz="1100" dirty="0"/>
          </a:p>
        </p:txBody>
      </p:sp>
      <p:sp>
        <p:nvSpPr>
          <p:cNvPr id="52" name="a7fade_ar2"/>
          <p:cNvSpPr/>
          <p:nvPr/>
        </p:nvSpPr>
        <p:spPr>
          <a:xfrm>
            <a:off x="7232904" y="5632704"/>
            <a:ext cx="182880" cy="0"/>
          </a:xfrm>
          <a:prstGeom prst="line">
            <a:avLst/>
          </a:prstGeom>
          <a:noFill/>
          <a:ln w="19050">
            <a:solidFill>
              <a:srgbClr val="3F6E9E"/>
            </a:solidFill>
            <a:prstDash val="solid"/>
            <a:tailEnd type="triangle"/>
          </a:ln>
        </p:spPr>
        <p:txBody>
          <a:bodyPr/>
          <a:lstStyle/>
          <a:p>
            <a:endParaRPr lang="en-GB"/>
          </a:p>
        </p:txBody>
      </p:sp>
      <p:sp>
        <p:nvSpPr>
          <p:cNvPr id="53" name="a8pop_f3_c"/>
          <p:cNvSpPr/>
          <p:nvPr/>
        </p:nvSpPr>
        <p:spPr>
          <a:xfrm>
            <a:off x="7507224" y="5349240"/>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54" name="a8pop_f3_i" descr="preencoded.png"/>
          <p:cNvPicPr>
            <a:picLocks noChangeAspect="1"/>
          </p:cNvPicPr>
          <p:nvPr/>
        </p:nvPicPr>
        <p:blipFill>
          <a:blip r:embed="rId11"/>
          <a:stretch>
            <a:fillRect/>
          </a:stretch>
        </p:blipFill>
        <p:spPr>
          <a:xfrm>
            <a:off x="7643287" y="5485303"/>
            <a:ext cx="294803" cy="294803"/>
          </a:xfrm>
          <a:prstGeom prst="rect">
            <a:avLst/>
          </a:prstGeom>
        </p:spPr>
      </p:pic>
      <p:sp>
        <p:nvSpPr>
          <p:cNvPr id="55" name="a8pop_f3t"/>
          <p:cNvSpPr txBox="1"/>
          <p:nvPr/>
        </p:nvSpPr>
        <p:spPr>
          <a:xfrm>
            <a:off x="8193024"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Inspection</a:t>
            </a:r>
            <a:endParaRPr lang="en-US" sz="1400" dirty="0"/>
          </a:p>
        </p:txBody>
      </p:sp>
      <p:sp>
        <p:nvSpPr>
          <p:cNvPr id="56" name="a8pop_f3d"/>
          <p:cNvSpPr txBox="1"/>
          <p:nvPr/>
        </p:nvSpPr>
        <p:spPr>
          <a:xfrm>
            <a:off x="8193024"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only flagged cells</a:t>
            </a:r>
            <a:endParaRPr lang="en-US" sz="1100" dirty="0"/>
          </a:p>
        </p:txBody>
      </p:sp>
      <p:sp>
        <p:nvSpPr>
          <p:cNvPr id="57" name="a8fade_ar3"/>
          <p:cNvSpPr/>
          <p:nvPr/>
        </p:nvSpPr>
        <p:spPr>
          <a:xfrm>
            <a:off x="9445752" y="5632704"/>
            <a:ext cx="182880" cy="0"/>
          </a:xfrm>
          <a:prstGeom prst="line">
            <a:avLst/>
          </a:prstGeom>
          <a:noFill/>
          <a:ln w="19050">
            <a:solidFill>
              <a:srgbClr val="3F6E9E"/>
            </a:solidFill>
            <a:prstDash val="solid"/>
            <a:tailEnd type="triangle"/>
          </a:ln>
        </p:spPr>
        <p:txBody>
          <a:bodyPr/>
          <a:lstStyle/>
          <a:p>
            <a:endParaRPr lang="en-GB"/>
          </a:p>
        </p:txBody>
      </p:sp>
      <p:sp>
        <p:nvSpPr>
          <p:cNvPr id="58" name="a9pop_f4_c"/>
          <p:cNvSpPr/>
          <p:nvPr/>
        </p:nvSpPr>
        <p:spPr>
          <a:xfrm>
            <a:off x="9720072" y="5349240"/>
            <a:ext cx="566928" cy="56692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59" name="a9pop_f4_i" descr="preencoded.png"/>
          <p:cNvPicPr>
            <a:picLocks noChangeAspect="1"/>
          </p:cNvPicPr>
          <p:nvPr/>
        </p:nvPicPr>
        <p:blipFill>
          <a:blip r:embed="rId12"/>
          <a:stretch>
            <a:fillRect/>
          </a:stretch>
        </p:blipFill>
        <p:spPr>
          <a:xfrm>
            <a:off x="9856135" y="5485303"/>
            <a:ext cx="294803" cy="294803"/>
          </a:xfrm>
          <a:prstGeom prst="rect">
            <a:avLst/>
          </a:prstGeom>
        </p:spPr>
      </p:pic>
      <p:sp>
        <p:nvSpPr>
          <p:cNvPr id="60" name="a9pop_f4t"/>
          <p:cNvSpPr txBox="1"/>
          <p:nvPr/>
        </p:nvSpPr>
        <p:spPr>
          <a:xfrm>
            <a:off x="10405872" y="5349240"/>
            <a:ext cx="1325880" cy="292608"/>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Site report</a:t>
            </a:r>
            <a:endParaRPr lang="en-US" sz="1400" dirty="0"/>
          </a:p>
        </p:txBody>
      </p:sp>
      <p:sp>
        <p:nvSpPr>
          <p:cNvPr id="61" name="a9pop_f4d"/>
          <p:cNvSpPr txBox="1"/>
          <p:nvPr/>
        </p:nvSpPr>
        <p:spPr>
          <a:xfrm>
            <a:off x="10405872" y="5641848"/>
            <a:ext cx="137160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carbon at stake</a:t>
            </a:r>
            <a:endParaRPr lang="en-US" sz="1100" dirty="0"/>
          </a:p>
        </p:txBody>
      </p:sp>
      <p:sp>
        <p:nvSpPr>
          <p:cNvPr id="6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5</a:t>
            </a:fld>
            <a:endParaRPr lang="en-US"/>
          </a:p>
        </p:txBody>
      </p:sp>
      <p:sp>
        <p:nvSpPr>
          <p:cNvPr id="247" name="a1fade_balance"/>
          <p:cNvSpPr txBox="1"/>
          <p:nvPr/>
        </p:nvSpPr>
        <p:spPr>
          <a:xfrm>
            <a:off x="548640" y="1290000"/>
            <a:ext cx="11064240" cy="330000"/>
          </a:xfrm>
          <a:prstGeom prst="rect">
            <a:avLst/>
          </a:prstGeom>
          <a:noFill/>
        </p:spPr>
        <p:txBody>
          <a:bodyPr wrap="square" lIns="0" tIns="0" rIns="0" bIns="0">
            <a:spAutoFit/>
          </a:bodyPr>
          <a:lstStyle/>
          <a:p>
            <a:r>
              <a:rPr sz="1300" b="1">
                <a:solidFill>
                  <a:srgbClr val="3F6E9E"/>
                </a:solidFill>
                <a:latin typeface="Segoe UI"/>
              </a:rPr>
              <a:t>Growth and protection, together:  </a:t>
            </a:r>
            <a:r>
              <a:rPr sz="1300" b="0">
                <a:solidFill>
                  <a:srgbClr val="1B2B40"/>
                </a:solidFill>
                <a:latin typeface="Segoe UI"/>
              </a:rPr>
              <a:t>the UAE is planting 100 million mangroves as it builds its coast. This monitor helps both succeed.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250"/>
                                  </p:stCondLst>
                                  <p:childTnLst>
                                    <p:set>
                                      <p:cBhvr>
                                        <p:cTn id="13" dur="1" fill="hold">
                                          <p:stCondLst>
                                            <p:cond delay="0"/>
                                          </p:stCondLst>
                                        </p:cTn>
                                        <p:tgtEl>
                                          <p:spTgt spid="247"/>
                                        </p:tgtEl>
                                        <p:attrNameLst>
                                          <p:attrName>style.visibility</p:attrName>
                                        </p:attrNameLst>
                                      </p:cBhvr>
                                      <p:to>
                                        <p:strVal val="visible"/>
                                      </p:to>
                                    </p:set>
                                    <p:animEffect transition="in" filter="fade">
                                      <p:cBhvr>
                                        <p:cTn id="14" dur="700"/>
                                        <p:tgtEl>
                                          <p:spTgt spid="247"/>
                                        </p:tgtEl>
                                      </p:cBhvr>
                                    </p:animEffect>
                                    <p:anim calcmode="lin" valueType="num">
                                      <p:cBhvr additive="base">
                                        <p:cTn id="15" dur="700" fill="hold"/>
                                        <p:tgtEl>
                                          <p:spTgt spid="24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700"/>
                                        <p:tgtEl>
                                          <p:spTgt spid="7"/>
                                        </p:tgtEl>
                                      </p:cBhvr>
                                    </p:animEffect>
                                    <p:anim calcmode="lin" valueType="num">
                                      <p:cBhvr additive="base">
                                        <p:cTn id="19" dur="700" fill="hold"/>
                                        <p:tgtEl>
                                          <p:spTgt spid="7"/>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700"/>
                                        <p:tgtEl>
                                          <p:spTgt spid="8"/>
                                        </p:tgtEl>
                                      </p:cBhvr>
                                    </p:animEffect>
                                    <p:anim calcmode="lin" valueType="num">
                                      <p:cBhvr additive="base">
                                        <p:cTn id="23" dur="700" fill="hold"/>
                                        <p:tgtEl>
                                          <p:spTgt spid="8"/>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700"/>
                                        <p:tgtEl>
                                          <p:spTgt spid="9"/>
                                        </p:tgtEl>
                                      </p:cBhvr>
                                    </p:animEffect>
                                    <p:anim calcmode="lin" valueType="num">
                                      <p:cBhvr additive="base">
                                        <p:cTn id="27" dur="700" fill="hold"/>
                                        <p:tgtEl>
                                          <p:spTgt spid="9"/>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700"/>
                                        <p:tgtEl>
                                          <p:spTgt spid="10"/>
                                        </p:tgtEl>
                                      </p:cBhvr>
                                    </p:animEffect>
                                    <p:anim calcmode="lin" valueType="num">
                                      <p:cBhvr additive="base">
                                        <p:cTn id="31" dur="700" fill="hold"/>
                                        <p:tgtEl>
                                          <p:spTgt spid="10"/>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00"/>
                                        <p:tgtEl>
                                          <p:spTgt spid="11"/>
                                        </p:tgtEl>
                                      </p:cBhvr>
                                    </p:animEffect>
                                    <p:anim calcmode="lin" valueType="num">
                                      <p:cBhvr additive="base">
                                        <p:cTn id="35" dur="700" fill="hold"/>
                                        <p:tgtEl>
                                          <p:spTgt spid="11"/>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47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700"/>
                                        <p:tgtEl>
                                          <p:spTgt spid="12"/>
                                        </p:tgtEl>
                                      </p:cBhvr>
                                    </p:animEffect>
                                    <p:anim calcmode="lin" valueType="num">
                                      <p:cBhvr additive="base">
                                        <p:cTn id="39" dur="700" fill="hold"/>
                                        <p:tgtEl>
                                          <p:spTgt spid="12"/>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47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700"/>
                                        <p:tgtEl>
                                          <p:spTgt spid="13"/>
                                        </p:tgtEl>
                                      </p:cBhvr>
                                    </p:animEffect>
                                    <p:anim calcmode="lin" valueType="num">
                                      <p:cBhvr additive="base">
                                        <p:cTn id="43" dur="700" fill="hold"/>
                                        <p:tgtEl>
                                          <p:spTgt spid="13"/>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47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700"/>
                                        <p:tgtEl>
                                          <p:spTgt spid="14"/>
                                        </p:tgtEl>
                                      </p:cBhvr>
                                    </p:animEffect>
                                    <p:anim calcmode="lin" valueType="num">
                                      <p:cBhvr additive="base">
                                        <p:cTn id="47" dur="700" fill="hold"/>
                                        <p:tgtEl>
                                          <p:spTgt spid="14"/>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47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00"/>
                                        <p:tgtEl>
                                          <p:spTgt spid="15"/>
                                        </p:tgtEl>
                                      </p:cBhvr>
                                    </p:animEffect>
                                    <p:anim calcmode="lin" valueType="num">
                                      <p:cBhvr additive="base">
                                        <p:cTn id="51" dur="700" fill="hold"/>
                                        <p:tgtEl>
                                          <p:spTgt spid="15"/>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47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700"/>
                                        <p:tgtEl>
                                          <p:spTgt spid="16"/>
                                        </p:tgtEl>
                                      </p:cBhvr>
                                    </p:animEffect>
                                    <p:anim calcmode="lin" valueType="num">
                                      <p:cBhvr additive="base">
                                        <p:cTn id="55" dur="700" fill="hold"/>
                                        <p:tgtEl>
                                          <p:spTgt spid="16"/>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69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700"/>
                                        <p:tgtEl>
                                          <p:spTgt spid="17"/>
                                        </p:tgtEl>
                                      </p:cBhvr>
                                    </p:animEffect>
                                    <p:anim calcmode="lin" valueType="num">
                                      <p:cBhvr additive="base">
                                        <p:cTn id="59" dur="700" fill="hold"/>
                                        <p:tgtEl>
                                          <p:spTgt spid="17"/>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69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700"/>
                                        <p:tgtEl>
                                          <p:spTgt spid="18"/>
                                        </p:tgtEl>
                                      </p:cBhvr>
                                    </p:animEffect>
                                    <p:anim calcmode="lin" valueType="num">
                                      <p:cBhvr additive="base">
                                        <p:cTn id="63" dur="700" fill="hold"/>
                                        <p:tgtEl>
                                          <p:spTgt spid="18"/>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69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700"/>
                                        <p:tgtEl>
                                          <p:spTgt spid="19"/>
                                        </p:tgtEl>
                                      </p:cBhvr>
                                    </p:animEffect>
                                    <p:anim calcmode="lin" valueType="num">
                                      <p:cBhvr additive="base">
                                        <p:cTn id="67" dur="700" fill="hold"/>
                                        <p:tgtEl>
                                          <p:spTgt spid="19"/>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69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additive="base">
                                        <p:cTn id="71" dur="700" fill="hold"/>
                                        <p:tgtEl>
                                          <p:spTgt spid="20"/>
                                        </p:tgtEl>
                                        <p:attrNameLst>
                                          <p:attrName>ppt_y</p:attrName>
                                        </p:attrNameLst>
                                      </p:cBhvr>
                                      <p:tavLst>
                                        <p:tav tm="0">
                                          <p:val>
                                            <p:strVal val="#ppt_y+0.03"/>
                                          </p:val>
                                        </p:tav>
                                        <p:tav tm="100000">
                                          <p:val>
                                            <p:strVal val="#ppt_y"/>
                                          </p:val>
                                        </p:tav>
                                      </p:tavLst>
                                    </p:anim>
                                  </p:childTnLst>
                                </p:cTn>
                              </p:par>
                              <p:par>
                                <p:cTn id="72" presetID="42" presetClass="entr" presetSubtype="0" decel="100000" fill="hold" grpId="0" nodeType="withEffect">
                                  <p:stCondLst>
                                    <p:cond delay="69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700"/>
                                        <p:tgtEl>
                                          <p:spTgt spid="21"/>
                                        </p:tgtEl>
                                      </p:cBhvr>
                                    </p:animEffect>
                                    <p:anim calcmode="lin" valueType="num">
                                      <p:cBhvr additive="base">
                                        <p:cTn id="75" dur="700" fill="hold"/>
                                        <p:tgtEl>
                                          <p:spTgt spid="21"/>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69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700"/>
                                        <p:tgtEl>
                                          <p:spTgt spid="22"/>
                                        </p:tgtEl>
                                      </p:cBhvr>
                                    </p:animEffect>
                                    <p:anim calcmode="lin" valueType="num">
                                      <p:cBhvr additive="base">
                                        <p:cTn id="79" dur="700" fill="hold"/>
                                        <p:tgtEl>
                                          <p:spTgt spid="22"/>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6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700"/>
                                        <p:tgtEl>
                                          <p:spTgt spid="23"/>
                                        </p:tgtEl>
                                      </p:cBhvr>
                                    </p:animEffect>
                                    <p:anim calcmode="lin" valueType="num">
                                      <p:cBhvr additive="base">
                                        <p:cTn id="83" dur="700" fill="hold"/>
                                        <p:tgtEl>
                                          <p:spTgt spid="23"/>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69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700"/>
                                        <p:tgtEl>
                                          <p:spTgt spid="24"/>
                                        </p:tgtEl>
                                      </p:cBhvr>
                                    </p:animEffect>
                                    <p:anim calcmode="lin" valueType="num">
                                      <p:cBhvr additive="base">
                                        <p:cTn id="87" dur="700" fill="hold"/>
                                        <p:tgtEl>
                                          <p:spTgt spid="24"/>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69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700"/>
                                        <p:tgtEl>
                                          <p:spTgt spid="25"/>
                                        </p:tgtEl>
                                      </p:cBhvr>
                                    </p:animEffect>
                                    <p:anim calcmode="lin" valueType="num">
                                      <p:cBhvr additive="base">
                                        <p:cTn id="91" dur="700" fill="hold"/>
                                        <p:tgtEl>
                                          <p:spTgt spid="25"/>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69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700"/>
                                        <p:tgtEl>
                                          <p:spTgt spid="26"/>
                                        </p:tgtEl>
                                      </p:cBhvr>
                                    </p:animEffect>
                                    <p:anim calcmode="lin" valueType="num">
                                      <p:cBhvr additive="base">
                                        <p:cTn id="95" dur="700" fill="hold"/>
                                        <p:tgtEl>
                                          <p:spTgt spid="26"/>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91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700"/>
                                        <p:tgtEl>
                                          <p:spTgt spid="27"/>
                                        </p:tgtEl>
                                      </p:cBhvr>
                                    </p:animEffect>
                                    <p:anim calcmode="lin" valueType="num">
                                      <p:cBhvr additive="base">
                                        <p:cTn id="99" dur="700" fill="hold"/>
                                        <p:tgtEl>
                                          <p:spTgt spid="27"/>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91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700"/>
                                        <p:tgtEl>
                                          <p:spTgt spid="28"/>
                                        </p:tgtEl>
                                      </p:cBhvr>
                                    </p:animEffect>
                                    <p:anim calcmode="lin" valueType="num">
                                      <p:cBhvr additive="base">
                                        <p:cTn id="103" dur="700" fill="hold"/>
                                        <p:tgtEl>
                                          <p:spTgt spid="28"/>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910"/>
                                  </p:stCondLst>
                                  <p:childTnLst>
                                    <p:set>
                                      <p:cBhvr>
                                        <p:cTn id="105" dur="1" fill="hold">
                                          <p:stCondLst>
                                            <p:cond delay="0"/>
                                          </p:stCondLst>
                                        </p:cTn>
                                        <p:tgtEl>
                                          <p:spTgt spid="29"/>
                                        </p:tgtEl>
                                        <p:attrNameLst>
                                          <p:attrName>style.visibility</p:attrName>
                                        </p:attrNameLst>
                                      </p:cBhvr>
                                      <p:to>
                                        <p:strVal val="visible"/>
                                      </p:to>
                                    </p:set>
                                    <p:animEffect transition="in" filter="fade">
                                      <p:cBhvr>
                                        <p:cTn id="106" dur="700"/>
                                        <p:tgtEl>
                                          <p:spTgt spid="29"/>
                                        </p:tgtEl>
                                      </p:cBhvr>
                                    </p:animEffect>
                                    <p:anim calcmode="lin" valueType="num">
                                      <p:cBhvr additive="base">
                                        <p:cTn id="107" dur="700" fill="hold"/>
                                        <p:tgtEl>
                                          <p:spTgt spid="29"/>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91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700"/>
                                        <p:tgtEl>
                                          <p:spTgt spid="30"/>
                                        </p:tgtEl>
                                      </p:cBhvr>
                                    </p:animEffect>
                                    <p:anim calcmode="lin" valueType="num">
                                      <p:cBhvr additive="base">
                                        <p:cTn id="111" dur="700" fill="hold"/>
                                        <p:tgtEl>
                                          <p:spTgt spid="30"/>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910"/>
                                  </p:stCondLst>
                                  <p:childTnLst>
                                    <p:set>
                                      <p:cBhvr>
                                        <p:cTn id="113" dur="1" fill="hold">
                                          <p:stCondLst>
                                            <p:cond delay="0"/>
                                          </p:stCondLst>
                                        </p:cTn>
                                        <p:tgtEl>
                                          <p:spTgt spid="31"/>
                                        </p:tgtEl>
                                        <p:attrNameLst>
                                          <p:attrName>style.visibility</p:attrName>
                                        </p:attrNameLst>
                                      </p:cBhvr>
                                      <p:to>
                                        <p:strVal val="visible"/>
                                      </p:to>
                                    </p:set>
                                    <p:animEffect transition="in" filter="fade">
                                      <p:cBhvr>
                                        <p:cTn id="114" dur="700"/>
                                        <p:tgtEl>
                                          <p:spTgt spid="31"/>
                                        </p:tgtEl>
                                      </p:cBhvr>
                                    </p:animEffect>
                                    <p:anim calcmode="lin" valueType="num">
                                      <p:cBhvr additive="base">
                                        <p:cTn id="115" dur="700" fill="hold"/>
                                        <p:tgtEl>
                                          <p:spTgt spid="31"/>
                                        </p:tgtEl>
                                        <p:attrNameLst>
                                          <p:attrName>ppt_y</p:attrName>
                                        </p:attrNameLst>
                                      </p:cBhvr>
                                      <p:tavLst>
                                        <p:tav tm="0">
                                          <p:val>
                                            <p:strVal val="#ppt_y+0.03"/>
                                          </p:val>
                                        </p:tav>
                                        <p:tav tm="100000">
                                          <p:val>
                                            <p:strVal val="#ppt_y"/>
                                          </p:val>
                                        </p:tav>
                                      </p:tavLst>
                                    </p:anim>
                                  </p:childTnLst>
                                </p:cTn>
                              </p:par>
                              <p:par>
                                <p:cTn id="116" presetID="42" presetClass="entr" presetSubtype="0" decel="100000" fill="hold" grpId="0" nodeType="withEffect">
                                  <p:stCondLst>
                                    <p:cond delay="910"/>
                                  </p:stCondLst>
                                  <p:childTnLst>
                                    <p:set>
                                      <p:cBhvr>
                                        <p:cTn id="117" dur="1" fill="hold">
                                          <p:stCondLst>
                                            <p:cond delay="0"/>
                                          </p:stCondLst>
                                        </p:cTn>
                                        <p:tgtEl>
                                          <p:spTgt spid="32"/>
                                        </p:tgtEl>
                                        <p:attrNameLst>
                                          <p:attrName>style.visibility</p:attrName>
                                        </p:attrNameLst>
                                      </p:cBhvr>
                                      <p:to>
                                        <p:strVal val="visible"/>
                                      </p:to>
                                    </p:set>
                                    <p:animEffect transition="in" filter="fade">
                                      <p:cBhvr>
                                        <p:cTn id="118" dur="700"/>
                                        <p:tgtEl>
                                          <p:spTgt spid="32"/>
                                        </p:tgtEl>
                                      </p:cBhvr>
                                    </p:animEffect>
                                    <p:anim calcmode="lin" valueType="num">
                                      <p:cBhvr additive="base">
                                        <p:cTn id="119" dur="700" fill="hold"/>
                                        <p:tgtEl>
                                          <p:spTgt spid="32"/>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91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700"/>
                                        <p:tgtEl>
                                          <p:spTgt spid="33"/>
                                        </p:tgtEl>
                                      </p:cBhvr>
                                    </p:animEffect>
                                    <p:anim calcmode="lin" valueType="num">
                                      <p:cBhvr additive="base">
                                        <p:cTn id="123" dur="700" fill="hold"/>
                                        <p:tgtEl>
                                          <p:spTgt spid="33"/>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910"/>
                                  </p:stCondLst>
                                  <p:childTnLst>
                                    <p:set>
                                      <p:cBhvr>
                                        <p:cTn id="125" dur="1" fill="hold">
                                          <p:stCondLst>
                                            <p:cond delay="0"/>
                                          </p:stCondLst>
                                        </p:cTn>
                                        <p:tgtEl>
                                          <p:spTgt spid="34"/>
                                        </p:tgtEl>
                                        <p:attrNameLst>
                                          <p:attrName>style.visibility</p:attrName>
                                        </p:attrNameLst>
                                      </p:cBhvr>
                                      <p:to>
                                        <p:strVal val="visible"/>
                                      </p:to>
                                    </p:set>
                                    <p:animEffect transition="in" filter="fade">
                                      <p:cBhvr>
                                        <p:cTn id="126" dur="700"/>
                                        <p:tgtEl>
                                          <p:spTgt spid="34"/>
                                        </p:tgtEl>
                                      </p:cBhvr>
                                    </p:animEffect>
                                    <p:anim calcmode="lin" valueType="num">
                                      <p:cBhvr additive="base">
                                        <p:cTn id="127" dur="700" fill="hold"/>
                                        <p:tgtEl>
                                          <p:spTgt spid="34"/>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91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700"/>
                                        <p:tgtEl>
                                          <p:spTgt spid="35"/>
                                        </p:tgtEl>
                                      </p:cBhvr>
                                    </p:animEffect>
                                    <p:anim calcmode="lin" valueType="num">
                                      <p:cBhvr additive="base">
                                        <p:cTn id="131" dur="700" fill="hold"/>
                                        <p:tgtEl>
                                          <p:spTgt spid="35"/>
                                        </p:tgtEl>
                                        <p:attrNameLst>
                                          <p:attrName>ppt_y</p:attrName>
                                        </p:attrNameLst>
                                      </p:cBhvr>
                                      <p:tavLst>
                                        <p:tav tm="0">
                                          <p:val>
                                            <p:strVal val="#ppt_y+0.03"/>
                                          </p:val>
                                        </p:tav>
                                        <p:tav tm="100000">
                                          <p:val>
                                            <p:strVal val="#ppt_y"/>
                                          </p:val>
                                        </p:tav>
                                      </p:tavLst>
                                    </p:anim>
                                  </p:childTnLst>
                                </p:cTn>
                              </p:par>
                              <p:par>
                                <p:cTn id="132" presetID="42" presetClass="entr" presetSubtype="0" decel="100000" fill="hold" grpId="0" nodeType="withEffect">
                                  <p:stCondLst>
                                    <p:cond delay="910"/>
                                  </p:stCondLst>
                                  <p:childTnLst>
                                    <p:set>
                                      <p:cBhvr>
                                        <p:cTn id="133" dur="1" fill="hold">
                                          <p:stCondLst>
                                            <p:cond delay="0"/>
                                          </p:stCondLst>
                                        </p:cTn>
                                        <p:tgtEl>
                                          <p:spTgt spid="36"/>
                                        </p:tgtEl>
                                        <p:attrNameLst>
                                          <p:attrName>style.visibility</p:attrName>
                                        </p:attrNameLst>
                                      </p:cBhvr>
                                      <p:to>
                                        <p:strVal val="visible"/>
                                      </p:to>
                                    </p:set>
                                    <p:animEffect transition="in" filter="fade">
                                      <p:cBhvr>
                                        <p:cTn id="134" dur="700"/>
                                        <p:tgtEl>
                                          <p:spTgt spid="36"/>
                                        </p:tgtEl>
                                      </p:cBhvr>
                                    </p:animEffect>
                                    <p:anim calcmode="lin" valueType="num">
                                      <p:cBhvr additive="base">
                                        <p:cTn id="135" dur="700" fill="hold"/>
                                        <p:tgtEl>
                                          <p:spTgt spid="36"/>
                                        </p:tgtEl>
                                        <p:attrNameLst>
                                          <p:attrName>ppt_y</p:attrName>
                                        </p:attrNameLst>
                                      </p:cBhvr>
                                      <p:tavLst>
                                        <p:tav tm="0">
                                          <p:val>
                                            <p:strVal val="#ppt_y+0.03"/>
                                          </p:val>
                                        </p:tav>
                                        <p:tav tm="100000">
                                          <p:val>
                                            <p:strVal val="#ppt_y"/>
                                          </p:val>
                                        </p:tav>
                                      </p:tavLst>
                                    </p:anim>
                                  </p:childTnLst>
                                </p:cTn>
                              </p:par>
                              <p:par>
                                <p:cTn id="136" presetID="10" presetClass="entr" presetSubtype="0" decel="100000" fill="hold" grpId="0" nodeType="withEffect">
                                  <p:stCondLst>
                                    <p:cond delay="1130"/>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600"/>
                                        <p:tgtEl>
                                          <p:spTgt spid="37"/>
                                        </p:tgtEl>
                                      </p:cBhvr>
                                    </p:animEffect>
                                  </p:childTnLst>
                                </p:cTn>
                              </p:par>
                              <p:par>
                                <p:cTn id="139" presetID="53" presetClass="entr" presetSubtype="16" decel="100000" fill="hold" grpId="0" nodeType="withEffect">
                                  <p:stCondLst>
                                    <p:cond delay="1350"/>
                                  </p:stCondLst>
                                  <p:childTnLst>
                                    <p:set>
                                      <p:cBhvr>
                                        <p:cTn id="140" dur="1" fill="hold">
                                          <p:stCondLst>
                                            <p:cond delay="0"/>
                                          </p:stCondLst>
                                        </p:cTn>
                                        <p:tgtEl>
                                          <p:spTgt spid="38"/>
                                        </p:tgtEl>
                                        <p:attrNameLst>
                                          <p:attrName>style.visibility</p:attrName>
                                        </p:attrNameLst>
                                      </p:cBhvr>
                                      <p:to>
                                        <p:strVal val="visible"/>
                                      </p:to>
                                    </p:set>
                                    <p:animEffect transition="in" filter="fade">
                                      <p:cBhvr>
                                        <p:cTn id="141" dur="450"/>
                                        <p:tgtEl>
                                          <p:spTgt spid="38"/>
                                        </p:tgtEl>
                                      </p:cBhvr>
                                    </p:animEffect>
                                    <p:anim calcmode="lin" valueType="num">
                                      <p:cBhvr additive="base">
                                        <p:cTn id="142" dur="450" fill="hold"/>
                                        <p:tgtEl>
                                          <p:spTgt spid="38"/>
                                        </p:tgtEl>
                                        <p:attrNameLst>
                                          <p:attrName>ppt_w</p:attrName>
                                        </p:attrNameLst>
                                      </p:cBhvr>
                                      <p:tavLst>
                                        <p:tav tm="0">
                                          <p:val>
                                            <p:strVal val="#ppt_w*0.2"/>
                                          </p:val>
                                        </p:tav>
                                        <p:tav tm="100000">
                                          <p:val>
                                            <p:strVal val="#ppt_w"/>
                                          </p:val>
                                        </p:tav>
                                      </p:tavLst>
                                    </p:anim>
                                    <p:anim calcmode="lin" valueType="num">
                                      <p:cBhvr additive="base">
                                        <p:cTn id="143" dur="450" fill="hold"/>
                                        <p:tgtEl>
                                          <p:spTgt spid="38"/>
                                        </p:tgtEl>
                                        <p:attrNameLst>
                                          <p:attrName>ppt_h</p:attrName>
                                        </p:attrNameLst>
                                      </p:cBhvr>
                                      <p:tavLst>
                                        <p:tav tm="0">
                                          <p:val>
                                            <p:strVal val="#ppt_h*0.2"/>
                                          </p:val>
                                        </p:tav>
                                        <p:tav tm="100000">
                                          <p:val>
                                            <p:strVal val="#ppt_h"/>
                                          </p:val>
                                        </p:tav>
                                      </p:tavLst>
                                    </p:anim>
                                  </p:childTnLst>
                                </p:cTn>
                              </p:par>
                              <p:par>
                                <p:cTn id="144" presetID="53" presetClass="entr" presetSubtype="16" decel="100000" fill="hold" grpId="0" nodeType="withEffect">
                                  <p:stCondLst>
                                    <p:cond delay="1350"/>
                                  </p:stCondLst>
                                  <p:childTnLst>
                                    <p:set>
                                      <p:cBhvr>
                                        <p:cTn id="145" dur="1" fill="hold">
                                          <p:stCondLst>
                                            <p:cond delay="0"/>
                                          </p:stCondLst>
                                        </p:cTn>
                                        <p:tgtEl>
                                          <p:spTgt spid="39"/>
                                        </p:tgtEl>
                                        <p:attrNameLst>
                                          <p:attrName>style.visibility</p:attrName>
                                        </p:attrNameLst>
                                      </p:cBhvr>
                                      <p:to>
                                        <p:strVal val="visible"/>
                                      </p:to>
                                    </p:set>
                                    <p:animEffect transition="in" filter="fade">
                                      <p:cBhvr>
                                        <p:cTn id="146" dur="450"/>
                                        <p:tgtEl>
                                          <p:spTgt spid="39"/>
                                        </p:tgtEl>
                                      </p:cBhvr>
                                    </p:animEffect>
                                    <p:anim calcmode="lin" valueType="num">
                                      <p:cBhvr additive="base">
                                        <p:cTn id="147" dur="450" fill="hold"/>
                                        <p:tgtEl>
                                          <p:spTgt spid="39"/>
                                        </p:tgtEl>
                                        <p:attrNameLst>
                                          <p:attrName>ppt_w</p:attrName>
                                        </p:attrNameLst>
                                      </p:cBhvr>
                                      <p:tavLst>
                                        <p:tav tm="0">
                                          <p:val>
                                            <p:strVal val="#ppt_w*0.2"/>
                                          </p:val>
                                        </p:tav>
                                        <p:tav tm="100000">
                                          <p:val>
                                            <p:strVal val="#ppt_w"/>
                                          </p:val>
                                        </p:tav>
                                      </p:tavLst>
                                    </p:anim>
                                    <p:anim calcmode="lin" valueType="num">
                                      <p:cBhvr additive="base">
                                        <p:cTn id="148" dur="450" fill="hold"/>
                                        <p:tgtEl>
                                          <p:spTgt spid="39"/>
                                        </p:tgtEl>
                                        <p:attrNameLst>
                                          <p:attrName>ppt_h</p:attrName>
                                        </p:attrNameLst>
                                      </p:cBhvr>
                                      <p:tavLst>
                                        <p:tav tm="0">
                                          <p:val>
                                            <p:strVal val="#ppt_h*0.2"/>
                                          </p:val>
                                        </p:tav>
                                        <p:tav tm="100000">
                                          <p:val>
                                            <p:strVal val="#ppt_h"/>
                                          </p:val>
                                        </p:tav>
                                      </p:tavLst>
                                    </p:anim>
                                  </p:childTnLst>
                                </p:cTn>
                              </p:par>
                              <p:par>
                                <p:cTn id="149" presetID="53" presetClass="entr" presetSubtype="16" decel="100000" fill="hold" grpId="0" nodeType="withEffect">
                                  <p:stCondLst>
                                    <p:cond delay="135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450"/>
                                        <p:tgtEl>
                                          <p:spTgt spid="40"/>
                                        </p:tgtEl>
                                      </p:cBhvr>
                                    </p:animEffect>
                                    <p:anim calcmode="lin" valueType="num">
                                      <p:cBhvr additive="base">
                                        <p:cTn id="152" dur="450" fill="hold"/>
                                        <p:tgtEl>
                                          <p:spTgt spid="40"/>
                                        </p:tgtEl>
                                        <p:attrNameLst>
                                          <p:attrName>ppt_w</p:attrName>
                                        </p:attrNameLst>
                                      </p:cBhvr>
                                      <p:tavLst>
                                        <p:tav tm="0">
                                          <p:val>
                                            <p:strVal val="#ppt_w*0.2"/>
                                          </p:val>
                                        </p:tav>
                                        <p:tav tm="100000">
                                          <p:val>
                                            <p:strVal val="#ppt_w"/>
                                          </p:val>
                                        </p:tav>
                                      </p:tavLst>
                                    </p:anim>
                                    <p:anim calcmode="lin" valueType="num">
                                      <p:cBhvr additive="base">
                                        <p:cTn id="153" dur="450" fill="hold"/>
                                        <p:tgtEl>
                                          <p:spTgt spid="40"/>
                                        </p:tgtEl>
                                        <p:attrNameLst>
                                          <p:attrName>ppt_h</p:attrName>
                                        </p:attrNameLst>
                                      </p:cBhvr>
                                      <p:tavLst>
                                        <p:tav tm="0">
                                          <p:val>
                                            <p:strVal val="#ppt_h*0.2"/>
                                          </p:val>
                                        </p:tav>
                                        <p:tav tm="100000">
                                          <p:val>
                                            <p:strVal val="#ppt_h"/>
                                          </p:val>
                                        </p:tav>
                                      </p:tavLst>
                                    </p:anim>
                                  </p:childTnLst>
                                </p:cTn>
                              </p:par>
                              <p:par>
                                <p:cTn id="154" presetID="53" presetClass="entr" presetSubtype="16" decel="100000" fill="hold" grpId="0" nodeType="withEffect">
                                  <p:stCondLst>
                                    <p:cond delay="1350"/>
                                  </p:stCondLst>
                                  <p:childTnLst>
                                    <p:set>
                                      <p:cBhvr>
                                        <p:cTn id="155" dur="1" fill="hold">
                                          <p:stCondLst>
                                            <p:cond delay="0"/>
                                          </p:stCondLst>
                                        </p:cTn>
                                        <p:tgtEl>
                                          <p:spTgt spid="41"/>
                                        </p:tgtEl>
                                        <p:attrNameLst>
                                          <p:attrName>style.visibility</p:attrName>
                                        </p:attrNameLst>
                                      </p:cBhvr>
                                      <p:to>
                                        <p:strVal val="visible"/>
                                      </p:to>
                                    </p:set>
                                    <p:animEffect transition="in" filter="fade">
                                      <p:cBhvr>
                                        <p:cTn id="156" dur="450"/>
                                        <p:tgtEl>
                                          <p:spTgt spid="41"/>
                                        </p:tgtEl>
                                      </p:cBhvr>
                                    </p:animEffect>
                                    <p:anim calcmode="lin" valueType="num">
                                      <p:cBhvr additive="base">
                                        <p:cTn id="157" dur="450" fill="hold"/>
                                        <p:tgtEl>
                                          <p:spTgt spid="41"/>
                                        </p:tgtEl>
                                        <p:attrNameLst>
                                          <p:attrName>ppt_w</p:attrName>
                                        </p:attrNameLst>
                                      </p:cBhvr>
                                      <p:tavLst>
                                        <p:tav tm="0">
                                          <p:val>
                                            <p:strVal val="#ppt_w*0.2"/>
                                          </p:val>
                                        </p:tav>
                                        <p:tav tm="100000">
                                          <p:val>
                                            <p:strVal val="#ppt_w"/>
                                          </p:val>
                                        </p:tav>
                                      </p:tavLst>
                                    </p:anim>
                                    <p:anim calcmode="lin" valueType="num">
                                      <p:cBhvr additive="base">
                                        <p:cTn id="158" dur="450" fill="hold"/>
                                        <p:tgtEl>
                                          <p:spTgt spid="41"/>
                                        </p:tgtEl>
                                        <p:attrNameLst>
                                          <p:attrName>ppt_h</p:attrName>
                                        </p:attrNameLst>
                                      </p:cBhvr>
                                      <p:tavLst>
                                        <p:tav tm="0">
                                          <p:val>
                                            <p:strVal val="#ppt_h*0.2"/>
                                          </p:val>
                                        </p:tav>
                                        <p:tav tm="100000">
                                          <p:val>
                                            <p:strVal val="#ppt_h"/>
                                          </p:val>
                                        </p:tav>
                                      </p:tavLst>
                                    </p:anim>
                                  </p:childTnLst>
                                </p:cTn>
                              </p:par>
                              <p:par>
                                <p:cTn id="159" presetID="10" presetClass="entr" presetSubtype="0" decel="100000" fill="hold" grpId="0" nodeType="withEffect">
                                  <p:stCondLst>
                                    <p:cond delay="1350"/>
                                  </p:stCondLst>
                                  <p:childTnLst>
                                    <p:set>
                                      <p:cBhvr>
                                        <p:cTn id="160" dur="1" fill="hold">
                                          <p:stCondLst>
                                            <p:cond delay="0"/>
                                          </p:stCondLst>
                                        </p:cTn>
                                        <p:tgtEl>
                                          <p:spTgt spid="42"/>
                                        </p:tgtEl>
                                        <p:attrNameLst>
                                          <p:attrName>style.visibility</p:attrName>
                                        </p:attrNameLst>
                                      </p:cBhvr>
                                      <p:to>
                                        <p:strVal val="visible"/>
                                      </p:to>
                                    </p:set>
                                    <p:animEffect transition="in" filter="fade">
                                      <p:cBhvr>
                                        <p:cTn id="161" dur="600"/>
                                        <p:tgtEl>
                                          <p:spTgt spid="42"/>
                                        </p:tgtEl>
                                      </p:cBhvr>
                                    </p:animEffect>
                                  </p:childTnLst>
                                </p:cTn>
                              </p:par>
                              <p:par>
                                <p:cTn id="162" presetID="53" presetClass="entr" presetSubtype="16" decel="100000" fill="hold" grpId="0" nodeType="withEffect">
                                  <p:stCondLst>
                                    <p:cond delay="1570"/>
                                  </p:stCondLst>
                                  <p:childTnLst>
                                    <p:set>
                                      <p:cBhvr>
                                        <p:cTn id="163" dur="1" fill="hold">
                                          <p:stCondLst>
                                            <p:cond delay="0"/>
                                          </p:stCondLst>
                                        </p:cTn>
                                        <p:tgtEl>
                                          <p:spTgt spid="43"/>
                                        </p:tgtEl>
                                        <p:attrNameLst>
                                          <p:attrName>style.visibility</p:attrName>
                                        </p:attrNameLst>
                                      </p:cBhvr>
                                      <p:to>
                                        <p:strVal val="visible"/>
                                      </p:to>
                                    </p:set>
                                    <p:animEffect transition="in" filter="fade">
                                      <p:cBhvr>
                                        <p:cTn id="164" dur="450"/>
                                        <p:tgtEl>
                                          <p:spTgt spid="43"/>
                                        </p:tgtEl>
                                      </p:cBhvr>
                                    </p:animEffect>
                                    <p:anim calcmode="lin" valueType="num">
                                      <p:cBhvr additive="base">
                                        <p:cTn id="165" dur="450" fill="hold"/>
                                        <p:tgtEl>
                                          <p:spTgt spid="43"/>
                                        </p:tgtEl>
                                        <p:attrNameLst>
                                          <p:attrName>ppt_w</p:attrName>
                                        </p:attrNameLst>
                                      </p:cBhvr>
                                      <p:tavLst>
                                        <p:tav tm="0">
                                          <p:val>
                                            <p:strVal val="#ppt_w*0.2"/>
                                          </p:val>
                                        </p:tav>
                                        <p:tav tm="100000">
                                          <p:val>
                                            <p:strVal val="#ppt_w"/>
                                          </p:val>
                                        </p:tav>
                                      </p:tavLst>
                                    </p:anim>
                                    <p:anim calcmode="lin" valueType="num">
                                      <p:cBhvr additive="base">
                                        <p:cTn id="166" dur="450" fill="hold"/>
                                        <p:tgtEl>
                                          <p:spTgt spid="43"/>
                                        </p:tgtEl>
                                        <p:attrNameLst>
                                          <p:attrName>ppt_h</p:attrName>
                                        </p:attrNameLst>
                                      </p:cBhvr>
                                      <p:tavLst>
                                        <p:tav tm="0">
                                          <p:val>
                                            <p:strVal val="#ppt_h*0.2"/>
                                          </p:val>
                                        </p:tav>
                                        <p:tav tm="100000">
                                          <p:val>
                                            <p:strVal val="#ppt_h"/>
                                          </p:val>
                                        </p:tav>
                                      </p:tavLst>
                                    </p:anim>
                                  </p:childTnLst>
                                </p:cTn>
                              </p:par>
                              <p:par>
                                <p:cTn id="167" presetID="53" presetClass="entr" presetSubtype="16" decel="100000" fill="hold" grpId="0" nodeType="withEffect">
                                  <p:stCondLst>
                                    <p:cond delay="1570"/>
                                  </p:stCondLst>
                                  <p:childTnLst>
                                    <p:set>
                                      <p:cBhvr>
                                        <p:cTn id="168" dur="1" fill="hold">
                                          <p:stCondLst>
                                            <p:cond delay="0"/>
                                          </p:stCondLst>
                                        </p:cTn>
                                        <p:tgtEl>
                                          <p:spTgt spid="44"/>
                                        </p:tgtEl>
                                        <p:attrNameLst>
                                          <p:attrName>style.visibility</p:attrName>
                                        </p:attrNameLst>
                                      </p:cBhvr>
                                      <p:to>
                                        <p:strVal val="visible"/>
                                      </p:to>
                                    </p:set>
                                    <p:animEffect transition="in" filter="fade">
                                      <p:cBhvr>
                                        <p:cTn id="169" dur="450"/>
                                        <p:tgtEl>
                                          <p:spTgt spid="44"/>
                                        </p:tgtEl>
                                      </p:cBhvr>
                                    </p:animEffect>
                                    <p:anim calcmode="lin" valueType="num">
                                      <p:cBhvr additive="base">
                                        <p:cTn id="170" dur="450" fill="hold"/>
                                        <p:tgtEl>
                                          <p:spTgt spid="44"/>
                                        </p:tgtEl>
                                        <p:attrNameLst>
                                          <p:attrName>ppt_w</p:attrName>
                                        </p:attrNameLst>
                                      </p:cBhvr>
                                      <p:tavLst>
                                        <p:tav tm="0">
                                          <p:val>
                                            <p:strVal val="#ppt_w*0.2"/>
                                          </p:val>
                                        </p:tav>
                                        <p:tav tm="100000">
                                          <p:val>
                                            <p:strVal val="#ppt_w"/>
                                          </p:val>
                                        </p:tav>
                                      </p:tavLst>
                                    </p:anim>
                                    <p:anim calcmode="lin" valueType="num">
                                      <p:cBhvr additive="base">
                                        <p:cTn id="171" dur="450" fill="hold"/>
                                        <p:tgtEl>
                                          <p:spTgt spid="44"/>
                                        </p:tgtEl>
                                        <p:attrNameLst>
                                          <p:attrName>ppt_h</p:attrName>
                                        </p:attrNameLst>
                                      </p:cBhvr>
                                      <p:tavLst>
                                        <p:tav tm="0">
                                          <p:val>
                                            <p:strVal val="#ppt_h*0.2"/>
                                          </p:val>
                                        </p:tav>
                                        <p:tav tm="100000">
                                          <p:val>
                                            <p:strVal val="#ppt_h"/>
                                          </p:val>
                                        </p:tav>
                                      </p:tavLst>
                                    </p:anim>
                                  </p:childTnLst>
                                </p:cTn>
                              </p:par>
                              <p:par>
                                <p:cTn id="172" presetID="53" presetClass="entr" presetSubtype="16" decel="100000" fill="hold" grpId="0" nodeType="withEffect">
                                  <p:stCondLst>
                                    <p:cond delay="157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450"/>
                                        <p:tgtEl>
                                          <p:spTgt spid="45"/>
                                        </p:tgtEl>
                                      </p:cBhvr>
                                    </p:animEffect>
                                    <p:anim calcmode="lin" valueType="num">
                                      <p:cBhvr additive="base">
                                        <p:cTn id="175" dur="450" fill="hold"/>
                                        <p:tgtEl>
                                          <p:spTgt spid="45"/>
                                        </p:tgtEl>
                                        <p:attrNameLst>
                                          <p:attrName>ppt_w</p:attrName>
                                        </p:attrNameLst>
                                      </p:cBhvr>
                                      <p:tavLst>
                                        <p:tav tm="0">
                                          <p:val>
                                            <p:strVal val="#ppt_w*0.2"/>
                                          </p:val>
                                        </p:tav>
                                        <p:tav tm="100000">
                                          <p:val>
                                            <p:strVal val="#ppt_w"/>
                                          </p:val>
                                        </p:tav>
                                      </p:tavLst>
                                    </p:anim>
                                    <p:anim calcmode="lin" valueType="num">
                                      <p:cBhvr additive="base">
                                        <p:cTn id="176" dur="450" fill="hold"/>
                                        <p:tgtEl>
                                          <p:spTgt spid="45"/>
                                        </p:tgtEl>
                                        <p:attrNameLst>
                                          <p:attrName>ppt_h</p:attrName>
                                        </p:attrNameLst>
                                      </p:cBhvr>
                                      <p:tavLst>
                                        <p:tav tm="0">
                                          <p:val>
                                            <p:strVal val="#ppt_h*0.2"/>
                                          </p:val>
                                        </p:tav>
                                        <p:tav tm="100000">
                                          <p:val>
                                            <p:strVal val="#ppt_h"/>
                                          </p:val>
                                        </p:tav>
                                      </p:tavLst>
                                    </p:anim>
                                  </p:childTnLst>
                                </p:cTn>
                              </p:par>
                              <p:par>
                                <p:cTn id="177" presetID="53" presetClass="entr" presetSubtype="16" decel="100000" fill="hold" grpId="0" nodeType="withEffect">
                                  <p:stCondLst>
                                    <p:cond delay="1570"/>
                                  </p:stCondLst>
                                  <p:childTnLst>
                                    <p:set>
                                      <p:cBhvr>
                                        <p:cTn id="178" dur="1" fill="hold">
                                          <p:stCondLst>
                                            <p:cond delay="0"/>
                                          </p:stCondLst>
                                        </p:cTn>
                                        <p:tgtEl>
                                          <p:spTgt spid="46"/>
                                        </p:tgtEl>
                                        <p:attrNameLst>
                                          <p:attrName>style.visibility</p:attrName>
                                        </p:attrNameLst>
                                      </p:cBhvr>
                                      <p:to>
                                        <p:strVal val="visible"/>
                                      </p:to>
                                    </p:set>
                                    <p:animEffect transition="in" filter="fade">
                                      <p:cBhvr>
                                        <p:cTn id="179" dur="450"/>
                                        <p:tgtEl>
                                          <p:spTgt spid="46"/>
                                        </p:tgtEl>
                                      </p:cBhvr>
                                    </p:animEffect>
                                    <p:anim calcmode="lin" valueType="num">
                                      <p:cBhvr additive="base">
                                        <p:cTn id="180" dur="450" fill="hold"/>
                                        <p:tgtEl>
                                          <p:spTgt spid="46"/>
                                        </p:tgtEl>
                                        <p:attrNameLst>
                                          <p:attrName>ppt_w</p:attrName>
                                        </p:attrNameLst>
                                      </p:cBhvr>
                                      <p:tavLst>
                                        <p:tav tm="0">
                                          <p:val>
                                            <p:strVal val="#ppt_w*0.2"/>
                                          </p:val>
                                        </p:tav>
                                        <p:tav tm="100000">
                                          <p:val>
                                            <p:strVal val="#ppt_w"/>
                                          </p:val>
                                        </p:tav>
                                      </p:tavLst>
                                    </p:anim>
                                    <p:anim calcmode="lin" valueType="num">
                                      <p:cBhvr additive="base">
                                        <p:cTn id="181" dur="450" fill="hold"/>
                                        <p:tgtEl>
                                          <p:spTgt spid="46"/>
                                        </p:tgtEl>
                                        <p:attrNameLst>
                                          <p:attrName>ppt_h</p:attrName>
                                        </p:attrNameLst>
                                      </p:cBhvr>
                                      <p:tavLst>
                                        <p:tav tm="0">
                                          <p:val>
                                            <p:strVal val="#ppt_h*0.2"/>
                                          </p:val>
                                        </p:tav>
                                        <p:tav tm="100000">
                                          <p:val>
                                            <p:strVal val="#ppt_h"/>
                                          </p:val>
                                        </p:tav>
                                      </p:tavLst>
                                    </p:anim>
                                  </p:childTnLst>
                                </p:cTn>
                              </p:par>
                              <p:par>
                                <p:cTn id="182" presetID="10" presetClass="entr" presetSubtype="0" decel="100000" fill="hold" grpId="0" nodeType="withEffect">
                                  <p:stCondLst>
                                    <p:cond delay="1570"/>
                                  </p:stCondLst>
                                  <p:childTnLst>
                                    <p:set>
                                      <p:cBhvr>
                                        <p:cTn id="183" dur="1" fill="hold">
                                          <p:stCondLst>
                                            <p:cond delay="0"/>
                                          </p:stCondLst>
                                        </p:cTn>
                                        <p:tgtEl>
                                          <p:spTgt spid="47"/>
                                        </p:tgtEl>
                                        <p:attrNameLst>
                                          <p:attrName>style.visibility</p:attrName>
                                        </p:attrNameLst>
                                      </p:cBhvr>
                                      <p:to>
                                        <p:strVal val="visible"/>
                                      </p:to>
                                    </p:set>
                                    <p:animEffect transition="in" filter="fade">
                                      <p:cBhvr>
                                        <p:cTn id="184" dur="600"/>
                                        <p:tgtEl>
                                          <p:spTgt spid="47"/>
                                        </p:tgtEl>
                                      </p:cBhvr>
                                    </p:animEffect>
                                  </p:childTnLst>
                                </p:cTn>
                              </p:par>
                              <p:par>
                                <p:cTn id="185" presetID="53" presetClass="entr" presetSubtype="16" decel="100000" fill="hold" grpId="0" nodeType="withEffect">
                                  <p:stCondLst>
                                    <p:cond delay="1790"/>
                                  </p:stCondLst>
                                  <p:childTnLst>
                                    <p:set>
                                      <p:cBhvr>
                                        <p:cTn id="186" dur="1" fill="hold">
                                          <p:stCondLst>
                                            <p:cond delay="0"/>
                                          </p:stCondLst>
                                        </p:cTn>
                                        <p:tgtEl>
                                          <p:spTgt spid="48"/>
                                        </p:tgtEl>
                                        <p:attrNameLst>
                                          <p:attrName>style.visibility</p:attrName>
                                        </p:attrNameLst>
                                      </p:cBhvr>
                                      <p:to>
                                        <p:strVal val="visible"/>
                                      </p:to>
                                    </p:set>
                                    <p:animEffect transition="in" filter="fade">
                                      <p:cBhvr>
                                        <p:cTn id="187" dur="450"/>
                                        <p:tgtEl>
                                          <p:spTgt spid="48"/>
                                        </p:tgtEl>
                                      </p:cBhvr>
                                    </p:animEffect>
                                    <p:anim calcmode="lin" valueType="num">
                                      <p:cBhvr additive="base">
                                        <p:cTn id="188" dur="450" fill="hold"/>
                                        <p:tgtEl>
                                          <p:spTgt spid="48"/>
                                        </p:tgtEl>
                                        <p:attrNameLst>
                                          <p:attrName>ppt_w</p:attrName>
                                        </p:attrNameLst>
                                      </p:cBhvr>
                                      <p:tavLst>
                                        <p:tav tm="0">
                                          <p:val>
                                            <p:strVal val="#ppt_w*0.2"/>
                                          </p:val>
                                        </p:tav>
                                        <p:tav tm="100000">
                                          <p:val>
                                            <p:strVal val="#ppt_w"/>
                                          </p:val>
                                        </p:tav>
                                      </p:tavLst>
                                    </p:anim>
                                    <p:anim calcmode="lin" valueType="num">
                                      <p:cBhvr additive="base">
                                        <p:cTn id="189" dur="450" fill="hold"/>
                                        <p:tgtEl>
                                          <p:spTgt spid="48"/>
                                        </p:tgtEl>
                                        <p:attrNameLst>
                                          <p:attrName>ppt_h</p:attrName>
                                        </p:attrNameLst>
                                      </p:cBhvr>
                                      <p:tavLst>
                                        <p:tav tm="0">
                                          <p:val>
                                            <p:strVal val="#ppt_h*0.2"/>
                                          </p:val>
                                        </p:tav>
                                        <p:tav tm="100000">
                                          <p:val>
                                            <p:strVal val="#ppt_h"/>
                                          </p:val>
                                        </p:tav>
                                      </p:tavLst>
                                    </p:anim>
                                  </p:childTnLst>
                                </p:cTn>
                              </p:par>
                              <p:par>
                                <p:cTn id="190" presetID="53" presetClass="entr" presetSubtype="16" decel="100000" fill="hold" grpId="0" nodeType="withEffect">
                                  <p:stCondLst>
                                    <p:cond delay="1790"/>
                                  </p:stCondLst>
                                  <p:childTnLst>
                                    <p:set>
                                      <p:cBhvr>
                                        <p:cTn id="191" dur="1" fill="hold">
                                          <p:stCondLst>
                                            <p:cond delay="0"/>
                                          </p:stCondLst>
                                        </p:cTn>
                                        <p:tgtEl>
                                          <p:spTgt spid="49"/>
                                        </p:tgtEl>
                                        <p:attrNameLst>
                                          <p:attrName>style.visibility</p:attrName>
                                        </p:attrNameLst>
                                      </p:cBhvr>
                                      <p:to>
                                        <p:strVal val="visible"/>
                                      </p:to>
                                    </p:set>
                                    <p:animEffect transition="in" filter="fade">
                                      <p:cBhvr>
                                        <p:cTn id="192" dur="450"/>
                                        <p:tgtEl>
                                          <p:spTgt spid="49"/>
                                        </p:tgtEl>
                                      </p:cBhvr>
                                    </p:animEffect>
                                    <p:anim calcmode="lin" valueType="num">
                                      <p:cBhvr additive="base">
                                        <p:cTn id="193" dur="450" fill="hold"/>
                                        <p:tgtEl>
                                          <p:spTgt spid="49"/>
                                        </p:tgtEl>
                                        <p:attrNameLst>
                                          <p:attrName>ppt_w</p:attrName>
                                        </p:attrNameLst>
                                      </p:cBhvr>
                                      <p:tavLst>
                                        <p:tav tm="0">
                                          <p:val>
                                            <p:strVal val="#ppt_w*0.2"/>
                                          </p:val>
                                        </p:tav>
                                        <p:tav tm="100000">
                                          <p:val>
                                            <p:strVal val="#ppt_w"/>
                                          </p:val>
                                        </p:tav>
                                      </p:tavLst>
                                    </p:anim>
                                    <p:anim calcmode="lin" valueType="num">
                                      <p:cBhvr additive="base">
                                        <p:cTn id="194" dur="450" fill="hold"/>
                                        <p:tgtEl>
                                          <p:spTgt spid="49"/>
                                        </p:tgtEl>
                                        <p:attrNameLst>
                                          <p:attrName>ppt_h</p:attrName>
                                        </p:attrNameLst>
                                      </p:cBhvr>
                                      <p:tavLst>
                                        <p:tav tm="0">
                                          <p:val>
                                            <p:strVal val="#ppt_h*0.2"/>
                                          </p:val>
                                        </p:tav>
                                        <p:tav tm="100000">
                                          <p:val>
                                            <p:strVal val="#ppt_h"/>
                                          </p:val>
                                        </p:tav>
                                      </p:tavLst>
                                    </p:anim>
                                  </p:childTnLst>
                                </p:cTn>
                              </p:par>
                              <p:par>
                                <p:cTn id="195" presetID="53" presetClass="entr" presetSubtype="16" decel="100000" fill="hold" grpId="0" nodeType="withEffect">
                                  <p:stCondLst>
                                    <p:cond delay="1790"/>
                                  </p:stCondLst>
                                  <p:childTnLst>
                                    <p:set>
                                      <p:cBhvr>
                                        <p:cTn id="196" dur="1" fill="hold">
                                          <p:stCondLst>
                                            <p:cond delay="0"/>
                                          </p:stCondLst>
                                        </p:cTn>
                                        <p:tgtEl>
                                          <p:spTgt spid="50"/>
                                        </p:tgtEl>
                                        <p:attrNameLst>
                                          <p:attrName>style.visibility</p:attrName>
                                        </p:attrNameLst>
                                      </p:cBhvr>
                                      <p:to>
                                        <p:strVal val="visible"/>
                                      </p:to>
                                    </p:set>
                                    <p:animEffect transition="in" filter="fade">
                                      <p:cBhvr>
                                        <p:cTn id="197" dur="450"/>
                                        <p:tgtEl>
                                          <p:spTgt spid="50"/>
                                        </p:tgtEl>
                                      </p:cBhvr>
                                    </p:animEffect>
                                    <p:anim calcmode="lin" valueType="num">
                                      <p:cBhvr additive="base">
                                        <p:cTn id="198" dur="450" fill="hold"/>
                                        <p:tgtEl>
                                          <p:spTgt spid="50"/>
                                        </p:tgtEl>
                                        <p:attrNameLst>
                                          <p:attrName>ppt_w</p:attrName>
                                        </p:attrNameLst>
                                      </p:cBhvr>
                                      <p:tavLst>
                                        <p:tav tm="0">
                                          <p:val>
                                            <p:strVal val="#ppt_w*0.2"/>
                                          </p:val>
                                        </p:tav>
                                        <p:tav tm="100000">
                                          <p:val>
                                            <p:strVal val="#ppt_w"/>
                                          </p:val>
                                        </p:tav>
                                      </p:tavLst>
                                    </p:anim>
                                    <p:anim calcmode="lin" valueType="num">
                                      <p:cBhvr additive="base">
                                        <p:cTn id="199" dur="450" fill="hold"/>
                                        <p:tgtEl>
                                          <p:spTgt spid="50"/>
                                        </p:tgtEl>
                                        <p:attrNameLst>
                                          <p:attrName>ppt_h</p:attrName>
                                        </p:attrNameLst>
                                      </p:cBhvr>
                                      <p:tavLst>
                                        <p:tav tm="0">
                                          <p:val>
                                            <p:strVal val="#ppt_h*0.2"/>
                                          </p:val>
                                        </p:tav>
                                        <p:tav tm="100000">
                                          <p:val>
                                            <p:strVal val="#ppt_h"/>
                                          </p:val>
                                        </p:tav>
                                      </p:tavLst>
                                    </p:anim>
                                  </p:childTnLst>
                                </p:cTn>
                              </p:par>
                              <p:par>
                                <p:cTn id="200" presetID="53" presetClass="entr" presetSubtype="16" decel="100000" fill="hold" grpId="0" nodeType="withEffect">
                                  <p:stCondLst>
                                    <p:cond delay="1790"/>
                                  </p:stCondLst>
                                  <p:childTnLst>
                                    <p:set>
                                      <p:cBhvr>
                                        <p:cTn id="201" dur="1" fill="hold">
                                          <p:stCondLst>
                                            <p:cond delay="0"/>
                                          </p:stCondLst>
                                        </p:cTn>
                                        <p:tgtEl>
                                          <p:spTgt spid="51"/>
                                        </p:tgtEl>
                                        <p:attrNameLst>
                                          <p:attrName>style.visibility</p:attrName>
                                        </p:attrNameLst>
                                      </p:cBhvr>
                                      <p:to>
                                        <p:strVal val="visible"/>
                                      </p:to>
                                    </p:set>
                                    <p:animEffect transition="in" filter="fade">
                                      <p:cBhvr>
                                        <p:cTn id="202" dur="450"/>
                                        <p:tgtEl>
                                          <p:spTgt spid="51"/>
                                        </p:tgtEl>
                                      </p:cBhvr>
                                    </p:animEffect>
                                    <p:anim calcmode="lin" valueType="num">
                                      <p:cBhvr additive="base">
                                        <p:cTn id="203" dur="450" fill="hold"/>
                                        <p:tgtEl>
                                          <p:spTgt spid="51"/>
                                        </p:tgtEl>
                                        <p:attrNameLst>
                                          <p:attrName>ppt_w</p:attrName>
                                        </p:attrNameLst>
                                      </p:cBhvr>
                                      <p:tavLst>
                                        <p:tav tm="0">
                                          <p:val>
                                            <p:strVal val="#ppt_w*0.2"/>
                                          </p:val>
                                        </p:tav>
                                        <p:tav tm="100000">
                                          <p:val>
                                            <p:strVal val="#ppt_w"/>
                                          </p:val>
                                        </p:tav>
                                      </p:tavLst>
                                    </p:anim>
                                    <p:anim calcmode="lin" valueType="num">
                                      <p:cBhvr additive="base">
                                        <p:cTn id="204" dur="450" fill="hold"/>
                                        <p:tgtEl>
                                          <p:spTgt spid="51"/>
                                        </p:tgtEl>
                                        <p:attrNameLst>
                                          <p:attrName>ppt_h</p:attrName>
                                        </p:attrNameLst>
                                      </p:cBhvr>
                                      <p:tavLst>
                                        <p:tav tm="0">
                                          <p:val>
                                            <p:strVal val="#ppt_h*0.2"/>
                                          </p:val>
                                        </p:tav>
                                        <p:tav tm="100000">
                                          <p:val>
                                            <p:strVal val="#ppt_h"/>
                                          </p:val>
                                        </p:tav>
                                      </p:tavLst>
                                    </p:anim>
                                  </p:childTnLst>
                                </p:cTn>
                              </p:par>
                              <p:par>
                                <p:cTn id="205" presetID="10" presetClass="entr" presetSubtype="0" decel="100000" fill="hold" grpId="0" nodeType="withEffect">
                                  <p:stCondLst>
                                    <p:cond delay="1790"/>
                                  </p:stCondLst>
                                  <p:childTnLst>
                                    <p:set>
                                      <p:cBhvr>
                                        <p:cTn id="206" dur="1" fill="hold">
                                          <p:stCondLst>
                                            <p:cond delay="0"/>
                                          </p:stCondLst>
                                        </p:cTn>
                                        <p:tgtEl>
                                          <p:spTgt spid="52"/>
                                        </p:tgtEl>
                                        <p:attrNameLst>
                                          <p:attrName>style.visibility</p:attrName>
                                        </p:attrNameLst>
                                      </p:cBhvr>
                                      <p:to>
                                        <p:strVal val="visible"/>
                                      </p:to>
                                    </p:set>
                                    <p:animEffect transition="in" filter="fade">
                                      <p:cBhvr>
                                        <p:cTn id="207" dur="600"/>
                                        <p:tgtEl>
                                          <p:spTgt spid="52"/>
                                        </p:tgtEl>
                                      </p:cBhvr>
                                    </p:animEffect>
                                  </p:childTnLst>
                                </p:cTn>
                              </p:par>
                              <p:par>
                                <p:cTn id="208" presetID="53" presetClass="entr" presetSubtype="16" decel="100000" fill="hold" grpId="0" nodeType="withEffect">
                                  <p:stCondLst>
                                    <p:cond delay="2010"/>
                                  </p:stCondLst>
                                  <p:childTnLst>
                                    <p:set>
                                      <p:cBhvr>
                                        <p:cTn id="209" dur="1" fill="hold">
                                          <p:stCondLst>
                                            <p:cond delay="0"/>
                                          </p:stCondLst>
                                        </p:cTn>
                                        <p:tgtEl>
                                          <p:spTgt spid="53"/>
                                        </p:tgtEl>
                                        <p:attrNameLst>
                                          <p:attrName>style.visibility</p:attrName>
                                        </p:attrNameLst>
                                      </p:cBhvr>
                                      <p:to>
                                        <p:strVal val="visible"/>
                                      </p:to>
                                    </p:set>
                                    <p:animEffect transition="in" filter="fade">
                                      <p:cBhvr>
                                        <p:cTn id="210" dur="450"/>
                                        <p:tgtEl>
                                          <p:spTgt spid="53"/>
                                        </p:tgtEl>
                                      </p:cBhvr>
                                    </p:animEffect>
                                    <p:anim calcmode="lin" valueType="num">
                                      <p:cBhvr additive="base">
                                        <p:cTn id="211" dur="450" fill="hold"/>
                                        <p:tgtEl>
                                          <p:spTgt spid="53"/>
                                        </p:tgtEl>
                                        <p:attrNameLst>
                                          <p:attrName>ppt_w</p:attrName>
                                        </p:attrNameLst>
                                      </p:cBhvr>
                                      <p:tavLst>
                                        <p:tav tm="0">
                                          <p:val>
                                            <p:strVal val="#ppt_w*0.2"/>
                                          </p:val>
                                        </p:tav>
                                        <p:tav tm="100000">
                                          <p:val>
                                            <p:strVal val="#ppt_w"/>
                                          </p:val>
                                        </p:tav>
                                      </p:tavLst>
                                    </p:anim>
                                    <p:anim calcmode="lin" valueType="num">
                                      <p:cBhvr additive="base">
                                        <p:cTn id="212" dur="450" fill="hold"/>
                                        <p:tgtEl>
                                          <p:spTgt spid="53"/>
                                        </p:tgtEl>
                                        <p:attrNameLst>
                                          <p:attrName>ppt_h</p:attrName>
                                        </p:attrNameLst>
                                      </p:cBhvr>
                                      <p:tavLst>
                                        <p:tav tm="0">
                                          <p:val>
                                            <p:strVal val="#ppt_h*0.2"/>
                                          </p:val>
                                        </p:tav>
                                        <p:tav tm="100000">
                                          <p:val>
                                            <p:strVal val="#ppt_h"/>
                                          </p:val>
                                        </p:tav>
                                      </p:tavLst>
                                    </p:anim>
                                  </p:childTnLst>
                                </p:cTn>
                              </p:par>
                              <p:par>
                                <p:cTn id="213" presetID="53" presetClass="entr" presetSubtype="16" decel="100000" fill="hold" grpId="0" nodeType="withEffect">
                                  <p:stCondLst>
                                    <p:cond delay="2010"/>
                                  </p:stCondLst>
                                  <p:childTnLst>
                                    <p:set>
                                      <p:cBhvr>
                                        <p:cTn id="214" dur="1" fill="hold">
                                          <p:stCondLst>
                                            <p:cond delay="0"/>
                                          </p:stCondLst>
                                        </p:cTn>
                                        <p:tgtEl>
                                          <p:spTgt spid="54"/>
                                        </p:tgtEl>
                                        <p:attrNameLst>
                                          <p:attrName>style.visibility</p:attrName>
                                        </p:attrNameLst>
                                      </p:cBhvr>
                                      <p:to>
                                        <p:strVal val="visible"/>
                                      </p:to>
                                    </p:set>
                                    <p:animEffect transition="in" filter="fade">
                                      <p:cBhvr>
                                        <p:cTn id="215" dur="450"/>
                                        <p:tgtEl>
                                          <p:spTgt spid="54"/>
                                        </p:tgtEl>
                                      </p:cBhvr>
                                    </p:animEffect>
                                    <p:anim calcmode="lin" valueType="num">
                                      <p:cBhvr additive="base">
                                        <p:cTn id="216" dur="450" fill="hold"/>
                                        <p:tgtEl>
                                          <p:spTgt spid="54"/>
                                        </p:tgtEl>
                                        <p:attrNameLst>
                                          <p:attrName>ppt_w</p:attrName>
                                        </p:attrNameLst>
                                      </p:cBhvr>
                                      <p:tavLst>
                                        <p:tav tm="0">
                                          <p:val>
                                            <p:strVal val="#ppt_w*0.2"/>
                                          </p:val>
                                        </p:tav>
                                        <p:tav tm="100000">
                                          <p:val>
                                            <p:strVal val="#ppt_w"/>
                                          </p:val>
                                        </p:tav>
                                      </p:tavLst>
                                    </p:anim>
                                    <p:anim calcmode="lin" valueType="num">
                                      <p:cBhvr additive="base">
                                        <p:cTn id="217" dur="450" fill="hold"/>
                                        <p:tgtEl>
                                          <p:spTgt spid="54"/>
                                        </p:tgtEl>
                                        <p:attrNameLst>
                                          <p:attrName>ppt_h</p:attrName>
                                        </p:attrNameLst>
                                      </p:cBhvr>
                                      <p:tavLst>
                                        <p:tav tm="0">
                                          <p:val>
                                            <p:strVal val="#ppt_h*0.2"/>
                                          </p:val>
                                        </p:tav>
                                        <p:tav tm="100000">
                                          <p:val>
                                            <p:strVal val="#ppt_h"/>
                                          </p:val>
                                        </p:tav>
                                      </p:tavLst>
                                    </p:anim>
                                  </p:childTnLst>
                                </p:cTn>
                              </p:par>
                              <p:par>
                                <p:cTn id="218" presetID="53" presetClass="entr" presetSubtype="16" decel="100000" fill="hold" grpId="0" nodeType="withEffect">
                                  <p:stCondLst>
                                    <p:cond delay="2010"/>
                                  </p:stCondLst>
                                  <p:childTnLst>
                                    <p:set>
                                      <p:cBhvr>
                                        <p:cTn id="219" dur="1" fill="hold">
                                          <p:stCondLst>
                                            <p:cond delay="0"/>
                                          </p:stCondLst>
                                        </p:cTn>
                                        <p:tgtEl>
                                          <p:spTgt spid="55"/>
                                        </p:tgtEl>
                                        <p:attrNameLst>
                                          <p:attrName>style.visibility</p:attrName>
                                        </p:attrNameLst>
                                      </p:cBhvr>
                                      <p:to>
                                        <p:strVal val="visible"/>
                                      </p:to>
                                    </p:set>
                                    <p:animEffect transition="in" filter="fade">
                                      <p:cBhvr>
                                        <p:cTn id="220" dur="450"/>
                                        <p:tgtEl>
                                          <p:spTgt spid="55"/>
                                        </p:tgtEl>
                                      </p:cBhvr>
                                    </p:animEffect>
                                    <p:anim calcmode="lin" valueType="num">
                                      <p:cBhvr additive="base">
                                        <p:cTn id="221" dur="450" fill="hold"/>
                                        <p:tgtEl>
                                          <p:spTgt spid="55"/>
                                        </p:tgtEl>
                                        <p:attrNameLst>
                                          <p:attrName>ppt_w</p:attrName>
                                        </p:attrNameLst>
                                      </p:cBhvr>
                                      <p:tavLst>
                                        <p:tav tm="0">
                                          <p:val>
                                            <p:strVal val="#ppt_w*0.2"/>
                                          </p:val>
                                        </p:tav>
                                        <p:tav tm="100000">
                                          <p:val>
                                            <p:strVal val="#ppt_w"/>
                                          </p:val>
                                        </p:tav>
                                      </p:tavLst>
                                    </p:anim>
                                    <p:anim calcmode="lin" valueType="num">
                                      <p:cBhvr additive="base">
                                        <p:cTn id="222" dur="450" fill="hold"/>
                                        <p:tgtEl>
                                          <p:spTgt spid="55"/>
                                        </p:tgtEl>
                                        <p:attrNameLst>
                                          <p:attrName>ppt_h</p:attrName>
                                        </p:attrNameLst>
                                      </p:cBhvr>
                                      <p:tavLst>
                                        <p:tav tm="0">
                                          <p:val>
                                            <p:strVal val="#ppt_h*0.2"/>
                                          </p:val>
                                        </p:tav>
                                        <p:tav tm="100000">
                                          <p:val>
                                            <p:strVal val="#ppt_h"/>
                                          </p:val>
                                        </p:tav>
                                      </p:tavLst>
                                    </p:anim>
                                  </p:childTnLst>
                                </p:cTn>
                              </p:par>
                              <p:par>
                                <p:cTn id="223" presetID="53" presetClass="entr" presetSubtype="16" decel="100000" fill="hold" grpId="0" nodeType="withEffect">
                                  <p:stCondLst>
                                    <p:cond delay="2010"/>
                                  </p:stCondLst>
                                  <p:childTnLst>
                                    <p:set>
                                      <p:cBhvr>
                                        <p:cTn id="224" dur="1" fill="hold">
                                          <p:stCondLst>
                                            <p:cond delay="0"/>
                                          </p:stCondLst>
                                        </p:cTn>
                                        <p:tgtEl>
                                          <p:spTgt spid="56"/>
                                        </p:tgtEl>
                                        <p:attrNameLst>
                                          <p:attrName>style.visibility</p:attrName>
                                        </p:attrNameLst>
                                      </p:cBhvr>
                                      <p:to>
                                        <p:strVal val="visible"/>
                                      </p:to>
                                    </p:set>
                                    <p:animEffect transition="in" filter="fade">
                                      <p:cBhvr>
                                        <p:cTn id="225" dur="450"/>
                                        <p:tgtEl>
                                          <p:spTgt spid="56"/>
                                        </p:tgtEl>
                                      </p:cBhvr>
                                    </p:animEffect>
                                    <p:anim calcmode="lin" valueType="num">
                                      <p:cBhvr additive="base">
                                        <p:cTn id="226" dur="450" fill="hold"/>
                                        <p:tgtEl>
                                          <p:spTgt spid="56"/>
                                        </p:tgtEl>
                                        <p:attrNameLst>
                                          <p:attrName>ppt_w</p:attrName>
                                        </p:attrNameLst>
                                      </p:cBhvr>
                                      <p:tavLst>
                                        <p:tav tm="0">
                                          <p:val>
                                            <p:strVal val="#ppt_w*0.2"/>
                                          </p:val>
                                        </p:tav>
                                        <p:tav tm="100000">
                                          <p:val>
                                            <p:strVal val="#ppt_w"/>
                                          </p:val>
                                        </p:tav>
                                      </p:tavLst>
                                    </p:anim>
                                    <p:anim calcmode="lin" valueType="num">
                                      <p:cBhvr additive="base">
                                        <p:cTn id="227" dur="450" fill="hold"/>
                                        <p:tgtEl>
                                          <p:spTgt spid="56"/>
                                        </p:tgtEl>
                                        <p:attrNameLst>
                                          <p:attrName>ppt_h</p:attrName>
                                        </p:attrNameLst>
                                      </p:cBhvr>
                                      <p:tavLst>
                                        <p:tav tm="0">
                                          <p:val>
                                            <p:strVal val="#ppt_h*0.2"/>
                                          </p:val>
                                        </p:tav>
                                        <p:tav tm="100000">
                                          <p:val>
                                            <p:strVal val="#ppt_h"/>
                                          </p:val>
                                        </p:tav>
                                      </p:tavLst>
                                    </p:anim>
                                  </p:childTnLst>
                                </p:cTn>
                              </p:par>
                              <p:par>
                                <p:cTn id="228" presetID="10" presetClass="entr" presetSubtype="0" decel="100000" fill="hold" grpId="0" nodeType="withEffect">
                                  <p:stCondLst>
                                    <p:cond delay="2010"/>
                                  </p:stCondLst>
                                  <p:childTnLst>
                                    <p:set>
                                      <p:cBhvr>
                                        <p:cTn id="229" dur="1" fill="hold">
                                          <p:stCondLst>
                                            <p:cond delay="0"/>
                                          </p:stCondLst>
                                        </p:cTn>
                                        <p:tgtEl>
                                          <p:spTgt spid="57"/>
                                        </p:tgtEl>
                                        <p:attrNameLst>
                                          <p:attrName>style.visibility</p:attrName>
                                        </p:attrNameLst>
                                      </p:cBhvr>
                                      <p:to>
                                        <p:strVal val="visible"/>
                                      </p:to>
                                    </p:set>
                                    <p:animEffect transition="in" filter="fade">
                                      <p:cBhvr>
                                        <p:cTn id="230" dur="600"/>
                                        <p:tgtEl>
                                          <p:spTgt spid="57"/>
                                        </p:tgtEl>
                                      </p:cBhvr>
                                    </p:animEffect>
                                  </p:childTnLst>
                                </p:cTn>
                              </p:par>
                              <p:par>
                                <p:cTn id="231" presetID="53" presetClass="entr" presetSubtype="16" decel="100000" fill="hold" grpId="0" nodeType="withEffect">
                                  <p:stCondLst>
                                    <p:cond delay="2230"/>
                                  </p:stCondLst>
                                  <p:childTnLst>
                                    <p:set>
                                      <p:cBhvr>
                                        <p:cTn id="232" dur="1" fill="hold">
                                          <p:stCondLst>
                                            <p:cond delay="0"/>
                                          </p:stCondLst>
                                        </p:cTn>
                                        <p:tgtEl>
                                          <p:spTgt spid="58"/>
                                        </p:tgtEl>
                                        <p:attrNameLst>
                                          <p:attrName>style.visibility</p:attrName>
                                        </p:attrNameLst>
                                      </p:cBhvr>
                                      <p:to>
                                        <p:strVal val="visible"/>
                                      </p:to>
                                    </p:set>
                                    <p:animEffect transition="in" filter="fade">
                                      <p:cBhvr>
                                        <p:cTn id="233" dur="450"/>
                                        <p:tgtEl>
                                          <p:spTgt spid="58"/>
                                        </p:tgtEl>
                                      </p:cBhvr>
                                    </p:animEffect>
                                    <p:anim calcmode="lin" valueType="num">
                                      <p:cBhvr additive="base">
                                        <p:cTn id="234" dur="450" fill="hold"/>
                                        <p:tgtEl>
                                          <p:spTgt spid="58"/>
                                        </p:tgtEl>
                                        <p:attrNameLst>
                                          <p:attrName>ppt_w</p:attrName>
                                        </p:attrNameLst>
                                      </p:cBhvr>
                                      <p:tavLst>
                                        <p:tav tm="0">
                                          <p:val>
                                            <p:strVal val="#ppt_w*0.2"/>
                                          </p:val>
                                        </p:tav>
                                        <p:tav tm="100000">
                                          <p:val>
                                            <p:strVal val="#ppt_w"/>
                                          </p:val>
                                        </p:tav>
                                      </p:tavLst>
                                    </p:anim>
                                    <p:anim calcmode="lin" valueType="num">
                                      <p:cBhvr additive="base">
                                        <p:cTn id="235" dur="450" fill="hold"/>
                                        <p:tgtEl>
                                          <p:spTgt spid="58"/>
                                        </p:tgtEl>
                                        <p:attrNameLst>
                                          <p:attrName>ppt_h</p:attrName>
                                        </p:attrNameLst>
                                      </p:cBhvr>
                                      <p:tavLst>
                                        <p:tav tm="0">
                                          <p:val>
                                            <p:strVal val="#ppt_h*0.2"/>
                                          </p:val>
                                        </p:tav>
                                        <p:tav tm="100000">
                                          <p:val>
                                            <p:strVal val="#ppt_h"/>
                                          </p:val>
                                        </p:tav>
                                      </p:tavLst>
                                    </p:anim>
                                  </p:childTnLst>
                                </p:cTn>
                              </p:par>
                              <p:par>
                                <p:cTn id="236" presetID="53" presetClass="entr" presetSubtype="16" decel="100000" fill="hold" grpId="0" nodeType="withEffect">
                                  <p:stCondLst>
                                    <p:cond delay="2230"/>
                                  </p:stCondLst>
                                  <p:childTnLst>
                                    <p:set>
                                      <p:cBhvr>
                                        <p:cTn id="237" dur="1" fill="hold">
                                          <p:stCondLst>
                                            <p:cond delay="0"/>
                                          </p:stCondLst>
                                        </p:cTn>
                                        <p:tgtEl>
                                          <p:spTgt spid="59"/>
                                        </p:tgtEl>
                                        <p:attrNameLst>
                                          <p:attrName>style.visibility</p:attrName>
                                        </p:attrNameLst>
                                      </p:cBhvr>
                                      <p:to>
                                        <p:strVal val="visible"/>
                                      </p:to>
                                    </p:set>
                                    <p:animEffect transition="in" filter="fade">
                                      <p:cBhvr>
                                        <p:cTn id="238" dur="450"/>
                                        <p:tgtEl>
                                          <p:spTgt spid="59"/>
                                        </p:tgtEl>
                                      </p:cBhvr>
                                    </p:animEffect>
                                    <p:anim calcmode="lin" valueType="num">
                                      <p:cBhvr additive="base">
                                        <p:cTn id="239" dur="450" fill="hold"/>
                                        <p:tgtEl>
                                          <p:spTgt spid="59"/>
                                        </p:tgtEl>
                                        <p:attrNameLst>
                                          <p:attrName>ppt_w</p:attrName>
                                        </p:attrNameLst>
                                      </p:cBhvr>
                                      <p:tavLst>
                                        <p:tav tm="0">
                                          <p:val>
                                            <p:strVal val="#ppt_w*0.2"/>
                                          </p:val>
                                        </p:tav>
                                        <p:tav tm="100000">
                                          <p:val>
                                            <p:strVal val="#ppt_w"/>
                                          </p:val>
                                        </p:tav>
                                      </p:tavLst>
                                    </p:anim>
                                    <p:anim calcmode="lin" valueType="num">
                                      <p:cBhvr additive="base">
                                        <p:cTn id="240" dur="450" fill="hold"/>
                                        <p:tgtEl>
                                          <p:spTgt spid="59"/>
                                        </p:tgtEl>
                                        <p:attrNameLst>
                                          <p:attrName>ppt_h</p:attrName>
                                        </p:attrNameLst>
                                      </p:cBhvr>
                                      <p:tavLst>
                                        <p:tav tm="0">
                                          <p:val>
                                            <p:strVal val="#ppt_h*0.2"/>
                                          </p:val>
                                        </p:tav>
                                        <p:tav tm="100000">
                                          <p:val>
                                            <p:strVal val="#ppt_h"/>
                                          </p:val>
                                        </p:tav>
                                      </p:tavLst>
                                    </p:anim>
                                  </p:childTnLst>
                                </p:cTn>
                              </p:par>
                              <p:par>
                                <p:cTn id="241" presetID="53" presetClass="entr" presetSubtype="16" decel="100000" fill="hold" grpId="0" nodeType="withEffect">
                                  <p:stCondLst>
                                    <p:cond delay="2230"/>
                                  </p:stCondLst>
                                  <p:childTnLst>
                                    <p:set>
                                      <p:cBhvr>
                                        <p:cTn id="242" dur="1" fill="hold">
                                          <p:stCondLst>
                                            <p:cond delay="0"/>
                                          </p:stCondLst>
                                        </p:cTn>
                                        <p:tgtEl>
                                          <p:spTgt spid="60"/>
                                        </p:tgtEl>
                                        <p:attrNameLst>
                                          <p:attrName>style.visibility</p:attrName>
                                        </p:attrNameLst>
                                      </p:cBhvr>
                                      <p:to>
                                        <p:strVal val="visible"/>
                                      </p:to>
                                    </p:set>
                                    <p:animEffect transition="in" filter="fade">
                                      <p:cBhvr>
                                        <p:cTn id="243" dur="450"/>
                                        <p:tgtEl>
                                          <p:spTgt spid="60"/>
                                        </p:tgtEl>
                                      </p:cBhvr>
                                    </p:animEffect>
                                    <p:anim calcmode="lin" valueType="num">
                                      <p:cBhvr additive="base">
                                        <p:cTn id="244" dur="450" fill="hold"/>
                                        <p:tgtEl>
                                          <p:spTgt spid="60"/>
                                        </p:tgtEl>
                                        <p:attrNameLst>
                                          <p:attrName>ppt_w</p:attrName>
                                        </p:attrNameLst>
                                      </p:cBhvr>
                                      <p:tavLst>
                                        <p:tav tm="0">
                                          <p:val>
                                            <p:strVal val="#ppt_w*0.2"/>
                                          </p:val>
                                        </p:tav>
                                        <p:tav tm="100000">
                                          <p:val>
                                            <p:strVal val="#ppt_w"/>
                                          </p:val>
                                        </p:tav>
                                      </p:tavLst>
                                    </p:anim>
                                    <p:anim calcmode="lin" valueType="num">
                                      <p:cBhvr additive="base">
                                        <p:cTn id="245" dur="450" fill="hold"/>
                                        <p:tgtEl>
                                          <p:spTgt spid="60"/>
                                        </p:tgtEl>
                                        <p:attrNameLst>
                                          <p:attrName>ppt_h</p:attrName>
                                        </p:attrNameLst>
                                      </p:cBhvr>
                                      <p:tavLst>
                                        <p:tav tm="0">
                                          <p:val>
                                            <p:strVal val="#ppt_h*0.2"/>
                                          </p:val>
                                        </p:tav>
                                        <p:tav tm="100000">
                                          <p:val>
                                            <p:strVal val="#ppt_h"/>
                                          </p:val>
                                        </p:tav>
                                      </p:tavLst>
                                    </p:anim>
                                  </p:childTnLst>
                                </p:cTn>
                              </p:par>
                              <p:par>
                                <p:cTn id="246" presetID="53" presetClass="entr" presetSubtype="16" decel="100000" fill="hold" grpId="0" nodeType="withEffect">
                                  <p:stCondLst>
                                    <p:cond delay="2230"/>
                                  </p:stCondLst>
                                  <p:childTnLst>
                                    <p:set>
                                      <p:cBhvr>
                                        <p:cTn id="247" dur="1" fill="hold">
                                          <p:stCondLst>
                                            <p:cond delay="0"/>
                                          </p:stCondLst>
                                        </p:cTn>
                                        <p:tgtEl>
                                          <p:spTgt spid="61"/>
                                        </p:tgtEl>
                                        <p:attrNameLst>
                                          <p:attrName>style.visibility</p:attrName>
                                        </p:attrNameLst>
                                      </p:cBhvr>
                                      <p:to>
                                        <p:strVal val="visible"/>
                                      </p:to>
                                    </p:set>
                                    <p:animEffect transition="in" filter="fade">
                                      <p:cBhvr>
                                        <p:cTn id="248" dur="450"/>
                                        <p:tgtEl>
                                          <p:spTgt spid="61"/>
                                        </p:tgtEl>
                                      </p:cBhvr>
                                    </p:animEffect>
                                    <p:anim calcmode="lin" valueType="num">
                                      <p:cBhvr additive="base">
                                        <p:cTn id="249" dur="450" fill="hold"/>
                                        <p:tgtEl>
                                          <p:spTgt spid="61"/>
                                        </p:tgtEl>
                                        <p:attrNameLst>
                                          <p:attrName>ppt_w</p:attrName>
                                        </p:attrNameLst>
                                      </p:cBhvr>
                                      <p:tavLst>
                                        <p:tav tm="0">
                                          <p:val>
                                            <p:strVal val="#ppt_w*0.2"/>
                                          </p:val>
                                        </p:tav>
                                        <p:tav tm="100000">
                                          <p:val>
                                            <p:strVal val="#ppt_w"/>
                                          </p:val>
                                        </p:tav>
                                      </p:tavLst>
                                    </p:anim>
                                    <p:anim calcmode="lin" valueType="num">
                                      <p:cBhvr additive="base">
                                        <p:cTn id="250" dur="450" fill="hold"/>
                                        <p:tgtEl>
                                          <p:spTgt spid="61"/>
                                        </p:tgtEl>
                                        <p:attrNameLst>
                                          <p:attrName>ppt_h</p:attrName>
                                        </p:attrNameLst>
                                      </p:cBhvr>
                                      <p:tavLst>
                                        <p:tav tm="0">
                                          <p:val>
                                            <p:strVal val="#ppt_h*0.2"/>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animBg="1"/>
      <p:bldP spid="27" grpId="0" animBg="1"/>
      <p:bldP spid="28" grpId="0" animBg="1"/>
      <p:bldP spid="29"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animBg="1"/>
      <p:bldP spid="43" grpId="0" animBg="1"/>
      <p:bldP spid="44" grpId="0"/>
      <p:bldP spid="45" grpId="0" animBg="1"/>
      <p:bldP spid="46" grpId="0" animBg="1"/>
      <p:bldP spid="47" grpId="0" animBg="1"/>
      <p:bldP spid="48" grpId="0" animBg="1"/>
      <p:bldP spid="49" grpId="0"/>
      <p:bldP spid="50" grpId="0" animBg="1"/>
      <p:bldP spid="51" grpId="0" animBg="1"/>
      <p:bldP spid="52" grpId="0" animBg="1"/>
      <p:bldP spid="53" grpId="0" animBg="1"/>
      <p:bldP spid="54" grpId="0"/>
      <p:bldP spid="55" grpId="0" animBg="1"/>
      <p:bldP spid="56" grpId="0" animBg="1"/>
      <p:bldP spid="57" grpId="0" animBg="1"/>
      <p:bldP spid="58" grpId="0" animBg="1"/>
      <p:bldP spid="59" grpId="0"/>
      <p:bldP spid="60" grpId="0" animBg="1"/>
      <p:bldP spid="61" grpId="0" animBg="1"/>
      <p:bldP spid="2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377440" y="-12801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04672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DATA &amp; STUDY AREA</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Five independent data sources, six years, 91 stands</a:t>
            </a:r>
            <a:endParaRPr lang="en-US" sz="3400" dirty="0"/>
          </a:p>
        </p:txBody>
      </p:sp>
      <p:sp>
        <p:nvSpPr>
          <p:cNvPr id="7" name="a1zoom_mapcard"/>
          <p:cNvSpPr/>
          <p:nvPr/>
        </p:nvSpPr>
        <p:spPr>
          <a:xfrm>
            <a:off x="548640" y="1691640"/>
            <a:ext cx="4343400" cy="4480560"/>
          </a:xfrm>
          <a:prstGeom prst="roundRect">
            <a:avLst>
              <a:gd name="adj" fmla="val 2947"/>
            </a:avLst>
          </a:prstGeom>
          <a:solidFill>
            <a:srgbClr val="F3F7FB">
              <a:alpha val="90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pic>
        <p:nvPicPr>
          <p:cNvPr id="8" name="a1zoom_map" descr="C:\Users\nahla\Desktop\UAE-Space-Hackatoon\deck_pptx\build\assets\stand_map.png"/>
          <p:cNvPicPr>
            <a:picLocks noChangeAspect="1"/>
          </p:cNvPicPr>
          <p:nvPr/>
        </p:nvPicPr>
        <p:blipFill>
          <a:blip r:embed="rId5"/>
          <a:stretch>
            <a:fillRect/>
          </a:stretch>
        </p:blipFill>
        <p:spPr>
          <a:xfrm>
            <a:off x="685800" y="1783080"/>
            <a:ext cx="4069080" cy="3386056"/>
          </a:xfrm>
          <a:prstGeom prst="rect">
            <a:avLst/>
          </a:prstGeom>
        </p:spPr>
      </p:pic>
      <p:sp>
        <p:nvSpPr>
          <p:cNvPr id="9" name="a2fade_mapcap"/>
          <p:cNvSpPr txBox="1"/>
          <p:nvPr/>
        </p:nvSpPr>
        <p:spPr>
          <a:xfrm>
            <a:off x="777240" y="5303520"/>
            <a:ext cx="3931920" cy="7772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Pilot: 25 stands · 2,281 ha (WorldCover 2021 patches ≥ 3 ha). +66 unseen stands in Abu Dhabi N/W and Saudi Tarut Bay test transfer.</a:t>
            </a:r>
            <a:endParaRPr lang="en-US" sz="1200" dirty="0"/>
          </a:p>
        </p:txBody>
      </p:sp>
      <p:sp>
        <p:nvSpPr>
          <p:cNvPr id="10" name="a2float_d0"/>
          <p:cNvSpPr/>
          <p:nvPr/>
        </p:nvSpPr>
        <p:spPr>
          <a:xfrm>
            <a:off x="5120640" y="1691640"/>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1" name="a2float_d0ic_c"/>
          <p:cNvSpPr/>
          <p:nvPr/>
        </p:nvSpPr>
        <p:spPr>
          <a:xfrm>
            <a:off x="5303520" y="1847088"/>
            <a:ext cx="475488" cy="47548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2" name="a2float_d0ic_i" descr="preencoded.png"/>
          <p:cNvPicPr>
            <a:picLocks noChangeAspect="1"/>
          </p:cNvPicPr>
          <p:nvPr/>
        </p:nvPicPr>
        <p:blipFill>
          <a:blip r:embed="rId6"/>
          <a:stretch>
            <a:fillRect/>
          </a:stretch>
        </p:blipFill>
        <p:spPr>
          <a:xfrm>
            <a:off x="5417637" y="1961205"/>
            <a:ext cx="247254" cy="247254"/>
          </a:xfrm>
          <a:prstGeom prst="rect">
            <a:avLst/>
          </a:prstGeom>
        </p:spPr>
      </p:pic>
      <p:sp>
        <p:nvSpPr>
          <p:cNvPr id="13" name="a2float_d0t"/>
          <p:cNvSpPr txBox="1"/>
          <p:nvPr/>
        </p:nvSpPr>
        <p:spPr>
          <a:xfrm>
            <a:off x="5943600" y="1801368"/>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Sentinel-2 L2A</a:t>
            </a:r>
            <a:endParaRPr lang="en-US" sz="1500" dirty="0"/>
          </a:p>
        </p:txBody>
      </p:sp>
      <p:sp>
        <p:nvSpPr>
          <p:cNvPr id="14" name="a2float_d0d"/>
          <p:cNvSpPr txBox="1"/>
          <p:nvPr/>
        </p:nvSpPr>
        <p:spPr>
          <a:xfrm>
            <a:off x="5943600" y="2112264"/>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ESA / Copernicus · 10–20 m time series</a:t>
            </a:r>
            <a:endParaRPr lang="en-US" sz="1200" dirty="0"/>
          </a:p>
        </p:txBody>
      </p:sp>
      <p:sp>
        <p:nvSpPr>
          <p:cNvPr id="15" name="a2float_d0p_bg"/>
          <p:cNvSpPr/>
          <p:nvPr/>
        </p:nvSpPr>
        <p:spPr>
          <a:xfrm>
            <a:off x="10222992" y="1901952"/>
            <a:ext cx="1234440" cy="365760"/>
          </a:xfrm>
          <a:prstGeom prst="roundRect">
            <a:avLst>
              <a:gd name="adj" fmla="val 50000"/>
            </a:avLst>
          </a:prstGeom>
          <a:solidFill>
            <a:srgbClr val="A9813A">
              <a:alpha val="15000"/>
            </a:srgbClr>
          </a:solidFill>
          <a:ln w="9525">
            <a:solidFill>
              <a:srgbClr val="A9813A"/>
            </a:solidFill>
            <a:prstDash val="solid"/>
          </a:ln>
        </p:spPr>
        <p:txBody>
          <a:bodyPr/>
          <a:lstStyle/>
          <a:p>
            <a:endParaRPr lang="en-GB"/>
          </a:p>
        </p:txBody>
      </p:sp>
      <p:sp>
        <p:nvSpPr>
          <p:cNvPr id="16" name="a2float_d0p"/>
          <p:cNvSpPr txBox="1"/>
          <p:nvPr/>
        </p:nvSpPr>
        <p:spPr>
          <a:xfrm>
            <a:off x="10222992" y="1901952"/>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778 dates</a:t>
            </a:r>
            <a:endParaRPr lang="en-US" sz="1300" dirty="0"/>
          </a:p>
        </p:txBody>
      </p:sp>
      <p:sp>
        <p:nvSpPr>
          <p:cNvPr id="17" name="a3float_d1"/>
          <p:cNvSpPr/>
          <p:nvPr/>
        </p:nvSpPr>
        <p:spPr>
          <a:xfrm>
            <a:off x="5120640" y="2596896"/>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8" name="a3float_d1ic_c"/>
          <p:cNvSpPr/>
          <p:nvPr/>
        </p:nvSpPr>
        <p:spPr>
          <a:xfrm>
            <a:off x="5303520" y="2752344"/>
            <a:ext cx="475488" cy="475488"/>
          </a:xfrm>
          <a:prstGeom prst="ellipse">
            <a:avLst/>
          </a:prstGeom>
          <a:solidFill>
            <a:srgbClr val="7D6FB0">
              <a:alpha val="18000"/>
            </a:srgbClr>
          </a:solidFill>
          <a:ln w="12700">
            <a:solidFill>
              <a:srgbClr val="7D6FB0"/>
            </a:solidFill>
            <a:prstDash val="solid"/>
          </a:ln>
        </p:spPr>
        <p:txBody>
          <a:bodyPr/>
          <a:lstStyle/>
          <a:p>
            <a:endParaRPr lang="en-GB"/>
          </a:p>
        </p:txBody>
      </p:sp>
      <p:pic>
        <p:nvPicPr>
          <p:cNvPr id="19" name="a3float_d1ic_i" descr="preencoded.png"/>
          <p:cNvPicPr>
            <a:picLocks noChangeAspect="1"/>
          </p:cNvPicPr>
          <p:nvPr/>
        </p:nvPicPr>
        <p:blipFill>
          <a:blip r:embed="rId7"/>
          <a:stretch>
            <a:fillRect/>
          </a:stretch>
        </p:blipFill>
        <p:spPr>
          <a:xfrm>
            <a:off x="5417637" y="2866461"/>
            <a:ext cx="247254" cy="247254"/>
          </a:xfrm>
          <a:prstGeom prst="rect">
            <a:avLst/>
          </a:prstGeom>
        </p:spPr>
      </p:pic>
      <p:sp>
        <p:nvSpPr>
          <p:cNvPr id="20" name="a3float_d1t"/>
          <p:cNvSpPr txBox="1"/>
          <p:nvPr/>
        </p:nvSpPr>
        <p:spPr>
          <a:xfrm>
            <a:off x="5943600" y="2706624"/>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EnMAP hyperspectral</a:t>
            </a:r>
            <a:endParaRPr lang="en-US" sz="1500" dirty="0"/>
          </a:p>
        </p:txBody>
      </p:sp>
      <p:sp>
        <p:nvSpPr>
          <p:cNvPr id="21" name="a3float_d1d"/>
          <p:cNvSpPr txBox="1"/>
          <p:nvPr/>
        </p:nvSpPr>
        <p:spPr>
          <a:xfrm>
            <a:off x="5943600" y="3017520"/>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DLR · 224 bands · independent check</a:t>
            </a:r>
            <a:endParaRPr lang="en-US" sz="1200" dirty="0"/>
          </a:p>
        </p:txBody>
      </p:sp>
      <p:sp>
        <p:nvSpPr>
          <p:cNvPr id="22" name="a3float_d1p_bg"/>
          <p:cNvSpPr/>
          <p:nvPr/>
        </p:nvSpPr>
        <p:spPr>
          <a:xfrm>
            <a:off x="10222992" y="2807208"/>
            <a:ext cx="1234440" cy="365760"/>
          </a:xfrm>
          <a:prstGeom prst="roundRect">
            <a:avLst>
              <a:gd name="adj" fmla="val 50000"/>
            </a:avLst>
          </a:prstGeom>
          <a:solidFill>
            <a:srgbClr val="7D6FB0">
              <a:alpha val="15000"/>
            </a:srgbClr>
          </a:solidFill>
          <a:ln w="9525">
            <a:solidFill>
              <a:srgbClr val="7D6FB0"/>
            </a:solidFill>
            <a:prstDash val="solid"/>
          </a:ln>
        </p:spPr>
        <p:txBody>
          <a:bodyPr/>
          <a:lstStyle/>
          <a:p>
            <a:endParaRPr lang="en-GB"/>
          </a:p>
        </p:txBody>
      </p:sp>
      <p:sp>
        <p:nvSpPr>
          <p:cNvPr id="23" name="a3float_d1p"/>
          <p:cNvSpPr txBox="1"/>
          <p:nvPr/>
        </p:nvSpPr>
        <p:spPr>
          <a:xfrm>
            <a:off x="10222992" y="2807208"/>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5E5296"/>
                </a:solidFill>
                <a:latin typeface="Segoe UI Semibold" pitchFamily="34" charset="0"/>
                <a:ea typeface="Segoe UI Semibold" pitchFamily="34" charset="-122"/>
                <a:cs typeface="Segoe UI Semibold" pitchFamily="34" charset="-120"/>
              </a:rPr>
              <a:t>2 scenes</a:t>
            </a:r>
            <a:endParaRPr lang="en-US" sz="1300" dirty="0"/>
          </a:p>
        </p:txBody>
      </p:sp>
      <p:sp>
        <p:nvSpPr>
          <p:cNvPr id="24" name="a4float_d2"/>
          <p:cNvSpPr/>
          <p:nvPr/>
        </p:nvSpPr>
        <p:spPr>
          <a:xfrm>
            <a:off x="5120640" y="3502152"/>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5" name="a4float_d2ic_c"/>
          <p:cNvSpPr/>
          <p:nvPr/>
        </p:nvSpPr>
        <p:spPr>
          <a:xfrm>
            <a:off x="5303520" y="3657600"/>
            <a:ext cx="475488" cy="47548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6" name="a4float_d2ic_i" descr="preencoded.png"/>
          <p:cNvPicPr>
            <a:picLocks noChangeAspect="1"/>
          </p:cNvPicPr>
          <p:nvPr/>
        </p:nvPicPr>
        <p:blipFill>
          <a:blip r:embed="rId8"/>
          <a:stretch>
            <a:fillRect/>
          </a:stretch>
        </p:blipFill>
        <p:spPr>
          <a:xfrm>
            <a:off x="5417637" y="3771717"/>
            <a:ext cx="247254" cy="247254"/>
          </a:xfrm>
          <a:prstGeom prst="rect">
            <a:avLst/>
          </a:prstGeom>
        </p:spPr>
      </p:pic>
      <p:sp>
        <p:nvSpPr>
          <p:cNvPr id="27" name="a4float_d2t"/>
          <p:cNvSpPr txBox="1"/>
          <p:nvPr/>
        </p:nvSpPr>
        <p:spPr>
          <a:xfrm>
            <a:off x="5943600" y="3611880"/>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ESA WorldCover 2021</a:t>
            </a:r>
            <a:endParaRPr lang="en-US" sz="1500" dirty="0"/>
          </a:p>
        </p:txBody>
      </p:sp>
      <p:sp>
        <p:nvSpPr>
          <p:cNvPr id="28" name="a4float_d2d"/>
          <p:cNvSpPr txBox="1"/>
          <p:nvPr/>
        </p:nvSpPr>
        <p:spPr>
          <a:xfrm>
            <a:off x="5943600" y="3922776"/>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10 m land cover · stand outlines</a:t>
            </a:r>
            <a:endParaRPr lang="en-US" sz="1200" dirty="0"/>
          </a:p>
        </p:txBody>
      </p:sp>
      <p:sp>
        <p:nvSpPr>
          <p:cNvPr id="29" name="a4float_d2p_bg"/>
          <p:cNvSpPr/>
          <p:nvPr/>
        </p:nvSpPr>
        <p:spPr>
          <a:xfrm>
            <a:off x="10222992" y="3712464"/>
            <a:ext cx="1234440" cy="365760"/>
          </a:xfrm>
          <a:prstGeom prst="roundRect">
            <a:avLst>
              <a:gd name="adj" fmla="val 50000"/>
            </a:avLst>
          </a:prstGeom>
          <a:solidFill>
            <a:srgbClr val="A9813A">
              <a:alpha val="15000"/>
            </a:srgbClr>
          </a:solidFill>
          <a:ln w="9525">
            <a:solidFill>
              <a:srgbClr val="A9813A"/>
            </a:solidFill>
            <a:prstDash val="solid"/>
          </a:ln>
        </p:spPr>
        <p:txBody>
          <a:bodyPr/>
          <a:lstStyle/>
          <a:p>
            <a:endParaRPr lang="en-GB"/>
          </a:p>
        </p:txBody>
      </p:sp>
      <p:sp>
        <p:nvSpPr>
          <p:cNvPr id="30" name="a4float_d2p"/>
          <p:cNvSpPr txBox="1"/>
          <p:nvPr/>
        </p:nvSpPr>
        <p:spPr>
          <a:xfrm>
            <a:off x="10222992" y="3712464"/>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CC BY 4.0</a:t>
            </a:r>
            <a:endParaRPr lang="en-US" sz="1300" dirty="0"/>
          </a:p>
        </p:txBody>
      </p:sp>
      <p:sp>
        <p:nvSpPr>
          <p:cNvPr id="31" name="a5float_d3"/>
          <p:cNvSpPr/>
          <p:nvPr/>
        </p:nvSpPr>
        <p:spPr>
          <a:xfrm>
            <a:off x="5120640" y="4407408"/>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2" name="a5float_d3ic_c"/>
          <p:cNvSpPr/>
          <p:nvPr/>
        </p:nvSpPr>
        <p:spPr>
          <a:xfrm>
            <a:off x="5303520" y="4562856"/>
            <a:ext cx="475488" cy="47548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3" name="a5float_d3ic_i" descr="preencoded.png"/>
          <p:cNvPicPr>
            <a:picLocks noChangeAspect="1"/>
          </p:cNvPicPr>
          <p:nvPr/>
        </p:nvPicPr>
        <p:blipFill>
          <a:blip r:embed="rId9"/>
          <a:stretch>
            <a:fillRect/>
          </a:stretch>
        </p:blipFill>
        <p:spPr>
          <a:xfrm>
            <a:off x="5417637" y="4676973"/>
            <a:ext cx="247254" cy="247254"/>
          </a:xfrm>
          <a:prstGeom prst="rect">
            <a:avLst/>
          </a:prstGeom>
        </p:spPr>
      </p:pic>
      <p:sp>
        <p:nvSpPr>
          <p:cNvPr id="34" name="a5float_d3t"/>
          <p:cNvSpPr txBox="1"/>
          <p:nvPr/>
        </p:nvSpPr>
        <p:spPr>
          <a:xfrm>
            <a:off x="5943600" y="4517136"/>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Field carbon plots</a:t>
            </a:r>
            <a:endParaRPr lang="en-US" sz="1500" dirty="0"/>
          </a:p>
        </p:txBody>
      </p:sp>
      <p:sp>
        <p:nvSpPr>
          <p:cNvPr id="35" name="a5float_d3d"/>
          <p:cNvSpPr txBox="1"/>
          <p:nvPr/>
        </p:nvSpPr>
        <p:spPr>
          <a:xfrm>
            <a:off x="5943600" y="4828032"/>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Schile et al. 2016 · carbon density</a:t>
            </a:r>
            <a:endParaRPr lang="en-US" sz="1200" dirty="0"/>
          </a:p>
        </p:txBody>
      </p:sp>
      <p:sp>
        <p:nvSpPr>
          <p:cNvPr id="36" name="a5float_d3p_bg"/>
          <p:cNvSpPr/>
          <p:nvPr/>
        </p:nvSpPr>
        <p:spPr>
          <a:xfrm>
            <a:off x="10222992" y="4617720"/>
            <a:ext cx="1234440" cy="365760"/>
          </a:xfrm>
          <a:prstGeom prst="roundRect">
            <a:avLst>
              <a:gd name="adj" fmla="val 50000"/>
            </a:avLst>
          </a:prstGeom>
          <a:solidFill>
            <a:srgbClr val="A9813A">
              <a:alpha val="15000"/>
            </a:srgbClr>
          </a:solidFill>
          <a:ln w="9525">
            <a:solidFill>
              <a:srgbClr val="A9813A"/>
            </a:solidFill>
            <a:prstDash val="solid"/>
          </a:ln>
        </p:spPr>
        <p:txBody>
          <a:bodyPr/>
          <a:lstStyle/>
          <a:p>
            <a:endParaRPr lang="en-GB"/>
          </a:p>
        </p:txBody>
      </p:sp>
      <p:sp>
        <p:nvSpPr>
          <p:cNvPr id="37" name="a5float_d3p"/>
          <p:cNvSpPr txBox="1"/>
          <p:nvPr/>
        </p:nvSpPr>
        <p:spPr>
          <a:xfrm>
            <a:off x="10222992" y="4617720"/>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24 plots</a:t>
            </a:r>
            <a:endParaRPr lang="en-US" sz="1300" dirty="0"/>
          </a:p>
        </p:txBody>
      </p:sp>
      <p:sp>
        <p:nvSpPr>
          <p:cNvPr id="38" name="a6float_d4"/>
          <p:cNvSpPr/>
          <p:nvPr/>
        </p:nvSpPr>
        <p:spPr>
          <a:xfrm>
            <a:off x="5120640" y="5312664"/>
            <a:ext cx="6519672" cy="786384"/>
          </a:xfrm>
          <a:prstGeom prst="roundRect">
            <a:avLst>
              <a:gd name="adj" fmla="val 1627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9" name="a6float_d4ic_c"/>
          <p:cNvSpPr/>
          <p:nvPr/>
        </p:nvSpPr>
        <p:spPr>
          <a:xfrm>
            <a:off x="5303520" y="5468112"/>
            <a:ext cx="475488" cy="475488"/>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0" name="a6float_d4ic_i" descr="preencoded.png"/>
          <p:cNvPicPr>
            <a:picLocks noChangeAspect="1"/>
          </p:cNvPicPr>
          <p:nvPr/>
        </p:nvPicPr>
        <p:blipFill>
          <a:blip r:embed="rId10"/>
          <a:stretch>
            <a:fillRect/>
          </a:stretch>
        </p:blipFill>
        <p:spPr>
          <a:xfrm>
            <a:off x="5417637" y="5582229"/>
            <a:ext cx="247254" cy="247254"/>
          </a:xfrm>
          <a:prstGeom prst="rect">
            <a:avLst/>
          </a:prstGeom>
        </p:spPr>
      </p:pic>
      <p:sp>
        <p:nvSpPr>
          <p:cNvPr id="41" name="a6float_d4t"/>
          <p:cNvSpPr txBox="1"/>
          <p:nvPr/>
        </p:nvSpPr>
        <p:spPr>
          <a:xfrm>
            <a:off x="5943600" y="5422392"/>
            <a:ext cx="365760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Sub-metre captures</a:t>
            </a:r>
            <a:endParaRPr lang="en-US" sz="1500" dirty="0"/>
          </a:p>
        </p:txBody>
      </p:sp>
      <p:sp>
        <p:nvSpPr>
          <p:cNvPr id="42" name="a6float_d4d"/>
          <p:cNvSpPr txBox="1"/>
          <p:nvPr/>
        </p:nvSpPr>
        <p:spPr>
          <a:xfrm>
            <a:off x="5943600" y="5733288"/>
            <a:ext cx="384048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WorldView-2/3, Legion-1 · confirm events</a:t>
            </a:r>
            <a:endParaRPr lang="en-US" sz="1200" dirty="0"/>
          </a:p>
        </p:txBody>
      </p:sp>
      <p:sp>
        <p:nvSpPr>
          <p:cNvPr id="43" name="a6float_d4p_bg"/>
          <p:cNvSpPr/>
          <p:nvPr/>
        </p:nvSpPr>
        <p:spPr>
          <a:xfrm>
            <a:off x="10222992" y="5522976"/>
            <a:ext cx="1234440" cy="365760"/>
          </a:xfrm>
          <a:prstGeom prst="roundRect">
            <a:avLst>
              <a:gd name="adj" fmla="val 50000"/>
            </a:avLst>
          </a:prstGeom>
          <a:solidFill>
            <a:srgbClr val="A9813A">
              <a:alpha val="15000"/>
            </a:srgbClr>
          </a:solidFill>
          <a:ln w="9525">
            <a:solidFill>
              <a:srgbClr val="A9813A"/>
            </a:solidFill>
            <a:prstDash val="solid"/>
          </a:ln>
        </p:spPr>
        <p:txBody>
          <a:bodyPr/>
          <a:lstStyle/>
          <a:p>
            <a:endParaRPr lang="en-GB"/>
          </a:p>
        </p:txBody>
      </p:sp>
      <p:sp>
        <p:nvSpPr>
          <p:cNvPr id="44" name="a6float_d4p"/>
          <p:cNvSpPr txBox="1"/>
          <p:nvPr/>
        </p:nvSpPr>
        <p:spPr>
          <a:xfrm>
            <a:off x="10222992" y="5522976"/>
            <a:ext cx="12344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8A6A2A"/>
                </a:solidFill>
                <a:latin typeface="Segoe UI Semibold" pitchFamily="34" charset="0"/>
                <a:ea typeface="Segoe UI Semibold" pitchFamily="34" charset="-122"/>
                <a:cs typeface="Segoe UI Semibold" pitchFamily="34" charset="-120"/>
              </a:rPr>
              <a:t>0.3–0.5 m</a:t>
            </a:r>
            <a:endParaRPr lang="en-US" sz="1300" dirty="0"/>
          </a:p>
        </p:txBody>
      </p:sp>
      <p:sp>
        <p:nvSpPr>
          <p:cNvPr id="45" name="a7fade_cap"/>
          <p:cNvSpPr txBox="1"/>
          <p:nvPr/>
        </p:nvSpPr>
        <p:spPr>
          <a:xfrm>
            <a:off x="5120640" y="6245352"/>
            <a:ext cx="649224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Quality control: cloud masks · interior pixels only · tide model · second-source checks</a:t>
            </a:r>
            <a:endParaRPr lang="en-US" sz="1100" dirty="0"/>
          </a:p>
        </p:txBody>
      </p:sp>
      <p:sp>
        <p:nvSpPr>
          <p:cNvPr id="4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10"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42" presetClass="entr" presetSubtype="0" decel="100000" fill="hold" grpId="0" nodeType="withEffect">
                                  <p:stCondLst>
                                    <p:cond delay="6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p:tgtEl>
                                          <p:spTgt spid="10"/>
                                        </p:tgtEl>
                                        <p:attrNameLst>
                                          <p:attrName>ppt_y</p:attrName>
                                        </p:attrNameLst>
                                      </p:cBhvr>
                                      <p:tavLst>
                                        <p:tav tm="0">
                                          <p:val>
                                            <p:strVal val="#ppt_y+0.03"/>
                                          </p:val>
                                        </p:tav>
                                        <p:tav tm="100000">
                                          <p:val>
                                            <p:strVal val="#ppt_y"/>
                                          </p:val>
                                        </p:tav>
                                      </p:tavLst>
                                    </p:anim>
                                  </p:childTnLst>
                                </p:cTn>
                              </p:par>
                              <p:par>
                                <p:cTn id="29" presetID="42" presetClass="entr" presetSubtype="0" decel="100000" fill="hold" grpId="0" nodeType="withEffect">
                                  <p:stCondLst>
                                    <p:cond delay="69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700"/>
                                        <p:tgtEl>
                                          <p:spTgt spid="11"/>
                                        </p:tgtEl>
                                      </p:cBhvr>
                                    </p:animEffect>
                                    <p:anim calcmode="lin" valueType="num">
                                      <p:cBhvr additive="base">
                                        <p:cTn id="32" dur="700" fill="hold"/>
                                        <p:tgtEl>
                                          <p:spTgt spid="11"/>
                                        </p:tgtEl>
                                        <p:attrNameLst>
                                          <p:attrName>ppt_y</p:attrName>
                                        </p:attrNameLst>
                                      </p:cBhvr>
                                      <p:tavLst>
                                        <p:tav tm="0">
                                          <p:val>
                                            <p:strVal val="#ppt_y+0.03"/>
                                          </p:val>
                                        </p:tav>
                                        <p:tav tm="100000">
                                          <p:val>
                                            <p:strVal val="#ppt_y"/>
                                          </p:val>
                                        </p:tav>
                                      </p:tavLst>
                                    </p:anim>
                                  </p:childTnLst>
                                </p:cTn>
                              </p:par>
                              <p:par>
                                <p:cTn id="33" presetID="42" presetClass="entr" presetSubtype="0" decel="10000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00"/>
                                        <p:tgtEl>
                                          <p:spTgt spid="12"/>
                                        </p:tgtEl>
                                      </p:cBhvr>
                                    </p:animEffect>
                                    <p:anim calcmode="lin" valueType="num">
                                      <p:cBhvr additive="base">
                                        <p:cTn id="36" dur="700" fill="hold"/>
                                        <p:tgtEl>
                                          <p:spTgt spid="12"/>
                                        </p:tgtEl>
                                        <p:attrNameLst>
                                          <p:attrName>ppt_y</p:attrName>
                                        </p:attrNameLst>
                                      </p:cBhvr>
                                      <p:tavLst>
                                        <p:tav tm="0">
                                          <p:val>
                                            <p:strVal val="#ppt_y+0.03"/>
                                          </p:val>
                                        </p:tav>
                                        <p:tav tm="100000">
                                          <p:val>
                                            <p:strVal val="#ppt_y"/>
                                          </p:val>
                                        </p:tav>
                                      </p:tavLst>
                                    </p:anim>
                                  </p:childTnLst>
                                </p:cTn>
                              </p:par>
                              <p:par>
                                <p:cTn id="37" presetID="42" presetClass="entr" presetSubtype="0" decel="100000" fill="hold" grpId="0" nodeType="withEffect">
                                  <p:stCondLst>
                                    <p:cond delay="69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00"/>
                                        <p:tgtEl>
                                          <p:spTgt spid="13"/>
                                        </p:tgtEl>
                                      </p:cBhvr>
                                    </p:animEffect>
                                    <p:anim calcmode="lin" valueType="num">
                                      <p:cBhvr additive="base">
                                        <p:cTn id="40" dur="700" fill="hold"/>
                                        <p:tgtEl>
                                          <p:spTgt spid="13"/>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6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anim calcmode="lin" valueType="num">
                                      <p:cBhvr additive="base">
                                        <p:cTn id="44" dur="700" fill="hold"/>
                                        <p:tgtEl>
                                          <p:spTgt spid="14"/>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69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700"/>
                                        <p:tgtEl>
                                          <p:spTgt spid="15"/>
                                        </p:tgtEl>
                                      </p:cBhvr>
                                    </p:animEffect>
                                    <p:anim calcmode="lin" valueType="num">
                                      <p:cBhvr additive="base">
                                        <p:cTn id="48" dur="700" fill="hold"/>
                                        <p:tgtEl>
                                          <p:spTgt spid="15"/>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69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700"/>
                                        <p:tgtEl>
                                          <p:spTgt spid="16"/>
                                        </p:tgtEl>
                                      </p:cBhvr>
                                    </p:animEffect>
                                    <p:anim calcmode="lin" valueType="num">
                                      <p:cBhvr additive="base">
                                        <p:cTn id="52" dur="700" fill="hold"/>
                                        <p:tgtEl>
                                          <p:spTgt spid="16"/>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91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additive="base">
                                        <p:cTn id="56" dur="700" fill="hold"/>
                                        <p:tgtEl>
                                          <p:spTgt spid="17"/>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91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700"/>
                                        <p:tgtEl>
                                          <p:spTgt spid="18"/>
                                        </p:tgtEl>
                                      </p:cBhvr>
                                    </p:animEffect>
                                    <p:anim calcmode="lin" valueType="num">
                                      <p:cBhvr additive="base">
                                        <p:cTn id="60" dur="700" fill="hold"/>
                                        <p:tgtEl>
                                          <p:spTgt spid="18"/>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91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additive="base">
                                        <p:cTn id="64" dur="700" fill="hold"/>
                                        <p:tgtEl>
                                          <p:spTgt spid="19"/>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91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700"/>
                                        <p:tgtEl>
                                          <p:spTgt spid="20"/>
                                        </p:tgtEl>
                                      </p:cBhvr>
                                    </p:animEffect>
                                    <p:anim calcmode="lin" valueType="num">
                                      <p:cBhvr additive="base">
                                        <p:cTn id="68" dur="700" fill="hold"/>
                                        <p:tgtEl>
                                          <p:spTgt spid="20"/>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91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700"/>
                                        <p:tgtEl>
                                          <p:spTgt spid="21"/>
                                        </p:tgtEl>
                                      </p:cBhvr>
                                    </p:animEffect>
                                    <p:anim calcmode="lin" valueType="num">
                                      <p:cBhvr additive="base">
                                        <p:cTn id="72" dur="700" fill="hold"/>
                                        <p:tgtEl>
                                          <p:spTgt spid="21"/>
                                        </p:tgtEl>
                                        <p:attrNameLst>
                                          <p:attrName>ppt_y</p:attrName>
                                        </p:attrNameLst>
                                      </p:cBhvr>
                                      <p:tavLst>
                                        <p:tav tm="0">
                                          <p:val>
                                            <p:strVal val="#ppt_y+0.03"/>
                                          </p:val>
                                        </p:tav>
                                        <p:tav tm="100000">
                                          <p:val>
                                            <p:strVal val="#ppt_y"/>
                                          </p:val>
                                        </p:tav>
                                      </p:tavLst>
                                    </p:anim>
                                  </p:childTnLst>
                                </p:cTn>
                              </p:par>
                              <p:par>
                                <p:cTn id="73" presetID="42" presetClass="entr" presetSubtype="0" decel="100000" fill="hold" grpId="0" nodeType="withEffect">
                                  <p:stCondLst>
                                    <p:cond delay="91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700"/>
                                        <p:tgtEl>
                                          <p:spTgt spid="22"/>
                                        </p:tgtEl>
                                      </p:cBhvr>
                                    </p:animEffect>
                                    <p:anim calcmode="lin" valueType="num">
                                      <p:cBhvr additive="base">
                                        <p:cTn id="76" dur="700" fill="hold"/>
                                        <p:tgtEl>
                                          <p:spTgt spid="22"/>
                                        </p:tgtEl>
                                        <p:attrNameLst>
                                          <p:attrName>ppt_y</p:attrName>
                                        </p:attrNameLst>
                                      </p:cBhvr>
                                      <p:tavLst>
                                        <p:tav tm="0">
                                          <p:val>
                                            <p:strVal val="#ppt_y+0.03"/>
                                          </p:val>
                                        </p:tav>
                                        <p:tav tm="100000">
                                          <p:val>
                                            <p:strVal val="#ppt_y"/>
                                          </p:val>
                                        </p:tav>
                                      </p:tavLst>
                                    </p:anim>
                                  </p:childTnLst>
                                </p:cTn>
                              </p:par>
                              <p:par>
                                <p:cTn id="77" presetID="42" presetClass="entr" presetSubtype="0" decel="100000" fill="hold" grpId="0" nodeType="withEffect">
                                  <p:stCondLst>
                                    <p:cond delay="91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700"/>
                                        <p:tgtEl>
                                          <p:spTgt spid="23"/>
                                        </p:tgtEl>
                                      </p:cBhvr>
                                    </p:animEffect>
                                    <p:anim calcmode="lin" valueType="num">
                                      <p:cBhvr additive="base">
                                        <p:cTn id="80" dur="700" fill="hold"/>
                                        <p:tgtEl>
                                          <p:spTgt spid="23"/>
                                        </p:tgtEl>
                                        <p:attrNameLst>
                                          <p:attrName>ppt_y</p:attrName>
                                        </p:attrNameLst>
                                      </p:cBhvr>
                                      <p:tavLst>
                                        <p:tav tm="0">
                                          <p:val>
                                            <p:strVal val="#ppt_y+0.03"/>
                                          </p:val>
                                        </p:tav>
                                        <p:tav tm="100000">
                                          <p:val>
                                            <p:strVal val="#ppt_y"/>
                                          </p:val>
                                        </p:tav>
                                      </p:tavLst>
                                    </p:anim>
                                  </p:childTnLst>
                                </p:cTn>
                              </p:par>
                              <p:par>
                                <p:cTn id="81" presetID="42" presetClass="entr" presetSubtype="0" decel="100000" fill="hold" grpId="0" nodeType="withEffect">
                                  <p:stCondLst>
                                    <p:cond delay="113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700"/>
                                        <p:tgtEl>
                                          <p:spTgt spid="24"/>
                                        </p:tgtEl>
                                      </p:cBhvr>
                                    </p:animEffect>
                                    <p:anim calcmode="lin" valueType="num">
                                      <p:cBhvr additive="base">
                                        <p:cTn id="84" dur="700" fill="hold"/>
                                        <p:tgtEl>
                                          <p:spTgt spid="24"/>
                                        </p:tgtEl>
                                        <p:attrNameLst>
                                          <p:attrName>ppt_y</p:attrName>
                                        </p:attrNameLst>
                                      </p:cBhvr>
                                      <p:tavLst>
                                        <p:tav tm="0">
                                          <p:val>
                                            <p:strVal val="#ppt_y+0.03"/>
                                          </p:val>
                                        </p:tav>
                                        <p:tav tm="100000">
                                          <p:val>
                                            <p:strVal val="#ppt_y"/>
                                          </p:val>
                                        </p:tav>
                                      </p:tavLst>
                                    </p:anim>
                                  </p:childTnLst>
                                </p:cTn>
                              </p:par>
                              <p:par>
                                <p:cTn id="85" presetID="42" presetClass="entr" presetSubtype="0" decel="100000" fill="hold" grpId="0" nodeType="withEffect">
                                  <p:stCondLst>
                                    <p:cond delay="113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700"/>
                                        <p:tgtEl>
                                          <p:spTgt spid="25"/>
                                        </p:tgtEl>
                                      </p:cBhvr>
                                    </p:animEffect>
                                    <p:anim calcmode="lin" valueType="num">
                                      <p:cBhvr additive="base">
                                        <p:cTn id="88" dur="700" fill="hold"/>
                                        <p:tgtEl>
                                          <p:spTgt spid="25"/>
                                        </p:tgtEl>
                                        <p:attrNameLst>
                                          <p:attrName>ppt_y</p:attrName>
                                        </p:attrNameLst>
                                      </p:cBhvr>
                                      <p:tavLst>
                                        <p:tav tm="0">
                                          <p:val>
                                            <p:strVal val="#ppt_y+0.03"/>
                                          </p:val>
                                        </p:tav>
                                        <p:tav tm="100000">
                                          <p:val>
                                            <p:strVal val="#ppt_y"/>
                                          </p:val>
                                        </p:tav>
                                      </p:tavLst>
                                    </p:anim>
                                  </p:childTnLst>
                                </p:cTn>
                              </p:par>
                              <p:par>
                                <p:cTn id="89" presetID="42" presetClass="entr" presetSubtype="0" decel="100000" fill="hold" grpId="0" nodeType="withEffect">
                                  <p:stCondLst>
                                    <p:cond delay="113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700"/>
                                        <p:tgtEl>
                                          <p:spTgt spid="26"/>
                                        </p:tgtEl>
                                      </p:cBhvr>
                                    </p:animEffect>
                                    <p:anim calcmode="lin" valueType="num">
                                      <p:cBhvr additive="base">
                                        <p:cTn id="92" dur="700" fill="hold"/>
                                        <p:tgtEl>
                                          <p:spTgt spid="26"/>
                                        </p:tgtEl>
                                        <p:attrNameLst>
                                          <p:attrName>ppt_y</p:attrName>
                                        </p:attrNameLst>
                                      </p:cBhvr>
                                      <p:tavLst>
                                        <p:tav tm="0">
                                          <p:val>
                                            <p:strVal val="#ppt_y+0.03"/>
                                          </p:val>
                                        </p:tav>
                                        <p:tav tm="100000">
                                          <p:val>
                                            <p:strVal val="#ppt_y"/>
                                          </p:val>
                                        </p:tav>
                                      </p:tavLst>
                                    </p:anim>
                                  </p:childTnLst>
                                </p:cTn>
                              </p:par>
                              <p:par>
                                <p:cTn id="93" presetID="42" presetClass="entr" presetSubtype="0" decel="100000" fill="hold" grpId="0" nodeType="withEffect">
                                  <p:stCondLst>
                                    <p:cond delay="113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700"/>
                                        <p:tgtEl>
                                          <p:spTgt spid="27"/>
                                        </p:tgtEl>
                                      </p:cBhvr>
                                    </p:animEffect>
                                    <p:anim calcmode="lin" valueType="num">
                                      <p:cBhvr additive="base">
                                        <p:cTn id="96" dur="700" fill="hold"/>
                                        <p:tgtEl>
                                          <p:spTgt spid="27"/>
                                        </p:tgtEl>
                                        <p:attrNameLst>
                                          <p:attrName>ppt_y</p:attrName>
                                        </p:attrNameLst>
                                      </p:cBhvr>
                                      <p:tavLst>
                                        <p:tav tm="0">
                                          <p:val>
                                            <p:strVal val="#ppt_y+0.03"/>
                                          </p:val>
                                        </p:tav>
                                        <p:tav tm="100000">
                                          <p:val>
                                            <p:strVal val="#ppt_y"/>
                                          </p:val>
                                        </p:tav>
                                      </p:tavLst>
                                    </p:anim>
                                  </p:childTnLst>
                                </p:cTn>
                              </p:par>
                              <p:par>
                                <p:cTn id="97" presetID="42" presetClass="entr" presetSubtype="0" decel="100000" fill="hold" grpId="0" nodeType="withEffect">
                                  <p:stCondLst>
                                    <p:cond delay="113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700"/>
                                        <p:tgtEl>
                                          <p:spTgt spid="28"/>
                                        </p:tgtEl>
                                      </p:cBhvr>
                                    </p:animEffect>
                                    <p:anim calcmode="lin" valueType="num">
                                      <p:cBhvr additive="base">
                                        <p:cTn id="100" dur="700" fill="hold"/>
                                        <p:tgtEl>
                                          <p:spTgt spid="28"/>
                                        </p:tgtEl>
                                        <p:attrNameLst>
                                          <p:attrName>ppt_y</p:attrName>
                                        </p:attrNameLst>
                                      </p:cBhvr>
                                      <p:tavLst>
                                        <p:tav tm="0">
                                          <p:val>
                                            <p:strVal val="#ppt_y+0.03"/>
                                          </p:val>
                                        </p:tav>
                                        <p:tav tm="100000">
                                          <p:val>
                                            <p:strVal val="#ppt_y"/>
                                          </p:val>
                                        </p:tav>
                                      </p:tavLst>
                                    </p:anim>
                                  </p:childTnLst>
                                </p:cTn>
                              </p:par>
                              <p:par>
                                <p:cTn id="101" presetID="42" presetClass="entr" presetSubtype="0" decel="100000" fill="hold" grpId="0" nodeType="withEffect">
                                  <p:stCondLst>
                                    <p:cond delay="113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700"/>
                                        <p:tgtEl>
                                          <p:spTgt spid="29"/>
                                        </p:tgtEl>
                                      </p:cBhvr>
                                    </p:animEffect>
                                    <p:anim calcmode="lin" valueType="num">
                                      <p:cBhvr additive="base">
                                        <p:cTn id="104" dur="700" fill="hold"/>
                                        <p:tgtEl>
                                          <p:spTgt spid="29"/>
                                        </p:tgtEl>
                                        <p:attrNameLst>
                                          <p:attrName>ppt_y</p:attrName>
                                        </p:attrNameLst>
                                      </p:cBhvr>
                                      <p:tavLst>
                                        <p:tav tm="0">
                                          <p:val>
                                            <p:strVal val="#ppt_y+0.03"/>
                                          </p:val>
                                        </p:tav>
                                        <p:tav tm="100000">
                                          <p:val>
                                            <p:strVal val="#ppt_y"/>
                                          </p:val>
                                        </p:tav>
                                      </p:tavLst>
                                    </p:anim>
                                  </p:childTnLst>
                                </p:cTn>
                              </p:par>
                              <p:par>
                                <p:cTn id="105" presetID="42" presetClass="entr" presetSubtype="0" decel="100000" fill="hold" grpId="0" nodeType="withEffect">
                                  <p:stCondLst>
                                    <p:cond delay="113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700"/>
                                        <p:tgtEl>
                                          <p:spTgt spid="30"/>
                                        </p:tgtEl>
                                      </p:cBhvr>
                                    </p:animEffect>
                                    <p:anim calcmode="lin" valueType="num">
                                      <p:cBhvr additive="base">
                                        <p:cTn id="108" dur="700" fill="hold"/>
                                        <p:tgtEl>
                                          <p:spTgt spid="30"/>
                                        </p:tgtEl>
                                        <p:attrNameLst>
                                          <p:attrName>ppt_y</p:attrName>
                                        </p:attrNameLst>
                                      </p:cBhvr>
                                      <p:tavLst>
                                        <p:tav tm="0">
                                          <p:val>
                                            <p:strVal val="#ppt_y+0.03"/>
                                          </p:val>
                                        </p:tav>
                                        <p:tav tm="100000">
                                          <p:val>
                                            <p:strVal val="#ppt_y"/>
                                          </p:val>
                                        </p:tav>
                                      </p:tavLst>
                                    </p:anim>
                                  </p:childTnLst>
                                </p:cTn>
                              </p:par>
                              <p:par>
                                <p:cTn id="109" presetID="42" presetClass="entr" presetSubtype="0" decel="100000" fill="hold" grpId="0" nodeType="withEffect">
                                  <p:stCondLst>
                                    <p:cond delay="135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700"/>
                                        <p:tgtEl>
                                          <p:spTgt spid="31"/>
                                        </p:tgtEl>
                                      </p:cBhvr>
                                    </p:animEffect>
                                    <p:anim calcmode="lin" valueType="num">
                                      <p:cBhvr additive="base">
                                        <p:cTn id="112" dur="700" fill="hold"/>
                                        <p:tgtEl>
                                          <p:spTgt spid="31"/>
                                        </p:tgtEl>
                                        <p:attrNameLst>
                                          <p:attrName>ppt_y</p:attrName>
                                        </p:attrNameLst>
                                      </p:cBhvr>
                                      <p:tavLst>
                                        <p:tav tm="0">
                                          <p:val>
                                            <p:strVal val="#ppt_y+0.03"/>
                                          </p:val>
                                        </p:tav>
                                        <p:tav tm="100000">
                                          <p:val>
                                            <p:strVal val="#ppt_y"/>
                                          </p:val>
                                        </p:tav>
                                      </p:tavLst>
                                    </p:anim>
                                  </p:childTnLst>
                                </p:cTn>
                              </p:par>
                              <p:par>
                                <p:cTn id="113" presetID="42" presetClass="entr" presetSubtype="0" decel="100000" fill="hold" grpId="0" nodeType="withEffect">
                                  <p:stCondLst>
                                    <p:cond delay="135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700"/>
                                        <p:tgtEl>
                                          <p:spTgt spid="32"/>
                                        </p:tgtEl>
                                      </p:cBhvr>
                                    </p:animEffect>
                                    <p:anim calcmode="lin" valueType="num">
                                      <p:cBhvr additive="base">
                                        <p:cTn id="116" dur="700" fill="hold"/>
                                        <p:tgtEl>
                                          <p:spTgt spid="32"/>
                                        </p:tgtEl>
                                        <p:attrNameLst>
                                          <p:attrName>ppt_y</p:attrName>
                                        </p:attrNameLst>
                                      </p:cBhvr>
                                      <p:tavLst>
                                        <p:tav tm="0">
                                          <p:val>
                                            <p:strVal val="#ppt_y+0.03"/>
                                          </p:val>
                                        </p:tav>
                                        <p:tav tm="100000">
                                          <p:val>
                                            <p:strVal val="#ppt_y"/>
                                          </p:val>
                                        </p:tav>
                                      </p:tavLst>
                                    </p:anim>
                                  </p:childTnLst>
                                </p:cTn>
                              </p:par>
                              <p:par>
                                <p:cTn id="117" presetID="42" presetClass="entr" presetSubtype="0" decel="100000" fill="hold" grpId="0" nodeType="withEffect">
                                  <p:stCondLst>
                                    <p:cond delay="1350"/>
                                  </p:stCondLst>
                                  <p:childTnLst>
                                    <p:set>
                                      <p:cBhvr>
                                        <p:cTn id="118" dur="1" fill="hold">
                                          <p:stCondLst>
                                            <p:cond delay="0"/>
                                          </p:stCondLst>
                                        </p:cTn>
                                        <p:tgtEl>
                                          <p:spTgt spid="33"/>
                                        </p:tgtEl>
                                        <p:attrNameLst>
                                          <p:attrName>style.visibility</p:attrName>
                                        </p:attrNameLst>
                                      </p:cBhvr>
                                      <p:to>
                                        <p:strVal val="visible"/>
                                      </p:to>
                                    </p:set>
                                    <p:animEffect transition="in" filter="fade">
                                      <p:cBhvr>
                                        <p:cTn id="119" dur="700"/>
                                        <p:tgtEl>
                                          <p:spTgt spid="33"/>
                                        </p:tgtEl>
                                      </p:cBhvr>
                                    </p:animEffect>
                                    <p:anim calcmode="lin" valueType="num">
                                      <p:cBhvr additive="base">
                                        <p:cTn id="120" dur="700" fill="hold"/>
                                        <p:tgtEl>
                                          <p:spTgt spid="33"/>
                                        </p:tgtEl>
                                        <p:attrNameLst>
                                          <p:attrName>ppt_y</p:attrName>
                                        </p:attrNameLst>
                                      </p:cBhvr>
                                      <p:tavLst>
                                        <p:tav tm="0">
                                          <p:val>
                                            <p:strVal val="#ppt_y+0.03"/>
                                          </p:val>
                                        </p:tav>
                                        <p:tav tm="100000">
                                          <p:val>
                                            <p:strVal val="#ppt_y"/>
                                          </p:val>
                                        </p:tav>
                                      </p:tavLst>
                                    </p:anim>
                                  </p:childTnLst>
                                </p:cTn>
                              </p:par>
                              <p:par>
                                <p:cTn id="121" presetID="42" presetClass="entr" presetSubtype="0" decel="100000" fill="hold" grpId="0" nodeType="withEffect">
                                  <p:stCondLst>
                                    <p:cond delay="135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700"/>
                                        <p:tgtEl>
                                          <p:spTgt spid="34"/>
                                        </p:tgtEl>
                                      </p:cBhvr>
                                    </p:animEffect>
                                    <p:anim calcmode="lin" valueType="num">
                                      <p:cBhvr additive="base">
                                        <p:cTn id="124" dur="700" fill="hold"/>
                                        <p:tgtEl>
                                          <p:spTgt spid="34"/>
                                        </p:tgtEl>
                                        <p:attrNameLst>
                                          <p:attrName>ppt_y</p:attrName>
                                        </p:attrNameLst>
                                      </p:cBhvr>
                                      <p:tavLst>
                                        <p:tav tm="0">
                                          <p:val>
                                            <p:strVal val="#ppt_y+0.03"/>
                                          </p:val>
                                        </p:tav>
                                        <p:tav tm="100000">
                                          <p:val>
                                            <p:strVal val="#ppt_y"/>
                                          </p:val>
                                        </p:tav>
                                      </p:tavLst>
                                    </p:anim>
                                  </p:childTnLst>
                                </p:cTn>
                              </p:par>
                              <p:par>
                                <p:cTn id="125" presetID="42" presetClass="entr" presetSubtype="0" decel="100000" fill="hold" grpId="0" nodeType="withEffect">
                                  <p:stCondLst>
                                    <p:cond delay="1350"/>
                                  </p:stCondLst>
                                  <p:childTnLst>
                                    <p:set>
                                      <p:cBhvr>
                                        <p:cTn id="126" dur="1" fill="hold">
                                          <p:stCondLst>
                                            <p:cond delay="0"/>
                                          </p:stCondLst>
                                        </p:cTn>
                                        <p:tgtEl>
                                          <p:spTgt spid="35"/>
                                        </p:tgtEl>
                                        <p:attrNameLst>
                                          <p:attrName>style.visibility</p:attrName>
                                        </p:attrNameLst>
                                      </p:cBhvr>
                                      <p:to>
                                        <p:strVal val="visible"/>
                                      </p:to>
                                    </p:set>
                                    <p:animEffect transition="in" filter="fade">
                                      <p:cBhvr>
                                        <p:cTn id="127" dur="700"/>
                                        <p:tgtEl>
                                          <p:spTgt spid="35"/>
                                        </p:tgtEl>
                                      </p:cBhvr>
                                    </p:animEffect>
                                    <p:anim calcmode="lin" valueType="num">
                                      <p:cBhvr additive="base">
                                        <p:cTn id="128" dur="700" fill="hold"/>
                                        <p:tgtEl>
                                          <p:spTgt spid="35"/>
                                        </p:tgtEl>
                                        <p:attrNameLst>
                                          <p:attrName>ppt_y</p:attrName>
                                        </p:attrNameLst>
                                      </p:cBhvr>
                                      <p:tavLst>
                                        <p:tav tm="0">
                                          <p:val>
                                            <p:strVal val="#ppt_y+0.03"/>
                                          </p:val>
                                        </p:tav>
                                        <p:tav tm="100000">
                                          <p:val>
                                            <p:strVal val="#ppt_y"/>
                                          </p:val>
                                        </p:tav>
                                      </p:tavLst>
                                    </p:anim>
                                  </p:childTnLst>
                                </p:cTn>
                              </p:par>
                              <p:par>
                                <p:cTn id="129" presetID="42" presetClass="entr" presetSubtype="0" decel="100000" fill="hold" grpId="0" nodeType="withEffect">
                                  <p:stCondLst>
                                    <p:cond delay="135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700"/>
                                        <p:tgtEl>
                                          <p:spTgt spid="36"/>
                                        </p:tgtEl>
                                      </p:cBhvr>
                                    </p:animEffect>
                                    <p:anim calcmode="lin" valueType="num">
                                      <p:cBhvr additive="base">
                                        <p:cTn id="132" dur="700" fill="hold"/>
                                        <p:tgtEl>
                                          <p:spTgt spid="36"/>
                                        </p:tgtEl>
                                        <p:attrNameLst>
                                          <p:attrName>ppt_y</p:attrName>
                                        </p:attrNameLst>
                                      </p:cBhvr>
                                      <p:tavLst>
                                        <p:tav tm="0">
                                          <p:val>
                                            <p:strVal val="#ppt_y+0.03"/>
                                          </p:val>
                                        </p:tav>
                                        <p:tav tm="100000">
                                          <p:val>
                                            <p:strVal val="#ppt_y"/>
                                          </p:val>
                                        </p:tav>
                                      </p:tavLst>
                                    </p:anim>
                                  </p:childTnLst>
                                </p:cTn>
                              </p:par>
                              <p:par>
                                <p:cTn id="133" presetID="42" presetClass="entr" presetSubtype="0" decel="100000" fill="hold" grpId="0" nodeType="withEffect">
                                  <p:stCondLst>
                                    <p:cond delay="1350"/>
                                  </p:stCondLst>
                                  <p:childTnLst>
                                    <p:set>
                                      <p:cBhvr>
                                        <p:cTn id="134" dur="1" fill="hold">
                                          <p:stCondLst>
                                            <p:cond delay="0"/>
                                          </p:stCondLst>
                                        </p:cTn>
                                        <p:tgtEl>
                                          <p:spTgt spid="37"/>
                                        </p:tgtEl>
                                        <p:attrNameLst>
                                          <p:attrName>style.visibility</p:attrName>
                                        </p:attrNameLst>
                                      </p:cBhvr>
                                      <p:to>
                                        <p:strVal val="visible"/>
                                      </p:to>
                                    </p:set>
                                    <p:animEffect transition="in" filter="fade">
                                      <p:cBhvr>
                                        <p:cTn id="135" dur="700"/>
                                        <p:tgtEl>
                                          <p:spTgt spid="37"/>
                                        </p:tgtEl>
                                      </p:cBhvr>
                                    </p:animEffect>
                                    <p:anim calcmode="lin" valueType="num">
                                      <p:cBhvr additive="base">
                                        <p:cTn id="136" dur="700" fill="hold"/>
                                        <p:tgtEl>
                                          <p:spTgt spid="37"/>
                                        </p:tgtEl>
                                        <p:attrNameLst>
                                          <p:attrName>ppt_y</p:attrName>
                                        </p:attrNameLst>
                                      </p:cBhvr>
                                      <p:tavLst>
                                        <p:tav tm="0">
                                          <p:val>
                                            <p:strVal val="#ppt_y+0.03"/>
                                          </p:val>
                                        </p:tav>
                                        <p:tav tm="100000">
                                          <p:val>
                                            <p:strVal val="#ppt_y"/>
                                          </p:val>
                                        </p:tav>
                                      </p:tavLst>
                                    </p:anim>
                                  </p:childTnLst>
                                </p:cTn>
                              </p:par>
                              <p:par>
                                <p:cTn id="137" presetID="42" presetClass="entr" presetSubtype="0" decel="100000" fill="hold" grpId="0" nodeType="withEffect">
                                  <p:stCondLst>
                                    <p:cond delay="1570"/>
                                  </p:stCondLst>
                                  <p:childTnLst>
                                    <p:set>
                                      <p:cBhvr>
                                        <p:cTn id="138" dur="1" fill="hold">
                                          <p:stCondLst>
                                            <p:cond delay="0"/>
                                          </p:stCondLst>
                                        </p:cTn>
                                        <p:tgtEl>
                                          <p:spTgt spid="38"/>
                                        </p:tgtEl>
                                        <p:attrNameLst>
                                          <p:attrName>style.visibility</p:attrName>
                                        </p:attrNameLst>
                                      </p:cBhvr>
                                      <p:to>
                                        <p:strVal val="visible"/>
                                      </p:to>
                                    </p:set>
                                    <p:animEffect transition="in" filter="fade">
                                      <p:cBhvr>
                                        <p:cTn id="139" dur="700"/>
                                        <p:tgtEl>
                                          <p:spTgt spid="38"/>
                                        </p:tgtEl>
                                      </p:cBhvr>
                                    </p:animEffect>
                                    <p:anim calcmode="lin" valueType="num">
                                      <p:cBhvr additive="base">
                                        <p:cTn id="140" dur="700" fill="hold"/>
                                        <p:tgtEl>
                                          <p:spTgt spid="38"/>
                                        </p:tgtEl>
                                        <p:attrNameLst>
                                          <p:attrName>ppt_y</p:attrName>
                                        </p:attrNameLst>
                                      </p:cBhvr>
                                      <p:tavLst>
                                        <p:tav tm="0">
                                          <p:val>
                                            <p:strVal val="#ppt_y+0.03"/>
                                          </p:val>
                                        </p:tav>
                                        <p:tav tm="100000">
                                          <p:val>
                                            <p:strVal val="#ppt_y"/>
                                          </p:val>
                                        </p:tav>
                                      </p:tavLst>
                                    </p:anim>
                                  </p:childTnLst>
                                </p:cTn>
                              </p:par>
                              <p:par>
                                <p:cTn id="141" presetID="42" presetClass="entr" presetSubtype="0" decel="100000" fill="hold" grpId="0" nodeType="withEffect">
                                  <p:stCondLst>
                                    <p:cond delay="157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700"/>
                                        <p:tgtEl>
                                          <p:spTgt spid="39"/>
                                        </p:tgtEl>
                                      </p:cBhvr>
                                    </p:animEffect>
                                    <p:anim calcmode="lin" valueType="num">
                                      <p:cBhvr additive="base">
                                        <p:cTn id="144" dur="700" fill="hold"/>
                                        <p:tgtEl>
                                          <p:spTgt spid="39"/>
                                        </p:tgtEl>
                                        <p:attrNameLst>
                                          <p:attrName>ppt_y</p:attrName>
                                        </p:attrNameLst>
                                      </p:cBhvr>
                                      <p:tavLst>
                                        <p:tav tm="0">
                                          <p:val>
                                            <p:strVal val="#ppt_y+0.03"/>
                                          </p:val>
                                        </p:tav>
                                        <p:tav tm="100000">
                                          <p:val>
                                            <p:strVal val="#ppt_y"/>
                                          </p:val>
                                        </p:tav>
                                      </p:tavLst>
                                    </p:anim>
                                  </p:childTnLst>
                                </p:cTn>
                              </p:par>
                              <p:par>
                                <p:cTn id="145" presetID="42" presetClass="entr" presetSubtype="0" decel="100000" fill="hold" grpId="0" nodeType="withEffect">
                                  <p:stCondLst>
                                    <p:cond delay="157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700"/>
                                        <p:tgtEl>
                                          <p:spTgt spid="40"/>
                                        </p:tgtEl>
                                      </p:cBhvr>
                                    </p:animEffect>
                                    <p:anim calcmode="lin" valueType="num">
                                      <p:cBhvr additive="base">
                                        <p:cTn id="148" dur="700" fill="hold"/>
                                        <p:tgtEl>
                                          <p:spTgt spid="40"/>
                                        </p:tgtEl>
                                        <p:attrNameLst>
                                          <p:attrName>ppt_y</p:attrName>
                                        </p:attrNameLst>
                                      </p:cBhvr>
                                      <p:tavLst>
                                        <p:tav tm="0">
                                          <p:val>
                                            <p:strVal val="#ppt_y+0.03"/>
                                          </p:val>
                                        </p:tav>
                                        <p:tav tm="100000">
                                          <p:val>
                                            <p:strVal val="#ppt_y"/>
                                          </p:val>
                                        </p:tav>
                                      </p:tavLst>
                                    </p:anim>
                                  </p:childTnLst>
                                </p:cTn>
                              </p:par>
                              <p:par>
                                <p:cTn id="149" presetID="42" presetClass="entr" presetSubtype="0" decel="100000" fill="hold" grpId="0" nodeType="withEffect">
                                  <p:stCondLst>
                                    <p:cond delay="1570"/>
                                  </p:stCondLst>
                                  <p:childTnLst>
                                    <p:set>
                                      <p:cBhvr>
                                        <p:cTn id="150" dur="1" fill="hold">
                                          <p:stCondLst>
                                            <p:cond delay="0"/>
                                          </p:stCondLst>
                                        </p:cTn>
                                        <p:tgtEl>
                                          <p:spTgt spid="41"/>
                                        </p:tgtEl>
                                        <p:attrNameLst>
                                          <p:attrName>style.visibility</p:attrName>
                                        </p:attrNameLst>
                                      </p:cBhvr>
                                      <p:to>
                                        <p:strVal val="visible"/>
                                      </p:to>
                                    </p:set>
                                    <p:animEffect transition="in" filter="fade">
                                      <p:cBhvr>
                                        <p:cTn id="151" dur="700"/>
                                        <p:tgtEl>
                                          <p:spTgt spid="41"/>
                                        </p:tgtEl>
                                      </p:cBhvr>
                                    </p:animEffect>
                                    <p:anim calcmode="lin" valueType="num">
                                      <p:cBhvr additive="base">
                                        <p:cTn id="152" dur="700" fill="hold"/>
                                        <p:tgtEl>
                                          <p:spTgt spid="41"/>
                                        </p:tgtEl>
                                        <p:attrNameLst>
                                          <p:attrName>ppt_y</p:attrName>
                                        </p:attrNameLst>
                                      </p:cBhvr>
                                      <p:tavLst>
                                        <p:tav tm="0">
                                          <p:val>
                                            <p:strVal val="#ppt_y+0.03"/>
                                          </p:val>
                                        </p:tav>
                                        <p:tav tm="100000">
                                          <p:val>
                                            <p:strVal val="#ppt_y"/>
                                          </p:val>
                                        </p:tav>
                                      </p:tavLst>
                                    </p:anim>
                                  </p:childTnLst>
                                </p:cTn>
                              </p:par>
                              <p:par>
                                <p:cTn id="153" presetID="42" presetClass="entr" presetSubtype="0" decel="100000" fill="hold" grpId="0" nodeType="withEffect">
                                  <p:stCondLst>
                                    <p:cond delay="1570"/>
                                  </p:stCondLst>
                                  <p:childTnLst>
                                    <p:set>
                                      <p:cBhvr>
                                        <p:cTn id="154" dur="1" fill="hold">
                                          <p:stCondLst>
                                            <p:cond delay="0"/>
                                          </p:stCondLst>
                                        </p:cTn>
                                        <p:tgtEl>
                                          <p:spTgt spid="42"/>
                                        </p:tgtEl>
                                        <p:attrNameLst>
                                          <p:attrName>style.visibility</p:attrName>
                                        </p:attrNameLst>
                                      </p:cBhvr>
                                      <p:to>
                                        <p:strVal val="visible"/>
                                      </p:to>
                                    </p:set>
                                    <p:animEffect transition="in" filter="fade">
                                      <p:cBhvr>
                                        <p:cTn id="155" dur="700"/>
                                        <p:tgtEl>
                                          <p:spTgt spid="42"/>
                                        </p:tgtEl>
                                      </p:cBhvr>
                                    </p:animEffect>
                                    <p:anim calcmode="lin" valueType="num">
                                      <p:cBhvr additive="base">
                                        <p:cTn id="156" dur="700" fill="hold"/>
                                        <p:tgtEl>
                                          <p:spTgt spid="42"/>
                                        </p:tgtEl>
                                        <p:attrNameLst>
                                          <p:attrName>ppt_y</p:attrName>
                                        </p:attrNameLst>
                                      </p:cBhvr>
                                      <p:tavLst>
                                        <p:tav tm="0">
                                          <p:val>
                                            <p:strVal val="#ppt_y+0.03"/>
                                          </p:val>
                                        </p:tav>
                                        <p:tav tm="100000">
                                          <p:val>
                                            <p:strVal val="#ppt_y"/>
                                          </p:val>
                                        </p:tav>
                                      </p:tavLst>
                                    </p:anim>
                                  </p:childTnLst>
                                </p:cTn>
                              </p:par>
                              <p:par>
                                <p:cTn id="157" presetID="42" presetClass="entr" presetSubtype="0" decel="100000" fill="hold" grpId="0" nodeType="withEffect">
                                  <p:stCondLst>
                                    <p:cond delay="1570"/>
                                  </p:stCondLst>
                                  <p:childTnLst>
                                    <p:set>
                                      <p:cBhvr>
                                        <p:cTn id="158" dur="1" fill="hold">
                                          <p:stCondLst>
                                            <p:cond delay="0"/>
                                          </p:stCondLst>
                                        </p:cTn>
                                        <p:tgtEl>
                                          <p:spTgt spid="43"/>
                                        </p:tgtEl>
                                        <p:attrNameLst>
                                          <p:attrName>style.visibility</p:attrName>
                                        </p:attrNameLst>
                                      </p:cBhvr>
                                      <p:to>
                                        <p:strVal val="visible"/>
                                      </p:to>
                                    </p:set>
                                    <p:animEffect transition="in" filter="fade">
                                      <p:cBhvr>
                                        <p:cTn id="159" dur="700"/>
                                        <p:tgtEl>
                                          <p:spTgt spid="43"/>
                                        </p:tgtEl>
                                      </p:cBhvr>
                                    </p:animEffect>
                                    <p:anim calcmode="lin" valueType="num">
                                      <p:cBhvr additive="base">
                                        <p:cTn id="160" dur="700" fill="hold"/>
                                        <p:tgtEl>
                                          <p:spTgt spid="43"/>
                                        </p:tgtEl>
                                        <p:attrNameLst>
                                          <p:attrName>ppt_y</p:attrName>
                                        </p:attrNameLst>
                                      </p:cBhvr>
                                      <p:tavLst>
                                        <p:tav tm="0">
                                          <p:val>
                                            <p:strVal val="#ppt_y+0.03"/>
                                          </p:val>
                                        </p:tav>
                                        <p:tav tm="100000">
                                          <p:val>
                                            <p:strVal val="#ppt_y"/>
                                          </p:val>
                                        </p:tav>
                                      </p:tavLst>
                                    </p:anim>
                                  </p:childTnLst>
                                </p:cTn>
                              </p:par>
                              <p:par>
                                <p:cTn id="161" presetID="42" presetClass="entr" presetSubtype="0" decel="100000" fill="hold" grpId="0" nodeType="withEffect">
                                  <p:stCondLst>
                                    <p:cond delay="1570"/>
                                  </p:stCondLst>
                                  <p:childTnLst>
                                    <p:set>
                                      <p:cBhvr>
                                        <p:cTn id="162" dur="1" fill="hold">
                                          <p:stCondLst>
                                            <p:cond delay="0"/>
                                          </p:stCondLst>
                                        </p:cTn>
                                        <p:tgtEl>
                                          <p:spTgt spid="44"/>
                                        </p:tgtEl>
                                        <p:attrNameLst>
                                          <p:attrName>style.visibility</p:attrName>
                                        </p:attrNameLst>
                                      </p:cBhvr>
                                      <p:to>
                                        <p:strVal val="visible"/>
                                      </p:to>
                                    </p:set>
                                    <p:animEffect transition="in" filter="fade">
                                      <p:cBhvr>
                                        <p:cTn id="163" dur="700"/>
                                        <p:tgtEl>
                                          <p:spTgt spid="44"/>
                                        </p:tgtEl>
                                      </p:cBhvr>
                                    </p:animEffect>
                                    <p:anim calcmode="lin" valueType="num">
                                      <p:cBhvr additive="base">
                                        <p:cTn id="164" dur="700" fill="hold"/>
                                        <p:tgtEl>
                                          <p:spTgt spid="44"/>
                                        </p:tgtEl>
                                        <p:attrNameLst>
                                          <p:attrName>ppt_y</p:attrName>
                                        </p:attrNameLst>
                                      </p:cBhvr>
                                      <p:tavLst>
                                        <p:tav tm="0">
                                          <p:val>
                                            <p:strVal val="#ppt_y+0.03"/>
                                          </p:val>
                                        </p:tav>
                                        <p:tav tm="100000">
                                          <p:val>
                                            <p:strVal val="#ppt_y"/>
                                          </p:val>
                                        </p:tav>
                                      </p:tavLst>
                                    </p:anim>
                                  </p:childTnLst>
                                </p:cTn>
                              </p:par>
                              <p:par>
                                <p:cTn id="165" presetID="10" presetClass="entr" presetSubtype="0" decel="100000" fill="hold" grpId="0" nodeType="withEffect">
                                  <p:stCondLst>
                                    <p:cond delay="1790"/>
                                  </p:stCondLst>
                                  <p:childTnLst>
                                    <p:set>
                                      <p:cBhvr>
                                        <p:cTn id="166" dur="1" fill="hold">
                                          <p:stCondLst>
                                            <p:cond delay="0"/>
                                          </p:stCondLst>
                                        </p:cTn>
                                        <p:tgtEl>
                                          <p:spTgt spid="45"/>
                                        </p:tgtEl>
                                        <p:attrNameLst>
                                          <p:attrName>style.visibility</p:attrName>
                                        </p:attrNameLst>
                                      </p:cBhvr>
                                      <p:to>
                                        <p:strVal val="visible"/>
                                      </p:to>
                                    </p:set>
                                    <p:animEffect transition="in" filter="fade">
                                      <p:cBhvr>
                                        <p:cTn id="167" dur="6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p:bldP spid="13" grpId="0" animBg="1"/>
      <p:bldP spid="14" grpId="0" animBg="1"/>
      <p:bldP spid="15" grpId="0" animBg="1"/>
      <p:bldP spid="16" grpId="0" animBg="1"/>
      <p:bldP spid="17" grpId="0" animBg="1"/>
      <p:bldP spid="18" grpId="0" animBg="1"/>
      <p:bldP spid="19" grpId="0"/>
      <p:bldP spid="20" grpId="0" animBg="1"/>
      <p:bldP spid="21" grpId="0" animBg="1"/>
      <p:bldP spid="22" grpId="0" animBg="1"/>
      <p:bldP spid="23" grpId="0" animBg="1"/>
      <p:bldP spid="24" grpId="0" animBg="1"/>
      <p:bldP spid="25" grpId="0" animBg="1"/>
      <p:bldP spid="26" grpId="0"/>
      <p:bldP spid="27" grpId="0" animBg="1"/>
      <p:bldP spid="28" grpId="0" animBg="1"/>
      <p:bldP spid="29" grpId="0" animBg="1"/>
      <p:bldP spid="30" grpId="0" animBg="1"/>
      <p:bldP spid="31" grpId="0" animBg="1"/>
      <p:bldP spid="32" grpId="0" animBg="1"/>
      <p:bldP spid="33" grpId="0"/>
      <p:bldP spid="34" grpId="0" animBg="1"/>
      <p:bldP spid="35" grpId="0" animBg="1"/>
      <p:bldP spid="36" grpId="0" animBg="1"/>
      <p:bldP spid="37" grpId="0" animBg="1"/>
      <p:bldP spid="38" grpId="0" animBg="1"/>
      <p:bldP spid="39" grpId="0" animBg="1"/>
      <p:bldP spid="40" grpId="0"/>
      <p:bldP spid="41" grpId="0" animBg="1"/>
      <p:bldP spid="42" grpId="0" animBg="1"/>
      <p:bldP spid="43" grpId="0" animBg="1"/>
      <p:bldP spid="44"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22960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SPACE DATA · HYPERSPECTRAL (ENMAP, 224 BANDS)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A second sensor shows what the mangrove became</a:t>
            </a:r>
            <a:endParaRPr lang="en-US" sz="3400" dirty="0"/>
          </a:p>
        </p:txBody>
      </p:sp>
      <p:sp>
        <p:nvSpPr>
          <p:cNvPr id="7" name="a1zoom_ef"/>
          <p:cNvSpPr/>
          <p:nvPr/>
        </p:nvSpPr>
        <p:spPr>
          <a:xfrm>
            <a:off x="548640" y="1691640"/>
            <a:ext cx="11091672" cy="3315507"/>
          </a:xfrm>
          <a:prstGeom prst="roundRect">
            <a:avLst>
              <a:gd name="adj" fmla="val 2758"/>
            </a:avLst>
          </a:prstGeom>
          <a:solidFill>
            <a:srgbClr val="FFFFFF"/>
          </a:solidFill>
          <a:ln/>
          <a:effectLst>
            <a:outerShdw blurRad="152400" dist="38100" dir="5400000" algn="bl" rotWithShape="0">
              <a:srgbClr val="1B2B40">
                <a:alpha val="12000"/>
              </a:srgbClr>
            </a:outerShdw>
          </a:effectLst>
        </p:spPr>
        <p:txBody>
          <a:bodyPr/>
          <a:lstStyle/>
          <a:p>
            <a:endParaRPr lang="en-GB"/>
          </a:p>
        </p:txBody>
      </p:sp>
      <p:pic>
        <p:nvPicPr>
          <p:cNvPr id="8" name="a1zoom_ei" descr="C:\Users\nahla\Desktop\UAE-Space-Hackatoon\deck_source\images\enmap_stand5_two_epochs.png"/>
          <p:cNvPicPr>
            <a:picLocks noChangeAspect="1"/>
          </p:cNvPicPr>
          <p:nvPr/>
        </p:nvPicPr>
        <p:blipFill>
          <a:blip r:embed="rId5"/>
          <a:stretch>
            <a:fillRect/>
          </a:stretch>
        </p:blipFill>
        <p:spPr>
          <a:xfrm>
            <a:off x="676656" y="1819656"/>
            <a:ext cx="10835640" cy="3059475"/>
          </a:xfrm>
          <a:prstGeom prst="rect">
            <a:avLst/>
          </a:prstGeom>
        </p:spPr>
      </p:pic>
      <p:sp>
        <p:nvSpPr>
          <p:cNvPr id="9" name="a2float_h0"/>
          <p:cNvSpPr/>
          <p:nvPr/>
        </p:nvSpPr>
        <p:spPr>
          <a:xfrm>
            <a:off x="54864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0" name="a2float_h0n"/>
          <p:cNvSpPr txBox="1"/>
          <p:nvPr/>
        </p:nvSpPr>
        <p:spPr>
          <a:xfrm>
            <a:off x="74980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6E60A8"/>
                </a:solidFill>
                <a:latin typeface="Segoe UI Light" pitchFamily="34" charset="0"/>
                <a:ea typeface="Segoe UI Light" pitchFamily="34" charset="-122"/>
                <a:cs typeface="Segoe UI Light" pitchFamily="34" charset="-120"/>
              </a:rPr>
              <a:t>r = 0.84–0.99</a:t>
            </a:r>
            <a:endParaRPr lang="en-US" sz="2200" dirty="0"/>
          </a:p>
        </p:txBody>
      </p:sp>
      <p:sp>
        <p:nvSpPr>
          <p:cNvPr id="11" name="a2float_h0t"/>
          <p:cNvSpPr txBox="1"/>
          <p:nvPr/>
        </p:nvSpPr>
        <p:spPr>
          <a:xfrm>
            <a:off x="74980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agreement with our Sentinel-2 indices on the same dates (25 and 14 stands)</a:t>
            </a:r>
            <a:endParaRPr lang="en-US" sz="1100" dirty="0"/>
          </a:p>
        </p:txBody>
      </p:sp>
      <p:sp>
        <p:nvSpPr>
          <p:cNvPr id="12" name="a3float_h1"/>
          <p:cNvSpPr/>
          <p:nvPr/>
        </p:nvSpPr>
        <p:spPr>
          <a:xfrm>
            <a:off x="429768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3" name="a3float_h1n"/>
          <p:cNvSpPr txBox="1"/>
          <p:nvPr/>
        </p:nvSpPr>
        <p:spPr>
          <a:xfrm>
            <a:off x="449884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A9813A"/>
                </a:solidFill>
                <a:latin typeface="Segoe UI Light" pitchFamily="34" charset="0"/>
                <a:ea typeface="Segoe UI Light" pitchFamily="34" charset="-122"/>
                <a:cs typeface="Segoe UI Light" pitchFamily="34" charset="-120"/>
              </a:rPr>
              <a:t>62 vs 26 ha</a:t>
            </a:r>
            <a:endParaRPr lang="en-US" sz="2200" dirty="0"/>
          </a:p>
        </p:txBody>
      </p:sp>
      <p:sp>
        <p:nvSpPr>
          <p:cNvPr id="14" name="a3float_h1t"/>
          <p:cNvSpPr txBox="1"/>
          <p:nvPr/>
        </p:nvSpPr>
        <p:spPr>
          <a:xfrm>
            <a:off x="449884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stand-5 loss: EnMAP pixel count vs our conservative Sentinel-2 flag</a:t>
            </a:r>
            <a:endParaRPr lang="en-US" sz="1100" dirty="0"/>
          </a:p>
        </p:txBody>
      </p:sp>
      <p:sp>
        <p:nvSpPr>
          <p:cNvPr id="15" name="a4float_h2"/>
          <p:cNvSpPr/>
          <p:nvPr/>
        </p:nvSpPr>
        <p:spPr>
          <a:xfrm>
            <a:off x="8046720" y="5135163"/>
            <a:ext cx="3593592" cy="932688"/>
          </a:xfrm>
          <a:prstGeom prst="roundRect">
            <a:avLst>
              <a:gd name="adj" fmla="val 1372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6" name="a4float_h2n"/>
          <p:cNvSpPr txBox="1"/>
          <p:nvPr/>
        </p:nvSpPr>
        <p:spPr>
          <a:xfrm>
            <a:off x="8247888" y="5190027"/>
            <a:ext cx="3291840" cy="411480"/>
          </a:xfrm>
          <a:prstGeom prst="rect">
            <a:avLst/>
          </a:prstGeom>
          <a:noFill/>
          <a:ln/>
        </p:spPr>
        <p:txBody>
          <a:bodyPr wrap="square" lIns="0" tIns="0" rIns="0" bIns="0" rtlCol="0" anchor="t"/>
          <a:lstStyle/>
          <a:p>
            <a:pPr marL="0" indent="0" algn="l">
              <a:lnSpc>
                <a:spcPct val="105000"/>
              </a:lnSpc>
              <a:buNone/>
            </a:pPr>
            <a:r>
              <a:rPr lang="en-US" sz="2200" dirty="0">
                <a:solidFill>
                  <a:srgbClr val="BE5F6D"/>
                </a:solidFill>
                <a:latin typeface="Segoe UI Light" pitchFamily="34" charset="0"/>
                <a:ea typeface="Segoe UI Light" pitchFamily="34" charset="-122"/>
                <a:cs typeface="Segoe UI Light" pitchFamily="34" charset="-120"/>
              </a:rPr>
              <a:t>Vegetation → mineral</a:t>
            </a:r>
            <a:endParaRPr lang="en-US" sz="2200" dirty="0"/>
          </a:p>
        </p:txBody>
      </p:sp>
      <p:sp>
        <p:nvSpPr>
          <p:cNvPr id="17" name="a4float_h2t"/>
          <p:cNvSpPr txBox="1"/>
          <p:nvPr/>
        </p:nvSpPr>
        <p:spPr>
          <a:xfrm>
            <a:off x="8247888" y="5610651"/>
            <a:ext cx="3246120" cy="41148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converted pixels take the spectrum of sand and fill: reclamation, not dieback</a:t>
            </a:r>
            <a:endParaRPr lang="en-US" sz="1100" dirty="0"/>
          </a:p>
        </p:txBody>
      </p:sp>
      <p:sp>
        <p:nvSpPr>
          <p:cNvPr id="18" name="a5fade_hc"/>
          <p:cNvSpPr txBox="1"/>
          <p:nvPr/>
        </p:nvSpPr>
        <p:spPr>
          <a:xfrm>
            <a:off x="548640" y="6172200"/>
            <a:ext cx="10515600" cy="201168"/>
          </a:xfrm>
          <a:prstGeom prst="rect">
            <a:avLst/>
          </a:prstGeom>
          <a:noFill/>
          <a:ln/>
        </p:spPr>
        <p:txBody>
          <a:bodyPr wrap="square" lIns="0" tIns="0" rIns="0" bIns="0" rtlCol="0" anchor="t"/>
          <a:lstStyle/>
          <a:p>
            <a:pPr marL="0" indent="0" algn="l">
              <a:lnSpc>
                <a:spcPct val="105000"/>
              </a:lnSpc>
              <a:buNone/>
            </a:pPr>
            <a:r>
              <a:rPr lang="en-US" sz="1000" dirty="0">
                <a:solidFill>
                  <a:srgbClr val="7A8CA0"/>
                </a:solidFill>
                <a:latin typeface="Segoe UI" pitchFamily="34" charset="0"/>
                <a:ea typeface="Segoe UI" pitchFamily="34" charset="-122"/>
                <a:cs typeface="Segoe UI" pitchFamily="34" charset="-120"/>
              </a:rPr>
              <a:t>Honest limit: as a classifier, the full spectrum is no better than Sentinel-2-like bands (F1 0.74 vs 0.72). Contains modified EnMAP data © DLR 2022, 2025.</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42"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700" fill="hold"/>
                                        <p:tgtEl>
                                          <p:spTgt spid="9"/>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6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anim calcmode="lin" valueType="num">
                                      <p:cBhvr additive="base">
                                        <p:cTn id="29" dur="70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700"/>
                                        <p:tgtEl>
                                          <p:spTgt spid="11"/>
                                        </p:tgtEl>
                                      </p:cBhvr>
                                    </p:animEffect>
                                    <p:anim calcmode="lin" valueType="num">
                                      <p:cBhvr additive="base">
                                        <p:cTn id="33" dur="700" fill="hold"/>
                                        <p:tgtEl>
                                          <p:spTgt spid="11"/>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91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anim calcmode="lin" valueType="num">
                                      <p:cBhvr additive="base">
                                        <p:cTn id="37" dur="700" fill="hold"/>
                                        <p:tgtEl>
                                          <p:spTgt spid="12"/>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91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00"/>
                                        <p:tgtEl>
                                          <p:spTgt spid="13"/>
                                        </p:tgtEl>
                                      </p:cBhvr>
                                    </p:animEffect>
                                    <p:anim calcmode="lin" valueType="num">
                                      <p:cBhvr additive="base">
                                        <p:cTn id="41" dur="700" fill="hold"/>
                                        <p:tgtEl>
                                          <p:spTgt spid="13"/>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91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700"/>
                                        <p:tgtEl>
                                          <p:spTgt spid="14"/>
                                        </p:tgtEl>
                                      </p:cBhvr>
                                    </p:animEffect>
                                    <p:anim calcmode="lin" valueType="num">
                                      <p:cBhvr additive="base">
                                        <p:cTn id="45" dur="700" fill="hold"/>
                                        <p:tgtEl>
                                          <p:spTgt spid="14"/>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113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113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700"/>
                                        <p:tgtEl>
                                          <p:spTgt spid="16"/>
                                        </p:tgtEl>
                                      </p:cBhvr>
                                    </p:animEffect>
                                    <p:anim calcmode="lin" valueType="num">
                                      <p:cBhvr additive="base">
                                        <p:cTn id="53" dur="700" fill="hold"/>
                                        <p:tgtEl>
                                          <p:spTgt spid="16"/>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113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ppt_y</p:attrName>
                                        </p:attrNameLst>
                                      </p:cBhvr>
                                      <p:tavLst>
                                        <p:tav tm="0">
                                          <p:val>
                                            <p:strVal val="#ppt_y+0.03"/>
                                          </p:val>
                                        </p:tav>
                                        <p:tav tm="100000">
                                          <p:val>
                                            <p:strVal val="#ppt_y"/>
                                          </p:val>
                                        </p:tav>
                                      </p:tavLst>
                                    </p:anim>
                                  </p:childTnLst>
                                </p:cTn>
                              </p:par>
                              <p:par>
                                <p:cTn id="58" presetID="10" presetClass="entr" presetSubtype="0" decel="100000" fill="hold" grpId="0" nodeType="withEffect">
                                  <p:stCondLst>
                                    <p:cond delay="135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56032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SPACE DATA · READY FOR SATELLITE 813</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Sentinel-2 says when. Satellite 813 says what.</a:t>
            </a:r>
            <a:endParaRPr lang="en-US" sz="3400" dirty="0"/>
          </a:p>
        </p:txBody>
      </p:sp>
      <p:graphicFrame>
        <p:nvGraphicFramePr>
          <p:cNvPr id="9"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1901952"/>
        </p:xfrm>
        <a:graphic>
          <a:graphicData uri="http://schemas.openxmlformats.org/drawingml/2006/table">
            <a:tbl>
              <a:tblPr/>
              <a:tblGrid>
                <a:gridCol w="21945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4142232">
                  <a:extLst>
                    <a:ext uri="{9D8B030D-6E8A-4147-A177-3AD203B41FA5}">
                      <a16:colId xmlns:a16="http://schemas.microsoft.com/office/drawing/2014/main" val="20005"/>
                    </a:ext>
                  </a:extLst>
                </a:gridCol>
              </a:tblGrid>
              <a:tr h="475488">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Sensor</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Bands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Range</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Pixel</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Revisit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Role in the product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Sentinel-2</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13</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443–2190 nm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10–20 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days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WHEN: the alert, every pass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EnMAP (used)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224</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420–2450 nm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30 m</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~27 days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WHAT: tested on stand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Satellite 813 (next)</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~205</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~400–1700 nm</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~20 m</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on demand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tc>
                  <a:txBody>
                    <a:bodyPr/>
                    <a:lstStyle/>
                    <a:p>
                      <a:pPr marL="0" indent="0" algn="l">
                        <a:buNone/>
                      </a:pPr>
                      <a:r>
                        <a:rPr lang="en-US" sz="1300" b="1" dirty="0">
                          <a:solidFill>
                            <a:srgbClr val="FFFFFF"/>
                          </a:solidFill>
                          <a:latin typeface="Segoe UI Semibold" pitchFamily="34" charset="0"/>
                          <a:ea typeface="Segoe UI Semibold" pitchFamily="34" charset="-122"/>
                          <a:cs typeface="Segoe UI Semibold" pitchFamily="34" charset="-120"/>
                        </a:rPr>
                        <a:t>WHAT, sharper: tasked on flagged cells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3"/>
                  </a:ext>
                </a:extLst>
              </a:tr>
            </a:tbl>
          </a:graphicData>
        </a:graphic>
      </p:graphicFrame>
      <p:sp>
        <p:nvSpPr>
          <p:cNvPr id="8" name="a2float_f0"/>
          <p:cNvSpPr/>
          <p:nvPr/>
        </p:nvSpPr>
        <p:spPr>
          <a:xfrm>
            <a:off x="548640"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7" name="a2float_f0ic_c"/>
          <p:cNvSpPr/>
          <p:nvPr/>
        </p:nvSpPr>
        <p:spPr>
          <a:xfrm>
            <a:off x="731520" y="4087368"/>
            <a:ext cx="548640" cy="548640"/>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0" name="a2float_f0ic_i" descr="preencoded.png"/>
          <p:cNvPicPr>
            <a:picLocks noChangeAspect="1"/>
          </p:cNvPicPr>
          <p:nvPr/>
        </p:nvPicPr>
        <p:blipFill>
          <a:blip r:embed="rId5"/>
          <a:stretch>
            <a:fillRect/>
          </a:stretch>
        </p:blipFill>
        <p:spPr>
          <a:xfrm>
            <a:off x="863194" y="4219042"/>
            <a:ext cx="285293" cy="285293"/>
          </a:xfrm>
          <a:prstGeom prst="rect">
            <a:avLst/>
          </a:prstGeom>
        </p:spPr>
      </p:pic>
      <p:sp>
        <p:nvSpPr>
          <p:cNvPr id="11" name="a2float_f0t"/>
          <p:cNvSpPr txBox="1"/>
          <p:nvPr/>
        </p:nvSpPr>
        <p:spPr>
          <a:xfrm>
            <a:off x="1417320"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1 · Sentinel-2 alert</a:t>
            </a:r>
            <a:endParaRPr lang="en-US" sz="1500" dirty="0"/>
          </a:p>
        </p:txBody>
      </p:sp>
      <p:sp>
        <p:nvSpPr>
          <p:cNvPr id="12" name="a2float_f0d"/>
          <p:cNvSpPr txBox="1"/>
          <p:nvPr/>
        </p:nvSpPr>
        <p:spPr>
          <a:xfrm>
            <a:off x="1417320"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stand or 200 m cell below its threshold</a:t>
            </a:r>
            <a:endParaRPr lang="en-US" sz="1200" dirty="0"/>
          </a:p>
        </p:txBody>
      </p:sp>
      <p:sp>
        <p:nvSpPr>
          <p:cNvPr id="13" name="a2fade_ar0"/>
          <p:cNvSpPr txBox="1"/>
          <p:nvPr/>
        </p:nvSpPr>
        <p:spPr>
          <a:xfrm>
            <a:off x="3977640" y="4114800"/>
            <a:ext cx="338328" cy="457200"/>
          </a:xfrm>
          <a:prstGeom prst="rect">
            <a:avLst/>
          </a:prstGeom>
          <a:noFill/>
          <a:ln/>
        </p:spPr>
        <p:txBody>
          <a:bodyPr wrap="square" lIns="0" tIns="0" rIns="0" bIns="0" rtlCol="0" anchor="ctr"/>
          <a:lstStyle/>
          <a:p>
            <a:pPr marL="0" indent="0" algn="ctr">
              <a:lnSpc>
                <a:spcPct val="105000"/>
              </a:lnSpc>
              <a:buNone/>
            </a:pPr>
            <a:r>
              <a:rPr lang="en-US" sz="2200" dirty="0">
                <a:solidFill>
                  <a:srgbClr val="3F6E9E"/>
                </a:solidFill>
                <a:latin typeface="Segoe UI" pitchFamily="34" charset="0"/>
                <a:ea typeface="Segoe UI" pitchFamily="34" charset="-122"/>
                <a:cs typeface="Segoe UI" pitchFamily="34" charset="-120"/>
              </a:rPr>
              <a:t>→</a:t>
            </a:r>
            <a:endParaRPr lang="en-US" sz="2200" dirty="0"/>
          </a:p>
        </p:txBody>
      </p:sp>
      <p:sp>
        <p:nvSpPr>
          <p:cNvPr id="14" name="a3float_f1"/>
          <p:cNvSpPr/>
          <p:nvPr/>
        </p:nvSpPr>
        <p:spPr>
          <a:xfrm>
            <a:off x="4315968"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5" name="a3float_f1ic_c"/>
          <p:cNvSpPr/>
          <p:nvPr/>
        </p:nvSpPr>
        <p:spPr>
          <a:xfrm>
            <a:off x="4498848" y="4087368"/>
            <a:ext cx="548640" cy="548640"/>
          </a:xfrm>
          <a:prstGeom prst="ellipse">
            <a:avLst/>
          </a:prstGeom>
          <a:solidFill>
            <a:srgbClr val="A9813A">
              <a:alpha val="18000"/>
            </a:srgbClr>
          </a:solidFill>
          <a:ln w="12700">
            <a:solidFill>
              <a:srgbClr val="A9813A"/>
            </a:solidFill>
            <a:prstDash val="solid"/>
          </a:ln>
        </p:spPr>
        <p:txBody>
          <a:bodyPr/>
          <a:lstStyle/>
          <a:p>
            <a:endParaRPr lang="en-GB"/>
          </a:p>
        </p:txBody>
      </p:sp>
      <p:pic>
        <p:nvPicPr>
          <p:cNvPr id="16" name="a3float_f1ic_i" descr="preencoded.png"/>
          <p:cNvPicPr>
            <a:picLocks noChangeAspect="1"/>
          </p:cNvPicPr>
          <p:nvPr/>
        </p:nvPicPr>
        <p:blipFill>
          <a:blip r:embed="rId6"/>
          <a:stretch>
            <a:fillRect/>
          </a:stretch>
        </p:blipFill>
        <p:spPr>
          <a:xfrm>
            <a:off x="4630522" y="4219042"/>
            <a:ext cx="285293" cy="285293"/>
          </a:xfrm>
          <a:prstGeom prst="rect">
            <a:avLst/>
          </a:prstGeom>
        </p:spPr>
      </p:pic>
      <p:sp>
        <p:nvSpPr>
          <p:cNvPr id="17" name="a3float_f1t"/>
          <p:cNvSpPr txBox="1"/>
          <p:nvPr/>
        </p:nvSpPr>
        <p:spPr>
          <a:xfrm>
            <a:off x="5184648"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2 · Task Satellite 813</a:t>
            </a:r>
            <a:endParaRPr lang="en-US" sz="1500" dirty="0"/>
          </a:p>
        </p:txBody>
      </p:sp>
      <p:sp>
        <p:nvSpPr>
          <p:cNvPr id="18" name="a3float_f1d"/>
          <p:cNvSpPr txBox="1"/>
          <p:nvPr/>
        </p:nvSpPr>
        <p:spPr>
          <a:xfrm>
            <a:off x="5184648"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only over the flagged cells, on demand</a:t>
            </a:r>
            <a:endParaRPr lang="en-US" sz="1200" dirty="0"/>
          </a:p>
        </p:txBody>
      </p:sp>
      <p:sp>
        <p:nvSpPr>
          <p:cNvPr id="19" name="a3fade_ar1"/>
          <p:cNvSpPr txBox="1"/>
          <p:nvPr/>
        </p:nvSpPr>
        <p:spPr>
          <a:xfrm>
            <a:off x="7744968" y="4114800"/>
            <a:ext cx="338328" cy="457200"/>
          </a:xfrm>
          <a:prstGeom prst="rect">
            <a:avLst/>
          </a:prstGeom>
          <a:noFill/>
          <a:ln/>
        </p:spPr>
        <p:txBody>
          <a:bodyPr wrap="square" lIns="0" tIns="0" rIns="0" bIns="0" rtlCol="0" anchor="ctr"/>
          <a:lstStyle/>
          <a:p>
            <a:pPr marL="0" indent="0" algn="ctr">
              <a:lnSpc>
                <a:spcPct val="105000"/>
              </a:lnSpc>
              <a:buNone/>
            </a:pPr>
            <a:r>
              <a:rPr lang="en-US" sz="2200" dirty="0">
                <a:solidFill>
                  <a:srgbClr val="3F6E9E"/>
                </a:solidFill>
                <a:latin typeface="Segoe UI" pitchFamily="34" charset="0"/>
                <a:ea typeface="Segoe UI" pitchFamily="34" charset="-122"/>
                <a:cs typeface="Segoe UI" pitchFamily="34" charset="-120"/>
              </a:rPr>
              <a:t>→</a:t>
            </a:r>
            <a:endParaRPr lang="en-US" sz="2200" dirty="0"/>
          </a:p>
        </p:txBody>
      </p:sp>
      <p:sp>
        <p:nvSpPr>
          <p:cNvPr id="20" name="a4float_f2"/>
          <p:cNvSpPr/>
          <p:nvPr/>
        </p:nvSpPr>
        <p:spPr>
          <a:xfrm>
            <a:off x="8083296" y="3794760"/>
            <a:ext cx="3429000" cy="1143000"/>
          </a:xfrm>
          <a:prstGeom prst="roundRect">
            <a:avLst>
              <a:gd name="adj" fmla="val 112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1" name="a4float_f2ic_c"/>
          <p:cNvSpPr/>
          <p:nvPr/>
        </p:nvSpPr>
        <p:spPr>
          <a:xfrm>
            <a:off x="8266176" y="4087368"/>
            <a:ext cx="548640" cy="548640"/>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2" name="a4float_f2ic_i" descr="preencoded.png"/>
          <p:cNvPicPr>
            <a:picLocks noChangeAspect="1"/>
          </p:cNvPicPr>
          <p:nvPr/>
        </p:nvPicPr>
        <p:blipFill>
          <a:blip r:embed="rId7"/>
          <a:stretch>
            <a:fillRect/>
          </a:stretch>
        </p:blipFill>
        <p:spPr>
          <a:xfrm>
            <a:off x="8397850" y="4219042"/>
            <a:ext cx="285293" cy="285293"/>
          </a:xfrm>
          <a:prstGeom prst="rect">
            <a:avLst/>
          </a:prstGeom>
        </p:spPr>
      </p:pic>
      <p:sp>
        <p:nvSpPr>
          <p:cNvPr id="23" name="a4float_f2t"/>
          <p:cNvSpPr txBox="1"/>
          <p:nvPr/>
        </p:nvSpPr>
        <p:spPr>
          <a:xfrm>
            <a:off x="8951976" y="3931920"/>
            <a:ext cx="2468880" cy="347472"/>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3 · Spectral diagnosis</a:t>
            </a:r>
            <a:endParaRPr lang="en-US" sz="1500" dirty="0"/>
          </a:p>
        </p:txBody>
      </p:sp>
      <p:sp>
        <p:nvSpPr>
          <p:cNvPr id="24" name="a4float_f2d"/>
          <p:cNvSpPr txBox="1"/>
          <p:nvPr/>
        </p:nvSpPr>
        <p:spPr>
          <a:xfrm>
            <a:off x="8951976" y="4279392"/>
            <a:ext cx="246888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vegetation, or sand and fill: an evidence pack</a:t>
            </a:r>
            <a:endParaRPr lang="en-US" sz="1200" dirty="0"/>
          </a:p>
        </p:txBody>
      </p:sp>
      <p:sp>
        <p:nvSpPr>
          <p:cNvPr id="25" name="a5float_note"/>
          <p:cNvSpPr/>
          <p:nvPr/>
        </p:nvSpPr>
        <p:spPr>
          <a:xfrm>
            <a:off x="548640" y="5166360"/>
            <a:ext cx="11091672" cy="1005840"/>
          </a:xfrm>
          <a:prstGeom prst="roundRect">
            <a:avLst>
              <a:gd name="adj" fmla="val 12727"/>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6" name="a5float_notet"/>
          <p:cNvSpPr txBox="1"/>
          <p:nvPr/>
        </p:nvSpPr>
        <p:spPr>
          <a:xfrm>
            <a:off x="777240" y="5166360"/>
            <a:ext cx="10698480" cy="1005840"/>
          </a:xfrm>
          <a:prstGeom prst="rect">
            <a:avLst/>
          </a:prstGeom>
          <a:noFill/>
          <a:ln/>
        </p:spPr>
        <p:txBody>
          <a:bodyPr wrap="square" lIns="0" tIns="0" rIns="0" bIns="0" rtlCol="0" anchor="ctr"/>
          <a:lstStyle/>
          <a:p>
            <a:pPr marL="0" indent="0" algn="l">
              <a:lnSpc>
                <a:spcPct val="105000"/>
              </a:lnSpc>
              <a:buNone/>
            </a:pPr>
            <a:r>
              <a:rPr lang="en-US" sz="1400" b="1" dirty="0">
                <a:solidFill>
                  <a:srgbClr val="2F5D8F"/>
                </a:solidFill>
                <a:latin typeface="Segoe UI" pitchFamily="34" charset="0"/>
                <a:ea typeface="Segoe UI" pitchFamily="34" charset="-122"/>
                <a:cs typeface="Segoe UI" pitchFamily="34" charset="-120"/>
              </a:rPr>
              <a:t>Every index the monitor uses </a:t>
            </a:r>
            <a:r>
              <a:rPr lang="en-US" sz="1400" dirty="0">
                <a:solidFill>
                  <a:srgbClr val="1B2B40"/>
                </a:solidFill>
                <a:latin typeface="Segoe UI" pitchFamily="34" charset="0"/>
                <a:ea typeface="Segoe UI" pitchFamily="34" charset="-122"/>
                <a:cs typeface="Segoe UI" pitchFamily="34" charset="-120"/>
              </a:rPr>
              <a:t>(NDVI, red edge, SWIR moisture at 1610 nm, wetness) sits inside 813's ~400–1700 nm range, at 20 m instead of EnMAP's 30 m.  </a:t>
            </a:r>
            <a:r>
              <a:rPr lang="en-US" sz="1400" b="1" dirty="0">
                <a:solidFill>
                  <a:srgbClr val="A9813A"/>
                </a:solidFill>
                <a:latin typeface="Segoe UI" pitchFamily="34" charset="0"/>
                <a:ea typeface="Segoe UI" pitchFamily="34" charset="-122"/>
                <a:cs typeface="Segoe UI" pitchFamily="34" charset="-120"/>
              </a:rPr>
              <a:t>Simulated with EnMAP’s 400–1700 nm bands: </a:t>
            </a:r>
            <a:r>
              <a:rPr lang="en-US" sz="1400" dirty="0">
                <a:solidFill>
                  <a:srgbClr val="1B2B40"/>
                </a:solidFill>
                <a:latin typeface="Segoe UI" pitchFamily="34" charset="0"/>
                <a:ea typeface="Segoe UI" pitchFamily="34" charset="-122"/>
                <a:cs typeface="Segoe UI" pitchFamily="34" charset="-120"/>
              </a:rPr>
              <a:t>the stand-5 loss still reads vegetation → sand and fill (97 % of converted pixels, 0.4 % of intact ones). Not yet on real 813 data.</a:t>
            </a:r>
            <a:endParaRPr lang="en-US" sz="14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00"/>
                                        <p:tgtEl>
                                          <p:spTgt spid="9"/>
                                        </p:tgtEl>
                                      </p:cBhvr>
                                    </p:animEffect>
                                    <p:anim calcmode="lin" valueType="num">
                                      <p:cBhvr additive="base">
                                        <p:cTn id="15" dur="700" fill="hold"/>
                                        <p:tgtEl>
                                          <p:spTgt spid="9"/>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00"/>
                                        <p:tgtEl>
                                          <p:spTgt spid="10"/>
                                        </p:tgtEl>
                                      </p:cBhvr>
                                    </p:animEffect>
                                    <p:anim calcmode="lin" valueType="num">
                                      <p:cBhvr additive="base">
                                        <p:cTn id="23" dur="700" fill="hold"/>
                                        <p:tgtEl>
                                          <p:spTgt spid="10"/>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anim calcmode="lin" valueType="num">
                                      <p:cBhvr additive="base">
                                        <p:cTn id="27" dur="700" fill="hold"/>
                                        <p:tgtEl>
                                          <p:spTgt spid="11"/>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69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additive="base">
                                        <p:cTn id="31" dur="700" fill="hold"/>
                                        <p:tgtEl>
                                          <p:spTgt spid="12"/>
                                        </p:tgtEl>
                                        <p:attrNameLst>
                                          <p:attrName>ppt_y</p:attrName>
                                        </p:attrNameLst>
                                      </p:cBhvr>
                                      <p:tavLst>
                                        <p:tav tm="0">
                                          <p:val>
                                            <p:strVal val="#ppt_y+0.03"/>
                                          </p:val>
                                        </p:tav>
                                        <p:tav tm="100000">
                                          <p:val>
                                            <p:strVal val="#ppt_y"/>
                                          </p:val>
                                        </p:tav>
                                      </p:tavLst>
                                    </p:anim>
                                  </p:childTnLst>
                                </p:cTn>
                              </p:par>
                              <p:par>
                                <p:cTn id="32" presetID="10" presetClass="entr" presetSubtype="0" decel="100000" fill="hold" grpId="0" nodeType="withEffect">
                                  <p:stCondLst>
                                    <p:cond delay="69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42" presetClass="entr" presetSubtype="0" decel="100000" fill="hold" grpId="0" nodeType="withEffect">
                                  <p:stCondLst>
                                    <p:cond delay="69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700"/>
                                        <p:tgtEl>
                                          <p:spTgt spid="27"/>
                                        </p:tgtEl>
                                      </p:cBhvr>
                                    </p:animEffect>
                                    <p:anim calcmode="lin" valueType="num">
                                      <p:cBhvr additive="base">
                                        <p:cTn id="38" dur="700" fill="hold"/>
                                        <p:tgtEl>
                                          <p:spTgt spid="27"/>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91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700"/>
                                        <p:tgtEl>
                                          <p:spTgt spid="14"/>
                                        </p:tgtEl>
                                      </p:cBhvr>
                                    </p:animEffect>
                                    <p:anim calcmode="lin" valueType="num">
                                      <p:cBhvr additive="base">
                                        <p:cTn id="42" dur="700" fill="hold"/>
                                        <p:tgtEl>
                                          <p:spTgt spid="14"/>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91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additive="base">
                                        <p:cTn id="46" dur="700" fill="hold"/>
                                        <p:tgtEl>
                                          <p:spTgt spid="15"/>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91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700"/>
                                        <p:tgtEl>
                                          <p:spTgt spid="16"/>
                                        </p:tgtEl>
                                      </p:cBhvr>
                                    </p:animEffect>
                                    <p:anim calcmode="lin" valueType="num">
                                      <p:cBhvr additive="base">
                                        <p:cTn id="50" dur="700" fill="hold"/>
                                        <p:tgtEl>
                                          <p:spTgt spid="16"/>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91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700"/>
                                        <p:tgtEl>
                                          <p:spTgt spid="17"/>
                                        </p:tgtEl>
                                      </p:cBhvr>
                                    </p:animEffect>
                                    <p:anim calcmode="lin" valueType="num">
                                      <p:cBhvr additive="base">
                                        <p:cTn id="54" dur="700" fill="hold"/>
                                        <p:tgtEl>
                                          <p:spTgt spid="17"/>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91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700"/>
                                        <p:tgtEl>
                                          <p:spTgt spid="18"/>
                                        </p:tgtEl>
                                      </p:cBhvr>
                                    </p:animEffect>
                                    <p:anim calcmode="lin" valueType="num">
                                      <p:cBhvr additive="base">
                                        <p:cTn id="58" dur="700" fill="hold"/>
                                        <p:tgtEl>
                                          <p:spTgt spid="18"/>
                                        </p:tgtEl>
                                        <p:attrNameLst>
                                          <p:attrName>ppt_y</p:attrName>
                                        </p:attrNameLst>
                                      </p:cBhvr>
                                      <p:tavLst>
                                        <p:tav tm="0">
                                          <p:val>
                                            <p:strVal val="#ppt_y+0.03"/>
                                          </p:val>
                                        </p:tav>
                                        <p:tav tm="100000">
                                          <p:val>
                                            <p:strVal val="#ppt_y"/>
                                          </p:val>
                                        </p:tav>
                                      </p:tavLst>
                                    </p:anim>
                                  </p:childTnLst>
                                </p:cTn>
                              </p:par>
                              <p:par>
                                <p:cTn id="59" presetID="10" presetClass="entr" presetSubtype="0" decel="100000" fill="hold" grpId="0" nodeType="withEffect">
                                  <p:stCondLst>
                                    <p:cond delay="91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00"/>
                                        <p:tgtEl>
                                          <p:spTgt spid="19"/>
                                        </p:tgtEl>
                                      </p:cBhvr>
                                    </p:animEffect>
                                  </p:childTnLst>
                                </p:cTn>
                              </p:par>
                              <p:par>
                                <p:cTn id="62" presetID="42" presetClass="entr" presetSubtype="0" decel="100000" fill="hold" grpId="0" nodeType="withEffect">
                                  <p:stCondLst>
                                    <p:cond delay="113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700"/>
                                        <p:tgtEl>
                                          <p:spTgt spid="20"/>
                                        </p:tgtEl>
                                      </p:cBhvr>
                                    </p:animEffect>
                                    <p:anim calcmode="lin" valueType="num">
                                      <p:cBhvr additive="base">
                                        <p:cTn id="65" dur="700" fill="hold"/>
                                        <p:tgtEl>
                                          <p:spTgt spid="20"/>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13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00"/>
                                        <p:tgtEl>
                                          <p:spTgt spid="21"/>
                                        </p:tgtEl>
                                      </p:cBhvr>
                                    </p:animEffect>
                                    <p:anim calcmode="lin" valueType="num">
                                      <p:cBhvr additive="base">
                                        <p:cTn id="69" dur="700" fill="hold"/>
                                        <p:tgtEl>
                                          <p:spTgt spid="21"/>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13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700"/>
                                        <p:tgtEl>
                                          <p:spTgt spid="22"/>
                                        </p:tgtEl>
                                      </p:cBhvr>
                                    </p:animEffect>
                                    <p:anim calcmode="lin" valueType="num">
                                      <p:cBhvr additive="base">
                                        <p:cTn id="73" dur="700" fill="hold"/>
                                        <p:tgtEl>
                                          <p:spTgt spid="22"/>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13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700"/>
                                        <p:tgtEl>
                                          <p:spTgt spid="23"/>
                                        </p:tgtEl>
                                      </p:cBhvr>
                                    </p:animEffect>
                                    <p:anim calcmode="lin" valueType="num">
                                      <p:cBhvr additive="base">
                                        <p:cTn id="77" dur="700" fill="hold"/>
                                        <p:tgtEl>
                                          <p:spTgt spid="23"/>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113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700"/>
                                        <p:tgtEl>
                                          <p:spTgt spid="24"/>
                                        </p:tgtEl>
                                      </p:cBhvr>
                                    </p:animEffect>
                                    <p:anim calcmode="lin" valueType="num">
                                      <p:cBhvr additive="base">
                                        <p:cTn id="81" dur="700" fill="hold"/>
                                        <p:tgtEl>
                                          <p:spTgt spid="24"/>
                                        </p:tgtEl>
                                        <p:attrNameLst>
                                          <p:attrName>ppt_y</p:attrName>
                                        </p:attrNameLst>
                                      </p:cBhvr>
                                      <p:tavLst>
                                        <p:tav tm="0">
                                          <p:val>
                                            <p:strVal val="#ppt_y+0.03"/>
                                          </p:val>
                                        </p:tav>
                                        <p:tav tm="100000">
                                          <p:val>
                                            <p:strVal val="#ppt_y"/>
                                          </p:val>
                                        </p:tav>
                                      </p:tavLst>
                                    </p:anim>
                                  </p:childTnLst>
                                </p:cTn>
                              </p:par>
                              <p:par>
                                <p:cTn id="82" presetID="42" presetClass="entr" presetSubtype="0" decel="100000" fill="hold" grpId="0" nodeType="withEffect">
                                  <p:stCondLst>
                                    <p:cond delay="135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700"/>
                                        <p:tgtEl>
                                          <p:spTgt spid="25"/>
                                        </p:tgtEl>
                                      </p:cBhvr>
                                    </p:animEffect>
                                    <p:anim calcmode="lin" valueType="num">
                                      <p:cBhvr additive="base">
                                        <p:cTn id="85" dur="700" fill="hold"/>
                                        <p:tgtEl>
                                          <p:spTgt spid="25"/>
                                        </p:tgtEl>
                                        <p:attrNameLst>
                                          <p:attrName>ppt_y</p:attrName>
                                        </p:attrNameLst>
                                      </p:cBhvr>
                                      <p:tavLst>
                                        <p:tav tm="0">
                                          <p:val>
                                            <p:strVal val="#ppt_y+0.03"/>
                                          </p:val>
                                        </p:tav>
                                        <p:tav tm="100000">
                                          <p:val>
                                            <p:strVal val="#ppt_y"/>
                                          </p:val>
                                        </p:tav>
                                      </p:tavLst>
                                    </p:anim>
                                  </p:childTnLst>
                                </p:cTn>
                              </p:par>
                              <p:par>
                                <p:cTn id="86" presetID="42" presetClass="entr" presetSubtype="0" decel="100000" fill="hold" grpId="0" nodeType="withEffect">
                                  <p:stCondLst>
                                    <p:cond delay="135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700"/>
                                        <p:tgtEl>
                                          <p:spTgt spid="26"/>
                                        </p:tgtEl>
                                      </p:cBhvr>
                                    </p:animEffect>
                                    <p:anim calcmode="lin" valueType="num">
                                      <p:cBhvr additive="base">
                                        <p:cTn id="89" dur="700" fill="hold"/>
                                        <p:tgtEl>
                                          <p:spTgt spid="2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9" grpId="0">
        <p:bldAsOne/>
      </p:bldGraphic>
      <p:bldP spid="8" grpId="0" animBg="1"/>
      <p:bldP spid="27" grpId="0" animBg="1"/>
      <p:bldP spid="10" grpId="0"/>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291840" y="-310896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APPROACH · HOW IT WORKS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From satellite pixels to a decision</a:t>
            </a:r>
            <a:endParaRPr lang="en-US" sz="3400" dirty="0"/>
          </a:p>
        </p:txBody>
      </p:sp>
      <p:sp>
        <p:nvSpPr>
          <p:cNvPr id="7" name="a1zoom_wfc"/>
          <p:cNvSpPr/>
          <p:nvPr/>
        </p:nvSpPr>
        <p:spPr>
          <a:xfrm>
            <a:off x="548640" y="1691640"/>
            <a:ext cx="11091672" cy="4315968"/>
          </a:xfrm>
          <a:prstGeom prst="roundRect">
            <a:avLst>
              <a:gd name="adj" fmla="val 2966"/>
            </a:avLst>
          </a:prstGeom>
          <a:solidFill>
            <a:srgbClr val="FFFFFF">
              <a:alpha val="9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pic>
        <p:nvPicPr>
          <p:cNvPr id="8" name="a1zoom_wf" descr="C:\Users\nahla\Desktop\UAE-Space-Hackatoon\deck_pptx\build\assets\diagram_workflow.png"/>
          <p:cNvPicPr>
            <a:picLocks noChangeAspect="1"/>
          </p:cNvPicPr>
          <p:nvPr/>
        </p:nvPicPr>
        <p:blipFill>
          <a:blip r:embed="rId5"/>
          <a:stretch>
            <a:fillRect/>
          </a:stretch>
        </p:blipFill>
        <p:spPr>
          <a:xfrm>
            <a:off x="745236" y="1804779"/>
            <a:ext cx="10698480" cy="4089690"/>
          </a:xfrm>
          <a:prstGeom prst="rect">
            <a:avLst/>
          </a:prstGeom>
        </p:spPr>
      </p:pic>
      <p:sp>
        <p:nvSpPr>
          <p:cNvPr id="9" name="a2fade_wl"/>
          <p:cNvSpPr txBox="1"/>
          <p:nvPr/>
        </p:nvSpPr>
        <p:spPr>
          <a:xfrm>
            <a:off x="548640" y="6108192"/>
            <a:ext cx="173736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Read left to right:</a:t>
            </a:r>
            <a:endParaRPr lang="en-US" sz="1200" dirty="0"/>
          </a:p>
        </p:txBody>
      </p:sp>
      <p:sp>
        <p:nvSpPr>
          <p:cNvPr id="10" name="a2fade_wk0"/>
          <p:cNvSpPr/>
          <p:nvPr/>
        </p:nvSpPr>
        <p:spPr>
          <a:xfrm>
            <a:off x="2240280" y="6172200"/>
            <a:ext cx="237744" cy="146304"/>
          </a:xfrm>
          <a:prstGeom prst="roundRect">
            <a:avLst>
              <a:gd name="adj" fmla="val 25000"/>
            </a:avLst>
          </a:prstGeom>
          <a:solidFill>
            <a:srgbClr val="6E95C2">
              <a:alpha val="70000"/>
            </a:srgbClr>
          </a:solidFill>
          <a:ln w="9525">
            <a:solidFill>
              <a:srgbClr val="6E95C2"/>
            </a:solidFill>
            <a:prstDash val="solid"/>
          </a:ln>
        </p:spPr>
        <p:txBody>
          <a:bodyPr/>
          <a:lstStyle/>
          <a:p>
            <a:endParaRPr lang="en-GB"/>
          </a:p>
        </p:txBody>
      </p:sp>
      <p:sp>
        <p:nvSpPr>
          <p:cNvPr id="11" name="a2fade_wkt0"/>
          <p:cNvSpPr txBox="1"/>
          <p:nvPr/>
        </p:nvSpPr>
        <p:spPr>
          <a:xfrm>
            <a:off x="256032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Core model</a:t>
            </a:r>
            <a:endParaRPr lang="en-US" sz="1200" dirty="0"/>
          </a:p>
        </p:txBody>
      </p:sp>
      <p:sp>
        <p:nvSpPr>
          <p:cNvPr id="12" name="a2fade_wk1"/>
          <p:cNvSpPr/>
          <p:nvPr/>
        </p:nvSpPr>
        <p:spPr>
          <a:xfrm>
            <a:off x="4389120" y="6172200"/>
            <a:ext cx="237744" cy="146304"/>
          </a:xfrm>
          <a:prstGeom prst="roundRect">
            <a:avLst>
              <a:gd name="adj" fmla="val 25000"/>
            </a:avLst>
          </a:prstGeom>
          <a:solidFill>
            <a:srgbClr val="C0606E">
              <a:alpha val="70000"/>
            </a:srgbClr>
          </a:solidFill>
          <a:ln w="9525">
            <a:solidFill>
              <a:srgbClr val="C0606E"/>
            </a:solidFill>
            <a:prstDash val="solid"/>
          </a:ln>
        </p:spPr>
        <p:txBody>
          <a:bodyPr/>
          <a:lstStyle/>
          <a:p>
            <a:endParaRPr lang="en-GB"/>
          </a:p>
        </p:txBody>
      </p:sp>
      <p:sp>
        <p:nvSpPr>
          <p:cNvPr id="13" name="a2fade_wkt1"/>
          <p:cNvSpPr txBox="1"/>
          <p:nvPr/>
        </p:nvSpPr>
        <p:spPr>
          <a:xfrm>
            <a:off x="470916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Alert rule</a:t>
            </a:r>
            <a:endParaRPr lang="en-US" sz="1200" dirty="0"/>
          </a:p>
        </p:txBody>
      </p:sp>
      <p:sp>
        <p:nvSpPr>
          <p:cNvPr id="14" name="a2fade_wk2"/>
          <p:cNvSpPr/>
          <p:nvPr/>
        </p:nvSpPr>
        <p:spPr>
          <a:xfrm>
            <a:off x="6537960" y="6172200"/>
            <a:ext cx="237744" cy="146304"/>
          </a:xfrm>
          <a:prstGeom prst="roundRect">
            <a:avLst>
              <a:gd name="adj" fmla="val 25000"/>
            </a:avLst>
          </a:prstGeom>
          <a:solidFill>
            <a:srgbClr val="B08A3E">
              <a:alpha val="70000"/>
            </a:srgbClr>
          </a:solidFill>
          <a:ln w="9525">
            <a:solidFill>
              <a:srgbClr val="B08A3E"/>
            </a:solidFill>
            <a:prstDash val="solid"/>
          </a:ln>
        </p:spPr>
        <p:txBody>
          <a:bodyPr/>
          <a:lstStyle/>
          <a:p>
            <a:endParaRPr lang="en-GB"/>
          </a:p>
        </p:txBody>
      </p:sp>
      <p:sp>
        <p:nvSpPr>
          <p:cNvPr id="15" name="a2fade_wkt2"/>
          <p:cNvSpPr txBox="1"/>
          <p:nvPr/>
        </p:nvSpPr>
        <p:spPr>
          <a:xfrm>
            <a:off x="685800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Output to the user</a:t>
            </a:r>
            <a:endParaRPr lang="en-US" sz="1200" dirty="0"/>
          </a:p>
        </p:txBody>
      </p:sp>
      <p:sp>
        <p:nvSpPr>
          <p:cNvPr id="16" name="a2fade_wk3"/>
          <p:cNvSpPr/>
          <p:nvPr/>
        </p:nvSpPr>
        <p:spPr>
          <a:xfrm>
            <a:off x="8686800" y="6172200"/>
            <a:ext cx="237744" cy="146304"/>
          </a:xfrm>
          <a:prstGeom prst="roundRect">
            <a:avLst>
              <a:gd name="adj" fmla="val 25000"/>
            </a:avLst>
          </a:prstGeom>
          <a:solidFill>
            <a:srgbClr val="9AAFC6">
              <a:alpha val="70000"/>
            </a:srgbClr>
          </a:solidFill>
          <a:ln w="9525">
            <a:solidFill>
              <a:srgbClr val="9AAFC6"/>
            </a:solidFill>
            <a:prstDash val="solid"/>
          </a:ln>
        </p:spPr>
        <p:txBody>
          <a:bodyPr/>
          <a:lstStyle/>
          <a:p>
            <a:endParaRPr lang="en-GB"/>
          </a:p>
        </p:txBody>
      </p:sp>
      <p:sp>
        <p:nvSpPr>
          <p:cNvPr id="17" name="a2fade_wkt3"/>
          <p:cNvSpPr txBox="1"/>
          <p:nvPr/>
        </p:nvSpPr>
        <p:spPr>
          <a:xfrm>
            <a:off x="9006840" y="6108192"/>
            <a:ext cx="1828800" cy="27432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Inputs and checks</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10"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decel="100000" fill="hold" grpId="0" nodeType="withEffect">
                                  <p:stCondLst>
                                    <p:cond delay="69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decel="100000" fill="hold" grpId="0" nodeType="withEffect">
                                  <p:stCondLst>
                                    <p:cond delay="69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decel="100000" fill="hold" grpId="0" nodeType="withEffect">
                                  <p:stCondLst>
                                    <p:cond delay="69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decel="100000" fill="hold" grpId="0" nodeType="withEffect">
                                  <p:stCondLst>
                                    <p:cond delay="69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decel="100000" fill="hold" grpId="0" nodeType="withEffect">
                                  <p:stCondLst>
                                    <p:cond delay="69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decel="100000" fill="hold" grpId="0" nodeType="withEffect">
                                  <p:stCondLst>
                                    <p:cond delay="69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decel="100000" fill="hold" grpId="0" nodeType="withEffect">
                                  <p:stCondLst>
                                    <p:cond delay="69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decel="100000" fill="hold" grpId="0" nodeType="withEffect">
                                  <p:stCondLst>
                                    <p:cond delay="69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22960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DELIVERY · HOW A USER RECEIVES IT</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One alert, one message, one targeted visit</a:t>
            </a:r>
            <a:endParaRPr lang="en-US" sz="3400" dirty="0"/>
          </a:p>
        </p:txBody>
      </p:sp>
      <p:sp>
        <p:nvSpPr>
          <p:cNvPr id="7" name="a1zoom_sqc"/>
          <p:cNvSpPr/>
          <p:nvPr/>
        </p:nvSpPr>
        <p:spPr>
          <a:xfrm>
            <a:off x="548640" y="1691640"/>
            <a:ext cx="7543800" cy="4480560"/>
          </a:xfrm>
          <a:prstGeom prst="roundRect">
            <a:avLst>
              <a:gd name="adj" fmla="val 2857"/>
            </a:avLst>
          </a:prstGeom>
          <a:solidFill>
            <a:srgbClr val="FFFFFF">
              <a:alpha val="9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pic>
        <p:nvPicPr>
          <p:cNvPr id="8" name="a1zoom_sq" descr="C:\Users\nahla\Desktop\UAE-Space-Hackatoon\deck_pptx\build\assets\diagram_sequence.png"/>
          <p:cNvPicPr>
            <a:picLocks noChangeAspect="1"/>
          </p:cNvPicPr>
          <p:nvPr/>
        </p:nvPicPr>
        <p:blipFill>
          <a:blip r:embed="rId5"/>
          <a:stretch>
            <a:fillRect/>
          </a:stretch>
        </p:blipFill>
        <p:spPr>
          <a:xfrm>
            <a:off x="685800" y="2083513"/>
            <a:ext cx="7269480" cy="3696813"/>
          </a:xfrm>
          <a:prstGeom prst="rect">
            <a:avLst/>
          </a:prstGeom>
        </p:spPr>
      </p:pic>
      <p:sp>
        <p:nvSpPr>
          <p:cNvPr id="9" name="a2float_e0"/>
          <p:cNvSpPr/>
          <p:nvPr/>
        </p:nvSpPr>
        <p:spPr>
          <a:xfrm>
            <a:off x="8321040" y="1691640"/>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0" name="a2float_e0ic_c"/>
          <p:cNvSpPr/>
          <p:nvPr/>
        </p:nvSpPr>
        <p:spPr>
          <a:xfrm>
            <a:off x="8485632" y="1837944"/>
            <a:ext cx="438912" cy="438912"/>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1" name="a2float_e0ic_i" descr="preencoded.png"/>
          <p:cNvPicPr>
            <a:picLocks noChangeAspect="1"/>
          </p:cNvPicPr>
          <p:nvPr/>
        </p:nvPicPr>
        <p:blipFill>
          <a:blip r:embed="rId6"/>
          <a:stretch>
            <a:fillRect/>
          </a:stretch>
        </p:blipFill>
        <p:spPr>
          <a:xfrm>
            <a:off x="8590971" y="1943283"/>
            <a:ext cx="228234" cy="228234"/>
          </a:xfrm>
          <a:prstGeom prst="rect">
            <a:avLst/>
          </a:prstGeom>
        </p:spPr>
      </p:pic>
      <p:sp>
        <p:nvSpPr>
          <p:cNvPr id="12" name="a2float_e0t"/>
          <p:cNvSpPr txBox="1"/>
          <p:nvPr/>
        </p:nvSpPr>
        <p:spPr>
          <a:xfrm>
            <a:off x="9034272" y="1874520"/>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Every ~5 days</a:t>
            </a:r>
            <a:endParaRPr lang="en-US" sz="1400" dirty="0"/>
          </a:p>
        </p:txBody>
      </p:sp>
      <p:sp>
        <p:nvSpPr>
          <p:cNvPr id="13" name="a2float_e0d"/>
          <p:cNvSpPr txBox="1"/>
          <p:nvPr/>
        </p:nvSpPr>
        <p:spPr>
          <a:xfrm>
            <a:off x="8485632" y="2350008"/>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a new Sentinel-2 scene is read in place and run through the tide-aware model, per stand and per 200 m cell</a:t>
            </a:r>
            <a:endParaRPr lang="en-US" sz="1100" dirty="0"/>
          </a:p>
        </p:txBody>
      </p:sp>
      <p:sp>
        <p:nvSpPr>
          <p:cNvPr id="14" name="a3float_e1"/>
          <p:cNvSpPr/>
          <p:nvPr/>
        </p:nvSpPr>
        <p:spPr>
          <a:xfrm>
            <a:off x="8321040" y="3209544"/>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5" name="a3float_e1ic_c"/>
          <p:cNvSpPr/>
          <p:nvPr/>
        </p:nvSpPr>
        <p:spPr>
          <a:xfrm>
            <a:off x="8485632" y="3355848"/>
            <a:ext cx="438912" cy="438912"/>
          </a:xfrm>
          <a:prstGeom prst="ellipse">
            <a:avLst/>
          </a:prstGeom>
          <a:solidFill>
            <a:srgbClr val="BE5F6D">
              <a:alpha val="18000"/>
            </a:srgbClr>
          </a:solidFill>
          <a:ln w="12700">
            <a:solidFill>
              <a:srgbClr val="BE5F6D"/>
            </a:solidFill>
            <a:prstDash val="solid"/>
          </a:ln>
        </p:spPr>
        <p:txBody>
          <a:bodyPr/>
          <a:lstStyle/>
          <a:p>
            <a:endParaRPr lang="en-GB"/>
          </a:p>
        </p:txBody>
      </p:sp>
      <p:pic>
        <p:nvPicPr>
          <p:cNvPr id="16" name="a3float_e1ic_i" descr="preencoded.png"/>
          <p:cNvPicPr>
            <a:picLocks noChangeAspect="1"/>
          </p:cNvPicPr>
          <p:nvPr/>
        </p:nvPicPr>
        <p:blipFill>
          <a:blip r:embed="rId7"/>
          <a:stretch>
            <a:fillRect/>
          </a:stretch>
        </p:blipFill>
        <p:spPr>
          <a:xfrm>
            <a:off x="8590971" y="3461187"/>
            <a:ext cx="228234" cy="228234"/>
          </a:xfrm>
          <a:prstGeom prst="rect">
            <a:avLst/>
          </a:prstGeom>
        </p:spPr>
      </p:pic>
      <p:sp>
        <p:nvSpPr>
          <p:cNvPr id="17" name="a3float_e1t"/>
          <p:cNvSpPr txBox="1"/>
          <p:nvPr/>
        </p:nvSpPr>
        <p:spPr>
          <a:xfrm>
            <a:off x="9034272" y="3392424"/>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BE5F6D"/>
                </a:solidFill>
                <a:latin typeface="Segoe UI Semibold" pitchFamily="34" charset="0"/>
                <a:ea typeface="Segoe UI Semibold" pitchFamily="34" charset="-122"/>
                <a:cs typeface="Segoe UI Semibold" pitchFamily="34" charset="-120"/>
              </a:rPr>
              <a:t>If an alert fires</a:t>
            </a:r>
            <a:endParaRPr lang="en-US" sz="1400" dirty="0"/>
          </a:p>
        </p:txBody>
      </p:sp>
      <p:sp>
        <p:nvSpPr>
          <p:cNvPr id="18" name="a3float_e1d"/>
          <p:cNvSpPr txBox="1"/>
          <p:nvPr/>
        </p:nvSpPr>
        <p:spPr>
          <a:xfrm>
            <a:off x="8485632" y="3867912"/>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we check the flagged cells on sub-metre imagery, then send the alert by email or JSON API with the cell map and the carbon at stake</a:t>
            </a:r>
            <a:endParaRPr lang="en-US" sz="1100" dirty="0"/>
          </a:p>
        </p:txBody>
      </p:sp>
      <p:sp>
        <p:nvSpPr>
          <p:cNvPr id="19" name="a4float_e2"/>
          <p:cNvSpPr/>
          <p:nvPr/>
        </p:nvSpPr>
        <p:spPr>
          <a:xfrm>
            <a:off x="8321040" y="4727448"/>
            <a:ext cx="3319272" cy="1389888"/>
          </a:xfrm>
          <a:prstGeom prst="roundRect">
            <a:avLst>
              <a:gd name="adj" fmla="val 9211"/>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0" name="a4float_e2ic_c"/>
          <p:cNvSpPr/>
          <p:nvPr/>
        </p:nvSpPr>
        <p:spPr>
          <a:xfrm>
            <a:off x="8485632" y="4873752"/>
            <a:ext cx="438912" cy="438912"/>
          </a:xfrm>
          <a:prstGeom prst="ellipse">
            <a:avLst/>
          </a:prstGeom>
          <a:solidFill>
            <a:srgbClr val="A9813A">
              <a:alpha val="18000"/>
            </a:srgbClr>
          </a:solidFill>
          <a:ln w="12700">
            <a:solidFill>
              <a:srgbClr val="A9813A"/>
            </a:solidFill>
            <a:prstDash val="solid"/>
          </a:ln>
        </p:spPr>
        <p:txBody>
          <a:bodyPr/>
          <a:lstStyle/>
          <a:p>
            <a:endParaRPr lang="en-GB"/>
          </a:p>
        </p:txBody>
      </p:sp>
      <p:pic>
        <p:nvPicPr>
          <p:cNvPr id="21" name="a4float_e2ic_i" descr="preencoded.png"/>
          <p:cNvPicPr>
            <a:picLocks noChangeAspect="1"/>
          </p:cNvPicPr>
          <p:nvPr/>
        </p:nvPicPr>
        <p:blipFill>
          <a:blip r:embed="rId8"/>
          <a:stretch>
            <a:fillRect/>
          </a:stretch>
        </p:blipFill>
        <p:spPr>
          <a:xfrm>
            <a:off x="8590971" y="4979091"/>
            <a:ext cx="228234" cy="228234"/>
          </a:xfrm>
          <a:prstGeom prst="rect">
            <a:avLst/>
          </a:prstGeom>
        </p:spPr>
      </p:pic>
      <p:sp>
        <p:nvSpPr>
          <p:cNvPr id="22" name="a4float_e2t"/>
          <p:cNvSpPr txBox="1"/>
          <p:nvPr/>
        </p:nvSpPr>
        <p:spPr>
          <a:xfrm>
            <a:off x="9034272" y="4910328"/>
            <a:ext cx="2514600" cy="310896"/>
          </a:xfrm>
          <a:prstGeom prst="rect">
            <a:avLst/>
          </a:prstGeom>
          <a:noFill/>
          <a:ln/>
        </p:spPr>
        <p:txBody>
          <a:bodyPr wrap="square" lIns="0" tIns="0" rIns="0" bIns="0" rtlCol="0" anchor="t"/>
          <a:lstStyle/>
          <a:p>
            <a:pPr marL="0" indent="0" algn="l">
              <a:lnSpc>
                <a:spcPct val="105000"/>
              </a:lnSpc>
              <a:buNone/>
            </a:pPr>
            <a:r>
              <a:rPr lang="en-US" sz="1400" dirty="0">
                <a:solidFill>
                  <a:srgbClr val="A9813A"/>
                </a:solidFill>
                <a:latin typeface="Segoe UI Semibold" pitchFamily="34" charset="0"/>
                <a:ea typeface="Segoe UI Semibold" pitchFamily="34" charset="-122"/>
                <a:cs typeface="Segoe UI Semibold" pitchFamily="34" charset="-120"/>
              </a:rPr>
              <a:t>If nothing changes</a:t>
            </a:r>
            <a:endParaRPr lang="en-US" sz="1400" dirty="0"/>
          </a:p>
        </p:txBody>
      </p:sp>
      <p:sp>
        <p:nvSpPr>
          <p:cNvPr id="23" name="a4float_e2d"/>
          <p:cNvSpPr txBox="1"/>
          <p:nvPr/>
        </p:nvSpPr>
        <p:spPr>
          <a:xfrm>
            <a:off x="8485632" y="5385816"/>
            <a:ext cx="3017520" cy="713232"/>
          </a:xfrm>
          <a:prstGeom prst="rect">
            <a:avLst/>
          </a:prstGeom>
          <a:noFill/>
          <a:ln/>
        </p:spPr>
        <p:txBody>
          <a:bodyPr wrap="square" lIns="0" tIns="0" rIns="0" bIns="0" rtlCol="0" anchor="t"/>
          <a:lstStyle/>
          <a:p>
            <a:pPr marL="0" indent="0" algn="l">
              <a:lnSpc>
                <a:spcPct val="105000"/>
              </a:lnSpc>
              <a:buNone/>
            </a:pPr>
            <a:r>
              <a:rPr lang="en-US" sz="1100" dirty="0">
                <a:solidFill>
                  <a:srgbClr val="3A4D63"/>
                </a:solidFill>
                <a:latin typeface="Segoe UI" pitchFamily="34" charset="0"/>
                <a:ea typeface="Segoe UI" pitchFamily="34" charset="-122"/>
                <a:cs typeface="Segoe UI" pitchFamily="34" charset="-120"/>
              </a:rPr>
              <a:t>the user still gets a monthly site report: condition, trend and carbon stock for every stand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42" presetClass="entr" presetSubtype="0" decel="100000" fill="hold" grpId="0" nodeType="withEffect">
                                  <p:stCondLst>
                                    <p:cond delay="69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700" fill="hold"/>
                                        <p:tgtEl>
                                          <p:spTgt spid="9"/>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6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anim calcmode="lin" valueType="num">
                                      <p:cBhvr additive="base">
                                        <p:cTn id="29" dur="700" fill="hold"/>
                                        <p:tgtEl>
                                          <p:spTgt spid="10"/>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700"/>
                                        <p:tgtEl>
                                          <p:spTgt spid="11"/>
                                        </p:tgtEl>
                                      </p:cBhvr>
                                    </p:animEffect>
                                    <p:anim calcmode="lin" valueType="num">
                                      <p:cBhvr additive="base">
                                        <p:cTn id="33" dur="700" fill="hold"/>
                                        <p:tgtEl>
                                          <p:spTgt spid="11"/>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69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anim calcmode="lin" valueType="num">
                                      <p:cBhvr additive="base">
                                        <p:cTn id="37" dur="700" fill="hold"/>
                                        <p:tgtEl>
                                          <p:spTgt spid="12"/>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69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00"/>
                                        <p:tgtEl>
                                          <p:spTgt spid="13"/>
                                        </p:tgtEl>
                                      </p:cBhvr>
                                    </p:animEffect>
                                    <p:anim calcmode="lin" valueType="num">
                                      <p:cBhvr additive="base">
                                        <p:cTn id="41" dur="700" fill="hold"/>
                                        <p:tgtEl>
                                          <p:spTgt spid="13"/>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91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700"/>
                                        <p:tgtEl>
                                          <p:spTgt spid="14"/>
                                        </p:tgtEl>
                                      </p:cBhvr>
                                    </p:animEffect>
                                    <p:anim calcmode="lin" valueType="num">
                                      <p:cBhvr additive="base">
                                        <p:cTn id="45" dur="700" fill="hold"/>
                                        <p:tgtEl>
                                          <p:spTgt spid="14"/>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91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91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700"/>
                                        <p:tgtEl>
                                          <p:spTgt spid="16"/>
                                        </p:tgtEl>
                                      </p:cBhvr>
                                    </p:animEffect>
                                    <p:anim calcmode="lin" valueType="num">
                                      <p:cBhvr additive="base">
                                        <p:cTn id="53" dur="700" fill="hold"/>
                                        <p:tgtEl>
                                          <p:spTgt spid="16"/>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91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91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additive="base">
                                        <p:cTn id="61" dur="700" fill="hold"/>
                                        <p:tgtEl>
                                          <p:spTgt spid="18"/>
                                        </p:tgtEl>
                                        <p:attrNameLst>
                                          <p:attrName>ppt_y</p:attrName>
                                        </p:attrNameLst>
                                      </p:cBhvr>
                                      <p:tavLst>
                                        <p:tav tm="0">
                                          <p:val>
                                            <p:strVal val="#ppt_y+0.03"/>
                                          </p:val>
                                        </p:tav>
                                        <p:tav tm="100000">
                                          <p:val>
                                            <p:strVal val="#ppt_y"/>
                                          </p:val>
                                        </p:tav>
                                      </p:tavLst>
                                    </p:anim>
                                  </p:childTnLst>
                                </p:cTn>
                              </p:par>
                              <p:par>
                                <p:cTn id="62" presetID="42" presetClass="entr" presetSubtype="0" decel="100000" fill="hold" grpId="0" nodeType="withEffect">
                                  <p:stCondLst>
                                    <p:cond delay="113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700"/>
                                        <p:tgtEl>
                                          <p:spTgt spid="19"/>
                                        </p:tgtEl>
                                      </p:cBhvr>
                                    </p:animEffect>
                                    <p:anim calcmode="lin" valueType="num">
                                      <p:cBhvr additive="base">
                                        <p:cTn id="65" dur="700" fill="hold"/>
                                        <p:tgtEl>
                                          <p:spTgt spid="19"/>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13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700"/>
                                        <p:tgtEl>
                                          <p:spTgt spid="20"/>
                                        </p:tgtEl>
                                      </p:cBhvr>
                                    </p:animEffect>
                                    <p:anim calcmode="lin" valueType="num">
                                      <p:cBhvr additive="base">
                                        <p:cTn id="69" dur="700" fill="hold"/>
                                        <p:tgtEl>
                                          <p:spTgt spid="20"/>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13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700"/>
                                        <p:tgtEl>
                                          <p:spTgt spid="21"/>
                                        </p:tgtEl>
                                      </p:cBhvr>
                                    </p:animEffect>
                                    <p:anim calcmode="lin" valueType="num">
                                      <p:cBhvr additive="base">
                                        <p:cTn id="73" dur="700" fill="hold"/>
                                        <p:tgtEl>
                                          <p:spTgt spid="21"/>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13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700"/>
                                        <p:tgtEl>
                                          <p:spTgt spid="22"/>
                                        </p:tgtEl>
                                      </p:cBhvr>
                                    </p:animEffect>
                                    <p:anim calcmode="lin" valueType="num">
                                      <p:cBhvr additive="base">
                                        <p:cTn id="77" dur="700" fill="hold"/>
                                        <p:tgtEl>
                                          <p:spTgt spid="22"/>
                                        </p:tgtEl>
                                        <p:attrNameLst>
                                          <p:attrName>ppt_y</p:attrName>
                                        </p:attrNameLst>
                                      </p:cBhvr>
                                      <p:tavLst>
                                        <p:tav tm="0">
                                          <p:val>
                                            <p:strVal val="#ppt_y+0.03"/>
                                          </p:val>
                                        </p:tav>
                                        <p:tav tm="100000">
                                          <p:val>
                                            <p:strVal val="#ppt_y"/>
                                          </p:val>
                                        </p:tav>
                                      </p:tavLst>
                                    </p:anim>
                                  </p:childTnLst>
                                </p:cTn>
                              </p:par>
                              <p:par>
                                <p:cTn id="78" presetID="42" presetClass="entr" presetSubtype="0" decel="100000" fill="hold" grpId="0" nodeType="withEffect">
                                  <p:stCondLst>
                                    <p:cond delay="113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700"/>
                                        <p:tgtEl>
                                          <p:spTgt spid="23"/>
                                        </p:tgtEl>
                                      </p:cBhvr>
                                    </p:animEffect>
                                    <p:anim calcmode="lin" valueType="num">
                                      <p:cBhvr additive="base">
                                        <p:cTn id="81" dur="700" fill="hold"/>
                                        <p:tgtEl>
                                          <p:spTgt spid="2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p:bldP spid="12" grpId="0" animBg="1"/>
      <p:bldP spid="13" grpId="0" animBg="1"/>
      <p:bldP spid="14" grpId="0" animBg="1"/>
      <p:bldP spid="15" grpId="0" animBg="1"/>
      <p:bldP spid="16" grpId="0"/>
      <p:bldP spid="17" grpId="0" animBg="1"/>
      <p:bldP spid="18" grpId="0" animBg="1"/>
      <p:bldP spid="19" grpId="0" animBg="1"/>
      <p:bldP spid="20" grpId="0" animBg="1"/>
      <p:bldP spid="21" grpId="0"/>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low1" descr="image.png"/>
          <p:cNvPicPr>
            <a:picLocks noChangeAspect="1"/>
          </p:cNvPicPr>
          <p:nvPr/>
        </p:nvPicPr>
        <p:blipFill>
          <a:blip r:embed="rId3"/>
          <a:stretch>
            <a:fillRect/>
          </a:stretch>
        </p:blipFill>
        <p:spPr>
          <a:xfrm>
            <a:off x="-2377440" y="-2011680"/>
            <a:ext cx="5943600" cy="5943600"/>
          </a:xfrm>
          <a:prstGeom prst="rect">
            <a:avLst/>
          </a:prstGeom>
        </p:spPr>
      </p:pic>
      <p:pic>
        <p:nvPicPr>
          <p:cNvPr id="3" name="!!glow2" descr="image.png"/>
          <p:cNvPicPr>
            <a:picLocks noChangeAspect="1"/>
          </p:cNvPicPr>
          <p:nvPr/>
        </p:nvPicPr>
        <p:blipFill>
          <a:blip r:embed="rId4"/>
          <a:stretch>
            <a:fillRect/>
          </a:stretch>
        </p:blipFill>
        <p:spPr>
          <a:xfrm>
            <a:off x="8138160" y="3108960"/>
            <a:ext cx="5943600" cy="5943600"/>
          </a:xfrm>
          <a:prstGeom prst="rect">
            <a:avLst/>
          </a:prstGeom>
        </p:spPr>
      </p:pic>
      <p:sp>
        <p:nvSpPr>
          <p:cNvPr id="4" name="TextBox 3"/>
          <p:cNvSpPr txBox="1"/>
          <p:nvPr/>
        </p:nvSpPr>
        <p:spPr>
          <a:xfrm>
            <a:off x="548640" y="384048"/>
            <a:ext cx="11000000" cy="330000"/>
          </a:xfrm>
          <a:prstGeom prst="rect">
            <a:avLst/>
          </a:prstGeom>
          <a:noFill/>
        </p:spPr>
        <p:txBody>
          <a:bodyPr wrap="square">
            <a:spAutoFit/>
          </a:bodyPr>
          <a:lstStyle/>
          <a:p>
            <a:pPr algn="l"/>
            <a:r>
              <a:rPr sz="1300" b="1" i="0">
                <a:solidFill>
                  <a:srgbClr val="3F6E9E"/>
                </a:solidFill>
                <a:latin typeface="Segoe UI"/>
              </a:rPr>
              <a:t>A F T E R   B A H R A I N   S P A C E   A G E N C Y   F E E D B A C K</a:t>
            </a:r>
          </a:p>
        </p:txBody>
      </p:sp>
      <p:sp>
        <p:nvSpPr>
          <p:cNvPr id="5" name="TextBox 4"/>
          <p:cNvSpPr txBox="1"/>
          <p:nvPr/>
        </p:nvSpPr>
        <p:spPr>
          <a:xfrm>
            <a:off x="548640" y="713232"/>
            <a:ext cx="11000000" cy="800000"/>
          </a:xfrm>
          <a:prstGeom prst="rect">
            <a:avLst/>
          </a:prstGeom>
          <a:noFill/>
        </p:spPr>
        <p:txBody>
          <a:bodyPr wrap="square">
            <a:spAutoFit/>
          </a:bodyPr>
          <a:lstStyle/>
          <a:p>
            <a:pPr algn="l"/>
            <a:r>
              <a:rPr sz="3800" b="0" i="0">
                <a:solidFill>
                  <a:srgbClr val="1B2B40"/>
                </a:solidFill>
                <a:latin typeface="Segoe UI Semibold"/>
              </a:rPr>
              <a:t>Every flag becomes a case</a:t>
            </a:r>
          </a:p>
        </p:txBody>
      </p:sp>
      <p:sp>
        <p:nvSpPr>
          <p:cNvPr id="6" name="Rounded Rectangle 5"/>
          <p:cNvSpPr/>
          <p:nvPr/>
        </p:nvSpPr>
        <p:spPr>
          <a:xfrm>
            <a:off x="548640" y="1650000"/>
            <a:ext cx="1500000" cy="330000"/>
          </a:xfrm>
          <a:prstGeom prst="roundRect">
            <a:avLst>
              <a:gd name="adj" fmla="val 50000"/>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4 · Urgent</a:t>
            </a:r>
          </a:p>
        </p:txBody>
      </p:sp>
      <p:sp>
        <p:nvSpPr>
          <p:cNvPr id="7" name="Rounded Rectangle 6"/>
          <p:cNvSpPr/>
          <p:nvPr/>
        </p:nvSpPr>
        <p:spPr>
          <a:xfrm>
            <a:off x="2150000" y="1650000"/>
            <a:ext cx="1500000" cy="330000"/>
          </a:xfrm>
          <a:prstGeom prst="roundRect">
            <a:avLst>
              <a:gd name="adj" fmla="val 50000"/>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4 · Monitor</a:t>
            </a:r>
          </a:p>
        </p:txBody>
      </p:sp>
      <p:sp>
        <p:nvSpPr>
          <p:cNvPr id="8" name="Rounded Rectangle 7"/>
          <p:cNvSpPr/>
          <p:nvPr/>
        </p:nvSpPr>
        <p:spPr>
          <a:xfrm>
            <a:off x="3750000" y="1650000"/>
            <a:ext cx="1500000" cy="330000"/>
          </a:xfrm>
          <a:prstGeom prst="roundRect">
            <a:avLst>
              <a:gd name="adj" fmla="val 50000"/>
            </a:avLst>
          </a:prstGeom>
          <a:solidFill>
            <a:srgbClr val="2E9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Segoe UI"/>
              </a:rPr>
              <a:t>1 · Closed</a:t>
            </a:r>
          </a:p>
        </p:txBody>
      </p:sp>
      <p:sp>
        <p:nvSpPr>
          <p:cNvPr id="9" name="TextBox 8"/>
          <p:cNvSpPr txBox="1"/>
          <p:nvPr/>
        </p:nvSpPr>
        <p:spPr>
          <a:xfrm>
            <a:off x="5400000" y="1660000"/>
            <a:ext cx="6300000" cy="330000"/>
          </a:xfrm>
          <a:prstGeom prst="rect">
            <a:avLst/>
          </a:prstGeom>
          <a:noFill/>
        </p:spPr>
        <p:txBody>
          <a:bodyPr wrap="square">
            <a:spAutoFit/>
          </a:bodyPr>
          <a:lstStyle/>
          <a:p>
            <a:pPr algn="l"/>
            <a:r>
              <a:rPr sz="1300" b="0" i="0">
                <a:solidFill>
                  <a:srgbClr val="5A6B80"/>
                </a:solidFill>
                <a:latin typeface="Segoe UI"/>
              </a:rPr>
              <a:t>date · likely cause · confidence · inspector action · open until a person closes it</a:t>
            </a:r>
          </a:p>
        </p:txBody>
      </p:sp>
      <p:sp>
        <p:nvSpPr>
          <p:cNvPr id="11" name="TextBox 10"/>
          <p:cNvSpPr txBox="1"/>
          <p:nvPr/>
        </p:nvSpPr>
        <p:spPr>
          <a:xfrm>
            <a:off x="548640" y="6130793"/>
            <a:ext cx="11000000" cy="330000"/>
          </a:xfrm>
          <a:prstGeom prst="rect">
            <a:avLst/>
          </a:prstGeom>
          <a:noFill/>
        </p:spPr>
        <p:txBody>
          <a:bodyPr wrap="square">
            <a:spAutoFit/>
          </a:bodyPr>
          <a:lstStyle/>
          <a:p>
            <a:pPr algn="l"/>
            <a:r>
              <a:rPr sz="1100" b="0" i="0">
                <a:solidFill>
                  <a:srgbClr val="5A6B80"/>
                </a:solidFill>
                <a:latin typeface="Segoe UI"/>
              </a:rPr>
              <a:t>Live on the website (Risks section) and as a data feed: api/v1/risks.json</a:t>
            </a:r>
          </a:p>
        </p:txBody>
      </p:sp>
      <p:pic>
        <p:nvPicPr>
          <p:cNvPr id="12" name="Picture 11" descr="risk_register_mix.png"/>
          <p:cNvPicPr>
            <a:picLocks noChangeAspect="1"/>
          </p:cNvPicPr>
          <p:nvPr/>
        </p:nvPicPr>
        <p:blipFill>
          <a:blip r:embed="rId6"/>
          <a:stretch>
            <a:fillRect/>
          </a:stretch>
        </p:blipFill>
        <p:spPr>
          <a:xfrm>
            <a:off x="548640" y="2150000"/>
            <a:ext cx="11094720" cy="39007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412480" y="-228600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1371600" y="3474720"/>
            <a:ext cx="5029200" cy="50292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TECHNICAL INNOVATION 1</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The tide looks like tree loss — until you correct for it</a:t>
            </a:r>
            <a:endParaRPr lang="en-US" sz="3400" dirty="0"/>
          </a:p>
        </p:txBody>
      </p:sp>
      <p:sp>
        <p:nvSpPr>
          <p:cNvPr id="7" name="a1float_ill"/>
          <p:cNvSpPr/>
          <p:nvPr/>
        </p:nvSpPr>
        <p:spPr>
          <a:xfrm>
            <a:off x="548640" y="1691640"/>
            <a:ext cx="5486400"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illl"/>
          <p:cNvSpPr txBox="1"/>
          <p:nvPr/>
        </p:nvSpPr>
        <p:spPr>
          <a:xfrm>
            <a:off x="777240" y="1847088"/>
            <a:ext cx="50292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WHY SIMPLE MONITORS STRUGGLE ON TIDAL FLATS</a:t>
            </a:r>
            <a:endParaRPr lang="en-US" sz="1100" dirty="0"/>
          </a:p>
        </p:txBody>
      </p:sp>
      <p:sp>
        <p:nvSpPr>
          <p:cNvPr id="9" name="a2fade_pn0"/>
          <p:cNvSpPr/>
          <p:nvPr/>
        </p:nvSpPr>
        <p:spPr>
          <a:xfrm>
            <a:off x="777240" y="2194560"/>
            <a:ext cx="2423160" cy="2148840"/>
          </a:xfrm>
          <a:prstGeom prst="roundRect">
            <a:avLst>
              <a:gd name="adj" fmla="val 4255"/>
            </a:avLst>
          </a:prstGeom>
          <a:solidFill>
            <a:srgbClr val="F3F7FB"/>
          </a:solidFill>
          <a:ln w="9525">
            <a:solidFill>
              <a:srgbClr val="D3E0EE"/>
            </a:solidFill>
            <a:prstDash val="solid"/>
          </a:ln>
        </p:spPr>
        <p:txBody>
          <a:bodyPr/>
          <a:lstStyle/>
          <a:p>
            <a:endParaRPr lang="en-GB"/>
          </a:p>
        </p:txBody>
      </p:sp>
      <p:sp>
        <p:nvSpPr>
          <p:cNvPr id="10" name="a2fade_pt0"/>
          <p:cNvSpPr txBox="1"/>
          <p:nvPr/>
        </p:nvSpPr>
        <p:spPr>
          <a:xfrm>
            <a:off x="914400" y="2267712"/>
            <a:ext cx="1828800" cy="27432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Low tide</a:t>
            </a:r>
            <a:endParaRPr lang="en-US" sz="1400" dirty="0"/>
          </a:p>
        </p:txBody>
      </p:sp>
      <p:sp>
        <p:nvSpPr>
          <p:cNvPr id="11" name="a2fade_tr0_0"/>
          <p:cNvSpPr/>
          <p:nvPr/>
        </p:nvSpPr>
        <p:spPr>
          <a:xfrm>
            <a:off x="1051560" y="3246120"/>
            <a:ext cx="36576" cy="1005840"/>
          </a:xfrm>
          <a:prstGeom prst="rect">
            <a:avLst/>
          </a:prstGeom>
          <a:solidFill>
            <a:srgbClr val="6B5B4B"/>
          </a:solidFill>
          <a:ln/>
        </p:spPr>
        <p:txBody>
          <a:bodyPr/>
          <a:lstStyle/>
          <a:p>
            <a:endParaRPr lang="en-GB"/>
          </a:p>
        </p:txBody>
      </p:sp>
      <p:sp>
        <p:nvSpPr>
          <p:cNvPr id="12" name="a2fade_tc0_0"/>
          <p:cNvSpPr/>
          <p:nvPr/>
        </p:nvSpPr>
        <p:spPr>
          <a:xfrm>
            <a:off x="896112" y="2926080"/>
            <a:ext cx="347472" cy="347472"/>
          </a:xfrm>
          <a:prstGeom prst="ellipse">
            <a:avLst/>
          </a:prstGeom>
          <a:solidFill>
            <a:srgbClr val="5E977A"/>
          </a:solidFill>
          <a:ln/>
        </p:spPr>
        <p:txBody>
          <a:bodyPr/>
          <a:lstStyle/>
          <a:p>
            <a:endParaRPr lang="en-GB"/>
          </a:p>
        </p:txBody>
      </p:sp>
      <p:sp>
        <p:nvSpPr>
          <p:cNvPr id="13" name="a2fade_tr0_1"/>
          <p:cNvSpPr/>
          <p:nvPr/>
        </p:nvSpPr>
        <p:spPr>
          <a:xfrm>
            <a:off x="1481328" y="3246120"/>
            <a:ext cx="36576" cy="1005840"/>
          </a:xfrm>
          <a:prstGeom prst="rect">
            <a:avLst/>
          </a:prstGeom>
          <a:solidFill>
            <a:srgbClr val="6B5B4B"/>
          </a:solidFill>
          <a:ln/>
        </p:spPr>
        <p:txBody>
          <a:bodyPr/>
          <a:lstStyle/>
          <a:p>
            <a:endParaRPr lang="en-GB"/>
          </a:p>
        </p:txBody>
      </p:sp>
      <p:sp>
        <p:nvSpPr>
          <p:cNvPr id="14" name="a2fade_tc0_1"/>
          <p:cNvSpPr/>
          <p:nvPr/>
        </p:nvSpPr>
        <p:spPr>
          <a:xfrm>
            <a:off x="1325880" y="2926080"/>
            <a:ext cx="347472" cy="347472"/>
          </a:xfrm>
          <a:prstGeom prst="ellipse">
            <a:avLst/>
          </a:prstGeom>
          <a:solidFill>
            <a:srgbClr val="5E977A"/>
          </a:solidFill>
          <a:ln/>
        </p:spPr>
        <p:txBody>
          <a:bodyPr/>
          <a:lstStyle/>
          <a:p>
            <a:endParaRPr lang="en-GB"/>
          </a:p>
        </p:txBody>
      </p:sp>
      <p:sp>
        <p:nvSpPr>
          <p:cNvPr id="15" name="a2fade_tr0_2"/>
          <p:cNvSpPr/>
          <p:nvPr/>
        </p:nvSpPr>
        <p:spPr>
          <a:xfrm>
            <a:off x="1911096" y="3246120"/>
            <a:ext cx="36576" cy="1005840"/>
          </a:xfrm>
          <a:prstGeom prst="rect">
            <a:avLst/>
          </a:prstGeom>
          <a:solidFill>
            <a:srgbClr val="6B5B4B"/>
          </a:solidFill>
          <a:ln/>
        </p:spPr>
        <p:txBody>
          <a:bodyPr/>
          <a:lstStyle/>
          <a:p>
            <a:endParaRPr lang="en-GB"/>
          </a:p>
        </p:txBody>
      </p:sp>
      <p:sp>
        <p:nvSpPr>
          <p:cNvPr id="16" name="a2fade_tc0_2"/>
          <p:cNvSpPr/>
          <p:nvPr/>
        </p:nvSpPr>
        <p:spPr>
          <a:xfrm>
            <a:off x="1755648" y="2926080"/>
            <a:ext cx="347472" cy="347472"/>
          </a:xfrm>
          <a:prstGeom prst="ellipse">
            <a:avLst/>
          </a:prstGeom>
          <a:solidFill>
            <a:srgbClr val="5E977A"/>
          </a:solidFill>
          <a:ln/>
        </p:spPr>
        <p:txBody>
          <a:bodyPr/>
          <a:lstStyle/>
          <a:p>
            <a:endParaRPr lang="en-GB"/>
          </a:p>
        </p:txBody>
      </p:sp>
      <p:sp>
        <p:nvSpPr>
          <p:cNvPr id="17" name="a2fade_tr0_3"/>
          <p:cNvSpPr/>
          <p:nvPr/>
        </p:nvSpPr>
        <p:spPr>
          <a:xfrm>
            <a:off x="2340864" y="3246120"/>
            <a:ext cx="36576" cy="1005840"/>
          </a:xfrm>
          <a:prstGeom prst="rect">
            <a:avLst/>
          </a:prstGeom>
          <a:solidFill>
            <a:srgbClr val="6B5B4B"/>
          </a:solidFill>
          <a:ln/>
        </p:spPr>
        <p:txBody>
          <a:bodyPr/>
          <a:lstStyle/>
          <a:p>
            <a:endParaRPr lang="en-GB"/>
          </a:p>
        </p:txBody>
      </p:sp>
      <p:sp>
        <p:nvSpPr>
          <p:cNvPr id="18" name="a2fade_tc0_3"/>
          <p:cNvSpPr/>
          <p:nvPr/>
        </p:nvSpPr>
        <p:spPr>
          <a:xfrm>
            <a:off x="2185416" y="2926080"/>
            <a:ext cx="347472" cy="347472"/>
          </a:xfrm>
          <a:prstGeom prst="ellipse">
            <a:avLst/>
          </a:prstGeom>
          <a:solidFill>
            <a:srgbClr val="5E977A"/>
          </a:solidFill>
          <a:ln/>
        </p:spPr>
        <p:txBody>
          <a:bodyPr/>
          <a:lstStyle/>
          <a:p>
            <a:endParaRPr lang="en-GB"/>
          </a:p>
        </p:txBody>
      </p:sp>
      <p:sp>
        <p:nvSpPr>
          <p:cNvPr id="19" name="a2fade_tr0_4"/>
          <p:cNvSpPr/>
          <p:nvPr/>
        </p:nvSpPr>
        <p:spPr>
          <a:xfrm>
            <a:off x="2770632" y="3246120"/>
            <a:ext cx="36576" cy="1005840"/>
          </a:xfrm>
          <a:prstGeom prst="rect">
            <a:avLst/>
          </a:prstGeom>
          <a:solidFill>
            <a:srgbClr val="6B5B4B"/>
          </a:solidFill>
          <a:ln/>
        </p:spPr>
        <p:txBody>
          <a:bodyPr/>
          <a:lstStyle/>
          <a:p>
            <a:endParaRPr lang="en-GB"/>
          </a:p>
        </p:txBody>
      </p:sp>
      <p:sp>
        <p:nvSpPr>
          <p:cNvPr id="20" name="a2fade_tc0_4"/>
          <p:cNvSpPr/>
          <p:nvPr/>
        </p:nvSpPr>
        <p:spPr>
          <a:xfrm>
            <a:off x="2615184" y="2926080"/>
            <a:ext cx="347472" cy="347472"/>
          </a:xfrm>
          <a:prstGeom prst="ellipse">
            <a:avLst/>
          </a:prstGeom>
          <a:solidFill>
            <a:srgbClr val="5E977A"/>
          </a:solidFill>
          <a:ln/>
        </p:spPr>
        <p:txBody>
          <a:bodyPr/>
          <a:lstStyle/>
          <a:p>
            <a:endParaRPr lang="en-GB"/>
          </a:p>
        </p:txBody>
      </p:sp>
      <p:sp>
        <p:nvSpPr>
          <p:cNvPr id="21" name="a3rise_w0"/>
          <p:cNvSpPr/>
          <p:nvPr/>
        </p:nvSpPr>
        <p:spPr>
          <a:xfrm>
            <a:off x="795528" y="4069080"/>
            <a:ext cx="2386584" cy="256032"/>
          </a:xfrm>
          <a:prstGeom prst="rect">
            <a:avLst/>
          </a:prstGeom>
          <a:solidFill>
            <a:srgbClr val="5C8DB8">
              <a:alpha val="55000"/>
            </a:srgbClr>
          </a:solidFill>
          <a:ln/>
        </p:spPr>
        <p:txBody>
          <a:bodyPr/>
          <a:lstStyle/>
          <a:p>
            <a:endParaRPr lang="en-GB"/>
          </a:p>
        </p:txBody>
      </p:sp>
      <p:sp>
        <p:nvSpPr>
          <p:cNvPr id="22" name="a4fade_nv0"/>
          <p:cNvSpPr txBox="1"/>
          <p:nvPr/>
        </p:nvSpPr>
        <p:spPr>
          <a:xfrm>
            <a:off x="777240" y="4407408"/>
            <a:ext cx="2423160" cy="320040"/>
          </a:xfrm>
          <a:prstGeom prst="rect">
            <a:avLst/>
          </a:prstGeom>
          <a:noFill/>
          <a:ln/>
        </p:spPr>
        <p:txBody>
          <a:bodyPr wrap="square" lIns="0" tIns="0" rIns="0" bIns="0" rtlCol="0" anchor="t"/>
          <a:lstStyle/>
          <a:p>
            <a:pPr marL="0" indent="0" algn="ctr">
              <a:lnSpc>
                <a:spcPct val="105000"/>
              </a:lnSpc>
              <a:buNone/>
            </a:pPr>
            <a:r>
              <a:rPr lang="en-US" sz="1500" dirty="0">
                <a:solidFill>
                  <a:srgbClr val="5F738A"/>
                </a:solidFill>
                <a:latin typeface="Segoe UI" pitchFamily="34" charset="0"/>
                <a:ea typeface="Segoe UI" pitchFamily="34" charset="-122"/>
                <a:cs typeface="Segoe UI" pitchFamily="34" charset="-120"/>
              </a:rPr>
              <a:t>NDVI </a:t>
            </a:r>
            <a:r>
              <a:rPr lang="en-US" sz="1500" b="1" dirty="0">
                <a:solidFill>
                  <a:srgbClr val="2F5D8F"/>
                </a:solidFill>
                <a:latin typeface="Segoe UI" pitchFamily="34" charset="0"/>
                <a:ea typeface="Segoe UI" pitchFamily="34" charset="-122"/>
                <a:cs typeface="Segoe UI" pitchFamily="34" charset="-120"/>
              </a:rPr>
              <a:t>0.30</a:t>
            </a:r>
            <a:endParaRPr lang="en-US" sz="1500" dirty="0"/>
          </a:p>
        </p:txBody>
      </p:sp>
      <p:sp>
        <p:nvSpPr>
          <p:cNvPr id="23" name="a2fade_pn1"/>
          <p:cNvSpPr/>
          <p:nvPr/>
        </p:nvSpPr>
        <p:spPr>
          <a:xfrm>
            <a:off x="3383280" y="2194560"/>
            <a:ext cx="2423160" cy="2148840"/>
          </a:xfrm>
          <a:prstGeom prst="roundRect">
            <a:avLst>
              <a:gd name="adj" fmla="val 4255"/>
            </a:avLst>
          </a:prstGeom>
          <a:solidFill>
            <a:srgbClr val="F3F7FB"/>
          </a:solidFill>
          <a:ln w="9525">
            <a:solidFill>
              <a:srgbClr val="D3E0EE"/>
            </a:solidFill>
            <a:prstDash val="solid"/>
          </a:ln>
        </p:spPr>
        <p:txBody>
          <a:bodyPr/>
          <a:lstStyle/>
          <a:p>
            <a:endParaRPr lang="en-GB"/>
          </a:p>
        </p:txBody>
      </p:sp>
      <p:sp>
        <p:nvSpPr>
          <p:cNvPr id="24" name="a2fade_pt1"/>
          <p:cNvSpPr txBox="1"/>
          <p:nvPr/>
        </p:nvSpPr>
        <p:spPr>
          <a:xfrm>
            <a:off x="3520440" y="2267712"/>
            <a:ext cx="1828800" cy="274320"/>
          </a:xfrm>
          <a:prstGeom prst="rect">
            <a:avLst/>
          </a:prstGeom>
          <a:noFill/>
          <a:ln/>
        </p:spPr>
        <p:txBody>
          <a:bodyPr wrap="square" lIns="0" tIns="0" rIns="0" bIns="0" rtlCol="0" anchor="t"/>
          <a:lstStyle/>
          <a:p>
            <a:pPr marL="0" indent="0" algn="l">
              <a:lnSpc>
                <a:spcPct val="105000"/>
              </a:lnSpc>
              <a:buNone/>
            </a:pPr>
            <a:r>
              <a:rPr lang="en-US" sz="1400" dirty="0">
                <a:solidFill>
                  <a:srgbClr val="1B2B40"/>
                </a:solidFill>
                <a:latin typeface="Segoe UI Semibold" pitchFamily="34" charset="0"/>
                <a:ea typeface="Segoe UI Semibold" pitchFamily="34" charset="-122"/>
                <a:cs typeface="Segoe UI Semibold" pitchFamily="34" charset="-120"/>
              </a:rPr>
              <a:t>High tide</a:t>
            </a:r>
            <a:endParaRPr lang="en-US" sz="1400" dirty="0"/>
          </a:p>
        </p:txBody>
      </p:sp>
      <p:sp>
        <p:nvSpPr>
          <p:cNvPr id="25" name="a2fade_tr1_0"/>
          <p:cNvSpPr/>
          <p:nvPr/>
        </p:nvSpPr>
        <p:spPr>
          <a:xfrm>
            <a:off x="3657600" y="3246120"/>
            <a:ext cx="36576" cy="1005840"/>
          </a:xfrm>
          <a:prstGeom prst="rect">
            <a:avLst/>
          </a:prstGeom>
          <a:solidFill>
            <a:srgbClr val="6B5B4B"/>
          </a:solidFill>
          <a:ln/>
        </p:spPr>
        <p:txBody>
          <a:bodyPr/>
          <a:lstStyle/>
          <a:p>
            <a:endParaRPr lang="en-GB"/>
          </a:p>
        </p:txBody>
      </p:sp>
      <p:sp>
        <p:nvSpPr>
          <p:cNvPr id="26" name="a2fade_tc1_0"/>
          <p:cNvSpPr/>
          <p:nvPr/>
        </p:nvSpPr>
        <p:spPr>
          <a:xfrm>
            <a:off x="3502152" y="2926080"/>
            <a:ext cx="347472" cy="347472"/>
          </a:xfrm>
          <a:prstGeom prst="ellipse">
            <a:avLst/>
          </a:prstGeom>
          <a:solidFill>
            <a:srgbClr val="5E977A"/>
          </a:solidFill>
          <a:ln/>
        </p:spPr>
        <p:txBody>
          <a:bodyPr/>
          <a:lstStyle/>
          <a:p>
            <a:endParaRPr lang="en-GB"/>
          </a:p>
        </p:txBody>
      </p:sp>
      <p:sp>
        <p:nvSpPr>
          <p:cNvPr id="27" name="a2fade_tr1_1"/>
          <p:cNvSpPr/>
          <p:nvPr/>
        </p:nvSpPr>
        <p:spPr>
          <a:xfrm>
            <a:off x="4087368" y="3246120"/>
            <a:ext cx="36576" cy="1005840"/>
          </a:xfrm>
          <a:prstGeom prst="rect">
            <a:avLst/>
          </a:prstGeom>
          <a:solidFill>
            <a:srgbClr val="6B5B4B"/>
          </a:solidFill>
          <a:ln/>
        </p:spPr>
        <p:txBody>
          <a:bodyPr/>
          <a:lstStyle/>
          <a:p>
            <a:endParaRPr lang="en-GB"/>
          </a:p>
        </p:txBody>
      </p:sp>
      <p:sp>
        <p:nvSpPr>
          <p:cNvPr id="28" name="a2fade_tc1_1"/>
          <p:cNvSpPr/>
          <p:nvPr/>
        </p:nvSpPr>
        <p:spPr>
          <a:xfrm>
            <a:off x="3931920" y="2926080"/>
            <a:ext cx="347472" cy="347472"/>
          </a:xfrm>
          <a:prstGeom prst="ellipse">
            <a:avLst/>
          </a:prstGeom>
          <a:solidFill>
            <a:srgbClr val="5E977A"/>
          </a:solidFill>
          <a:ln/>
        </p:spPr>
        <p:txBody>
          <a:bodyPr/>
          <a:lstStyle/>
          <a:p>
            <a:endParaRPr lang="en-GB"/>
          </a:p>
        </p:txBody>
      </p:sp>
      <p:sp>
        <p:nvSpPr>
          <p:cNvPr id="29" name="a2fade_tr1_2"/>
          <p:cNvSpPr/>
          <p:nvPr/>
        </p:nvSpPr>
        <p:spPr>
          <a:xfrm>
            <a:off x="4517136" y="3246120"/>
            <a:ext cx="36576" cy="1005840"/>
          </a:xfrm>
          <a:prstGeom prst="rect">
            <a:avLst/>
          </a:prstGeom>
          <a:solidFill>
            <a:srgbClr val="6B5B4B"/>
          </a:solidFill>
          <a:ln/>
        </p:spPr>
        <p:txBody>
          <a:bodyPr/>
          <a:lstStyle/>
          <a:p>
            <a:endParaRPr lang="en-GB"/>
          </a:p>
        </p:txBody>
      </p:sp>
      <p:sp>
        <p:nvSpPr>
          <p:cNvPr id="30" name="a2fade_tc1_2"/>
          <p:cNvSpPr/>
          <p:nvPr/>
        </p:nvSpPr>
        <p:spPr>
          <a:xfrm>
            <a:off x="4361688" y="2926080"/>
            <a:ext cx="347472" cy="347472"/>
          </a:xfrm>
          <a:prstGeom prst="ellipse">
            <a:avLst/>
          </a:prstGeom>
          <a:solidFill>
            <a:srgbClr val="5E977A"/>
          </a:solidFill>
          <a:ln/>
        </p:spPr>
        <p:txBody>
          <a:bodyPr/>
          <a:lstStyle/>
          <a:p>
            <a:endParaRPr lang="en-GB"/>
          </a:p>
        </p:txBody>
      </p:sp>
      <p:sp>
        <p:nvSpPr>
          <p:cNvPr id="31" name="a2fade_tr1_3"/>
          <p:cNvSpPr/>
          <p:nvPr/>
        </p:nvSpPr>
        <p:spPr>
          <a:xfrm>
            <a:off x="4946904" y="3246120"/>
            <a:ext cx="36576" cy="1005840"/>
          </a:xfrm>
          <a:prstGeom prst="rect">
            <a:avLst/>
          </a:prstGeom>
          <a:solidFill>
            <a:srgbClr val="6B5B4B"/>
          </a:solidFill>
          <a:ln/>
        </p:spPr>
        <p:txBody>
          <a:bodyPr/>
          <a:lstStyle/>
          <a:p>
            <a:endParaRPr lang="en-GB"/>
          </a:p>
        </p:txBody>
      </p:sp>
      <p:sp>
        <p:nvSpPr>
          <p:cNvPr id="32" name="a2fade_tc1_3"/>
          <p:cNvSpPr/>
          <p:nvPr/>
        </p:nvSpPr>
        <p:spPr>
          <a:xfrm>
            <a:off x="4791456" y="2926080"/>
            <a:ext cx="347472" cy="347472"/>
          </a:xfrm>
          <a:prstGeom prst="ellipse">
            <a:avLst/>
          </a:prstGeom>
          <a:solidFill>
            <a:srgbClr val="5E977A"/>
          </a:solidFill>
          <a:ln/>
        </p:spPr>
        <p:txBody>
          <a:bodyPr/>
          <a:lstStyle/>
          <a:p>
            <a:endParaRPr lang="en-GB"/>
          </a:p>
        </p:txBody>
      </p:sp>
      <p:sp>
        <p:nvSpPr>
          <p:cNvPr id="33" name="a2fade_tr1_4"/>
          <p:cNvSpPr/>
          <p:nvPr/>
        </p:nvSpPr>
        <p:spPr>
          <a:xfrm>
            <a:off x="5376672" y="3246120"/>
            <a:ext cx="36576" cy="1005840"/>
          </a:xfrm>
          <a:prstGeom prst="rect">
            <a:avLst/>
          </a:prstGeom>
          <a:solidFill>
            <a:srgbClr val="6B5B4B"/>
          </a:solidFill>
          <a:ln/>
        </p:spPr>
        <p:txBody>
          <a:bodyPr/>
          <a:lstStyle/>
          <a:p>
            <a:endParaRPr lang="en-GB"/>
          </a:p>
        </p:txBody>
      </p:sp>
      <p:sp>
        <p:nvSpPr>
          <p:cNvPr id="34" name="a2fade_tc1_4"/>
          <p:cNvSpPr/>
          <p:nvPr/>
        </p:nvSpPr>
        <p:spPr>
          <a:xfrm>
            <a:off x="5221224" y="2926080"/>
            <a:ext cx="347472" cy="347472"/>
          </a:xfrm>
          <a:prstGeom prst="ellipse">
            <a:avLst/>
          </a:prstGeom>
          <a:solidFill>
            <a:srgbClr val="5E977A"/>
          </a:solidFill>
          <a:ln/>
        </p:spPr>
        <p:txBody>
          <a:bodyPr/>
          <a:lstStyle/>
          <a:p>
            <a:endParaRPr lang="en-GB"/>
          </a:p>
        </p:txBody>
      </p:sp>
      <p:sp>
        <p:nvSpPr>
          <p:cNvPr id="35" name="a3rise_w1"/>
          <p:cNvSpPr/>
          <p:nvPr/>
        </p:nvSpPr>
        <p:spPr>
          <a:xfrm>
            <a:off x="3401568" y="3337560"/>
            <a:ext cx="2386584" cy="987552"/>
          </a:xfrm>
          <a:prstGeom prst="rect">
            <a:avLst/>
          </a:prstGeom>
          <a:solidFill>
            <a:srgbClr val="5C8DB8">
              <a:alpha val="55000"/>
            </a:srgbClr>
          </a:solidFill>
          <a:ln/>
        </p:spPr>
        <p:txBody>
          <a:bodyPr/>
          <a:lstStyle/>
          <a:p>
            <a:endParaRPr lang="en-GB"/>
          </a:p>
        </p:txBody>
      </p:sp>
      <p:sp>
        <p:nvSpPr>
          <p:cNvPr id="36" name="a4fade_nv1"/>
          <p:cNvSpPr txBox="1"/>
          <p:nvPr/>
        </p:nvSpPr>
        <p:spPr>
          <a:xfrm>
            <a:off x="3383280" y="4407408"/>
            <a:ext cx="2423160" cy="320040"/>
          </a:xfrm>
          <a:prstGeom prst="rect">
            <a:avLst/>
          </a:prstGeom>
          <a:noFill/>
          <a:ln/>
        </p:spPr>
        <p:txBody>
          <a:bodyPr wrap="square" lIns="0" tIns="0" rIns="0" bIns="0" rtlCol="0" anchor="t"/>
          <a:lstStyle/>
          <a:p>
            <a:pPr marL="0" indent="0" algn="ctr">
              <a:lnSpc>
                <a:spcPct val="105000"/>
              </a:lnSpc>
              <a:buNone/>
            </a:pPr>
            <a:r>
              <a:rPr lang="en-US" sz="1500" dirty="0">
                <a:solidFill>
                  <a:srgbClr val="5F738A"/>
                </a:solidFill>
                <a:latin typeface="Segoe UI" pitchFamily="34" charset="0"/>
                <a:ea typeface="Segoe UI" pitchFamily="34" charset="-122"/>
                <a:cs typeface="Segoe UI" pitchFamily="34" charset="-120"/>
              </a:rPr>
              <a:t>NDVI </a:t>
            </a:r>
            <a:r>
              <a:rPr lang="en-US" sz="1500" b="1" dirty="0">
                <a:solidFill>
                  <a:srgbClr val="BE5F6D"/>
                </a:solidFill>
                <a:latin typeface="Segoe UI" pitchFamily="34" charset="0"/>
                <a:ea typeface="Segoe UI" pitchFamily="34" charset="-122"/>
                <a:cs typeface="Segoe UI" pitchFamily="34" charset="-120"/>
              </a:rPr>
              <a:t>0.18</a:t>
            </a:r>
            <a:endParaRPr lang="en-US" sz="1500" dirty="0"/>
          </a:p>
        </p:txBody>
      </p:sp>
      <p:sp>
        <p:nvSpPr>
          <p:cNvPr id="37" name="a4fade_illc"/>
          <p:cNvSpPr txBox="1"/>
          <p:nvPr/>
        </p:nvSpPr>
        <p:spPr>
          <a:xfrm>
            <a:off x="777240" y="4645152"/>
            <a:ext cx="5120640" cy="256032"/>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Same trees, same season. Measured on our stands: noise vs wetness r ≈ −0.9.</a:t>
            </a:r>
            <a:endParaRPr lang="en-US" sz="1100" dirty="0"/>
          </a:p>
        </p:txBody>
      </p:sp>
      <p:sp>
        <p:nvSpPr>
          <p:cNvPr id="38" name="a1float_chc"/>
          <p:cNvSpPr/>
          <p:nvPr/>
        </p:nvSpPr>
        <p:spPr>
          <a:xfrm>
            <a:off x="6263640" y="1691640"/>
            <a:ext cx="5376672" cy="3246120"/>
          </a:xfrm>
          <a:prstGeom prst="roundRect">
            <a:avLst>
              <a:gd name="adj" fmla="val 39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graphicFrame>
        <p:nvGraphicFramePr>
          <p:cNvPr id="39" name="a3wipe_chart"/>
          <p:cNvGraphicFramePr/>
          <p:nvPr/>
        </p:nvGraphicFramePr>
        <p:xfrm>
          <a:off x="6400800" y="1828800"/>
          <a:ext cx="512064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40" name="a5float_st"/>
          <p:cNvSpPr/>
          <p:nvPr/>
        </p:nvSpPr>
        <p:spPr>
          <a:xfrm>
            <a:off x="548640" y="5120640"/>
            <a:ext cx="5486400" cy="1051560"/>
          </a:xfrm>
          <a:prstGeom prst="roundRect">
            <a:avLst>
              <a:gd name="adj" fmla="val 1217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41" name="a5float_stic_c"/>
          <p:cNvSpPr/>
          <p:nvPr/>
        </p:nvSpPr>
        <p:spPr>
          <a:xfrm>
            <a:off x="777240" y="5376672"/>
            <a:ext cx="548640" cy="548640"/>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2" name="a5float_stic_i" descr="preencoded.png"/>
          <p:cNvPicPr>
            <a:picLocks noChangeAspect="1"/>
          </p:cNvPicPr>
          <p:nvPr/>
        </p:nvPicPr>
        <p:blipFill>
          <a:blip r:embed="rId6"/>
          <a:stretch>
            <a:fillRect/>
          </a:stretch>
        </p:blipFill>
        <p:spPr>
          <a:xfrm>
            <a:off x="908914" y="5508346"/>
            <a:ext cx="285293" cy="285293"/>
          </a:xfrm>
          <a:prstGeom prst="rect">
            <a:avLst/>
          </a:prstGeom>
        </p:spPr>
      </p:pic>
      <p:sp>
        <p:nvSpPr>
          <p:cNvPr id="43" name="a5float_stn"/>
          <p:cNvSpPr txBox="1"/>
          <p:nvPr/>
        </p:nvSpPr>
        <p:spPr>
          <a:xfrm>
            <a:off x="1463040" y="5120640"/>
            <a:ext cx="2331720" cy="1051560"/>
          </a:xfrm>
          <a:prstGeom prst="rect">
            <a:avLst/>
          </a:prstGeom>
          <a:noFill/>
          <a:ln/>
        </p:spPr>
        <p:txBody>
          <a:bodyPr wrap="square" lIns="0" tIns="0" rIns="0" bIns="0" rtlCol="0" anchor="ctr"/>
          <a:lstStyle/>
          <a:p>
            <a:pPr marL="0" indent="0" algn="l">
              <a:lnSpc>
                <a:spcPct val="105000"/>
              </a:lnSpc>
              <a:buNone/>
            </a:pPr>
            <a:r>
              <a:rPr lang="en-US" sz="2800" dirty="0">
                <a:solidFill>
                  <a:srgbClr val="A9813A"/>
                </a:solidFill>
                <a:latin typeface="Segoe UI Light" pitchFamily="34" charset="0"/>
                <a:ea typeface="Segoe UI Light" pitchFamily="34" charset="-122"/>
                <a:cs typeface="Segoe UI Light" pitchFamily="34" charset="-120"/>
              </a:rPr>
              <a:t>−29 to −35 %</a:t>
            </a:r>
            <a:endParaRPr lang="en-US" sz="2800" dirty="0"/>
          </a:p>
        </p:txBody>
      </p:sp>
      <p:sp>
        <p:nvSpPr>
          <p:cNvPr id="44" name="a5float_stt"/>
          <p:cNvSpPr txBox="1"/>
          <p:nvPr/>
        </p:nvSpPr>
        <p:spPr>
          <a:xfrm>
            <a:off x="3749040" y="5120640"/>
            <a:ext cx="2194560" cy="1051560"/>
          </a:xfrm>
          <a:prstGeom prst="rect">
            <a:avLst/>
          </a:prstGeom>
          <a:noFill/>
          <a:ln/>
        </p:spPr>
        <p:txBody>
          <a:bodyPr wrap="square" lIns="0" tIns="0" rIns="0" bIns="0" rtlCol="0" anchor="ctr"/>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less noise on every index: we model trend, season and the tide before flagging anything</a:t>
            </a:r>
            <a:endParaRPr lang="en-US" sz="1200" dirty="0"/>
          </a:p>
        </p:txBody>
      </p:sp>
      <p:sp>
        <p:nvSpPr>
          <p:cNvPr id="45" name="a6float_tb"/>
          <p:cNvSpPr/>
          <p:nvPr/>
        </p:nvSpPr>
        <p:spPr>
          <a:xfrm>
            <a:off x="6263640" y="5120640"/>
            <a:ext cx="5376672" cy="1051560"/>
          </a:xfrm>
          <a:prstGeom prst="roundRect">
            <a:avLst>
              <a:gd name="adj" fmla="val 1217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46" name="a6float_tbn"/>
          <p:cNvSpPr txBox="1"/>
          <p:nvPr/>
        </p:nvSpPr>
        <p:spPr>
          <a:xfrm>
            <a:off x="6446520" y="5120640"/>
            <a:ext cx="2331720" cy="1051560"/>
          </a:xfrm>
          <a:prstGeom prst="rect">
            <a:avLst/>
          </a:prstGeom>
          <a:noFill/>
          <a:ln/>
        </p:spPr>
        <p:txBody>
          <a:bodyPr wrap="square" lIns="0" tIns="0" rIns="0" bIns="0" rtlCol="0" anchor="ctr"/>
          <a:lstStyle/>
          <a:p>
            <a:pPr marL="0" indent="0" algn="l">
              <a:lnSpc>
                <a:spcPct val="105000"/>
              </a:lnSpc>
              <a:buNone/>
            </a:pPr>
            <a:r>
              <a:rPr lang="en-US" sz="2800" dirty="0">
                <a:solidFill>
                  <a:srgbClr val="A9813A"/>
                </a:solidFill>
                <a:latin typeface="Segoe UI Light" pitchFamily="34" charset="0"/>
                <a:ea typeface="Segoe UI Light" pitchFamily="34" charset="-122"/>
                <a:cs typeface="Segoe UI Light" pitchFamily="34" charset="-120"/>
              </a:rPr>
              <a:t>1.61 → 0.96</a:t>
            </a:r>
            <a:endParaRPr lang="en-US" sz="2800" dirty="0"/>
          </a:p>
        </p:txBody>
      </p:sp>
      <p:sp>
        <p:nvSpPr>
          <p:cNvPr id="47" name="a6float_tbt"/>
          <p:cNvSpPr txBox="1"/>
          <p:nvPr/>
        </p:nvSpPr>
        <p:spPr>
          <a:xfrm>
            <a:off x="8778240" y="5120640"/>
            <a:ext cx="2743200" cy="1051560"/>
          </a:xfrm>
          <a:prstGeom prst="rect">
            <a:avLst/>
          </a:prstGeom>
          <a:noFill/>
          <a:ln/>
        </p:spPr>
        <p:txBody>
          <a:bodyPr wrap="square" lIns="0" tIns="0" rIns="0" bIns="0" rtlCol="0" anchor="ctr"/>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false alarms per stand-year: NDVI alone vs our tide-aware monitor, same alert rule, same 25 stands (40 % fewer)</a:t>
            </a:r>
            <a:endParaRPr lang="en-US" sz="1200" dirty="0"/>
          </a:p>
        </p:txBody>
      </p:sp>
      <p:sp>
        <p:nvSpPr>
          <p:cNvPr id="4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700"/>
                                        <p:tgtEl>
                                          <p:spTgt spid="38"/>
                                        </p:tgtEl>
                                      </p:cBhvr>
                                    </p:animEffect>
                                    <p:anim calcmode="lin" valueType="num">
                                      <p:cBhvr additive="base">
                                        <p:cTn id="23" dur="700" fill="hold"/>
                                        <p:tgtEl>
                                          <p:spTgt spid="38"/>
                                        </p:tgtEl>
                                        <p:attrNameLst>
                                          <p:attrName>ppt_y</p:attrName>
                                        </p:attrNameLst>
                                      </p:cBhvr>
                                      <p:tavLst>
                                        <p:tav tm="0">
                                          <p:val>
                                            <p:strVal val="#ppt_y+0.03"/>
                                          </p:val>
                                        </p:tav>
                                        <p:tav tm="100000">
                                          <p:val>
                                            <p:strVal val="#ppt_y"/>
                                          </p:val>
                                        </p:tav>
                                      </p:tavLst>
                                    </p:anim>
                                  </p:childTnLst>
                                </p:cTn>
                              </p:par>
                              <p:par>
                                <p:cTn id="24" presetID="10" presetClass="entr" presetSubtype="0" decel="100000" fill="hold" grpId="0" nodeType="withEffect">
                                  <p:stCondLst>
                                    <p:cond delay="6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par>
                                <p:cTn id="27" presetID="10" presetClass="entr" presetSubtype="0" decel="100000" fill="hold" grpId="0" nodeType="withEffect">
                                  <p:stCondLst>
                                    <p:cond delay="69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decel="100000" fill="hold" grpId="0" nodeType="withEffect">
                                  <p:stCondLst>
                                    <p:cond delay="6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decel="10000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par>
                                <p:cTn id="36" presetID="10" presetClass="entr" presetSubtype="0" decel="100000" fill="hold" grpId="0" nodeType="withEffect">
                                  <p:stCondLst>
                                    <p:cond delay="69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600"/>
                                        <p:tgtEl>
                                          <p:spTgt spid="13"/>
                                        </p:tgtEl>
                                      </p:cBhvr>
                                    </p:animEffect>
                                  </p:childTnLst>
                                </p:cTn>
                              </p:par>
                              <p:par>
                                <p:cTn id="39" presetID="10" presetClass="entr" presetSubtype="0" decel="100000" fill="hold" grpId="0" nodeType="withEffect">
                                  <p:stCondLst>
                                    <p:cond delay="69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00"/>
                                        <p:tgtEl>
                                          <p:spTgt spid="14"/>
                                        </p:tgtEl>
                                      </p:cBhvr>
                                    </p:animEffect>
                                  </p:childTnLst>
                                </p:cTn>
                              </p:par>
                              <p:par>
                                <p:cTn id="42" presetID="10" presetClass="entr" presetSubtype="0" decel="100000" fill="hold" grpId="0" nodeType="withEffect">
                                  <p:stCondLst>
                                    <p:cond delay="69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p:tgtEl>
                                          <p:spTgt spid="15"/>
                                        </p:tgtEl>
                                      </p:cBhvr>
                                    </p:animEffect>
                                  </p:childTnLst>
                                </p:cTn>
                              </p:par>
                              <p:par>
                                <p:cTn id="45" presetID="10" presetClass="entr" presetSubtype="0" decel="100000" fill="hold" grpId="0" nodeType="withEffect">
                                  <p:stCondLst>
                                    <p:cond delay="69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decel="100000" fill="hold" grpId="0" nodeType="withEffect">
                                  <p:stCondLst>
                                    <p:cond delay="69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decel="100000" fill="hold" grpId="0" nodeType="withEffect">
                                  <p:stCondLst>
                                    <p:cond delay="69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decel="100000" fill="hold" grpId="0" nodeType="withEffect">
                                  <p:stCondLst>
                                    <p:cond delay="69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par>
                                <p:cTn id="57" presetID="10" presetClass="entr" presetSubtype="0" decel="100000" fill="hold" grpId="0" nodeType="withEffect">
                                  <p:stCondLst>
                                    <p:cond delay="69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decel="100000" fill="hold" grpId="0" nodeType="withEffect">
                                  <p:stCondLst>
                                    <p:cond delay="69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600"/>
                                        <p:tgtEl>
                                          <p:spTgt spid="23"/>
                                        </p:tgtEl>
                                      </p:cBhvr>
                                    </p:animEffect>
                                  </p:childTnLst>
                                </p:cTn>
                              </p:par>
                              <p:par>
                                <p:cTn id="63" presetID="10" presetClass="entr" presetSubtype="0" decel="100000" fill="hold" grpId="0" nodeType="withEffect">
                                  <p:stCondLst>
                                    <p:cond delay="69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600"/>
                                        <p:tgtEl>
                                          <p:spTgt spid="24"/>
                                        </p:tgtEl>
                                      </p:cBhvr>
                                    </p:animEffect>
                                  </p:childTnLst>
                                </p:cTn>
                              </p:par>
                              <p:par>
                                <p:cTn id="66" presetID="10" presetClass="entr" presetSubtype="0" decel="100000" fill="hold" grpId="0" nodeType="withEffect">
                                  <p:stCondLst>
                                    <p:cond delay="69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600"/>
                                        <p:tgtEl>
                                          <p:spTgt spid="25"/>
                                        </p:tgtEl>
                                      </p:cBhvr>
                                    </p:animEffect>
                                  </p:childTnLst>
                                </p:cTn>
                              </p:par>
                              <p:par>
                                <p:cTn id="69" presetID="10" presetClass="entr" presetSubtype="0" decel="100000" fill="hold" grpId="0" nodeType="withEffect">
                                  <p:stCondLst>
                                    <p:cond delay="69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600"/>
                                        <p:tgtEl>
                                          <p:spTgt spid="26"/>
                                        </p:tgtEl>
                                      </p:cBhvr>
                                    </p:animEffect>
                                  </p:childTnLst>
                                </p:cTn>
                              </p:par>
                              <p:par>
                                <p:cTn id="72" presetID="10" presetClass="entr" presetSubtype="0" decel="100000" fill="hold" grpId="0" nodeType="withEffect">
                                  <p:stCondLst>
                                    <p:cond delay="6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600"/>
                                        <p:tgtEl>
                                          <p:spTgt spid="27"/>
                                        </p:tgtEl>
                                      </p:cBhvr>
                                    </p:animEffect>
                                  </p:childTnLst>
                                </p:cTn>
                              </p:par>
                              <p:par>
                                <p:cTn id="75" presetID="10" presetClass="entr" presetSubtype="0" decel="100000" fill="hold" grpId="0" nodeType="withEffect">
                                  <p:stCondLst>
                                    <p:cond delay="69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600"/>
                                        <p:tgtEl>
                                          <p:spTgt spid="28"/>
                                        </p:tgtEl>
                                      </p:cBhvr>
                                    </p:animEffect>
                                  </p:childTnLst>
                                </p:cTn>
                              </p:par>
                              <p:par>
                                <p:cTn id="78" presetID="10" presetClass="entr" presetSubtype="0" decel="100000" fill="hold" grpId="0" nodeType="withEffect">
                                  <p:stCondLst>
                                    <p:cond delay="69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600"/>
                                        <p:tgtEl>
                                          <p:spTgt spid="29"/>
                                        </p:tgtEl>
                                      </p:cBhvr>
                                    </p:animEffect>
                                  </p:childTnLst>
                                </p:cTn>
                              </p:par>
                              <p:par>
                                <p:cTn id="81" presetID="10" presetClass="entr" presetSubtype="0" decel="100000" fill="hold" grpId="0" nodeType="withEffect">
                                  <p:stCondLst>
                                    <p:cond delay="69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600"/>
                                        <p:tgtEl>
                                          <p:spTgt spid="30"/>
                                        </p:tgtEl>
                                      </p:cBhvr>
                                    </p:animEffect>
                                  </p:childTnLst>
                                </p:cTn>
                              </p:par>
                              <p:par>
                                <p:cTn id="84" presetID="10" presetClass="entr" presetSubtype="0" decel="100000" fill="hold" grpId="0" nodeType="withEffect">
                                  <p:stCondLst>
                                    <p:cond delay="69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600"/>
                                        <p:tgtEl>
                                          <p:spTgt spid="31"/>
                                        </p:tgtEl>
                                      </p:cBhvr>
                                    </p:animEffect>
                                  </p:childTnLst>
                                </p:cTn>
                              </p:par>
                              <p:par>
                                <p:cTn id="87" presetID="10" presetClass="entr" presetSubtype="0" decel="100000" fill="hold" grpId="0" nodeType="withEffect">
                                  <p:stCondLst>
                                    <p:cond delay="69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600"/>
                                        <p:tgtEl>
                                          <p:spTgt spid="32"/>
                                        </p:tgtEl>
                                      </p:cBhvr>
                                    </p:animEffect>
                                  </p:childTnLst>
                                </p:cTn>
                              </p:par>
                              <p:par>
                                <p:cTn id="90" presetID="10" presetClass="entr" presetSubtype="0" decel="100000" fill="hold" grpId="0" nodeType="withEffect">
                                  <p:stCondLst>
                                    <p:cond delay="69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600"/>
                                        <p:tgtEl>
                                          <p:spTgt spid="33"/>
                                        </p:tgtEl>
                                      </p:cBhvr>
                                    </p:animEffect>
                                  </p:childTnLst>
                                </p:cTn>
                              </p:par>
                              <p:par>
                                <p:cTn id="93" presetID="10" presetClass="entr" presetSubtype="0" decel="100000" fill="hold" grpId="0" nodeType="withEffect">
                                  <p:stCondLst>
                                    <p:cond delay="69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600"/>
                                        <p:tgtEl>
                                          <p:spTgt spid="34"/>
                                        </p:tgtEl>
                                      </p:cBhvr>
                                    </p:animEffect>
                                  </p:childTnLst>
                                </p:cTn>
                              </p:par>
                              <p:par>
                                <p:cTn id="96" presetID="42" presetClass="entr" presetSubtype="0" decel="100000" fill="hold" grpId="0" nodeType="withEffect">
                                  <p:stCondLst>
                                    <p:cond delay="91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700"/>
                                        <p:tgtEl>
                                          <p:spTgt spid="21"/>
                                        </p:tgtEl>
                                      </p:cBhvr>
                                    </p:animEffect>
                                    <p:anim calcmode="lin" valueType="num">
                                      <p:cBhvr additive="base">
                                        <p:cTn id="99" dur="1400" fill="hold"/>
                                        <p:tgtEl>
                                          <p:spTgt spid="21"/>
                                        </p:tgtEl>
                                        <p:attrNameLst>
                                          <p:attrName>ppt_y</p:attrName>
                                        </p:attrNameLst>
                                      </p:cBhvr>
                                      <p:tavLst>
                                        <p:tav tm="0">
                                          <p:val>
                                            <p:strVal val="#ppt_y+0.10"/>
                                          </p:val>
                                        </p:tav>
                                        <p:tav tm="100000">
                                          <p:val>
                                            <p:strVal val="#ppt_y"/>
                                          </p:val>
                                        </p:tav>
                                      </p:tavLst>
                                    </p:anim>
                                  </p:childTnLst>
                                </p:cTn>
                              </p:par>
                              <p:par>
                                <p:cTn id="100" presetID="42" presetClass="entr" presetSubtype="0" decel="100000" fill="hold" grpId="0" nodeType="withEffect">
                                  <p:stCondLst>
                                    <p:cond delay="91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700"/>
                                        <p:tgtEl>
                                          <p:spTgt spid="35"/>
                                        </p:tgtEl>
                                      </p:cBhvr>
                                    </p:animEffect>
                                    <p:anim calcmode="lin" valueType="num">
                                      <p:cBhvr additive="base">
                                        <p:cTn id="103" dur="1400" fill="hold"/>
                                        <p:tgtEl>
                                          <p:spTgt spid="35"/>
                                        </p:tgtEl>
                                        <p:attrNameLst>
                                          <p:attrName>ppt_y</p:attrName>
                                        </p:attrNameLst>
                                      </p:cBhvr>
                                      <p:tavLst>
                                        <p:tav tm="0">
                                          <p:val>
                                            <p:strVal val="#ppt_y+0.10"/>
                                          </p:val>
                                        </p:tav>
                                        <p:tav tm="100000">
                                          <p:val>
                                            <p:strVal val="#ppt_y"/>
                                          </p:val>
                                        </p:tav>
                                      </p:tavLst>
                                    </p:anim>
                                  </p:childTnLst>
                                </p:cTn>
                              </p:par>
                              <p:par>
                                <p:cTn id="104" presetID="22" presetClass="entr" presetSubtype="8" fill="hold" grpId="0" nodeType="withEffect">
                                  <p:stCondLst>
                                    <p:cond delay="91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900"/>
                                        <p:tgtEl>
                                          <p:spTgt spid="39"/>
                                        </p:tgtEl>
                                      </p:cBhvr>
                                    </p:animEffect>
                                  </p:childTnLst>
                                </p:cTn>
                              </p:par>
                              <p:par>
                                <p:cTn id="107" presetID="10" presetClass="entr" presetSubtype="0" decel="100000" fill="hold" grpId="0" nodeType="withEffect">
                                  <p:stCondLst>
                                    <p:cond delay="113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600"/>
                                        <p:tgtEl>
                                          <p:spTgt spid="22"/>
                                        </p:tgtEl>
                                      </p:cBhvr>
                                    </p:animEffect>
                                  </p:childTnLst>
                                </p:cTn>
                              </p:par>
                              <p:par>
                                <p:cTn id="110" presetID="10" presetClass="entr" presetSubtype="0" decel="100000" fill="hold" grpId="0" nodeType="withEffect">
                                  <p:stCondLst>
                                    <p:cond delay="113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decel="100000" fill="hold" grpId="0" nodeType="withEffect">
                                  <p:stCondLst>
                                    <p:cond delay="113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600"/>
                                        <p:tgtEl>
                                          <p:spTgt spid="37"/>
                                        </p:tgtEl>
                                      </p:cBhvr>
                                    </p:animEffect>
                                  </p:childTnLst>
                                </p:cTn>
                              </p:par>
                              <p:par>
                                <p:cTn id="116" presetID="42" presetClass="entr" presetSubtype="0" decel="100000" fill="hold" grpId="0" nodeType="withEffect">
                                  <p:stCondLst>
                                    <p:cond delay="1350"/>
                                  </p:stCondLst>
                                  <p:childTnLst>
                                    <p:set>
                                      <p:cBhvr>
                                        <p:cTn id="117" dur="1" fill="hold">
                                          <p:stCondLst>
                                            <p:cond delay="0"/>
                                          </p:stCondLst>
                                        </p:cTn>
                                        <p:tgtEl>
                                          <p:spTgt spid="40"/>
                                        </p:tgtEl>
                                        <p:attrNameLst>
                                          <p:attrName>style.visibility</p:attrName>
                                        </p:attrNameLst>
                                      </p:cBhvr>
                                      <p:to>
                                        <p:strVal val="visible"/>
                                      </p:to>
                                    </p:set>
                                    <p:animEffect transition="in" filter="fade">
                                      <p:cBhvr>
                                        <p:cTn id="118" dur="700"/>
                                        <p:tgtEl>
                                          <p:spTgt spid="40"/>
                                        </p:tgtEl>
                                      </p:cBhvr>
                                    </p:animEffect>
                                    <p:anim calcmode="lin" valueType="num">
                                      <p:cBhvr additive="base">
                                        <p:cTn id="119" dur="700" fill="hold"/>
                                        <p:tgtEl>
                                          <p:spTgt spid="40"/>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135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700"/>
                                        <p:tgtEl>
                                          <p:spTgt spid="41"/>
                                        </p:tgtEl>
                                      </p:cBhvr>
                                    </p:animEffect>
                                    <p:anim calcmode="lin" valueType="num">
                                      <p:cBhvr additive="base">
                                        <p:cTn id="123" dur="700" fill="hold"/>
                                        <p:tgtEl>
                                          <p:spTgt spid="41"/>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1350"/>
                                  </p:stCondLst>
                                  <p:childTnLst>
                                    <p:set>
                                      <p:cBhvr>
                                        <p:cTn id="125" dur="1" fill="hold">
                                          <p:stCondLst>
                                            <p:cond delay="0"/>
                                          </p:stCondLst>
                                        </p:cTn>
                                        <p:tgtEl>
                                          <p:spTgt spid="42"/>
                                        </p:tgtEl>
                                        <p:attrNameLst>
                                          <p:attrName>style.visibility</p:attrName>
                                        </p:attrNameLst>
                                      </p:cBhvr>
                                      <p:to>
                                        <p:strVal val="visible"/>
                                      </p:to>
                                    </p:set>
                                    <p:animEffect transition="in" filter="fade">
                                      <p:cBhvr>
                                        <p:cTn id="126" dur="700"/>
                                        <p:tgtEl>
                                          <p:spTgt spid="42"/>
                                        </p:tgtEl>
                                      </p:cBhvr>
                                    </p:animEffect>
                                    <p:anim calcmode="lin" valueType="num">
                                      <p:cBhvr additive="base">
                                        <p:cTn id="127" dur="700" fill="hold"/>
                                        <p:tgtEl>
                                          <p:spTgt spid="42"/>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135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700"/>
                                        <p:tgtEl>
                                          <p:spTgt spid="43"/>
                                        </p:tgtEl>
                                      </p:cBhvr>
                                    </p:animEffect>
                                    <p:anim calcmode="lin" valueType="num">
                                      <p:cBhvr additive="base">
                                        <p:cTn id="131" dur="700" fill="hold"/>
                                        <p:tgtEl>
                                          <p:spTgt spid="43"/>
                                        </p:tgtEl>
                                        <p:attrNameLst>
                                          <p:attrName>ppt_y</p:attrName>
                                        </p:attrNameLst>
                                      </p:cBhvr>
                                      <p:tavLst>
                                        <p:tav tm="0">
                                          <p:val>
                                            <p:strVal val="#ppt_y+0.03"/>
                                          </p:val>
                                        </p:tav>
                                        <p:tav tm="100000">
                                          <p:val>
                                            <p:strVal val="#ppt_y"/>
                                          </p:val>
                                        </p:tav>
                                      </p:tavLst>
                                    </p:anim>
                                  </p:childTnLst>
                                </p:cTn>
                              </p:par>
                              <p:par>
                                <p:cTn id="132" presetID="42" presetClass="entr" presetSubtype="0" decel="100000" fill="hold" grpId="0" nodeType="withEffect">
                                  <p:stCondLst>
                                    <p:cond delay="135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700"/>
                                        <p:tgtEl>
                                          <p:spTgt spid="44"/>
                                        </p:tgtEl>
                                      </p:cBhvr>
                                    </p:animEffect>
                                    <p:anim calcmode="lin" valueType="num">
                                      <p:cBhvr additive="base">
                                        <p:cTn id="135" dur="700" fill="hold"/>
                                        <p:tgtEl>
                                          <p:spTgt spid="44"/>
                                        </p:tgtEl>
                                        <p:attrNameLst>
                                          <p:attrName>ppt_y</p:attrName>
                                        </p:attrNameLst>
                                      </p:cBhvr>
                                      <p:tavLst>
                                        <p:tav tm="0">
                                          <p:val>
                                            <p:strVal val="#ppt_y+0.03"/>
                                          </p:val>
                                        </p:tav>
                                        <p:tav tm="100000">
                                          <p:val>
                                            <p:strVal val="#ppt_y"/>
                                          </p:val>
                                        </p:tav>
                                      </p:tavLst>
                                    </p:anim>
                                  </p:childTnLst>
                                </p:cTn>
                              </p:par>
                              <p:par>
                                <p:cTn id="136" presetID="42" presetClass="entr" presetSubtype="0" decel="100000" fill="hold" grpId="0" nodeType="withEffect">
                                  <p:stCondLst>
                                    <p:cond delay="157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700"/>
                                        <p:tgtEl>
                                          <p:spTgt spid="45"/>
                                        </p:tgtEl>
                                      </p:cBhvr>
                                    </p:animEffect>
                                    <p:anim calcmode="lin" valueType="num">
                                      <p:cBhvr additive="base">
                                        <p:cTn id="139" dur="700" fill="hold"/>
                                        <p:tgtEl>
                                          <p:spTgt spid="45"/>
                                        </p:tgtEl>
                                        <p:attrNameLst>
                                          <p:attrName>ppt_y</p:attrName>
                                        </p:attrNameLst>
                                      </p:cBhvr>
                                      <p:tavLst>
                                        <p:tav tm="0">
                                          <p:val>
                                            <p:strVal val="#ppt_y+0.03"/>
                                          </p:val>
                                        </p:tav>
                                        <p:tav tm="100000">
                                          <p:val>
                                            <p:strVal val="#ppt_y"/>
                                          </p:val>
                                        </p:tav>
                                      </p:tavLst>
                                    </p:anim>
                                  </p:childTnLst>
                                </p:cTn>
                              </p:par>
                              <p:par>
                                <p:cTn id="140" presetID="42" presetClass="entr" presetSubtype="0" decel="100000" fill="hold" grpId="0" nodeType="withEffect">
                                  <p:stCondLst>
                                    <p:cond delay="1570"/>
                                  </p:stCondLst>
                                  <p:childTnLst>
                                    <p:set>
                                      <p:cBhvr>
                                        <p:cTn id="141" dur="1" fill="hold">
                                          <p:stCondLst>
                                            <p:cond delay="0"/>
                                          </p:stCondLst>
                                        </p:cTn>
                                        <p:tgtEl>
                                          <p:spTgt spid="46"/>
                                        </p:tgtEl>
                                        <p:attrNameLst>
                                          <p:attrName>style.visibility</p:attrName>
                                        </p:attrNameLst>
                                      </p:cBhvr>
                                      <p:to>
                                        <p:strVal val="visible"/>
                                      </p:to>
                                    </p:set>
                                    <p:animEffect transition="in" filter="fade">
                                      <p:cBhvr>
                                        <p:cTn id="142" dur="700"/>
                                        <p:tgtEl>
                                          <p:spTgt spid="46"/>
                                        </p:tgtEl>
                                      </p:cBhvr>
                                    </p:animEffect>
                                    <p:anim calcmode="lin" valueType="num">
                                      <p:cBhvr additive="base">
                                        <p:cTn id="143" dur="700" fill="hold"/>
                                        <p:tgtEl>
                                          <p:spTgt spid="46"/>
                                        </p:tgtEl>
                                        <p:attrNameLst>
                                          <p:attrName>ppt_y</p:attrName>
                                        </p:attrNameLst>
                                      </p:cBhvr>
                                      <p:tavLst>
                                        <p:tav tm="0">
                                          <p:val>
                                            <p:strVal val="#ppt_y+0.03"/>
                                          </p:val>
                                        </p:tav>
                                        <p:tav tm="100000">
                                          <p:val>
                                            <p:strVal val="#ppt_y"/>
                                          </p:val>
                                        </p:tav>
                                      </p:tavLst>
                                    </p:anim>
                                  </p:childTnLst>
                                </p:cTn>
                              </p:par>
                              <p:par>
                                <p:cTn id="144" presetID="42" presetClass="entr" presetSubtype="0" decel="100000" fill="hold" grpId="0" nodeType="withEffect">
                                  <p:stCondLst>
                                    <p:cond delay="157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700"/>
                                        <p:tgtEl>
                                          <p:spTgt spid="47"/>
                                        </p:tgtEl>
                                      </p:cBhvr>
                                    </p:animEffect>
                                    <p:anim calcmode="lin" valueType="num">
                                      <p:cBhvr additive="base">
                                        <p:cTn id="147" dur="700" fill="hold"/>
                                        <p:tgtEl>
                                          <p:spTgt spid="47"/>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p:bldP spid="43" grpId="0" animBg="1"/>
      <p:bldP spid="44" grpId="0" animBg="1"/>
      <p:bldP spid="45" grpId="0" animBg="1"/>
      <p:bldP spid="46" grpId="0" animBg="1"/>
      <p:bldP spid="4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5">
            <a:alphaModFix amt="38000"/>
          </a:blip>
          <a:stretch>
            <a:fillRect/>
          </a:stretch>
        </p:blipFill>
        <p:spPr>
          <a:xfrm>
            <a:off x="-1828800" y="-2560320"/>
            <a:ext cx="5486400" cy="5486400"/>
          </a:xfrm>
          <a:prstGeom prst="rect">
            <a:avLst/>
          </a:prstGeom>
        </p:spPr>
      </p:pic>
      <p:pic>
        <p:nvPicPr>
          <p:cNvPr id="3" name="!!glow2" descr="C:\Users\nahla\Desktop\UAE-Space-Hackatoon\deck_pptx\build\assets\glow_blue.png"/>
          <p:cNvPicPr>
            <a:picLocks noChangeAspect="1"/>
          </p:cNvPicPr>
          <p:nvPr/>
        </p:nvPicPr>
        <p:blipFill>
          <a:blip r:embed="rId6">
            <a:alphaModFix amt="35000"/>
          </a:blip>
          <a:stretch>
            <a:fillRect/>
          </a:stretch>
        </p:blipFill>
        <p:spPr>
          <a:xfrm>
            <a:off x="8229600" y="310896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TECHNICAL INNOVATION 2</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A stand average hides partial loss. 200 m cells do not.</a:t>
            </a:r>
            <a:endParaRPr lang="en-US" sz="3400" dirty="0"/>
          </a:p>
        </p:txBody>
      </p:sp>
      <p:pic>
        <p:nvPicPr>
          <p:cNvPr id="6" name="video_cells">
            <a:hlinkClick r:id="" action="ppaction://media"/>
            <a:extLst>
              <a:ext uri="{FF2B5EF4-FFF2-40B4-BE49-F238E27FC236}">
                <a16:creationId xmlns:a16="http://schemas.microsoft.com/office/drawing/2014/main" id="{EBDCAF1E-8284-4E89-7FF8-C67581FFE70C}"/>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691640"/>
            <a:ext cx="7038706" cy="3328416"/>
          </a:xfrm>
          <a:prstGeom prst="rect">
            <a:avLst/>
          </a:prstGeom>
        </p:spPr>
      </p:pic>
      <p:sp>
        <p:nvSpPr>
          <p:cNvPr id="8" name="a2fade_storyc"/>
          <p:cNvSpPr txBox="1"/>
          <p:nvPr/>
        </p:nvSpPr>
        <p:spPr>
          <a:xfrm>
            <a:off x="548640" y="5074920"/>
            <a:ext cx="704088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Real stand-5 data, 2022 → 2026: cells turn red while the stand average barely moves.</a:t>
            </a:r>
            <a:endParaRPr lang="en-US" sz="1100" dirty="0"/>
          </a:p>
        </p:txBody>
      </p:sp>
      <p:sp>
        <p:nvSpPr>
          <p:cNvPr id="9" name="a5fade_bl"/>
          <p:cNvSpPr txBox="1"/>
          <p:nvPr/>
        </p:nvSpPr>
        <p:spPr>
          <a:xfrm>
            <a:off x="548640" y="5468112"/>
            <a:ext cx="283464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Partial loss caught within 60 days (simulated)</a:t>
            </a:r>
            <a:endParaRPr lang="en-US" sz="1300" dirty="0"/>
          </a:p>
        </p:txBody>
      </p:sp>
      <p:sp>
        <p:nvSpPr>
          <p:cNvPr id="10" name="a6wipe_b0"/>
          <p:cNvSpPr/>
          <p:nvPr/>
        </p:nvSpPr>
        <p:spPr>
          <a:xfrm>
            <a:off x="3566160" y="5486400"/>
            <a:ext cx="1234440" cy="182880"/>
          </a:xfrm>
          <a:prstGeom prst="roundRect">
            <a:avLst>
              <a:gd name="adj" fmla="val 50000"/>
            </a:avLst>
          </a:prstGeom>
          <a:solidFill>
            <a:srgbClr val="3F6E9E"/>
          </a:solidFill>
          <a:ln/>
        </p:spPr>
        <p:txBody>
          <a:bodyPr/>
          <a:lstStyle/>
          <a:p>
            <a:endParaRPr lang="en-GB"/>
          </a:p>
        </p:txBody>
      </p:sp>
      <p:sp>
        <p:nvSpPr>
          <p:cNvPr id="11" name="a6fade_bt0"/>
          <p:cNvSpPr txBox="1"/>
          <p:nvPr/>
        </p:nvSpPr>
        <p:spPr>
          <a:xfrm>
            <a:off x="35661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2F5D8F"/>
                </a:solidFill>
                <a:latin typeface="Segoe UI" pitchFamily="34" charset="0"/>
                <a:ea typeface="Segoe UI" pitchFamily="34" charset="-122"/>
                <a:cs typeface="Segoe UI" pitchFamily="34" charset="-120"/>
              </a:rPr>
              <a:t>73 %  </a:t>
            </a:r>
            <a:r>
              <a:rPr lang="en-US" sz="1100" dirty="0">
                <a:solidFill>
                  <a:srgbClr val="5F738A"/>
                </a:solidFill>
                <a:latin typeface="Segoe UI" pitchFamily="34" charset="0"/>
                <a:ea typeface="Segoe UI" pitchFamily="34" charset="-122"/>
                <a:cs typeface="Segoe UI" pitchFamily="34" charset="-120"/>
              </a:rPr>
              <a:t>stand + cells</a:t>
            </a:r>
            <a:endParaRPr lang="en-US" sz="1100" dirty="0"/>
          </a:p>
        </p:txBody>
      </p:sp>
      <p:sp>
        <p:nvSpPr>
          <p:cNvPr id="12" name="a7wipe_b1"/>
          <p:cNvSpPr/>
          <p:nvPr/>
        </p:nvSpPr>
        <p:spPr>
          <a:xfrm>
            <a:off x="4937760" y="5486400"/>
            <a:ext cx="422753" cy="182880"/>
          </a:xfrm>
          <a:prstGeom prst="roundRect">
            <a:avLst>
              <a:gd name="adj" fmla="val 50000"/>
            </a:avLst>
          </a:prstGeom>
          <a:solidFill>
            <a:srgbClr val="5C8DB8"/>
          </a:solidFill>
          <a:ln/>
        </p:spPr>
        <p:txBody>
          <a:bodyPr/>
          <a:lstStyle/>
          <a:p>
            <a:endParaRPr lang="en-GB"/>
          </a:p>
        </p:txBody>
      </p:sp>
      <p:sp>
        <p:nvSpPr>
          <p:cNvPr id="13" name="a7fade_bt1"/>
          <p:cNvSpPr txBox="1"/>
          <p:nvPr/>
        </p:nvSpPr>
        <p:spPr>
          <a:xfrm>
            <a:off x="49377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1B2B40"/>
                </a:solidFill>
                <a:latin typeface="Segoe UI" pitchFamily="34" charset="0"/>
                <a:ea typeface="Segoe UI" pitchFamily="34" charset="-122"/>
                <a:cs typeface="Segoe UI" pitchFamily="34" charset="-120"/>
              </a:rPr>
              <a:t>25 %  </a:t>
            </a:r>
            <a:r>
              <a:rPr lang="en-US" sz="1100" dirty="0">
                <a:solidFill>
                  <a:srgbClr val="5F738A"/>
                </a:solidFill>
                <a:latin typeface="Segoe UI" pitchFamily="34" charset="0"/>
                <a:ea typeface="Segoe UI" pitchFamily="34" charset="-122"/>
                <a:cs typeface="Segoe UI" pitchFamily="34" charset="-120"/>
              </a:rPr>
              <a:t>stand alone</a:t>
            </a:r>
            <a:endParaRPr lang="en-US" sz="1100" dirty="0"/>
          </a:p>
        </p:txBody>
      </p:sp>
      <p:sp>
        <p:nvSpPr>
          <p:cNvPr id="14" name="a8wipe_b2"/>
          <p:cNvSpPr/>
          <p:nvPr/>
        </p:nvSpPr>
        <p:spPr>
          <a:xfrm>
            <a:off x="6309360" y="5486400"/>
            <a:ext cx="219832" cy="182880"/>
          </a:xfrm>
          <a:prstGeom prst="roundRect">
            <a:avLst>
              <a:gd name="adj" fmla="val 50000"/>
            </a:avLst>
          </a:prstGeom>
          <a:solidFill>
            <a:srgbClr val="B9C6D4"/>
          </a:solidFill>
          <a:ln/>
        </p:spPr>
        <p:txBody>
          <a:bodyPr/>
          <a:lstStyle/>
          <a:p>
            <a:endParaRPr lang="en-GB"/>
          </a:p>
        </p:txBody>
      </p:sp>
      <p:sp>
        <p:nvSpPr>
          <p:cNvPr id="15" name="a8fade_bt2"/>
          <p:cNvSpPr txBox="1"/>
          <p:nvPr/>
        </p:nvSpPr>
        <p:spPr>
          <a:xfrm>
            <a:off x="6309360" y="5742432"/>
            <a:ext cx="1325880" cy="411480"/>
          </a:xfrm>
          <a:prstGeom prst="rect">
            <a:avLst/>
          </a:prstGeom>
          <a:noFill/>
          <a:ln/>
        </p:spPr>
        <p:txBody>
          <a:bodyPr wrap="square" lIns="0" tIns="0" rIns="0" bIns="0" rtlCol="0" anchor="t"/>
          <a:lstStyle/>
          <a:p>
            <a:pPr marL="0" indent="0" algn="l">
              <a:lnSpc>
                <a:spcPct val="105000"/>
              </a:lnSpc>
              <a:buNone/>
            </a:pPr>
            <a:r>
              <a:rPr lang="en-US" sz="1100" b="1" dirty="0">
                <a:solidFill>
                  <a:srgbClr val="1B2B40"/>
                </a:solidFill>
                <a:latin typeface="Segoe UI" pitchFamily="34" charset="0"/>
                <a:ea typeface="Segoe UI" pitchFamily="34" charset="-122"/>
                <a:cs typeface="Segoe UI" pitchFamily="34" charset="-120"/>
              </a:rPr>
              <a:t>13 %  </a:t>
            </a:r>
            <a:r>
              <a:rPr lang="en-US" sz="1100" dirty="0">
                <a:solidFill>
                  <a:srgbClr val="5F738A"/>
                </a:solidFill>
                <a:latin typeface="Segoe UI" pitchFamily="34" charset="0"/>
                <a:ea typeface="Segoe UI" pitchFamily="34" charset="-122"/>
                <a:cs typeface="Segoe UI" pitchFamily="34" charset="-120"/>
              </a:rPr>
              <a:t>by chance</a:t>
            </a:r>
            <a:endParaRPr lang="en-US" sz="1100" dirty="0"/>
          </a:p>
        </p:txBody>
      </p:sp>
      <p:sp>
        <p:nvSpPr>
          <p:cNvPr id="16" name="a2float_c0"/>
          <p:cNvSpPr/>
          <p:nvPr/>
        </p:nvSpPr>
        <p:spPr>
          <a:xfrm>
            <a:off x="7818120" y="1691640"/>
            <a:ext cx="3822192" cy="1353312"/>
          </a:xfrm>
          <a:prstGeom prst="roundRect">
            <a:avLst>
              <a:gd name="adj" fmla="val 945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7" name="a2float_c0n"/>
          <p:cNvSpPr txBox="1"/>
          <p:nvPr/>
        </p:nvSpPr>
        <p:spPr>
          <a:xfrm>
            <a:off x="8046720" y="1828800"/>
            <a:ext cx="3474720" cy="594360"/>
          </a:xfrm>
          <a:prstGeom prst="rect">
            <a:avLst/>
          </a:prstGeom>
          <a:noFill/>
          <a:ln/>
        </p:spPr>
        <p:txBody>
          <a:bodyPr wrap="square" lIns="0" tIns="0" rIns="0" bIns="0" rtlCol="0" anchor="t"/>
          <a:lstStyle/>
          <a:p>
            <a:pPr marL="0" indent="0" algn="l">
              <a:lnSpc>
                <a:spcPct val="105000"/>
              </a:lnSpc>
              <a:buNone/>
            </a:pPr>
            <a:r>
              <a:rPr lang="en-US" sz="3400" dirty="0">
                <a:solidFill>
                  <a:srgbClr val="BE5F6D"/>
                </a:solidFill>
                <a:latin typeface="Segoe UI Light" pitchFamily="34" charset="0"/>
                <a:ea typeface="Segoe UI Light" pitchFamily="34" charset="-122"/>
                <a:cs typeface="Segoe UI Light" pitchFamily="34" charset="-120"/>
              </a:rPr>
              <a:t>8 of 28</a:t>
            </a:r>
            <a:endParaRPr lang="en-US" sz="3400" dirty="0"/>
          </a:p>
        </p:txBody>
      </p:sp>
      <p:sp>
        <p:nvSpPr>
          <p:cNvPr id="18" name="a2float_c0t"/>
          <p:cNvSpPr txBox="1"/>
          <p:nvPr/>
        </p:nvSpPr>
        <p:spPr>
          <a:xfrm>
            <a:off x="8046720" y="2441448"/>
            <a:ext cx="342900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cells of stand 9 in severe decline while its average reads “stable”</a:t>
            </a:r>
            <a:endParaRPr lang="en-US" sz="1300" dirty="0"/>
          </a:p>
        </p:txBody>
      </p:sp>
      <p:sp>
        <p:nvSpPr>
          <p:cNvPr id="19" name="a3float_c1"/>
          <p:cNvSpPr/>
          <p:nvPr/>
        </p:nvSpPr>
        <p:spPr>
          <a:xfrm>
            <a:off x="7818120" y="3172968"/>
            <a:ext cx="3822192" cy="1353312"/>
          </a:xfrm>
          <a:prstGeom prst="roundRect">
            <a:avLst>
              <a:gd name="adj" fmla="val 9459"/>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0" name="a3float_c1n"/>
          <p:cNvSpPr txBox="1"/>
          <p:nvPr/>
        </p:nvSpPr>
        <p:spPr>
          <a:xfrm>
            <a:off x="8046720" y="3310128"/>
            <a:ext cx="3474720" cy="594360"/>
          </a:xfrm>
          <a:prstGeom prst="rect">
            <a:avLst/>
          </a:prstGeom>
          <a:noFill/>
          <a:ln/>
        </p:spPr>
        <p:txBody>
          <a:bodyPr wrap="square" lIns="0" tIns="0" rIns="0" bIns="0" rtlCol="0" anchor="t"/>
          <a:lstStyle/>
          <a:p>
            <a:pPr marL="0" indent="0" algn="l">
              <a:lnSpc>
                <a:spcPct val="105000"/>
              </a:lnSpc>
              <a:buNone/>
            </a:pPr>
            <a:r>
              <a:rPr lang="en-US" sz="3400" dirty="0">
                <a:solidFill>
                  <a:srgbClr val="A9813A"/>
                </a:solidFill>
                <a:latin typeface="Segoe UI Light" pitchFamily="34" charset="0"/>
                <a:ea typeface="Segoe UI Light" pitchFamily="34" charset="-122"/>
                <a:cs typeface="Segoe UI Light" pitchFamily="34" charset="-120"/>
              </a:rPr>
              <a:t>3 of 5</a:t>
            </a:r>
            <a:endParaRPr lang="en-US" sz="3400" dirty="0"/>
          </a:p>
        </p:txBody>
      </p:sp>
      <p:sp>
        <p:nvSpPr>
          <p:cNvPr id="21" name="a3float_c1t"/>
          <p:cNvSpPr txBox="1"/>
          <p:nvPr/>
        </p:nvSpPr>
        <p:spPr>
          <a:xfrm>
            <a:off x="8046720" y="3922776"/>
            <a:ext cx="3429000" cy="5486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real conversions found only by the cells (stands 12, 18, 6)</a:t>
            </a:r>
            <a:endParaRPr lang="en-US" sz="1300" dirty="0"/>
          </a:p>
        </p:txBody>
      </p:sp>
      <p:sp>
        <p:nvSpPr>
          <p:cNvPr id="22" name="a4float_rule"/>
          <p:cNvSpPr/>
          <p:nvPr/>
        </p:nvSpPr>
        <p:spPr>
          <a:xfrm>
            <a:off x="7818120" y="4654296"/>
            <a:ext cx="3822192" cy="1517904"/>
          </a:xfrm>
          <a:prstGeom prst="roundRect">
            <a:avLst>
              <a:gd name="adj" fmla="val 8434"/>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3" name="a4float_rulel"/>
          <p:cNvSpPr txBox="1"/>
          <p:nvPr/>
        </p:nvSpPr>
        <p:spPr>
          <a:xfrm>
            <a:off x="8046720" y="4791456"/>
            <a:ext cx="32004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ONE ALERT RULE</a:t>
            </a:r>
            <a:endParaRPr lang="en-US" sz="1100" dirty="0"/>
          </a:p>
        </p:txBody>
      </p:sp>
      <p:sp>
        <p:nvSpPr>
          <p:cNvPr id="24" name="a4float_r1_bg"/>
          <p:cNvSpPr/>
          <p:nvPr/>
        </p:nvSpPr>
        <p:spPr>
          <a:xfrm>
            <a:off x="8046720" y="5120640"/>
            <a:ext cx="1463040" cy="365760"/>
          </a:xfrm>
          <a:prstGeom prst="roundRect">
            <a:avLst>
              <a:gd name="adj" fmla="val 50000"/>
            </a:avLst>
          </a:prstGeom>
          <a:solidFill>
            <a:srgbClr val="3F6E9E">
              <a:alpha val="15000"/>
            </a:srgbClr>
          </a:solidFill>
          <a:ln w="9525">
            <a:solidFill>
              <a:srgbClr val="3F6E9E"/>
            </a:solidFill>
            <a:prstDash val="solid"/>
          </a:ln>
        </p:spPr>
        <p:txBody>
          <a:bodyPr/>
          <a:lstStyle/>
          <a:p>
            <a:endParaRPr lang="en-GB"/>
          </a:p>
        </p:txBody>
      </p:sp>
      <p:sp>
        <p:nvSpPr>
          <p:cNvPr id="25" name="a4float_r1"/>
          <p:cNvSpPr txBox="1"/>
          <p:nvPr/>
        </p:nvSpPr>
        <p:spPr>
          <a:xfrm>
            <a:off x="8046720" y="5120640"/>
            <a:ext cx="1463040" cy="365760"/>
          </a:xfrm>
          <a:prstGeom prst="rect">
            <a:avLst/>
          </a:prstGeom>
          <a:noFill/>
          <a:ln/>
        </p:spPr>
        <p:txBody>
          <a:bodyPr wrap="square" lIns="0" tIns="0" rIns="0" bIns="0" rtlCol="0" anchor="ctr"/>
          <a:lstStyle/>
          <a:p>
            <a:pPr marL="0" indent="0" algn="ctr">
              <a:lnSpc>
                <a:spcPct val="105000"/>
              </a:lnSpc>
              <a:buNone/>
            </a:pPr>
            <a:r>
              <a:rPr lang="en-US" sz="1300" dirty="0">
                <a:solidFill>
                  <a:srgbClr val="2F5D8F"/>
                </a:solidFill>
                <a:latin typeface="Segoe UI Semibold" pitchFamily="34" charset="0"/>
                <a:ea typeface="Segoe UI Semibold" pitchFamily="34" charset="-122"/>
                <a:cs typeface="Segoe UI Semibold" pitchFamily="34" charset="-120"/>
              </a:rPr>
              <a:t>stand ≤ −1.5σ</a:t>
            </a:r>
            <a:endParaRPr lang="en-US" sz="1300" dirty="0"/>
          </a:p>
        </p:txBody>
      </p:sp>
      <p:sp>
        <p:nvSpPr>
          <p:cNvPr id="26" name="a4float_or"/>
          <p:cNvSpPr txBox="1"/>
          <p:nvPr/>
        </p:nvSpPr>
        <p:spPr>
          <a:xfrm>
            <a:off x="9555480" y="5120640"/>
            <a:ext cx="411480" cy="365760"/>
          </a:xfrm>
          <a:prstGeom prst="rect">
            <a:avLst/>
          </a:prstGeom>
          <a:noFill/>
          <a:ln/>
        </p:spPr>
        <p:txBody>
          <a:bodyPr wrap="square" lIns="0" tIns="0" rIns="0" bIns="0" rtlCol="0" anchor="ctr"/>
          <a:lstStyle/>
          <a:p>
            <a:pPr marL="0" indent="0" algn="ctr">
              <a:lnSpc>
                <a:spcPct val="105000"/>
              </a:lnSpc>
              <a:buNone/>
            </a:pPr>
            <a:r>
              <a:rPr lang="en-US" sz="1300" dirty="0">
                <a:solidFill>
                  <a:srgbClr val="A9813A"/>
                </a:solidFill>
                <a:latin typeface="Segoe UI Semibold" pitchFamily="34" charset="0"/>
                <a:ea typeface="Segoe UI Semibold" pitchFamily="34" charset="-122"/>
                <a:cs typeface="Segoe UI Semibold" pitchFamily="34" charset="-120"/>
              </a:rPr>
              <a:t>OR</a:t>
            </a:r>
            <a:endParaRPr lang="en-US" sz="1300" dirty="0"/>
          </a:p>
        </p:txBody>
      </p:sp>
      <p:sp>
        <p:nvSpPr>
          <p:cNvPr id="27" name="a4float_r2_bg"/>
          <p:cNvSpPr/>
          <p:nvPr/>
        </p:nvSpPr>
        <p:spPr>
          <a:xfrm>
            <a:off x="10012680" y="5120640"/>
            <a:ext cx="1481328" cy="365760"/>
          </a:xfrm>
          <a:prstGeom prst="roundRect">
            <a:avLst>
              <a:gd name="adj" fmla="val 50000"/>
            </a:avLst>
          </a:prstGeom>
          <a:solidFill>
            <a:srgbClr val="BE5F6D">
              <a:alpha val="15000"/>
            </a:srgbClr>
          </a:solidFill>
          <a:ln w="9525">
            <a:solidFill>
              <a:srgbClr val="BE5F6D"/>
            </a:solidFill>
            <a:prstDash val="solid"/>
          </a:ln>
        </p:spPr>
        <p:txBody>
          <a:bodyPr/>
          <a:lstStyle/>
          <a:p>
            <a:endParaRPr lang="en-GB"/>
          </a:p>
        </p:txBody>
      </p:sp>
      <p:sp>
        <p:nvSpPr>
          <p:cNvPr id="28" name="a4float_r2"/>
          <p:cNvSpPr txBox="1"/>
          <p:nvPr/>
        </p:nvSpPr>
        <p:spPr>
          <a:xfrm>
            <a:off x="10012680" y="5120640"/>
            <a:ext cx="1481328" cy="365760"/>
          </a:xfrm>
          <a:prstGeom prst="rect">
            <a:avLst/>
          </a:prstGeom>
          <a:noFill/>
          <a:ln/>
        </p:spPr>
        <p:txBody>
          <a:bodyPr wrap="square" lIns="0" tIns="0" rIns="0" bIns="0" rtlCol="0" anchor="ctr"/>
          <a:lstStyle/>
          <a:p>
            <a:pPr marL="0" indent="0" algn="ctr">
              <a:lnSpc>
                <a:spcPct val="105000"/>
              </a:lnSpc>
              <a:buNone/>
            </a:pPr>
            <a:r>
              <a:rPr lang="en-US" sz="1300" dirty="0">
                <a:solidFill>
                  <a:srgbClr val="A04B58"/>
                </a:solidFill>
                <a:latin typeface="Segoe UI Semibold" pitchFamily="34" charset="0"/>
                <a:ea typeface="Segoe UI Semibold" pitchFamily="34" charset="-122"/>
                <a:cs typeface="Segoe UI Semibold" pitchFamily="34" charset="-120"/>
              </a:rPr>
              <a:t>any cell ≤ −3.5σ</a:t>
            </a:r>
            <a:endParaRPr lang="en-US" sz="1300" dirty="0"/>
          </a:p>
        </p:txBody>
      </p:sp>
      <p:sp>
        <p:nvSpPr>
          <p:cNvPr id="29" name="a4float_rulet"/>
          <p:cNvSpPr txBox="1"/>
          <p:nvPr/>
        </p:nvSpPr>
        <p:spPr>
          <a:xfrm>
            <a:off x="8046720" y="5596128"/>
            <a:ext cx="3474720" cy="4572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calibrated together: 0.96 false-alarm episodes per stand-year</a:t>
            </a:r>
            <a:endParaRPr lang="en-US" sz="1200" dirty="0"/>
          </a:p>
        </p:txBody>
      </p:sp>
      <p:sp>
        <p:nvSpPr>
          <p:cNvPr id="3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300"/>
                                  </p:stCondLst>
                                  <p:childTnLst>
                                    <p:cmd type="call" cmd="playFrom(0.0)">
                                      <p:cBhvr>
                                        <p:cTn id="6" dur="14000" fill="hold"/>
                                        <p:tgtEl>
                                          <p:spTgt spid="6"/>
                                        </p:tgtEl>
                                      </p:cBhvr>
                                    </p:cmd>
                                  </p:childTnLst>
                                </p:cTn>
                              </p:par>
                              <p:par>
                                <p:cTn id="7" presetID="10" presetClass="entr" presetSubtype="0" decel="100000" fill="hold" grpId="0"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childTnLst>
                                </p:cTn>
                              </p:par>
                              <p:par>
                                <p:cTn id="10" presetID="42" presetClass="entr" presetSubtype="0" decel="10000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ppt_y</p:attrName>
                                        </p:attrNameLst>
                                      </p:cBhvr>
                                      <p:tavLst>
                                        <p:tav tm="0">
                                          <p:val>
                                            <p:strVal val="#ppt_y+0.03"/>
                                          </p:val>
                                        </p:tav>
                                        <p:tav tm="100000">
                                          <p:val>
                                            <p:strVal val="#ppt_y"/>
                                          </p:val>
                                        </p:tav>
                                      </p:tavLst>
                                    </p:anim>
                                  </p:childTnLst>
                                </p:cTn>
                              </p:par>
                              <p:par>
                                <p:cTn id="14" presetID="10" presetClass="entr" presetSubtype="0" decel="100000" fill="hold" grpId="0" nodeType="withEffect">
                                  <p:stCondLst>
                                    <p:cond delay="69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42" presetClass="entr" presetSubtype="0" decel="100000" fill="hold" grpId="0" nodeType="withEffect">
                                  <p:stCondLst>
                                    <p:cond delay="69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700"/>
                                        <p:tgtEl>
                                          <p:spTgt spid="16"/>
                                        </p:tgtEl>
                                      </p:cBhvr>
                                    </p:animEffect>
                                    <p:anim calcmode="lin" valueType="num">
                                      <p:cBhvr additive="base">
                                        <p:cTn id="20" dur="700" fill="hold"/>
                                        <p:tgtEl>
                                          <p:spTgt spid="16"/>
                                        </p:tgtEl>
                                        <p:attrNameLst>
                                          <p:attrName>ppt_y</p:attrName>
                                        </p:attrNameLst>
                                      </p:cBhvr>
                                      <p:tavLst>
                                        <p:tav tm="0">
                                          <p:val>
                                            <p:strVal val="#ppt_y+0.03"/>
                                          </p:val>
                                        </p:tav>
                                        <p:tav tm="100000">
                                          <p:val>
                                            <p:strVal val="#ppt_y"/>
                                          </p:val>
                                        </p:tav>
                                      </p:tavLst>
                                    </p:anim>
                                  </p:childTnLst>
                                </p:cTn>
                              </p:par>
                              <p:par>
                                <p:cTn id="21" presetID="42" presetClass="entr" presetSubtype="0" decel="100000" fill="hold" grpId="0" nodeType="withEffect">
                                  <p:stCondLst>
                                    <p:cond delay="69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700"/>
                                        <p:tgtEl>
                                          <p:spTgt spid="17"/>
                                        </p:tgtEl>
                                      </p:cBhvr>
                                    </p:animEffect>
                                    <p:anim calcmode="lin" valueType="num">
                                      <p:cBhvr additive="base">
                                        <p:cTn id="24" dur="700" fill="hold"/>
                                        <p:tgtEl>
                                          <p:spTgt spid="17"/>
                                        </p:tgtEl>
                                        <p:attrNameLst>
                                          <p:attrName>ppt_y</p:attrName>
                                        </p:attrNameLst>
                                      </p:cBhvr>
                                      <p:tavLst>
                                        <p:tav tm="0">
                                          <p:val>
                                            <p:strVal val="#ppt_y+0.03"/>
                                          </p:val>
                                        </p:tav>
                                        <p:tav tm="100000">
                                          <p:val>
                                            <p:strVal val="#ppt_y"/>
                                          </p:val>
                                        </p:tav>
                                      </p:tavLst>
                                    </p:anim>
                                  </p:childTnLst>
                                </p:cTn>
                              </p:par>
                              <p:par>
                                <p:cTn id="25" presetID="42" presetClass="entr" presetSubtype="0" decel="100000" fill="hold" grpId="0" nodeType="withEffect">
                                  <p:stCondLst>
                                    <p:cond delay="69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700"/>
                                        <p:tgtEl>
                                          <p:spTgt spid="18"/>
                                        </p:tgtEl>
                                      </p:cBhvr>
                                    </p:animEffect>
                                    <p:anim calcmode="lin" valueType="num">
                                      <p:cBhvr additive="base">
                                        <p:cTn id="28" dur="700" fill="hold"/>
                                        <p:tgtEl>
                                          <p:spTgt spid="18"/>
                                        </p:tgtEl>
                                        <p:attrNameLst>
                                          <p:attrName>ppt_y</p:attrName>
                                        </p:attrNameLst>
                                      </p:cBhvr>
                                      <p:tavLst>
                                        <p:tav tm="0">
                                          <p:val>
                                            <p:strVal val="#ppt_y+0.03"/>
                                          </p:val>
                                        </p:tav>
                                        <p:tav tm="100000">
                                          <p:val>
                                            <p:strVal val="#ppt_y"/>
                                          </p:val>
                                        </p:tav>
                                      </p:tavLst>
                                    </p:anim>
                                  </p:childTnLst>
                                </p:cTn>
                              </p:par>
                              <p:par>
                                <p:cTn id="29" presetID="42" presetClass="entr" presetSubtype="0" decel="100000" fill="hold" grpId="0" nodeType="withEffect">
                                  <p:stCondLst>
                                    <p:cond delay="91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700"/>
                                        <p:tgtEl>
                                          <p:spTgt spid="19"/>
                                        </p:tgtEl>
                                      </p:cBhvr>
                                    </p:animEffect>
                                    <p:anim calcmode="lin" valueType="num">
                                      <p:cBhvr additive="base">
                                        <p:cTn id="32" dur="700" fill="hold"/>
                                        <p:tgtEl>
                                          <p:spTgt spid="19"/>
                                        </p:tgtEl>
                                        <p:attrNameLst>
                                          <p:attrName>ppt_y</p:attrName>
                                        </p:attrNameLst>
                                      </p:cBhvr>
                                      <p:tavLst>
                                        <p:tav tm="0">
                                          <p:val>
                                            <p:strVal val="#ppt_y+0.03"/>
                                          </p:val>
                                        </p:tav>
                                        <p:tav tm="100000">
                                          <p:val>
                                            <p:strVal val="#ppt_y"/>
                                          </p:val>
                                        </p:tav>
                                      </p:tavLst>
                                    </p:anim>
                                  </p:childTnLst>
                                </p:cTn>
                              </p:par>
                              <p:par>
                                <p:cTn id="33" presetID="42" presetClass="entr" presetSubtype="0" decel="100000" fill="hold" grpId="0" nodeType="withEffect">
                                  <p:stCondLst>
                                    <p:cond delay="91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700"/>
                                        <p:tgtEl>
                                          <p:spTgt spid="20"/>
                                        </p:tgtEl>
                                      </p:cBhvr>
                                    </p:animEffect>
                                    <p:anim calcmode="lin" valueType="num">
                                      <p:cBhvr additive="base">
                                        <p:cTn id="36" dur="700" fill="hold"/>
                                        <p:tgtEl>
                                          <p:spTgt spid="20"/>
                                        </p:tgtEl>
                                        <p:attrNameLst>
                                          <p:attrName>ppt_y</p:attrName>
                                        </p:attrNameLst>
                                      </p:cBhvr>
                                      <p:tavLst>
                                        <p:tav tm="0">
                                          <p:val>
                                            <p:strVal val="#ppt_y+0.03"/>
                                          </p:val>
                                        </p:tav>
                                        <p:tav tm="100000">
                                          <p:val>
                                            <p:strVal val="#ppt_y"/>
                                          </p:val>
                                        </p:tav>
                                      </p:tavLst>
                                    </p:anim>
                                  </p:childTnLst>
                                </p:cTn>
                              </p:par>
                              <p:par>
                                <p:cTn id="37" presetID="42" presetClass="entr" presetSubtype="0" decel="100000" fill="hold" grpId="0" nodeType="withEffect">
                                  <p:stCondLst>
                                    <p:cond delay="91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700"/>
                                        <p:tgtEl>
                                          <p:spTgt spid="21"/>
                                        </p:tgtEl>
                                      </p:cBhvr>
                                    </p:animEffect>
                                    <p:anim calcmode="lin" valueType="num">
                                      <p:cBhvr additive="base">
                                        <p:cTn id="40" dur="700" fill="hold"/>
                                        <p:tgtEl>
                                          <p:spTgt spid="21"/>
                                        </p:tgtEl>
                                        <p:attrNameLst>
                                          <p:attrName>ppt_y</p:attrName>
                                        </p:attrNameLst>
                                      </p:cBhvr>
                                      <p:tavLst>
                                        <p:tav tm="0">
                                          <p:val>
                                            <p:strVal val="#ppt_y+0.03"/>
                                          </p:val>
                                        </p:tav>
                                        <p:tav tm="100000">
                                          <p:val>
                                            <p:strVal val="#ppt_y"/>
                                          </p:val>
                                        </p:tav>
                                      </p:tavLst>
                                    </p:anim>
                                  </p:childTnLst>
                                </p:cTn>
                              </p:par>
                              <p:par>
                                <p:cTn id="41" presetID="42" presetClass="entr" presetSubtype="0" decel="100000" fill="hold" grpId="0" nodeType="withEffect">
                                  <p:stCondLst>
                                    <p:cond delay="113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700"/>
                                        <p:tgtEl>
                                          <p:spTgt spid="22"/>
                                        </p:tgtEl>
                                      </p:cBhvr>
                                    </p:animEffect>
                                    <p:anim calcmode="lin" valueType="num">
                                      <p:cBhvr additive="base">
                                        <p:cTn id="44" dur="700" fill="hold"/>
                                        <p:tgtEl>
                                          <p:spTgt spid="22"/>
                                        </p:tgtEl>
                                        <p:attrNameLst>
                                          <p:attrName>ppt_y</p:attrName>
                                        </p:attrNameLst>
                                      </p:cBhvr>
                                      <p:tavLst>
                                        <p:tav tm="0">
                                          <p:val>
                                            <p:strVal val="#ppt_y+0.03"/>
                                          </p:val>
                                        </p:tav>
                                        <p:tav tm="100000">
                                          <p:val>
                                            <p:strVal val="#ppt_y"/>
                                          </p:val>
                                        </p:tav>
                                      </p:tavLst>
                                    </p:anim>
                                  </p:childTnLst>
                                </p:cTn>
                              </p:par>
                              <p:par>
                                <p:cTn id="45" presetID="42" presetClass="entr" presetSubtype="0" decel="100000" fill="hold" grpId="0" nodeType="withEffect">
                                  <p:stCondLst>
                                    <p:cond delay="113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700"/>
                                        <p:tgtEl>
                                          <p:spTgt spid="23"/>
                                        </p:tgtEl>
                                      </p:cBhvr>
                                    </p:animEffect>
                                    <p:anim calcmode="lin" valueType="num">
                                      <p:cBhvr additive="base">
                                        <p:cTn id="48" dur="700" fill="hold"/>
                                        <p:tgtEl>
                                          <p:spTgt spid="23"/>
                                        </p:tgtEl>
                                        <p:attrNameLst>
                                          <p:attrName>ppt_y</p:attrName>
                                        </p:attrNameLst>
                                      </p:cBhvr>
                                      <p:tavLst>
                                        <p:tav tm="0">
                                          <p:val>
                                            <p:strVal val="#ppt_y+0.03"/>
                                          </p:val>
                                        </p:tav>
                                        <p:tav tm="100000">
                                          <p:val>
                                            <p:strVal val="#ppt_y"/>
                                          </p:val>
                                        </p:tav>
                                      </p:tavLst>
                                    </p:anim>
                                  </p:childTnLst>
                                </p:cTn>
                              </p:par>
                              <p:par>
                                <p:cTn id="49" presetID="42" presetClass="entr" presetSubtype="0" decel="100000" fill="hold" grpId="0" nodeType="withEffect">
                                  <p:stCondLst>
                                    <p:cond delay="113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700"/>
                                        <p:tgtEl>
                                          <p:spTgt spid="24"/>
                                        </p:tgtEl>
                                      </p:cBhvr>
                                    </p:animEffect>
                                    <p:anim calcmode="lin" valueType="num">
                                      <p:cBhvr additive="base">
                                        <p:cTn id="52" dur="700" fill="hold"/>
                                        <p:tgtEl>
                                          <p:spTgt spid="24"/>
                                        </p:tgtEl>
                                        <p:attrNameLst>
                                          <p:attrName>ppt_y</p:attrName>
                                        </p:attrNameLst>
                                      </p:cBhvr>
                                      <p:tavLst>
                                        <p:tav tm="0">
                                          <p:val>
                                            <p:strVal val="#ppt_y+0.03"/>
                                          </p:val>
                                        </p:tav>
                                        <p:tav tm="100000">
                                          <p:val>
                                            <p:strVal val="#ppt_y"/>
                                          </p:val>
                                        </p:tav>
                                      </p:tavLst>
                                    </p:anim>
                                  </p:childTnLst>
                                </p:cTn>
                              </p:par>
                              <p:par>
                                <p:cTn id="53" presetID="42" presetClass="entr" presetSubtype="0" decel="100000" fill="hold" grpId="0" nodeType="withEffect">
                                  <p:stCondLst>
                                    <p:cond delay="113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700"/>
                                        <p:tgtEl>
                                          <p:spTgt spid="25"/>
                                        </p:tgtEl>
                                      </p:cBhvr>
                                    </p:animEffect>
                                    <p:anim calcmode="lin" valueType="num">
                                      <p:cBhvr additive="base">
                                        <p:cTn id="56" dur="700" fill="hold"/>
                                        <p:tgtEl>
                                          <p:spTgt spid="25"/>
                                        </p:tgtEl>
                                        <p:attrNameLst>
                                          <p:attrName>ppt_y</p:attrName>
                                        </p:attrNameLst>
                                      </p:cBhvr>
                                      <p:tavLst>
                                        <p:tav tm="0">
                                          <p:val>
                                            <p:strVal val="#ppt_y+0.03"/>
                                          </p:val>
                                        </p:tav>
                                        <p:tav tm="100000">
                                          <p:val>
                                            <p:strVal val="#ppt_y"/>
                                          </p:val>
                                        </p:tav>
                                      </p:tavLst>
                                    </p:anim>
                                  </p:childTnLst>
                                </p:cTn>
                              </p:par>
                              <p:par>
                                <p:cTn id="57" presetID="42" presetClass="entr" presetSubtype="0" decel="100000" fill="hold" grpId="0" nodeType="withEffect">
                                  <p:stCondLst>
                                    <p:cond delay="113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700"/>
                                        <p:tgtEl>
                                          <p:spTgt spid="26"/>
                                        </p:tgtEl>
                                      </p:cBhvr>
                                    </p:animEffect>
                                    <p:anim calcmode="lin" valueType="num">
                                      <p:cBhvr additive="base">
                                        <p:cTn id="60" dur="700" fill="hold"/>
                                        <p:tgtEl>
                                          <p:spTgt spid="26"/>
                                        </p:tgtEl>
                                        <p:attrNameLst>
                                          <p:attrName>ppt_y</p:attrName>
                                        </p:attrNameLst>
                                      </p:cBhvr>
                                      <p:tavLst>
                                        <p:tav tm="0">
                                          <p:val>
                                            <p:strVal val="#ppt_y+0.03"/>
                                          </p:val>
                                        </p:tav>
                                        <p:tav tm="100000">
                                          <p:val>
                                            <p:strVal val="#ppt_y"/>
                                          </p:val>
                                        </p:tav>
                                      </p:tavLst>
                                    </p:anim>
                                  </p:childTnLst>
                                </p:cTn>
                              </p:par>
                              <p:par>
                                <p:cTn id="61" presetID="42" presetClass="entr" presetSubtype="0" decel="100000" fill="hold" grpId="0" nodeType="withEffect">
                                  <p:stCondLst>
                                    <p:cond delay="113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700"/>
                                        <p:tgtEl>
                                          <p:spTgt spid="27"/>
                                        </p:tgtEl>
                                      </p:cBhvr>
                                    </p:animEffect>
                                    <p:anim calcmode="lin" valueType="num">
                                      <p:cBhvr additive="base">
                                        <p:cTn id="64" dur="700" fill="hold"/>
                                        <p:tgtEl>
                                          <p:spTgt spid="27"/>
                                        </p:tgtEl>
                                        <p:attrNameLst>
                                          <p:attrName>ppt_y</p:attrName>
                                        </p:attrNameLst>
                                      </p:cBhvr>
                                      <p:tavLst>
                                        <p:tav tm="0">
                                          <p:val>
                                            <p:strVal val="#ppt_y+0.03"/>
                                          </p:val>
                                        </p:tav>
                                        <p:tav tm="100000">
                                          <p:val>
                                            <p:strVal val="#ppt_y"/>
                                          </p:val>
                                        </p:tav>
                                      </p:tavLst>
                                    </p:anim>
                                  </p:childTnLst>
                                </p:cTn>
                              </p:par>
                              <p:par>
                                <p:cTn id="65" presetID="42" presetClass="entr" presetSubtype="0" decel="100000" fill="hold" grpId="0" nodeType="withEffect">
                                  <p:stCondLst>
                                    <p:cond delay="113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700"/>
                                        <p:tgtEl>
                                          <p:spTgt spid="28"/>
                                        </p:tgtEl>
                                      </p:cBhvr>
                                    </p:animEffect>
                                    <p:anim calcmode="lin" valueType="num">
                                      <p:cBhvr additive="base">
                                        <p:cTn id="68" dur="700" fill="hold"/>
                                        <p:tgtEl>
                                          <p:spTgt spid="28"/>
                                        </p:tgtEl>
                                        <p:attrNameLst>
                                          <p:attrName>ppt_y</p:attrName>
                                        </p:attrNameLst>
                                      </p:cBhvr>
                                      <p:tavLst>
                                        <p:tav tm="0">
                                          <p:val>
                                            <p:strVal val="#ppt_y+0.03"/>
                                          </p:val>
                                        </p:tav>
                                        <p:tav tm="100000">
                                          <p:val>
                                            <p:strVal val="#ppt_y"/>
                                          </p:val>
                                        </p:tav>
                                      </p:tavLst>
                                    </p:anim>
                                  </p:childTnLst>
                                </p:cTn>
                              </p:par>
                              <p:par>
                                <p:cTn id="69" presetID="42" presetClass="entr" presetSubtype="0" decel="100000" fill="hold" grpId="0" nodeType="withEffect">
                                  <p:stCondLst>
                                    <p:cond delay="113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700"/>
                                        <p:tgtEl>
                                          <p:spTgt spid="29"/>
                                        </p:tgtEl>
                                      </p:cBhvr>
                                    </p:animEffect>
                                    <p:anim calcmode="lin" valueType="num">
                                      <p:cBhvr additive="base">
                                        <p:cTn id="72" dur="700" fill="hold"/>
                                        <p:tgtEl>
                                          <p:spTgt spid="29"/>
                                        </p:tgtEl>
                                        <p:attrNameLst>
                                          <p:attrName>ppt_y</p:attrName>
                                        </p:attrNameLst>
                                      </p:cBhvr>
                                      <p:tavLst>
                                        <p:tav tm="0">
                                          <p:val>
                                            <p:strVal val="#ppt_y+0.03"/>
                                          </p:val>
                                        </p:tav>
                                        <p:tav tm="100000">
                                          <p:val>
                                            <p:strVal val="#ppt_y"/>
                                          </p:val>
                                        </p:tav>
                                      </p:tavLst>
                                    </p:anim>
                                  </p:childTnLst>
                                </p:cTn>
                              </p:par>
                              <p:par>
                                <p:cTn id="73" presetID="10" presetClass="entr" presetSubtype="0" decel="100000" fill="hold" grpId="0" nodeType="withEffect">
                                  <p:stCondLst>
                                    <p:cond delay="135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600"/>
                                        <p:tgtEl>
                                          <p:spTgt spid="9"/>
                                        </p:tgtEl>
                                      </p:cBhvr>
                                    </p:animEffect>
                                  </p:childTnLst>
                                </p:cTn>
                              </p:par>
                              <p:par>
                                <p:cTn id="76" presetID="22" presetClass="entr" presetSubtype="8" fill="hold" grpId="0" nodeType="withEffect">
                                  <p:stCondLst>
                                    <p:cond delay="1570"/>
                                  </p:stCondLst>
                                  <p:childTnLst>
                                    <p:set>
                                      <p:cBhvr>
                                        <p:cTn id="77" dur="1" fill="hold">
                                          <p:stCondLst>
                                            <p:cond delay="0"/>
                                          </p:stCondLst>
                                        </p:cTn>
                                        <p:tgtEl>
                                          <p:spTgt spid="10"/>
                                        </p:tgtEl>
                                        <p:attrNameLst>
                                          <p:attrName>style.visibility</p:attrName>
                                        </p:attrNameLst>
                                      </p:cBhvr>
                                      <p:to>
                                        <p:strVal val="visible"/>
                                      </p:to>
                                    </p:set>
                                    <p:animEffect transition="in" filter="wipe(left)">
                                      <p:cBhvr>
                                        <p:cTn id="78" dur="900"/>
                                        <p:tgtEl>
                                          <p:spTgt spid="10"/>
                                        </p:tgtEl>
                                      </p:cBhvr>
                                    </p:animEffect>
                                  </p:childTnLst>
                                </p:cTn>
                              </p:par>
                              <p:par>
                                <p:cTn id="79" presetID="10" presetClass="entr" presetSubtype="0" decel="100000" fill="hold" grpId="0" nodeType="withEffect">
                                  <p:stCondLst>
                                    <p:cond delay="1570"/>
                                  </p:stCondLst>
                                  <p:childTnLst>
                                    <p:set>
                                      <p:cBhvr>
                                        <p:cTn id="80" dur="1" fill="hold">
                                          <p:stCondLst>
                                            <p:cond delay="0"/>
                                          </p:stCondLst>
                                        </p:cTn>
                                        <p:tgtEl>
                                          <p:spTgt spid="11"/>
                                        </p:tgtEl>
                                        <p:attrNameLst>
                                          <p:attrName>style.visibility</p:attrName>
                                        </p:attrNameLst>
                                      </p:cBhvr>
                                      <p:to>
                                        <p:strVal val="visible"/>
                                      </p:to>
                                    </p:set>
                                    <p:animEffect transition="in" filter="fade">
                                      <p:cBhvr>
                                        <p:cTn id="81" dur="600"/>
                                        <p:tgtEl>
                                          <p:spTgt spid="11"/>
                                        </p:tgtEl>
                                      </p:cBhvr>
                                    </p:animEffect>
                                  </p:childTnLst>
                                </p:cTn>
                              </p:par>
                              <p:par>
                                <p:cTn id="82" presetID="22" presetClass="entr" presetSubtype="8" fill="hold" grpId="0" nodeType="withEffect">
                                  <p:stCondLst>
                                    <p:cond delay="1790"/>
                                  </p:stCondLst>
                                  <p:childTnLst>
                                    <p:set>
                                      <p:cBhvr>
                                        <p:cTn id="83" dur="1" fill="hold">
                                          <p:stCondLst>
                                            <p:cond delay="0"/>
                                          </p:stCondLst>
                                        </p:cTn>
                                        <p:tgtEl>
                                          <p:spTgt spid="12"/>
                                        </p:tgtEl>
                                        <p:attrNameLst>
                                          <p:attrName>style.visibility</p:attrName>
                                        </p:attrNameLst>
                                      </p:cBhvr>
                                      <p:to>
                                        <p:strVal val="visible"/>
                                      </p:to>
                                    </p:set>
                                    <p:animEffect transition="in" filter="wipe(left)">
                                      <p:cBhvr>
                                        <p:cTn id="84" dur="900"/>
                                        <p:tgtEl>
                                          <p:spTgt spid="12"/>
                                        </p:tgtEl>
                                      </p:cBhvr>
                                    </p:animEffect>
                                  </p:childTnLst>
                                </p:cTn>
                              </p:par>
                              <p:par>
                                <p:cTn id="85" presetID="10" presetClass="entr" presetSubtype="0" decel="100000" fill="hold" grpId="0" nodeType="withEffect">
                                  <p:stCondLst>
                                    <p:cond delay="1790"/>
                                  </p:stCondLst>
                                  <p:childTnLst>
                                    <p:set>
                                      <p:cBhvr>
                                        <p:cTn id="86" dur="1" fill="hold">
                                          <p:stCondLst>
                                            <p:cond delay="0"/>
                                          </p:stCondLst>
                                        </p:cTn>
                                        <p:tgtEl>
                                          <p:spTgt spid="13"/>
                                        </p:tgtEl>
                                        <p:attrNameLst>
                                          <p:attrName>style.visibility</p:attrName>
                                        </p:attrNameLst>
                                      </p:cBhvr>
                                      <p:to>
                                        <p:strVal val="visible"/>
                                      </p:to>
                                    </p:set>
                                    <p:animEffect transition="in" filter="fade">
                                      <p:cBhvr>
                                        <p:cTn id="87" dur="600"/>
                                        <p:tgtEl>
                                          <p:spTgt spid="13"/>
                                        </p:tgtEl>
                                      </p:cBhvr>
                                    </p:animEffect>
                                  </p:childTnLst>
                                </p:cTn>
                              </p:par>
                              <p:par>
                                <p:cTn id="88" presetID="22" presetClass="entr" presetSubtype="8" fill="hold" grpId="0" nodeType="withEffect">
                                  <p:stCondLst>
                                    <p:cond delay="2010"/>
                                  </p:stCondLst>
                                  <p:childTnLst>
                                    <p:set>
                                      <p:cBhvr>
                                        <p:cTn id="89" dur="1" fill="hold">
                                          <p:stCondLst>
                                            <p:cond delay="0"/>
                                          </p:stCondLst>
                                        </p:cTn>
                                        <p:tgtEl>
                                          <p:spTgt spid="14"/>
                                        </p:tgtEl>
                                        <p:attrNameLst>
                                          <p:attrName>style.visibility</p:attrName>
                                        </p:attrNameLst>
                                      </p:cBhvr>
                                      <p:to>
                                        <p:strVal val="visible"/>
                                      </p:to>
                                    </p:set>
                                    <p:animEffect transition="in" filter="wipe(left)">
                                      <p:cBhvr>
                                        <p:cTn id="90" dur="900"/>
                                        <p:tgtEl>
                                          <p:spTgt spid="14"/>
                                        </p:tgtEl>
                                      </p:cBhvr>
                                    </p:animEffect>
                                  </p:childTnLst>
                                </p:cTn>
                              </p:par>
                              <p:par>
                                <p:cTn id="91" presetID="10" presetClass="entr" presetSubtype="0" decel="100000" fill="hold" grpId="0" nodeType="withEffect">
                                  <p:stCondLst>
                                    <p:cond delay="2010"/>
                                  </p:stCondLst>
                                  <p:childTnLst>
                                    <p:set>
                                      <p:cBhvr>
                                        <p:cTn id="92" dur="1" fill="hold">
                                          <p:stCondLst>
                                            <p:cond delay="0"/>
                                          </p:stCondLst>
                                        </p:cTn>
                                        <p:tgtEl>
                                          <p:spTgt spid="15"/>
                                        </p:tgtEl>
                                        <p:attrNameLst>
                                          <p:attrName>style.visibility</p:attrName>
                                        </p:attrNameLst>
                                      </p:cBhvr>
                                      <p:to>
                                        <p:strVal val="visible"/>
                                      </p:to>
                                    </p:set>
                                    <p:animEffect transition="in" filter="fade">
                                      <p:cBhvr>
                                        <p:cTn id="93"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94" restart="whenNotActive" fill="hold" evtFilter="cancelBubble" nodeType="interactiveSeq">
                <p:stCondLst>
                  <p:cond evt="onClick" delay="0">
                    <p:tgtEl>
                      <p:spTgt spid="6"/>
                    </p:tgtEl>
                  </p:cond>
                </p:stCondLst>
                <p:endSync evt="end" delay="0">
                  <p:rtn val="all"/>
                </p:endSync>
                <p:childTnLst>
                  <p:par>
                    <p:cTn id="95" fill="hold">
                      <p:stCondLst>
                        <p:cond delay="0"/>
                      </p:stCondLst>
                      <p:childTnLst>
                        <p:par>
                          <p:cTn id="96" fill="hold">
                            <p:stCondLst>
                              <p:cond delay="0"/>
                            </p:stCondLst>
                            <p:childTnLst>
                              <p:par>
                                <p:cTn id="97" presetID="2" presetClass="mediacall" presetSubtype="0" fill="hold" nodeType="clickEffect">
                                  <p:stCondLst>
                                    <p:cond delay="0"/>
                                  </p:stCondLst>
                                  <p:childTnLst>
                                    <p:cmd type="call" cmd="togglePause">
                                      <p:cBhvr>
                                        <p:cTn id="98" dur="1" fill="hold"/>
                                        <p:tgtEl>
                                          <p:spTgt spid="6"/>
                                        </p:tgtEl>
                                      </p:cBhvr>
                                    </p:cmd>
                                  </p:childTnLst>
                                </p:cTn>
                              </p:par>
                            </p:childTnLst>
                          </p:cTn>
                        </p:par>
                      </p:childTnLst>
                    </p:cTn>
                  </p:par>
                </p:childTnLst>
              </p:cTn>
              <p:nextCondLst>
                <p:cond evt="onClick" delay="0">
                  <p:tgtEl>
                    <p:spTgt spid="6"/>
                  </p:tgtEl>
                </p:cond>
              </p:nextCondLst>
            </p:seq>
            <p:video>
              <p:cMediaNode vol="80000" mute="1">
                <p:cTn id="99" repeatCount="indefinite" fill="hold" display="0">
                  <p:stCondLst>
                    <p:cond delay="indefinite"/>
                  </p:stCondLst>
                </p:cTn>
                <p:tgtEl>
                  <p:spTgt spid="6"/>
                </p:tgtEl>
              </p:cMediaNode>
            </p:video>
          </p:childTnLst>
        </p:cTn>
      </p:par>
    </p:tnLst>
    <p:bldLst>
      <p:bldP spid="4" grpId="0" animBg="1"/>
      <p:bldP spid="5"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low1" descr="image.png"/>
          <p:cNvPicPr>
            <a:picLocks noChangeAspect="1"/>
          </p:cNvPicPr>
          <p:nvPr/>
        </p:nvPicPr>
        <p:blipFill>
          <a:blip r:embed="rId3"/>
          <a:stretch>
            <a:fillRect/>
          </a:stretch>
        </p:blipFill>
        <p:spPr>
          <a:xfrm>
            <a:off x="-2377440" y="-2011680"/>
            <a:ext cx="5943600" cy="5943600"/>
          </a:xfrm>
          <a:prstGeom prst="rect">
            <a:avLst/>
          </a:prstGeom>
        </p:spPr>
      </p:pic>
      <p:pic>
        <p:nvPicPr>
          <p:cNvPr id="3" name="!!glow2" descr="image.png"/>
          <p:cNvPicPr>
            <a:picLocks noChangeAspect="1"/>
          </p:cNvPicPr>
          <p:nvPr/>
        </p:nvPicPr>
        <p:blipFill>
          <a:blip r:embed="rId4"/>
          <a:stretch>
            <a:fillRect/>
          </a:stretch>
        </p:blipFill>
        <p:spPr>
          <a:xfrm>
            <a:off x="8138160" y="3108960"/>
            <a:ext cx="5943600" cy="5943600"/>
          </a:xfrm>
          <a:prstGeom prst="rect">
            <a:avLst/>
          </a:prstGeom>
        </p:spPr>
      </p:pic>
      <p:sp>
        <p:nvSpPr>
          <p:cNvPr id="4" name="TextBox 3"/>
          <p:cNvSpPr txBox="1"/>
          <p:nvPr/>
        </p:nvSpPr>
        <p:spPr>
          <a:xfrm>
            <a:off x="548640" y="384048"/>
            <a:ext cx="11000000" cy="330000"/>
          </a:xfrm>
          <a:prstGeom prst="rect">
            <a:avLst/>
          </a:prstGeom>
          <a:noFill/>
        </p:spPr>
        <p:txBody>
          <a:bodyPr wrap="square">
            <a:spAutoFit/>
          </a:bodyPr>
          <a:lstStyle/>
          <a:p>
            <a:pPr algn="l"/>
            <a:r>
              <a:rPr sz="1300" b="1" i="0">
                <a:solidFill>
                  <a:srgbClr val="3F6E9E"/>
                </a:solidFill>
                <a:latin typeface="Segoe UI"/>
              </a:rPr>
              <a:t>M E T H O D   I N   O N E   S L I D E</a:t>
            </a:r>
          </a:p>
        </p:txBody>
      </p:sp>
      <p:sp>
        <p:nvSpPr>
          <p:cNvPr id="5" name="TextBox 4"/>
          <p:cNvSpPr txBox="1"/>
          <p:nvPr/>
        </p:nvSpPr>
        <p:spPr>
          <a:xfrm>
            <a:off x="548640" y="713232"/>
            <a:ext cx="11000000" cy="800000"/>
          </a:xfrm>
          <a:prstGeom prst="rect">
            <a:avLst/>
          </a:prstGeom>
          <a:noFill/>
        </p:spPr>
        <p:txBody>
          <a:bodyPr wrap="square">
            <a:spAutoFit/>
          </a:bodyPr>
          <a:lstStyle/>
          <a:p>
            <a:pPr algn="l"/>
            <a:r>
              <a:rPr sz="3800" b="0" i="0">
                <a:solidFill>
                  <a:srgbClr val="1B2B40"/>
                </a:solidFill>
                <a:latin typeface="Segoe UI Semibold"/>
              </a:rPr>
              <a:t>How the numbers are made</a:t>
            </a:r>
          </a:p>
        </p:txBody>
      </p:sp>
      <p:sp>
        <p:nvSpPr>
          <p:cNvPr id="6" name="Rounded Rectangle 5"/>
          <p:cNvSpPr/>
          <p:nvPr/>
        </p:nvSpPr>
        <p:spPr>
          <a:xfrm>
            <a:off x="548640" y="1600000"/>
            <a:ext cx="5450000" cy="215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640" y="1750000"/>
            <a:ext cx="4050000" cy="300000"/>
          </a:xfrm>
          <a:prstGeom prst="rect">
            <a:avLst/>
          </a:prstGeom>
          <a:noFill/>
        </p:spPr>
        <p:txBody>
          <a:bodyPr wrap="square">
            <a:spAutoFit/>
          </a:bodyPr>
          <a:lstStyle/>
          <a:p>
            <a:pPr algn="l"/>
            <a:r>
              <a:rPr sz="1000" b="1" i="0">
                <a:solidFill>
                  <a:srgbClr val="3F6E9E"/>
                </a:solidFill>
                <a:latin typeface="Segoe UI"/>
              </a:rPr>
              <a:t>T I D E ,   F R O M   T H E   I M A G E   I T S E L F</a:t>
            </a:r>
          </a:p>
        </p:txBody>
      </p:sp>
      <p:sp>
        <p:nvSpPr>
          <p:cNvPr id="8" name="TextBox 7"/>
          <p:cNvSpPr txBox="1"/>
          <p:nvPr/>
        </p:nvSpPr>
        <p:spPr>
          <a:xfrm>
            <a:off x="768640" y="2070000"/>
            <a:ext cx="4150000" cy="700000"/>
          </a:xfrm>
          <a:prstGeom prst="rect">
            <a:avLst/>
          </a:prstGeom>
          <a:noFill/>
        </p:spPr>
        <p:txBody>
          <a:bodyPr wrap="square">
            <a:spAutoFit/>
          </a:bodyPr>
          <a:lstStyle/>
          <a:p>
            <a:pPr algn="l"/>
            <a:r>
              <a:rPr sz="1500" b="0" i="0">
                <a:solidFill>
                  <a:srgbClr val="1B2B40"/>
                </a:solidFill>
                <a:latin typeface="Segoe UI Semibold"/>
              </a:rPr>
              <a:t>MNDWI = (Green − SWIR) / (Green + SWIR)</a:t>
            </a:r>
          </a:p>
          <a:p>
            <a:pPr algn="l"/>
            <a:r>
              <a:rPr sz="1500" b="0" i="0">
                <a:solidFill>
                  <a:srgbClr val="1B2B40"/>
                </a:solidFill>
                <a:latin typeface="Segoe UI Semibold"/>
              </a:rPr>
              <a:t>flooded share = % of pixels with MNDWI &gt; 0</a:t>
            </a:r>
          </a:p>
        </p:txBody>
      </p:sp>
      <p:sp>
        <p:nvSpPr>
          <p:cNvPr id="9" name="TextBox 8"/>
          <p:cNvSpPr txBox="1"/>
          <p:nvPr/>
        </p:nvSpPr>
        <p:spPr>
          <a:xfrm>
            <a:off x="768640" y="2880000"/>
            <a:ext cx="5010000" cy="800000"/>
          </a:xfrm>
          <a:prstGeom prst="rect">
            <a:avLst/>
          </a:prstGeom>
          <a:noFill/>
        </p:spPr>
        <p:txBody>
          <a:bodyPr wrap="square">
            <a:spAutoFit/>
          </a:bodyPr>
          <a:lstStyle/>
          <a:p>
            <a:pPr algn="l"/>
            <a:r>
              <a:rPr sz="1150" b="0" i="0">
                <a:solidFill>
                  <a:srgbClr val="5A6B80"/>
                </a:solidFill>
                <a:latin typeface="Segoe UI"/>
              </a:rPr>
              <a:t>No tide table: the image shows how much water is under the trees at that exact moment (Sentinel-2 bands B3 and B11).</a:t>
            </a:r>
          </a:p>
        </p:txBody>
      </p:sp>
      <p:sp>
        <p:nvSpPr>
          <p:cNvPr id="10" name="Rounded Rectangle 9"/>
          <p:cNvSpPr/>
          <p:nvPr/>
        </p:nvSpPr>
        <p:spPr>
          <a:xfrm>
            <a:off x="6188000" y="1600000"/>
            <a:ext cx="5450000" cy="215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8000" y="1750000"/>
            <a:ext cx="4050000" cy="300000"/>
          </a:xfrm>
          <a:prstGeom prst="rect">
            <a:avLst/>
          </a:prstGeom>
          <a:noFill/>
        </p:spPr>
        <p:txBody>
          <a:bodyPr wrap="square">
            <a:spAutoFit/>
          </a:bodyPr>
          <a:lstStyle/>
          <a:p>
            <a:pPr algn="l"/>
            <a:r>
              <a:rPr sz="1000" b="1" i="0">
                <a:solidFill>
                  <a:srgbClr val="3F6E9E"/>
                </a:solidFill>
                <a:latin typeface="Segoe UI"/>
              </a:rPr>
              <a:t>E X P E C T E D   V A L U E ,   P E R   S T A N D   A N D   C E L L</a:t>
            </a:r>
          </a:p>
        </p:txBody>
      </p:sp>
      <p:sp>
        <p:nvSpPr>
          <p:cNvPr id="12" name="TextBox 11"/>
          <p:cNvSpPr txBox="1"/>
          <p:nvPr/>
        </p:nvSpPr>
        <p:spPr>
          <a:xfrm>
            <a:off x="6408000" y="2070000"/>
            <a:ext cx="4150000" cy="700000"/>
          </a:xfrm>
          <a:prstGeom prst="rect">
            <a:avLst/>
          </a:prstGeom>
          <a:noFill/>
        </p:spPr>
        <p:txBody>
          <a:bodyPr wrap="square">
            <a:spAutoFit/>
          </a:bodyPr>
          <a:lstStyle/>
          <a:p>
            <a:pPr algn="l"/>
            <a:r>
              <a:rPr sz="1500" b="0" i="0">
                <a:solidFill>
                  <a:srgbClr val="1B2B40"/>
                </a:solidFill>
                <a:latin typeface="Segoe UI Semibold"/>
              </a:rPr>
              <a:t>index ≈ trend + season + tide</a:t>
            </a:r>
          </a:p>
          <a:p>
            <a:pPr algn="l"/>
            <a:r>
              <a:rPr sz="1500" b="0" i="0">
                <a:solidFill>
                  <a:srgbClr val="1B2B40"/>
                </a:solidFill>
                <a:latin typeface="Segoe UI Semibold"/>
              </a:rPr>
              <a:t>tide = MNDWI, MNDWI², flooded share</a:t>
            </a:r>
          </a:p>
        </p:txBody>
      </p:sp>
      <p:sp>
        <p:nvSpPr>
          <p:cNvPr id="13" name="TextBox 12"/>
          <p:cNvSpPr txBox="1"/>
          <p:nvPr/>
        </p:nvSpPr>
        <p:spPr>
          <a:xfrm>
            <a:off x="6408000" y="2880000"/>
            <a:ext cx="5010000" cy="800000"/>
          </a:xfrm>
          <a:prstGeom prst="rect">
            <a:avLst/>
          </a:prstGeom>
          <a:noFill/>
        </p:spPr>
        <p:txBody>
          <a:bodyPr wrap="square">
            <a:spAutoFit/>
          </a:bodyPr>
          <a:lstStyle/>
          <a:p>
            <a:pPr algn="l"/>
            <a:r>
              <a:rPr sz="1150" b="0" i="0">
                <a:solidFill>
                  <a:srgbClr val="5A6B80"/>
                </a:solidFill>
                <a:latin typeface="Segoe UI"/>
              </a:rPr>
              <a:t>Robust regression for NDVI, red edge and NDMI, refitted every month on the past 3 years only. The tide terms cut noise by 29–35 %.</a:t>
            </a:r>
          </a:p>
        </p:txBody>
      </p:sp>
      <p:sp>
        <p:nvSpPr>
          <p:cNvPr id="14" name="Rounded Rectangle 13"/>
          <p:cNvSpPr/>
          <p:nvPr/>
        </p:nvSpPr>
        <p:spPr>
          <a:xfrm>
            <a:off x="548640" y="3880000"/>
            <a:ext cx="5450000" cy="215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640" y="4030000"/>
            <a:ext cx="4050000" cy="300000"/>
          </a:xfrm>
          <a:prstGeom prst="rect">
            <a:avLst/>
          </a:prstGeom>
          <a:noFill/>
        </p:spPr>
        <p:txBody>
          <a:bodyPr wrap="square">
            <a:spAutoFit/>
          </a:bodyPr>
          <a:lstStyle/>
          <a:p>
            <a:pPr algn="l"/>
            <a:r>
              <a:rPr sz="1000" b="1" i="0">
                <a:solidFill>
                  <a:srgbClr val="3F6E9E"/>
                </a:solidFill>
                <a:latin typeface="Segoe UI"/>
              </a:rPr>
              <a:t>A L E R T</a:t>
            </a:r>
          </a:p>
        </p:txBody>
      </p:sp>
      <p:sp>
        <p:nvSpPr>
          <p:cNvPr id="16" name="TextBox 15"/>
          <p:cNvSpPr txBox="1"/>
          <p:nvPr/>
        </p:nvSpPr>
        <p:spPr>
          <a:xfrm>
            <a:off x="768640" y="4350000"/>
            <a:ext cx="4150000" cy="700000"/>
          </a:xfrm>
          <a:prstGeom prst="rect">
            <a:avLst/>
          </a:prstGeom>
          <a:noFill/>
        </p:spPr>
        <p:txBody>
          <a:bodyPr wrap="square">
            <a:spAutoFit/>
          </a:bodyPr>
          <a:lstStyle/>
          <a:p>
            <a:pPr algn="l"/>
            <a:r>
              <a:rPr sz="1500" b="0" i="0">
                <a:solidFill>
                  <a:srgbClr val="1B2B40"/>
                </a:solidFill>
                <a:latin typeface="Segoe UI Semibold"/>
              </a:rPr>
              <a:t>z = (observed − expected) / robust σ</a:t>
            </a:r>
          </a:p>
          <a:p>
            <a:pPr algn="l"/>
            <a:r>
              <a:rPr sz="1500" b="0" i="0">
                <a:solidFill>
                  <a:srgbClr val="1B2B40"/>
                </a:solidFill>
                <a:latin typeface="Segoe UI Semibold"/>
              </a:rPr>
              <a:t>alert: stand ≤ −1.5σ  OR  any cell ≤ −3.5σ</a:t>
            </a:r>
          </a:p>
        </p:txBody>
      </p:sp>
      <p:sp>
        <p:nvSpPr>
          <p:cNvPr id="17" name="TextBox 16"/>
          <p:cNvSpPr txBox="1"/>
          <p:nvPr/>
        </p:nvSpPr>
        <p:spPr>
          <a:xfrm>
            <a:off x="768640" y="5160000"/>
            <a:ext cx="5010000" cy="800000"/>
          </a:xfrm>
          <a:prstGeom prst="rect">
            <a:avLst/>
          </a:prstGeom>
          <a:noFill/>
        </p:spPr>
        <p:txBody>
          <a:bodyPr wrap="square">
            <a:spAutoFit/>
          </a:bodyPr>
          <a:lstStyle/>
          <a:p>
            <a:pPr algn="l"/>
            <a:r>
              <a:rPr sz="1150" b="0" i="0">
                <a:solidFill>
                  <a:srgbClr val="5A6B80"/>
                </a:solidFill>
                <a:latin typeface="Segoe UI"/>
              </a:rPr>
              <a:t>Median of the last 5 images, so one bad image cannot fire it. Thresholds set on unchanged stands: about 1 false alarm per stand per year.</a:t>
            </a:r>
          </a:p>
        </p:txBody>
      </p:sp>
      <p:sp>
        <p:nvSpPr>
          <p:cNvPr id="18" name="Rounded Rectangle 17"/>
          <p:cNvSpPr/>
          <p:nvPr/>
        </p:nvSpPr>
        <p:spPr>
          <a:xfrm>
            <a:off x="6188000" y="3880000"/>
            <a:ext cx="5450000" cy="215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8000" y="4030000"/>
            <a:ext cx="4050000" cy="300000"/>
          </a:xfrm>
          <a:prstGeom prst="rect">
            <a:avLst/>
          </a:prstGeom>
          <a:noFill/>
        </p:spPr>
        <p:txBody>
          <a:bodyPr wrap="square">
            <a:spAutoFit/>
          </a:bodyPr>
          <a:lstStyle/>
          <a:p>
            <a:pPr algn="l"/>
            <a:r>
              <a:rPr sz="1000" b="1" i="0">
                <a:solidFill>
                  <a:srgbClr val="3F6E9E"/>
                </a:solidFill>
                <a:latin typeface="Segoe UI"/>
              </a:rPr>
              <a:t>W H Y   2 0 0 - M E T R E   C E L L S</a:t>
            </a:r>
          </a:p>
        </p:txBody>
      </p:sp>
      <p:sp>
        <p:nvSpPr>
          <p:cNvPr id="20" name="TextBox 19"/>
          <p:cNvSpPr txBox="1"/>
          <p:nvPr/>
        </p:nvSpPr>
        <p:spPr>
          <a:xfrm>
            <a:off x="6408000" y="4350000"/>
            <a:ext cx="4150000" cy="700000"/>
          </a:xfrm>
          <a:prstGeom prst="rect">
            <a:avLst/>
          </a:prstGeom>
          <a:noFill/>
        </p:spPr>
        <p:txBody>
          <a:bodyPr wrap="square">
            <a:spAutoFit/>
          </a:bodyPr>
          <a:lstStyle/>
          <a:p>
            <a:pPr algn="l"/>
            <a:r>
              <a:rPr sz="1500" b="0" i="0">
                <a:solidFill>
                  <a:srgbClr val="1B2B40"/>
                </a:solidFill>
                <a:latin typeface="Segoe UI Semibold"/>
              </a:rPr>
              <a:t>200 m = 20 × 20 Sentinel-2 pixels</a:t>
            </a:r>
          </a:p>
          <a:p>
            <a:pPr algn="l"/>
            <a:r>
              <a:rPr sz="1500" b="0" i="0">
                <a:solidFill>
                  <a:srgbClr val="1B2B40"/>
                </a:solidFill>
                <a:latin typeface="Segoe UI Semibold"/>
              </a:rPr>
              <a:t>= 400 pixels = 4 ha</a:t>
            </a:r>
          </a:p>
        </p:txBody>
      </p:sp>
      <p:sp>
        <p:nvSpPr>
          <p:cNvPr id="21" name="TextBox 20"/>
          <p:cNvSpPr txBox="1"/>
          <p:nvPr/>
        </p:nvSpPr>
        <p:spPr>
          <a:xfrm>
            <a:off x="6408000" y="5160000"/>
            <a:ext cx="5010000" cy="800000"/>
          </a:xfrm>
          <a:prstGeom prst="rect">
            <a:avLst/>
          </a:prstGeom>
          <a:noFill/>
        </p:spPr>
        <p:txBody>
          <a:bodyPr wrap="square">
            <a:spAutoFit/>
          </a:bodyPr>
          <a:lstStyle/>
          <a:p>
            <a:pPr algn="l"/>
            <a:r>
              <a:rPr sz="1150" b="0" i="0">
                <a:solidFill>
                  <a:srgbClr val="5A6B80"/>
                </a:solidFill>
                <a:latin typeface="Segoe UI"/>
              </a:rPr>
              <a:t>Enough pixels to average out noise, small enough to send an inspector to 4 ha. 3 of the 5 real losses were found only by cells.</a:t>
            </a:r>
          </a:p>
        </p:txBody>
      </p:sp>
      <p:sp>
        <p:nvSpPr>
          <p:cNvPr id="22" name="Rectangle 21"/>
          <p:cNvSpPr/>
          <p:nvPr/>
        </p:nvSpPr>
        <p:spPr>
          <a:xfrm>
            <a:off x="10588000" y="4140000"/>
            <a:ext cx="800000" cy="800000"/>
          </a:xfrm>
          <a:prstGeom prst="rect">
            <a:avLst/>
          </a:prstGeom>
          <a:solidFill>
            <a:srgbClr val="E8F2FF"/>
          </a:solidFill>
          <a:ln>
            <a:solidFill>
              <a:srgbClr val="3F6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1062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88000" y="418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66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588000" y="422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70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588000" y="426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74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588000" y="430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78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588000" y="434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82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588000" y="438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86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588000" y="442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90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588000" y="446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94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88000" y="450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98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88000" y="454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02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588000" y="458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06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588000" y="462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0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88000" y="466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4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588000" y="470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8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588000" y="474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22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0588000" y="478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26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588000" y="482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30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588000" y="486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1348000" y="4140000"/>
            <a:ext cx="0" cy="80000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588000" y="4900000"/>
            <a:ext cx="800000" cy="0"/>
          </a:xfrm>
          <a:prstGeom prst="line">
            <a:avLst/>
          </a:prstGeom>
          <a:ln w="5080">
            <a:solidFill>
              <a:srgbClr val="B9CDE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488000" y="4960000"/>
            <a:ext cx="1000000" cy="260000"/>
          </a:xfrm>
          <a:prstGeom prst="rect">
            <a:avLst/>
          </a:prstGeom>
          <a:noFill/>
        </p:spPr>
        <p:txBody>
          <a:bodyPr wrap="square">
            <a:spAutoFit/>
          </a:bodyPr>
          <a:lstStyle/>
          <a:p>
            <a:pPr algn="ctr"/>
            <a:r>
              <a:rPr sz="900" b="0" i="0">
                <a:solidFill>
                  <a:srgbClr val="5A6B80"/>
                </a:solidFill>
                <a:latin typeface="Segoe UI"/>
              </a:rPr>
              <a:t>1 cell = 400 px</a:t>
            </a:r>
          </a:p>
        </p:txBody>
      </p:sp>
      <p:sp>
        <p:nvSpPr>
          <p:cNvPr id="62" name="TextBox 61"/>
          <p:cNvSpPr txBox="1"/>
          <p:nvPr/>
        </p:nvSpPr>
        <p:spPr>
          <a:xfrm>
            <a:off x="3500000" y="6390000"/>
            <a:ext cx="7550000" cy="300000"/>
          </a:xfrm>
          <a:prstGeom prst="rect">
            <a:avLst/>
          </a:prstGeom>
          <a:noFill/>
        </p:spPr>
        <p:txBody>
          <a:bodyPr wrap="square">
            <a:spAutoFit/>
          </a:bodyPr>
          <a:lstStyle/>
          <a:p>
            <a:pPr algn="l"/>
            <a:r>
              <a:rPr sz="900" b="0" i="0">
                <a:solidFill>
                  <a:srgbClr val="5A6B80"/>
                </a:solidFill>
                <a:latin typeface="Segoe UI"/>
              </a:rPr>
              <a:t>Carbon = area × 108 t C/ha (field plots, Schile et al. 2017). Full equations and sources: README › References and equations.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19456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046720" y="329184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INNOVATION &amp; DIFFERENTIATION</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How we differ from what exists today</a:t>
            </a:r>
            <a:endParaRPr lang="en-US" sz="3400" dirty="0"/>
          </a:p>
        </p:txBody>
      </p:sp>
      <p:graphicFrame>
        <p:nvGraphicFramePr>
          <p:cNvPr id="14"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364992"/>
        </p:xfrm>
        <a:graphic>
          <a:graphicData uri="http://schemas.openxmlformats.org/drawingml/2006/table">
            <a:tbl>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475488">
                <a:tc>
                  <a:txBody>
                    <a:bodyPr/>
                    <a:lstStyle/>
                    <a:p>
                      <a:pPr marL="0" indent="0" algn="l">
                        <a:buNone/>
                      </a:pP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Field surveys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One-off satellite maps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Free loss alerts (Global Mangrove Watch)</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Blue Carbon Guardian</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2F5D8F"/>
                    </a:solidFill>
                  </a:tcPr>
                </a:tc>
                <a:extLst>
                  <a:ext uri="{0D108BD9-81ED-4DB2-BD59-A6C34878D82A}">
                    <a16:rowId xmlns:a16="http://schemas.microsoft.com/office/drawing/2014/main" val="10000"/>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How often</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campaigns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yearly or less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monthly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every ~5 days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1"/>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Corrects for the tide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usually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documented</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tide model</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2"/>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Says where inside a stand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200 m cells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3"/>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Published false-alarm rate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n/a</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accuracy only</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 1 per stand-year</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4"/>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Carbon at stake per alert</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8A9BB0"/>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field-based</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5"/>
                  </a:ext>
                </a:extLst>
              </a:tr>
              <a:tr h="475488">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Gulf coverage</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not confirmed</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b="1" dirty="0">
                          <a:solidFill>
                            <a:srgbClr val="FFFFFF"/>
                          </a:solidFill>
                          <a:latin typeface="Segoe UI Semibold" pitchFamily="34" charset="0"/>
                          <a:ea typeface="Segoe UI Semibold" pitchFamily="34" charset="-122"/>
                          <a:cs typeface="Segoe UI Semibold" pitchFamily="34" charset="-120"/>
                        </a:rPr>
                        <a:t>✓  Abu Dhabi + Tarut Bay</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3F6E9E"/>
                    </a:solidFill>
                  </a:tcPr>
                </a:tc>
                <a:extLst>
                  <a:ext uri="{0D108BD9-81ED-4DB2-BD59-A6C34878D82A}">
                    <a16:rowId xmlns:a16="http://schemas.microsoft.com/office/drawing/2014/main" val="10006"/>
                  </a:ext>
                </a:extLst>
              </a:tr>
            </a:tbl>
          </a:graphicData>
        </a:graphic>
      </p:graphicFrame>
      <p:sp>
        <p:nvSpPr>
          <p:cNvPr id="8" name="a3float_dm"/>
          <p:cNvSpPr/>
          <p:nvPr/>
        </p:nvSpPr>
        <p:spPr>
          <a:xfrm>
            <a:off x="548640" y="5257800"/>
            <a:ext cx="11091672" cy="914400"/>
          </a:xfrm>
          <a:prstGeom prst="roundRect">
            <a:avLst>
              <a:gd name="adj" fmla="val 1400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9" name="a3float_dmt"/>
          <p:cNvSpPr txBox="1"/>
          <p:nvPr/>
        </p:nvSpPr>
        <p:spPr>
          <a:xfrm>
            <a:off x="777240" y="5257800"/>
            <a:ext cx="10698480" cy="914400"/>
          </a:xfrm>
          <a:prstGeom prst="rect">
            <a:avLst/>
          </a:prstGeom>
          <a:noFill/>
          <a:ln/>
        </p:spPr>
        <p:txBody>
          <a:bodyPr wrap="square" lIns="0" tIns="0" rIns="0" bIns="0" rtlCol="0" anchor="ctr"/>
          <a:lstStyle/>
          <a:p>
            <a:pPr marL="0" indent="0" algn="l">
              <a:lnSpc>
                <a:spcPct val="105000"/>
              </a:lnSpc>
              <a:buNone/>
            </a:pPr>
            <a:r>
              <a:rPr lang="en-US" sz="1400" b="1" dirty="0">
                <a:solidFill>
                  <a:srgbClr val="2F5D8F"/>
                </a:solidFill>
                <a:latin typeface="Segoe UI" pitchFamily="34" charset="0"/>
                <a:ea typeface="Segoe UI" pitchFamily="34" charset="-122"/>
                <a:cs typeface="Segoe UI" pitchFamily="34" charset="-120"/>
              </a:rPr>
              <a:t>Complementary, not competing: </a:t>
            </a:r>
            <a:r>
              <a:rPr lang="en-US" sz="1400" dirty="0">
                <a:solidFill>
                  <a:srgbClr val="1B2B40"/>
                </a:solidFill>
                <a:latin typeface="Segoe UI" pitchFamily="34" charset="0"/>
                <a:ea typeface="Segoe UI" pitchFamily="34" charset="-122"/>
                <a:cs typeface="Segoe UI" pitchFamily="34" charset="-120"/>
              </a:rPr>
              <a:t>Global Mangrove Watch flags loss worldwide; we add the tide model, the 200 m cells, a measured false-alarm rate and the carbon at stake — built and tested for the Gulf.</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700"/>
                                        <p:tgtEl>
                                          <p:spTgt spid="14"/>
                                        </p:tgtEl>
                                      </p:cBhvr>
                                    </p:animEffect>
                                    <p:anim calcmode="lin" valueType="num">
                                      <p:cBhvr additive="base">
                                        <p:cTn id="15" dur="700" fill="hold"/>
                                        <p:tgtEl>
                                          <p:spTgt spid="14"/>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91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91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14" grpId="0">
        <p:bldAsOne/>
      </p:bldGraphic>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01168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41248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VALIDATION 1 · REAL EVENTS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Five real conversions, confirmed on sub-metre imagery</a:t>
            </a:r>
            <a:endParaRPr lang="en-US" sz="3400" dirty="0"/>
          </a:p>
        </p:txBody>
      </p:sp>
      <p:sp>
        <p:nvSpPr>
          <p:cNvPr id="7" name="a1zoom_t0"/>
          <p:cNvSpPr/>
          <p:nvPr/>
        </p:nvSpPr>
        <p:spPr>
          <a:xfrm>
            <a:off x="548640" y="1691640"/>
            <a:ext cx="3291840" cy="2670048"/>
          </a:xfrm>
          <a:prstGeom prst="roundRect">
            <a:avLst>
              <a:gd name="adj" fmla="val 3425"/>
            </a:avLst>
          </a:prstGeom>
          <a:solidFill>
            <a:srgbClr val="FFFFFF"/>
          </a:solidFill>
          <a:ln/>
          <a:effectLst>
            <a:outerShdw blurRad="152400" dist="38100" dir="5400000" algn="bl" rotWithShape="0">
              <a:srgbClr val="1B2B40">
                <a:alpha val="12000"/>
              </a:srgbClr>
            </a:outerShdw>
          </a:effectLst>
        </p:spPr>
        <p:txBody>
          <a:bodyPr/>
          <a:lstStyle/>
          <a:p>
            <a:endParaRPr lang="en-GB"/>
          </a:p>
        </p:txBody>
      </p:sp>
      <p:pic>
        <p:nvPicPr>
          <p:cNvPr id="8" name="a1zoom_t0i" descr="C:\Users\nahla\Desktop\UAE-Space-Hackatoon\deck_source\images\stand5_before_after_2021_2026.png"/>
          <p:cNvPicPr>
            <a:picLocks noChangeAspect="1"/>
          </p:cNvPicPr>
          <p:nvPr/>
        </p:nvPicPr>
        <p:blipFill>
          <a:blip r:embed="rId5"/>
          <a:stretch>
            <a:fillRect/>
          </a:stretch>
        </p:blipFill>
        <p:spPr>
          <a:xfrm>
            <a:off x="640080" y="2144334"/>
            <a:ext cx="3108960" cy="1380612"/>
          </a:xfrm>
          <a:prstGeom prst="rect">
            <a:avLst/>
          </a:prstGeom>
        </p:spPr>
      </p:pic>
      <p:sp>
        <p:nvSpPr>
          <p:cNvPr id="9" name="a1zoom_t0l"/>
          <p:cNvSpPr txBox="1"/>
          <p:nvPr/>
        </p:nvSpPr>
        <p:spPr>
          <a:xfrm>
            <a:off x="685800" y="3950208"/>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5  </a:t>
            </a:r>
            <a:r>
              <a:rPr lang="en-US" sz="1200" dirty="0">
                <a:solidFill>
                  <a:srgbClr val="4A5F75"/>
                </a:solidFill>
                <a:latin typeface="Segoe UI" pitchFamily="34" charset="0"/>
                <a:ea typeface="Segoe UI" pitchFamily="34" charset="-122"/>
                <a:cs typeface="Segoe UI" pitchFamily="34" charset="-120"/>
              </a:rPr>
              <a:t>reclamation with finger canals</a:t>
            </a:r>
            <a:endParaRPr lang="en-US" sz="1200" dirty="0"/>
          </a:p>
        </p:txBody>
      </p:sp>
      <p:sp>
        <p:nvSpPr>
          <p:cNvPr id="10" name="a2zoom_t1"/>
          <p:cNvSpPr/>
          <p:nvPr/>
        </p:nvSpPr>
        <p:spPr>
          <a:xfrm>
            <a:off x="3977640" y="1691640"/>
            <a:ext cx="3291840" cy="2670048"/>
          </a:xfrm>
          <a:prstGeom prst="roundRect">
            <a:avLst>
              <a:gd name="adj" fmla="val 3425"/>
            </a:avLst>
          </a:prstGeom>
          <a:solidFill>
            <a:srgbClr val="FFFFFF"/>
          </a:solidFill>
          <a:ln/>
          <a:effectLst>
            <a:outerShdw blurRad="152400" dist="38100" dir="5400000" algn="bl" rotWithShape="0">
              <a:srgbClr val="1B2B40">
                <a:alpha val="12000"/>
              </a:srgbClr>
            </a:outerShdw>
          </a:effectLst>
        </p:spPr>
        <p:txBody>
          <a:bodyPr/>
          <a:lstStyle/>
          <a:p>
            <a:endParaRPr lang="en-GB"/>
          </a:p>
        </p:txBody>
      </p:sp>
      <p:pic>
        <p:nvPicPr>
          <p:cNvPr id="11" name="a2zoom_t1i" descr="C:\Users\nahla\Desktop\UAE-Space-Hackatoon\deck_source\images\stand9_before_after_2020_2026.png"/>
          <p:cNvPicPr>
            <a:picLocks noChangeAspect="1"/>
          </p:cNvPicPr>
          <p:nvPr/>
        </p:nvPicPr>
        <p:blipFill>
          <a:blip r:embed="rId6"/>
          <a:stretch>
            <a:fillRect/>
          </a:stretch>
        </p:blipFill>
        <p:spPr>
          <a:xfrm>
            <a:off x="4069080" y="1800199"/>
            <a:ext cx="3108960" cy="2068882"/>
          </a:xfrm>
          <a:prstGeom prst="rect">
            <a:avLst/>
          </a:prstGeom>
        </p:spPr>
      </p:pic>
      <p:sp>
        <p:nvSpPr>
          <p:cNvPr id="12" name="a2zoom_t1l"/>
          <p:cNvSpPr txBox="1"/>
          <p:nvPr/>
        </p:nvSpPr>
        <p:spPr>
          <a:xfrm>
            <a:off x="4114800" y="3950208"/>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9  </a:t>
            </a:r>
            <a:r>
              <a:rPr lang="en-US" sz="1200" dirty="0">
                <a:solidFill>
                  <a:srgbClr val="4A5F75"/>
                </a:solidFill>
                <a:latin typeface="Segoe UI" pitchFamily="34" charset="0"/>
                <a:ea typeface="Segoe UI" pitchFamily="34" charset="-122"/>
                <a:cs typeface="Segoe UI" pitchFamily="34" charset="-120"/>
              </a:rPr>
              <a:t>canal development, south-east</a:t>
            </a:r>
            <a:endParaRPr lang="en-US" sz="1200" dirty="0"/>
          </a:p>
        </p:txBody>
      </p:sp>
      <p:sp>
        <p:nvSpPr>
          <p:cNvPr id="13" name="a3zoom_t2"/>
          <p:cNvSpPr/>
          <p:nvPr/>
        </p:nvSpPr>
        <p:spPr>
          <a:xfrm>
            <a:off x="548640" y="4498848"/>
            <a:ext cx="3291840" cy="1673352"/>
          </a:xfrm>
          <a:prstGeom prst="roundRect">
            <a:avLst>
              <a:gd name="adj" fmla="val 5464"/>
            </a:avLst>
          </a:prstGeom>
          <a:solidFill>
            <a:srgbClr val="FFFFFF"/>
          </a:solidFill>
          <a:ln/>
          <a:effectLst>
            <a:outerShdw blurRad="152400" dist="38100" dir="5400000" algn="bl" rotWithShape="0">
              <a:srgbClr val="1B2B40">
                <a:alpha val="12000"/>
              </a:srgbClr>
            </a:outerShdw>
          </a:effectLst>
        </p:spPr>
        <p:txBody>
          <a:bodyPr/>
          <a:lstStyle/>
          <a:p>
            <a:endParaRPr lang="en-GB"/>
          </a:p>
        </p:txBody>
      </p:sp>
      <p:pic>
        <p:nvPicPr>
          <p:cNvPr id="14" name="a3zoom_t2i" descr="C:\Users\nahla\Desktop\UAE-Space-Hackatoon\deck_source\images\stand12_key_years.png"/>
          <p:cNvPicPr>
            <a:picLocks noChangeAspect="1"/>
          </p:cNvPicPr>
          <p:nvPr/>
        </p:nvPicPr>
        <p:blipFill>
          <a:blip r:embed="rId7"/>
          <a:stretch>
            <a:fillRect/>
          </a:stretch>
        </p:blipFill>
        <p:spPr>
          <a:xfrm>
            <a:off x="640080" y="4686235"/>
            <a:ext cx="3108960" cy="914530"/>
          </a:xfrm>
          <a:prstGeom prst="rect">
            <a:avLst/>
          </a:prstGeom>
        </p:spPr>
      </p:pic>
      <p:sp>
        <p:nvSpPr>
          <p:cNvPr id="15" name="a3zoom_t2l"/>
          <p:cNvSpPr txBox="1"/>
          <p:nvPr/>
        </p:nvSpPr>
        <p:spPr>
          <a:xfrm>
            <a:off x="685800" y="5760720"/>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12  </a:t>
            </a:r>
            <a:r>
              <a:rPr lang="en-US" sz="1200" dirty="0">
                <a:solidFill>
                  <a:srgbClr val="4A5F75"/>
                </a:solidFill>
                <a:latin typeface="Segoe UI" pitchFamily="34" charset="0"/>
                <a:ea typeface="Segoe UI" pitchFamily="34" charset="-122"/>
                <a:cs typeface="Segoe UI" pitchFamily="34" charset="-120"/>
              </a:rPr>
              <a:t>found only by the cells</a:t>
            </a:r>
            <a:endParaRPr lang="en-US" sz="1200" dirty="0"/>
          </a:p>
        </p:txBody>
      </p:sp>
      <p:sp>
        <p:nvSpPr>
          <p:cNvPr id="16" name="a4zoom_t3"/>
          <p:cNvSpPr/>
          <p:nvPr/>
        </p:nvSpPr>
        <p:spPr>
          <a:xfrm>
            <a:off x="3977640" y="4498848"/>
            <a:ext cx="3291840" cy="1673352"/>
          </a:xfrm>
          <a:prstGeom prst="roundRect">
            <a:avLst>
              <a:gd name="adj" fmla="val 5464"/>
            </a:avLst>
          </a:prstGeom>
          <a:solidFill>
            <a:srgbClr val="FFFFFF"/>
          </a:solidFill>
          <a:ln/>
          <a:effectLst>
            <a:outerShdw blurRad="152400" dist="38100" dir="5400000" algn="bl" rotWithShape="0">
              <a:srgbClr val="1B2B40">
                <a:alpha val="12000"/>
              </a:srgbClr>
            </a:outerShdw>
          </a:effectLst>
        </p:spPr>
        <p:txBody>
          <a:bodyPr/>
          <a:lstStyle/>
          <a:p>
            <a:endParaRPr lang="en-GB"/>
          </a:p>
        </p:txBody>
      </p:sp>
      <p:pic>
        <p:nvPicPr>
          <p:cNvPr id="17" name="a4zoom_t3i" descr="C:\Users\nahla\Desktop\UAE-Space-Hackatoon\deck_source\images\stand18_key_years.png"/>
          <p:cNvPicPr>
            <a:picLocks noChangeAspect="1"/>
          </p:cNvPicPr>
          <p:nvPr/>
        </p:nvPicPr>
        <p:blipFill>
          <a:blip r:embed="rId8"/>
          <a:stretch>
            <a:fillRect/>
          </a:stretch>
        </p:blipFill>
        <p:spPr>
          <a:xfrm>
            <a:off x="4069080" y="4686235"/>
            <a:ext cx="3108960" cy="914530"/>
          </a:xfrm>
          <a:prstGeom prst="rect">
            <a:avLst/>
          </a:prstGeom>
        </p:spPr>
      </p:pic>
      <p:sp>
        <p:nvSpPr>
          <p:cNvPr id="18" name="a4zoom_t3l"/>
          <p:cNvSpPr txBox="1"/>
          <p:nvPr/>
        </p:nvSpPr>
        <p:spPr>
          <a:xfrm>
            <a:off x="4114800" y="5760720"/>
            <a:ext cx="3017520" cy="320040"/>
          </a:xfrm>
          <a:prstGeom prst="rect">
            <a:avLst/>
          </a:prstGeom>
          <a:noFill/>
          <a:ln/>
        </p:spPr>
        <p:txBody>
          <a:bodyPr wrap="square" lIns="0" tIns="0" rIns="0" bIns="0" rtlCol="0" anchor="ctr"/>
          <a:lstStyle/>
          <a:p>
            <a:pPr marL="0" indent="0" algn="l">
              <a:lnSpc>
                <a:spcPct val="105000"/>
              </a:lnSpc>
              <a:buNone/>
            </a:pPr>
            <a:r>
              <a:rPr lang="en-US" sz="1200" b="1" dirty="0">
                <a:solidFill>
                  <a:srgbClr val="0B2236"/>
                </a:solidFill>
                <a:latin typeface="Segoe UI" pitchFamily="34" charset="0"/>
                <a:ea typeface="Segoe UI" pitchFamily="34" charset="-122"/>
                <a:cs typeface="Segoe UI" pitchFamily="34" charset="-120"/>
              </a:rPr>
              <a:t>Stand 18  </a:t>
            </a:r>
            <a:r>
              <a:rPr lang="en-US" sz="1200" dirty="0">
                <a:solidFill>
                  <a:srgbClr val="4A5F75"/>
                </a:solidFill>
                <a:latin typeface="Segoe UI" pitchFamily="34" charset="0"/>
                <a:ea typeface="Segoe UI" pitchFamily="34" charset="-122"/>
                <a:cs typeface="Segoe UI" pitchFamily="34" charset="-120"/>
              </a:rPr>
              <a:t>found only by the cells, 2025</a:t>
            </a:r>
            <a:endParaRPr lang="en-US" sz="1200" dirty="0"/>
          </a:p>
        </p:txBody>
      </p:sp>
      <p:sp>
        <p:nvSpPr>
          <p:cNvPr id="19" name="a1float_gc"/>
          <p:cNvSpPr/>
          <p:nvPr/>
        </p:nvSpPr>
        <p:spPr>
          <a:xfrm>
            <a:off x="7543800" y="1691640"/>
            <a:ext cx="4096512" cy="3429000"/>
          </a:xfrm>
          <a:prstGeom prst="roundRect">
            <a:avLst>
              <a:gd name="adj" fmla="val 3733"/>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0" name="a1float_gl"/>
          <p:cNvSpPr txBox="1"/>
          <p:nvPr/>
        </p:nvSpPr>
        <p:spPr>
          <a:xfrm>
            <a:off x="7726680" y="1810512"/>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WHEN DID THE ALERT START?</a:t>
            </a:r>
            <a:endParaRPr lang="en-US" sz="1100" dirty="0"/>
          </a:p>
        </p:txBody>
      </p:sp>
      <p:sp>
        <p:nvSpPr>
          <p:cNvPr id="21" name="a1float_gy2022"/>
          <p:cNvSpPr/>
          <p:nvPr/>
        </p:nvSpPr>
        <p:spPr>
          <a:xfrm>
            <a:off x="8503920" y="2148840"/>
            <a:ext cx="0" cy="2423160"/>
          </a:xfrm>
          <a:prstGeom prst="line">
            <a:avLst/>
          </a:prstGeom>
          <a:noFill/>
          <a:ln w="9525">
            <a:solidFill>
              <a:srgbClr val="D3E0EE"/>
            </a:solidFill>
            <a:prstDash val="dash"/>
          </a:ln>
        </p:spPr>
        <p:txBody>
          <a:bodyPr/>
          <a:lstStyle/>
          <a:p>
            <a:endParaRPr lang="en-GB"/>
          </a:p>
        </p:txBody>
      </p:sp>
      <p:sp>
        <p:nvSpPr>
          <p:cNvPr id="22" name="a1float_gyt2022"/>
          <p:cNvSpPr txBox="1"/>
          <p:nvPr/>
        </p:nvSpPr>
        <p:spPr>
          <a:xfrm>
            <a:off x="8229600"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2022</a:t>
            </a:r>
            <a:endParaRPr lang="en-US" sz="1000" dirty="0"/>
          </a:p>
        </p:txBody>
      </p:sp>
      <p:sp>
        <p:nvSpPr>
          <p:cNvPr id="23" name="a1float_gy2023"/>
          <p:cNvSpPr/>
          <p:nvPr/>
        </p:nvSpPr>
        <p:spPr>
          <a:xfrm>
            <a:off x="9418513" y="2148840"/>
            <a:ext cx="0" cy="2423160"/>
          </a:xfrm>
          <a:prstGeom prst="line">
            <a:avLst/>
          </a:prstGeom>
          <a:noFill/>
          <a:ln w="9525">
            <a:solidFill>
              <a:srgbClr val="D3E0EE"/>
            </a:solidFill>
            <a:prstDash val="dash"/>
          </a:ln>
        </p:spPr>
        <p:txBody>
          <a:bodyPr/>
          <a:lstStyle/>
          <a:p>
            <a:endParaRPr lang="en-GB"/>
          </a:p>
        </p:txBody>
      </p:sp>
      <p:sp>
        <p:nvSpPr>
          <p:cNvPr id="24" name="a1float_gyt2023"/>
          <p:cNvSpPr txBox="1"/>
          <p:nvPr/>
        </p:nvSpPr>
        <p:spPr>
          <a:xfrm>
            <a:off x="9144193"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2023</a:t>
            </a:r>
            <a:endParaRPr lang="en-US" sz="1000" dirty="0"/>
          </a:p>
        </p:txBody>
      </p:sp>
      <p:sp>
        <p:nvSpPr>
          <p:cNvPr id="25" name="a1float_gy2024"/>
          <p:cNvSpPr/>
          <p:nvPr/>
        </p:nvSpPr>
        <p:spPr>
          <a:xfrm>
            <a:off x="10333105" y="2148840"/>
            <a:ext cx="0" cy="2423160"/>
          </a:xfrm>
          <a:prstGeom prst="line">
            <a:avLst/>
          </a:prstGeom>
          <a:noFill/>
          <a:ln w="9525">
            <a:solidFill>
              <a:srgbClr val="D3E0EE"/>
            </a:solidFill>
            <a:prstDash val="dash"/>
          </a:ln>
        </p:spPr>
        <p:txBody>
          <a:bodyPr/>
          <a:lstStyle/>
          <a:p>
            <a:endParaRPr lang="en-GB"/>
          </a:p>
        </p:txBody>
      </p:sp>
      <p:sp>
        <p:nvSpPr>
          <p:cNvPr id="26" name="a1float_gyt2024"/>
          <p:cNvSpPr txBox="1"/>
          <p:nvPr/>
        </p:nvSpPr>
        <p:spPr>
          <a:xfrm>
            <a:off x="10058785"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2024</a:t>
            </a:r>
            <a:endParaRPr lang="en-US" sz="1000" dirty="0"/>
          </a:p>
        </p:txBody>
      </p:sp>
      <p:sp>
        <p:nvSpPr>
          <p:cNvPr id="27" name="a1float_gy2025"/>
          <p:cNvSpPr/>
          <p:nvPr/>
        </p:nvSpPr>
        <p:spPr>
          <a:xfrm>
            <a:off x="11250204" y="2148840"/>
            <a:ext cx="0" cy="2423160"/>
          </a:xfrm>
          <a:prstGeom prst="line">
            <a:avLst/>
          </a:prstGeom>
          <a:noFill/>
          <a:ln w="9525">
            <a:solidFill>
              <a:srgbClr val="D3E0EE"/>
            </a:solidFill>
            <a:prstDash val="dash"/>
          </a:ln>
        </p:spPr>
        <p:txBody>
          <a:bodyPr/>
          <a:lstStyle/>
          <a:p>
            <a:endParaRPr lang="en-GB"/>
          </a:p>
        </p:txBody>
      </p:sp>
      <p:sp>
        <p:nvSpPr>
          <p:cNvPr id="28" name="a1float_gyt2025"/>
          <p:cNvSpPr txBox="1"/>
          <p:nvPr/>
        </p:nvSpPr>
        <p:spPr>
          <a:xfrm>
            <a:off x="10975884" y="4599432"/>
            <a:ext cx="548640" cy="228600"/>
          </a:xfrm>
          <a:prstGeom prst="rect">
            <a:avLst/>
          </a:prstGeom>
          <a:noFill/>
          <a:ln/>
        </p:spPr>
        <p:txBody>
          <a:bodyPr wrap="square" lIns="0" tIns="0" rIns="0" bIns="0" rtlCol="0" anchor="t"/>
          <a:lstStyle/>
          <a:p>
            <a:pPr marL="0" indent="0" algn="ctr">
              <a:lnSpc>
                <a:spcPct val="105000"/>
              </a:lnSpc>
              <a:buNone/>
            </a:pPr>
            <a:r>
              <a:rPr lang="en-US" sz="1000" dirty="0">
                <a:solidFill>
                  <a:srgbClr val="5F738A"/>
                </a:solidFill>
                <a:latin typeface="Segoe UI" pitchFamily="34" charset="0"/>
                <a:ea typeface="Segoe UI" pitchFamily="34" charset="-122"/>
                <a:cs typeface="Segoe UI" pitchFamily="34" charset="-120"/>
              </a:rPr>
              <a:t>2025</a:t>
            </a:r>
            <a:endParaRPr lang="en-US" sz="1000" dirty="0"/>
          </a:p>
        </p:txBody>
      </p:sp>
      <p:sp>
        <p:nvSpPr>
          <p:cNvPr id="29" name="a2fade_gn0"/>
          <p:cNvSpPr txBox="1"/>
          <p:nvPr/>
        </p:nvSpPr>
        <p:spPr>
          <a:xfrm>
            <a:off x="7726680" y="22402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5</a:t>
            </a:r>
            <a:endParaRPr lang="en-US" sz="1100" dirty="0"/>
          </a:p>
        </p:txBody>
      </p:sp>
      <p:sp>
        <p:nvSpPr>
          <p:cNvPr id="30" name="a2fade_gw0"/>
          <p:cNvSpPr/>
          <p:nvPr/>
        </p:nvSpPr>
        <p:spPr>
          <a:xfrm>
            <a:off x="8719413" y="2286000"/>
            <a:ext cx="829398" cy="182880"/>
          </a:xfrm>
          <a:prstGeom prst="roundRect">
            <a:avLst>
              <a:gd name="adj" fmla="val 30000"/>
            </a:avLst>
          </a:prstGeom>
          <a:solidFill>
            <a:srgbClr val="5C8DB8">
              <a:alpha val="45000"/>
            </a:srgbClr>
          </a:solidFill>
          <a:ln w="9525">
            <a:solidFill>
              <a:srgbClr val="5C8DB8"/>
            </a:solidFill>
            <a:prstDash val="solid"/>
          </a:ln>
        </p:spPr>
        <p:txBody>
          <a:bodyPr/>
          <a:lstStyle/>
          <a:p>
            <a:endParaRPr lang="en-GB"/>
          </a:p>
        </p:txBody>
      </p:sp>
      <p:sp>
        <p:nvSpPr>
          <p:cNvPr id="31" name="a3pop_gd0"/>
          <p:cNvSpPr/>
          <p:nvPr/>
        </p:nvSpPr>
        <p:spPr>
          <a:xfrm>
            <a:off x="9129251" y="2258568"/>
            <a:ext cx="237744" cy="237744"/>
          </a:xfrm>
          <a:prstGeom prst="diamond">
            <a:avLst/>
          </a:prstGeom>
          <a:solidFill>
            <a:srgbClr val="BE5F6D"/>
          </a:solidFill>
          <a:ln w="12700">
            <a:solidFill>
              <a:srgbClr val="FFFFFF"/>
            </a:solidFill>
            <a:prstDash val="solid"/>
          </a:ln>
        </p:spPr>
        <p:txBody>
          <a:bodyPr/>
          <a:lstStyle/>
          <a:p>
            <a:endParaRPr lang="en-GB"/>
          </a:p>
        </p:txBody>
      </p:sp>
      <p:sp>
        <p:nvSpPr>
          <p:cNvPr id="32" name="a2fade_gn1"/>
          <p:cNvSpPr txBox="1"/>
          <p:nvPr/>
        </p:nvSpPr>
        <p:spPr>
          <a:xfrm>
            <a:off x="7726680" y="26974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9</a:t>
            </a:r>
            <a:endParaRPr lang="en-US" sz="1100" dirty="0"/>
          </a:p>
        </p:txBody>
      </p:sp>
      <p:sp>
        <p:nvSpPr>
          <p:cNvPr id="33" name="a2fade_gw1"/>
          <p:cNvSpPr/>
          <p:nvPr/>
        </p:nvSpPr>
        <p:spPr>
          <a:xfrm>
            <a:off x="8719413" y="2743200"/>
            <a:ext cx="829398" cy="182880"/>
          </a:xfrm>
          <a:prstGeom prst="roundRect">
            <a:avLst>
              <a:gd name="adj" fmla="val 30000"/>
            </a:avLst>
          </a:prstGeom>
          <a:solidFill>
            <a:srgbClr val="5C8DB8">
              <a:alpha val="45000"/>
            </a:srgbClr>
          </a:solidFill>
          <a:ln w="9525">
            <a:solidFill>
              <a:srgbClr val="5C8DB8"/>
            </a:solidFill>
            <a:prstDash val="solid"/>
          </a:ln>
        </p:spPr>
        <p:txBody>
          <a:bodyPr/>
          <a:lstStyle/>
          <a:p>
            <a:endParaRPr lang="en-GB"/>
          </a:p>
        </p:txBody>
      </p:sp>
      <p:sp>
        <p:nvSpPr>
          <p:cNvPr id="34" name="a4pop_gd1"/>
          <p:cNvSpPr/>
          <p:nvPr/>
        </p:nvSpPr>
        <p:spPr>
          <a:xfrm>
            <a:off x="9236997" y="2715768"/>
            <a:ext cx="237744" cy="237744"/>
          </a:xfrm>
          <a:prstGeom prst="diamond">
            <a:avLst/>
          </a:prstGeom>
          <a:solidFill>
            <a:srgbClr val="BE5F6D"/>
          </a:solidFill>
          <a:ln w="12700">
            <a:solidFill>
              <a:srgbClr val="FFFFFF"/>
            </a:solidFill>
            <a:prstDash val="solid"/>
          </a:ln>
        </p:spPr>
        <p:txBody>
          <a:bodyPr/>
          <a:lstStyle/>
          <a:p>
            <a:endParaRPr lang="en-GB"/>
          </a:p>
        </p:txBody>
      </p:sp>
      <p:sp>
        <p:nvSpPr>
          <p:cNvPr id="35" name="a2fade_gn2"/>
          <p:cNvSpPr txBox="1"/>
          <p:nvPr/>
        </p:nvSpPr>
        <p:spPr>
          <a:xfrm>
            <a:off x="7726680" y="31546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12</a:t>
            </a:r>
            <a:endParaRPr lang="en-US" sz="1100" dirty="0"/>
          </a:p>
        </p:txBody>
      </p:sp>
      <p:sp>
        <p:nvSpPr>
          <p:cNvPr id="36" name="a2fade_gw2"/>
          <p:cNvSpPr/>
          <p:nvPr/>
        </p:nvSpPr>
        <p:spPr>
          <a:xfrm>
            <a:off x="8719413" y="3200400"/>
            <a:ext cx="829398" cy="182880"/>
          </a:xfrm>
          <a:prstGeom prst="roundRect">
            <a:avLst>
              <a:gd name="adj" fmla="val 30000"/>
            </a:avLst>
          </a:prstGeom>
          <a:solidFill>
            <a:srgbClr val="5C8DB8">
              <a:alpha val="45000"/>
            </a:srgbClr>
          </a:solidFill>
          <a:ln w="9525">
            <a:solidFill>
              <a:srgbClr val="5C8DB8"/>
            </a:solidFill>
            <a:prstDash val="solid"/>
          </a:ln>
        </p:spPr>
        <p:txBody>
          <a:bodyPr/>
          <a:lstStyle/>
          <a:p>
            <a:endParaRPr lang="en-GB"/>
          </a:p>
        </p:txBody>
      </p:sp>
      <p:sp>
        <p:nvSpPr>
          <p:cNvPr id="37" name="a5pop_gd2"/>
          <p:cNvSpPr/>
          <p:nvPr/>
        </p:nvSpPr>
        <p:spPr>
          <a:xfrm>
            <a:off x="9262055" y="3172968"/>
            <a:ext cx="237744" cy="237744"/>
          </a:xfrm>
          <a:prstGeom prst="diamond">
            <a:avLst/>
          </a:prstGeom>
          <a:solidFill>
            <a:srgbClr val="BE5F6D"/>
          </a:solidFill>
          <a:ln w="12700">
            <a:solidFill>
              <a:srgbClr val="FFFFFF"/>
            </a:solidFill>
            <a:prstDash val="solid"/>
          </a:ln>
        </p:spPr>
        <p:txBody>
          <a:bodyPr/>
          <a:lstStyle/>
          <a:p>
            <a:endParaRPr lang="en-GB"/>
          </a:p>
        </p:txBody>
      </p:sp>
      <p:sp>
        <p:nvSpPr>
          <p:cNvPr id="38" name="a2fade_gn3"/>
          <p:cNvSpPr txBox="1"/>
          <p:nvPr/>
        </p:nvSpPr>
        <p:spPr>
          <a:xfrm>
            <a:off x="7726680" y="36118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6</a:t>
            </a:r>
            <a:endParaRPr lang="en-US" sz="1100" dirty="0"/>
          </a:p>
        </p:txBody>
      </p:sp>
      <p:sp>
        <p:nvSpPr>
          <p:cNvPr id="39" name="a2fade_gw3"/>
          <p:cNvSpPr/>
          <p:nvPr/>
        </p:nvSpPr>
        <p:spPr>
          <a:xfrm>
            <a:off x="8719413" y="3657600"/>
            <a:ext cx="829398" cy="182880"/>
          </a:xfrm>
          <a:prstGeom prst="roundRect">
            <a:avLst>
              <a:gd name="adj" fmla="val 30000"/>
            </a:avLst>
          </a:prstGeom>
          <a:solidFill>
            <a:srgbClr val="5C8DB8">
              <a:alpha val="45000"/>
            </a:srgbClr>
          </a:solidFill>
          <a:ln w="9525">
            <a:solidFill>
              <a:srgbClr val="5C8DB8"/>
            </a:solidFill>
            <a:prstDash val="solid"/>
          </a:ln>
        </p:spPr>
        <p:txBody>
          <a:bodyPr/>
          <a:lstStyle/>
          <a:p>
            <a:endParaRPr lang="en-GB"/>
          </a:p>
        </p:txBody>
      </p:sp>
      <p:sp>
        <p:nvSpPr>
          <p:cNvPr id="40" name="a6pop_gd3"/>
          <p:cNvSpPr/>
          <p:nvPr/>
        </p:nvSpPr>
        <p:spPr>
          <a:xfrm>
            <a:off x="9417410" y="3630168"/>
            <a:ext cx="237744" cy="237744"/>
          </a:xfrm>
          <a:prstGeom prst="diamond">
            <a:avLst/>
          </a:prstGeom>
          <a:solidFill>
            <a:srgbClr val="BE5F6D"/>
          </a:solidFill>
          <a:ln w="12700">
            <a:solidFill>
              <a:srgbClr val="FFFFFF"/>
            </a:solidFill>
            <a:prstDash val="solid"/>
          </a:ln>
        </p:spPr>
        <p:txBody>
          <a:bodyPr/>
          <a:lstStyle/>
          <a:p>
            <a:endParaRPr lang="en-GB"/>
          </a:p>
        </p:txBody>
      </p:sp>
      <p:sp>
        <p:nvSpPr>
          <p:cNvPr id="41" name="a2fade_gn4"/>
          <p:cNvSpPr txBox="1"/>
          <p:nvPr/>
        </p:nvSpPr>
        <p:spPr>
          <a:xfrm>
            <a:off x="7726680" y="4069080"/>
            <a:ext cx="777240" cy="274320"/>
          </a:xfrm>
          <a:prstGeom prst="rect">
            <a:avLst/>
          </a:prstGeom>
          <a:noFill/>
          <a:ln/>
        </p:spPr>
        <p:txBody>
          <a:bodyPr wrap="square" lIns="0" tIns="0" rIns="0" bIns="0" rtlCol="0" anchor="ctr"/>
          <a:lstStyle/>
          <a:p>
            <a:pPr marL="0" indent="0" algn="l">
              <a:lnSpc>
                <a:spcPct val="105000"/>
              </a:lnSpc>
              <a:buNone/>
            </a:pPr>
            <a:r>
              <a:rPr lang="en-US" sz="1100" dirty="0">
                <a:solidFill>
                  <a:srgbClr val="1B2B40"/>
                </a:solidFill>
                <a:latin typeface="Segoe UI Semibold" pitchFamily="34" charset="0"/>
                <a:ea typeface="Segoe UI Semibold" pitchFamily="34" charset="-122"/>
                <a:cs typeface="Segoe UI Semibold" pitchFamily="34" charset="-120"/>
              </a:rPr>
              <a:t>Stand 18</a:t>
            </a:r>
            <a:endParaRPr lang="en-US" sz="1100" dirty="0"/>
          </a:p>
        </p:txBody>
      </p:sp>
      <p:sp>
        <p:nvSpPr>
          <p:cNvPr id="42" name="a2fade_gw4"/>
          <p:cNvSpPr/>
          <p:nvPr/>
        </p:nvSpPr>
        <p:spPr>
          <a:xfrm>
            <a:off x="10212830" y="4114800"/>
            <a:ext cx="1049902" cy="182880"/>
          </a:xfrm>
          <a:prstGeom prst="roundRect">
            <a:avLst>
              <a:gd name="adj" fmla="val 30000"/>
            </a:avLst>
          </a:prstGeom>
          <a:solidFill>
            <a:srgbClr val="5C8DB8">
              <a:alpha val="45000"/>
            </a:srgbClr>
          </a:solidFill>
          <a:ln w="9525">
            <a:solidFill>
              <a:srgbClr val="5C8DB8"/>
            </a:solidFill>
            <a:prstDash val="solid"/>
          </a:ln>
        </p:spPr>
        <p:txBody>
          <a:bodyPr/>
          <a:lstStyle/>
          <a:p>
            <a:endParaRPr lang="en-GB"/>
          </a:p>
        </p:txBody>
      </p:sp>
      <p:sp>
        <p:nvSpPr>
          <p:cNvPr id="43" name="a7pop_gd4"/>
          <p:cNvSpPr/>
          <p:nvPr/>
        </p:nvSpPr>
        <p:spPr>
          <a:xfrm>
            <a:off x="10970965" y="4087368"/>
            <a:ext cx="237744" cy="237744"/>
          </a:xfrm>
          <a:prstGeom prst="diamond">
            <a:avLst/>
          </a:prstGeom>
          <a:solidFill>
            <a:srgbClr val="BE5F6D"/>
          </a:solidFill>
          <a:ln w="12700">
            <a:solidFill>
              <a:srgbClr val="FFFFFF"/>
            </a:solidFill>
            <a:prstDash val="solid"/>
          </a:ln>
        </p:spPr>
        <p:txBody>
          <a:bodyPr/>
          <a:lstStyle/>
          <a:p>
            <a:endParaRPr lang="en-GB"/>
          </a:p>
        </p:txBody>
      </p:sp>
      <p:sp>
        <p:nvSpPr>
          <p:cNvPr id="44" name="a8ping_d0"/>
          <p:cNvSpPr/>
          <p:nvPr/>
        </p:nvSpPr>
        <p:spPr>
          <a:xfrm>
            <a:off x="9101819" y="2231136"/>
            <a:ext cx="292608" cy="292608"/>
          </a:xfrm>
          <a:prstGeom prst="ellipse">
            <a:avLst/>
          </a:prstGeom>
          <a:ln w="25400">
            <a:solidFill>
              <a:srgbClr val="BE5F6D"/>
            </a:solidFill>
            <a:prstDash val="solid"/>
          </a:ln>
        </p:spPr>
        <p:txBody>
          <a:bodyPr/>
          <a:lstStyle/>
          <a:p>
            <a:endParaRPr lang="en-GB"/>
          </a:p>
        </p:txBody>
      </p:sp>
      <p:sp>
        <p:nvSpPr>
          <p:cNvPr id="45" name="a8fade_lg1"/>
          <p:cNvSpPr/>
          <p:nvPr/>
        </p:nvSpPr>
        <p:spPr>
          <a:xfrm>
            <a:off x="7726680" y="4873752"/>
            <a:ext cx="274320" cy="128016"/>
          </a:xfrm>
          <a:prstGeom prst="roundRect">
            <a:avLst>
              <a:gd name="adj" fmla="val 35714"/>
            </a:avLst>
          </a:prstGeom>
          <a:solidFill>
            <a:srgbClr val="5C8DB8">
              <a:alpha val="45000"/>
            </a:srgbClr>
          </a:solidFill>
          <a:ln w="9525">
            <a:solidFill>
              <a:srgbClr val="5C8DB8"/>
            </a:solidFill>
            <a:prstDash val="solid"/>
          </a:ln>
        </p:spPr>
        <p:txBody>
          <a:bodyPr/>
          <a:lstStyle/>
          <a:p>
            <a:endParaRPr lang="en-GB"/>
          </a:p>
        </p:txBody>
      </p:sp>
      <p:sp>
        <p:nvSpPr>
          <p:cNvPr id="46" name="a8fade_lg1t"/>
          <p:cNvSpPr txBox="1"/>
          <p:nvPr/>
        </p:nvSpPr>
        <p:spPr>
          <a:xfrm>
            <a:off x="8065008" y="4818888"/>
            <a:ext cx="2194560" cy="237744"/>
          </a:xfrm>
          <a:prstGeom prst="rect">
            <a:avLst/>
          </a:prstGeom>
          <a:noFill/>
          <a:ln/>
        </p:spPr>
        <p:txBody>
          <a:bodyPr wrap="square" lIns="0" tIns="0" rIns="0" bIns="0" rtlCol="0" anchor="t"/>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last intact → first capture with works</a:t>
            </a:r>
            <a:endParaRPr lang="en-US" sz="1000" dirty="0"/>
          </a:p>
        </p:txBody>
      </p:sp>
      <p:sp>
        <p:nvSpPr>
          <p:cNvPr id="47" name="a8fade_lg2"/>
          <p:cNvSpPr/>
          <p:nvPr/>
        </p:nvSpPr>
        <p:spPr>
          <a:xfrm>
            <a:off x="10332720" y="4846320"/>
            <a:ext cx="164592" cy="164592"/>
          </a:xfrm>
          <a:prstGeom prst="diamond">
            <a:avLst/>
          </a:prstGeom>
          <a:solidFill>
            <a:srgbClr val="BE5F6D"/>
          </a:solidFill>
          <a:ln/>
        </p:spPr>
        <p:txBody>
          <a:bodyPr/>
          <a:lstStyle/>
          <a:p>
            <a:endParaRPr lang="en-GB"/>
          </a:p>
        </p:txBody>
      </p:sp>
      <p:sp>
        <p:nvSpPr>
          <p:cNvPr id="48" name="a8fade_lg2t"/>
          <p:cNvSpPr txBox="1"/>
          <p:nvPr/>
        </p:nvSpPr>
        <p:spPr>
          <a:xfrm>
            <a:off x="10543032" y="4818888"/>
            <a:ext cx="1005840" cy="237744"/>
          </a:xfrm>
          <a:prstGeom prst="rect">
            <a:avLst/>
          </a:prstGeom>
          <a:noFill/>
          <a:ln/>
        </p:spPr>
        <p:txBody>
          <a:bodyPr wrap="square" lIns="0" tIns="0" rIns="0" bIns="0" rtlCol="0" anchor="t"/>
          <a:lstStyle/>
          <a:p>
            <a:pPr marL="0" indent="0" algn="l">
              <a:lnSpc>
                <a:spcPct val="105000"/>
              </a:lnSpc>
              <a:buNone/>
            </a:pPr>
            <a:r>
              <a:rPr lang="en-US" sz="1000" dirty="0">
                <a:solidFill>
                  <a:srgbClr val="5F738A"/>
                </a:solidFill>
                <a:latin typeface="Segoe UI" pitchFamily="34" charset="0"/>
                <a:ea typeface="Segoe UI" pitchFamily="34" charset="-122"/>
                <a:cs typeface="Segoe UI" pitchFamily="34" charset="-120"/>
              </a:rPr>
              <a:t>our alert starts</a:t>
            </a:r>
            <a:endParaRPr lang="en-US" sz="1000" dirty="0"/>
          </a:p>
        </p:txBody>
      </p:sp>
      <p:sp>
        <p:nvSpPr>
          <p:cNvPr id="49" name="a9float_msg"/>
          <p:cNvSpPr/>
          <p:nvPr/>
        </p:nvSpPr>
        <p:spPr>
          <a:xfrm>
            <a:off x="7543800" y="5257800"/>
            <a:ext cx="4096512" cy="914400"/>
          </a:xfrm>
          <a:prstGeom prst="roundRect">
            <a:avLst>
              <a:gd name="adj" fmla="val 1400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50" name="a9float_msgt"/>
          <p:cNvSpPr txBox="1"/>
          <p:nvPr/>
        </p:nvSpPr>
        <p:spPr>
          <a:xfrm>
            <a:off x="7726680" y="5257800"/>
            <a:ext cx="3794760" cy="914400"/>
          </a:xfrm>
          <a:prstGeom prst="rect">
            <a:avLst/>
          </a:prstGeom>
          <a:noFill/>
          <a:ln/>
        </p:spPr>
        <p:txBody>
          <a:bodyPr wrap="square" lIns="0" tIns="0" rIns="0" bIns="0" rtlCol="0" anchor="ctr"/>
          <a:lstStyle/>
          <a:p>
            <a:pPr marL="0" indent="0" algn="l">
              <a:lnSpc>
                <a:spcPct val="105000"/>
              </a:lnSpc>
              <a:buNone/>
            </a:pPr>
            <a:r>
              <a:rPr lang="en-US" sz="1300" b="1" dirty="0">
                <a:solidFill>
                  <a:srgbClr val="2F5D8F"/>
                </a:solidFill>
                <a:latin typeface="Segoe UI" pitchFamily="34" charset="0"/>
                <a:ea typeface="Segoe UI" pitchFamily="34" charset="-122"/>
                <a:cs typeface="Segoe UI" pitchFamily="34" charset="-120"/>
              </a:rPr>
              <a:t>Every alert began inside the window. </a:t>
            </a:r>
            <a:r>
              <a:rPr lang="en-US" sz="1300" dirty="0">
                <a:solidFill>
                  <a:srgbClr val="1B2B40"/>
                </a:solidFill>
                <a:latin typeface="Segoe UI" pitchFamily="34" charset="0"/>
                <a:ea typeface="Segoe UI" pitchFamily="34" charset="-122"/>
                <a:cs typeface="Segoe UI" pitchFamily="34" charset="-120"/>
              </a:rPr>
              <a:t>Detection as works happen, not advance warning.</a:t>
            </a:r>
            <a:endParaRPr lang="en-US" sz="1300" dirty="0"/>
          </a:p>
        </p:txBody>
      </p:sp>
      <p:sp>
        <p:nvSpPr>
          <p:cNvPr id="5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53" presetClass="entr" presetSubtype="16"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800" fill="hold"/>
                                        <p:tgtEl>
                                          <p:spTgt spid="7"/>
                                        </p:tgtEl>
                                        <p:attrNameLst>
                                          <p:attrName>ppt_w</p:attrName>
                                        </p:attrNameLst>
                                      </p:cBhvr>
                                      <p:tavLst>
                                        <p:tav tm="0">
                                          <p:val>
                                            <p:strVal val="#ppt_w*0.85"/>
                                          </p:val>
                                        </p:tav>
                                        <p:tav tm="100000">
                                          <p:val>
                                            <p:strVal val="#ppt_w"/>
                                          </p:val>
                                        </p:tav>
                                      </p:tavLst>
                                    </p:anim>
                                    <p:anim calcmode="lin" valueType="num">
                                      <p:cBhvr additive="base">
                                        <p:cTn id="16" dur="800" fill="hold"/>
                                        <p:tgtEl>
                                          <p:spTgt spid="7"/>
                                        </p:tgtEl>
                                        <p:attrNameLst>
                                          <p:attrName>ppt_h</p:attrName>
                                        </p:attrNameLst>
                                      </p:cBhvr>
                                      <p:tavLst>
                                        <p:tav tm="0">
                                          <p:val>
                                            <p:strVal val="#ppt_h*0.85"/>
                                          </p:val>
                                        </p:tav>
                                        <p:tav tm="100000">
                                          <p:val>
                                            <p:strVal val="#ppt_h"/>
                                          </p:val>
                                        </p:tav>
                                      </p:tavLst>
                                    </p:anim>
                                  </p:childTnLst>
                                </p:cTn>
                              </p:par>
                              <p:par>
                                <p:cTn id="17" presetID="53" presetClass="entr" presetSubtype="16" decel="100000" fill="hold" grpId="0" nodeType="withEffect">
                                  <p:stCondLst>
                                    <p:cond delay="47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anim calcmode="lin" valueType="num">
                                      <p:cBhvr additive="base">
                                        <p:cTn id="20" dur="800" fill="hold"/>
                                        <p:tgtEl>
                                          <p:spTgt spid="8"/>
                                        </p:tgtEl>
                                        <p:attrNameLst>
                                          <p:attrName>ppt_w</p:attrName>
                                        </p:attrNameLst>
                                      </p:cBhvr>
                                      <p:tavLst>
                                        <p:tav tm="0">
                                          <p:val>
                                            <p:strVal val="#ppt_w*0.85"/>
                                          </p:val>
                                        </p:tav>
                                        <p:tav tm="100000">
                                          <p:val>
                                            <p:strVal val="#ppt_w"/>
                                          </p:val>
                                        </p:tav>
                                      </p:tavLst>
                                    </p:anim>
                                    <p:anim calcmode="lin" valueType="num">
                                      <p:cBhvr additive="base">
                                        <p:cTn id="21" dur="800" fill="hold"/>
                                        <p:tgtEl>
                                          <p:spTgt spid="8"/>
                                        </p:tgtEl>
                                        <p:attrNameLst>
                                          <p:attrName>ppt_h</p:attrName>
                                        </p:attrNameLst>
                                      </p:cBhvr>
                                      <p:tavLst>
                                        <p:tav tm="0">
                                          <p:val>
                                            <p:strVal val="#ppt_h*0.85"/>
                                          </p:val>
                                        </p:tav>
                                        <p:tav tm="100000">
                                          <p:val>
                                            <p:strVal val="#ppt_h"/>
                                          </p:val>
                                        </p:tav>
                                      </p:tavLst>
                                    </p:anim>
                                  </p:childTnLst>
                                </p:cTn>
                              </p:par>
                              <p:par>
                                <p:cTn id="22" presetID="53" presetClass="entr" presetSubtype="16" decel="100000" fill="hold" grpId="0" nodeType="withEffect">
                                  <p:stCondLst>
                                    <p:cond delay="47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00"/>
                                        <p:tgtEl>
                                          <p:spTgt spid="9"/>
                                        </p:tgtEl>
                                      </p:cBhvr>
                                    </p:animEffect>
                                    <p:anim calcmode="lin" valueType="num">
                                      <p:cBhvr additive="base">
                                        <p:cTn id="25" dur="800" fill="hold"/>
                                        <p:tgtEl>
                                          <p:spTgt spid="9"/>
                                        </p:tgtEl>
                                        <p:attrNameLst>
                                          <p:attrName>ppt_w</p:attrName>
                                        </p:attrNameLst>
                                      </p:cBhvr>
                                      <p:tavLst>
                                        <p:tav tm="0">
                                          <p:val>
                                            <p:strVal val="#ppt_w*0.85"/>
                                          </p:val>
                                        </p:tav>
                                        <p:tav tm="100000">
                                          <p:val>
                                            <p:strVal val="#ppt_w"/>
                                          </p:val>
                                        </p:tav>
                                      </p:tavLst>
                                    </p:anim>
                                    <p:anim calcmode="lin" valueType="num">
                                      <p:cBhvr additive="base">
                                        <p:cTn id="26" dur="800" fill="hold"/>
                                        <p:tgtEl>
                                          <p:spTgt spid="9"/>
                                        </p:tgtEl>
                                        <p:attrNameLst>
                                          <p:attrName>ppt_h</p:attrName>
                                        </p:attrNameLst>
                                      </p:cBhvr>
                                      <p:tavLst>
                                        <p:tav tm="0">
                                          <p:val>
                                            <p:strVal val="#ppt_h*0.85"/>
                                          </p:val>
                                        </p:tav>
                                        <p:tav tm="100000">
                                          <p:val>
                                            <p:strVal val="#ppt_h"/>
                                          </p:val>
                                        </p:tav>
                                      </p:tavLst>
                                    </p:anim>
                                  </p:childTnLst>
                                </p:cTn>
                              </p:par>
                              <p:par>
                                <p:cTn id="27" presetID="42" presetClass="entr" presetSubtype="0" decel="100000" fill="hold" grpId="0" nodeType="withEffect">
                                  <p:stCondLst>
                                    <p:cond delay="4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700"/>
                                        <p:tgtEl>
                                          <p:spTgt spid="19"/>
                                        </p:tgtEl>
                                      </p:cBhvr>
                                    </p:animEffect>
                                    <p:anim calcmode="lin" valueType="num">
                                      <p:cBhvr additive="base">
                                        <p:cTn id="30" dur="700" fill="hold"/>
                                        <p:tgtEl>
                                          <p:spTgt spid="19"/>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47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700"/>
                                        <p:tgtEl>
                                          <p:spTgt spid="20"/>
                                        </p:tgtEl>
                                      </p:cBhvr>
                                    </p:animEffect>
                                    <p:anim calcmode="lin" valueType="num">
                                      <p:cBhvr additive="base">
                                        <p:cTn id="34" dur="700" fill="hold"/>
                                        <p:tgtEl>
                                          <p:spTgt spid="20"/>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47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700"/>
                                        <p:tgtEl>
                                          <p:spTgt spid="21"/>
                                        </p:tgtEl>
                                      </p:cBhvr>
                                    </p:animEffect>
                                    <p:anim calcmode="lin" valueType="num">
                                      <p:cBhvr additive="base">
                                        <p:cTn id="38" dur="700" fill="hold"/>
                                        <p:tgtEl>
                                          <p:spTgt spid="21"/>
                                        </p:tgtEl>
                                        <p:attrNameLst>
                                          <p:attrName>ppt_y</p:attrName>
                                        </p:attrNameLst>
                                      </p:cBhvr>
                                      <p:tavLst>
                                        <p:tav tm="0">
                                          <p:val>
                                            <p:strVal val="#ppt_y+0.03"/>
                                          </p:val>
                                        </p:tav>
                                        <p:tav tm="100000">
                                          <p:val>
                                            <p:strVal val="#ppt_y"/>
                                          </p:val>
                                        </p:tav>
                                      </p:tavLst>
                                    </p:anim>
                                  </p:childTnLst>
                                </p:cTn>
                              </p:par>
                              <p:par>
                                <p:cTn id="39" presetID="42" presetClass="entr" presetSubtype="0" decel="100000" fill="hold" grpId="0" nodeType="withEffect">
                                  <p:stCondLst>
                                    <p:cond delay="4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700"/>
                                        <p:tgtEl>
                                          <p:spTgt spid="22"/>
                                        </p:tgtEl>
                                      </p:cBhvr>
                                    </p:animEffect>
                                    <p:anim calcmode="lin" valueType="num">
                                      <p:cBhvr additive="base">
                                        <p:cTn id="42" dur="700" fill="hold"/>
                                        <p:tgtEl>
                                          <p:spTgt spid="22"/>
                                        </p:tgtEl>
                                        <p:attrNameLst>
                                          <p:attrName>ppt_y</p:attrName>
                                        </p:attrNameLst>
                                      </p:cBhvr>
                                      <p:tavLst>
                                        <p:tav tm="0">
                                          <p:val>
                                            <p:strVal val="#ppt_y+0.03"/>
                                          </p:val>
                                        </p:tav>
                                        <p:tav tm="100000">
                                          <p:val>
                                            <p:strVal val="#ppt_y"/>
                                          </p:val>
                                        </p:tav>
                                      </p:tavLst>
                                    </p:anim>
                                  </p:childTnLst>
                                </p:cTn>
                              </p:par>
                              <p:par>
                                <p:cTn id="43" presetID="42" presetClass="entr" presetSubtype="0" decel="100000" fill="hold" grpId="0" nodeType="withEffect">
                                  <p:stCondLst>
                                    <p:cond delay="47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700"/>
                                        <p:tgtEl>
                                          <p:spTgt spid="23"/>
                                        </p:tgtEl>
                                      </p:cBhvr>
                                    </p:animEffect>
                                    <p:anim calcmode="lin" valueType="num">
                                      <p:cBhvr additive="base">
                                        <p:cTn id="46" dur="700" fill="hold"/>
                                        <p:tgtEl>
                                          <p:spTgt spid="23"/>
                                        </p:tgtEl>
                                        <p:attrNameLst>
                                          <p:attrName>ppt_y</p:attrName>
                                        </p:attrNameLst>
                                      </p:cBhvr>
                                      <p:tavLst>
                                        <p:tav tm="0">
                                          <p:val>
                                            <p:strVal val="#ppt_y+0.03"/>
                                          </p:val>
                                        </p:tav>
                                        <p:tav tm="100000">
                                          <p:val>
                                            <p:strVal val="#ppt_y"/>
                                          </p:val>
                                        </p:tav>
                                      </p:tavLst>
                                    </p:anim>
                                  </p:childTnLst>
                                </p:cTn>
                              </p:par>
                              <p:par>
                                <p:cTn id="47" presetID="42" presetClass="entr" presetSubtype="0" decel="100000" fill="hold" grpId="0" nodeType="withEffect">
                                  <p:stCondLst>
                                    <p:cond delay="47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700"/>
                                        <p:tgtEl>
                                          <p:spTgt spid="24"/>
                                        </p:tgtEl>
                                      </p:cBhvr>
                                    </p:animEffect>
                                    <p:anim calcmode="lin" valueType="num">
                                      <p:cBhvr additive="base">
                                        <p:cTn id="50" dur="700" fill="hold"/>
                                        <p:tgtEl>
                                          <p:spTgt spid="24"/>
                                        </p:tgtEl>
                                        <p:attrNameLst>
                                          <p:attrName>ppt_y</p:attrName>
                                        </p:attrNameLst>
                                      </p:cBhvr>
                                      <p:tavLst>
                                        <p:tav tm="0">
                                          <p:val>
                                            <p:strVal val="#ppt_y+0.03"/>
                                          </p:val>
                                        </p:tav>
                                        <p:tav tm="100000">
                                          <p:val>
                                            <p:strVal val="#ppt_y"/>
                                          </p:val>
                                        </p:tav>
                                      </p:tavLst>
                                    </p:anim>
                                  </p:childTnLst>
                                </p:cTn>
                              </p:par>
                              <p:par>
                                <p:cTn id="51" presetID="42" presetClass="entr" presetSubtype="0" decel="100000" fill="hold" grpId="0" nodeType="withEffect">
                                  <p:stCondLst>
                                    <p:cond delay="47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700"/>
                                        <p:tgtEl>
                                          <p:spTgt spid="25"/>
                                        </p:tgtEl>
                                      </p:cBhvr>
                                    </p:animEffect>
                                    <p:anim calcmode="lin" valueType="num">
                                      <p:cBhvr additive="base">
                                        <p:cTn id="54" dur="700" fill="hold"/>
                                        <p:tgtEl>
                                          <p:spTgt spid="25"/>
                                        </p:tgtEl>
                                        <p:attrNameLst>
                                          <p:attrName>ppt_y</p:attrName>
                                        </p:attrNameLst>
                                      </p:cBhvr>
                                      <p:tavLst>
                                        <p:tav tm="0">
                                          <p:val>
                                            <p:strVal val="#ppt_y+0.03"/>
                                          </p:val>
                                        </p:tav>
                                        <p:tav tm="100000">
                                          <p:val>
                                            <p:strVal val="#ppt_y"/>
                                          </p:val>
                                        </p:tav>
                                      </p:tavLst>
                                    </p:anim>
                                  </p:childTnLst>
                                </p:cTn>
                              </p:par>
                              <p:par>
                                <p:cTn id="55" presetID="42" presetClass="entr" presetSubtype="0" decel="100000" fill="hold" grpId="0" nodeType="withEffect">
                                  <p:stCondLst>
                                    <p:cond delay="47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700"/>
                                        <p:tgtEl>
                                          <p:spTgt spid="26"/>
                                        </p:tgtEl>
                                      </p:cBhvr>
                                    </p:animEffect>
                                    <p:anim calcmode="lin" valueType="num">
                                      <p:cBhvr additive="base">
                                        <p:cTn id="58" dur="700" fill="hold"/>
                                        <p:tgtEl>
                                          <p:spTgt spid="26"/>
                                        </p:tgtEl>
                                        <p:attrNameLst>
                                          <p:attrName>ppt_y</p:attrName>
                                        </p:attrNameLst>
                                      </p:cBhvr>
                                      <p:tavLst>
                                        <p:tav tm="0">
                                          <p:val>
                                            <p:strVal val="#ppt_y+0.03"/>
                                          </p:val>
                                        </p:tav>
                                        <p:tav tm="100000">
                                          <p:val>
                                            <p:strVal val="#ppt_y"/>
                                          </p:val>
                                        </p:tav>
                                      </p:tavLst>
                                    </p:anim>
                                  </p:childTnLst>
                                </p:cTn>
                              </p:par>
                              <p:par>
                                <p:cTn id="59" presetID="42" presetClass="entr" presetSubtype="0" decel="100000" fill="hold" grpId="0" nodeType="withEffect">
                                  <p:stCondLst>
                                    <p:cond delay="47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700"/>
                                        <p:tgtEl>
                                          <p:spTgt spid="27"/>
                                        </p:tgtEl>
                                      </p:cBhvr>
                                    </p:animEffect>
                                    <p:anim calcmode="lin" valueType="num">
                                      <p:cBhvr additive="base">
                                        <p:cTn id="62" dur="700" fill="hold"/>
                                        <p:tgtEl>
                                          <p:spTgt spid="27"/>
                                        </p:tgtEl>
                                        <p:attrNameLst>
                                          <p:attrName>ppt_y</p:attrName>
                                        </p:attrNameLst>
                                      </p:cBhvr>
                                      <p:tavLst>
                                        <p:tav tm="0">
                                          <p:val>
                                            <p:strVal val="#ppt_y+0.03"/>
                                          </p:val>
                                        </p:tav>
                                        <p:tav tm="100000">
                                          <p:val>
                                            <p:strVal val="#ppt_y"/>
                                          </p:val>
                                        </p:tav>
                                      </p:tavLst>
                                    </p:anim>
                                  </p:childTnLst>
                                </p:cTn>
                              </p:par>
                              <p:par>
                                <p:cTn id="63" presetID="42" presetClass="entr" presetSubtype="0" decel="100000" fill="hold" grpId="0" nodeType="withEffect">
                                  <p:stCondLst>
                                    <p:cond delay="47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700"/>
                                        <p:tgtEl>
                                          <p:spTgt spid="28"/>
                                        </p:tgtEl>
                                      </p:cBhvr>
                                    </p:animEffect>
                                    <p:anim calcmode="lin" valueType="num">
                                      <p:cBhvr additive="base">
                                        <p:cTn id="66" dur="700" fill="hold"/>
                                        <p:tgtEl>
                                          <p:spTgt spid="28"/>
                                        </p:tgtEl>
                                        <p:attrNameLst>
                                          <p:attrName>ppt_y</p:attrName>
                                        </p:attrNameLst>
                                      </p:cBhvr>
                                      <p:tavLst>
                                        <p:tav tm="0">
                                          <p:val>
                                            <p:strVal val="#ppt_y+0.03"/>
                                          </p:val>
                                        </p:tav>
                                        <p:tav tm="100000">
                                          <p:val>
                                            <p:strVal val="#ppt_y"/>
                                          </p:val>
                                        </p:tav>
                                      </p:tavLst>
                                    </p:anim>
                                  </p:childTnLst>
                                </p:cTn>
                              </p:par>
                              <p:par>
                                <p:cTn id="67" presetID="53" presetClass="entr" presetSubtype="16" decel="100000" fill="hold" grpId="0" nodeType="withEffect">
                                  <p:stCondLst>
                                    <p:cond delay="69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700"/>
                                        <p:tgtEl>
                                          <p:spTgt spid="10"/>
                                        </p:tgtEl>
                                      </p:cBhvr>
                                    </p:animEffect>
                                    <p:anim calcmode="lin" valueType="num">
                                      <p:cBhvr additive="base">
                                        <p:cTn id="70" dur="800" fill="hold"/>
                                        <p:tgtEl>
                                          <p:spTgt spid="10"/>
                                        </p:tgtEl>
                                        <p:attrNameLst>
                                          <p:attrName>ppt_w</p:attrName>
                                        </p:attrNameLst>
                                      </p:cBhvr>
                                      <p:tavLst>
                                        <p:tav tm="0">
                                          <p:val>
                                            <p:strVal val="#ppt_w*0.85"/>
                                          </p:val>
                                        </p:tav>
                                        <p:tav tm="100000">
                                          <p:val>
                                            <p:strVal val="#ppt_w"/>
                                          </p:val>
                                        </p:tav>
                                      </p:tavLst>
                                    </p:anim>
                                    <p:anim calcmode="lin" valueType="num">
                                      <p:cBhvr additive="base">
                                        <p:cTn id="71" dur="800" fill="hold"/>
                                        <p:tgtEl>
                                          <p:spTgt spid="10"/>
                                        </p:tgtEl>
                                        <p:attrNameLst>
                                          <p:attrName>ppt_h</p:attrName>
                                        </p:attrNameLst>
                                      </p:cBhvr>
                                      <p:tavLst>
                                        <p:tav tm="0">
                                          <p:val>
                                            <p:strVal val="#ppt_h*0.85"/>
                                          </p:val>
                                        </p:tav>
                                        <p:tav tm="100000">
                                          <p:val>
                                            <p:strVal val="#ppt_h"/>
                                          </p:val>
                                        </p:tav>
                                      </p:tavLst>
                                    </p:anim>
                                  </p:childTnLst>
                                </p:cTn>
                              </p:par>
                              <p:par>
                                <p:cTn id="72" presetID="53" presetClass="entr" presetSubtype="16" decel="100000" fill="hold" grpId="0" nodeType="withEffect">
                                  <p:stCondLst>
                                    <p:cond delay="69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700"/>
                                        <p:tgtEl>
                                          <p:spTgt spid="11"/>
                                        </p:tgtEl>
                                      </p:cBhvr>
                                    </p:animEffect>
                                    <p:anim calcmode="lin" valueType="num">
                                      <p:cBhvr additive="base">
                                        <p:cTn id="75" dur="800" fill="hold"/>
                                        <p:tgtEl>
                                          <p:spTgt spid="11"/>
                                        </p:tgtEl>
                                        <p:attrNameLst>
                                          <p:attrName>ppt_w</p:attrName>
                                        </p:attrNameLst>
                                      </p:cBhvr>
                                      <p:tavLst>
                                        <p:tav tm="0">
                                          <p:val>
                                            <p:strVal val="#ppt_w*0.85"/>
                                          </p:val>
                                        </p:tav>
                                        <p:tav tm="100000">
                                          <p:val>
                                            <p:strVal val="#ppt_w"/>
                                          </p:val>
                                        </p:tav>
                                      </p:tavLst>
                                    </p:anim>
                                    <p:anim calcmode="lin" valueType="num">
                                      <p:cBhvr additive="base">
                                        <p:cTn id="76" dur="800" fill="hold"/>
                                        <p:tgtEl>
                                          <p:spTgt spid="11"/>
                                        </p:tgtEl>
                                        <p:attrNameLst>
                                          <p:attrName>ppt_h</p:attrName>
                                        </p:attrNameLst>
                                      </p:cBhvr>
                                      <p:tavLst>
                                        <p:tav tm="0">
                                          <p:val>
                                            <p:strVal val="#ppt_h*0.85"/>
                                          </p:val>
                                        </p:tav>
                                        <p:tav tm="100000">
                                          <p:val>
                                            <p:strVal val="#ppt_h"/>
                                          </p:val>
                                        </p:tav>
                                      </p:tavLst>
                                    </p:anim>
                                  </p:childTnLst>
                                </p:cTn>
                              </p:par>
                              <p:par>
                                <p:cTn id="77" presetID="53" presetClass="entr" presetSubtype="16" decel="100000" fill="hold" grpId="0" nodeType="withEffect">
                                  <p:stCondLst>
                                    <p:cond delay="69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700"/>
                                        <p:tgtEl>
                                          <p:spTgt spid="12"/>
                                        </p:tgtEl>
                                      </p:cBhvr>
                                    </p:animEffect>
                                    <p:anim calcmode="lin" valueType="num">
                                      <p:cBhvr additive="base">
                                        <p:cTn id="80" dur="800" fill="hold"/>
                                        <p:tgtEl>
                                          <p:spTgt spid="12"/>
                                        </p:tgtEl>
                                        <p:attrNameLst>
                                          <p:attrName>ppt_w</p:attrName>
                                        </p:attrNameLst>
                                      </p:cBhvr>
                                      <p:tavLst>
                                        <p:tav tm="0">
                                          <p:val>
                                            <p:strVal val="#ppt_w*0.85"/>
                                          </p:val>
                                        </p:tav>
                                        <p:tav tm="100000">
                                          <p:val>
                                            <p:strVal val="#ppt_w"/>
                                          </p:val>
                                        </p:tav>
                                      </p:tavLst>
                                    </p:anim>
                                    <p:anim calcmode="lin" valueType="num">
                                      <p:cBhvr additive="base">
                                        <p:cTn id="81" dur="800" fill="hold"/>
                                        <p:tgtEl>
                                          <p:spTgt spid="12"/>
                                        </p:tgtEl>
                                        <p:attrNameLst>
                                          <p:attrName>ppt_h</p:attrName>
                                        </p:attrNameLst>
                                      </p:cBhvr>
                                      <p:tavLst>
                                        <p:tav tm="0">
                                          <p:val>
                                            <p:strVal val="#ppt_h*0.85"/>
                                          </p:val>
                                        </p:tav>
                                        <p:tav tm="100000">
                                          <p:val>
                                            <p:strVal val="#ppt_h"/>
                                          </p:val>
                                        </p:tav>
                                      </p:tavLst>
                                    </p:anim>
                                  </p:childTnLst>
                                </p:cTn>
                              </p:par>
                              <p:par>
                                <p:cTn id="82" presetID="10" presetClass="entr" presetSubtype="0" decel="100000" fill="hold" grpId="0" nodeType="withEffect">
                                  <p:stCondLst>
                                    <p:cond delay="69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600"/>
                                        <p:tgtEl>
                                          <p:spTgt spid="29"/>
                                        </p:tgtEl>
                                      </p:cBhvr>
                                    </p:animEffect>
                                  </p:childTnLst>
                                </p:cTn>
                              </p:par>
                              <p:par>
                                <p:cTn id="85" presetID="10" presetClass="entr" presetSubtype="0" decel="100000" fill="hold" grpId="0" nodeType="withEffect">
                                  <p:stCondLst>
                                    <p:cond delay="69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par>
                                <p:cTn id="88" presetID="10" presetClass="entr" presetSubtype="0" decel="100000" fill="hold" grpId="0" nodeType="withEffect">
                                  <p:stCondLst>
                                    <p:cond delay="69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600"/>
                                        <p:tgtEl>
                                          <p:spTgt spid="32"/>
                                        </p:tgtEl>
                                      </p:cBhvr>
                                    </p:animEffect>
                                  </p:childTnLst>
                                </p:cTn>
                              </p:par>
                              <p:par>
                                <p:cTn id="91" presetID="10" presetClass="entr" presetSubtype="0" decel="100000" fill="hold" grpId="0" nodeType="withEffect">
                                  <p:stCondLst>
                                    <p:cond delay="69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600"/>
                                        <p:tgtEl>
                                          <p:spTgt spid="33"/>
                                        </p:tgtEl>
                                      </p:cBhvr>
                                    </p:animEffect>
                                  </p:childTnLst>
                                </p:cTn>
                              </p:par>
                              <p:par>
                                <p:cTn id="94" presetID="10" presetClass="entr" presetSubtype="0" decel="100000" fill="hold" grpId="0" nodeType="withEffect">
                                  <p:stCondLst>
                                    <p:cond delay="69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600"/>
                                        <p:tgtEl>
                                          <p:spTgt spid="35"/>
                                        </p:tgtEl>
                                      </p:cBhvr>
                                    </p:animEffect>
                                  </p:childTnLst>
                                </p:cTn>
                              </p:par>
                              <p:par>
                                <p:cTn id="97" presetID="10" presetClass="entr" presetSubtype="0" decel="100000" fill="hold" grpId="0" nodeType="withEffect">
                                  <p:stCondLst>
                                    <p:cond delay="69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600"/>
                                        <p:tgtEl>
                                          <p:spTgt spid="36"/>
                                        </p:tgtEl>
                                      </p:cBhvr>
                                    </p:animEffect>
                                  </p:childTnLst>
                                </p:cTn>
                              </p:par>
                              <p:par>
                                <p:cTn id="100" presetID="10" presetClass="entr" presetSubtype="0" decel="100000" fill="hold" grpId="0" nodeType="withEffect">
                                  <p:stCondLst>
                                    <p:cond delay="69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600"/>
                                        <p:tgtEl>
                                          <p:spTgt spid="38"/>
                                        </p:tgtEl>
                                      </p:cBhvr>
                                    </p:animEffect>
                                  </p:childTnLst>
                                </p:cTn>
                              </p:par>
                              <p:par>
                                <p:cTn id="103" presetID="10" presetClass="entr" presetSubtype="0" decel="100000" fill="hold" grpId="0" nodeType="withEffect">
                                  <p:stCondLst>
                                    <p:cond delay="69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600"/>
                                        <p:tgtEl>
                                          <p:spTgt spid="39"/>
                                        </p:tgtEl>
                                      </p:cBhvr>
                                    </p:animEffect>
                                  </p:childTnLst>
                                </p:cTn>
                              </p:par>
                              <p:par>
                                <p:cTn id="106" presetID="10" presetClass="entr" presetSubtype="0" decel="100000" fill="hold" grpId="0" nodeType="withEffect">
                                  <p:stCondLst>
                                    <p:cond delay="69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600"/>
                                        <p:tgtEl>
                                          <p:spTgt spid="41"/>
                                        </p:tgtEl>
                                      </p:cBhvr>
                                    </p:animEffect>
                                  </p:childTnLst>
                                </p:cTn>
                              </p:par>
                              <p:par>
                                <p:cTn id="109" presetID="10" presetClass="entr" presetSubtype="0" decel="100000" fill="hold" grpId="0" nodeType="withEffect">
                                  <p:stCondLst>
                                    <p:cond delay="69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600"/>
                                        <p:tgtEl>
                                          <p:spTgt spid="42"/>
                                        </p:tgtEl>
                                      </p:cBhvr>
                                    </p:animEffect>
                                  </p:childTnLst>
                                </p:cTn>
                              </p:par>
                              <p:par>
                                <p:cTn id="112" presetID="53" presetClass="entr" presetSubtype="16" decel="100000" fill="hold" grpId="0" nodeType="withEffect">
                                  <p:stCondLst>
                                    <p:cond delay="910"/>
                                  </p:stCondLst>
                                  <p:childTnLst>
                                    <p:set>
                                      <p:cBhvr>
                                        <p:cTn id="113" dur="1" fill="hold">
                                          <p:stCondLst>
                                            <p:cond delay="0"/>
                                          </p:stCondLst>
                                        </p:cTn>
                                        <p:tgtEl>
                                          <p:spTgt spid="13"/>
                                        </p:tgtEl>
                                        <p:attrNameLst>
                                          <p:attrName>style.visibility</p:attrName>
                                        </p:attrNameLst>
                                      </p:cBhvr>
                                      <p:to>
                                        <p:strVal val="visible"/>
                                      </p:to>
                                    </p:set>
                                    <p:animEffect transition="in" filter="fade">
                                      <p:cBhvr>
                                        <p:cTn id="114" dur="700"/>
                                        <p:tgtEl>
                                          <p:spTgt spid="13"/>
                                        </p:tgtEl>
                                      </p:cBhvr>
                                    </p:animEffect>
                                    <p:anim calcmode="lin" valueType="num">
                                      <p:cBhvr additive="base">
                                        <p:cTn id="115" dur="800" fill="hold"/>
                                        <p:tgtEl>
                                          <p:spTgt spid="13"/>
                                        </p:tgtEl>
                                        <p:attrNameLst>
                                          <p:attrName>ppt_w</p:attrName>
                                        </p:attrNameLst>
                                      </p:cBhvr>
                                      <p:tavLst>
                                        <p:tav tm="0">
                                          <p:val>
                                            <p:strVal val="#ppt_w*0.85"/>
                                          </p:val>
                                        </p:tav>
                                        <p:tav tm="100000">
                                          <p:val>
                                            <p:strVal val="#ppt_w"/>
                                          </p:val>
                                        </p:tav>
                                      </p:tavLst>
                                    </p:anim>
                                    <p:anim calcmode="lin" valueType="num">
                                      <p:cBhvr additive="base">
                                        <p:cTn id="116" dur="800" fill="hold"/>
                                        <p:tgtEl>
                                          <p:spTgt spid="13"/>
                                        </p:tgtEl>
                                        <p:attrNameLst>
                                          <p:attrName>ppt_h</p:attrName>
                                        </p:attrNameLst>
                                      </p:cBhvr>
                                      <p:tavLst>
                                        <p:tav tm="0">
                                          <p:val>
                                            <p:strVal val="#ppt_h*0.85"/>
                                          </p:val>
                                        </p:tav>
                                        <p:tav tm="100000">
                                          <p:val>
                                            <p:strVal val="#ppt_h"/>
                                          </p:val>
                                        </p:tav>
                                      </p:tavLst>
                                    </p:anim>
                                  </p:childTnLst>
                                </p:cTn>
                              </p:par>
                              <p:par>
                                <p:cTn id="117" presetID="53" presetClass="entr" presetSubtype="16" decel="100000" fill="hold" grpId="0" nodeType="withEffect">
                                  <p:stCondLst>
                                    <p:cond delay="910"/>
                                  </p:stCondLst>
                                  <p:childTnLst>
                                    <p:set>
                                      <p:cBhvr>
                                        <p:cTn id="118" dur="1" fill="hold">
                                          <p:stCondLst>
                                            <p:cond delay="0"/>
                                          </p:stCondLst>
                                        </p:cTn>
                                        <p:tgtEl>
                                          <p:spTgt spid="14"/>
                                        </p:tgtEl>
                                        <p:attrNameLst>
                                          <p:attrName>style.visibility</p:attrName>
                                        </p:attrNameLst>
                                      </p:cBhvr>
                                      <p:to>
                                        <p:strVal val="visible"/>
                                      </p:to>
                                    </p:set>
                                    <p:animEffect transition="in" filter="fade">
                                      <p:cBhvr>
                                        <p:cTn id="119" dur="700"/>
                                        <p:tgtEl>
                                          <p:spTgt spid="14"/>
                                        </p:tgtEl>
                                      </p:cBhvr>
                                    </p:animEffect>
                                    <p:anim calcmode="lin" valueType="num">
                                      <p:cBhvr additive="base">
                                        <p:cTn id="120" dur="800" fill="hold"/>
                                        <p:tgtEl>
                                          <p:spTgt spid="14"/>
                                        </p:tgtEl>
                                        <p:attrNameLst>
                                          <p:attrName>ppt_w</p:attrName>
                                        </p:attrNameLst>
                                      </p:cBhvr>
                                      <p:tavLst>
                                        <p:tav tm="0">
                                          <p:val>
                                            <p:strVal val="#ppt_w*0.85"/>
                                          </p:val>
                                        </p:tav>
                                        <p:tav tm="100000">
                                          <p:val>
                                            <p:strVal val="#ppt_w"/>
                                          </p:val>
                                        </p:tav>
                                      </p:tavLst>
                                    </p:anim>
                                    <p:anim calcmode="lin" valueType="num">
                                      <p:cBhvr additive="base">
                                        <p:cTn id="121" dur="800" fill="hold"/>
                                        <p:tgtEl>
                                          <p:spTgt spid="14"/>
                                        </p:tgtEl>
                                        <p:attrNameLst>
                                          <p:attrName>ppt_h</p:attrName>
                                        </p:attrNameLst>
                                      </p:cBhvr>
                                      <p:tavLst>
                                        <p:tav tm="0">
                                          <p:val>
                                            <p:strVal val="#ppt_h*0.85"/>
                                          </p:val>
                                        </p:tav>
                                        <p:tav tm="100000">
                                          <p:val>
                                            <p:strVal val="#ppt_h"/>
                                          </p:val>
                                        </p:tav>
                                      </p:tavLst>
                                    </p:anim>
                                  </p:childTnLst>
                                </p:cTn>
                              </p:par>
                              <p:par>
                                <p:cTn id="122" presetID="53" presetClass="entr" presetSubtype="16" decel="100000" fill="hold" grpId="0" nodeType="withEffect">
                                  <p:stCondLst>
                                    <p:cond delay="910"/>
                                  </p:stCondLst>
                                  <p:childTnLst>
                                    <p:set>
                                      <p:cBhvr>
                                        <p:cTn id="123" dur="1" fill="hold">
                                          <p:stCondLst>
                                            <p:cond delay="0"/>
                                          </p:stCondLst>
                                        </p:cTn>
                                        <p:tgtEl>
                                          <p:spTgt spid="15"/>
                                        </p:tgtEl>
                                        <p:attrNameLst>
                                          <p:attrName>style.visibility</p:attrName>
                                        </p:attrNameLst>
                                      </p:cBhvr>
                                      <p:to>
                                        <p:strVal val="visible"/>
                                      </p:to>
                                    </p:set>
                                    <p:animEffect transition="in" filter="fade">
                                      <p:cBhvr>
                                        <p:cTn id="124" dur="700"/>
                                        <p:tgtEl>
                                          <p:spTgt spid="15"/>
                                        </p:tgtEl>
                                      </p:cBhvr>
                                    </p:animEffect>
                                    <p:anim calcmode="lin" valueType="num">
                                      <p:cBhvr additive="base">
                                        <p:cTn id="125" dur="800" fill="hold"/>
                                        <p:tgtEl>
                                          <p:spTgt spid="15"/>
                                        </p:tgtEl>
                                        <p:attrNameLst>
                                          <p:attrName>ppt_w</p:attrName>
                                        </p:attrNameLst>
                                      </p:cBhvr>
                                      <p:tavLst>
                                        <p:tav tm="0">
                                          <p:val>
                                            <p:strVal val="#ppt_w*0.85"/>
                                          </p:val>
                                        </p:tav>
                                        <p:tav tm="100000">
                                          <p:val>
                                            <p:strVal val="#ppt_w"/>
                                          </p:val>
                                        </p:tav>
                                      </p:tavLst>
                                    </p:anim>
                                    <p:anim calcmode="lin" valueType="num">
                                      <p:cBhvr additive="base">
                                        <p:cTn id="126" dur="800" fill="hold"/>
                                        <p:tgtEl>
                                          <p:spTgt spid="15"/>
                                        </p:tgtEl>
                                        <p:attrNameLst>
                                          <p:attrName>ppt_h</p:attrName>
                                        </p:attrNameLst>
                                      </p:cBhvr>
                                      <p:tavLst>
                                        <p:tav tm="0">
                                          <p:val>
                                            <p:strVal val="#ppt_h*0.85"/>
                                          </p:val>
                                        </p:tav>
                                        <p:tav tm="100000">
                                          <p:val>
                                            <p:strVal val="#ppt_h"/>
                                          </p:val>
                                        </p:tav>
                                      </p:tavLst>
                                    </p:anim>
                                  </p:childTnLst>
                                </p:cTn>
                              </p:par>
                              <p:par>
                                <p:cTn id="127" presetID="53" presetClass="entr" presetSubtype="16" decel="100000" fill="hold" grpId="0" nodeType="withEffect">
                                  <p:stCondLst>
                                    <p:cond delay="91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450"/>
                                        <p:tgtEl>
                                          <p:spTgt spid="31"/>
                                        </p:tgtEl>
                                      </p:cBhvr>
                                    </p:animEffect>
                                    <p:anim calcmode="lin" valueType="num">
                                      <p:cBhvr additive="base">
                                        <p:cTn id="130" dur="450" fill="hold"/>
                                        <p:tgtEl>
                                          <p:spTgt spid="31"/>
                                        </p:tgtEl>
                                        <p:attrNameLst>
                                          <p:attrName>ppt_w</p:attrName>
                                        </p:attrNameLst>
                                      </p:cBhvr>
                                      <p:tavLst>
                                        <p:tav tm="0">
                                          <p:val>
                                            <p:strVal val="#ppt_w*0.2"/>
                                          </p:val>
                                        </p:tav>
                                        <p:tav tm="100000">
                                          <p:val>
                                            <p:strVal val="#ppt_w"/>
                                          </p:val>
                                        </p:tav>
                                      </p:tavLst>
                                    </p:anim>
                                    <p:anim calcmode="lin" valueType="num">
                                      <p:cBhvr additive="base">
                                        <p:cTn id="131" dur="450" fill="hold"/>
                                        <p:tgtEl>
                                          <p:spTgt spid="31"/>
                                        </p:tgtEl>
                                        <p:attrNameLst>
                                          <p:attrName>ppt_h</p:attrName>
                                        </p:attrNameLst>
                                      </p:cBhvr>
                                      <p:tavLst>
                                        <p:tav tm="0">
                                          <p:val>
                                            <p:strVal val="#ppt_h*0.2"/>
                                          </p:val>
                                        </p:tav>
                                        <p:tav tm="100000">
                                          <p:val>
                                            <p:strVal val="#ppt_h"/>
                                          </p:val>
                                        </p:tav>
                                      </p:tavLst>
                                    </p:anim>
                                  </p:childTnLst>
                                </p:cTn>
                              </p:par>
                              <p:par>
                                <p:cTn id="132" presetID="53" presetClass="entr" presetSubtype="16" decel="100000" fill="hold" grpId="0" nodeType="withEffect">
                                  <p:stCondLst>
                                    <p:cond delay="1130"/>
                                  </p:stCondLst>
                                  <p:childTnLst>
                                    <p:set>
                                      <p:cBhvr>
                                        <p:cTn id="133" dur="1" fill="hold">
                                          <p:stCondLst>
                                            <p:cond delay="0"/>
                                          </p:stCondLst>
                                        </p:cTn>
                                        <p:tgtEl>
                                          <p:spTgt spid="16"/>
                                        </p:tgtEl>
                                        <p:attrNameLst>
                                          <p:attrName>style.visibility</p:attrName>
                                        </p:attrNameLst>
                                      </p:cBhvr>
                                      <p:to>
                                        <p:strVal val="visible"/>
                                      </p:to>
                                    </p:set>
                                    <p:animEffect transition="in" filter="fade">
                                      <p:cBhvr>
                                        <p:cTn id="134" dur="700"/>
                                        <p:tgtEl>
                                          <p:spTgt spid="16"/>
                                        </p:tgtEl>
                                      </p:cBhvr>
                                    </p:animEffect>
                                    <p:anim calcmode="lin" valueType="num">
                                      <p:cBhvr additive="base">
                                        <p:cTn id="135" dur="800" fill="hold"/>
                                        <p:tgtEl>
                                          <p:spTgt spid="16"/>
                                        </p:tgtEl>
                                        <p:attrNameLst>
                                          <p:attrName>ppt_w</p:attrName>
                                        </p:attrNameLst>
                                      </p:cBhvr>
                                      <p:tavLst>
                                        <p:tav tm="0">
                                          <p:val>
                                            <p:strVal val="#ppt_w*0.85"/>
                                          </p:val>
                                        </p:tav>
                                        <p:tav tm="100000">
                                          <p:val>
                                            <p:strVal val="#ppt_w"/>
                                          </p:val>
                                        </p:tav>
                                      </p:tavLst>
                                    </p:anim>
                                    <p:anim calcmode="lin" valueType="num">
                                      <p:cBhvr additive="base">
                                        <p:cTn id="136" dur="800" fill="hold"/>
                                        <p:tgtEl>
                                          <p:spTgt spid="16"/>
                                        </p:tgtEl>
                                        <p:attrNameLst>
                                          <p:attrName>ppt_h</p:attrName>
                                        </p:attrNameLst>
                                      </p:cBhvr>
                                      <p:tavLst>
                                        <p:tav tm="0">
                                          <p:val>
                                            <p:strVal val="#ppt_h*0.85"/>
                                          </p:val>
                                        </p:tav>
                                        <p:tav tm="100000">
                                          <p:val>
                                            <p:strVal val="#ppt_h"/>
                                          </p:val>
                                        </p:tav>
                                      </p:tavLst>
                                    </p:anim>
                                  </p:childTnLst>
                                </p:cTn>
                              </p:par>
                              <p:par>
                                <p:cTn id="137" presetID="53" presetClass="entr" presetSubtype="16" decel="100000" fill="hold" grpId="0" nodeType="withEffect">
                                  <p:stCondLst>
                                    <p:cond delay="113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700"/>
                                        <p:tgtEl>
                                          <p:spTgt spid="17"/>
                                        </p:tgtEl>
                                      </p:cBhvr>
                                    </p:animEffect>
                                    <p:anim calcmode="lin" valueType="num">
                                      <p:cBhvr additive="base">
                                        <p:cTn id="140" dur="800" fill="hold"/>
                                        <p:tgtEl>
                                          <p:spTgt spid="17"/>
                                        </p:tgtEl>
                                        <p:attrNameLst>
                                          <p:attrName>ppt_w</p:attrName>
                                        </p:attrNameLst>
                                      </p:cBhvr>
                                      <p:tavLst>
                                        <p:tav tm="0">
                                          <p:val>
                                            <p:strVal val="#ppt_w*0.85"/>
                                          </p:val>
                                        </p:tav>
                                        <p:tav tm="100000">
                                          <p:val>
                                            <p:strVal val="#ppt_w"/>
                                          </p:val>
                                        </p:tav>
                                      </p:tavLst>
                                    </p:anim>
                                    <p:anim calcmode="lin" valueType="num">
                                      <p:cBhvr additive="base">
                                        <p:cTn id="141" dur="800" fill="hold"/>
                                        <p:tgtEl>
                                          <p:spTgt spid="17"/>
                                        </p:tgtEl>
                                        <p:attrNameLst>
                                          <p:attrName>ppt_h</p:attrName>
                                        </p:attrNameLst>
                                      </p:cBhvr>
                                      <p:tavLst>
                                        <p:tav tm="0">
                                          <p:val>
                                            <p:strVal val="#ppt_h*0.85"/>
                                          </p:val>
                                        </p:tav>
                                        <p:tav tm="100000">
                                          <p:val>
                                            <p:strVal val="#ppt_h"/>
                                          </p:val>
                                        </p:tav>
                                      </p:tavLst>
                                    </p:anim>
                                  </p:childTnLst>
                                </p:cTn>
                              </p:par>
                              <p:par>
                                <p:cTn id="142" presetID="53" presetClass="entr" presetSubtype="16" decel="100000" fill="hold" grpId="0" nodeType="withEffect">
                                  <p:stCondLst>
                                    <p:cond delay="1130"/>
                                  </p:stCondLst>
                                  <p:childTnLst>
                                    <p:set>
                                      <p:cBhvr>
                                        <p:cTn id="143" dur="1" fill="hold">
                                          <p:stCondLst>
                                            <p:cond delay="0"/>
                                          </p:stCondLst>
                                        </p:cTn>
                                        <p:tgtEl>
                                          <p:spTgt spid="18"/>
                                        </p:tgtEl>
                                        <p:attrNameLst>
                                          <p:attrName>style.visibility</p:attrName>
                                        </p:attrNameLst>
                                      </p:cBhvr>
                                      <p:to>
                                        <p:strVal val="visible"/>
                                      </p:to>
                                    </p:set>
                                    <p:animEffect transition="in" filter="fade">
                                      <p:cBhvr>
                                        <p:cTn id="144" dur="700"/>
                                        <p:tgtEl>
                                          <p:spTgt spid="18"/>
                                        </p:tgtEl>
                                      </p:cBhvr>
                                    </p:animEffect>
                                    <p:anim calcmode="lin" valueType="num">
                                      <p:cBhvr additive="base">
                                        <p:cTn id="145" dur="800" fill="hold"/>
                                        <p:tgtEl>
                                          <p:spTgt spid="18"/>
                                        </p:tgtEl>
                                        <p:attrNameLst>
                                          <p:attrName>ppt_w</p:attrName>
                                        </p:attrNameLst>
                                      </p:cBhvr>
                                      <p:tavLst>
                                        <p:tav tm="0">
                                          <p:val>
                                            <p:strVal val="#ppt_w*0.85"/>
                                          </p:val>
                                        </p:tav>
                                        <p:tav tm="100000">
                                          <p:val>
                                            <p:strVal val="#ppt_w"/>
                                          </p:val>
                                        </p:tav>
                                      </p:tavLst>
                                    </p:anim>
                                    <p:anim calcmode="lin" valueType="num">
                                      <p:cBhvr additive="base">
                                        <p:cTn id="146" dur="800" fill="hold"/>
                                        <p:tgtEl>
                                          <p:spTgt spid="18"/>
                                        </p:tgtEl>
                                        <p:attrNameLst>
                                          <p:attrName>ppt_h</p:attrName>
                                        </p:attrNameLst>
                                      </p:cBhvr>
                                      <p:tavLst>
                                        <p:tav tm="0">
                                          <p:val>
                                            <p:strVal val="#ppt_h*0.85"/>
                                          </p:val>
                                        </p:tav>
                                        <p:tav tm="100000">
                                          <p:val>
                                            <p:strVal val="#ppt_h"/>
                                          </p:val>
                                        </p:tav>
                                      </p:tavLst>
                                    </p:anim>
                                  </p:childTnLst>
                                </p:cTn>
                              </p:par>
                              <p:par>
                                <p:cTn id="147" presetID="53" presetClass="entr" presetSubtype="16" decel="100000" fill="hold" grpId="0" nodeType="withEffect">
                                  <p:stCondLst>
                                    <p:cond delay="113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450"/>
                                        <p:tgtEl>
                                          <p:spTgt spid="34"/>
                                        </p:tgtEl>
                                      </p:cBhvr>
                                    </p:animEffect>
                                    <p:anim calcmode="lin" valueType="num">
                                      <p:cBhvr additive="base">
                                        <p:cTn id="150" dur="450" fill="hold"/>
                                        <p:tgtEl>
                                          <p:spTgt spid="34"/>
                                        </p:tgtEl>
                                        <p:attrNameLst>
                                          <p:attrName>ppt_w</p:attrName>
                                        </p:attrNameLst>
                                      </p:cBhvr>
                                      <p:tavLst>
                                        <p:tav tm="0">
                                          <p:val>
                                            <p:strVal val="#ppt_w*0.2"/>
                                          </p:val>
                                        </p:tav>
                                        <p:tav tm="100000">
                                          <p:val>
                                            <p:strVal val="#ppt_w"/>
                                          </p:val>
                                        </p:tav>
                                      </p:tavLst>
                                    </p:anim>
                                    <p:anim calcmode="lin" valueType="num">
                                      <p:cBhvr additive="base">
                                        <p:cTn id="151" dur="450" fill="hold"/>
                                        <p:tgtEl>
                                          <p:spTgt spid="34"/>
                                        </p:tgtEl>
                                        <p:attrNameLst>
                                          <p:attrName>ppt_h</p:attrName>
                                        </p:attrNameLst>
                                      </p:cBhvr>
                                      <p:tavLst>
                                        <p:tav tm="0">
                                          <p:val>
                                            <p:strVal val="#ppt_h*0.2"/>
                                          </p:val>
                                        </p:tav>
                                        <p:tav tm="100000">
                                          <p:val>
                                            <p:strVal val="#ppt_h"/>
                                          </p:val>
                                        </p:tav>
                                      </p:tavLst>
                                    </p:anim>
                                  </p:childTnLst>
                                </p:cTn>
                              </p:par>
                              <p:par>
                                <p:cTn id="152" presetID="53" presetClass="entr" presetSubtype="16" decel="100000" fill="hold" grpId="0" nodeType="withEffect">
                                  <p:stCondLst>
                                    <p:cond delay="135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450"/>
                                        <p:tgtEl>
                                          <p:spTgt spid="37"/>
                                        </p:tgtEl>
                                      </p:cBhvr>
                                    </p:animEffect>
                                    <p:anim calcmode="lin" valueType="num">
                                      <p:cBhvr additive="base">
                                        <p:cTn id="155" dur="450" fill="hold"/>
                                        <p:tgtEl>
                                          <p:spTgt spid="37"/>
                                        </p:tgtEl>
                                        <p:attrNameLst>
                                          <p:attrName>ppt_w</p:attrName>
                                        </p:attrNameLst>
                                      </p:cBhvr>
                                      <p:tavLst>
                                        <p:tav tm="0">
                                          <p:val>
                                            <p:strVal val="#ppt_w*0.2"/>
                                          </p:val>
                                        </p:tav>
                                        <p:tav tm="100000">
                                          <p:val>
                                            <p:strVal val="#ppt_w"/>
                                          </p:val>
                                        </p:tav>
                                      </p:tavLst>
                                    </p:anim>
                                    <p:anim calcmode="lin" valueType="num">
                                      <p:cBhvr additive="base">
                                        <p:cTn id="156" dur="450" fill="hold"/>
                                        <p:tgtEl>
                                          <p:spTgt spid="37"/>
                                        </p:tgtEl>
                                        <p:attrNameLst>
                                          <p:attrName>ppt_h</p:attrName>
                                        </p:attrNameLst>
                                      </p:cBhvr>
                                      <p:tavLst>
                                        <p:tav tm="0">
                                          <p:val>
                                            <p:strVal val="#ppt_h*0.2"/>
                                          </p:val>
                                        </p:tav>
                                        <p:tav tm="100000">
                                          <p:val>
                                            <p:strVal val="#ppt_h"/>
                                          </p:val>
                                        </p:tav>
                                      </p:tavLst>
                                    </p:anim>
                                  </p:childTnLst>
                                </p:cTn>
                              </p:par>
                              <p:par>
                                <p:cTn id="157" presetID="53" presetClass="entr" presetSubtype="16" decel="100000" fill="hold" grpId="0" nodeType="withEffect">
                                  <p:stCondLst>
                                    <p:cond delay="1570"/>
                                  </p:stCondLst>
                                  <p:childTnLst>
                                    <p:set>
                                      <p:cBhvr>
                                        <p:cTn id="158" dur="1" fill="hold">
                                          <p:stCondLst>
                                            <p:cond delay="0"/>
                                          </p:stCondLst>
                                        </p:cTn>
                                        <p:tgtEl>
                                          <p:spTgt spid="40"/>
                                        </p:tgtEl>
                                        <p:attrNameLst>
                                          <p:attrName>style.visibility</p:attrName>
                                        </p:attrNameLst>
                                      </p:cBhvr>
                                      <p:to>
                                        <p:strVal val="visible"/>
                                      </p:to>
                                    </p:set>
                                    <p:animEffect transition="in" filter="fade">
                                      <p:cBhvr>
                                        <p:cTn id="159" dur="450"/>
                                        <p:tgtEl>
                                          <p:spTgt spid="40"/>
                                        </p:tgtEl>
                                      </p:cBhvr>
                                    </p:animEffect>
                                    <p:anim calcmode="lin" valueType="num">
                                      <p:cBhvr additive="base">
                                        <p:cTn id="160" dur="450" fill="hold"/>
                                        <p:tgtEl>
                                          <p:spTgt spid="40"/>
                                        </p:tgtEl>
                                        <p:attrNameLst>
                                          <p:attrName>ppt_w</p:attrName>
                                        </p:attrNameLst>
                                      </p:cBhvr>
                                      <p:tavLst>
                                        <p:tav tm="0">
                                          <p:val>
                                            <p:strVal val="#ppt_w*0.2"/>
                                          </p:val>
                                        </p:tav>
                                        <p:tav tm="100000">
                                          <p:val>
                                            <p:strVal val="#ppt_w"/>
                                          </p:val>
                                        </p:tav>
                                      </p:tavLst>
                                    </p:anim>
                                    <p:anim calcmode="lin" valueType="num">
                                      <p:cBhvr additive="base">
                                        <p:cTn id="161" dur="450" fill="hold"/>
                                        <p:tgtEl>
                                          <p:spTgt spid="40"/>
                                        </p:tgtEl>
                                        <p:attrNameLst>
                                          <p:attrName>ppt_h</p:attrName>
                                        </p:attrNameLst>
                                      </p:cBhvr>
                                      <p:tavLst>
                                        <p:tav tm="0">
                                          <p:val>
                                            <p:strVal val="#ppt_h*0.2"/>
                                          </p:val>
                                        </p:tav>
                                        <p:tav tm="100000">
                                          <p:val>
                                            <p:strVal val="#ppt_h"/>
                                          </p:val>
                                        </p:tav>
                                      </p:tavLst>
                                    </p:anim>
                                  </p:childTnLst>
                                </p:cTn>
                              </p:par>
                              <p:par>
                                <p:cTn id="162" presetID="53" presetClass="entr" presetSubtype="16" decel="100000" fill="hold" grpId="0" nodeType="withEffect">
                                  <p:stCondLst>
                                    <p:cond delay="1790"/>
                                  </p:stCondLst>
                                  <p:childTnLst>
                                    <p:set>
                                      <p:cBhvr>
                                        <p:cTn id="163" dur="1" fill="hold">
                                          <p:stCondLst>
                                            <p:cond delay="0"/>
                                          </p:stCondLst>
                                        </p:cTn>
                                        <p:tgtEl>
                                          <p:spTgt spid="43"/>
                                        </p:tgtEl>
                                        <p:attrNameLst>
                                          <p:attrName>style.visibility</p:attrName>
                                        </p:attrNameLst>
                                      </p:cBhvr>
                                      <p:to>
                                        <p:strVal val="visible"/>
                                      </p:to>
                                    </p:set>
                                    <p:animEffect transition="in" filter="fade">
                                      <p:cBhvr>
                                        <p:cTn id="164" dur="450"/>
                                        <p:tgtEl>
                                          <p:spTgt spid="43"/>
                                        </p:tgtEl>
                                      </p:cBhvr>
                                    </p:animEffect>
                                    <p:anim calcmode="lin" valueType="num">
                                      <p:cBhvr additive="base">
                                        <p:cTn id="165" dur="450" fill="hold"/>
                                        <p:tgtEl>
                                          <p:spTgt spid="43"/>
                                        </p:tgtEl>
                                        <p:attrNameLst>
                                          <p:attrName>ppt_w</p:attrName>
                                        </p:attrNameLst>
                                      </p:cBhvr>
                                      <p:tavLst>
                                        <p:tav tm="0">
                                          <p:val>
                                            <p:strVal val="#ppt_w*0.2"/>
                                          </p:val>
                                        </p:tav>
                                        <p:tav tm="100000">
                                          <p:val>
                                            <p:strVal val="#ppt_w"/>
                                          </p:val>
                                        </p:tav>
                                      </p:tavLst>
                                    </p:anim>
                                    <p:anim calcmode="lin" valueType="num">
                                      <p:cBhvr additive="base">
                                        <p:cTn id="166" dur="450" fill="hold"/>
                                        <p:tgtEl>
                                          <p:spTgt spid="43"/>
                                        </p:tgtEl>
                                        <p:attrNameLst>
                                          <p:attrName>ppt_h</p:attrName>
                                        </p:attrNameLst>
                                      </p:cBhvr>
                                      <p:tavLst>
                                        <p:tav tm="0">
                                          <p:val>
                                            <p:strVal val="#ppt_h*0.2"/>
                                          </p:val>
                                        </p:tav>
                                        <p:tav tm="100000">
                                          <p:val>
                                            <p:strVal val="#ppt_h"/>
                                          </p:val>
                                        </p:tav>
                                      </p:tavLst>
                                    </p:anim>
                                  </p:childTnLst>
                                </p:cTn>
                              </p:par>
                              <p:par>
                                <p:cTn id="167" presetID="6" presetClass="emph" presetSubtype="0" repeatCount="indefinite" fill="hold" grpId="0" nodeType="withEffect">
                                  <p:stCondLst>
                                    <p:cond delay="2010"/>
                                  </p:stCondLst>
                                  <p:childTnLst>
                                    <p:animScale>
                                      <p:cBhvr>
                                        <p:cTn id="168" dur="1600" fill="hold"/>
                                        <p:tgtEl>
                                          <p:spTgt spid="44"/>
                                        </p:tgtEl>
                                      </p:cBhvr>
                                      <p:by x="160000" y="160000"/>
                                    </p:animScale>
                                    <p:anim calcmode="lin" valueType="num">
                                      <p:cBhvr>
                                        <p:cTn id="169" dur="1600" fill="hold"/>
                                        <p:tgtEl>
                                          <p:spTgt spid="44"/>
                                        </p:tgtEl>
                                        <p:attrNameLst>
                                          <p:attrName>style.opacity</p:attrName>
                                        </p:attrNameLst>
                                      </p:cBhvr>
                                      <p:tavLst>
                                        <p:tav tm="0">
                                          <p:val>
                                            <p:fltVal val="1"/>
                                          </p:val>
                                        </p:tav>
                                        <p:tav tm="100000">
                                          <p:val>
                                            <p:fltVal val="0"/>
                                          </p:val>
                                        </p:tav>
                                      </p:tavLst>
                                    </p:anim>
                                  </p:childTnLst>
                                </p:cTn>
                              </p:par>
                              <p:par>
                                <p:cTn id="170" presetID="10" presetClass="entr" presetSubtype="0" decel="100000" fill="hold" grpId="0" nodeType="withEffect">
                                  <p:stCondLst>
                                    <p:cond delay="2010"/>
                                  </p:stCondLst>
                                  <p:childTnLst>
                                    <p:set>
                                      <p:cBhvr>
                                        <p:cTn id="171" dur="1" fill="hold">
                                          <p:stCondLst>
                                            <p:cond delay="0"/>
                                          </p:stCondLst>
                                        </p:cTn>
                                        <p:tgtEl>
                                          <p:spTgt spid="45"/>
                                        </p:tgtEl>
                                        <p:attrNameLst>
                                          <p:attrName>style.visibility</p:attrName>
                                        </p:attrNameLst>
                                      </p:cBhvr>
                                      <p:to>
                                        <p:strVal val="visible"/>
                                      </p:to>
                                    </p:set>
                                    <p:animEffect transition="in" filter="fade">
                                      <p:cBhvr>
                                        <p:cTn id="172" dur="600"/>
                                        <p:tgtEl>
                                          <p:spTgt spid="45"/>
                                        </p:tgtEl>
                                      </p:cBhvr>
                                    </p:animEffect>
                                  </p:childTnLst>
                                </p:cTn>
                              </p:par>
                              <p:par>
                                <p:cTn id="173" presetID="10" presetClass="entr" presetSubtype="0" decel="100000" fill="hold" grpId="0" nodeType="withEffect">
                                  <p:stCondLst>
                                    <p:cond delay="2010"/>
                                  </p:stCondLst>
                                  <p:childTnLst>
                                    <p:set>
                                      <p:cBhvr>
                                        <p:cTn id="174" dur="1" fill="hold">
                                          <p:stCondLst>
                                            <p:cond delay="0"/>
                                          </p:stCondLst>
                                        </p:cTn>
                                        <p:tgtEl>
                                          <p:spTgt spid="46"/>
                                        </p:tgtEl>
                                        <p:attrNameLst>
                                          <p:attrName>style.visibility</p:attrName>
                                        </p:attrNameLst>
                                      </p:cBhvr>
                                      <p:to>
                                        <p:strVal val="visible"/>
                                      </p:to>
                                    </p:set>
                                    <p:animEffect transition="in" filter="fade">
                                      <p:cBhvr>
                                        <p:cTn id="175" dur="600"/>
                                        <p:tgtEl>
                                          <p:spTgt spid="46"/>
                                        </p:tgtEl>
                                      </p:cBhvr>
                                    </p:animEffect>
                                  </p:childTnLst>
                                </p:cTn>
                              </p:par>
                              <p:par>
                                <p:cTn id="176" presetID="10" presetClass="entr" presetSubtype="0" decel="100000" fill="hold" grpId="0" nodeType="withEffect">
                                  <p:stCondLst>
                                    <p:cond delay="2010"/>
                                  </p:stCondLst>
                                  <p:childTnLst>
                                    <p:set>
                                      <p:cBhvr>
                                        <p:cTn id="177" dur="1" fill="hold">
                                          <p:stCondLst>
                                            <p:cond delay="0"/>
                                          </p:stCondLst>
                                        </p:cTn>
                                        <p:tgtEl>
                                          <p:spTgt spid="47"/>
                                        </p:tgtEl>
                                        <p:attrNameLst>
                                          <p:attrName>style.visibility</p:attrName>
                                        </p:attrNameLst>
                                      </p:cBhvr>
                                      <p:to>
                                        <p:strVal val="visible"/>
                                      </p:to>
                                    </p:set>
                                    <p:animEffect transition="in" filter="fade">
                                      <p:cBhvr>
                                        <p:cTn id="178" dur="600"/>
                                        <p:tgtEl>
                                          <p:spTgt spid="47"/>
                                        </p:tgtEl>
                                      </p:cBhvr>
                                    </p:animEffect>
                                  </p:childTnLst>
                                </p:cTn>
                              </p:par>
                              <p:par>
                                <p:cTn id="179" presetID="10" presetClass="entr" presetSubtype="0" decel="100000" fill="hold" grpId="0" nodeType="withEffect">
                                  <p:stCondLst>
                                    <p:cond delay="2010"/>
                                  </p:stCondLst>
                                  <p:childTnLst>
                                    <p:set>
                                      <p:cBhvr>
                                        <p:cTn id="180" dur="1" fill="hold">
                                          <p:stCondLst>
                                            <p:cond delay="0"/>
                                          </p:stCondLst>
                                        </p:cTn>
                                        <p:tgtEl>
                                          <p:spTgt spid="48"/>
                                        </p:tgtEl>
                                        <p:attrNameLst>
                                          <p:attrName>style.visibility</p:attrName>
                                        </p:attrNameLst>
                                      </p:cBhvr>
                                      <p:to>
                                        <p:strVal val="visible"/>
                                      </p:to>
                                    </p:set>
                                    <p:animEffect transition="in" filter="fade">
                                      <p:cBhvr>
                                        <p:cTn id="181" dur="600"/>
                                        <p:tgtEl>
                                          <p:spTgt spid="48"/>
                                        </p:tgtEl>
                                      </p:cBhvr>
                                    </p:animEffect>
                                  </p:childTnLst>
                                </p:cTn>
                              </p:par>
                              <p:par>
                                <p:cTn id="182" presetID="42" presetClass="entr" presetSubtype="0" decel="100000" fill="hold" grpId="0" nodeType="withEffect">
                                  <p:stCondLst>
                                    <p:cond delay="2230"/>
                                  </p:stCondLst>
                                  <p:childTnLst>
                                    <p:set>
                                      <p:cBhvr>
                                        <p:cTn id="183" dur="1" fill="hold">
                                          <p:stCondLst>
                                            <p:cond delay="0"/>
                                          </p:stCondLst>
                                        </p:cTn>
                                        <p:tgtEl>
                                          <p:spTgt spid="49"/>
                                        </p:tgtEl>
                                        <p:attrNameLst>
                                          <p:attrName>style.visibility</p:attrName>
                                        </p:attrNameLst>
                                      </p:cBhvr>
                                      <p:to>
                                        <p:strVal val="visible"/>
                                      </p:to>
                                    </p:set>
                                    <p:animEffect transition="in" filter="fade">
                                      <p:cBhvr>
                                        <p:cTn id="184" dur="700"/>
                                        <p:tgtEl>
                                          <p:spTgt spid="49"/>
                                        </p:tgtEl>
                                      </p:cBhvr>
                                    </p:animEffect>
                                    <p:anim calcmode="lin" valueType="num">
                                      <p:cBhvr additive="base">
                                        <p:cTn id="185" dur="700" fill="hold"/>
                                        <p:tgtEl>
                                          <p:spTgt spid="49"/>
                                        </p:tgtEl>
                                        <p:attrNameLst>
                                          <p:attrName>ppt_y</p:attrName>
                                        </p:attrNameLst>
                                      </p:cBhvr>
                                      <p:tavLst>
                                        <p:tav tm="0">
                                          <p:val>
                                            <p:strVal val="#ppt_y+0.03"/>
                                          </p:val>
                                        </p:tav>
                                        <p:tav tm="100000">
                                          <p:val>
                                            <p:strVal val="#ppt_y"/>
                                          </p:val>
                                        </p:tav>
                                      </p:tavLst>
                                    </p:anim>
                                  </p:childTnLst>
                                </p:cTn>
                              </p:par>
                              <p:par>
                                <p:cTn id="186" presetID="42" presetClass="entr" presetSubtype="0" decel="100000" fill="hold" grpId="0" nodeType="withEffect">
                                  <p:stCondLst>
                                    <p:cond delay="2230"/>
                                  </p:stCondLst>
                                  <p:childTnLst>
                                    <p:set>
                                      <p:cBhvr>
                                        <p:cTn id="187" dur="1" fill="hold">
                                          <p:stCondLst>
                                            <p:cond delay="0"/>
                                          </p:stCondLst>
                                        </p:cTn>
                                        <p:tgtEl>
                                          <p:spTgt spid="50"/>
                                        </p:tgtEl>
                                        <p:attrNameLst>
                                          <p:attrName>style.visibility</p:attrName>
                                        </p:attrNameLst>
                                      </p:cBhvr>
                                      <p:to>
                                        <p:strVal val="visible"/>
                                      </p:to>
                                    </p:set>
                                    <p:animEffect transition="in" filter="fade">
                                      <p:cBhvr>
                                        <p:cTn id="188" dur="700"/>
                                        <p:tgtEl>
                                          <p:spTgt spid="50"/>
                                        </p:tgtEl>
                                      </p:cBhvr>
                                    </p:animEffect>
                                    <p:anim calcmode="lin" valueType="num">
                                      <p:cBhvr additive="base">
                                        <p:cTn id="189" dur="700" fill="hold"/>
                                        <p:tgtEl>
                                          <p:spTgt spid="50"/>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3657600" y="-310896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194560" y="347472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VALIDATION 2 · CHANCE, UNSEEN STANDS, SECOND SENSOR</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Every rate next to its chance rate</a:t>
            </a:r>
            <a:endParaRPr lang="en-US" sz="3400" dirty="0"/>
          </a:p>
        </p:txBody>
      </p:sp>
      <p:sp>
        <p:nvSpPr>
          <p:cNvPr id="7" name="a1float_cc"/>
          <p:cNvSpPr/>
          <p:nvPr/>
        </p:nvSpPr>
        <p:spPr>
          <a:xfrm>
            <a:off x="548640" y="1691640"/>
            <a:ext cx="6812280" cy="3611880"/>
          </a:xfrm>
          <a:prstGeom prst="roundRect">
            <a:avLst>
              <a:gd name="adj" fmla="val 3544"/>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graphicFrame>
        <p:nvGraphicFramePr>
          <p:cNvPr id="8" name="a2wipe_sim"/>
          <p:cNvGraphicFramePr/>
          <p:nvPr/>
        </p:nvGraphicFramePr>
        <p:xfrm>
          <a:off x="685800" y="1783080"/>
          <a:ext cx="6537960" cy="3429000"/>
        </p:xfrm>
        <a:graphic>
          <a:graphicData uri="http://schemas.openxmlformats.org/drawingml/2006/chart">
            <c:chart xmlns:c="http://schemas.openxmlformats.org/drawingml/2006/chart" xmlns:r="http://schemas.openxmlformats.org/officeDocument/2006/relationships" r:id="rId5"/>
          </a:graphicData>
        </a:graphic>
      </p:graphicFrame>
      <p:sp>
        <p:nvSpPr>
          <p:cNvPr id="9" name="a3fade_simc"/>
          <p:cNvSpPr txBox="1"/>
          <p:nvPr/>
        </p:nvSpPr>
        <p:spPr>
          <a:xfrm>
            <a:off x="548640" y="5376672"/>
            <a:ext cx="6812280" cy="27432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A detection counts only if a new alert starts after the loss begins. ~160–240 trials per row.</a:t>
            </a:r>
            <a:endParaRPr lang="en-US" sz="1100" dirty="0"/>
          </a:p>
        </p:txBody>
      </p:sp>
      <p:sp>
        <p:nvSpPr>
          <p:cNvPr id="10" name="a3float_k0"/>
          <p:cNvSpPr/>
          <p:nvPr/>
        </p:nvSpPr>
        <p:spPr>
          <a:xfrm>
            <a:off x="7589520" y="1691640"/>
            <a:ext cx="4050792" cy="1133856"/>
          </a:xfrm>
          <a:prstGeom prst="roundRect">
            <a:avLst>
              <a:gd name="adj" fmla="val 1129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1" name="a3float_k0l"/>
          <p:cNvSpPr txBox="1"/>
          <p:nvPr/>
        </p:nvSpPr>
        <p:spPr>
          <a:xfrm>
            <a:off x="7790688" y="1801368"/>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CALIBRATED · 25 STANDS</a:t>
            </a:r>
            <a:endParaRPr lang="en-US" sz="1100" dirty="0"/>
          </a:p>
        </p:txBody>
      </p:sp>
      <p:sp>
        <p:nvSpPr>
          <p:cNvPr id="12" name="a3float_k0n"/>
          <p:cNvSpPr txBox="1"/>
          <p:nvPr/>
        </p:nvSpPr>
        <p:spPr>
          <a:xfrm>
            <a:off x="7790688" y="2039112"/>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A9813A"/>
                </a:solidFill>
                <a:latin typeface="Segoe UI Light" pitchFamily="34" charset="0"/>
                <a:ea typeface="Segoe UI Light" pitchFamily="34" charset="-122"/>
                <a:cs typeface="Segoe UI Light" pitchFamily="34" charset="-120"/>
              </a:rPr>
              <a:t>0.96</a:t>
            </a:r>
            <a:endParaRPr lang="en-US" sz="2600" dirty="0"/>
          </a:p>
        </p:txBody>
      </p:sp>
      <p:sp>
        <p:nvSpPr>
          <p:cNvPr id="13" name="a3float_k0t"/>
          <p:cNvSpPr txBox="1"/>
          <p:nvPr/>
        </p:nvSpPr>
        <p:spPr>
          <a:xfrm>
            <a:off x="7790688" y="2478024"/>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false-alarm episodes per stand-year</a:t>
            </a:r>
            <a:endParaRPr lang="en-US" sz="1100" dirty="0"/>
          </a:p>
        </p:txBody>
      </p:sp>
      <p:sp>
        <p:nvSpPr>
          <p:cNvPr id="14" name="a4float_k1"/>
          <p:cNvSpPr/>
          <p:nvPr/>
        </p:nvSpPr>
        <p:spPr>
          <a:xfrm>
            <a:off x="7589520" y="2935224"/>
            <a:ext cx="4050792" cy="1133856"/>
          </a:xfrm>
          <a:prstGeom prst="roundRect">
            <a:avLst>
              <a:gd name="adj" fmla="val 1129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5" name="a4float_k1l"/>
          <p:cNvSpPr txBox="1"/>
          <p:nvPr/>
        </p:nvSpPr>
        <p:spPr>
          <a:xfrm>
            <a:off x="7790688" y="3044952"/>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UNSEEN · 65 STANDS</a:t>
            </a:r>
            <a:endParaRPr lang="en-US" sz="1100" dirty="0"/>
          </a:p>
        </p:txBody>
      </p:sp>
      <p:sp>
        <p:nvSpPr>
          <p:cNvPr id="16" name="a4float_k1n"/>
          <p:cNvSpPr txBox="1"/>
          <p:nvPr/>
        </p:nvSpPr>
        <p:spPr>
          <a:xfrm>
            <a:off x="7790688" y="3282696"/>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2F5D8F"/>
                </a:solidFill>
                <a:latin typeface="Segoe UI Light" pitchFamily="34" charset="0"/>
                <a:ea typeface="Segoe UI Light" pitchFamily="34" charset="-122"/>
                <a:cs typeface="Segoe UI Light" pitchFamily="34" charset="-120"/>
              </a:rPr>
              <a:t>0.79</a:t>
            </a:r>
            <a:endParaRPr lang="en-US" sz="2600" dirty="0"/>
          </a:p>
        </p:txBody>
      </p:sp>
      <p:sp>
        <p:nvSpPr>
          <p:cNvPr id="17" name="a4float_k1t"/>
          <p:cNvSpPr txBox="1"/>
          <p:nvPr/>
        </p:nvSpPr>
        <p:spPr>
          <a:xfrm>
            <a:off x="7790688" y="3721608"/>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stand-year, 305 stand-years, incl. Saudi Tarut Bay</a:t>
            </a:r>
            <a:endParaRPr lang="en-US" sz="1100" dirty="0"/>
          </a:p>
        </p:txBody>
      </p:sp>
      <p:sp>
        <p:nvSpPr>
          <p:cNvPr id="18" name="a5float_k2"/>
          <p:cNvSpPr/>
          <p:nvPr/>
        </p:nvSpPr>
        <p:spPr>
          <a:xfrm>
            <a:off x="7589520" y="4178808"/>
            <a:ext cx="4050792" cy="1133856"/>
          </a:xfrm>
          <a:prstGeom prst="roundRect">
            <a:avLst>
              <a:gd name="adj" fmla="val 1129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9" name="a5float_k2l"/>
          <p:cNvSpPr txBox="1"/>
          <p:nvPr/>
        </p:nvSpPr>
        <p:spPr>
          <a:xfrm>
            <a:off x="7790688" y="4288536"/>
            <a:ext cx="37490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6E60A8"/>
                </a:solidFill>
                <a:latin typeface="Segoe UI Semibold" pitchFamily="34" charset="0"/>
                <a:ea typeface="Segoe UI Semibold" pitchFamily="34" charset="-122"/>
                <a:cs typeface="Segoe UI Semibold" pitchFamily="34" charset="-120"/>
              </a:rPr>
              <a:t>ENMAP · SAME DATES</a:t>
            </a:r>
            <a:endParaRPr lang="en-US" sz="1100" dirty="0"/>
          </a:p>
        </p:txBody>
      </p:sp>
      <p:sp>
        <p:nvSpPr>
          <p:cNvPr id="20" name="a5float_k2n"/>
          <p:cNvSpPr txBox="1"/>
          <p:nvPr/>
        </p:nvSpPr>
        <p:spPr>
          <a:xfrm>
            <a:off x="7790688" y="4526280"/>
            <a:ext cx="3749040" cy="457200"/>
          </a:xfrm>
          <a:prstGeom prst="rect">
            <a:avLst/>
          </a:prstGeom>
          <a:noFill/>
          <a:ln/>
        </p:spPr>
        <p:txBody>
          <a:bodyPr wrap="square" lIns="0" tIns="0" rIns="0" bIns="0" rtlCol="0" anchor="t"/>
          <a:lstStyle/>
          <a:p>
            <a:pPr marL="0" indent="0" algn="l">
              <a:lnSpc>
                <a:spcPct val="105000"/>
              </a:lnSpc>
              <a:buNone/>
            </a:pPr>
            <a:r>
              <a:rPr lang="en-US" sz="2600" dirty="0">
                <a:solidFill>
                  <a:srgbClr val="6E60A8"/>
                </a:solidFill>
                <a:latin typeface="Segoe UI Light" pitchFamily="34" charset="0"/>
                <a:ea typeface="Segoe UI Light" pitchFamily="34" charset="-122"/>
                <a:cs typeface="Segoe UI Light" pitchFamily="34" charset="-120"/>
              </a:rPr>
              <a:t>r = 0.84–0.99</a:t>
            </a:r>
            <a:endParaRPr lang="en-US" sz="2600" dirty="0"/>
          </a:p>
        </p:txBody>
      </p:sp>
      <p:sp>
        <p:nvSpPr>
          <p:cNvPr id="21" name="a5float_k2t"/>
          <p:cNvSpPr txBox="1"/>
          <p:nvPr/>
        </p:nvSpPr>
        <p:spPr>
          <a:xfrm>
            <a:off x="7790688" y="4965192"/>
            <a:ext cx="3749040" cy="292608"/>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vs our Sentinel-2 indices; stand-5 loss 62 ha vs our 26 ha</a:t>
            </a:r>
            <a:endParaRPr lang="en-US" sz="1100" dirty="0"/>
          </a:p>
        </p:txBody>
      </p:sp>
      <p:sp>
        <p:nvSpPr>
          <p:cNvPr id="22" name="a6float_claim"/>
          <p:cNvSpPr/>
          <p:nvPr/>
        </p:nvSpPr>
        <p:spPr>
          <a:xfrm>
            <a:off x="548640" y="5687568"/>
            <a:ext cx="11091672" cy="548640"/>
          </a:xfrm>
          <a:prstGeom prst="roundRect">
            <a:avLst>
              <a:gd name="adj" fmla="val 23333"/>
            </a:avLst>
          </a:prstGeom>
          <a:solidFill>
            <a:srgbClr val="A9813A">
              <a:alpha val="12000"/>
            </a:srgbClr>
          </a:solidFill>
          <a:ln w="9525">
            <a:solidFill>
              <a:srgbClr val="A9813A"/>
            </a:solidFill>
            <a:prstDash val="solid"/>
          </a:ln>
          <a:effectLst>
            <a:outerShdw blurRad="152400" dist="38100" dir="5400000" algn="bl" rotWithShape="0">
              <a:srgbClr val="1B2B40">
                <a:alpha val="12000"/>
              </a:srgbClr>
            </a:outerShdw>
          </a:effectLst>
        </p:spPr>
        <p:txBody>
          <a:bodyPr/>
          <a:lstStyle/>
          <a:p>
            <a:endParaRPr lang="en-GB"/>
          </a:p>
        </p:txBody>
      </p:sp>
      <p:sp>
        <p:nvSpPr>
          <p:cNvPr id="23" name="a6float_claimt"/>
          <p:cNvSpPr txBox="1"/>
          <p:nvPr/>
        </p:nvSpPr>
        <p:spPr>
          <a:xfrm>
            <a:off x="777240" y="5687568"/>
            <a:ext cx="10698480" cy="548640"/>
          </a:xfrm>
          <a:prstGeom prst="rect">
            <a:avLst/>
          </a:prstGeom>
          <a:noFill/>
          <a:ln/>
        </p:spPr>
        <p:txBody>
          <a:bodyPr wrap="square" lIns="0" tIns="0" rIns="0" bIns="0" rtlCol="0" anchor="ctr"/>
          <a:lstStyle/>
          <a:p>
            <a:pPr marL="0" indent="0" algn="l">
              <a:lnSpc>
                <a:spcPct val="105000"/>
              </a:lnSpc>
              <a:buNone/>
            </a:pPr>
            <a:r>
              <a:rPr lang="en-US" sz="1200" b="1" dirty="0">
                <a:solidFill>
                  <a:srgbClr val="A9813A"/>
                </a:solidFill>
                <a:latin typeface="Segoe UI" pitchFamily="34" charset="0"/>
                <a:ea typeface="Segoe UI" pitchFamily="34" charset="-122"/>
                <a:cs typeface="Segoe UI" pitchFamily="34" charset="-120"/>
              </a:rPr>
              <a:t>What we do not claim: </a:t>
            </a:r>
            <a:r>
              <a:rPr lang="en-US" sz="1200" dirty="0">
                <a:solidFill>
                  <a:srgbClr val="1B2B40"/>
                </a:solidFill>
                <a:latin typeface="Segoe UI" pitchFamily="34" charset="0"/>
                <a:ea typeface="Segoe UI" pitchFamily="34" charset="-122"/>
                <a:cs typeface="Segoe UI" pitchFamily="34" charset="-120"/>
              </a:rPr>
              <a:t>advance warning, field verification, species discrimination, or that hyperspectral classifies better (F1 0.74 vs 0.72).</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22" presetClass="entr" presetSubtype="8"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900"/>
                                        <p:tgtEl>
                                          <p:spTgt spid="8"/>
                                        </p:tgtEl>
                                      </p:cBhvr>
                                    </p:animEffect>
                                  </p:childTnLst>
                                </p:cTn>
                              </p:par>
                              <p:par>
                                <p:cTn id="19" presetID="10" presetClass="entr" presetSubtype="0" decel="100000" fill="hold" grpId="0" nodeType="withEffect">
                                  <p:stCondLst>
                                    <p:cond delay="91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42" presetClass="entr" presetSubtype="0" decel="100000" fill="hold" grpId="0" nodeType="withEffect">
                                  <p:stCondLst>
                                    <p:cond delay="91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700"/>
                                        <p:tgtEl>
                                          <p:spTgt spid="10"/>
                                        </p:tgtEl>
                                      </p:cBhvr>
                                    </p:animEffect>
                                    <p:anim calcmode="lin" valueType="num">
                                      <p:cBhvr additive="base">
                                        <p:cTn id="25" dur="700" fill="hold"/>
                                        <p:tgtEl>
                                          <p:spTgt spid="10"/>
                                        </p:tgtEl>
                                        <p:attrNameLst>
                                          <p:attrName>ppt_y</p:attrName>
                                        </p:attrNameLst>
                                      </p:cBhvr>
                                      <p:tavLst>
                                        <p:tav tm="0">
                                          <p:val>
                                            <p:strVal val="#ppt_y+0.03"/>
                                          </p:val>
                                        </p:tav>
                                        <p:tav tm="100000">
                                          <p:val>
                                            <p:strVal val="#ppt_y"/>
                                          </p:val>
                                        </p:tav>
                                      </p:tavLst>
                                    </p:anim>
                                  </p:childTnLst>
                                </p:cTn>
                              </p:par>
                              <p:par>
                                <p:cTn id="26" presetID="42" presetClass="entr" presetSubtype="0" decel="100000" fill="hold" grpId="0" nodeType="withEffect">
                                  <p:stCondLst>
                                    <p:cond delay="91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700"/>
                                        <p:tgtEl>
                                          <p:spTgt spid="11"/>
                                        </p:tgtEl>
                                      </p:cBhvr>
                                    </p:animEffect>
                                    <p:anim calcmode="lin" valueType="num">
                                      <p:cBhvr additive="base">
                                        <p:cTn id="29" dur="700" fill="hold"/>
                                        <p:tgtEl>
                                          <p:spTgt spid="11"/>
                                        </p:tgtEl>
                                        <p:attrNameLst>
                                          <p:attrName>ppt_y</p:attrName>
                                        </p:attrNameLst>
                                      </p:cBhvr>
                                      <p:tavLst>
                                        <p:tav tm="0">
                                          <p:val>
                                            <p:strVal val="#ppt_y+0.03"/>
                                          </p:val>
                                        </p:tav>
                                        <p:tav tm="100000">
                                          <p:val>
                                            <p:strVal val="#ppt_y"/>
                                          </p:val>
                                        </p:tav>
                                      </p:tavLst>
                                    </p:anim>
                                  </p:childTnLst>
                                </p:cTn>
                              </p:par>
                              <p:par>
                                <p:cTn id="30" presetID="42" presetClass="entr" presetSubtype="0" decel="100000" fill="hold" grpId="0" nodeType="withEffect">
                                  <p:stCondLst>
                                    <p:cond delay="91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anim calcmode="lin" valueType="num">
                                      <p:cBhvr additive="base">
                                        <p:cTn id="33" dur="700" fill="hold"/>
                                        <p:tgtEl>
                                          <p:spTgt spid="12"/>
                                        </p:tgtEl>
                                        <p:attrNameLst>
                                          <p:attrName>ppt_y</p:attrName>
                                        </p:attrNameLst>
                                      </p:cBhvr>
                                      <p:tavLst>
                                        <p:tav tm="0">
                                          <p:val>
                                            <p:strVal val="#ppt_y+0.03"/>
                                          </p:val>
                                        </p:tav>
                                        <p:tav tm="100000">
                                          <p:val>
                                            <p:strVal val="#ppt_y"/>
                                          </p:val>
                                        </p:tav>
                                      </p:tavLst>
                                    </p:anim>
                                  </p:childTnLst>
                                </p:cTn>
                              </p:par>
                              <p:par>
                                <p:cTn id="34" presetID="42" presetClass="entr" presetSubtype="0" decel="100000" fill="hold" grpId="0" nodeType="withEffect">
                                  <p:stCondLst>
                                    <p:cond delay="91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700"/>
                                        <p:tgtEl>
                                          <p:spTgt spid="13"/>
                                        </p:tgtEl>
                                      </p:cBhvr>
                                    </p:animEffect>
                                    <p:anim calcmode="lin" valueType="num">
                                      <p:cBhvr additive="base">
                                        <p:cTn id="37" dur="700" fill="hold"/>
                                        <p:tgtEl>
                                          <p:spTgt spid="13"/>
                                        </p:tgtEl>
                                        <p:attrNameLst>
                                          <p:attrName>ppt_y</p:attrName>
                                        </p:attrNameLst>
                                      </p:cBhvr>
                                      <p:tavLst>
                                        <p:tav tm="0">
                                          <p:val>
                                            <p:strVal val="#ppt_y+0.03"/>
                                          </p:val>
                                        </p:tav>
                                        <p:tav tm="100000">
                                          <p:val>
                                            <p:strVal val="#ppt_y"/>
                                          </p:val>
                                        </p:tav>
                                      </p:tavLst>
                                    </p:anim>
                                  </p:childTnLst>
                                </p:cTn>
                              </p:par>
                              <p:par>
                                <p:cTn id="38" presetID="42" presetClass="entr" presetSubtype="0" decel="100000" fill="hold" grpId="0" nodeType="withEffect">
                                  <p:stCondLst>
                                    <p:cond delay="113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additive="base">
                                        <p:cTn id="41" dur="700" fill="hold"/>
                                        <p:tgtEl>
                                          <p:spTgt spid="14"/>
                                        </p:tgtEl>
                                        <p:attrNameLst>
                                          <p:attrName>ppt_y</p:attrName>
                                        </p:attrNameLst>
                                      </p:cBhvr>
                                      <p:tavLst>
                                        <p:tav tm="0">
                                          <p:val>
                                            <p:strVal val="#ppt_y+0.03"/>
                                          </p:val>
                                        </p:tav>
                                        <p:tav tm="100000">
                                          <p:val>
                                            <p:strVal val="#ppt_y"/>
                                          </p:val>
                                        </p:tav>
                                      </p:tavLst>
                                    </p:anim>
                                  </p:childTnLst>
                                </p:cTn>
                              </p:par>
                              <p:par>
                                <p:cTn id="42" presetID="42" presetClass="entr" presetSubtype="0" decel="100000" fill="hold" grpId="0" nodeType="withEffect">
                                  <p:stCondLst>
                                    <p:cond delay="113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700"/>
                                        <p:tgtEl>
                                          <p:spTgt spid="15"/>
                                        </p:tgtEl>
                                      </p:cBhvr>
                                    </p:animEffect>
                                    <p:anim calcmode="lin" valueType="num">
                                      <p:cBhvr additive="base">
                                        <p:cTn id="45" dur="700" fill="hold"/>
                                        <p:tgtEl>
                                          <p:spTgt spid="15"/>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113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700"/>
                                        <p:tgtEl>
                                          <p:spTgt spid="16"/>
                                        </p:tgtEl>
                                      </p:cBhvr>
                                    </p:animEffect>
                                    <p:anim calcmode="lin" valueType="num">
                                      <p:cBhvr additive="base">
                                        <p:cTn id="49" dur="700" fill="hold"/>
                                        <p:tgtEl>
                                          <p:spTgt spid="16"/>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113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700"/>
                                        <p:tgtEl>
                                          <p:spTgt spid="17"/>
                                        </p:tgtEl>
                                      </p:cBhvr>
                                    </p:animEffect>
                                    <p:anim calcmode="lin" valueType="num">
                                      <p:cBhvr additive="base">
                                        <p:cTn id="53" dur="700" fill="hold"/>
                                        <p:tgtEl>
                                          <p:spTgt spid="17"/>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135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700"/>
                                        <p:tgtEl>
                                          <p:spTgt spid="18"/>
                                        </p:tgtEl>
                                      </p:cBhvr>
                                    </p:animEffect>
                                    <p:anim calcmode="lin" valueType="num">
                                      <p:cBhvr additive="base">
                                        <p:cTn id="57" dur="700" fill="hold"/>
                                        <p:tgtEl>
                                          <p:spTgt spid="18"/>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135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700"/>
                                        <p:tgtEl>
                                          <p:spTgt spid="19"/>
                                        </p:tgtEl>
                                      </p:cBhvr>
                                    </p:animEffect>
                                    <p:anim calcmode="lin" valueType="num">
                                      <p:cBhvr additive="base">
                                        <p:cTn id="61" dur="700" fill="hold"/>
                                        <p:tgtEl>
                                          <p:spTgt spid="19"/>
                                        </p:tgtEl>
                                        <p:attrNameLst>
                                          <p:attrName>ppt_y</p:attrName>
                                        </p:attrNameLst>
                                      </p:cBhvr>
                                      <p:tavLst>
                                        <p:tav tm="0">
                                          <p:val>
                                            <p:strVal val="#ppt_y+0.03"/>
                                          </p:val>
                                        </p:tav>
                                        <p:tav tm="100000">
                                          <p:val>
                                            <p:strVal val="#ppt_y"/>
                                          </p:val>
                                        </p:tav>
                                      </p:tavLst>
                                    </p:anim>
                                  </p:childTnLst>
                                </p:cTn>
                              </p:par>
                              <p:par>
                                <p:cTn id="62" presetID="42" presetClass="entr" presetSubtype="0" decel="100000" fill="hold" grpId="0" nodeType="withEffect">
                                  <p:stCondLst>
                                    <p:cond delay="135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700"/>
                                        <p:tgtEl>
                                          <p:spTgt spid="20"/>
                                        </p:tgtEl>
                                      </p:cBhvr>
                                    </p:animEffect>
                                    <p:anim calcmode="lin" valueType="num">
                                      <p:cBhvr additive="base">
                                        <p:cTn id="65" dur="700" fill="hold"/>
                                        <p:tgtEl>
                                          <p:spTgt spid="20"/>
                                        </p:tgtEl>
                                        <p:attrNameLst>
                                          <p:attrName>ppt_y</p:attrName>
                                        </p:attrNameLst>
                                      </p:cBhvr>
                                      <p:tavLst>
                                        <p:tav tm="0">
                                          <p:val>
                                            <p:strVal val="#ppt_y+0.03"/>
                                          </p:val>
                                        </p:tav>
                                        <p:tav tm="100000">
                                          <p:val>
                                            <p:strVal val="#ppt_y"/>
                                          </p:val>
                                        </p:tav>
                                      </p:tavLst>
                                    </p:anim>
                                  </p:childTnLst>
                                </p:cTn>
                              </p:par>
                              <p:par>
                                <p:cTn id="66" presetID="42" presetClass="entr" presetSubtype="0" decel="100000" fill="hold" grpId="0" nodeType="withEffect">
                                  <p:stCondLst>
                                    <p:cond delay="135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700"/>
                                        <p:tgtEl>
                                          <p:spTgt spid="21"/>
                                        </p:tgtEl>
                                      </p:cBhvr>
                                    </p:animEffect>
                                    <p:anim calcmode="lin" valueType="num">
                                      <p:cBhvr additive="base">
                                        <p:cTn id="69" dur="700" fill="hold"/>
                                        <p:tgtEl>
                                          <p:spTgt spid="21"/>
                                        </p:tgtEl>
                                        <p:attrNameLst>
                                          <p:attrName>ppt_y</p:attrName>
                                        </p:attrNameLst>
                                      </p:cBhvr>
                                      <p:tavLst>
                                        <p:tav tm="0">
                                          <p:val>
                                            <p:strVal val="#ppt_y+0.03"/>
                                          </p:val>
                                        </p:tav>
                                        <p:tav tm="100000">
                                          <p:val>
                                            <p:strVal val="#ppt_y"/>
                                          </p:val>
                                        </p:tav>
                                      </p:tavLst>
                                    </p:anim>
                                  </p:childTnLst>
                                </p:cTn>
                              </p:par>
                              <p:par>
                                <p:cTn id="70" presetID="42" presetClass="entr" presetSubtype="0" decel="100000" fill="hold" grpId="0" nodeType="withEffect">
                                  <p:stCondLst>
                                    <p:cond delay="157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700"/>
                                        <p:tgtEl>
                                          <p:spTgt spid="22"/>
                                        </p:tgtEl>
                                      </p:cBhvr>
                                    </p:animEffect>
                                    <p:anim calcmode="lin" valueType="num">
                                      <p:cBhvr additive="base">
                                        <p:cTn id="73" dur="700" fill="hold"/>
                                        <p:tgtEl>
                                          <p:spTgt spid="22"/>
                                        </p:tgtEl>
                                        <p:attrNameLst>
                                          <p:attrName>ppt_y</p:attrName>
                                        </p:attrNameLst>
                                      </p:cBhvr>
                                      <p:tavLst>
                                        <p:tav tm="0">
                                          <p:val>
                                            <p:strVal val="#ppt_y+0.03"/>
                                          </p:val>
                                        </p:tav>
                                        <p:tav tm="100000">
                                          <p:val>
                                            <p:strVal val="#ppt_y"/>
                                          </p:val>
                                        </p:tav>
                                      </p:tavLst>
                                    </p:anim>
                                  </p:childTnLst>
                                </p:cTn>
                              </p:par>
                              <p:par>
                                <p:cTn id="74" presetID="42" presetClass="entr" presetSubtype="0" decel="100000" fill="hold" grpId="0" nodeType="withEffect">
                                  <p:stCondLst>
                                    <p:cond delay="157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700"/>
                                        <p:tgtEl>
                                          <p:spTgt spid="23"/>
                                        </p:tgtEl>
                                      </p:cBhvr>
                                    </p:animEffect>
                                    <p:anim calcmode="lin" valueType="num">
                                      <p:cBhvr additive="base">
                                        <p:cTn id="77" dur="700" fill="hold"/>
                                        <p:tgtEl>
                                          <p:spTgt spid="23"/>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7680960" y="-274320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10896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IMPACT &amp; BUSINESS VIABILITY</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Carbon at stake, and who pays to protect it</a:t>
            </a:r>
            <a:endParaRPr lang="en-US" sz="3400" dirty="0"/>
          </a:p>
        </p:txBody>
      </p:sp>
      <p:sp>
        <p:nvSpPr>
          <p:cNvPr id="7" name="a1float_kp0"/>
          <p:cNvSpPr/>
          <p:nvPr/>
        </p:nvSpPr>
        <p:spPr>
          <a:xfrm>
            <a:off x="548640" y="1691640"/>
            <a:ext cx="3593592" cy="1280160"/>
          </a:xfrm>
          <a:prstGeom prst="roundRect">
            <a:avLst>
              <a:gd name="adj" fmla="val 10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kp0n"/>
          <p:cNvSpPr txBox="1"/>
          <p:nvPr/>
        </p:nvSpPr>
        <p:spPr>
          <a:xfrm>
            <a:off x="77724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108 t C/ha</a:t>
            </a:r>
            <a:endParaRPr lang="en-US" sz="3200" dirty="0"/>
          </a:p>
        </p:txBody>
      </p:sp>
      <p:sp>
        <p:nvSpPr>
          <p:cNvPr id="9" name="a1float_kp0t"/>
          <p:cNvSpPr txBox="1"/>
          <p:nvPr/>
        </p:nvSpPr>
        <p:spPr>
          <a:xfrm>
            <a:off x="77724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field density near the stands (90 % CI 79–138); 82 % of it is in the soil</a:t>
            </a:r>
            <a:endParaRPr lang="en-US" sz="1200" dirty="0"/>
          </a:p>
        </p:txBody>
      </p:sp>
      <p:sp>
        <p:nvSpPr>
          <p:cNvPr id="10" name="a2float_kp1"/>
          <p:cNvSpPr/>
          <p:nvPr/>
        </p:nvSpPr>
        <p:spPr>
          <a:xfrm>
            <a:off x="4297680" y="1691640"/>
            <a:ext cx="3593592" cy="1280160"/>
          </a:xfrm>
          <a:prstGeom prst="roundRect">
            <a:avLst>
              <a:gd name="adj" fmla="val 10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1" name="a2float_kp1n"/>
          <p:cNvSpPr txBox="1"/>
          <p:nvPr/>
        </p:nvSpPr>
        <p:spPr>
          <a:xfrm>
            <a:off x="452628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A9813A"/>
                </a:solidFill>
                <a:latin typeface="Segoe UI Light" pitchFamily="34" charset="0"/>
                <a:ea typeface="Segoe UI Light" pitchFamily="34" charset="-122"/>
                <a:cs typeface="Segoe UI Light" pitchFamily="34" charset="-120"/>
              </a:rPr>
              <a:t>247 kt C</a:t>
            </a:r>
            <a:endParaRPr lang="en-US" sz="3200" dirty="0"/>
          </a:p>
        </p:txBody>
      </p:sp>
      <p:sp>
        <p:nvSpPr>
          <p:cNvPr id="12" name="a2float_kp1t"/>
          <p:cNvSpPr txBox="1"/>
          <p:nvPr/>
        </p:nvSpPr>
        <p:spPr>
          <a:xfrm>
            <a:off x="452628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pilot stock, 2,281 ha (range 180–316) ≈ 907 kt CO₂e</a:t>
            </a:r>
            <a:endParaRPr lang="en-US" sz="1200" dirty="0"/>
          </a:p>
        </p:txBody>
      </p:sp>
      <p:sp>
        <p:nvSpPr>
          <p:cNvPr id="13" name="a3float_kp2"/>
          <p:cNvSpPr/>
          <p:nvPr/>
        </p:nvSpPr>
        <p:spPr>
          <a:xfrm>
            <a:off x="8046720" y="1691640"/>
            <a:ext cx="3593592" cy="1280160"/>
          </a:xfrm>
          <a:prstGeom prst="roundRect">
            <a:avLst>
              <a:gd name="adj" fmla="val 10000"/>
            </a:avLst>
          </a:prstGeom>
          <a:solidFill>
            <a:srgbClr val="FBEDEF">
              <a:alpha val="80000"/>
            </a:srgbClr>
          </a:solidFill>
          <a:ln w="9525">
            <a:solidFill>
              <a:srgbClr val="E8C4CA"/>
            </a:solidFill>
            <a:prstDash val="solid"/>
          </a:ln>
          <a:effectLst>
            <a:outerShdw blurRad="152400" dist="38100" dir="5400000" algn="bl" rotWithShape="0">
              <a:srgbClr val="1B2B40">
                <a:alpha val="12000"/>
              </a:srgbClr>
            </a:outerShdw>
          </a:effectLst>
        </p:spPr>
        <p:txBody>
          <a:bodyPr/>
          <a:lstStyle/>
          <a:p>
            <a:endParaRPr lang="en-GB"/>
          </a:p>
        </p:txBody>
      </p:sp>
      <p:sp>
        <p:nvSpPr>
          <p:cNvPr id="14" name="a3float_kp2n"/>
          <p:cNvSpPr txBox="1"/>
          <p:nvPr/>
        </p:nvSpPr>
        <p:spPr>
          <a:xfrm>
            <a:off x="8275320" y="1783080"/>
            <a:ext cx="3200400" cy="566928"/>
          </a:xfrm>
          <a:prstGeom prst="rect">
            <a:avLst/>
          </a:prstGeom>
          <a:noFill/>
          <a:ln/>
        </p:spPr>
        <p:txBody>
          <a:bodyPr wrap="square" lIns="0" tIns="0" rIns="0" bIns="0" rtlCol="0" anchor="t"/>
          <a:lstStyle/>
          <a:p>
            <a:pPr marL="0" indent="0" algn="l">
              <a:lnSpc>
                <a:spcPct val="105000"/>
              </a:lnSpc>
              <a:buNone/>
            </a:pPr>
            <a:r>
              <a:rPr lang="en-US" sz="3200" dirty="0">
                <a:solidFill>
                  <a:srgbClr val="BE5F6D"/>
                </a:solidFill>
                <a:latin typeface="Segoe UI Light" pitchFamily="34" charset="0"/>
                <a:ea typeface="Segoe UI Light" pitchFamily="34" charset="-122"/>
                <a:cs typeface="Segoe UI Light" pitchFamily="34" charset="-120"/>
              </a:rPr>
              <a:t>2.8–6.7 kt C</a:t>
            </a:r>
            <a:endParaRPr lang="en-US" sz="3200" dirty="0"/>
          </a:p>
        </p:txBody>
      </p:sp>
      <p:sp>
        <p:nvSpPr>
          <p:cNvPr id="15" name="a3float_kp2t"/>
          <p:cNvSpPr txBox="1"/>
          <p:nvPr/>
        </p:nvSpPr>
        <p:spPr>
          <a:xfrm>
            <a:off x="8275320" y="2377440"/>
            <a:ext cx="3200400" cy="54864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stock on the 26–62 ha lost at stand 5: what one alert puts on the table</a:t>
            </a:r>
            <a:endParaRPr lang="en-US" sz="1200" dirty="0"/>
          </a:p>
        </p:txBody>
      </p:sp>
      <p:sp>
        <p:nvSpPr>
          <p:cNvPr id="16" name="a4float_tc"/>
          <p:cNvSpPr/>
          <p:nvPr/>
        </p:nvSpPr>
        <p:spPr>
          <a:xfrm>
            <a:off x="548640" y="3154680"/>
            <a:ext cx="6629400" cy="3017520"/>
          </a:xfrm>
          <a:prstGeom prst="roundRect">
            <a:avLst>
              <a:gd name="adj" fmla="val 4242"/>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7" name="a4float_tl"/>
          <p:cNvSpPr txBox="1"/>
          <p:nvPr/>
        </p:nvSpPr>
        <p:spPr>
          <a:xfrm>
            <a:off x="777240" y="3291840"/>
            <a:ext cx="62179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SERVICE TIERS (PRICES ARE PILOT HYPOTHESES)</a:t>
            </a:r>
            <a:endParaRPr lang="en-US" sz="1100" dirty="0"/>
          </a:p>
        </p:txBody>
      </p:sp>
      <p:sp>
        <p:nvSpPr>
          <p:cNvPr id="18" name="a5pop_t0"/>
          <p:cNvSpPr/>
          <p:nvPr/>
        </p:nvSpPr>
        <p:spPr>
          <a:xfrm>
            <a:off x="777240" y="3639312"/>
            <a:ext cx="1965960" cy="1737360"/>
          </a:xfrm>
          <a:prstGeom prst="roundRect">
            <a:avLst>
              <a:gd name="adj" fmla="val 5263"/>
            </a:avLst>
          </a:prstGeom>
          <a:solidFill>
            <a:srgbClr val="3F6E9E">
              <a:alpha val="22000"/>
            </a:srgbClr>
          </a:solidFill>
          <a:ln w="9525">
            <a:solidFill>
              <a:srgbClr val="3F6E9E">
                <a:alpha val="60000"/>
              </a:srgbClr>
            </a:solidFill>
            <a:prstDash val="solid"/>
          </a:ln>
        </p:spPr>
        <p:txBody>
          <a:bodyPr/>
          <a:lstStyle/>
          <a:p>
            <a:endParaRPr lang="en-GB"/>
          </a:p>
        </p:txBody>
      </p:sp>
      <p:sp>
        <p:nvSpPr>
          <p:cNvPr id="19" name="a5pop_t0n"/>
          <p:cNvSpPr txBox="1"/>
          <p:nvPr/>
        </p:nvSpPr>
        <p:spPr>
          <a:xfrm>
            <a:off x="914400"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Monitor</a:t>
            </a:r>
            <a:endParaRPr lang="en-US" sz="1300" dirty="0"/>
          </a:p>
        </p:txBody>
      </p:sp>
      <p:sp>
        <p:nvSpPr>
          <p:cNvPr id="20" name="a5pop_t0p"/>
          <p:cNvSpPr txBox="1"/>
          <p:nvPr/>
        </p:nvSpPr>
        <p:spPr>
          <a:xfrm>
            <a:off x="914400"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$12k</a:t>
            </a:r>
            <a:endParaRPr lang="en-US" sz="2800" dirty="0"/>
          </a:p>
        </p:txBody>
      </p:sp>
      <p:sp>
        <p:nvSpPr>
          <p:cNvPr id="21" name="a5pop_t0u"/>
          <p:cNvSpPr txBox="1"/>
          <p:nvPr/>
        </p:nvSpPr>
        <p:spPr>
          <a:xfrm>
            <a:off x="914400"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site / yr</a:t>
            </a:r>
            <a:endParaRPr lang="en-US" sz="1100" dirty="0"/>
          </a:p>
        </p:txBody>
      </p:sp>
      <p:sp>
        <p:nvSpPr>
          <p:cNvPr id="22" name="a5pop_t0d"/>
          <p:cNvSpPr txBox="1"/>
          <p:nvPr/>
        </p:nvSpPr>
        <p:spPr>
          <a:xfrm>
            <a:off x="914400"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alert, cell map, condition, carbon, monthly reports</a:t>
            </a:r>
            <a:endParaRPr lang="en-US" sz="1100" dirty="0"/>
          </a:p>
        </p:txBody>
      </p:sp>
      <p:sp>
        <p:nvSpPr>
          <p:cNvPr id="23" name="a6pop_t1"/>
          <p:cNvSpPr/>
          <p:nvPr/>
        </p:nvSpPr>
        <p:spPr>
          <a:xfrm>
            <a:off x="2862072" y="3639312"/>
            <a:ext cx="1965960" cy="1737360"/>
          </a:xfrm>
          <a:prstGeom prst="roundRect">
            <a:avLst>
              <a:gd name="adj" fmla="val 5263"/>
            </a:avLst>
          </a:prstGeom>
          <a:solidFill>
            <a:srgbClr val="3F6E9E">
              <a:alpha val="10000"/>
            </a:srgbClr>
          </a:solidFill>
          <a:ln w="9525">
            <a:solidFill>
              <a:srgbClr val="3F6E9E">
                <a:alpha val="60000"/>
              </a:srgbClr>
            </a:solidFill>
            <a:prstDash val="solid"/>
          </a:ln>
        </p:spPr>
        <p:txBody>
          <a:bodyPr/>
          <a:lstStyle/>
          <a:p>
            <a:endParaRPr lang="en-GB"/>
          </a:p>
        </p:txBody>
      </p:sp>
      <p:sp>
        <p:nvSpPr>
          <p:cNvPr id="24" name="a6pop_t1n"/>
          <p:cNvSpPr txBox="1"/>
          <p:nvPr/>
        </p:nvSpPr>
        <p:spPr>
          <a:xfrm>
            <a:off x="2999232"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Evidence</a:t>
            </a:r>
            <a:endParaRPr lang="en-US" sz="1300" dirty="0"/>
          </a:p>
        </p:txBody>
      </p:sp>
      <p:sp>
        <p:nvSpPr>
          <p:cNvPr id="25" name="a6pop_t1p"/>
          <p:cNvSpPr txBox="1"/>
          <p:nvPr/>
        </p:nvSpPr>
        <p:spPr>
          <a:xfrm>
            <a:off x="2999232"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$25k</a:t>
            </a:r>
            <a:endParaRPr lang="en-US" sz="2800" dirty="0"/>
          </a:p>
        </p:txBody>
      </p:sp>
      <p:sp>
        <p:nvSpPr>
          <p:cNvPr id="26" name="a6pop_t1u"/>
          <p:cNvSpPr txBox="1"/>
          <p:nvPr/>
        </p:nvSpPr>
        <p:spPr>
          <a:xfrm>
            <a:off x="2999232"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site / yr</a:t>
            </a:r>
            <a:endParaRPr lang="en-US" sz="1100" dirty="0"/>
          </a:p>
        </p:txBody>
      </p:sp>
      <p:sp>
        <p:nvSpPr>
          <p:cNvPr id="27" name="a6pop_t1d"/>
          <p:cNvSpPr txBox="1"/>
          <p:nvPr/>
        </p:nvSpPr>
        <p:spPr>
          <a:xfrm>
            <a:off x="2999232"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 sub-metre check of every alert, audit pack</a:t>
            </a:r>
            <a:endParaRPr lang="en-US" sz="1100" dirty="0"/>
          </a:p>
        </p:txBody>
      </p:sp>
      <p:sp>
        <p:nvSpPr>
          <p:cNvPr id="28" name="a7pop_t2"/>
          <p:cNvSpPr/>
          <p:nvPr/>
        </p:nvSpPr>
        <p:spPr>
          <a:xfrm>
            <a:off x="4946904" y="3639312"/>
            <a:ext cx="1965960" cy="1737360"/>
          </a:xfrm>
          <a:prstGeom prst="roundRect">
            <a:avLst>
              <a:gd name="adj" fmla="val 5263"/>
            </a:avLst>
          </a:prstGeom>
          <a:solidFill>
            <a:srgbClr val="3F6E9E">
              <a:alpha val="10000"/>
            </a:srgbClr>
          </a:solidFill>
          <a:ln w="9525">
            <a:solidFill>
              <a:srgbClr val="3F6E9E">
                <a:alpha val="60000"/>
              </a:srgbClr>
            </a:solidFill>
            <a:prstDash val="solid"/>
          </a:ln>
        </p:spPr>
        <p:txBody>
          <a:bodyPr/>
          <a:lstStyle/>
          <a:p>
            <a:endParaRPr lang="en-GB"/>
          </a:p>
        </p:txBody>
      </p:sp>
      <p:sp>
        <p:nvSpPr>
          <p:cNvPr id="29" name="a7pop_t2n"/>
          <p:cNvSpPr txBox="1"/>
          <p:nvPr/>
        </p:nvSpPr>
        <p:spPr>
          <a:xfrm>
            <a:off x="5084064" y="3712464"/>
            <a:ext cx="1737360" cy="27432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Semibold" pitchFamily="34" charset="0"/>
                <a:ea typeface="Segoe UI Semibold" pitchFamily="34" charset="-122"/>
                <a:cs typeface="Segoe UI Semibold" pitchFamily="34" charset="-120"/>
              </a:rPr>
              <a:t>Development watch</a:t>
            </a:r>
            <a:endParaRPr lang="en-US" sz="1300" dirty="0"/>
          </a:p>
        </p:txBody>
      </p:sp>
      <p:sp>
        <p:nvSpPr>
          <p:cNvPr id="30" name="a7pop_t2p"/>
          <p:cNvSpPr txBox="1"/>
          <p:nvPr/>
        </p:nvSpPr>
        <p:spPr>
          <a:xfrm>
            <a:off x="5084064" y="3986784"/>
            <a:ext cx="1737360" cy="502920"/>
          </a:xfrm>
          <a:prstGeom prst="rect">
            <a:avLst/>
          </a:prstGeom>
          <a:noFill/>
          <a:ln/>
        </p:spPr>
        <p:txBody>
          <a:bodyPr wrap="square" lIns="0" tIns="0" rIns="0" bIns="0" rtlCol="0" anchor="t"/>
          <a:lstStyle/>
          <a:p>
            <a:pPr marL="0" indent="0" algn="l">
              <a:lnSpc>
                <a:spcPct val="105000"/>
              </a:lnSpc>
              <a:buNone/>
            </a:pPr>
            <a:r>
              <a:rPr lang="en-US" sz="2800" dirty="0">
                <a:solidFill>
                  <a:srgbClr val="2F5D8F"/>
                </a:solidFill>
                <a:latin typeface="Segoe UI Light" pitchFamily="34" charset="0"/>
                <a:ea typeface="Segoe UI Light" pitchFamily="34" charset="-122"/>
                <a:cs typeface="Segoe UI Light" pitchFamily="34" charset="-120"/>
              </a:rPr>
              <a:t>$8k</a:t>
            </a:r>
            <a:endParaRPr lang="en-US" sz="2800" dirty="0"/>
          </a:p>
        </p:txBody>
      </p:sp>
      <p:sp>
        <p:nvSpPr>
          <p:cNvPr id="31" name="a7pop_t2u"/>
          <p:cNvSpPr txBox="1"/>
          <p:nvPr/>
        </p:nvSpPr>
        <p:spPr>
          <a:xfrm>
            <a:off x="5084064" y="4480560"/>
            <a:ext cx="1737360" cy="228600"/>
          </a:xfrm>
          <a:prstGeom prst="rect">
            <a:avLst/>
          </a:prstGeom>
          <a:noFill/>
          <a:ln/>
        </p:spPr>
        <p:txBody>
          <a:bodyPr wrap="square" lIns="0" tIns="0" rIns="0" bIns="0" rtlCol="0" anchor="t"/>
          <a:lstStyle/>
          <a:p>
            <a:pPr marL="0" indent="0" algn="l">
              <a:lnSpc>
                <a:spcPct val="105000"/>
              </a:lnSpc>
              <a:buNone/>
            </a:pPr>
            <a:r>
              <a:rPr lang="en-US" sz="1100" dirty="0">
                <a:solidFill>
                  <a:srgbClr val="5F738A"/>
                </a:solidFill>
                <a:latin typeface="Segoe UI" pitchFamily="34" charset="0"/>
                <a:ea typeface="Segoe UI" pitchFamily="34" charset="-122"/>
                <a:cs typeface="Segoe UI" pitchFamily="34" charset="-120"/>
              </a:rPr>
              <a:t>per project / yr</a:t>
            </a:r>
            <a:endParaRPr lang="en-US" sz="1100" dirty="0"/>
          </a:p>
        </p:txBody>
      </p:sp>
      <p:sp>
        <p:nvSpPr>
          <p:cNvPr id="32" name="a7pop_t2d"/>
          <p:cNvSpPr txBox="1"/>
          <p:nvPr/>
        </p:nvSpPr>
        <p:spPr>
          <a:xfrm>
            <a:off x="5084064" y="4736592"/>
            <a:ext cx="1737360" cy="594360"/>
          </a:xfrm>
          <a:prstGeom prst="rect">
            <a:avLst/>
          </a:prstGeom>
          <a:noFill/>
          <a:ln/>
        </p:spPr>
        <p:txBody>
          <a:bodyPr wrap="square" lIns="0" tIns="0" rIns="0" bIns="0" rtlCol="0" anchor="t"/>
          <a:lstStyle/>
          <a:p>
            <a:pPr marL="0" indent="0" algn="l">
              <a:lnSpc>
                <a:spcPct val="105000"/>
              </a:lnSpc>
              <a:buNone/>
            </a:pPr>
            <a:r>
              <a:rPr lang="en-US" sz="1100" dirty="0">
                <a:solidFill>
                  <a:srgbClr val="1B2B40"/>
                </a:solidFill>
                <a:latin typeface="Segoe UI" pitchFamily="34" charset="0"/>
                <a:ea typeface="Segoe UI" pitchFamily="34" charset="-122"/>
                <a:cs typeface="Segoe UI" pitchFamily="34" charset="-120"/>
              </a:rPr>
              <a:t>for coastal developers and EIA consultants</a:t>
            </a:r>
            <a:endParaRPr lang="en-US" sz="1100" dirty="0"/>
          </a:p>
        </p:txBody>
      </p:sp>
      <p:sp>
        <p:nvSpPr>
          <p:cNvPr id="33" name="a8fade_cost"/>
          <p:cNvSpPr txBox="1"/>
          <p:nvPr/>
        </p:nvSpPr>
        <p:spPr>
          <a:xfrm>
            <a:off x="777240" y="5504688"/>
            <a:ext cx="6217920" cy="548640"/>
          </a:xfrm>
          <a:prstGeom prst="rect">
            <a:avLst/>
          </a:prstGeom>
          <a:noFill/>
          <a:ln/>
        </p:spPr>
        <p:txBody>
          <a:bodyPr wrap="square" lIns="0" tIns="0" rIns="0" bIns="0" rtlCol="0" anchor="t"/>
          <a:lstStyle/>
          <a:p>
            <a:pPr marL="0" indent="0" algn="l">
              <a:lnSpc>
                <a:spcPct val="105000"/>
              </a:lnSpc>
              <a:buNone/>
            </a:pPr>
            <a:r>
              <a:rPr lang="en-US" sz="1200" b="1" dirty="0">
                <a:solidFill>
                  <a:srgbClr val="3A4D63"/>
                </a:solidFill>
                <a:latin typeface="Segoe UI" pitchFamily="34" charset="0"/>
                <a:ea typeface="Segoe UI" pitchFamily="34" charset="-122"/>
                <a:cs typeface="Segoe UI" pitchFamily="34" charset="-120"/>
              </a:rPr>
              <a:t>Cost to serve ≈ $3.3k / site / yr: </a:t>
            </a:r>
            <a:r>
              <a:rPr lang="en-US" sz="1200" dirty="0">
                <a:solidFill>
                  <a:srgbClr val="3A4D63"/>
                </a:solidFill>
                <a:latin typeface="Segoe UI" pitchFamily="34" charset="0"/>
                <a:ea typeface="Segoe UI" pitchFamily="34" charset="-122"/>
                <a:cs typeface="Segoe UI" pitchFamily="34" charset="-120"/>
              </a:rPr>
              <a:t>compute &lt; $5 (measured), sub-metre checks $500–750, analyst $2k (assumption).</a:t>
            </a:r>
            <a:endParaRPr lang="en-US" sz="1200" dirty="0"/>
          </a:p>
        </p:txBody>
      </p:sp>
      <p:sp>
        <p:nvSpPr>
          <p:cNvPr id="34" name="a6float_comp"/>
          <p:cNvSpPr/>
          <p:nvPr/>
        </p:nvSpPr>
        <p:spPr>
          <a:xfrm>
            <a:off x="7360920" y="3154680"/>
            <a:ext cx="4279392" cy="1417320"/>
          </a:xfrm>
          <a:prstGeom prst="roundRect">
            <a:avLst>
              <a:gd name="adj" fmla="val 9032"/>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5" name="a6float_compl"/>
          <p:cNvSpPr txBox="1"/>
          <p:nvPr/>
        </p:nvSpPr>
        <p:spPr>
          <a:xfrm>
            <a:off x="7589520" y="3291840"/>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COMPETITION</a:t>
            </a:r>
            <a:endParaRPr lang="en-US" sz="1100" dirty="0"/>
          </a:p>
        </p:txBody>
      </p:sp>
      <p:sp>
        <p:nvSpPr>
          <p:cNvPr id="36" name="a6float_compt"/>
          <p:cNvSpPr txBox="1"/>
          <p:nvPr/>
        </p:nvSpPr>
        <p:spPr>
          <a:xfrm>
            <a:off x="7589520" y="3566160"/>
            <a:ext cx="3886200" cy="960120"/>
          </a:xfrm>
          <a:prstGeom prst="rect">
            <a:avLst/>
          </a:prstGeom>
          <a:noFill/>
          <a:ln/>
        </p:spPr>
        <p:txBody>
          <a:bodyPr wrap="square" lIns="0" tIns="0" rIns="0" bIns="0" rtlCol="0" anchor="t"/>
          <a:lstStyle/>
          <a:p>
            <a:pPr marL="0" indent="0" algn="l">
              <a:lnSpc>
                <a:spcPct val="105000"/>
              </a:lnSpc>
              <a:buNone/>
            </a:pPr>
            <a:r>
              <a:rPr lang="en-US" sz="1200" dirty="0">
                <a:solidFill>
                  <a:srgbClr val="1B2B40"/>
                </a:solidFill>
                <a:latin typeface="Segoe UI" pitchFamily="34" charset="0"/>
                <a:ea typeface="Segoe UI" pitchFamily="34" charset="-122"/>
                <a:cs typeface="Segoe UI" pitchFamily="34" charset="-120"/>
              </a:rPr>
              <a:t>Global Mangrove Watch sends free monthly loss alerts (Gulf coverage not confirmed). We are complementary: tide-aware, calibrated, stand + cell, carbon and reports.</a:t>
            </a:r>
            <a:endParaRPr lang="en-US" sz="1200" dirty="0"/>
          </a:p>
        </p:txBody>
      </p:sp>
      <p:sp>
        <p:nvSpPr>
          <p:cNvPr id="37" name="a7float_mk"/>
          <p:cNvSpPr/>
          <p:nvPr/>
        </p:nvSpPr>
        <p:spPr>
          <a:xfrm>
            <a:off x="7360920" y="4709160"/>
            <a:ext cx="4279392" cy="1463040"/>
          </a:xfrm>
          <a:prstGeom prst="roundRect">
            <a:avLst>
              <a:gd name="adj" fmla="val 8750"/>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8" name="a7float_mkl"/>
          <p:cNvSpPr txBox="1"/>
          <p:nvPr/>
        </p:nvSpPr>
        <p:spPr>
          <a:xfrm>
            <a:off x="7589520" y="4828032"/>
            <a:ext cx="365760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THE HONEST MARKET</a:t>
            </a:r>
            <a:endParaRPr lang="en-US" sz="1100" dirty="0"/>
          </a:p>
        </p:txBody>
      </p:sp>
      <p:sp>
        <p:nvSpPr>
          <p:cNvPr id="39" name="a7float_mkt"/>
          <p:cNvSpPr txBox="1"/>
          <p:nvPr/>
        </p:nvSpPr>
        <p:spPr>
          <a:xfrm>
            <a:off x="7589520" y="5102352"/>
            <a:ext cx="3886200" cy="1005840"/>
          </a:xfrm>
          <a:prstGeom prst="rect">
            <a:avLst/>
          </a:prstGeom>
          <a:noFill/>
          <a:ln/>
        </p:spPr>
        <p:txBody>
          <a:bodyPr wrap="square" lIns="0" tIns="0" rIns="0" bIns="0" rtlCol="0" anchor="t"/>
          <a:lstStyle/>
          <a:p>
            <a:pPr marL="0" indent="0" algn="l">
              <a:lnSpc>
                <a:spcPct val="105000"/>
              </a:lnSpc>
              <a:buNone/>
            </a:pPr>
            <a:r>
              <a:rPr lang="en-US" sz="1300" dirty="0">
                <a:solidFill>
                  <a:srgbClr val="1B2B40"/>
                </a:solidFill>
                <a:latin typeface="Segoe UI" pitchFamily="34" charset="0"/>
                <a:ea typeface="Segoe UI" pitchFamily="34" charset="-122"/>
                <a:cs typeface="Segoe UI" pitchFamily="34" charset="-120"/>
              </a:rPr>
              <a:t>Gulf + Red Sea subscriptions ≈ $0.2–0.4 M / yr. The real prize: a </a:t>
            </a:r>
            <a:r>
              <a:rPr lang="en-US" sz="1300" b="1" dirty="0">
                <a:solidFill>
                  <a:srgbClr val="A9813A"/>
                </a:solidFill>
                <a:latin typeface="Segoe UI" pitchFamily="34" charset="0"/>
                <a:ea typeface="Segoe UI" pitchFamily="34" charset="-122"/>
                <a:cs typeface="Segoe UI" pitchFamily="34" charset="-120"/>
              </a:rPr>
              <a:t>national MRV contract</a:t>
            </a:r>
            <a:r>
              <a:rPr lang="en-US" sz="1300" dirty="0">
                <a:solidFill>
                  <a:srgbClr val="1B2B40"/>
                </a:solidFill>
                <a:latin typeface="Segoe UI" pitchFamily="34" charset="0"/>
                <a:ea typeface="Segoe UI" pitchFamily="34" charset="-122"/>
                <a:cs typeface="Segoe UI" pitchFamily="34" charset="-120"/>
              </a:rPr>
              <a:t> or a monitoring layer on </a:t>
            </a:r>
            <a:r>
              <a:rPr lang="en-US" sz="1300" b="1" dirty="0">
                <a:solidFill>
                  <a:srgbClr val="A9813A"/>
                </a:solidFill>
                <a:latin typeface="Segoe UI" pitchFamily="34" charset="0"/>
                <a:ea typeface="Segoe UI" pitchFamily="34" charset="-122"/>
                <a:cs typeface="Segoe UI" pitchFamily="34" charset="-120"/>
              </a:rPr>
              <a:t>gIQ</a:t>
            </a:r>
            <a:r>
              <a:rPr lang="en-US" sz="1300" dirty="0">
                <a:solidFill>
                  <a:srgbClr val="1B2B40"/>
                </a:solidFill>
                <a:latin typeface="Segoe UI" pitchFamily="34" charset="0"/>
                <a:ea typeface="Segoe UI" pitchFamily="34" charset="-122"/>
                <a:cs typeface="Segoe UI" pitchFamily="34" charset="-120"/>
              </a:rPr>
              <a:t>. SDG 13 · 14 · 15.</a:t>
            </a:r>
            <a:endParaRPr lang="en-US" sz="13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18</a:t>
            </a:fld>
            <a:endParaRPr lang="en-US"/>
          </a:p>
        </p:txBody>
      </p:sp>
      <p:sp>
        <p:nvSpPr>
          <p:cNvPr id="158" name="src_footer"/>
          <p:cNvSpPr txBox="1"/>
          <p:nvPr/>
        </p:nvSpPr>
        <p:spPr>
          <a:xfrm>
            <a:off x="3500000" y="6390000"/>
            <a:ext cx="7550000" cy="420000"/>
          </a:xfrm>
          <a:prstGeom prst="rect">
            <a:avLst/>
          </a:prstGeom>
          <a:noFill/>
        </p:spPr>
        <p:txBody>
          <a:bodyPr wrap="square">
            <a:spAutoFit/>
          </a:bodyPr>
          <a:lstStyle/>
          <a:p>
            <a:pPr algn="l"/>
            <a:r>
              <a:rPr sz="800" b="0" i="0">
                <a:solidFill>
                  <a:srgbClr val="5A6B80"/>
                </a:solidFill>
                <a:latin typeface="Segoe UI"/>
              </a:rPr>
              <a:t>Carbon at stake = lost area × field carbon density: 26–62 ha (our Sentinel-2 and EnMAP estimates) × 108 t C/ha (90 % CI 79–138; Schile et al. 2017, Ecol. Appl. 27:859; data Dryad doi 10.15146/R3K59Z) = 2.8–6.7 kt C; × 3.67 = t CO₂e. Cost to serve = compute &lt; $5 (measured; Azure D8s v5 $0.384/h) + sub-metre checks $500–750 (SkyWatch $19–29/km²) + analyst $2k (assumption). Prices are pilot hypotheses.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69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69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91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91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113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53" presetClass="entr" presetSubtype="16" decel="10000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anim calcmode="lin" valueType="num">
                                      <p:cBhvr additive="base">
                                        <p:cTn id="59" dur="450" fill="hold"/>
                                        <p:tgtEl>
                                          <p:spTgt spid="18"/>
                                        </p:tgtEl>
                                        <p:attrNameLst>
                                          <p:attrName>ppt_w</p:attrName>
                                        </p:attrNameLst>
                                      </p:cBhvr>
                                      <p:tavLst>
                                        <p:tav tm="0">
                                          <p:val>
                                            <p:strVal val="#ppt_w*0.2"/>
                                          </p:val>
                                        </p:tav>
                                        <p:tav tm="100000">
                                          <p:val>
                                            <p:strVal val="#ppt_w"/>
                                          </p:val>
                                        </p:tav>
                                      </p:tavLst>
                                    </p:anim>
                                    <p:anim calcmode="lin" valueType="num">
                                      <p:cBhvr additive="base">
                                        <p:cTn id="60" dur="450" fill="hold"/>
                                        <p:tgtEl>
                                          <p:spTgt spid="18"/>
                                        </p:tgtEl>
                                        <p:attrNameLst>
                                          <p:attrName>ppt_h</p:attrName>
                                        </p:attrNameLst>
                                      </p:cBhvr>
                                      <p:tavLst>
                                        <p:tav tm="0">
                                          <p:val>
                                            <p:strVal val="#ppt_h*0.2"/>
                                          </p:val>
                                        </p:tav>
                                        <p:tav tm="100000">
                                          <p:val>
                                            <p:strVal val="#ppt_h"/>
                                          </p:val>
                                        </p:tav>
                                      </p:tavLst>
                                    </p:anim>
                                  </p:childTnLst>
                                </p:cTn>
                              </p:par>
                              <p:par>
                                <p:cTn id="61" presetID="53" presetClass="entr" presetSubtype="16" decel="100000" fill="hold" grpId="0" nodeType="withEffect">
                                  <p:stCondLst>
                                    <p:cond delay="135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450"/>
                                        <p:tgtEl>
                                          <p:spTgt spid="19"/>
                                        </p:tgtEl>
                                      </p:cBhvr>
                                    </p:animEffect>
                                    <p:anim calcmode="lin" valueType="num">
                                      <p:cBhvr additive="base">
                                        <p:cTn id="64" dur="450" fill="hold"/>
                                        <p:tgtEl>
                                          <p:spTgt spid="19"/>
                                        </p:tgtEl>
                                        <p:attrNameLst>
                                          <p:attrName>ppt_w</p:attrName>
                                        </p:attrNameLst>
                                      </p:cBhvr>
                                      <p:tavLst>
                                        <p:tav tm="0">
                                          <p:val>
                                            <p:strVal val="#ppt_w*0.2"/>
                                          </p:val>
                                        </p:tav>
                                        <p:tav tm="100000">
                                          <p:val>
                                            <p:strVal val="#ppt_w"/>
                                          </p:val>
                                        </p:tav>
                                      </p:tavLst>
                                    </p:anim>
                                    <p:anim calcmode="lin" valueType="num">
                                      <p:cBhvr additive="base">
                                        <p:cTn id="65" dur="450" fill="hold"/>
                                        <p:tgtEl>
                                          <p:spTgt spid="19"/>
                                        </p:tgtEl>
                                        <p:attrNameLst>
                                          <p:attrName>ppt_h</p:attrName>
                                        </p:attrNameLst>
                                      </p:cBhvr>
                                      <p:tavLst>
                                        <p:tav tm="0">
                                          <p:val>
                                            <p:strVal val="#ppt_h*0.2"/>
                                          </p:val>
                                        </p:tav>
                                        <p:tav tm="100000">
                                          <p:val>
                                            <p:strVal val="#ppt_h"/>
                                          </p:val>
                                        </p:tav>
                                      </p:tavLst>
                                    </p:anim>
                                  </p:childTnLst>
                                </p:cTn>
                              </p:par>
                              <p:par>
                                <p:cTn id="66" presetID="53" presetClass="entr" presetSubtype="16" decel="100000" fill="hold" grpId="0" nodeType="withEffect">
                                  <p:stCondLst>
                                    <p:cond delay="135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50"/>
                                        <p:tgtEl>
                                          <p:spTgt spid="20"/>
                                        </p:tgtEl>
                                      </p:cBhvr>
                                    </p:animEffect>
                                    <p:anim calcmode="lin" valueType="num">
                                      <p:cBhvr additive="base">
                                        <p:cTn id="69" dur="450" fill="hold"/>
                                        <p:tgtEl>
                                          <p:spTgt spid="20"/>
                                        </p:tgtEl>
                                        <p:attrNameLst>
                                          <p:attrName>ppt_w</p:attrName>
                                        </p:attrNameLst>
                                      </p:cBhvr>
                                      <p:tavLst>
                                        <p:tav tm="0">
                                          <p:val>
                                            <p:strVal val="#ppt_w*0.2"/>
                                          </p:val>
                                        </p:tav>
                                        <p:tav tm="100000">
                                          <p:val>
                                            <p:strVal val="#ppt_w"/>
                                          </p:val>
                                        </p:tav>
                                      </p:tavLst>
                                    </p:anim>
                                    <p:anim calcmode="lin" valueType="num">
                                      <p:cBhvr additive="base">
                                        <p:cTn id="70" dur="450" fill="hold"/>
                                        <p:tgtEl>
                                          <p:spTgt spid="20"/>
                                        </p:tgtEl>
                                        <p:attrNameLst>
                                          <p:attrName>ppt_h</p:attrName>
                                        </p:attrNameLst>
                                      </p:cBhvr>
                                      <p:tavLst>
                                        <p:tav tm="0">
                                          <p:val>
                                            <p:strVal val="#ppt_h*0.2"/>
                                          </p:val>
                                        </p:tav>
                                        <p:tav tm="100000">
                                          <p:val>
                                            <p:strVal val="#ppt_h"/>
                                          </p:val>
                                        </p:tav>
                                      </p:tavLst>
                                    </p:anim>
                                  </p:childTnLst>
                                </p:cTn>
                              </p:par>
                              <p:par>
                                <p:cTn id="71" presetID="53" presetClass="entr" presetSubtype="16" decel="100000" fill="hold" grpId="0" nodeType="withEffect">
                                  <p:stCondLst>
                                    <p:cond delay="135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anim calcmode="lin" valueType="num">
                                      <p:cBhvr additive="base">
                                        <p:cTn id="74" dur="450" fill="hold"/>
                                        <p:tgtEl>
                                          <p:spTgt spid="21"/>
                                        </p:tgtEl>
                                        <p:attrNameLst>
                                          <p:attrName>ppt_w</p:attrName>
                                        </p:attrNameLst>
                                      </p:cBhvr>
                                      <p:tavLst>
                                        <p:tav tm="0">
                                          <p:val>
                                            <p:strVal val="#ppt_w*0.2"/>
                                          </p:val>
                                        </p:tav>
                                        <p:tav tm="100000">
                                          <p:val>
                                            <p:strVal val="#ppt_w"/>
                                          </p:val>
                                        </p:tav>
                                      </p:tavLst>
                                    </p:anim>
                                    <p:anim calcmode="lin" valueType="num">
                                      <p:cBhvr additive="base">
                                        <p:cTn id="75" dur="450" fill="hold"/>
                                        <p:tgtEl>
                                          <p:spTgt spid="21"/>
                                        </p:tgtEl>
                                        <p:attrNameLst>
                                          <p:attrName>ppt_h</p:attrName>
                                        </p:attrNameLst>
                                      </p:cBhvr>
                                      <p:tavLst>
                                        <p:tav tm="0">
                                          <p:val>
                                            <p:strVal val="#ppt_h*0.2"/>
                                          </p:val>
                                        </p:tav>
                                        <p:tav tm="100000">
                                          <p:val>
                                            <p:strVal val="#ppt_h"/>
                                          </p:val>
                                        </p:tav>
                                      </p:tavLst>
                                    </p:anim>
                                  </p:childTnLst>
                                </p:cTn>
                              </p:par>
                              <p:par>
                                <p:cTn id="76" presetID="53" presetClass="entr" presetSubtype="16" decel="100000" fill="hold" grpId="0" nodeType="withEffect">
                                  <p:stCondLst>
                                    <p:cond delay="135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450"/>
                                        <p:tgtEl>
                                          <p:spTgt spid="22"/>
                                        </p:tgtEl>
                                      </p:cBhvr>
                                    </p:animEffect>
                                    <p:anim calcmode="lin" valueType="num">
                                      <p:cBhvr additive="base">
                                        <p:cTn id="79" dur="450" fill="hold"/>
                                        <p:tgtEl>
                                          <p:spTgt spid="22"/>
                                        </p:tgtEl>
                                        <p:attrNameLst>
                                          <p:attrName>ppt_w</p:attrName>
                                        </p:attrNameLst>
                                      </p:cBhvr>
                                      <p:tavLst>
                                        <p:tav tm="0">
                                          <p:val>
                                            <p:strVal val="#ppt_w*0.2"/>
                                          </p:val>
                                        </p:tav>
                                        <p:tav tm="100000">
                                          <p:val>
                                            <p:strVal val="#ppt_w"/>
                                          </p:val>
                                        </p:tav>
                                      </p:tavLst>
                                    </p:anim>
                                    <p:anim calcmode="lin" valueType="num">
                                      <p:cBhvr additive="base">
                                        <p:cTn id="80" dur="450" fill="hold"/>
                                        <p:tgtEl>
                                          <p:spTgt spid="22"/>
                                        </p:tgtEl>
                                        <p:attrNameLst>
                                          <p:attrName>ppt_h</p:attrName>
                                        </p:attrNameLst>
                                      </p:cBhvr>
                                      <p:tavLst>
                                        <p:tav tm="0">
                                          <p:val>
                                            <p:strVal val="#ppt_h*0.2"/>
                                          </p:val>
                                        </p:tav>
                                        <p:tav tm="100000">
                                          <p:val>
                                            <p:strVal val="#ppt_h"/>
                                          </p:val>
                                        </p:tav>
                                      </p:tavLst>
                                    </p:anim>
                                  </p:childTnLst>
                                </p:cTn>
                              </p:par>
                              <p:par>
                                <p:cTn id="81" presetID="53" presetClass="entr" presetSubtype="16" decel="100000" fill="hold" grpId="0" nodeType="withEffect">
                                  <p:stCondLst>
                                    <p:cond delay="157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450"/>
                                        <p:tgtEl>
                                          <p:spTgt spid="23"/>
                                        </p:tgtEl>
                                      </p:cBhvr>
                                    </p:animEffect>
                                    <p:anim calcmode="lin" valueType="num">
                                      <p:cBhvr additive="base">
                                        <p:cTn id="84" dur="450" fill="hold"/>
                                        <p:tgtEl>
                                          <p:spTgt spid="23"/>
                                        </p:tgtEl>
                                        <p:attrNameLst>
                                          <p:attrName>ppt_w</p:attrName>
                                        </p:attrNameLst>
                                      </p:cBhvr>
                                      <p:tavLst>
                                        <p:tav tm="0">
                                          <p:val>
                                            <p:strVal val="#ppt_w*0.2"/>
                                          </p:val>
                                        </p:tav>
                                        <p:tav tm="100000">
                                          <p:val>
                                            <p:strVal val="#ppt_w"/>
                                          </p:val>
                                        </p:tav>
                                      </p:tavLst>
                                    </p:anim>
                                    <p:anim calcmode="lin" valueType="num">
                                      <p:cBhvr additive="base">
                                        <p:cTn id="85" dur="450" fill="hold"/>
                                        <p:tgtEl>
                                          <p:spTgt spid="23"/>
                                        </p:tgtEl>
                                        <p:attrNameLst>
                                          <p:attrName>ppt_h</p:attrName>
                                        </p:attrNameLst>
                                      </p:cBhvr>
                                      <p:tavLst>
                                        <p:tav tm="0">
                                          <p:val>
                                            <p:strVal val="#ppt_h*0.2"/>
                                          </p:val>
                                        </p:tav>
                                        <p:tav tm="100000">
                                          <p:val>
                                            <p:strVal val="#ppt_h"/>
                                          </p:val>
                                        </p:tav>
                                      </p:tavLst>
                                    </p:anim>
                                  </p:childTnLst>
                                </p:cTn>
                              </p:par>
                              <p:par>
                                <p:cTn id="86" presetID="53" presetClass="entr" presetSubtype="16" decel="100000" fill="hold" grpId="0" nodeType="withEffect">
                                  <p:stCondLst>
                                    <p:cond delay="1570"/>
                                  </p:stCondLst>
                                  <p:childTnLst>
                                    <p:set>
                                      <p:cBhvr>
                                        <p:cTn id="87" dur="1" fill="hold">
                                          <p:stCondLst>
                                            <p:cond delay="0"/>
                                          </p:stCondLst>
                                        </p:cTn>
                                        <p:tgtEl>
                                          <p:spTgt spid="24"/>
                                        </p:tgtEl>
                                        <p:attrNameLst>
                                          <p:attrName>style.visibility</p:attrName>
                                        </p:attrNameLst>
                                      </p:cBhvr>
                                      <p:to>
                                        <p:strVal val="visible"/>
                                      </p:to>
                                    </p:set>
                                    <p:animEffect transition="in" filter="fade">
                                      <p:cBhvr>
                                        <p:cTn id="88" dur="450"/>
                                        <p:tgtEl>
                                          <p:spTgt spid="24"/>
                                        </p:tgtEl>
                                      </p:cBhvr>
                                    </p:animEffect>
                                    <p:anim calcmode="lin" valueType="num">
                                      <p:cBhvr additive="base">
                                        <p:cTn id="89" dur="450" fill="hold"/>
                                        <p:tgtEl>
                                          <p:spTgt spid="24"/>
                                        </p:tgtEl>
                                        <p:attrNameLst>
                                          <p:attrName>ppt_w</p:attrName>
                                        </p:attrNameLst>
                                      </p:cBhvr>
                                      <p:tavLst>
                                        <p:tav tm="0">
                                          <p:val>
                                            <p:strVal val="#ppt_w*0.2"/>
                                          </p:val>
                                        </p:tav>
                                        <p:tav tm="100000">
                                          <p:val>
                                            <p:strVal val="#ppt_w"/>
                                          </p:val>
                                        </p:tav>
                                      </p:tavLst>
                                    </p:anim>
                                    <p:anim calcmode="lin" valueType="num">
                                      <p:cBhvr additive="base">
                                        <p:cTn id="90" dur="450" fill="hold"/>
                                        <p:tgtEl>
                                          <p:spTgt spid="24"/>
                                        </p:tgtEl>
                                        <p:attrNameLst>
                                          <p:attrName>ppt_h</p:attrName>
                                        </p:attrNameLst>
                                      </p:cBhvr>
                                      <p:tavLst>
                                        <p:tav tm="0">
                                          <p:val>
                                            <p:strVal val="#ppt_h*0.2"/>
                                          </p:val>
                                        </p:tav>
                                        <p:tav tm="100000">
                                          <p:val>
                                            <p:strVal val="#ppt_h"/>
                                          </p:val>
                                        </p:tav>
                                      </p:tavLst>
                                    </p:anim>
                                  </p:childTnLst>
                                </p:cTn>
                              </p:par>
                              <p:par>
                                <p:cTn id="91" presetID="53" presetClass="entr" presetSubtype="16" decel="100000" fill="hold" grpId="0" nodeType="withEffect">
                                  <p:stCondLst>
                                    <p:cond delay="157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450"/>
                                        <p:tgtEl>
                                          <p:spTgt spid="25"/>
                                        </p:tgtEl>
                                      </p:cBhvr>
                                    </p:animEffect>
                                    <p:anim calcmode="lin" valueType="num">
                                      <p:cBhvr additive="base">
                                        <p:cTn id="94" dur="450" fill="hold"/>
                                        <p:tgtEl>
                                          <p:spTgt spid="25"/>
                                        </p:tgtEl>
                                        <p:attrNameLst>
                                          <p:attrName>ppt_w</p:attrName>
                                        </p:attrNameLst>
                                      </p:cBhvr>
                                      <p:tavLst>
                                        <p:tav tm="0">
                                          <p:val>
                                            <p:strVal val="#ppt_w*0.2"/>
                                          </p:val>
                                        </p:tav>
                                        <p:tav tm="100000">
                                          <p:val>
                                            <p:strVal val="#ppt_w"/>
                                          </p:val>
                                        </p:tav>
                                      </p:tavLst>
                                    </p:anim>
                                    <p:anim calcmode="lin" valueType="num">
                                      <p:cBhvr additive="base">
                                        <p:cTn id="95" dur="450" fill="hold"/>
                                        <p:tgtEl>
                                          <p:spTgt spid="25"/>
                                        </p:tgtEl>
                                        <p:attrNameLst>
                                          <p:attrName>ppt_h</p:attrName>
                                        </p:attrNameLst>
                                      </p:cBhvr>
                                      <p:tavLst>
                                        <p:tav tm="0">
                                          <p:val>
                                            <p:strVal val="#ppt_h*0.2"/>
                                          </p:val>
                                        </p:tav>
                                        <p:tav tm="100000">
                                          <p:val>
                                            <p:strVal val="#ppt_h"/>
                                          </p:val>
                                        </p:tav>
                                      </p:tavLst>
                                    </p:anim>
                                  </p:childTnLst>
                                </p:cTn>
                              </p:par>
                              <p:par>
                                <p:cTn id="96" presetID="53" presetClass="entr" presetSubtype="16" decel="100000" fill="hold" grpId="0" nodeType="withEffect">
                                  <p:stCondLst>
                                    <p:cond delay="157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450"/>
                                        <p:tgtEl>
                                          <p:spTgt spid="26"/>
                                        </p:tgtEl>
                                      </p:cBhvr>
                                    </p:animEffect>
                                    <p:anim calcmode="lin" valueType="num">
                                      <p:cBhvr additive="base">
                                        <p:cTn id="99" dur="450" fill="hold"/>
                                        <p:tgtEl>
                                          <p:spTgt spid="26"/>
                                        </p:tgtEl>
                                        <p:attrNameLst>
                                          <p:attrName>ppt_w</p:attrName>
                                        </p:attrNameLst>
                                      </p:cBhvr>
                                      <p:tavLst>
                                        <p:tav tm="0">
                                          <p:val>
                                            <p:strVal val="#ppt_w*0.2"/>
                                          </p:val>
                                        </p:tav>
                                        <p:tav tm="100000">
                                          <p:val>
                                            <p:strVal val="#ppt_w"/>
                                          </p:val>
                                        </p:tav>
                                      </p:tavLst>
                                    </p:anim>
                                    <p:anim calcmode="lin" valueType="num">
                                      <p:cBhvr additive="base">
                                        <p:cTn id="100" dur="450" fill="hold"/>
                                        <p:tgtEl>
                                          <p:spTgt spid="26"/>
                                        </p:tgtEl>
                                        <p:attrNameLst>
                                          <p:attrName>ppt_h</p:attrName>
                                        </p:attrNameLst>
                                      </p:cBhvr>
                                      <p:tavLst>
                                        <p:tav tm="0">
                                          <p:val>
                                            <p:strVal val="#ppt_h*0.2"/>
                                          </p:val>
                                        </p:tav>
                                        <p:tav tm="100000">
                                          <p:val>
                                            <p:strVal val="#ppt_h"/>
                                          </p:val>
                                        </p:tav>
                                      </p:tavLst>
                                    </p:anim>
                                  </p:childTnLst>
                                </p:cTn>
                              </p:par>
                              <p:par>
                                <p:cTn id="101" presetID="53" presetClass="entr" presetSubtype="16" decel="100000" fill="hold" grpId="0" nodeType="withEffect">
                                  <p:stCondLst>
                                    <p:cond delay="1570"/>
                                  </p:stCondLst>
                                  <p:childTnLst>
                                    <p:set>
                                      <p:cBhvr>
                                        <p:cTn id="102" dur="1" fill="hold">
                                          <p:stCondLst>
                                            <p:cond delay="0"/>
                                          </p:stCondLst>
                                        </p:cTn>
                                        <p:tgtEl>
                                          <p:spTgt spid="27"/>
                                        </p:tgtEl>
                                        <p:attrNameLst>
                                          <p:attrName>style.visibility</p:attrName>
                                        </p:attrNameLst>
                                      </p:cBhvr>
                                      <p:to>
                                        <p:strVal val="visible"/>
                                      </p:to>
                                    </p:set>
                                    <p:animEffect transition="in" filter="fade">
                                      <p:cBhvr>
                                        <p:cTn id="103" dur="450"/>
                                        <p:tgtEl>
                                          <p:spTgt spid="27"/>
                                        </p:tgtEl>
                                      </p:cBhvr>
                                    </p:animEffect>
                                    <p:anim calcmode="lin" valueType="num">
                                      <p:cBhvr additive="base">
                                        <p:cTn id="104" dur="450" fill="hold"/>
                                        <p:tgtEl>
                                          <p:spTgt spid="27"/>
                                        </p:tgtEl>
                                        <p:attrNameLst>
                                          <p:attrName>ppt_w</p:attrName>
                                        </p:attrNameLst>
                                      </p:cBhvr>
                                      <p:tavLst>
                                        <p:tav tm="0">
                                          <p:val>
                                            <p:strVal val="#ppt_w*0.2"/>
                                          </p:val>
                                        </p:tav>
                                        <p:tav tm="100000">
                                          <p:val>
                                            <p:strVal val="#ppt_w"/>
                                          </p:val>
                                        </p:tav>
                                      </p:tavLst>
                                    </p:anim>
                                    <p:anim calcmode="lin" valueType="num">
                                      <p:cBhvr additive="base">
                                        <p:cTn id="105" dur="450" fill="hold"/>
                                        <p:tgtEl>
                                          <p:spTgt spid="27"/>
                                        </p:tgtEl>
                                        <p:attrNameLst>
                                          <p:attrName>ppt_h</p:attrName>
                                        </p:attrNameLst>
                                      </p:cBhvr>
                                      <p:tavLst>
                                        <p:tav tm="0">
                                          <p:val>
                                            <p:strVal val="#ppt_h*0.2"/>
                                          </p:val>
                                        </p:tav>
                                        <p:tav tm="100000">
                                          <p:val>
                                            <p:strVal val="#ppt_h"/>
                                          </p:val>
                                        </p:tav>
                                      </p:tavLst>
                                    </p:anim>
                                  </p:childTnLst>
                                </p:cTn>
                              </p:par>
                              <p:par>
                                <p:cTn id="106" presetID="42" presetClass="entr" presetSubtype="0" decel="100000" fill="hold" grpId="0" nodeType="withEffect">
                                  <p:stCondLst>
                                    <p:cond delay="1570"/>
                                  </p:stCondLst>
                                  <p:childTnLst>
                                    <p:set>
                                      <p:cBhvr>
                                        <p:cTn id="107" dur="1" fill="hold">
                                          <p:stCondLst>
                                            <p:cond delay="0"/>
                                          </p:stCondLst>
                                        </p:cTn>
                                        <p:tgtEl>
                                          <p:spTgt spid="34"/>
                                        </p:tgtEl>
                                        <p:attrNameLst>
                                          <p:attrName>style.visibility</p:attrName>
                                        </p:attrNameLst>
                                      </p:cBhvr>
                                      <p:to>
                                        <p:strVal val="visible"/>
                                      </p:to>
                                    </p:set>
                                    <p:animEffect transition="in" filter="fade">
                                      <p:cBhvr>
                                        <p:cTn id="108" dur="700"/>
                                        <p:tgtEl>
                                          <p:spTgt spid="34"/>
                                        </p:tgtEl>
                                      </p:cBhvr>
                                    </p:animEffect>
                                    <p:anim calcmode="lin" valueType="num">
                                      <p:cBhvr additive="base">
                                        <p:cTn id="109" dur="700" fill="hold"/>
                                        <p:tgtEl>
                                          <p:spTgt spid="34"/>
                                        </p:tgtEl>
                                        <p:attrNameLst>
                                          <p:attrName>ppt_y</p:attrName>
                                        </p:attrNameLst>
                                      </p:cBhvr>
                                      <p:tavLst>
                                        <p:tav tm="0">
                                          <p:val>
                                            <p:strVal val="#ppt_y+0.03"/>
                                          </p:val>
                                        </p:tav>
                                        <p:tav tm="100000">
                                          <p:val>
                                            <p:strVal val="#ppt_y"/>
                                          </p:val>
                                        </p:tav>
                                      </p:tavLst>
                                    </p:anim>
                                  </p:childTnLst>
                                </p:cTn>
                              </p:par>
                              <p:par>
                                <p:cTn id="110" presetID="42" presetClass="entr" presetSubtype="0" decel="100000" fill="hold" grpId="0" nodeType="withEffect">
                                  <p:stCondLst>
                                    <p:cond delay="157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700"/>
                                        <p:tgtEl>
                                          <p:spTgt spid="35"/>
                                        </p:tgtEl>
                                      </p:cBhvr>
                                    </p:animEffect>
                                    <p:anim calcmode="lin" valueType="num">
                                      <p:cBhvr additive="base">
                                        <p:cTn id="113" dur="700" fill="hold"/>
                                        <p:tgtEl>
                                          <p:spTgt spid="35"/>
                                        </p:tgtEl>
                                        <p:attrNameLst>
                                          <p:attrName>ppt_y</p:attrName>
                                        </p:attrNameLst>
                                      </p:cBhvr>
                                      <p:tavLst>
                                        <p:tav tm="0">
                                          <p:val>
                                            <p:strVal val="#ppt_y+0.03"/>
                                          </p:val>
                                        </p:tav>
                                        <p:tav tm="100000">
                                          <p:val>
                                            <p:strVal val="#ppt_y"/>
                                          </p:val>
                                        </p:tav>
                                      </p:tavLst>
                                    </p:anim>
                                  </p:childTnLst>
                                </p:cTn>
                              </p:par>
                              <p:par>
                                <p:cTn id="114" presetID="42" presetClass="entr" presetSubtype="0" decel="100000" fill="hold" grpId="0" nodeType="withEffect">
                                  <p:stCondLst>
                                    <p:cond delay="1570"/>
                                  </p:stCondLst>
                                  <p:childTnLst>
                                    <p:set>
                                      <p:cBhvr>
                                        <p:cTn id="115" dur="1" fill="hold">
                                          <p:stCondLst>
                                            <p:cond delay="0"/>
                                          </p:stCondLst>
                                        </p:cTn>
                                        <p:tgtEl>
                                          <p:spTgt spid="36"/>
                                        </p:tgtEl>
                                        <p:attrNameLst>
                                          <p:attrName>style.visibility</p:attrName>
                                        </p:attrNameLst>
                                      </p:cBhvr>
                                      <p:to>
                                        <p:strVal val="visible"/>
                                      </p:to>
                                    </p:set>
                                    <p:animEffect transition="in" filter="fade">
                                      <p:cBhvr>
                                        <p:cTn id="116" dur="700"/>
                                        <p:tgtEl>
                                          <p:spTgt spid="36"/>
                                        </p:tgtEl>
                                      </p:cBhvr>
                                    </p:animEffect>
                                    <p:anim calcmode="lin" valueType="num">
                                      <p:cBhvr additive="base">
                                        <p:cTn id="117" dur="700" fill="hold"/>
                                        <p:tgtEl>
                                          <p:spTgt spid="36"/>
                                        </p:tgtEl>
                                        <p:attrNameLst>
                                          <p:attrName>ppt_y</p:attrName>
                                        </p:attrNameLst>
                                      </p:cBhvr>
                                      <p:tavLst>
                                        <p:tav tm="0">
                                          <p:val>
                                            <p:strVal val="#ppt_y+0.03"/>
                                          </p:val>
                                        </p:tav>
                                        <p:tav tm="100000">
                                          <p:val>
                                            <p:strVal val="#ppt_y"/>
                                          </p:val>
                                        </p:tav>
                                      </p:tavLst>
                                    </p:anim>
                                  </p:childTnLst>
                                </p:cTn>
                              </p:par>
                              <p:par>
                                <p:cTn id="118" presetID="53" presetClass="entr" presetSubtype="16" decel="100000" fill="hold" grpId="0" nodeType="withEffect">
                                  <p:stCondLst>
                                    <p:cond delay="179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450"/>
                                        <p:tgtEl>
                                          <p:spTgt spid="28"/>
                                        </p:tgtEl>
                                      </p:cBhvr>
                                    </p:animEffect>
                                    <p:anim calcmode="lin" valueType="num">
                                      <p:cBhvr additive="base">
                                        <p:cTn id="121" dur="450" fill="hold"/>
                                        <p:tgtEl>
                                          <p:spTgt spid="28"/>
                                        </p:tgtEl>
                                        <p:attrNameLst>
                                          <p:attrName>ppt_w</p:attrName>
                                        </p:attrNameLst>
                                      </p:cBhvr>
                                      <p:tavLst>
                                        <p:tav tm="0">
                                          <p:val>
                                            <p:strVal val="#ppt_w*0.2"/>
                                          </p:val>
                                        </p:tav>
                                        <p:tav tm="100000">
                                          <p:val>
                                            <p:strVal val="#ppt_w"/>
                                          </p:val>
                                        </p:tav>
                                      </p:tavLst>
                                    </p:anim>
                                    <p:anim calcmode="lin" valueType="num">
                                      <p:cBhvr additive="base">
                                        <p:cTn id="122" dur="450" fill="hold"/>
                                        <p:tgtEl>
                                          <p:spTgt spid="28"/>
                                        </p:tgtEl>
                                        <p:attrNameLst>
                                          <p:attrName>ppt_h</p:attrName>
                                        </p:attrNameLst>
                                      </p:cBhvr>
                                      <p:tavLst>
                                        <p:tav tm="0">
                                          <p:val>
                                            <p:strVal val="#ppt_h*0.2"/>
                                          </p:val>
                                        </p:tav>
                                        <p:tav tm="100000">
                                          <p:val>
                                            <p:strVal val="#ppt_h"/>
                                          </p:val>
                                        </p:tav>
                                      </p:tavLst>
                                    </p:anim>
                                  </p:childTnLst>
                                </p:cTn>
                              </p:par>
                              <p:par>
                                <p:cTn id="123" presetID="53" presetClass="entr" presetSubtype="16" decel="100000" fill="hold" grpId="0" nodeType="withEffect">
                                  <p:stCondLst>
                                    <p:cond delay="179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450"/>
                                        <p:tgtEl>
                                          <p:spTgt spid="29"/>
                                        </p:tgtEl>
                                      </p:cBhvr>
                                    </p:animEffect>
                                    <p:anim calcmode="lin" valueType="num">
                                      <p:cBhvr additive="base">
                                        <p:cTn id="126" dur="450" fill="hold"/>
                                        <p:tgtEl>
                                          <p:spTgt spid="29"/>
                                        </p:tgtEl>
                                        <p:attrNameLst>
                                          <p:attrName>ppt_w</p:attrName>
                                        </p:attrNameLst>
                                      </p:cBhvr>
                                      <p:tavLst>
                                        <p:tav tm="0">
                                          <p:val>
                                            <p:strVal val="#ppt_w*0.2"/>
                                          </p:val>
                                        </p:tav>
                                        <p:tav tm="100000">
                                          <p:val>
                                            <p:strVal val="#ppt_w"/>
                                          </p:val>
                                        </p:tav>
                                      </p:tavLst>
                                    </p:anim>
                                    <p:anim calcmode="lin" valueType="num">
                                      <p:cBhvr additive="base">
                                        <p:cTn id="127" dur="450" fill="hold"/>
                                        <p:tgtEl>
                                          <p:spTgt spid="29"/>
                                        </p:tgtEl>
                                        <p:attrNameLst>
                                          <p:attrName>ppt_h</p:attrName>
                                        </p:attrNameLst>
                                      </p:cBhvr>
                                      <p:tavLst>
                                        <p:tav tm="0">
                                          <p:val>
                                            <p:strVal val="#ppt_h*0.2"/>
                                          </p:val>
                                        </p:tav>
                                        <p:tav tm="100000">
                                          <p:val>
                                            <p:strVal val="#ppt_h"/>
                                          </p:val>
                                        </p:tav>
                                      </p:tavLst>
                                    </p:anim>
                                  </p:childTnLst>
                                </p:cTn>
                              </p:par>
                              <p:par>
                                <p:cTn id="128" presetID="53" presetClass="entr" presetSubtype="16" decel="100000" fill="hold" grpId="0" nodeType="withEffect">
                                  <p:stCondLst>
                                    <p:cond delay="179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450"/>
                                        <p:tgtEl>
                                          <p:spTgt spid="30"/>
                                        </p:tgtEl>
                                      </p:cBhvr>
                                    </p:animEffect>
                                    <p:anim calcmode="lin" valueType="num">
                                      <p:cBhvr additive="base">
                                        <p:cTn id="131" dur="450" fill="hold"/>
                                        <p:tgtEl>
                                          <p:spTgt spid="30"/>
                                        </p:tgtEl>
                                        <p:attrNameLst>
                                          <p:attrName>ppt_w</p:attrName>
                                        </p:attrNameLst>
                                      </p:cBhvr>
                                      <p:tavLst>
                                        <p:tav tm="0">
                                          <p:val>
                                            <p:strVal val="#ppt_w*0.2"/>
                                          </p:val>
                                        </p:tav>
                                        <p:tav tm="100000">
                                          <p:val>
                                            <p:strVal val="#ppt_w"/>
                                          </p:val>
                                        </p:tav>
                                      </p:tavLst>
                                    </p:anim>
                                    <p:anim calcmode="lin" valueType="num">
                                      <p:cBhvr additive="base">
                                        <p:cTn id="132" dur="450" fill="hold"/>
                                        <p:tgtEl>
                                          <p:spTgt spid="30"/>
                                        </p:tgtEl>
                                        <p:attrNameLst>
                                          <p:attrName>ppt_h</p:attrName>
                                        </p:attrNameLst>
                                      </p:cBhvr>
                                      <p:tavLst>
                                        <p:tav tm="0">
                                          <p:val>
                                            <p:strVal val="#ppt_h*0.2"/>
                                          </p:val>
                                        </p:tav>
                                        <p:tav tm="100000">
                                          <p:val>
                                            <p:strVal val="#ppt_h"/>
                                          </p:val>
                                        </p:tav>
                                      </p:tavLst>
                                    </p:anim>
                                  </p:childTnLst>
                                </p:cTn>
                              </p:par>
                              <p:par>
                                <p:cTn id="133" presetID="53" presetClass="entr" presetSubtype="16" decel="100000" fill="hold" grpId="0" nodeType="withEffect">
                                  <p:stCondLst>
                                    <p:cond delay="179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450"/>
                                        <p:tgtEl>
                                          <p:spTgt spid="31"/>
                                        </p:tgtEl>
                                      </p:cBhvr>
                                    </p:animEffect>
                                    <p:anim calcmode="lin" valueType="num">
                                      <p:cBhvr additive="base">
                                        <p:cTn id="136" dur="450" fill="hold"/>
                                        <p:tgtEl>
                                          <p:spTgt spid="31"/>
                                        </p:tgtEl>
                                        <p:attrNameLst>
                                          <p:attrName>ppt_w</p:attrName>
                                        </p:attrNameLst>
                                      </p:cBhvr>
                                      <p:tavLst>
                                        <p:tav tm="0">
                                          <p:val>
                                            <p:strVal val="#ppt_w*0.2"/>
                                          </p:val>
                                        </p:tav>
                                        <p:tav tm="100000">
                                          <p:val>
                                            <p:strVal val="#ppt_w"/>
                                          </p:val>
                                        </p:tav>
                                      </p:tavLst>
                                    </p:anim>
                                    <p:anim calcmode="lin" valueType="num">
                                      <p:cBhvr additive="base">
                                        <p:cTn id="137" dur="450" fill="hold"/>
                                        <p:tgtEl>
                                          <p:spTgt spid="31"/>
                                        </p:tgtEl>
                                        <p:attrNameLst>
                                          <p:attrName>ppt_h</p:attrName>
                                        </p:attrNameLst>
                                      </p:cBhvr>
                                      <p:tavLst>
                                        <p:tav tm="0">
                                          <p:val>
                                            <p:strVal val="#ppt_h*0.2"/>
                                          </p:val>
                                        </p:tav>
                                        <p:tav tm="100000">
                                          <p:val>
                                            <p:strVal val="#ppt_h"/>
                                          </p:val>
                                        </p:tav>
                                      </p:tavLst>
                                    </p:anim>
                                  </p:childTnLst>
                                </p:cTn>
                              </p:par>
                              <p:par>
                                <p:cTn id="138" presetID="53" presetClass="entr" presetSubtype="16" decel="100000" fill="hold" grpId="0" nodeType="withEffect">
                                  <p:stCondLst>
                                    <p:cond delay="179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450"/>
                                        <p:tgtEl>
                                          <p:spTgt spid="32"/>
                                        </p:tgtEl>
                                      </p:cBhvr>
                                    </p:animEffect>
                                    <p:anim calcmode="lin" valueType="num">
                                      <p:cBhvr additive="base">
                                        <p:cTn id="141" dur="450" fill="hold"/>
                                        <p:tgtEl>
                                          <p:spTgt spid="32"/>
                                        </p:tgtEl>
                                        <p:attrNameLst>
                                          <p:attrName>ppt_w</p:attrName>
                                        </p:attrNameLst>
                                      </p:cBhvr>
                                      <p:tavLst>
                                        <p:tav tm="0">
                                          <p:val>
                                            <p:strVal val="#ppt_w*0.2"/>
                                          </p:val>
                                        </p:tav>
                                        <p:tav tm="100000">
                                          <p:val>
                                            <p:strVal val="#ppt_w"/>
                                          </p:val>
                                        </p:tav>
                                      </p:tavLst>
                                    </p:anim>
                                    <p:anim calcmode="lin" valueType="num">
                                      <p:cBhvr additive="base">
                                        <p:cTn id="142" dur="450" fill="hold"/>
                                        <p:tgtEl>
                                          <p:spTgt spid="32"/>
                                        </p:tgtEl>
                                        <p:attrNameLst>
                                          <p:attrName>ppt_h</p:attrName>
                                        </p:attrNameLst>
                                      </p:cBhvr>
                                      <p:tavLst>
                                        <p:tav tm="0">
                                          <p:val>
                                            <p:strVal val="#ppt_h*0.2"/>
                                          </p:val>
                                        </p:tav>
                                        <p:tav tm="100000">
                                          <p:val>
                                            <p:strVal val="#ppt_h"/>
                                          </p:val>
                                        </p:tav>
                                      </p:tavLst>
                                    </p:anim>
                                  </p:childTnLst>
                                </p:cTn>
                              </p:par>
                              <p:par>
                                <p:cTn id="143" presetID="42" presetClass="entr" presetSubtype="0" decel="100000" fill="hold" grpId="0" nodeType="withEffect">
                                  <p:stCondLst>
                                    <p:cond delay="1790"/>
                                  </p:stCondLst>
                                  <p:childTnLst>
                                    <p:set>
                                      <p:cBhvr>
                                        <p:cTn id="144" dur="1" fill="hold">
                                          <p:stCondLst>
                                            <p:cond delay="0"/>
                                          </p:stCondLst>
                                        </p:cTn>
                                        <p:tgtEl>
                                          <p:spTgt spid="37"/>
                                        </p:tgtEl>
                                        <p:attrNameLst>
                                          <p:attrName>style.visibility</p:attrName>
                                        </p:attrNameLst>
                                      </p:cBhvr>
                                      <p:to>
                                        <p:strVal val="visible"/>
                                      </p:to>
                                    </p:set>
                                    <p:animEffect transition="in" filter="fade">
                                      <p:cBhvr>
                                        <p:cTn id="145" dur="700"/>
                                        <p:tgtEl>
                                          <p:spTgt spid="37"/>
                                        </p:tgtEl>
                                      </p:cBhvr>
                                    </p:animEffect>
                                    <p:anim calcmode="lin" valueType="num">
                                      <p:cBhvr additive="base">
                                        <p:cTn id="146" dur="700" fill="hold"/>
                                        <p:tgtEl>
                                          <p:spTgt spid="37"/>
                                        </p:tgtEl>
                                        <p:attrNameLst>
                                          <p:attrName>ppt_y</p:attrName>
                                        </p:attrNameLst>
                                      </p:cBhvr>
                                      <p:tavLst>
                                        <p:tav tm="0">
                                          <p:val>
                                            <p:strVal val="#ppt_y+0.03"/>
                                          </p:val>
                                        </p:tav>
                                        <p:tav tm="100000">
                                          <p:val>
                                            <p:strVal val="#ppt_y"/>
                                          </p:val>
                                        </p:tav>
                                      </p:tavLst>
                                    </p:anim>
                                  </p:childTnLst>
                                </p:cTn>
                              </p:par>
                              <p:par>
                                <p:cTn id="147" presetID="42" presetClass="entr" presetSubtype="0" decel="100000" fill="hold" grpId="0" nodeType="withEffect">
                                  <p:stCondLst>
                                    <p:cond delay="1790"/>
                                  </p:stCondLst>
                                  <p:childTnLst>
                                    <p:set>
                                      <p:cBhvr>
                                        <p:cTn id="148" dur="1" fill="hold">
                                          <p:stCondLst>
                                            <p:cond delay="0"/>
                                          </p:stCondLst>
                                        </p:cTn>
                                        <p:tgtEl>
                                          <p:spTgt spid="38"/>
                                        </p:tgtEl>
                                        <p:attrNameLst>
                                          <p:attrName>style.visibility</p:attrName>
                                        </p:attrNameLst>
                                      </p:cBhvr>
                                      <p:to>
                                        <p:strVal val="visible"/>
                                      </p:to>
                                    </p:set>
                                    <p:animEffect transition="in" filter="fade">
                                      <p:cBhvr>
                                        <p:cTn id="149" dur="700"/>
                                        <p:tgtEl>
                                          <p:spTgt spid="38"/>
                                        </p:tgtEl>
                                      </p:cBhvr>
                                    </p:animEffect>
                                    <p:anim calcmode="lin" valueType="num">
                                      <p:cBhvr additive="base">
                                        <p:cTn id="150" dur="700" fill="hold"/>
                                        <p:tgtEl>
                                          <p:spTgt spid="38"/>
                                        </p:tgtEl>
                                        <p:attrNameLst>
                                          <p:attrName>ppt_y</p:attrName>
                                        </p:attrNameLst>
                                      </p:cBhvr>
                                      <p:tavLst>
                                        <p:tav tm="0">
                                          <p:val>
                                            <p:strVal val="#ppt_y+0.03"/>
                                          </p:val>
                                        </p:tav>
                                        <p:tav tm="100000">
                                          <p:val>
                                            <p:strVal val="#ppt_y"/>
                                          </p:val>
                                        </p:tav>
                                      </p:tavLst>
                                    </p:anim>
                                  </p:childTnLst>
                                </p:cTn>
                              </p:par>
                              <p:par>
                                <p:cTn id="151" presetID="42" presetClass="entr" presetSubtype="0" decel="100000" fill="hold" grpId="0" nodeType="withEffect">
                                  <p:stCondLst>
                                    <p:cond delay="1790"/>
                                  </p:stCondLst>
                                  <p:childTnLst>
                                    <p:set>
                                      <p:cBhvr>
                                        <p:cTn id="152" dur="1" fill="hold">
                                          <p:stCondLst>
                                            <p:cond delay="0"/>
                                          </p:stCondLst>
                                        </p:cTn>
                                        <p:tgtEl>
                                          <p:spTgt spid="39"/>
                                        </p:tgtEl>
                                        <p:attrNameLst>
                                          <p:attrName>style.visibility</p:attrName>
                                        </p:attrNameLst>
                                      </p:cBhvr>
                                      <p:to>
                                        <p:strVal val="visible"/>
                                      </p:to>
                                    </p:set>
                                    <p:animEffect transition="in" filter="fade">
                                      <p:cBhvr>
                                        <p:cTn id="153" dur="700"/>
                                        <p:tgtEl>
                                          <p:spTgt spid="39"/>
                                        </p:tgtEl>
                                      </p:cBhvr>
                                    </p:animEffect>
                                    <p:anim calcmode="lin" valueType="num">
                                      <p:cBhvr additive="base">
                                        <p:cTn id="154" dur="700" fill="hold"/>
                                        <p:tgtEl>
                                          <p:spTgt spid="39"/>
                                        </p:tgtEl>
                                        <p:attrNameLst>
                                          <p:attrName>ppt_y</p:attrName>
                                        </p:attrNameLst>
                                      </p:cBhvr>
                                      <p:tavLst>
                                        <p:tav tm="0">
                                          <p:val>
                                            <p:strVal val="#ppt_y+0.03"/>
                                          </p:val>
                                        </p:tav>
                                        <p:tav tm="100000">
                                          <p:val>
                                            <p:strVal val="#ppt_y"/>
                                          </p:val>
                                        </p:tav>
                                      </p:tavLst>
                                    </p:anim>
                                  </p:childTnLst>
                                </p:cTn>
                              </p:par>
                              <p:par>
                                <p:cTn id="155" presetID="10" presetClass="entr" presetSubtype="0" decel="100000" fill="hold" grpId="0" nodeType="withEffect">
                                  <p:stCondLst>
                                    <p:cond delay="201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6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377440" y="-2011680"/>
            <a:ext cx="5943600" cy="59436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138160" y="3108960"/>
            <a:ext cx="5943600" cy="59436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DOCUMENTATION &amp; EVIDENCE · DEVELOPMENT POTENTIAL</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Reproducible today, built to scale tomorrow</a:t>
            </a:r>
            <a:endParaRPr lang="en-US" sz="3400" dirty="0"/>
          </a:p>
        </p:txBody>
      </p:sp>
      <p:sp>
        <p:nvSpPr>
          <p:cNvPr id="7" name="a1float_rc"/>
          <p:cNvSpPr/>
          <p:nvPr/>
        </p:nvSpPr>
        <p:spPr>
          <a:xfrm>
            <a:off x="548640" y="1691640"/>
            <a:ext cx="5440680" cy="4480560"/>
          </a:xfrm>
          <a:prstGeom prst="roundRect">
            <a:avLst>
              <a:gd name="adj" fmla="val 2857"/>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rl"/>
          <p:cNvSpPr txBox="1"/>
          <p:nvPr/>
        </p:nvSpPr>
        <p:spPr>
          <a:xfrm>
            <a:off x="777240" y="1828800"/>
            <a:ext cx="512064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DOCUMENTATION &amp; EVIDENCE</a:t>
            </a:r>
            <a:endParaRPr lang="en-US" sz="1100" dirty="0"/>
          </a:p>
        </p:txBody>
      </p:sp>
      <p:sp>
        <p:nvSpPr>
          <p:cNvPr id="9" name="a2float_r0_c"/>
          <p:cNvSpPr/>
          <p:nvPr/>
        </p:nvSpPr>
        <p:spPr>
          <a:xfrm>
            <a:off x="777240" y="2212848"/>
            <a:ext cx="493776" cy="493776"/>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0" name="a2float_r0_i" descr="preencoded.png"/>
          <p:cNvPicPr>
            <a:picLocks noChangeAspect="1"/>
          </p:cNvPicPr>
          <p:nvPr/>
        </p:nvPicPr>
        <p:blipFill>
          <a:blip r:embed="rId5"/>
          <a:stretch>
            <a:fillRect/>
          </a:stretch>
        </p:blipFill>
        <p:spPr>
          <a:xfrm>
            <a:off x="895746" y="2331354"/>
            <a:ext cx="256764" cy="256764"/>
          </a:xfrm>
          <a:prstGeom prst="rect">
            <a:avLst/>
          </a:prstGeom>
        </p:spPr>
      </p:pic>
      <p:sp>
        <p:nvSpPr>
          <p:cNvPr id="11" name="a2float_r0t"/>
          <p:cNvSpPr txBox="1"/>
          <p:nvPr/>
        </p:nvSpPr>
        <p:spPr>
          <a:xfrm>
            <a:off x="1417320" y="2194560"/>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Public repository, MIT licence</a:t>
            </a:r>
            <a:endParaRPr lang="en-US" sz="1500" dirty="0"/>
          </a:p>
        </p:txBody>
      </p:sp>
      <p:sp>
        <p:nvSpPr>
          <p:cNvPr id="12" name="a2float_r0d"/>
          <p:cNvSpPr txBox="1"/>
          <p:nvPr/>
        </p:nvSpPr>
        <p:spPr>
          <a:xfrm>
            <a:off x="1417320" y="2487168"/>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code, notebook, figures, provenance and licences</a:t>
            </a:r>
            <a:endParaRPr lang="en-US" sz="1200" dirty="0"/>
          </a:p>
        </p:txBody>
      </p:sp>
      <p:sp>
        <p:nvSpPr>
          <p:cNvPr id="13" name="a3float_r1_c"/>
          <p:cNvSpPr/>
          <p:nvPr/>
        </p:nvSpPr>
        <p:spPr>
          <a:xfrm>
            <a:off x="777240" y="2980944"/>
            <a:ext cx="493776" cy="493776"/>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4" name="a3float_r1_i" descr="preencoded.png"/>
          <p:cNvPicPr>
            <a:picLocks noChangeAspect="1"/>
          </p:cNvPicPr>
          <p:nvPr/>
        </p:nvPicPr>
        <p:blipFill>
          <a:blip r:embed="rId6"/>
          <a:stretch>
            <a:fillRect/>
          </a:stretch>
        </p:blipFill>
        <p:spPr>
          <a:xfrm>
            <a:off x="895746" y="3099450"/>
            <a:ext cx="256764" cy="256764"/>
          </a:xfrm>
          <a:prstGeom prst="rect">
            <a:avLst/>
          </a:prstGeom>
        </p:spPr>
      </p:pic>
      <p:sp>
        <p:nvSpPr>
          <p:cNvPr id="15" name="a3float_r1t"/>
          <p:cNvSpPr txBox="1"/>
          <p:nvPr/>
        </p:nvSpPr>
        <p:spPr>
          <a:xfrm>
            <a:off x="1417320" y="2962656"/>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Re-runs end to end in ~24 s</a:t>
            </a:r>
            <a:endParaRPr lang="en-US" sz="1500" dirty="0"/>
          </a:p>
        </p:txBody>
      </p:sp>
      <p:sp>
        <p:nvSpPr>
          <p:cNvPr id="16" name="a3float_r1d"/>
          <p:cNvSpPr txBox="1"/>
          <p:nvPr/>
        </p:nvSpPr>
        <p:spPr>
          <a:xfrm>
            <a:off x="1417320" y="3255264"/>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Python 3.12 · Planetary Computer · pinned requirements</a:t>
            </a:r>
            <a:endParaRPr lang="en-US" sz="1200" dirty="0"/>
          </a:p>
        </p:txBody>
      </p:sp>
      <p:sp>
        <p:nvSpPr>
          <p:cNvPr id="17" name="a4float_r2_c"/>
          <p:cNvSpPr/>
          <p:nvPr/>
        </p:nvSpPr>
        <p:spPr>
          <a:xfrm>
            <a:off x="777240" y="3749040"/>
            <a:ext cx="493776" cy="493776"/>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8" name="a4float_r2_i" descr="preencoded.png"/>
          <p:cNvPicPr>
            <a:picLocks noChangeAspect="1"/>
          </p:cNvPicPr>
          <p:nvPr/>
        </p:nvPicPr>
        <p:blipFill>
          <a:blip r:embed="rId7"/>
          <a:stretch>
            <a:fillRect/>
          </a:stretch>
        </p:blipFill>
        <p:spPr>
          <a:xfrm>
            <a:off x="895746" y="3867546"/>
            <a:ext cx="256764" cy="256764"/>
          </a:xfrm>
          <a:prstGeom prst="rect">
            <a:avLst/>
          </a:prstGeom>
        </p:spPr>
      </p:pic>
      <p:sp>
        <p:nvSpPr>
          <p:cNvPr id="19" name="a4float_r2t"/>
          <p:cNvSpPr txBox="1"/>
          <p:nvPr/>
        </p:nvSpPr>
        <p:spPr>
          <a:xfrm>
            <a:off x="1417320" y="3730752"/>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Clean-machine test passed</a:t>
            </a:r>
            <a:endParaRPr lang="en-US" sz="1500" dirty="0"/>
          </a:p>
        </p:txBody>
      </p:sp>
      <p:sp>
        <p:nvSpPr>
          <p:cNvPr id="20" name="a4float_r2d"/>
          <p:cNvSpPr txBox="1"/>
          <p:nvPr/>
        </p:nvSpPr>
        <p:spPr>
          <a:xfrm>
            <a:off x="1417320" y="4023360"/>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fresh environment, same numbers, 0 errors</a:t>
            </a:r>
            <a:endParaRPr lang="en-US" sz="1200" dirty="0"/>
          </a:p>
        </p:txBody>
      </p:sp>
      <p:sp>
        <p:nvSpPr>
          <p:cNvPr id="21" name="a5float_r3_c"/>
          <p:cNvSpPr/>
          <p:nvPr/>
        </p:nvSpPr>
        <p:spPr>
          <a:xfrm>
            <a:off x="777240" y="4517136"/>
            <a:ext cx="493776" cy="493776"/>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2" name="a5float_r3_i" descr="preencoded.png"/>
          <p:cNvPicPr>
            <a:picLocks noChangeAspect="1"/>
          </p:cNvPicPr>
          <p:nvPr/>
        </p:nvPicPr>
        <p:blipFill>
          <a:blip r:embed="rId8"/>
          <a:stretch>
            <a:fillRect/>
          </a:stretch>
        </p:blipFill>
        <p:spPr>
          <a:xfrm>
            <a:off x="895746" y="4635642"/>
            <a:ext cx="256764" cy="256764"/>
          </a:xfrm>
          <a:prstGeom prst="rect">
            <a:avLst/>
          </a:prstGeom>
        </p:spPr>
      </p:pic>
      <p:sp>
        <p:nvSpPr>
          <p:cNvPr id="23" name="a5float_r3t"/>
          <p:cNvSpPr txBox="1"/>
          <p:nvPr/>
        </p:nvSpPr>
        <p:spPr>
          <a:xfrm>
            <a:off x="1417320" y="4498848"/>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Every number traceable</a:t>
            </a:r>
            <a:endParaRPr lang="en-US" sz="1500" dirty="0"/>
          </a:p>
        </p:txBody>
      </p:sp>
      <p:sp>
        <p:nvSpPr>
          <p:cNvPr id="24" name="a5float_r3d"/>
          <p:cNvSpPr txBox="1"/>
          <p:nvPr/>
        </p:nvSpPr>
        <p:spPr>
          <a:xfrm>
            <a:off x="1417320" y="4791456"/>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each figure comes from a script and a written summary</a:t>
            </a:r>
            <a:endParaRPr lang="en-US" sz="1200" dirty="0"/>
          </a:p>
        </p:txBody>
      </p:sp>
      <p:sp>
        <p:nvSpPr>
          <p:cNvPr id="25" name="a6float_r4_c"/>
          <p:cNvSpPr/>
          <p:nvPr/>
        </p:nvSpPr>
        <p:spPr>
          <a:xfrm>
            <a:off x="777240" y="5285232"/>
            <a:ext cx="493776" cy="493776"/>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6" name="a6float_r4_i" descr="preencoded.png"/>
          <p:cNvPicPr>
            <a:picLocks noChangeAspect="1"/>
          </p:cNvPicPr>
          <p:nvPr/>
        </p:nvPicPr>
        <p:blipFill>
          <a:blip r:embed="rId9"/>
          <a:stretch>
            <a:fillRect/>
          </a:stretch>
        </p:blipFill>
        <p:spPr>
          <a:xfrm>
            <a:off x="895746" y="5403738"/>
            <a:ext cx="256764" cy="256764"/>
          </a:xfrm>
          <a:prstGeom prst="rect">
            <a:avLst/>
          </a:prstGeom>
        </p:spPr>
      </p:pic>
      <p:sp>
        <p:nvSpPr>
          <p:cNvPr id="27" name="a6float_r4t"/>
          <p:cNvSpPr txBox="1"/>
          <p:nvPr/>
        </p:nvSpPr>
        <p:spPr>
          <a:xfrm>
            <a:off x="1417320" y="5266944"/>
            <a:ext cx="4389120" cy="292608"/>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Live website + site reports</a:t>
            </a:r>
            <a:endParaRPr lang="en-US" sz="1500" dirty="0"/>
          </a:p>
        </p:txBody>
      </p:sp>
      <p:sp>
        <p:nvSpPr>
          <p:cNvPr id="28" name="a6float_r4d"/>
          <p:cNvSpPr txBox="1"/>
          <p:nvPr/>
        </p:nvSpPr>
        <p:spPr>
          <a:xfrm>
            <a:off x="1417320" y="5559552"/>
            <a:ext cx="4434840" cy="27432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anyone can open the monitor and check a stand</a:t>
            </a:r>
            <a:endParaRPr lang="en-US" sz="1200" dirty="0"/>
          </a:p>
        </p:txBody>
      </p:sp>
      <p:sp>
        <p:nvSpPr>
          <p:cNvPr id="29" name="a1fade_sl"/>
          <p:cNvSpPr txBox="1"/>
          <p:nvPr/>
        </p:nvSpPr>
        <p:spPr>
          <a:xfrm>
            <a:off x="6263640" y="1691640"/>
            <a:ext cx="5303520" cy="256032"/>
          </a:xfrm>
          <a:prstGeom prst="rect">
            <a:avLst/>
          </a:prstGeom>
          <a:noFill/>
          <a:ln/>
        </p:spPr>
        <p:txBody>
          <a:bodyPr wrap="square" lIns="0" tIns="0" rIns="0" bIns="0" rtlCol="0" anchor="t"/>
          <a:lstStyle/>
          <a:p>
            <a:pPr marL="0" indent="0" algn="l">
              <a:lnSpc>
                <a:spcPct val="105000"/>
              </a:lnSpc>
              <a:buNone/>
            </a:pPr>
            <a:r>
              <a:rPr lang="en-US" sz="1100" kern="0" spc="300" dirty="0">
                <a:solidFill>
                  <a:srgbClr val="3F6E9E"/>
                </a:solidFill>
                <a:latin typeface="Segoe UI Semibold" pitchFamily="34" charset="0"/>
                <a:ea typeface="Segoe UI Semibold" pitchFamily="34" charset="-122"/>
                <a:cs typeface="Segoe UI Semibold" pitchFamily="34" charset="-120"/>
              </a:rPr>
              <a:t>DEVELOPMENT POTENTIAL</a:t>
            </a:r>
            <a:endParaRPr lang="en-US" sz="1100" dirty="0"/>
          </a:p>
        </p:txBody>
      </p:sp>
      <p:sp>
        <p:nvSpPr>
          <p:cNvPr id="30" name="a2fade_spine"/>
          <p:cNvSpPr/>
          <p:nvPr/>
        </p:nvSpPr>
        <p:spPr>
          <a:xfrm>
            <a:off x="6583680" y="2377440"/>
            <a:ext cx="0" cy="2926080"/>
          </a:xfrm>
          <a:prstGeom prst="line">
            <a:avLst/>
          </a:prstGeom>
          <a:noFill/>
          <a:ln w="19050">
            <a:solidFill>
              <a:srgbClr val="3F6E9E"/>
            </a:solidFill>
            <a:prstDash val="dash"/>
          </a:ln>
        </p:spPr>
        <p:txBody>
          <a:bodyPr/>
          <a:lstStyle/>
          <a:p>
            <a:endParaRPr lang="en-GB"/>
          </a:p>
        </p:txBody>
      </p:sp>
      <p:sp>
        <p:nvSpPr>
          <p:cNvPr id="31" name="a3float_p0"/>
          <p:cNvSpPr/>
          <p:nvPr/>
        </p:nvSpPr>
        <p:spPr>
          <a:xfrm>
            <a:off x="6903720" y="2029968"/>
            <a:ext cx="4736592" cy="1261872"/>
          </a:xfrm>
          <a:prstGeom prst="roundRect">
            <a:avLst>
              <a:gd name="adj" fmla="val 10145"/>
            </a:avLst>
          </a:prstGeom>
          <a:solidFill>
            <a:srgbClr val="E8F0F9">
              <a:alpha val="95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2" name="a3pop_p0ic_c"/>
          <p:cNvSpPr/>
          <p:nvPr/>
        </p:nvSpPr>
        <p:spPr>
          <a:xfrm>
            <a:off x="6327648" y="2404872"/>
            <a:ext cx="512064" cy="512064"/>
          </a:xfrm>
          <a:prstGeom prst="ellipse">
            <a:avLst/>
          </a:prstGeom>
          <a:solidFill>
            <a:srgbClr val="A9813A">
              <a:alpha val="18000"/>
            </a:srgbClr>
          </a:solidFill>
          <a:ln w="12700">
            <a:solidFill>
              <a:srgbClr val="A9813A"/>
            </a:solidFill>
            <a:prstDash val="solid"/>
          </a:ln>
        </p:spPr>
        <p:txBody>
          <a:bodyPr/>
          <a:lstStyle/>
          <a:p>
            <a:endParaRPr lang="en-GB"/>
          </a:p>
        </p:txBody>
      </p:sp>
      <p:pic>
        <p:nvPicPr>
          <p:cNvPr id="33" name="a3pop_p0ic_i" descr="preencoded.png"/>
          <p:cNvPicPr>
            <a:picLocks noChangeAspect="1"/>
          </p:cNvPicPr>
          <p:nvPr/>
        </p:nvPicPr>
        <p:blipFill>
          <a:blip r:embed="rId10"/>
          <a:stretch>
            <a:fillRect/>
          </a:stretch>
        </p:blipFill>
        <p:spPr>
          <a:xfrm>
            <a:off x="6450543" y="2527767"/>
            <a:ext cx="266273" cy="266273"/>
          </a:xfrm>
          <a:prstGeom prst="rect">
            <a:avLst/>
          </a:prstGeom>
        </p:spPr>
      </p:pic>
      <p:sp>
        <p:nvSpPr>
          <p:cNvPr id="34" name="a3float_p0t"/>
          <p:cNvSpPr txBox="1"/>
          <p:nvPr/>
        </p:nvSpPr>
        <p:spPr>
          <a:xfrm>
            <a:off x="7132320" y="2139696"/>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A9813A"/>
                </a:solidFill>
                <a:latin typeface="Segoe UI Semibold" pitchFamily="34" charset="0"/>
                <a:ea typeface="Segoe UI Semibold" pitchFamily="34" charset="-122"/>
                <a:cs typeface="Segoe UI Semibold" pitchFamily="34" charset="-120"/>
              </a:rPr>
              <a:t>Proven now</a:t>
            </a:r>
            <a:endParaRPr lang="en-US" sz="1500" dirty="0"/>
          </a:p>
        </p:txBody>
      </p:sp>
      <p:sp>
        <p:nvSpPr>
          <p:cNvPr id="35" name="a3float_p0d"/>
          <p:cNvSpPr txBox="1"/>
          <p:nvPr/>
        </p:nvSpPr>
        <p:spPr>
          <a:xfrm>
            <a:off x="7132320" y="2468880"/>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91 stands · 2 countries · 2 Sentinel-2 tiles · 65 unseen stands at 0.79 false alarms / stand-yr · compute &lt; $5 per site per year</a:t>
            </a:r>
            <a:endParaRPr lang="en-US" sz="1200" dirty="0"/>
          </a:p>
        </p:txBody>
      </p:sp>
      <p:sp>
        <p:nvSpPr>
          <p:cNvPr id="36" name="a5float_p1"/>
          <p:cNvSpPr/>
          <p:nvPr/>
        </p:nvSpPr>
        <p:spPr>
          <a:xfrm>
            <a:off x="6903720" y="3429000"/>
            <a:ext cx="4736592" cy="1261872"/>
          </a:xfrm>
          <a:prstGeom prst="roundRect">
            <a:avLst>
              <a:gd name="adj" fmla="val 1014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7" name="a5pop_p1ic_c"/>
          <p:cNvSpPr/>
          <p:nvPr/>
        </p:nvSpPr>
        <p:spPr>
          <a:xfrm>
            <a:off x="6327648" y="3803904"/>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8" name="a5pop_p1ic_i" descr="preencoded.png"/>
          <p:cNvPicPr>
            <a:picLocks noChangeAspect="1"/>
          </p:cNvPicPr>
          <p:nvPr/>
        </p:nvPicPr>
        <p:blipFill>
          <a:blip r:embed="rId11"/>
          <a:stretch>
            <a:fillRect/>
          </a:stretch>
        </p:blipFill>
        <p:spPr>
          <a:xfrm>
            <a:off x="6450543" y="3926799"/>
            <a:ext cx="266273" cy="266273"/>
          </a:xfrm>
          <a:prstGeom prst="rect">
            <a:avLst/>
          </a:prstGeom>
        </p:spPr>
      </p:pic>
      <p:sp>
        <p:nvSpPr>
          <p:cNvPr id="39" name="a5float_p1t"/>
          <p:cNvSpPr txBox="1"/>
          <p:nvPr/>
        </p:nvSpPr>
        <p:spPr>
          <a:xfrm>
            <a:off x="7132320" y="3538728"/>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Incubation</a:t>
            </a:r>
            <a:endParaRPr lang="en-US" sz="1500" dirty="0"/>
          </a:p>
        </p:txBody>
      </p:sp>
      <p:sp>
        <p:nvSpPr>
          <p:cNvPr id="40" name="a5float_p1d"/>
          <p:cNvSpPr txBox="1"/>
          <p:nvPr/>
        </p:nvSpPr>
        <p:spPr>
          <a:xfrm>
            <a:off x="7132320" y="3867912"/>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Satellite 813 in the spectral step · deployment on gIQ · a pilot customer + site records · recovery tracking for planting</a:t>
            </a:r>
            <a:endParaRPr lang="en-US" sz="1200" dirty="0"/>
          </a:p>
        </p:txBody>
      </p:sp>
      <p:sp>
        <p:nvSpPr>
          <p:cNvPr id="41" name="a7float_p2"/>
          <p:cNvSpPr/>
          <p:nvPr/>
        </p:nvSpPr>
        <p:spPr>
          <a:xfrm>
            <a:off x="6903720" y="4828032"/>
            <a:ext cx="4736592" cy="1261872"/>
          </a:xfrm>
          <a:prstGeom prst="roundRect">
            <a:avLst>
              <a:gd name="adj" fmla="val 10145"/>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42" name="a7pop_p2ic_c"/>
          <p:cNvSpPr/>
          <p:nvPr/>
        </p:nvSpPr>
        <p:spPr>
          <a:xfrm>
            <a:off x="6327648" y="5202936"/>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43" name="a7pop_p2ic_i" descr="preencoded.png"/>
          <p:cNvPicPr>
            <a:picLocks noChangeAspect="1"/>
          </p:cNvPicPr>
          <p:nvPr/>
        </p:nvPicPr>
        <p:blipFill>
          <a:blip r:embed="rId12"/>
          <a:stretch>
            <a:fillRect/>
          </a:stretch>
        </p:blipFill>
        <p:spPr>
          <a:xfrm>
            <a:off x="6450543" y="5325831"/>
            <a:ext cx="266273" cy="266273"/>
          </a:xfrm>
          <a:prstGeom prst="rect">
            <a:avLst/>
          </a:prstGeom>
        </p:spPr>
      </p:pic>
      <p:sp>
        <p:nvSpPr>
          <p:cNvPr id="44" name="a7float_p2t"/>
          <p:cNvSpPr txBox="1"/>
          <p:nvPr/>
        </p:nvSpPr>
        <p:spPr>
          <a:xfrm>
            <a:off x="7132320" y="4937760"/>
            <a:ext cx="4297680" cy="310896"/>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Scale</a:t>
            </a:r>
            <a:endParaRPr lang="en-US" sz="1500" dirty="0"/>
          </a:p>
        </p:txBody>
      </p:sp>
      <p:sp>
        <p:nvSpPr>
          <p:cNvPr id="45" name="a7float_p2d"/>
          <p:cNvSpPr txBox="1"/>
          <p:nvPr/>
        </p:nvSpPr>
        <p:spPr>
          <a:xfrm>
            <a:off x="7132320" y="5266944"/>
            <a:ext cx="4343400" cy="777240"/>
          </a:xfrm>
          <a:prstGeom prst="rect">
            <a:avLst/>
          </a:prstGeom>
          <a:noFill/>
          <a:ln/>
        </p:spPr>
        <p:txBody>
          <a:bodyPr wrap="square" lIns="0" tIns="0" rIns="0" bIns="0" rtlCol="0" anchor="t"/>
          <a:lstStyle/>
          <a:p>
            <a:pPr marL="0" indent="0" algn="l">
              <a:lnSpc>
                <a:spcPct val="105000"/>
              </a:lnSpc>
              <a:buNone/>
            </a:pPr>
            <a:r>
              <a:rPr lang="en-US" sz="1200" dirty="0">
                <a:solidFill>
                  <a:srgbClr val="3A4D63"/>
                </a:solidFill>
                <a:latin typeface="Segoe UI" pitchFamily="34" charset="0"/>
                <a:ea typeface="Segoe UI" pitchFamily="34" charset="-122"/>
                <a:cs typeface="Segoe UI" pitchFamily="34" charset="-120"/>
              </a:rPr>
              <a:t>Gulf ≈ 165 km² + Red Sea ≈ 200 km² of mangrove · sub-metre data for small stands (Bahrain) · national MRV, licensing</a:t>
            </a:r>
            <a:endParaRPr lang="en-US" sz="1200" dirty="0"/>
          </a:p>
        </p:txBody>
      </p:sp>
      <p:sp>
        <p:nvSpPr>
          <p:cNvPr id="46" name="a8fade_src"/>
          <p:cNvSpPr txBox="1"/>
          <p:nvPr/>
        </p:nvSpPr>
        <p:spPr>
          <a:xfrm>
            <a:off x="6263640" y="6172200"/>
            <a:ext cx="4754880" cy="201168"/>
          </a:xfrm>
          <a:prstGeom prst="rect">
            <a:avLst/>
          </a:prstGeom>
          <a:noFill/>
          <a:ln/>
        </p:spPr>
        <p:txBody>
          <a:bodyPr wrap="square" lIns="0" tIns="0" rIns="0" bIns="0" rtlCol="0" anchor="t"/>
          <a:lstStyle/>
          <a:p>
            <a:pPr marL="0" indent="0" algn="l">
              <a:lnSpc>
                <a:spcPct val="105000"/>
              </a:lnSpc>
              <a:buNone/>
            </a:pPr>
            <a:r>
              <a:rPr lang="en-US" sz="900" dirty="0">
                <a:solidFill>
                  <a:srgbClr val="8A9BB0"/>
                </a:solidFill>
                <a:latin typeface="Segoe UI" pitchFamily="34" charset="0"/>
                <a:ea typeface="Segoe UI" pitchFamily="34" charset="-122"/>
                <a:cs typeface="Segoe UI" pitchFamily="34" charset="-120"/>
              </a:rPr>
              <a:t>Areas: Frontiers in Marine Science 2025. Compute measured; prices assumed.</a:t>
            </a:r>
            <a:endParaRPr lang="en-US" sz="900" dirty="0"/>
          </a:p>
        </p:txBody>
      </p:sp>
      <p:sp>
        <p:nvSpPr>
          <p:cNvPr id="4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10" presetClass="entr" presetSubtype="0" decel="100000" fill="hold" grpId="0" nodeType="withEffect">
                                  <p:stCondLst>
                                    <p:cond delay="47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par>
                                <p:cTn id="23" presetID="42" presetClass="entr" presetSubtype="0" decel="100000" fill="hold" grpId="0" nodeType="withEffect">
                                  <p:stCondLst>
                                    <p:cond delay="69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700"/>
                                        <p:tgtEl>
                                          <p:spTgt spid="9"/>
                                        </p:tgtEl>
                                      </p:cBhvr>
                                    </p:animEffect>
                                    <p:anim calcmode="lin" valueType="num">
                                      <p:cBhvr additive="base">
                                        <p:cTn id="26" dur="700" fill="hold"/>
                                        <p:tgtEl>
                                          <p:spTgt spid="9"/>
                                        </p:tgtEl>
                                        <p:attrNameLst>
                                          <p:attrName>ppt_y</p:attrName>
                                        </p:attrNameLst>
                                      </p:cBhvr>
                                      <p:tavLst>
                                        <p:tav tm="0">
                                          <p:val>
                                            <p:strVal val="#ppt_y+0.03"/>
                                          </p:val>
                                        </p:tav>
                                        <p:tav tm="100000">
                                          <p:val>
                                            <p:strVal val="#ppt_y"/>
                                          </p:val>
                                        </p:tav>
                                      </p:tavLst>
                                    </p:anim>
                                  </p:childTnLst>
                                </p:cTn>
                              </p:par>
                              <p:par>
                                <p:cTn id="27" presetID="42" presetClass="entr" presetSubtype="0" decel="100000" fill="hold" grpId="0" nodeType="withEffect">
                                  <p:stCondLst>
                                    <p:cond delay="69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700"/>
                                        <p:tgtEl>
                                          <p:spTgt spid="10"/>
                                        </p:tgtEl>
                                      </p:cBhvr>
                                    </p:animEffect>
                                    <p:anim calcmode="lin" valueType="num">
                                      <p:cBhvr additive="base">
                                        <p:cTn id="30" dur="700" fill="hold"/>
                                        <p:tgtEl>
                                          <p:spTgt spid="10"/>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69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42" presetClass="entr" presetSubtype="0" decel="100000" fill="hold" grpId="0" nodeType="withEffect">
                                  <p:stCondLst>
                                    <p:cond delay="6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700"/>
                                        <p:tgtEl>
                                          <p:spTgt spid="12"/>
                                        </p:tgtEl>
                                      </p:cBhvr>
                                    </p:animEffect>
                                    <p:anim calcmode="lin" valueType="num">
                                      <p:cBhvr additive="base">
                                        <p:cTn id="38" dur="700" fill="hold"/>
                                        <p:tgtEl>
                                          <p:spTgt spid="12"/>
                                        </p:tgtEl>
                                        <p:attrNameLst>
                                          <p:attrName>ppt_y</p:attrName>
                                        </p:attrNameLst>
                                      </p:cBhvr>
                                      <p:tavLst>
                                        <p:tav tm="0">
                                          <p:val>
                                            <p:strVal val="#ppt_y+0.03"/>
                                          </p:val>
                                        </p:tav>
                                        <p:tav tm="100000">
                                          <p:val>
                                            <p:strVal val="#ppt_y"/>
                                          </p:val>
                                        </p:tav>
                                      </p:tavLst>
                                    </p:anim>
                                  </p:childTnLst>
                                </p:cTn>
                              </p:par>
                              <p:par>
                                <p:cTn id="39" presetID="10" presetClass="entr" presetSubtype="0" decel="100000" fill="hold" grpId="0" nodeType="withEffect">
                                  <p:stCondLst>
                                    <p:cond delay="69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600"/>
                                        <p:tgtEl>
                                          <p:spTgt spid="30"/>
                                        </p:tgtEl>
                                      </p:cBhvr>
                                    </p:animEffect>
                                  </p:childTnLst>
                                </p:cTn>
                              </p:par>
                              <p:par>
                                <p:cTn id="42" presetID="42" presetClass="entr" presetSubtype="0" decel="100000" fill="hold" grpId="0" nodeType="withEffect">
                                  <p:stCondLst>
                                    <p:cond delay="91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700"/>
                                        <p:tgtEl>
                                          <p:spTgt spid="13"/>
                                        </p:tgtEl>
                                      </p:cBhvr>
                                    </p:animEffect>
                                    <p:anim calcmode="lin" valueType="num">
                                      <p:cBhvr additive="base">
                                        <p:cTn id="45" dur="700" fill="hold"/>
                                        <p:tgtEl>
                                          <p:spTgt spid="13"/>
                                        </p:tgtEl>
                                        <p:attrNameLst>
                                          <p:attrName>ppt_y</p:attrName>
                                        </p:attrNameLst>
                                      </p:cBhvr>
                                      <p:tavLst>
                                        <p:tav tm="0">
                                          <p:val>
                                            <p:strVal val="#ppt_y+0.03"/>
                                          </p:val>
                                        </p:tav>
                                        <p:tav tm="100000">
                                          <p:val>
                                            <p:strVal val="#ppt_y"/>
                                          </p:val>
                                        </p:tav>
                                      </p:tavLst>
                                    </p:anim>
                                  </p:childTnLst>
                                </p:cTn>
                              </p:par>
                              <p:par>
                                <p:cTn id="46" presetID="42" presetClass="entr" presetSubtype="0" decel="100000" fill="hold" grpId="0" nodeType="withEffect">
                                  <p:stCondLst>
                                    <p:cond delay="91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700"/>
                                        <p:tgtEl>
                                          <p:spTgt spid="14"/>
                                        </p:tgtEl>
                                      </p:cBhvr>
                                    </p:animEffect>
                                    <p:anim calcmode="lin" valueType="num">
                                      <p:cBhvr additive="base">
                                        <p:cTn id="49" dur="700" fill="hold"/>
                                        <p:tgtEl>
                                          <p:spTgt spid="14"/>
                                        </p:tgtEl>
                                        <p:attrNameLst>
                                          <p:attrName>ppt_y</p:attrName>
                                        </p:attrNameLst>
                                      </p:cBhvr>
                                      <p:tavLst>
                                        <p:tav tm="0">
                                          <p:val>
                                            <p:strVal val="#ppt_y+0.03"/>
                                          </p:val>
                                        </p:tav>
                                        <p:tav tm="100000">
                                          <p:val>
                                            <p:strVal val="#ppt_y"/>
                                          </p:val>
                                        </p:tav>
                                      </p:tavLst>
                                    </p:anim>
                                  </p:childTnLst>
                                </p:cTn>
                              </p:par>
                              <p:par>
                                <p:cTn id="50" presetID="42" presetClass="entr" presetSubtype="0" decel="100000" fill="hold" grpId="0" nodeType="withEffect">
                                  <p:stCondLst>
                                    <p:cond delay="91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700"/>
                                        <p:tgtEl>
                                          <p:spTgt spid="15"/>
                                        </p:tgtEl>
                                      </p:cBhvr>
                                    </p:animEffect>
                                    <p:anim calcmode="lin" valueType="num">
                                      <p:cBhvr additive="base">
                                        <p:cTn id="53" dur="700" fill="hold"/>
                                        <p:tgtEl>
                                          <p:spTgt spid="15"/>
                                        </p:tgtEl>
                                        <p:attrNameLst>
                                          <p:attrName>ppt_y</p:attrName>
                                        </p:attrNameLst>
                                      </p:cBhvr>
                                      <p:tavLst>
                                        <p:tav tm="0">
                                          <p:val>
                                            <p:strVal val="#ppt_y+0.03"/>
                                          </p:val>
                                        </p:tav>
                                        <p:tav tm="100000">
                                          <p:val>
                                            <p:strVal val="#ppt_y"/>
                                          </p:val>
                                        </p:tav>
                                      </p:tavLst>
                                    </p:anim>
                                  </p:childTnLst>
                                </p:cTn>
                              </p:par>
                              <p:par>
                                <p:cTn id="54" presetID="42" presetClass="entr" presetSubtype="0" decel="100000" fill="hold" grpId="0" nodeType="withEffect">
                                  <p:stCondLst>
                                    <p:cond delay="91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700"/>
                                        <p:tgtEl>
                                          <p:spTgt spid="16"/>
                                        </p:tgtEl>
                                      </p:cBhvr>
                                    </p:animEffect>
                                    <p:anim calcmode="lin" valueType="num">
                                      <p:cBhvr additive="base">
                                        <p:cTn id="57" dur="700" fill="hold"/>
                                        <p:tgtEl>
                                          <p:spTgt spid="16"/>
                                        </p:tgtEl>
                                        <p:attrNameLst>
                                          <p:attrName>ppt_y</p:attrName>
                                        </p:attrNameLst>
                                      </p:cBhvr>
                                      <p:tavLst>
                                        <p:tav tm="0">
                                          <p:val>
                                            <p:strVal val="#ppt_y+0.03"/>
                                          </p:val>
                                        </p:tav>
                                        <p:tav tm="100000">
                                          <p:val>
                                            <p:strVal val="#ppt_y"/>
                                          </p:val>
                                        </p:tav>
                                      </p:tavLst>
                                    </p:anim>
                                  </p:childTnLst>
                                </p:cTn>
                              </p:par>
                              <p:par>
                                <p:cTn id="58" presetID="42" presetClass="entr" presetSubtype="0" decel="100000" fill="hold" grpId="0" nodeType="withEffect">
                                  <p:stCondLst>
                                    <p:cond delay="91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700"/>
                                        <p:tgtEl>
                                          <p:spTgt spid="31"/>
                                        </p:tgtEl>
                                      </p:cBhvr>
                                    </p:animEffect>
                                    <p:anim calcmode="lin" valueType="num">
                                      <p:cBhvr additive="base">
                                        <p:cTn id="61" dur="700" fill="hold"/>
                                        <p:tgtEl>
                                          <p:spTgt spid="31"/>
                                        </p:tgtEl>
                                        <p:attrNameLst>
                                          <p:attrName>ppt_y</p:attrName>
                                        </p:attrNameLst>
                                      </p:cBhvr>
                                      <p:tavLst>
                                        <p:tav tm="0">
                                          <p:val>
                                            <p:strVal val="#ppt_y+0.03"/>
                                          </p:val>
                                        </p:tav>
                                        <p:tav tm="100000">
                                          <p:val>
                                            <p:strVal val="#ppt_y"/>
                                          </p:val>
                                        </p:tav>
                                      </p:tavLst>
                                    </p:anim>
                                  </p:childTnLst>
                                </p:cTn>
                              </p:par>
                              <p:par>
                                <p:cTn id="62" presetID="53" presetClass="entr" presetSubtype="16" decel="100000" fill="hold" grpId="0" nodeType="withEffect">
                                  <p:stCondLst>
                                    <p:cond delay="91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anim calcmode="lin" valueType="num">
                                      <p:cBhvr additive="base">
                                        <p:cTn id="65" dur="450" fill="hold"/>
                                        <p:tgtEl>
                                          <p:spTgt spid="32"/>
                                        </p:tgtEl>
                                        <p:attrNameLst>
                                          <p:attrName>ppt_w</p:attrName>
                                        </p:attrNameLst>
                                      </p:cBhvr>
                                      <p:tavLst>
                                        <p:tav tm="0">
                                          <p:val>
                                            <p:strVal val="#ppt_w*0.2"/>
                                          </p:val>
                                        </p:tav>
                                        <p:tav tm="100000">
                                          <p:val>
                                            <p:strVal val="#ppt_w"/>
                                          </p:val>
                                        </p:tav>
                                      </p:tavLst>
                                    </p:anim>
                                    <p:anim calcmode="lin" valueType="num">
                                      <p:cBhvr additive="base">
                                        <p:cTn id="66" dur="450" fill="hold"/>
                                        <p:tgtEl>
                                          <p:spTgt spid="32"/>
                                        </p:tgtEl>
                                        <p:attrNameLst>
                                          <p:attrName>ppt_h</p:attrName>
                                        </p:attrNameLst>
                                      </p:cBhvr>
                                      <p:tavLst>
                                        <p:tav tm="0">
                                          <p:val>
                                            <p:strVal val="#ppt_h*0.2"/>
                                          </p:val>
                                        </p:tav>
                                        <p:tav tm="100000">
                                          <p:val>
                                            <p:strVal val="#ppt_h"/>
                                          </p:val>
                                        </p:tav>
                                      </p:tavLst>
                                    </p:anim>
                                  </p:childTnLst>
                                </p:cTn>
                              </p:par>
                              <p:par>
                                <p:cTn id="67" presetID="53" presetClass="entr" presetSubtype="16" decel="100000" fill="hold" grpId="0" nodeType="withEffect">
                                  <p:stCondLst>
                                    <p:cond delay="91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450"/>
                                        <p:tgtEl>
                                          <p:spTgt spid="33"/>
                                        </p:tgtEl>
                                      </p:cBhvr>
                                    </p:animEffect>
                                    <p:anim calcmode="lin" valueType="num">
                                      <p:cBhvr additive="base">
                                        <p:cTn id="70" dur="450" fill="hold"/>
                                        <p:tgtEl>
                                          <p:spTgt spid="33"/>
                                        </p:tgtEl>
                                        <p:attrNameLst>
                                          <p:attrName>ppt_w</p:attrName>
                                        </p:attrNameLst>
                                      </p:cBhvr>
                                      <p:tavLst>
                                        <p:tav tm="0">
                                          <p:val>
                                            <p:strVal val="#ppt_w*0.2"/>
                                          </p:val>
                                        </p:tav>
                                        <p:tav tm="100000">
                                          <p:val>
                                            <p:strVal val="#ppt_w"/>
                                          </p:val>
                                        </p:tav>
                                      </p:tavLst>
                                    </p:anim>
                                    <p:anim calcmode="lin" valueType="num">
                                      <p:cBhvr additive="base">
                                        <p:cTn id="71" dur="450" fill="hold"/>
                                        <p:tgtEl>
                                          <p:spTgt spid="33"/>
                                        </p:tgtEl>
                                        <p:attrNameLst>
                                          <p:attrName>ppt_h</p:attrName>
                                        </p:attrNameLst>
                                      </p:cBhvr>
                                      <p:tavLst>
                                        <p:tav tm="0">
                                          <p:val>
                                            <p:strVal val="#ppt_h*0.2"/>
                                          </p:val>
                                        </p:tav>
                                        <p:tav tm="100000">
                                          <p:val>
                                            <p:strVal val="#ppt_h"/>
                                          </p:val>
                                        </p:tav>
                                      </p:tavLst>
                                    </p:anim>
                                  </p:childTnLst>
                                </p:cTn>
                              </p:par>
                              <p:par>
                                <p:cTn id="72" presetID="42" presetClass="entr" presetSubtype="0" decel="100000" fill="hold" grpId="0" nodeType="withEffect">
                                  <p:stCondLst>
                                    <p:cond delay="91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700"/>
                                        <p:tgtEl>
                                          <p:spTgt spid="34"/>
                                        </p:tgtEl>
                                      </p:cBhvr>
                                    </p:animEffect>
                                    <p:anim calcmode="lin" valueType="num">
                                      <p:cBhvr additive="base">
                                        <p:cTn id="75" dur="700" fill="hold"/>
                                        <p:tgtEl>
                                          <p:spTgt spid="34"/>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91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700"/>
                                        <p:tgtEl>
                                          <p:spTgt spid="35"/>
                                        </p:tgtEl>
                                      </p:cBhvr>
                                    </p:animEffect>
                                    <p:anim calcmode="lin" valueType="num">
                                      <p:cBhvr additive="base">
                                        <p:cTn id="79" dur="700" fill="hold"/>
                                        <p:tgtEl>
                                          <p:spTgt spid="35"/>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113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700"/>
                                        <p:tgtEl>
                                          <p:spTgt spid="17"/>
                                        </p:tgtEl>
                                      </p:cBhvr>
                                    </p:animEffect>
                                    <p:anim calcmode="lin" valueType="num">
                                      <p:cBhvr additive="base">
                                        <p:cTn id="83" dur="700" fill="hold"/>
                                        <p:tgtEl>
                                          <p:spTgt spid="17"/>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113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700"/>
                                        <p:tgtEl>
                                          <p:spTgt spid="18"/>
                                        </p:tgtEl>
                                      </p:cBhvr>
                                    </p:animEffect>
                                    <p:anim calcmode="lin" valueType="num">
                                      <p:cBhvr additive="base">
                                        <p:cTn id="87" dur="700" fill="hold"/>
                                        <p:tgtEl>
                                          <p:spTgt spid="18"/>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113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700"/>
                                        <p:tgtEl>
                                          <p:spTgt spid="19"/>
                                        </p:tgtEl>
                                      </p:cBhvr>
                                    </p:animEffect>
                                    <p:anim calcmode="lin" valueType="num">
                                      <p:cBhvr additive="base">
                                        <p:cTn id="91" dur="700" fill="hold"/>
                                        <p:tgtEl>
                                          <p:spTgt spid="19"/>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113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700"/>
                                        <p:tgtEl>
                                          <p:spTgt spid="20"/>
                                        </p:tgtEl>
                                      </p:cBhvr>
                                    </p:animEffect>
                                    <p:anim calcmode="lin" valueType="num">
                                      <p:cBhvr additive="base">
                                        <p:cTn id="95" dur="700" fill="hold"/>
                                        <p:tgtEl>
                                          <p:spTgt spid="20"/>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135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700"/>
                                        <p:tgtEl>
                                          <p:spTgt spid="21"/>
                                        </p:tgtEl>
                                      </p:cBhvr>
                                    </p:animEffect>
                                    <p:anim calcmode="lin" valueType="num">
                                      <p:cBhvr additive="base">
                                        <p:cTn id="99" dur="700" fill="hold"/>
                                        <p:tgtEl>
                                          <p:spTgt spid="21"/>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1350"/>
                                  </p:stCondLst>
                                  <p:childTnLst>
                                    <p:set>
                                      <p:cBhvr>
                                        <p:cTn id="101" dur="1" fill="hold">
                                          <p:stCondLst>
                                            <p:cond delay="0"/>
                                          </p:stCondLst>
                                        </p:cTn>
                                        <p:tgtEl>
                                          <p:spTgt spid="22"/>
                                        </p:tgtEl>
                                        <p:attrNameLst>
                                          <p:attrName>style.visibility</p:attrName>
                                        </p:attrNameLst>
                                      </p:cBhvr>
                                      <p:to>
                                        <p:strVal val="visible"/>
                                      </p:to>
                                    </p:set>
                                    <p:animEffect transition="in" filter="fade">
                                      <p:cBhvr>
                                        <p:cTn id="102" dur="700"/>
                                        <p:tgtEl>
                                          <p:spTgt spid="22"/>
                                        </p:tgtEl>
                                      </p:cBhvr>
                                    </p:animEffect>
                                    <p:anim calcmode="lin" valueType="num">
                                      <p:cBhvr additive="base">
                                        <p:cTn id="103" dur="700" fill="hold"/>
                                        <p:tgtEl>
                                          <p:spTgt spid="22"/>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135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700"/>
                                        <p:tgtEl>
                                          <p:spTgt spid="23"/>
                                        </p:tgtEl>
                                      </p:cBhvr>
                                    </p:animEffect>
                                    <p:anim calcmode="lin" valueType="num">
                                      <p:cBhvr additive="base">
                                        <p:cTn id="107" dur="700" fill="hold"/>
                                        <p:tgtEl>
                                          <p:spTgt spid="23"/>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135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700"/>
                                        <p:tgtEl>
                                          <p:spTgt spid="24"/>
                                        </p:tgtEl>
                                      </p:cBhvr>
                                    </p:animEffect>
                                    <p:anim calcmode="lin" valueType="num">
                                      <p:cBhvr additive="base">
                                        <p:cTn id="111" dur="700" fill="hold"/>
                                        <p:tgtEl>
                                          <p:spTgt spid="24"/>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1350"/>
                                  </p:stCondLst>
                                  <p:childTnLst>
                                    <p:set>
                                      <p:cBhvr>
                                        <p:cTn id="113" dur="1" fill="hold">
                                          <p:stCondLst>
                                            <p:cond delay="0"/>
                                          </p:stCondLst>
                                        </p:cTn>
                                        <p:tgtEl>
                                          <p:spTgt spid="36"/>
                                        </p:tgtEl>
                                        <p:attrNameLst>
                                          <p:attrName>style.visibility</p:attrName>
                                        </p:attrNameLst>
                                      </p:cBhvr>
                                      <p:to>
                                        <p:strVal val="visible"/>
                                      </p:to>
                                    </p:set>
                                    <p:animEffect transition="in" filter="fade">
                                      <p:cBhvr>
                                        <p:cTn id="114" dur="700"/>
                                        <p:tgtEl>
                                          <p:spTgt spid="36"/>
                                        </p:tgtEl>
                                      </p:cBhvr>
                                    </p:animEffect>
                                    <p:anim calcmode="lin" valueType="num">
                                      <p:cBhvr additive="base">
                                        <p:cTn id="115" dur="700" fill="hold"/>
                                        <p:tgtEl>
                                          <p:spTgt spid="36"/>
                                        </p:tgtEl>
                                        <p:attrNameLst>
                                          <p:attrName>ppt_y</p:attrName>
                                        </p:attrNameLst>
                                      </p:cBhvr>
                                      <p:tavLst>
                                        <p:tav tm="0">
                                          <p:val>
                                            <p:strVal val="#ppt_y+0.03"/>
                                          </p:val>
                                        </p:tav>
                                        <p:tav tm="100000">
                                          <p:val>
                                            <p:strVal val="#ppt_y"/>
                                          </p:val>
                                        </p:tav>
                                      </p:tavLst>
                                    </p:anim>
                                  </p:childTnLst>
                                </p:cTn>
                              </p:par>
                              <p:par>
                                <p:cTn id="116" presetID="53" presetClass="entr" presetSubtype="16" decel="100000" fill="hold" grpId="0" nodeType="withEffect">
                                  <p:stCondLst>
                                    <p:cond delay="135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8" dur="450"/>
                                        <p:tgtEl>
                                          <p:spTgt spid="37"/>
                                        </p:tgtEl>
                                      </p:cBhvr>
                                    </p:animEffect>
                                    <p:anim calcmode="lin" valueType="num">
                                      <p:cBhvr additive="base">
                                        <p:cTn id="119" dur="450" fill="hold"/>
                                        <p:tgtEl>
                                          <p:spTgt spid="37"/>
                                        </p:tgtEl>
                                        <p:attrNameLst>
                                          <p:attrName>ppt_w</p:attrName>
                                        </p:attrNameLst>
                                      </p:cBhvr>
                                      <p:tavLst>
                                        <p:tav tm="0">
                                          <p:val>
                                            <p:strVal val="#ppt_w*0.2"/>
                                          </p:val>
                                        </p:tav>
                                        <p:tav tm="100000">
                                          <p:val>
                                            <p:strVal val="#ppt_w"/>
                                          </p:val>
                                        </p:tav>
                                      </p:tavLst>
                                    </p:anim>
                                    <p:anim calcmode="lin" valueType="num">
                                      <p:cBhvr additive="base">
                                        <p:cTn id="120" dur="450" fill="hold"/>
                                        <p:tgtEl>
                                          <p:spTgt spid="37"/>
                                        </p:tgtEl>
                                        <p:attrNameLst>
                                          <p:attrName>ppt_h</p:attrName>
                                        </p:attrNameLst>
                                      </p:cBhvr>
                                      <p:tavLst>
                                        <p:tav tm="0">
                                          <p:val>
                                            <p:strVal val="#ppt_h*0.2"/>
                                          </p:val>
                                        </p:tav>
                                        <p:tav tm="100000">
                                          <p:val>
                                            <p:strVal val="#ppt_h"/>
                                          </p:val>
                                        </p:tav>
                                      </p:tavLst>
                                    </p:anim>
                                  </p:childTnLst>
                                </p:cTn>
                              </p:par>
                              <p:par>
                                <p:cTn id="121" presetID="53" presetClass="entr" presetSubtype="16" decel="100000" fill="hold" grpId="0" nodeType="withEffect">
                                  <p:stCondLst>
                                    <p:cond delay="135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50"/>
                                        <p:tgtEl>
                                          <p:spTgt spid="38"/>
                                        </p:tgtEl>
                                      </p:cBhvr>
                                    </p:animEffect>
                                    <p:anim calcmode="lin" valueType="num">
                                      <p:cBhvr additive="base">
                                        <p:cTn id="124" dur="450" fill="hold"/>
                                        <p:tgtEl>
                                          <p:spTgt spid="38"/>
                                        </p:tgtEl>
                                        <p:attrNameLst>
                                          <p:attrName>ppt_w</p:attrName>
                                        </p:attrNameLst>
                                      </p:cBhvr>
                                      <p:tavLst>
                                        <p:tav tm="0">
                                          <p:val>
                                            <p:strVal val="#ppt_w*0.2"/>
                                          </p:val>
                                        </p:tav>
                                        <p:tav tm="100000">
                                          <p:val>
                                            <p:strVal val="#ppt_w"/>
                                          </p:val>
                                        </p:tav>
                                      </p:tavLst>
                                    </p:anim>
                                    <p:anim calcmode="lin" valueType="num">
                                      <p:cBhvr additive="base">
                                        <p:cTn id="125" dur="450" fill="hold"/>
                                        <p:tgtEl>
                                          <p:spTgt spid="38"/>
                                        </p:tgtEl>
                                        <p:attrNameLst>
                                          <p:attrName>ppt_h</p:attrName>
                                        </p:attrNameLst>
                                      </p:cBhvr>
                                      <p:tavLst>
                                        <p:tav tm="0">
                                          <p:val>
                                            <p:strVal val="#ppt_h*0.2"/>
                                          </p:val>
                                        </p:tav>
                                        <p:tav tm="100000">
                                          <p:val>
                                            <p:strVal val="#ppt_h"/>
                                          </p:val>
                                        </p:tav>
                                      </p:tavLst>
                                    </p:anim>
                                  </p:childTnLst>
                                </p:cTn>
                              </p:par>
                              <p:par>
                                <p:cTn id="126" presetID="42" presetClass="entr" presetSubtype="0" decel="100000" fill="hold" grpId="0" nodeType="withEffect">
                                  <p:stCondLst>
                                    <p:cond delay="1350"/>
                                  </p:stCondLst>
                                  <p:childTnLst>
                                    <p:set>
                                      <p:cBhvr>
                                        <p:cTn id="127" dur="1" fill="hold">
                                          <p:stCondLst>
                                            <p:cond delay="0"/>
                                          </p:stCondLst>
                                        </p:cTn>
                                        <p:tgtEl>
                                          <p:spTgt spid="39"/>
                                        </p:tgtEl>
                                        <p:attrNameLst>
                                          <p:attrName>style.visibility</p:attrName>
                                        </p:attrNameLst>
                                      </p:cBhvr>
                                      <p:to>
                                        <p:strVal val="visible"/>
                                      </p:to>
                                    </p:set>
                                    <p:animEffect transition="in" filter="fade">
                                      <p:cBhvr>
                                        <p:cTn id="128" dur="700"/>
                                        <p:tgtEl>
                                          <p:spTgt spid="39"/>
                                        </p:tgtEl>
                                      </p:cBhvr>
                                    </p:animEffect>
                                    <p:anim calcmode="lin" valueType="num">
                                      <p:cBhvr additive="base">
                                        <p:cTn id="129" dur="700" fill="hold"/>
                                        <p:tgtEl>
                                          <p:spTgt spid="39"/>
                                        </p:tgtEl>
                                        <p:attrNameLst>
                                          <p:attrName>ppt_y</p:attrName>
                                        </p:attrNameLst>
                                      </p:cBhvr>
                                      <p:tavLst>
                                        <p:tav tm="0">
                                          <p:val>
                                            <p:strVal val="#ppt_y+0.03"/>
                                          </p:val>
                                        </p:tav>
                                        <p:tav tm="100000">
                                          <p:val>
                                            <p:strVal val="#ppt_y"/>
                                          </p:val>
                                        </p:tav>
                                      </p:tavLst>
                                    </p:anim>
                                  </p:childTnLst>
                                </p:cTn>
                              </p:par>
                              <p:par>
                                <p:cTn id="130" presetID="42" presetClass="entr" presetSubtype="0" decel="100000" fill="hold" grpId="0" nodeType="withEffect">
                                  <p:stCondLst>
                                    <p:cond delay="135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700"/>
                                        <p:tgtEl>
                                          <p:spTgt spid="40"/>
                                        </p:tgtEl>
                                      </p:cBhvr>
                                    </p:animEffect>
                                    <p:anim calcmode="lin" valueType="num">
                                      <p:cBhvr additive="base">
                                        <p:cTn id="133" dur="700" fill="hold"/>
                                        <p:tgtEl>
                                          <p:spTgt spid="40"/>
                                        </p:tgtEl>
                                        <p:attrNameLst>
                                          <p:attrName>ppt_y</p:attrName>
                                        </p:attrNameLst>
                                      </p:cBhvr>
                                      <p:tavLst>
                                        <p:tav tm="0">
                                          <p:val>
                                            <p:strVal val="#ppt_y+0.03"/>
                                          </p:val>
                                        </p:tav>
                                        <p:tav tm="100000">
                                          <p:val>
                                            <p:strVal val="#ppt_y"/>
                                          </p:val>
                                        </p:tav>
                                      </p:tavLst>
                                    </p:anim>
                                  </p:childTnLst>
                                </p:cTn>
                              </p:par>
                              <p:par>
                                <p:cTn id="134" presetID="42" presetClass="entr" presetSubtype="0" decel="100000" fill="hold" grpId="0" nodeType="withEffect">
                                  <p:stCondLst>
                                    <p:cond delay="157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700"/>
                                        <p:tgtEl>
                                          <p:spTgt spid="25"/>
                                        </p:tgtEl>
                                      </p:cBhvr>
                                    </p:animEffect>
                                    <p:anim calcmode="lin" valueType="num">
                                      <p:cBhvr additive="base">
                                        <p:cTn id="137" dur="700" fill="hold"/>
                                        <p:tgtEl>
                                          <p:spTgt spid="25"/>
                                        </p:tgtEl>
                                        <p:attrNameLst>
                                          <p:attrName>ppt_y</p:attrName>
                                        </p:attrNameLst>
                                      </p:cBhvr>
                                      <p:tavLst>
                                        <p:tav tm="0">
                                          <p:val>
                                            <p:strVal val="#ppt_y+0.03"/>
                                          </p:val>
                                        </p:tav>
                                        <p:tav tm="100000">
                                          <p:val>
                                            <p:strVal val="#ppt_y"/>
                                          </p:val>
                                        </p:tav>
                                      </p:tavLst>
                                    </p:anim>
                                  </p:childTnLst>
                                </p:cTn>
                              </p:par>
                              <p:par>
                                <p:cTn id="138" presetID="42" presetClass="entr" presetSubtype="0" decel="100000" fill="hold" grpId="0" nodeType="withEffect">
                                  <p:stCondLst>
                                    <p:cond delay="1570"/>
                                  </p:stCondLst>
                                  <p:childTnLst>
                                    <p:set>
                                      <p:cBhvr>
                                        <p:cTn id="139" dur="1" fill="hold">
                                          <p:stCondLst>
                                            <p:cond delay="0"/>
                                          </p:stCondLst>
                                        </p:cTn>
                                        <p:tgtEl>
                                          <p:spTgt spid="26"/>
                                        </p:tgtEl>
                                        <p:attrNameLst>
                                          <p:attrName>style.visibility</p:attrName>
                                        </p:attrNameLst>
                                      </p:cBhvr>
                                      <p:to>
                                        <p:strVal val="visible"/>
                                      </p:to>
                                    </p:set>
                                    <p:animEffect transition="in" filter="fade">
                                      <p:cBhvr>
                                        <p:cTn id="140" dur="700"/>
                                        <p:tgtEl>
                                          <p:spTgt spid="26"/>
                                        </p:tgtEl>
                                      </p:cBhvr>
                                    </p:animEffect>
                                    <p:anim calcmode="lin" valueType="num">
                                      <p:cBhvr additive="base">
                                        <p:cTn id="141" dur="700" fill="hold"/>
                                        <p:tgtEl>
                                          <p:spTgt spid="26"/>
                                        </p:tgtEl>
                                        <p:attrNameLst>
                                          <p:attrName>ppt_y</p:attrName>
                                        </p:attrNameLst>
                                      </p:cBhvr>
                                      <p:tavLst>
                                        <p:tav tm="0">
                                          <p:val>
                                            <p:strVal val="#ppt_y+0.03"/>
                                          </p:val>
                                        </p:tav>
                                        <p:tav tm="100000">
                                          <p:val>
                                            <p:strVal val="#ppt_y"/>
                                          </p:val>
                                        </p:tav>
                                      </p:tavLst>
                                    </p:anim>
                                  </p:childTnLst>
                                </p:cTn>
                              </p:par>
                              <p:par>
                                <p:cTn id="142" presetID="42" presetClass="entr" presetSubtype="0" decel="100000" fill="hold" grpId="0" nodeType="withEffect">
                                  <p:stCondLst>
                                    <p:cond delay="1570"/>
                                  </p:stCondLst>
                                  <p:childTnLst>
                                    <p:set>
                                      <p:cBhvr>
                                        <p:cTn id="143" dur="1" fill="hold">
                                          <p:stCondLst>
                                            <p:cond delay="0"/>
                                          </p:stCondLst>
                                        </p:cTn>
                                        <p:tgtEl>
                                          <p:spTgt spid="27"/>
                                        </p:tgtEl>
                                        <p:attrNameLst>
                                          <p:attrName>style.visibility</p:attrName>
                                        </p:attrNameLst>
                                      </p:cBhvr>
                                      <p:to>
                                        <p:strVal val="visible"/>
                                      </p:to>
                                    </p:set>
                                    <p:animEffect transition="in" filter="fade">
                                      <p:cBhvr>
                                        <p:cTn id="144" dur="700"/>
                                        <p:tgtEl>
                                          <p:spTgt spid="27"/>
                                        </p:tgtEl>
                                      </p:cBhvr>
                                    </p:animEffect>
                                    <p:anim calcmode="lin" valueType="num">
                                      <p:cBhvr additive="base">
                                        <p:cTn id="145" dur="700" fill="hold"/>
                                        <p:tgtEl>
                                          <p:spTgt spid="27"/>
                                        </p:tgtEl>
                                        <p:attrNameLst>
                                          <p:attrName>ppt_y</p:attrName>
                                        </p:attrNameLst>
                                      </p:cBhvr>
                                      <p:tavLst>
                                        <p:tav tm="0">
                                          <p:val>
                                            <p:strVal val="#ppt_y+0.03"/>
                                          </p:val>
                                        </p:tav>
                                        <p:tav tm="100000">
                                          <p:val>
                                            <p:strVal val="#ppt_y"/>
                                          </p:val>
                                        </p:tav>
                                      </p:tavLst>
                                    </p:anim>
                                  </p:childTnLst>
                                </p:cTn>
                              </p:par>
                              <p:par>
                                <p:cTn id="146" presetID="42" presetClass="entr" presetSubtype="0" decel="100000" fill="hold" grpId="0" nodeType="withEffect">
                                  <p:stCondLst>
                                    <p:cond delay="1570"/>
                                  </p:stCondLst>
                                  <p:childTnLst>
                                    <p:set>
                                      <p:cBhvr>
                                        <p:cTn id="147" dur="1" fill="hold">
                                          <p:stCondLst>
                                            <p:cond delay="0"/>
                                          </p:stCondLst>
                                        </p:cTn>
                                        <p:tgtEl>
                                          <p:spTgt spid="28"/>
                                        </p:tgtEl>
                                        <p:attrNameLst>
                                          <p:attrName>style.visibility</p:attrName>
                                        </p:attrNameLst>
                                      </p:cBhvr>
                                      <p:to>
                                        <p:strVal val="visible"/>
                                      </p:to>
                                    </p:set>
                                    <p:animEffect transition="in" filter="fade">
                                      <p:cBhvr>
                                        <p:cTn id="148" dur="700"/>
                                        <p:tgtEl>
                                          <p:spTgt spid="28"/>
                                        </p:tgtEl>
                                      </p:cBhvr>
                                    </p:animEffect>
                                    <p:anim calcmode="lin" valueType="num">
                                      <p:cBhvr additive="base">
                                        <p:cTn id="149" dur="700" fill="hold"/>
                                        <p:tgtEl>
                                          <p:spTgt spid="28"/>
                                        </p:tgtEl>
                                        <p:attrNameLst>
                                          <p:attrName>ppt_y</p:attrName>
                                        </p:attrNameLst>
                                      </p:cBhvr>
                                      <p:tavLst>
                                        <p:tav tm="0">
                                          <p:val>
                                            <p:strVal val="#ppt_y+0.03"/>
                                          </p:val>
                                        </p:tav>
                                        <p:tav tm="100000">
                                          <p:val>
                                            <p:strVal val="#ppt_y"/>
                                          </p:val>
                                        </p:tav>
                                      </p:tavLst>
                                    </p:anim>
                                  </p:childTnLst>
                                </p:cTn>
                              </p:par>
                              <p:par>
                                <p:cTn id="150" presetID="42" presetClass="entr" presetSubtype="0" decel="100000" fill="hold" grpId="0" nodeType="withEffect">
                                  <p:stCondLst>
                                    <p:cond delay="1790"/>
                                  </p:stCondLst>
                                  <p:childTnLst>
                                    <p:set>
                                      <p:cBhvr>
                                        <p:cTn id="151" dur="1" fill="hold">
                                          <p:stCondLst>
                                            <p:cond delay="0"/>
                                          </p:stCondLst>
                                        </p:cTn>
                                        <p:tgtEl>
                                          <p:spTgt spid="41"/>
                                        </p:tgtEl>
                                        <p:attrNameLst>
                                          <p:attrName>style.visibility</p:attrName>
                                        </p:attrNameLst>
                                      </p:cBhvr>
                                      <p:to>
                                        <p:strVal val="visible"/>
                                      </p:to>
                                    </p:set>
                                    <p:animEffect transition="in" filter="fade">
                                      <p:cBhvr>
                                        <p:cTn id="152" dur="700"/>
                                        <p:tgtEl>
                                          <p:spTgt spid="41"/>
                                        </p:tgtEl>
                                      </p:cBhvr>
                                    </p:animEffect>
                                    <p:anim calcmode="lin" valueType="num">
                                      <p:cBhvr additive="base">
                                        <p:cTn id="153" dur="700" fill="hold"/>
                                        <p:tgtEl>
                                          <p:spTgt spid="41"/>
                                        </p:tgtEl>
                                        <p:attrNameLst>
                                          <p:attrName>ppt_y</p:attrName>
                                        </p:attrNameLst>
                                      </p:cBhvr>
                                      <p:tavLst>
                                        <p:tav tm="0">
                                          <p:val>
                                            <p:strVal val="#ppt_y+0.03"/>
                                          </p:val>
                                        </p:tav>
                                        <p:tav tm="100000">
                                          <p:val>
                                            <p:strVal val="#ppt_y"/>
                                          </p:val>
                                        </p:tav>
                                      </p:tavLst>
                                    </p:anim>
                                  </p:childTnLst>
                                </p:cTn>
                              </p:par>
                              <p:par>
                                <p:cTn id="154" presetID="53" presetClass="entr" presetSubtype="16" decel="100000" fill="hold" grpId="0" nodeType="withEffect">
                                  <p:stCondLst>
                                    <p:cond delay="1790"/>
                                  </p:stCondLst>
                                  <p:childTnLst>
                                    <p:set>
                                      <p:cBhvr>
                                        <p:cTn id="155" dur="1" fill="hold">
                                          <p:stCondLst>
                                            <p:cond delay="0"/>
                                          </p:stCondLst>
                                        </p:cTn>
                                        <p:tgtEl>
                                          <p:spTgt spid="42"/>
                                        </p:tgtEl>
                                        <p:attrNameLst>
                                          <p:attrName>style.visibility</p:attrName>
                                        </p:attrNameLst>
                                      </p:cBhvr>
                                      <p:to>
                                        <p:strVal val="visible"/>
                                      </p:to>
                                    </p:set>
                                    <p:animEffect transition="in" filter="fade">
                                      <p:cBhvr>
                                        <p:cTn id="156" dur="450"/>
                                        <p:tgtEl>
                                          <p:spTgt spid="42"/>
                                        </p:tgtEl>
                                      </p:cBhvr>
                                    </p:animEffect>
                                    <p:anim calcmode="lin" valueType="num">
                                      <p:cBhvr additive="base">
                                        <p:cTn id="157" dur="450" fill="hold"/>
                                        <p:tgtEl>
                                          <p:spTgt spid="42"/>
                                        </p:tgtEl>
                                        <p:attrNameLst>
                                          <p:attrName>ppt_w</p:attrName>
                                        </p:attrNameLst>
                                      </p:cBhvr>
                                      <p:tavLst>
                                        <p:tav tm="0">
                                          <p:val>
                                            <p:strVal val="#ppt_w*0.2"/>
                                          </p:val>
                                        </p:tav>
                                        <p:tav tm="100000">
                                          <p:val>
                                            <p:strVal val="#ppt_w"/>
                                          </p:val>
                                        </p:tav>
                                      </p:tavLst>
                                    </p:anim>
                                    <p:anim calcmode="lin" valueType="num">
                                      <p:cBhvr additive="base">
                                        <p:cTn id="158" dur="450" fill="hold"/>
                                        <p:tgtEl>
                                          <p:spTgt spid="42"/>
                                        </p:tgtEl>
                                        <p:attrNameLst>
                                          <p:attrName>ppt_h</p:attrName>
                                        </p:attrNameLst>
                                      </p:cBhvr>
                                      <p:tavLst>
                                        <p:tav tm="0">
                                          <p:val>
                                            <p:strVal val="#ppt_h*0.2"/>
                                          </p:val>
                                        </p:tav>
                                        <p:tav tm="100000">
                                          <p:val>
                                            <p:strVal val="#ppt_h"/>
                                          </p:val>
                                        </p:tav>
                                      </p:tavLst>
                                    </p:anim>
                                  </p:childTnLst>
                                </p:cTn>
                              </p:par>
                              <p:par>
                                <p:cTn id="159" presetID="53" presetClass="entr" presetSubtype="16" decel="100000" fill="hold" grpId="0" nodeType="withEffect">
                                  <p:stCondLst>
                                    <p:cond delay="1790"/>
                                  </p:stCondLst>
                                  <p:childTnLst>
                                    <p:set>
                                      <p:cBhvr>
                                        <p:cTn id="160" dur="1" fill="hold">
                                          <p:stCondLst>
                                            <p:cond delay="0"/>
                                          </p:stCondLst>
                                        </p:cTn>
                                        <p:tgtEl>
                                          <p:spTgt spid="43"/>
                                        </p:tgtEl>
                                        <p:attrNameLst>
                                          <p:attrName>style.visibility</p:attrName>
                                        </p:attrNameLst>
                                      </p:cBhvr>
                                      <p:to>
                                        <p:strVal val="visible"/>
                                      </p:to>
                                    </p:set>
                                    <p:animEffect transition="in" filter="fade">
                                      <p:cBhvr>
                                        <p:cTn id="161" dur="450"/>
                                        <p:tgtEl>
                                          <p:spTgt spid="43"/>
                                        </p:tgtEl>
                                      </p:cBhvr>
                                    </p:animEffect>
                                    <p:anim calcmode="lin" valueType="num">
                                      <p:cBhvr additive="base">
                                        <p:cTn id="162" dur="450" fill="hold"/>
                                        <p:tgtEl>
                                          <p:spTgt spid="43"/>
                                        </p:tgtEl>
                                        <p:attrNameLst>
                                          <p:attrName>ppt_w</p:attrName>
                                        </p:attrNameLst>
                                      </p:cBhvr>
                                      <p:tavLst>
                                        <p:tav tm="0">
                                          <p:val>
                                            <p:strVal val="#ppt_w*0.2"/>
                                          </p:val>
                                        </p:tav>
                                        <p:tav tm="100000">
                                          <p:val>
                                            <p:strVal val="#ppt_w"/>
                                          </p:val>
                                        </p:tav>
                                      </p:tavLst>
                                    </p:anim>
                                    <p:anim calcmode="lin" valueType="num">
                                      <p:cBhvr additive="base">
                                        <p:cTn id="163" dur="450" fill="hold"/>
                                        <p:tgtEl>
                                          <p:spTgt spid="43"/>
                                        </p:tgtEl>
                                        <p:attrNameLst>
                                          <p:attrName>ppt_h</p:attrName>
                                        </p:attrNameLst>
                                      </p:cBhvr>
                                      <p:tavLst>
                                        <p:tav tm="0">
                                          <p:val>
                                            <p:strVal val="#ppt_h*0.2"/>
                                          </p:val>
                                        </p:tav>
                                        <p:tav tm="100000">
                                          <p:val>
                                            <p:strVal val="#ppt_h"/>
                                          </p:val>
                                        </p:tav>
                                      </p:tavLst>
                                    </p:anim>
                                  </p:childTnLst>
                                </p:cTn>
                              </p:par>
                              <p:par>
                                <p:cTn id="164" presetID="42" presetClass="entr" presetSubtype="0" decel="100000" fill="hold" grpId="0" nodeType="withEffect">
                                  <p:stCondLst>
                                    <p:cond delay="179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700"/>
                                        <p:tgtEl>
                                          <p:spTgt spid="44"/>
                                        </p:tgtEl>
                                      </p:cBhvr>
                                    </p:animEffect>
                                    <p:anim calcmode="lin" valueType="num">
                                      <p:cBhvr additive="base">
                                        <p:cTn id="167" dur="700" fill="hold"/>
                                        <p:tgtEl>
                                          <p:spTgt spid="44"/>
                                        </p:tgtEl>
                                        <p:attrNameLst>
                                          <p:attrName>ppt_y</p:attrName>
                                        </p:attrNameLst>
                                      </p:cBhvr>
                                      <p:tavLst>
                                        <p:tav tm="0">
                                          <p:val>
                                            <p:strVal val="#ppt_y+0.03"/>
                                          </p:val>
                                        </p:tav>
                                        <p:tav tm="100000">
                                          <p:val>
                                            <p:strVal val="#ppt_y"/>
                                          </p:val>
                                        </p:tav>
                                      </p:tavLst>
                                    </p:anim>
                                  </p:childTnLst>
                                </p:cTn>
                              </p:par>
                              <p:par>
                                <p:cTn id="168" presetID="42" presetClass="entr" presetSubtype="0" decel="100000" fill="hold" grpId="0" nodeType="withEffect">
                                  <p:stCondLst>
                                    <p:cond delay="179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700"/>
                                        <p:tgtEl>
                                          <p:spTgt spid="45"/>
                                        </p:tgtEl>
                                      </p:cBhvr>
                                    </p:animEffect>
                                    <p:anim calcmode="lin" valueType="num">
                                      <p:cBhvr additive="base">
                                        <p:cTn id="171" dur="700" fill="hold"/>
                                        <p:tgtEl>
                                          <p:spTgt spid="45"/>
                                        </p:tgtEl>
                                        <p:attrNameLst>
                                          <p:attrName>ppt_y</p:attrName>
                                        </p:attrNameLst>
                                      </p:cBhvr>
                                      <p:tavLst>
                                        <p:tav tm="0">
                                          <p:val>
                                            <p:strVal val="#ppt_y+0.03"/>
                                          </p:val>
                                        </p:tav>
                                        <p:tav tm="100000">
                                          <p:val>
                                            <p:strVal val="#ppt_y"/>
                                          </p:val>
                                        </p:tav>
                                      </p:tavLst>
                                    </p:anim>
                                  </p:childTnLst>
                                </p:cTn>
                              </p:par>
                              <p:par>
                                <p:cTn id="172" presetID="10" presetClass="entr" presetSubtype="0" decel="100000" fill="hold" grpId="0" nodeType="withEffect">
                                  <p:stCondLst>
                                    <p:cond delay="2010"/>
                                  </p:stCondLst>
                                  <p:childTnLst>
                                    <p:set>
                                      <p:cBhvr>
                                        <p:cTn id="173" dur="1" fill="hold">
                                          <p:stCondLst>
                                            <p:cond delay="0"/>
                                          </p:stCondLst>
                                        </p:cTn>
                                        <p:tgtEl>
                                          <p:spTgt spid="46"/>
                                        </p:tgtEl>
                                        <p:attrNameLst>
                                          <p:attrName>style.visibility</p:attrName>
                                        </p:attrNameLst>
                                      </p:cBhvr>
                                      <p:to>
                                        <p:strVal val="visible"/>
                                      </p:to>
                                    </p:set>
                                    <p:animEffect transition="in" filter="fade">
                                      <p:cBhvr>
                                        <p:cTn id="174"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p:bldP spid="11" grpId="0" animBg="1"/>
      <p:bldP spid="12" grpId="0" animBg="1"/>
      <p:bldP spid="13" grpId="0" animBg="1"/>
      <p:bldP spid="14" grpId="0"/>
      <p:bldP spid="15" grpId="0" animBg="1"/>
      <p:bldP spid="16" grpId="0" animBg="1"/>
      <p:bldP spid="17" grpId="0" animBg="1"/>
      <p:bldP spid="18" grpId="0"/>
      <p:bldP spid="19" grpId="0" animBg="1"/>
      <p:bldP spid="20" grpId="0" animBg="1"/>
      <p:bldP spid="21" grpId="0" animBg="1"/>
      <p:bldP spid="22" grpId="0"/>
      <p:bldP spid="23" grpId="0" animBg="1"/>
      <p:bldP spid="24" grpId="0" animBg="1"/>
      <p:bldP spid="25" grpId="0" animBg="1"/>
      <p:bldP spid="26" grpId="0"/>
      <p:bldP spid="27" grpId="0" animBg="1"/>
      <p:bldP spid="28" grpId="0" animBg="1"/>
      <p:bldP spid="29" grpId="0" animBg="1"/>
      <p:bldP spid="30" grpId="0" animBg="1"/>
      <p:bldP spid="31" grpId="0" animBg="1"/>
      <p:bldP spid="32" grpId="0" animBg="1"/>
      <p:bldP spid="33" grpId="0"/>
      <p:bldP spid="34" grpId="0" animBg="1"/>
      <p:bldP spid="35" grpId="0" animBg="1"/>
      <p:bldP spid="36" grpId="0" animBg="1"/>
      <p:bldP spid="37" grpId="0" animBg="1"/>
      <p:bldP spid="38" grpId="0"/>
      <p:bldP spid="39" grpId="0" animBg="1"/>
      <p:bldP spid="40" grpId="0" animBg="1"/>
      <p:bldP spid="41" grpId="0" animBg="1"/>
      <p:bldP spid="42" grpId="0" animBg="1"/>
      <p:bldP spid="43" grpId="0"/>
      <p:bldP spid="44" grpId="0" animBg="1"/>
      <p:bldP spid="45" grpId="0" animBg="1"/>
      <p:bldP spid="4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low1" descr="image.png"/>
          <p:cNvPicPr>
            <a:picLocks noChangeAspect="1"/>
          </p:cNvPicPr>
          <p:nvPr/>
        </p:nvPicPr>
        <p:blipFill>
          <a:blip r:embed="rId3"/>
          <a:stretch>
            <a:fillRect/>
          </a:stretch>
        </p:blipFill>
        <p:spPr>
          <a:xfrm>
            <a:off x="3657600" y="-3108960"/>
            <a:ext cx="5486400" cy="5486400"/>
          </a:xfrm>
          <a:prstGeom prst="rect">
            <a:avLst/>
          </a:prstGeom>
        </p:spPr>
      </p:pic>
      <p:pic>
        <p:nvPicPr>
          <p:cNvPr id="3" name="!!glow2" descr="image.png"/>
          <p:cNvPicPr>
            <a:picLocks noChangeAspect="1"/>
          </p:cNvPicPr>
          <p:nvPr/>
        </p:nvPicPr>
        <p:blipFill>
          <a:blip r:embed="rId4"/>
          <a:stretch>
            <a:fillRect/>
          </a:stretch>
        </p:blipFill>
        <p:spPr>
          <a:xfrm>
            <a:off x="-2194560" y="3474720"/>
            <a:ext cx="5486400" cy="5486400"/>
          </a:xfrm>
          <a:prstGeom prst="rect">
            <a:avLst/>
          </a:prstGeom>
        </p:spPr>
      </p:pic>
      <p:sp>
        <p:nvSpPr>
          <p:cNvPr id="4" name="TextBox 3"/>
          <p:cNvSpPr txBox="1"/>
          <p:nvPr/>
        </p:nvSpPr>
        <p:spPr>
          <a:xfrm>
            <a:off x="548640" y="384048"/>
            <a:ext cx="11000000" cy="330000"/>
          </a:xfrm>
          <a:prstGeom prst="rect">
            <a:avLst/>
          </a:prstGeom>
          <a:noFill/>
        </p:spPr>
        <p:txBody>
          <a:bodyPr wrap="square">
            <a:spAutoFit/>
          </a:bodyPr>
          <a:lstStyle/>
          <a:p>
            <a:pPr algn="l"/>
            <a:r>
              <a:rPr sz="1300" b="1" i="0">
                <a:solidFill>
                  <a:srgbClr val="3F6E9E"/>
                </a:solidFill>
                <a:latin typeface="Segoe UI"/>
              </a:rPr>
              <a:t>W H Y   I T   M A T T E R S   I N   T H E   R E G I O N</a:t>
            </a:r>
          </a:p>
        </p:txBody>
      </p:sp>
      <p:sp>
        <p:nvSpPr>
          <p:cNvPr id="5" name="TextBox 4"/>
          <p:cNvSpPr txBox="1"/>
          <p:nvPr/>
        </p:nvSpPr>
        <p:spPr>
          <a:xfrm>
            <a:off x="548640" y="713232"/>
            <a:ext cx="11000000" cy="800000"/>
          </a:xfrm>
          <a:prstGeom prst="rect">
            <a:avLst/>
          </a:prstGeom>
          <a:noFill/>
        </p:spPr>
        <p:txBody>
          <a:bodyPr wrap="square">
            <a:spAutoFit/>
          </a:bodyPr>
          <a:lstStyle/>
          <a:p>
            <a:pPr algn="l"/>
            <a:r>
              <a:rPr sz="3600" b="0" i="0">
                <a:solidFill>
                  <a:srgbClr val="1B2B40"/>
                </a:solidFill>
                <a:latin typeface="Segoe UI Semibold"/>
              </a:rPr>
              <a:t>Big pledges, and a coast that is changing fast</a:t>
            </a:r>
          </a:p>
        </p:txBody>
      </p:sp>
      <p:sp>
        <p:nvSpPr>
          <p:cNvPr id="6" name="Rounded Rectangle 5"/>
          <p:cNvSpPr/>
          <p:nvPr/>
        </p:nvSpPr>
        <p:spPr>
          <a:xfrm>
            <a:off x="548640" y="1620000"/>
            <a:ext cx="2661180" cy="212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8640" y="2220000"/>
            <a:ext cx="2261180" cy="330000"/>
          </a:xfrm>
          <a:prstGeom prst="rect">
            <a:avLst/>
          </a:prstGeom>
          <a:noFill/>
        </p:spPr>
        <p:txBody>
          <a:bodyPr wrap="square">
            <a:spAutoFit/>
          </a:bodyPr>
          <a:lstStyle/>
          <a:p>
            <a:pPr algn="l"/>
            <a:r>
              <a:rPr sz="1400" b="1" i="0">
                <a:solidFill>
                  <a:srgbClr val="1B2B40"/>
                </a:solidFill>
                <a:latin typeface="Segoe UI"/>
              </a:rPr>
              <a:t>UAE</a:t>
            </a:r>
          </a:p>
        </p:txBody>
      </p:sp>
      <p:sp>
        <p:nvSpPr>
          <p:cNvPr id="13" name="TextBox 12"/>
          <p:cNvSpPr txBox="1"/>
          <p:nvPr/>
        </p:nvSpPr>
        <p:spPr>
          <a:xfrm>
            <a:off x="748640" y="2520000"/>
            <a:ext cx="2261180" cy="520000"/>
          </a:xfrm>
          <a:prstGeom prst="rect">
            <a:avLst/>
          </a:prstGeom>
          <a:noFill/>
        </p:spPr>
        <p:txBody>
          <a:bodyPr wrap="square">
            <a:spAutoFit/>
          </a:bodyPr>
          <a:lstStyle/>
          <a:p>
            <a:pPr algn="l"/>
            <a:r>
              <a:rPr sz="3000" b="0" i="0">
                <a:solidFill>
                  <a:srgbClr val="A9813A"/>
                </a:solidFill>
                <a:latin typeface="Segoe UI Light"/>
              </a:rPr>
              <a:t>100 M</a:t>
            </a:r>
          </a:p>
        </p:txBody>
      </p:sp>
      <p:sp>
        <p:nvSpPr>
          <p:cNvPr id="14" name="TextBox 13"/>
          <p:cNvSpPr txBox="1"/>
          <p:nvPr/>
        </p:nvSpPr>
        <p:spPr>
          <a:xfrm>
            <a:off x="748640" y="3050000"/>
            <a:ext cx="2301180" cy="680000"/>
          </a:xfrm>
          <a:prstGeom prst="rect">
            <a:avLst/>
          </a:prstGeom>
          <a:noFill/>
        </p:spPr>
        <p:txBody>
          <a:bodyPr wrap="square">
            <a:spAutoFit/>
          </a:bodyPr>
          <a:lstStyle/>
          <a:p>
            <a:pPr algn="l"/>
            <a:r>
              <a:rPr sz="1050" b="0" i="0">
                <a:solidFill>
                  <a:srgbClr val="5A6B80"/>
                </a:solidFill>
                <a:latin typeface="Segoe UI"/>
              </a:rPr>
              <a:t>mangroves by 2030 · MOCCAE, COP26. First GCC monitoring guide: EAD with IUCN, Feb 2026.</a:t>
            </a:r>
          </a:p>
        </p:txBody>
      </p:sp>
      <p:sp>
        <p:nvSpPr>
          <p:cNvPr id="15" name="Rounded Rectangle 14"/>
          <p:cNvSpPr/>
          <p:nvPr/>
        </p:nvSpPr>
        <p:spPr>
          <a:xfrm>
            <a:off x="3359820" y="1620000"/>
            <a:ext cx="2661180" cy="212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59820" y="2220000"/>
            <a:ext cx="2261180" cy="330000"/>
          </a:xfrm>
          <a:prstGeom prst="rect">
            <a:avLst/>
          </a:prstGeom>
          <a:noFill/>
        </p:spPr>
        <p:txBody>
          <a:bodyPr wrap="square">
            <a:spAutoFit/>
          </a:bodyPr>
          <a:lstStyle/>
          <a:p>
            <a:pPr algn="l"/>
            <a:r>
              <a:rPr sz="1400" b="1" i="0">
                <a:solidFill>
                  <a:srgbClr val="1B2B40"/>
                </a:solidFill>
                <a:latin typeface="Segoe UI"/>
              </a:rPr>
              <a:t>Saudi Arabia</a:t>
            </a:r>
          </a:p>
        </p:txBody>
      </p:sp>
      <p:sp>
        <p:nvSpPr>
          <p:cNvPr id="19" name="TextBox 18"/>
          <p:cNvSpPr txBox="1"/>
          <p:nvPr/>
        </p:nvSpPr>
        <p:spPr>
          <a:xfrm>
            <a:off x="3559820" y="2520000"/>
            <a:ext cx="2261180" cy="520000"/>
          </a:xfrm>
          <a:prstGeom prst="rect">
            <a:avLst/>
          </a:prstGeom>
          <a:noFill/>
        </p:spPr>
        <p:txBody>
          <a:bodyPr wrap="square">
            <a:spAutoFit/>
          </a:bodyPr>
          <a:lstStyle/>
          <a:p>
            <a:pPr algn="l"/>
            <a:r>
              <a:rPr sz="3000" b="0" i="0">
                <a:solidFill>
                  <a:srgbClr val="A9813A"/>
                </a:solidFill>
                <a:latin typeface="Segoe UI Light"/>
              </a:rPr>
              <a:t>100 M+</a:t>
            </a:r>
          </a:p>
        </p:txBody>
      </p:sp>
      <p:sp>
        <p:nvSpPr>
          <p:cNvPr id="20" name="TextBox 19"/>
          <p:cNvSpPr txBox="1"/>
          <p:nvPr/>
        </p:nvSpPr>
        <p:spPr>
          <a:xfrm>
            <a:off x="3559820" y="3050000"/>
            <a:ext cx="2301180" cy="680000"/>
          </a:xfrm>
          <a:prstGeom prst="rect">
            <a:avLst/>
          </a:prstGeom>
          <a:noFill/>
        </p:spPr>
        <p:txBody>
          <a:bodyPr wrap="square">
            <a:spAutoFit/>
          </a:bodyPr>
          <a:lstStyle/>
          <a:p>
            <a:pPr algn="l"/>
            <a:r>
              <a:rPr sz="1050" b="0" i="0">
                <a:solidFill>
                  <a:srgbClr val="5A6B80"/>
                </a:solidFill>
                <a:latin typeface="Segoe UI"/>
              </a:rPr>
              <a:t>mangroves by 2030 · Saudi Green Initiative. Red Sea Global alone: 50 million by 2030.</a:t>
            </a:r>
          </a:p>
        </p:txBody>
      </p:sp>
      <p:sp>
        <p:nvSpPr>
          <p:cNvPr id="21" name="Rounded Rectangle 20"/>
          <p:cNvSpPr/>
          <p:nvPr/>
        </p:nvSpPr>
        <p:spPr>
          <a:xfrm>
            <a:off x="6171000" y="1620000"/>
            <a:ext cx="2661180" cy="212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71000" y="2220000"/>
            <a:ext cx="2261180" cy="330000"/>
          </a:xfrm>
          <a:prstGeom prst="rect">
            <a:avLst/>
          </a:prstGeom>
          <a:noFill/>
        </p:spPr>
        <p:txBody>
          <a:bodyPr wrap="square">
            <a:spAutoFit/>
          </a:bodyPr>
          <a:lstStyle/>
          <a:p>
            <a:pPr algn="l"/>
            <a:r>
              <a:rPr sz="1400" b="1" i="0">
                <a:solidFill>
                  <a:srgbClr val="1B2B40"/>
                </a:solidFill>
                <a:latin typeface="Segoe UI"/>
              </a:rPr>
              <a:t>Bahrain</a:t>
            </a:r>
          </a:p>
        </p:txBody>
      </p:sp>
      <p:sp>
        <p:nvSpPr>
          <p:cNvPr id="26" name="TextBox 25"/>
          <p:cNvSpPr txBox="1"/>
          <p:nvPr/>
        </p:nvSpPr>
        <p:spPr>
          <a:xfrm>
            <a:off x="6371000" y="2520000"/>
            <a:ext cx="2261180" cy="520000"/>
          </a:xfrm>
          <a:prstGeom prst="rect">
            <a:avLst/>
          </a:prstGeom>
          <a:noFill/>
        </p:spPr>
        <p:txBody>
          <a:bodyPr wrap="square">
            <a:spAutoFit/>
          </a:bodyPr>
          <a:lstStyle/>
          <a:p>
            <a:pPr algn="l"/>
            <a:r>
              <a:rPr sz="3000" b="0" i="0">
                <a:solidFill>
                  <a:srgbClr val="A9813A"/>
                </a:solidFill>
                <a:latin typeface="Segoe UI Light"/>
              </a:rPr>
              <a:t>×4</a:t>
            </a:r>
          </a:p>
        </p:txBody>
      </p:sp>
      <p:sp>
        <p:nvSpPr>
          <p:cNvPr id="27" name="TextBox 26"/>
          <p:cNvSpPr txBox="1"/>
          <p:nvPr/>
        </p:nvSpPr>
        <p:spPr>
          <a:xfrm>
            <a:off x="6371000" y="3050000"/>
            <a:ext cx="2301180" cy="680000"/>
          </a:xfrm>
          <a:prstGeom prst="rect">
            <a:avLst/>
          </a:prstGeom>
          <a:noFill/>
        </p:spPr>
        <p:txBody>
          <a:bodyPr wrap="square">
            <a:spAutoFit/>
          </a:bodyPr>
          <a:lstStyle/>
          <a:p>
            <a:pPr algn="l"/>
            <a:r>
              <a:rPr sz="1050" b="0" i="0">
                <a:solidFill>
                  <a:srgbClr val="5A6B80"/>
                </a:solidFill>
                <a:latin typeface="Segoe UI"/>
              </a:rPr>
              <a:t>its mangroves by 2035 · pledged at COP26 (2021). Small stands: they need higher-resolution imagery.</a:t>
            </a:r>
          </a:p>
        </p:txBody>
      </p:sp>
      <p:sp>
        <p:nvSpPr>
          <p:cNvPr id="28" name="Rounded Rectangle 27"/>
          <p:cNvSpPr/>
          <p:nvPr/>
        </p:nvSpPr>
        <p:spPr>
          <a:xfrm>
            <a:off x="8982180" y="1620000"/>
            <a:ext cx="2661180" cy="212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82180" y="2220000"/>
            <a:ext cx="2261180" cy="330000"/>
          </a:xfrm>
          <a:prstGeom prst="rect">
            <a:avLst/>
          </a:prstGeom>
          <a:noFill/>
        </p:spPr>
        <p:txBody>
          <a:bodyPr wrap="square">
            <a:spAutoFit/>
          </a:bodyPr>
          <a:lstStyle/>
          <a:p>
            <a:pPr algn="l"/>
            <a:r>
              <a:rPr sz="1400" b="1" i="0">
                <a:solidFill>
                  <a:srgbClr val="1B2B40"/>
                </a:solidFill>
                <a:latin typeface="Segoe UI"/>
              </a:rPr>
              <a:t>Arab region</a:t>
            </a:r>
          </a:p>
        </p:txBody>
      </p:sp>
      <p:sp>
        <p:nvSpPr>
          <p:cNvPr id="32" name="TextBox 31"/>
          <p:cNvSpPr txBox="1"/>
          <p:nvPr/>
        </p:nvSpPr>
        <p:spPr>
          <a:xfrm>
            <a:off x="9182180" y="2520000"/>
            <a:ext cx="2261180" cy="520000"/>
          </a:xfrm>
          <a:prstGeom prst="rect">
            <a:avLst/>
          </a:prstGeom>
          <a:noFill/>
        </p:spPr>
        <p:txBody>
          <a:bodyPr wrap="square">
            <a:spAutoFit/>
          </a:bodyPr>
          <a:lstStyle/>
          <a:p>
            <a:pPr algn="l"/>
            <a:r>
              <a:rPr sz="3000" b="0" i="0">
                <a:solidFill>
                  <a:srgbClr val="A9813A"/>
                </a:solidFill>
                <a:latin typeface="Segoe UI Light"/>
              </a:rPr>
              <a:t>≈ 365 km²</a:t>
            </a:r>
          </a:p>
        </p:txBody>
      </p:sp>
      <p:sp>
        <p:nvSpPr>
          <p:cNvPr id="33" name="TextBox 32"/>
          <p:cNvSpPr txBox="1"/>
          <p:nvPr/>
        </p:nvSpPr>
        <p:spPr>
          <a:xfrm>
            <a:off x="9182180" y="3050000"/>
            <a:ext cx="2301180" cy="680000"/>
          </a:xfrm>
          <a:prstGeom prst="rect">
            <a:avLst/>
          </a:prstGeom>
          <a:noFill/>
        </p:spPr>
        <p:txBody>
          <a:bodyPr wrap="square">
            <a:spAutoFit/>
          </a:bodyPr>
          <a:lstStyle/>
          <a:p>
            <a:pPr algn="l"/>
            <a:r>
              <a:rPr sz="1050" b="0" i="0">
                <a:solidFill>
                  <a:srgbClr val="5A6B80"/>
                </a:solidFill>
                <a:latin typeface="Segoe UI"/>
              </a:rPr>
              <a:t>of mangrove on the Gulf (≈ 165) and Red Sea (≈ 200) coasts; monitoring still “uneven”.</a:t>
            </a:r>
          </a:p>
        </p:txBody>
      </p:sp>
      <p:sp>
        <p:nvSpPr>
          <p:cNvPr id="34" name="Rounded Rectangle 33"/>
          <p:cNvSpPr/>
          <p:nvPr/>
        </p:nvSpPr>
        <p:spPr>
          <a:xfrm>
            <a:off x="548640" y="3900000"/>
            <a:ext cx="5472360" cy="900000"/>
          </a:xfrm>
          <a:prstGeom prst="roundRect">
            <a:avLst>
              <a:gd name="adj" fmla="val 10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8640" y="4070000"/>
            <a:ext cx="1900000" cy="560000"/>
          </a:xfrm>
          <a:prstGeom prst="rect">
            <a:avLst/>
          </a:prstGeom>
          <a:noFill/>
        </p:spPr>
        <p:txBody>
          <a:bodyPr wrap="square">
            <a:spAutoFit/>
          </a:bodyPr>
          <a:lstStyle/>
          <a:p>
            <a:pPr algn="l"/>
            <a:r>
              <a:rPr sz="2800" b="0" i="0">
                <a:solidFill>
                  <a:srgbClr val="A9813A"/>
                </a:solidFill>
                <a:latin typeface="Segoe UI Light"/>
              </a:rPr>
              <a:t>5 / 25</a:t>
            </a:r>
          </a:p>
        </p:txBody>
      </p:sp>
      <p:sp>
        <p:nvSpPr>
          <p:cNvPr id="36" name="TextBox 35"/>
          <p:cNvSpPr txBox="1"/>
          <p:nvPr/>
        </p:nvSpPr>
        <p:spPr>
          <a:xfrm>
            <a:off x="2698640" y="4050000"/>
            <a:ext cx="3122360" cy="650000"/>
          </a:xfrm>
          <a:prstGeom prst="rect">
            <a:avLst/>
          </a:prstGeom>
          <a:noFill/>
        </p:spPr>
        <p:txBody>
          <a:bodyPr wrap="square">
            <a:spAutoFit/>
          </a:bodyPr>
          <a:lstStyle/>
          <a:p>
            <a:pPr algn="l"/>
            <a:r>
              <a:rPr sz="1200" b="0" i="0">
                <a:solidFill>
                  <a:srgbClr val="1B2B40"/>
                </a:solidFill>
                <a:latin typeface="Segoe UI"/>
              </a:rPr>
              <a:t>pilot stands lost mangrove to coastal development in 2022–25, confirmed on sub-metre imagery (our result).</a:t>
            </a:r>
          </a:p>
        </p:txBody>
      </p:sp>
      <p:sp>
        <p:nvSpPr>
          <p:cNvPr id="37" name="Rounded Rectangle 36"/>
          <p:cNvSpPr/>
          <p:nvPr/>
        </p:nvSpPr>
        <p:spPr>
          <a:xfrm>
            <a:off x="6171000" y="3900000"/>
            <a:ext cx="5472360" cy="900000"/>
          </a:xfrm>
          <a:prstGeom prst="roundRect">
            <a:avLst>
              <a:gd name="adj" fmla="val 10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71000" y="4070000"/>
            <a:ext cx="1900000" cy="560000"/>
          </a:xfrm>
          <a:prstGeom prst="rect">
            <a:avLst/>
          </a:prstGeom>
          <a:noFill/>
        </p:spPr>
        <p:txBody>
          <a:bodyPr wrap="square">
            <a:spAutoFit/>
          </a:bodyPr>
          <a:lstStyle/>
          <a:p>
            <a:pPr algn="l"/>
            <a:r>
              <a:rPr sz="2800" b="0" i="0">
                <a:solidFill>
                  <a:srgbClr val="A9813A"/>
                </a:solidFill>
                <a:latin typeface="Segoe UI Light"/>
              </a:rPr>
              <a:t>$25–29</a:t>
            </a:r>
          </a:p>
        </p:txBody>
      </p:sp>
      <p:sp>
        <p:nvSpPr>
          <p:cNvPr id="39" name="TextBox 38"/>
          <p:cNvSpPr txBox="1"/>
          <p:nvPr/>
        </p:nvSpPr>
        <p:spPr>
          <a:xfrm>
            <a:off x="8321000" y="4050000"/>
            <a:ext cx="3122360" cy="650000"/>
          </a:xfrm>
          <a:prstGeom prst="rect">
            <a:avLst/>
          </a:prstGeom>
          <a:noFill/>
        </p:spPr>
        <p:txBody>
          <a:bodyPr wrap="square">
            <a:spAutoFit/>
          </a:bodyPr>
          <a:lstStyle/>
          <a:p>
            <a:pPr algn="l"/>
            <a:r>
              <a:rPr sz="1200" b="0" i="0">
                <a:solidFill>
                  <a:srgbClr val="1B2B40"/>
                </a:solidFill>
                <a:latin typeface="Segoe UI"/>
              </a:rPr>
              <a:t>per tonne of CO₂e: blue-carbon credit prices 2024–25 (S&amp;P Global Platts). A lost hectare is also lost value.</a:t>
            </a:r>
          </a:p>
        </p:txBody>
      </p:sp>
      <p:sp>
        <p:nvSpPr>
          <p:cNvPr id="40" name="Rounded Rectangle 39"/>
          <p:cNvSpPr/>
          <p:nvPr/>
        </p:nvSpPr>
        <p:spPr>
          <a:xfrm>
            <a:off x="548640" y="4960000"/>
            <a:ext cx="11094720" cy="520000"/>
          </a:xfrm>
          <a:prstGeom prst="roundRect">
            <a:avLst>
              <a:gd name="adj" fmla="val 30000"/>
            </a:avLst>
          </a:prstGeom>
          <a:solidFill>
            <a:srgbClr val="E8F2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60000" y="5070000"/>
            <a:ext cx="10700000" cy="330000"/>
          </a:xfrm>
          <a:prstGeom prst="rect">
            <a:avLst/>
          </a:prstGeom>
          <a:noFill/>
        </p:spPr>
        <p:txBody>
          <a:bodyPr wrap="square">
            <a:spAutoFit/>
          </a:bodyPr>
          <a:lstStyle/>
          <a:p>
            <a:pPr algn="l"/>
            <a:r>
              <a:rPr sz="1250" b="1" i="0">
                <a:solidFill>
                  <a:srgbClr val="1B2B40"/>
                </a:solidFill>
                <a:latin typeface="Segoe UI"/>
              </a:rPr>
              <a:t>Tested: Abu Dhabi + Saudi Tarut Bay  ·  same species across the Gulf (Avicennia marina)  ·  Next: Bahrain, sharper imagery</a:t>
            </a:r>
          </a:p>
        </p:txBody>
      </p:sp>
      <p:sp>
        <p:nvSpPr>
          <p:cNvPr id="42" name="TextBox 41"/>
          <p:cNvSpPr txBox="1"/>
          <p:nvPr/>
        </p:nvSpPr>
        <p:spPr>
          <a:xfrm>
            <a:off x="3500000" y="6390000"/>
            <a:ext cx="7550000" cy="420000"/>
          </a:xfrm>
          <a:prstGeom prst="rect">
            <a:avLst/>
          </a:prstGeom>
          <a:noFill/>
        </p:spPr>
        <p:txBody>
          <a:bodyPr wrap="square">
            <a:spAutoFit/>
          </a:bodyPr>
          <a:lstStyle/>
          <a:p>
            <a:pPr algn="l"/>
            <a:r>
              <a:rPr sz="800" b="0" i="0">
                <a:solidFill>
                  <a:srgbClr val="5A6B80"/>
                </a:solidFill>
                <a:latin typeface="Segoe UI"/>
              </a:rPr>
              <a:t>Sources: MOCCAE COP26 pledge (2021) · EAD–IUCN GCC mangrove monitoring guide (Feb 2026) · Saudi Green Initiative · Red Sea Global (2023) · Bahrain four-fold by 2035 (GDN, COP26) · Frontiers in Marine Science 2025, doi 10.3389/fmars.2025.1695426 · S&amp;P Global Platts 2024–25</a:t>
            </a:r>
          </a:p>
        </p:txBody>
      </p:sp>
      <p:pic>
        <p:nvPicPr>
          <p:cNvPr id="43" name="flag_United_Arab_Emirates" descr="United_Arab_Emirates.png"/>
          <p:cNvPicPr>
            <a:picLocks noChangeAspect="1"/>
          </p:cNvPicPr>
          <p:nvPr/>
        </p:nvPicPr>
        <p:blipFill>
          <a:blip r:embed="rId5"/>
          <a:stretch>
            <a:fillRect/>
          </a:stretch>
        </p:blipFill>
        <p:spPr>
          <a:xfrm>
            <a:off x="748640" y="1810000"/>
            <a:ext cx="680000" cy="340000"/>
          </a:xfrm>
          <a:prstGeom prst="rect">
            <a:avLst/>
          </a:prstGeom>
          <a:ln w="9525">
            <a:solidFill>
              <a:srgbClr val="D6E2EF"/>
            </a:solidFill>
          </a:ln>
        </p:spPr>
      </p:pic>
      <p:pic>
        <p:nvPicPr>
          <p:cNvPr id="44" name="flag_Saudi_Arabia" descr="Saudi_Arabia.png"/>
          <p:cNvPicPr>
            <a:picLocks noChangeAspect="1"/>
          </p:cNvPicPr>
          <p:nvPr/>
        </p:nvPicPr>
        <p:blipFill>
          <a:blip r:embed="rId6"/>
          <a:stretch>
            <a:fillRect/>
          </a:stretch>
        </p:blipFill>
        <p:spPr>
          <a:xfrm>
            <a:off x="3559820" y="1810000"/>
            <a:ext cx="508982" cy="340000"/>
          </a:xfrm>
          <a:prstGeom prst="rect">
            <a:avLst/>
          </a:prstGeom>
          <a:ln w="9525">
            <a:solidFill>
              <a:srgbClr val="D6E2EF"/>
            </a:solidFill>
          </a:ln>
        </p:spPr>
      </p:pic>
      <p:pic>
        <p:nvPicPr>
          <p:cNvPr id="45" name="flag_Bahrain" descr="Bahrain.png"/>
          <p:cNvPicPr>
            <a:picLocks noChangeAspect="1"/>
          </p:cNvPicPr>
          <p:nvPr/>
        </p:nvPicPr>
        <p:blipFill>
          <a:blip r:embed="rId7"/>
          <a:stretch>
            <a:fillRect/>
          </a:stretch>
        </p:blipFill>
        <p:spPr>
          <a:xfrm>
            <a:off x="6371000" y="1810000"/>
            <a:ext cx="566667" cy="340000"/>
          </a:xfrm>
          <a:prstGeom prst="rect">
            <a:avLst/>
          </a:prstGeom>
          <a:ln w="9525">
            <a:solidFill>
              <a:srgbClr val="D6E2EF"/>
            </a:solidFill>
          </a:ln>
        </p:spPr>
      </p:pic>
      <p:sp>
        <p:nvSpPr>
          <p:cNvPr id="46" name="TextBox 45"/>
          <p:cNvSpPr txBox="1"/>
          <p:nvPr/>
        </p:nvSpPr>
        <p:spPr>
          <a:xfrm>
            <a:off x="9142180" y="1740000"/>
            <a:ext cx="600000" cy="450000"/>
          </a:xfrm>
          <a:prstGeom prst="rect">
            <a:avLst/>
          </a:prstGeom>
          <a:noFill/>
        </p:spPr>
        <p:txBody>
          <a:bodyPr wrap="none">
            <a:spAutoFit/>
          </a:bodyPr>
          <a:lstStyle/>
          <a:p>
            <a:r>
              <a:rPr sz="2400">
                <a:latin typeface="Segoe UI Emoj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video_now">
            <a:hlinkClick r:id="" action="ppaction://media"/>
            <a:extLst>
              <a:ext uri="{FF2B5EF4-FFF2-40B4-BE49-F238E27FC236}">
                <a16:creationId xmlns:a16="http://schemas.microsoft.com/office/drawing/2014/main" id="{562F6D1D-E459-8C62-A494-3FEFBDC47D0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200"/>
                                  </p:stCondLst>
                                  <p:childTnLst>
                                    <p:cmd type="call" cmd="playFrom(0.0)">
                                      <p:cBhvr>
                                        <p:cTn id="6" dur="403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mute="1">
                <p:cTn id="12"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743200"/>
            <a:ext cx="6858000" cy="68580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7132320" y="2377440"/>
            <a:ext cx="6858000" cy="6858000"/>
          </a:xfrm>
          <a:prstGeom prst="rect">
            <a:avLst/>
          </a:prstGeom>
        </p:spPr>
      </p:pic>
      <p:sp>
        <p:nvSpPr>
          <p:cNvPr id="5" name="a0fade_k"/>
          <p:cNvSpPr txBox="1"/>
          <p:nvPr/>
        </p:nvSpPr>
        <p:spPr>
          <a:xfrm>
            <a:off x="731520" y="960120"/>
            <a:ext cx="7315200" cy="329184"/>
          </a:xfrm>
          <a:prstGeom prst="rect">
            <a:avLst/>
          </a:prstGeom>
          <a:noFill/>
          <a:ln/>
        </p:spPr>
        <p:txBody>
          <a:bodyPr wrap="square" lIns="0" tIns="0" rIns="0" bIns="0" rtlCol="0" anchor="t"/>
          <a:lstStyle/>
          <a:p>
            <a:pPr marL="0" indent="0" algn="l">
              <a:lnSpc>
                <a:spcPct val="105000"/>
              </a:lnSpc>
              <a:buNone/>
            </a:pPr>
            <a:r>
              <a:rPr lang="en-US" sz="1300" kern="0" spc="400" dirty="0">
                <a:solidFill>
                  <a:srgbClr val="BCD3EC"/>
                </a:solidFill>
                <a:latin typeface="Segoe UI Semibold" pitchFamily="34" charset="0"/>
                <a:ea typeface="Segoe UI Semibold" pitchFamily="34" charset="-122"/>
                <a:cs typeface="Segoe UI Semibold" pitchFamily="34" charset="-120"/>
              </a:rPr>
              <a:t>TEAM BLUE ATHAR  ·  </a:t>
            </a:r>
            <a:r>
              <a:rPr lang="en-US" sz="1300" dirty="0">
                <a:solidFill>
                  <a:srgbClr val="BCD3EC"/>
                </a:solidFill>
                <a:latin typeface="Segoe UI Semibold" pitchFamily="34" charset="0"/>
                <a:ea typeface="Segoe UI Semibold" pitchFamily="34" charset="-122"/>
                <a:cs typeface="Segoe UI Semibold" pitchFamily="34" charset="-120"/>
              </a:rPr>
              <a:t>الأثر الأزرق</a:t>
            </a:r>
            <a:endParaRPr lang="en-US" sz="1300" dirty="0"/>
          </a:p>
        </p:txBody>
      </p:sp>
      <p:sp>
        <p:nvSpPr>
          <p:cNvPr id="6" name="a1float_tag"/>
          <p:cNvSpPr txBox="1"/>
          <p:nvPr/>
        </p:nvSpPr>
        <p:spPr>
          <a:xfrm>
            <a:off x="694944" y="1371600"/>
            <a:ext cx="10515600" cy="1600200"/>
          </a:xfrm>
          <a:prstGeom prst="rect">
            <a:avLst/>
          </a:prstGeom>
          <a:noFill/>
          <a:ln/>
        </p:spPr>
        <p:txBody>
          <a:bodyPr wrap="square" lIns="0" tIns="0" rIns="0" bIns="0" rtlCol="0" anchor="t"/>
          <a:lstStyle/>
          <a:p>
            <a:pPr marL="0" indent="0" algn="l">
              <a:lnSpc>
                <a:spcPct val="100000"/>
              </a:lnSpc>
              <a:buNone/>
            </a:pPr>
            <a:r>
              <a:rPr lang="en-US" sz="4600" dirty="0">
                <a:solidFill>
                  <a:srgbClr val="FFFFFF"/>
                </a:solidFill>
                <a:latin typeface="Segoe UI Semibold" pitchFamily="34" charset="0"/>
                <a:ea typeface="Segoe UI Semibold" pitchFamily="34" charset="-122"/>
                <a:cs typeface="Segoe UI Semibold" pitchFamily="34" charset="-120"/>
              </a:rPr>
              <a:t>Every lost mangrove leaves a trace.</a:t>
            </a:r>
            <a:endParaRPr lang="en-US" sz="4600" dirty="0"/>
          </a:p>
          <a:p>
            <a:pPr marL="0" indent="0" algn="l">
              <a:lnSpc>
                <a:spcPct val="100000"/>
              </a:lnSpc>
              <a:buNone/>
            </a:pPr>
            <a:r>
              <a:rPr lang="en-US" sz="4600" dirty="0">
                <a:solidFill>
                  <a:srgbClr val="FFFFFF"/>
                </a:solidFill>
                <a:latin typeface="Segoe UI Semibold" pitchFamily="34" charset="0"/>
                <a:ea typeface="Segoe UI Semibold" pitchFamily="34" charset="-122"/>
                <a:cs typeface="Segoe UI Semibold" pitchFamily="34" charset="-120"/>
              </a:rPr>
              <a:t>We find it from space.</a:t>
            </a:r>
            <a:endParaRPr lang="en-US" sz="4600" dirty="0"/>
          </a:p>
        </p:txBody>
      </p:sp>
      <p:sp>
        <p:nvSpPr>
          <p:cNvPr id="7" name="a1float_merit"/>
          <p:cNvSpPr txBox="1"/>
          <p:nvPr/>
        </p:nvSpPr>
        <p:spPr>
          <a:xfrm>
            <a:off x="731520" y="2852928"/>
            <a:ext cx="10698480" cy="365760"/>
          </a:xfrm>
          <a:prstGeom prst="rect">
            <a:avLst/>
          </a:prstGeom>
          <a:noFill/>
          <a:ln/>
        </p:spPr>
        <p:txBody>
          <a:bodyPr wrap="square" lIns="0" tIns="0" rIns="0" bIns="0" rtlCol="0" anchor="t"/>
          <a:lstStyle/>
          <a:p>
            <a:pPr marL="0" indent="0" algn="l">
              <a:lnSpc>
                <a:spcPct val="105000"/>
              </a:lnSpc>
              <a:buNone/>
            </a:pPr>
            <a:r>
              <a:rPr lang="en-US" sz="1600" dirty="0">
                <a:solidFill>
                  <a:srgbClr val="F1D9A0"/>
                </a:solidFill>
                <a:latin typeface="Segoe UI Semibold" pitchFamily="34" charset="0"/>
                <a:ea typeface="Segoe UI Semibold" pitchFamily="34" charset="-122"/>
                <a:cs typeface="Segoe UI Semibold" pitchFamily="34" charset="-120"/>
              </a:rPr>
              <a:t>Overall value:  a working product  ·  five real events confirmed  ·  every number reproducible</a:t>
            </a:r>
            <a:endParaRPr lang="en-US" sz="1600" dirty="0"/>
          </a:p>
        </p:txBody>
      </p:sp>
      <p:sp>
        <p:nvSpPr>
          <p:cNvPr id="8" name="a2float_c0"/>
          <p:cNvSpPr/>
          <p:nvPr/>
        </p:nvSpPr>
        <p:spPr>
          <a:xfrm>
            <a:off x="731520"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9" name="a2float_c0n"/>
          <p:cNvSpPr txBox="1"/>
          <p:nvPr/>
        </p:nvSpPr>
        <p:spPr>
          <a:xfrm>
            <a:off x="932688"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Tide-aware</a:t>
            </a:r>
            <a:endParaRPr lang="en-US" sz="2800" dirty="0"/>
          </a:p>
        </p:txBody>
      </p:sp>
      <p:sp>
        <p:nvSpPr>
          <p:cNvPr id="10" name="a2float_c0t"/>
          <p:cNvSpPr txBox="1"/>
          <p:nvPr/>
        </p:nvSpPr>
        <p:spPr>
          <a:xfrm>
            <a:off x="932688"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29–35 % less noise</a:t>
            </a:r>
            <a:endParaRPr lang="en-US" sz="1200" dirty="0"/>
          </a:p>
        </p:txBody>
      </p:sp>
      <p:sp>
        <p:nvSpPr>
          <p:cNvPr id="11" name="a3float_c1"/>
          <p:cNvSpPr/>
          <p:nvPr/>
        </p:nvSpPr>
        <p:spPr>
          <a:xfrm>
            <a:off x="3447288"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12" name="a3float_c1n"/>
          <p:cNvSpPr txBox="1"/>
          <p:nvPr/>
        </p:nvSpPr>
        <p:spPr>
          <a:xfrm>
            <a:off x="3648456"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4BCC4"/>
                </a:solidFill>
                <a:latin typeface="Segoe UI Light" pitchFamily="34" charset="0"/>
                <a:ea typeface="Segoe UI Light" pitchFamily="34" charset="-122"/>
                <a:cs typeface="Segoe UI Light" pitchFamily="34" charset="-120"/>
              </a:rPr>
              <a:t>5 of 5</a:t>
            </a:r>
            <a:endParaRPr lang="en-US" sz="2800" dirty="0"/>
          </a:p>
        </p:txBody>
      </p:sp>
      <p:sp>
        <p:nvSpPr>
          <p:cNvPr id="13" name="a3float_c1t"/>
          <p:cNvSpPr txBox="1"/>
          <p:nvPr/>
        </p:nvSpPr>
        <p:spPr>
          <a:xfrm>
            <a:off x="3648456"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conversions alerted during the works, 3 only by cells</a:t>
            </a:r>
            <a:endParaRPr lang="en-US" sz="1200" dirty="0"/>
          </a:p>
        </p:txBody>
      </p:sp>
      <p:sp>
        <p:nvSpPr>
          <p:cNvPr id="14" name="a4float_c2"/>
          <p:cNvSpPr/>
          <p:nvPr/>
        </p:nvSpPr>
        <p:spPr>
          <a:xfrm>
            <a:off x="6163056"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15" name="a4float_c2n"/>
          <p:cNvSpPr txBox="1"/>
          <p:nvPr/>
        </p:nvSpPr>
        <p:spPr>
          <a:xfrm>
            <a:off x="6364224"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0.79</a:t>
            </a:r>
            <a:endParaRPr lang="en-US" sz="2800" dirty="0"/>
          </a:p>
        </p:txBody>
      </p:sp>
      <p:sp>
        <p:nvSpPr>
          <p:cNvPr id="16" name="a4float_c2t"/>
          <p:cNvSpPr txBox="1"/>
          <p:nvPr/>
        </p:nvSpPr>
        <p:spPr>
          <a:xfrm>
            <a:off x="6364224"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false alarms / stand-yr on unseen stands</a:t>
            </a:r>
            <a:endParaRPr lang="en-US" sz="1200" dirty="0"/>
          </a:p>
        </p:txBody>
      </p:sp>
      <p:sp>
        <p:nvSpPr>
          <p:cNvPr id="17" name="a5float_c3"/>
          <p:cNvSpPr/>
          <p:nvPr/>
        </p:nvSpPr>
        <p:spPr>
          <a:xfrm>
            <a:off x="8878824" y="3429000"/>
            <a:ext cx="2560320" cy="1188720"/>
          </a:xfrm>
          <a:prstGeom prst="roundRect">
            <a:avLst>
              <a:gd name="adj" fmla="val 10769"/>
            </a:avLst>
          </a:prstGeom>
          <a:solidFill>
            <a:srgbClr val="1E3D63">
              <a:alpha val="70000"/>
            </a:srgbClr>
          </a:solidFill>
          <a:ln w="9525">
            <a:solidFill>
              <a:srgbClr val="7FA2CA"/>
            </a:solidFill>
            <a:prstDash val="solid"/>
          </a:ln>
          <a:effectLst>
            <a:outerShdw blurRad="152400" dist="38100" dir="5400000" algn="bl" rotWithShape="0">
              <a:srgbClr val="1B2B40">
                <a:alpha val="25000"/>
              </a:srgbClr>
            </a:outerShdw>
          </a:effectLst>
        </p:spPr>
        <p:txBody>
          <a:bodyPr/>
          <a:lstStyle/>
          <a:p>
            <a:endParaRPr lang="en-GB"/>
          </a:p>
        </p:txBody>
      </p:sp>
      <p:sp>
        <p:nvSpPr>
          <p:cNvPr id="18" name="a5float_c3n"/>
          <p:cNvSpPr txBox="1"/>
          <p:nvPr/>
        </p:nvSpPr>
        <p:spPr>
          <a:xfrm>
            <a:off x="9079992" y="3502152"/>
            <a:ext cx="2194560" cy="502920"/>
          </a:xfrm>
          <a:prstGeom prst="rect">
            <a:avLst/>
          </a:prstGeom>
          <a:noFill/>
          <a:ln/>
        </p:spPr>
        <p:txBody>
          <a:bodyPr wrap="square" lIns="0" tIns="0" rIns="0" bIns="0" rtlCol="0" anchor="t"/>
          <a:lstStyle/>
          <a:p>
            <a:pPr marL="0" indent="0" algn="l">
              <a:lnSpc>
                <a:spcPct val="105000"/>
              </a:lnSpc>
              <a:buNone/>
            </a:pPr>
            <a:r>
              <a:rPr lang="en-US" sz="2800" dirty="0">
                <a:solidFill>
                  <a:srgbClr val="F1D9A0"/>
                </a:solidFill>
                <a:latin typeface="Segoe UI Light" pitchFamily="34" charset="0"/>
                <a:ea typeface="Segoe UI Light" pitchFamily="34" charset="-122"/>
                <a:cs typeface="Segoe UI Light" pitchFamily="34" charset="-120"/>
              </a:rPr>
              <a:t>Open</a:t>
            </a:r>
            <a:endParaRPr lang="en-US" sz="2800" dirty="0"/>
          </a:p>
        </p:txBody>
      </p:sp>
      <p:sp>
        <p:nvSpPr>
          <p:cNvPr id="19" name="a5float_c3t"/>
          <p:cNvSpPr txBox="1"/>
          <p:nvPr/>
        </p:nvSpPr>
        <p:spPr>
          <a:xfrm>
            <a:off x="9079992" y="4023360"/>
            <a:ext cx="2240280" cy="548640"/>
          </a:xfrm>
          <a:prstGeom prst="rect">
            <a:avLst/>
          </a:prstGeom>
          <a:noFill/>
          <a:ln/>
        </p:spPr>
        <p:txBody>
          <a:bodyPr wrap="square" lIns="0" tIns="0" rIns="0" bIns="0" rtlCol="0" anchor="t"/>
          <a:lstStyle/>
          <a:p>
            <a:pPr marL="0" indent="0" algn="l">
              <a:lnSpc>
                <a:spcPct val="105000"/>
              </a:lnSpc>
              <a:buNone/>
            </a:pPr>
            <a:r>
              <a:rPr lang="en-US" sz="1200" dirty="0">
                <a:solidFill>
                  <a:srgbClr val="CFDCE8"/>
                </a:solidFill>
                <a:latin typeface="Segoe UI" pitchFamily="34" charset="0"/>
                <a:ea typeface="Segoe UI" pitchFamily="34" charset="-122"/>
                <a:cs typeface="Segoe UI" pitchFamily="34" charset="-120"/>
              </a:rPr>
              <a:t>public code, re-runs in ~24 s</a:t>
            </a:r>
            <a:endParaRPr lang="en-US" sz="1200" dirty="0"/>
          </a:p>
        </p:txBody>
      </p:sp>
      <p:sp>
        <p:nvSpPr>
          <p:cNvPr id="20" name="a6float_ask"/>
          <p:cNvSpPr/>
          <p:nvPr/>
        </p:nvSpPr>
        <p:spPr>
          <a:xfrm>
            <a:off x="731520" y="4800600"/>
            <a:ext cx="10716768" cy="868680"/>
          </a:xfrm>
          <a:prstGeom prst="roundRect">
            <a:avLst>
              <a:gd name="adj" fmla="val 14737"/>
            </a:avLst>
          </a:prstGeom>
          <a:solidFill>
            <a:srgbClr val="BCD3EC">
              <a:alpha val="16000"/>
            </a:srgbClr>
          </a:solidFill>
          <a:ln w="9525">
            <a:solidFill>
              <a:srgbClr val="BCD3EC"/>
            </a:solidFill>
            <a:prstDash val="solid"/>
          </a:ln>
          <a:effectLst>
            <a:outerShdw blurRad="152400" dist="38100" dir="5400000" algn="bl" rotWithShape="0">
              <a:srgbClr val="1B2B40">
                <a:alpha val="25000"/>
              </a:srgbClr>
            </a:outerShdw>
          </a:effectLst>
        </p:spPr>
        <p:txBody>
          <a:bodyPr/>
          <a:lstStyle/>
          <a:p>
            <a:endParaRPr lang="en-GB"/>
          </a:p>
        </p:txBody>
      </p:sp>
      <p:sp>
        <p:nvSpPr>
          <p:cNvPr id="21" name="a6float_askt"/>
          <p:cNvSpPr txBox="1"/>
          <p:nvPr/>
        </p:nvSpPr>
        <p:spPr>
          <a:xfrm>
            <a:off x="960120" y="4800600"/>
            <a:ext cx="10332720" cy="868680"/>
          </a:xfrm>
          <a:prstGeom prst="rect">
            <a:avLst/>
          </a:prstGeom>
          <a:noFill/>
          <a:ln/>
        </p:spPr>
        <p:txBody>
          <a:bodyPr wrap="square" lIns="0" tIns="0" rIns="0" bIns="0" rtlCol="0" anchor="ctr"/>
          <a:lstStyle/>
          <a:p>
            <a:pPr marL="0" indent="0" algn="l">
              <a:lnSpc>
                <a:spcPct val="105000"/>
              </a:lnSpc>
              <a:buNone/>
            </a:pPr>
            <a:r>
              <a:rPr lang="en-US" sz="1500" b="1" dirty="0">
                <a:solidFill>
                  <a:srgbClr val="E3EDF8"/>
                </a:solidFill>
                <a:latin typeface="Segoe UI" pitchFamily="34" charset="0"/>
                <a:ea typeface="Segoe UI" pitchFamily="34" charset="-122"/>
                <a:cs typeface="Segoe UI" pitchFamily="34" charset="-120"/>
              </a:rPr>
              <a:t>Next: from PoC to an MVP on GIQ.  </a:t>
            </a:r>
            <a:r>
              <a:rPr lang="en-US" sz="1500" dirty="0">
                <a:solidFill>
                  <a:srgbClr val="FFFFFF"/>
                </a:solidFill>
                <a:latin typeface="Segoe UI" pitchFamily="34" charset="0"/>
                <a:ea typeface="Segoe UI" pitchFamily="34" charset="-122"/>
                <a:cs typeface="Segoe UI" pitchFamily="34" charset="-120"/>
              </a:rPr>
              <a:t>In incubation: publish on the GIQ marketplace, pilot with a Gulf agency in Abu Dhabi or Bahrain, add Satellite 813 scenes and recovery tracking.</a:t>
            </a:r>
            <a:endParaRPr lang="en-US" sz="1500" dirty="0"/>
          </a:p>
        </p:txBody>
      </p:sp>
      <p:sp>
        <p:nvSpPr>
          <p:cNvPr id="22" name="a7fade_links"/>
          <p:cNvSpPr txBox="1"/>
          <p:nvPr/>
        </p:nvSpPr>
        <p:spPr>
          <a:xfrm>
            <a:off x="731520" y="5897880"/>
            <a:ext cx="8229600" cy="320040"/>
          </a:xfrm>
          <a:prstGeom prst="rect">
            <a:avLst/>
          </a:prstGeom>
          <a:noFill/>
          <a:ln/>
        </p:spPr>
        <p:txBody>
          <a:bodyPr wrap="square" lIns="0" tIns="0" rIns="0" bIns="0" rtlCol="0" anchor="t"/>
          <a:lstStyle/>
          <a:p>
            <a:pPr marL="0" indent="0" algn="l">
              <a:lnSpc>
                <a:spcPct val="105000"/>
              </a:lnSpc>
              <a:buNone/>
            </a:pPr>
            <a:r>
              <a:rPr lang="en-US" sz="1300" dirty="0">
                <a:solidFill>
                  <a:srgbClr val="D5E2F0"/>
                </a:solidFill>
                <a:latin typeface="Segoe UI" pitchFamily="34" charset="0"/>
                <a:ea typeface="Segoe UI" pitchFamily="34" charset="-122"/>
                <a:cs typeface="Segoe UI" pitchFamily="34" charset="-120"/>
              </a:rPr>
              <a:t>nahla-nabil.github.io/blue-carbon-guardian   ·   github.com/Nahla-Nabil/blue-carbon-guardian</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42" presetClass="entr" presetSubtype="0" decel="100000" fill="hold" grpId="0" nodeType="withEffect">
                                  <p:stCondLst>
                                    <p:cond delay="4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anim calcmode="lin" valueType="num">
                                      <p:cBhvr additive="base">
                                        <p:cTn id="11" dur="700" fill="hold"/>
                                        <p:tgtEl>
                                          <p:spTgt spid="6"/>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91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91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11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113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135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13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additive="base">
                                        <p:cTn id="59" dur="700" fill="hold"/>
                                        <p:tgtEl>
                                          <p:spTgt spid="18"/>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13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anim calcmode="lin" valueType="num">
                                      <p:cBhvr additive="base">
                                        <p:cTn id="63" dur="700" fill="hold"/>
                                        <p:tgtEl>
                                          <p:spTgt spid="19"/>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157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additive="base">
                                        <p:cTn id="67" dur="700" fill="hold"/>
                                        <p:tgtEl>
                                          <p:spTgt spid="20"/>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15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700"/>
                                        <p:tgtEl>
                                          <p:spTgt spid="21"/>
                                        </p:tgtEl>
                                      </p:cBhvr>
                                    </p:animEffect>
                                    <p:anim calcmode="lin" valueType="num">
                                      <p:cBhvr additive="base">
                                        <p:cTn id="71" dur="700" fill="hold"/>
                                        <p:tgtEl>
                                          <p:spTgt spid="21"/>
                                        </p:tgtEl>
                                        <p:attrNameLst>
                                          <p:attrName>ppt_y</p:attrName>
                                        </p:attrNameLst>
                                      </p:cBhvr>
                                      <p:tavLst>
                                        <p:tav tm="0">
                                          <p:val>
                                            <p:strVal val="#ppt_y+0.03"/>
                                          </p:val>
                                        </p:tav>
                                        <p:tav tm="100000">
                                          <p:val>
                                            <p:strVal val="#ppt_y"/>
                                          </p:val>
                                        </p:tav>
                                      </p:tavLst>
                                    </p:anim>
                                  </p:childTnLst>
                                </p:cTn>
                              </p:par>
                              <p:par>
                                <p:cTn id="72" presetID="10" presetClass="entr" presetSubtype="0" decel="100000" fill="hold" grpId="0" nodeType="withEffect">
                                  <p:stCondLst>
                                    <p:cond delay="179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low1" descr="image.png"/>
          <p:cNvPicPr>
            <a:picLocks noChangeAspect="1"/>
          </p:cNvPicPr>
          <p:nvPr/>
        </p:nvPicPr>
        <p:blipFill>
          <a:blip r:embed="rId3"/>
          <a:stretch>
            <a:fillRect/>
          </a:stretch>
        </p:blipFill>
        <p:spPr>
          <a:xfrm>
            <a:off x="-2377440" y="-2011680"/>
            <a:ext cx="5943600" cy="5943600"/>
          </a:xfrm>
          <a:prstGeom prst="rect">
            <a:avLst/>
          </a:prstGeom>
        </p:spPr>
      </p:pic>
      <p:pic>
        <p:nvPicPr>
          <p:cNvPr id="3" name="!!glow2" descr="image.png"/>
          <p:cNvPicPr>
            <a:picLocks noChangeAspect="1"/>
          </p:cNvPicPr>
          <p:nvPr/>
        </p:nvPicPr>
        <p:blipFill>
          <a:blip r:embed="rId4"/>
          <a:stretch>
            <a:fillRect/>
          </a:stretch>
        </p:blipFill>
        <p:spPr>
          <a:xfrm>
            <a:off x="8138160" y="3108960"/>
            <a:ext cx="5943600" cy="5943600"/>
          </a:xfrm>
          <a:prstGeom prst="rect">
            <a:avLst/>
          </a:prstGeom>
        </p:spPr>
      </p:pic>
      <p:sp>
        <p:nvSpPr>
          <p:cNvPr id="4" name="TextBox 3"/>
          <p:cNvSpPr txBox="1"/>
          <p:nvPr/>
        </p:nvSpPr>
        <p:spPr>
          <a:xfrm>
            <a:off x="548640" y="384048"/>
            <a:ext cx="9000000" cy="330000"/>
          </a:xfrm>
          <a:prstGeom prst="rect">
            <a:avLst/>
          </a:prstGeom>
          <a:noFill/>
        </p:spPr>
        <p:txBody>
          <a:bodyPr wrap="square">
            <a:spAutoFit/>
          </a:bodyPr>
          <a:lstStyle/>
          <a:p>
            <a:pPr algn="l"/>
            <a:r>
              <a:rPr sz="1300" b="1">
                <a:solidFill>
                  <a:srgbClr val="3F6E9E"/>
                </a:solidFill>
                <a:latin typeface="Segoe UI"/>
              </a:rPr>
              <a:t>B A H R A I N   S P A C E   A G E N C Y</a:t>
            </a:r>
          </a:p>
        </p:txBody>
      </p:sp>
      <p:sp>
        <p:nvSpPr>
          <p:cNvPr id="5" name="TextBox 4"/>
          <p:cNvSpPr txBox="1"/>
          <p:nvPr/>
        </p:nvSpPr>
        <p:spPr>
          <a:xfrm>
            <a:off x="548640" y="713232"/>
            <a:ext cx="11000000" cy="707886"/>
          </a:xfrm>
          <a:prstGeom prst="rect">
            <a:avLst/>
          </a:prstGeom>
          <a:noFill/>
        </p:spPr>
        <p:txBody>
          <a:bodyPr wrap="square">
            <a:spAutoFit/>
          </a:bodyPr>
          <a:lstStyle/>
          <a:p>
            <a:pPr algn="l"/>
            <a:r>
              <a:rPr sz="4000" b="0">
                <a:solidFill>
                  <a:srgbClr val="1B2B40"/>
                </a:solidFill>
                <a:latin typeface="Segoe UI Semibold"/>
              </a:rPr>
              <a:t>Expert Evaluation and Feedback</a:t>
            </a:r>
          </a:p>
        </p:txBody>
      </p:sp>
      <p:sp>
        <p:nvSpPr>
          <p:cNvPr id="6" name="Rounded Rectangle 5"/>
          <p:cNvSpPr/>
          <p:nvPr/>
        </p:nvSpPr>
        <p:spPr>
          <a:xfrm>
            <a:off x="640000" y="1900000"/>
            <a:ext cx="6300000" cy="2850000"/>
          </a:xfrm>
          <a:prstGeom prst="roundRect">
            <a:avLst>
              <a:gd name="adj" fmla="val 6000"/>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9.png"/>
          <p:cNvPicPr>
            <a:picLocks noChangeAspect="1"/>
          </p:cNvPicPr>
          <p:nvPr/>
        </p:nvPicPr>
        <p:blipFill>
          <a:blip r:embed="rId5"/>
          <a:stretch>
            <a:fillRect/>
          </a:stretch>
        </p:blipFill>
        <p:spPr>
          <a:xfrm>
            <a:off x="940000" y="2150000"/>
            <a:ext cx="5700000" cy="1849735"/>
          </a:xfrm>
          <a:prstGeom prst="rect">
            <a:avLst/>
          </a:prstGeom>
        </p:spPr>
      </p:pic>
      <p:pic>
        <p:nvPicPr>
          <p:cNvPr id="19" name="Picture 18" descr="image.png"/>
          <p:cNvPicPr>
            <a:picLocks noChangeAspect="1"/>
          </p:cNvPicPr>
          <p:nvPr/>
        </p:nvPicPr>
        <p:blipFill>
          <a:blip r:embed="rId6"/>
          <a:stretch>
            <a:fillRect/>
          </a:stretch>
        </p:blipFill>
        <p:spPr>
          <a:xfrm>
            <a:off x="11273640" y="327760"/>
            <a:ext cx="549999" cy="330000"/>
          </a:xfrm>
          <a:prstGeom prst="rect">
            <a:avLst/>
          </a:prstGeom>
        </p:spPr>
      </p:pic>
      <p:sp>
        <p:nvSpPr>
          <p:cNvPr id="21" name="TextBox 20"/>
          <p:cNvSpPr txBox="1"/>
          <p:nvPr/>
        </p:nvSpPr>
        <p:spPr>
          <a:xfrm>
            <a:off x="7400000" y="1900000"/>
            <a:ext cx="4250000" cy="400000"/>
          </a:xfrm>
          <a:prstGeom prst="rect">
            <a:avLst/>
          </a:prstGeom>
          <a:noFill/>
        </p:spPr>
        <p:txBody>
          <a:bodyPr wrap="square">
            <a:spAutoFit/>
          </a:bodyPr>
          <a:lstStyle/>
          <a:p>
            <a:pPr algn="l"/>
            <a:r>
              <a:rPr sz="1200" b="1" i="0">
                <a:solidFill>
                  <a:srgbClr val="3F6E9E"/>
                </a:solidFill>
                <a:latin typeface="Segoe UI"/>
              </a:rPr>
              <a:t>O F F I C I A L   S T A T E M E N T</a:t>
            </a:r>
          </a:p>
        </p:txBody>
      </p:sp>
      <p:sp>
        <p:nvSpPr>
          <p:cNvPr id="22" name="bsa_quote_box"/>
          <p:cNvSpPr/>
          <p:nvPr/>
        </p:nvSpPr>
        <p:spPr>
          <a:xfrm>
            <a:off x="7400000" y="2350000"/>
            <a:ext cx="4250000" cy="2450000"/>
          </a:xfrm>
          <a:prstGeom prst="wedgeRoundRectCallout">
            <a:avLst>
              <a:gd name="adj1" fmla="val -56999"/>
              <a:gd name="adj2" fmla="val -5000"/>
              <a:gd name="adj3" fmla="val 16667"/>
            </a:avLst>
          </a:prstGeom>
          <a:solidFill>
            <a:srgbClr val="FFFFFF"/>
          </a:solidFill>
          <a:ln w="12700">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50000" y="2380000"/>
            <a:ext cx="800000" cy="700000"/>
          </a:xfrm>
          <a:prstGeom prst="rect">
            <a:avLst/>
          </a:prstGeom>
          <a:noFill/>
        </p:spPr>
        <p:txBody>
          <a:bodyPr wrap="square">
            <a:spAutoFit/>
          </a:bodyPr>
          <a:lstStyle/>
          <a:p>
            <a:pPr algn="l"/>
            <a:r>
              <a:rPr sz="6000" b="1" i="0">
                <a:solidFill>
                  <a:srgbClr val="CE1126"/>
                </a:solidFill>
                <a:latin typeface="Georgia"/>
              </a:rPr>
              <a:t>“</a:t>
            </a:r>
          </a:p>
        </p:txBody>
      </p:sp>
      <p:sp>
        <p:nvSpPr>
          <p:cNvPr id="24" name="bsa_quote_text"/>
          <p:cNvSpPr txBox="1"/>
          <p:nvPr/>
        </p:nvSpPr>
        <p:spPr>
          <a:xfrm>
            <a:off x="7700000" y="2850000"/>
            <a:ext cx="3700000" cy="1450000"/>
          </a:xfrm>
          <a:prstGeom prst="rect">
            <a:avLst/>
          </a:prstGeom>
          <a:noFill/>
        </p:spPr>
        <p:txBody>
          <a:bodyPr wrap="square">
            <a:spAutoFit/>
          </a:bodyPr>
          <a:lstStyle/>
          <a:p>
            <a:pPr algn="l"/>
            <a:r>
              <a:rPr sz="1050" b="0" i="1">
                <a:solidFill>
                  <a:srgbClr val="2E3E52"/>
                </a:solidFill>
                <a:latin typeface="Segoe UI"/>
              </a:rPr>
              <a:t>The Bahrain Space Agency commends Ms. Nahla Nabil for presenting Blue Carbon Guardian, an innovative project using Earth Observation data to monitor regional mangrove ecosystems. The Agency provided specialised assessment and technical feedback, reaffirming its commitment to supporting research and innovation that advance Bahrain's environmental objectives and sustainability goals.</a:t>
            </a:r>
          </a:p>
        </p:txBody>
      </p:sp>
      <p:sp>
        <p:nvSpPr>
          <p:cNvPr id="25" name="bsa_quote_author"/>
          <p:cNvSpPr txBox="1"/>
          <p:nvPr/>
        </p:nvSpPr>
        <p:spPr>
          <a:xfrm>
            <a:off x="7700000" y="4060000"/>
            <a:ext cx="3700000" cy="500000"/>
          </a:xfrm>
          <a:prstGeom prst="rect">
            <a:avLst/>
          </a:prstGeom>
          <a:noFill/>
        </p:spPr>
        <p:txBody>
          <a:bodyPr wrap="square">
            <a:spAutoFit/>
          </a:bodyPr>
          <a:lstStyle/>
          <a:p>
            <a:pPr algn="l"/>
            <a:r>
              <a:rPr sz="1200" b="1" i="0">
                <a:solidFill>
                  <a:srgbClr val="1B2B40"/>
                </a:solidFill>
                <a:latin typeface="Segoe UI"/>
              </a:rPr>
              <a:t>— Bahrain Space Agency, official statement</a:t>
            </a:r>
          </a:p>
        </p:txBody>
      </p:sp>
      <p:sp>
        <p:nvSpPr>
          <p:cNvPr id="27" name="TextBox 26"/>
          <p:cNvSpPr txBox="1"/>
          <p:nvPr/>
        </p:nvSpPr>
        <p:spPr>
          <a:xfrm>
            <a:off x="940000" y="4000000"/>
            <a:ext cx="5700000" cy="330000"/>
          </a:xfrm>
          <a:prstGeom prst="rect">
            <a:avLst/>
          </a:prstGeom>
          <a:noFill/>
        </p:spPr>
        <p:txBody>
          <a:bodyPr wrap="square">
            <a:spAutoFit/>
          </a:bodyPr>
          <a:lstStyle/>
          <a:p>
            <a:pPr algn="ctr"/>
            <a:r>
              <a:rPr sz="1600" b="1">
                <a:solidFill>
                  <a:srgbClr val="1B2B40"/>
                </a:solidFill>
                <a:latin typeface="Segoe UI"/>
              </a:rPr>
              <a:t>Specialised assessment and technical feedback</a:t>
            </a:r>
          </a:p>
        </p:txBody>
      </p:sp>
      <p:sp>
        <p:nvSpPr>
          <p:cNvPr id="28" name="TextBox 27"/>
          <p:cNvSpPr txBox="1"/>
          <p:nvPr/>
        </p:nvSpPr>
        <p:spPr>
          <a:xfrm>
            <a:off x="940000" y="4370000"/>
            <a:ext cx="5700000" cy="300000"/>
          </a:xfrm>
          <a:prstGeom prst="rect">
            <a:avLst/>
          </a:prstGeom>
          <a:noFill/>
        </p:spPr>
        <p:txBody>
          <a:bodyPr wrap="square">
            <a:spAutoFit/>
          </a:bodyPr>
          <a:lstStyle/>
          <a:p>
            <a:pPr algn="ctr"/>
            <a:r>
              <a:rPr sz="1300" b="0">
                <a:solidFill>
                  <a:srgbClr val="5A6B80"/>
                </a:solidFill>
                <a:latin typeface="Segoe UI"/>
              </a:rPr>
              <a:t>for research that advances Bahrain's environmental goals</a:t>
            </a:r>
          </a:p>
        </p:txBody>
      </p:sp>
      <p:sp>
        <p:nvSpPr>
          <p:cNvPr id="29" name="TextBox 28"/>
          <p:cNvSpPr txBox="1"/>
          <p:nvPr/>
        </p:nvSpPr>
        <p:spPr>
          <a:xfrm>
            <a:off x="640000" y="4880000"/>
            <a:ext cx="11000000" cy="330000"/>
          </a:xfrm>
          <a:prstGeom prst="rect">
            <a:avLst/>
          </a:prstGeom>
          <a:noFill/>
        </p:spPr>
        <p:txBody>
          <a:bodyPr wrap="square">
            <a:spAutoFit/>
          </a:bodyPr>
          <a:lstStyle/>
          <a:p>
            <a:pPr algn="l"/>
            <a:r>
              <a:rPr sz="1100" b="1">
                <a:solidFill>
                  <a:srgbClr val="3F6E9E"/>
                </a:solidFill>
                <a:latin typeface="Segoe UI"/>
              </a:rPr>
              <a:t>P O T E N T I A L   A D O P T E R S   I N   B A H R A I N   ·   supporting the national pledge to quadruple mangroves by 2035</a:t>
            </a:r>
          </a:p>
        </p:txBody>
      </p:sp>
      <p:sp>
        <p:nvSpPr>
          <p:cNvPr id="30" name="Rounded Rectangle 29"/>
          <p:cNvSpPr/>
          <p:nvPr/>
        </p:nvSpPr>
        <p:spPr>
          <a:xfrm>
            <a:off x="640000" y="5500000"/>
            <a:ext cx="3550000" cy="800000"/>
          </a:xfrm>
          <a:prstGeom prst="roundRect">
            <a:avLst>
              <a:gd name="adj" fmla="val 12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0000" y="5500000"/>
            <a:ext cx="60000" cy="800000"/>
          </a:xfrm>
          <a:prstGeom prst="rect">
            <a:avLst/>
          </a:prstGeom>
          <a:solidFill>
            <a:srgbClr val="CE11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0000" y="5550000"/>
            <a:ext cx="2700000" cy="330000"/>
          </a:xfrm>
          <a:prstGeom prst="rect">
            <a:avLst/>
          </a:prstGeom>
          <a:noFill/>
        </p:spPr>
        <p:txBody>
          <a:bodyPr wrap="square">
            <a:spAutoFit/>
          </a:bodyPr>
          <a:lstStyle/>
          <a:p>
            <a:pPr algn="l"/>
            <a:r>
              <a:rPr sz="1200" b="1">
                <a:solidFill>
                  <a:srgbClr val="1B2B40"/>
                </a:solidFill>
                <a:latin typeface="Segoe UI"/>
              </a:rPr>
              <a:t>Supreme Council for Environment</a:t>
            </a:r>
          </a:p>
        </p:txBody>
      </p:sp>
      <p:sp>
        <p:nvSpPr>
          <p:cNvPr id="33" name="TextBox 32"/>
          <p:cNvSpPr txBox="1"/>
          <p:nvPr/>
        </p:nvSpPr>
        <p:spPr>
          <a:xfrm>
            <a:off x="820000" y="5870000"/>
            <a:ext cx="2700000" cy="330000"/>
          </a:xfrm>
          <a:prstGeom prst="rect">
            <a:avLst/>
          </a:prstGeom>
          <a:noFill/>
        </p:spPr>
        <p:txBody>
          <a:bodyPr wrap="square">
            <a:spAutoFit/>
          </a:bodyPr>
          <a:lstStyle/>
          <a:p>
            <a:pPr algn="l"/>
            <a:r>
              <a:rPr sz="1100" b="0">
                <a:solidFill>
                  <a:srgbClr val="5A6B80"/>
                </a:solidFill>
                <a:latin typeface="Segoe UI"/>
              </a:rPr>
              <a:t>tracking the national mangrove target</a:t>
            </a:r>
          </a:p>
        </p:txBody>
      </p:sp>
      <p:sp>
        <p:nvSpPr>
          <p:cNvPr id="34" name="Rounded Rectangle 33"/>
          <p:cNvSpPr/>
          <p:nvPr/>
        </p:nvSpPr>
        <p:spPr>
          <a:xfrm>
            <a:off x="4340000" y="5500000"/>
            <a:ext cx="3550000" cy="800000"/>
          </a:xfrm>
          <a:prstGeom prst="roundRect">
            <a:avLst>
              <a:gd name="adj" fmla="val 12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40000" y="5500000"/>
            <a:ext cx="60000" cy="800000"/>
          </a:xfrm>
          <a:prstGeom prst="rect">
            <a:avLst/>
          </a:prstGeom>
          <a:solidFill>
            <a:srgbClr val="CE11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20000" y="5550000"/>
            <a:ext cx="2500000" cy="330000"/>
          </a:xfrm>
          <a:prstGeom prst="rect">
            <a:avLst/>
          </a:prstGeom>
          <a:noFill/>
        </p:spPr>
        <p:txBody>
          <a:bodyPr wrap="square">
            <a:spAutoFit/>
          </a:bodyPr>
          <a:lstStyle/>
          <a:p>
            <a:pPr algn="l"/>
            <a:r>
              <a:rPr sz="1200" b="1">
                <a:solidFill>
                  <a:srgbClr val="1B2B40"/>
                </a:solidFill>
                <a:latin typeface="Segoe UI"/>
              </a:rPr>
              <a:t>Municipalities &amp; Agriculture</a:t>
            </a:r>
          </a:p>
        </p:txBody>
      </p:sp>
      <p:sp>
        <p:nvSpPr>
          <p:cNvPr id="37" name="TextBox 36"/>
          <p:cNvSpPr txBox="1"/>
          <p:nvPr/>
        </p:nvSpPr>
        <p:spPr>
          <a:xfrm>
            <a:off x="4520000" y="5870000"/>
            <a:ext cx="2500000" cy="330000"/>
          </a:xfrm>
          <a:prstGeom prst="rect">
            <a:avLst/>
          </a:prstGeom>
          <a:noFill/>
        </p:spPr>
        <p:txBody>
          <a:bodyPr wrap="square">
            <a:spAutoFit/>
          </a:bodyPr>
          <a:lstStyle/>
          <a:p>
            <a:pPr algn="l"/>
            <a:r>
              <a:rPr sz="1100" b="0">
                <a:solidFill>
                  <a:srgbClr val="5A6B80"/>
                </a:solidFill>
                <a:latin typeface="Segoe UI"/>
              </a:rPr>
              <a:t>planting and coastal permits</a:t>
            </a:r>
          </a:p>
        </p:txBody>
      </p:sp>
      <p:sp>
        <p:nvSpPr>
          <p:cNvPr id="38" name="Rounded Rectangle 37"/>
          <p:cNvSpPr/>
          <p:nvPr/>
        </p:nvSpPr>
        <p:spPr>
          <a:xfrm>
            <a:off x="8040000" y="5500000"/>
            <a:ext cx="3550000" cy="800000"/>
          </a:xfrm>
          <a:prstGeom prst="roundRect">
            <a:avLst>
              <a:gd name="adj" fmla="val 12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40000" y="5500000"/>
            <a:ext cx="60000" cy="800000"/>
          </a:xfrm>
          <a:prstGeom prst="rect">
            <a:avLst/>
          </a:prstGeom>
          <a:solidFill>
            <a:srgbClr val="CE11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0000" y="5550000"/>
            <a:ext cx="2250000" cy="330000"/>
          </a:xfrm>
          <a:prstGeom prst="rect">
            <a:avLst/>
          </a:prstGeom>
          <a:noFill/>
        </p:spPr>
        <p:txBody>
          <a:bodyPr wrap="square">
            <a:spAutoFit/>
          </a:bodyPr>
          <a:lstStyle/>
          <a:p>
            <a:pPr algn="l"/>
            <a:r>
              <a:rPr sz="1200" b="1">
                <a:solidFill>
                  <a:srgbClr val="1B2B40"/>
                </a:solidFill>
                <a:latin typeface="Segoe UI"/>
              </a:rPr>
              <a:t>Universities</a:t>
            </a:r>
          </a:p>
        </p:txBody>
      </p:sp>
      <p:sp>
        <p:nvSpPr>
          <p:cNvPr id="41" name="TextBox 40"/>
          <p:cNvSpPr txBox="1"/>
          <p:nvPr/>
        </p:nvSpPr>
        <p:spPr>
          <a:xfrm>
            <a:off x="8220000" y="5870000"/>
            <a:ext cx="2250000" cy="330000"/>
          </a:xfrm>
          <a:prstGeom prst="rect">
            <a:avLst/>
          </a:prstGeom>
          <a:noFill/>
        </p:spPr>
        <p:txBody>
          <a:bodyPr wrap="square">
            <a:spAutoFit/>
          </a:bodyPr>
          <a:lstStyle/>
          <a:p>
            <a:pPr algn="l"/>
            <a:r>
              <a:rPr sz="1100" b="0">
                <a:solidFill>
                  <a:srgbClr val="5A6B80"/>
                </a:solidFill>
                <a:latin typeface="Segoe UI"/>
              </a:rPr>
              <a:t>Earth-observation research</a:t>
            </a:r>
          </a:p>
        </p:txBody>
      </p:sp>
      <p:pic>
        <p:nvPicPr>
          <p:cNvPr id="42" name="logo_aou" descr="AOU-Logo11.png"/>
          <p:cNvPicPr>
            <a:picLocks noChangeAspect="1"/>
          </p:cNvPicPr>
          <p:nvPr/>
        </p:nvPicPr>
        <p:blipFill>
          <a:blip r:embed="rId7"/>
          <a:stretch>
            <a:fillRect/>
          </a:stretch>
        </p:blipFill>
        <p:spPr>
          <a:xfrm>
            <a:off x="10450000" y="5620000"/>
            <a:ext cx="1102500" cy="560000"/>
          </a:xfrm>
          <a:prstGeom prst="rect">
            <a:avLst/>
          </a:prstGeom>
        </p:spPr>
      </p:pic>
      <p:sp>
        <p:nvSpPr>
          <p:cNvPr id="43" name="bh_small_note"/>
          <p:cNvSpPr txBox="1"/>
          <p:nvPr/>
        </p:nvSpPr>
        <p:spPr>
          <a:xfrm>
            <a:off x="640000" y="5150000"/>
            <a:ext cx="11000000" cy="280000"/>
          </a:xfrm>
          <a:prstGeom prst="rect">
            <a:avLst/>
          </a:prstGeom>
          <a:noFill/>
        </p:spPr>
        <p:txBody>
          <a:bodyPr wrap="square">
            <a:spAutoFit/>
          </a:bodyPr>
          <a:lstStyle/>
          <a:p>
            <a:pPr algn="l"/>
            <a:r>
              <a:rPr sz="1100" b="0" i="1">
                <a:solidFill>
                  <a:srgbClr val="5A6B80"/>
                </a:solidFill>
                <a:latin typeface="Segoe UI"/>
              </a:rPr>
              <a:t>Bahrain's mangrove stands are smaller than Abu Dhabi's: monitoring them needs higher-resolution imagery than open data (10 m) provides.</a:t>
            </a:r>
          </a:p>
        </p:txBody>
      </p:sp>
      <p:pic>
        <p:nvPicPr>
          <p:cNvPr id="44" name="logo_sce" descr="logo_sce.png"/>
          <p:cNvPicPr>
            <a:picLocks noChangeAspect="1"/>
          </p:cNvPicPr>
          <p:nvPr/>
        </p:nvPicPr>
        <p:blipFill>
          <a:blip r:embed="rId8"/>
          <a:stretch>
            <a:fillRect/>
          </a:stretch>
        </p:blipFill>
        <p:spPr>
          <a:xfrm>
            <a:off x="3570308" y="5600000"/>
            <a:ext cx="509693" cy="600000"/>
          </a:xfrm>
          <a:prstGeom prst="rect">
            <a:avLst/>
          </a:prstGeom>
        </p:spPr>
      </p:pic>
      <p:pic>
        <p:nvPicPr>
          <p:cNvPr id="45" name="logo_mma" descr="logo_mma.png"/>
          <p:cNvPicPr>
            <a:picLocks noChangeAspect="1"/>
          </p:cNvPicPr>
          <p:nvPr/>
        </p:nvPicPr>
        <p:blipFill>
          <a:blip r:embed="rId9"/>
          <a:stretch>
            <a:fillRect/>
          </a:stretch>
        </p:blipFill>
        <p:spPr>
          <a:xfrm>
            <a:off x="6944199" y="5590000"/>
            <a:ext cx="835801" cy="620000"/>
          </a:xfrm>
          <a:prstGeom prst="rect">
            <a:avLst/>
          </a:prstGeom>
        </p:spPr>
      </p:pic>
      <p:sp>
        <p:nvSpPr>
          <p:cNvPr id="46" name="bsa_meeting"/>
          <p:cNvSpPr txBox="1"/>
          <p:nvPr/>
        </p:nvSpPr>
        <p:spPr>
          <a:xfrm>
            <a:off x="7700000" y="4300000"/>
            <a:ext cx="3750000" cy="369332"/>
          </a:xfrm>
          <a:prstGeom prst="rect">
            <a:avLst/>
          </a:prstGeom>
          <a:noFill/>
        </p:spPr>
        <p:txBody>
          <a:bodyPr wrap="square">
            <a:spAutoFit/>
          </a:bodyPr>
          <a:lstStyle/>
          <a:p>
            <a:pPr algn="l"/>
            <a:r>
              <a:rPr sz="850" b="0" i="0">
                <a:solidFill>
                  <a:srgbClr val="5A6B80"/>
                </a:solidFill>
                <a:latin typeface="Segoe UI"/>
              </a:rPr>
              <a:t>Meeting and written feedback, 26 Oct 2026 ·</a:t>
            </a:r>
            <a:endParaRPr lang="en-GB" sz="900" b="0" i="0">
              <a:solidFill>
                <a:srgbClr val="5A6B80"/>
              </a:solidFill>
              <a:latin typeface="Segoe UI"/>
            </a:endParaRPr>
          </a:p>
          <a:p>
            <a:pPr algn="l"/>
            <a:r>
              <a:rPr lang="en-GB" sz="850" b="0" i="0">
                <a:solidFill>
                  <a:srgbClr val="5A6B80"/>
                </a:solidFill>
                <a:latin typeface="Segoe UI"/>
              </a:rPr>
              <a:t>Eng. Roaya Bubshait, Head of Satellite Images &amp; Data Analysis,</a:t>
            </a:r>
          </a:p>
          <a:p>
            <a:pPr algn="l"/>
            <a:r>
              <a:rPr lang="en-GB" sz="850" b="0" i="0">
                <a:solidFill>
                  <a:srgbClr val="5A6B80"/>
                </a:solidFill>
                <a:latin typeface="Segoe UI"/>
              </a:rPr>
              <a:t>with Eng. Aysha Aljawder, Eng. Aysha Almahmeed and Eng. Suad Khalifa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6949440" y="-2560320"/>
            <a:ext cx="6858000" cy="68580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560320" y="2926080"/>
            <a:ext cx="6858000" cy="6858000"/>
          </a:xfrm>
          <a:prstGeom prst="rect">
            <a:avLst/>
          </a:prstGeom>
        </p:spPr>
      </p:pic>
      <p:sp>
        <p:nvSpPr>
          <p:cNvPr id="5" name="a1zoom_flagbg"/>
          <p:cNvSpPr/>
          <p:nvPr/>
        </p:nvSpPr>
        <p:spPr>
          <a:xfrm>
            <a:off x="676656" y="1024128"/>
            <a:ext cx="2670048" cy="1353312"/>
          </a:xfrm>
          <a:prstGeom prst="roundRect">
            <a:avLst>
              <a:gd name="adj" fmla="val 4054"/>
            </a:avLst>
          </a:prstGeom>
          <a:solidFill>
            <a:srgbClr val="FFFFFF"/>
          </a:solidFill>
          <a:ln/>
          <a:effectLst>
            <a:outerShdw blurRad="152400" dist="38100" dir="5400000" algn="bl" rotWithShape="0">
              <a:srgbClr val="1B2B40">
                <a:alpha val="25000"/>
              </a:srgbClr>
            </a:outerShdw>
          </a:effectLst>
        </p:spPr>
        <p:txBody>
          <a:bodyPr/>
          <a:lstStyle/>
          <a:p>
            <a:endParaRPr lang="en-GB"/>
          </a:p>
        </p:txBody>
      </p:sp>
      <p:pic>
        <p:nvPicPr>
          <p:cNvPr id="6" name="a1zoom_flag" descr="C:\Users\nahla\Desktop\UAE-Space-Hackatoon\deck_pptx\flag_ae.png"/>
          <p:cNvPicPr>
            <a:picLocks noChangeAspect="1"/>
          </p:cNvPicPr>
          <p:nvPr/>
        </p:nvPicPr>
        <p:blipFill>
          <a:blip r:embed="rId5"/>
          <a:stretch>
            <a:fillRect/>
          </a:stretch>
        </p:blipFill>
        <p:spPr>
          <a:xfrm>
            <a:off x="731520" y="1078992"/>
            <a:ext cx="2560320" cy="1243584"/>
          </a:xfrm>
          <a:prstGeom prst="rect">
            <a:avLst/>
          </a:prstGeom>
        </p:spPr>
      </p:pic>
      <p:sp>
        <p:nvSpPr>
          <p:cNvPr id="7" name="a2float_ty"/>
          <p:cNvSpPr txBox="1"/>
          <p:nvPr/>
        </p:nvSpPr>
        <p:spPr>
          <a:xfrm>
            <a:off x="3611880" y="896112"/>
            <a:ext cx="7863840" cy="960120"/>
          </a:xfrm>
          <a:prstGeom prst="rect">
            <a:avLst/>
          </a:prstGeom>
          <a:noFill/>
          <a:ln/>
        </p:spPr>
        <p:txBody>
          <a:bodyPr wrap="square" lIns="0" tIns="0" rIns="0" bIns="0" rtlCol="0" anchor="t"/>
          <a:lstStyle/>
          <a:p>
            <a:pPr marL="0" indent="0" algn="l">
              <a:lnSpc>
                <a:spcPct val="105000"/>
              </a:lnSpc>
              <a:buNone/>
            </a:pPr>
            <a:r>
              <a:rPr lang="en-US" sz="6000" dirty="0">
                <a:solidFill>
                  <a:srgbClr val="FFFFFF"/>
                </a:solidFill>
                <a:latin typeface="Segoe UI Semibold" pitchFamily="34" charset="0"/>
                <a:ea typeface="Segoe UI Semibold" pitchFamily="34" charset="-122"/>
                <a:cs typeface="Segoe UI Semibold" pitchFamily="34" charset="-120"/>
              </a:rPr>
              <a:t>Thank you</a:t>
            </a:r>
            <a:endParaRPr lang="en-US" sz="6000" dirty="0"/>
          </a:p>
        </p:txBody>
      </p:sp>
      <p:sp>
        <p:nvSpPr>
          <p:cNvPr id="8" name="a2float_tyar"/>
          <p:cNvSpPr txBox="1"/>
          <p:nvPr/>
        </p:nvSpPr>
        <p:spPr>
          <a:xfrm>
            <a:off x="3639312" y="1810512"/>
            <a:ext cx="7863840" cy="685800"/>
          </a:xfrm>
          <a:prstGeom prst="rect">
            <a:avLst/>
          </a:prstGeom>
          <a:noFill/>
          <a:ln/>
        </p:spPr>
        <p:txBody>
          <a:bodyPr wrap="square" lIns="0" tIns="0" rIns="0" bIns="0" rtlCol="0" anchor="t"/>
          <a:lstStyle/>
          <a:p>
            <a:pPr marL="0" indent="0" algn="l">
              <a:lnSpc>
                <a:spcPct val="105000"/>
              </a:lnSpc>
              <a:buNone/>
            </a:pPr>
            <a:r>
              <a:rPr lang="en-US" sz="3200">
                <a:solidFill>
                  <a:srgbClr val="D4E2EE"/>
                </a:solidFill>
                <a:latin typeface="Segoe UI Semibold" pitchFamily="34" charset="0"/>
                <a:ea typeface="Segoe UI Semibold" pitchFamily="34" charset="-122"/>
                <a:cs typeface="Segoe UI Semibold" pitchFamily="34" charset="-120"/>
              </a:rPr>
              <a:t>شكراً ل</a:t>
            </a:r>
            <a:r>
              <a:rPr lang="ar-BH" sz="3200">
                <a:solidFill>
                  <a:srgbClr val="D4E2EE"/>
                </a:solidFill>
                <a:latin typeface="Segoe UI Semibold" pitchFamily="34" charset="0"/>
                <a:ea typeface="Segoe UI Semibold" pitchFamily="34" charset="-122"/>
                <a:cs typeface="Segoe UI Semibold" pitchFamily="34" charset="-120"/>
              </a:rPr>
              <a:t>دولة ا</a:t>
            </a:r>
            <a:r>
              <a:rPr lang="en-US" sz="3200">
                <a:solidFill>
                  <a:srgbClr val="D4E2EE"/>
                </a:solidFill>
                <a:latin typeface="Segoe UI Semibold" pitchFamily="34" charset="0"/>
                <a:ea typeface="Segoe UI Semibold" pitchFamily="34" charset="-122"/>
                <a:cs typeface="Segoe UI Semibold" pitchFamily="34" charset="-120"/>
              </a:rPr>
              <a:t>لإمارات</a:t>
            </a:r>
            <a:r>
              <a:rPr lang="ar-BH" sz="3200">
                <a:solidFill>
                  <a:srgbClr val="D4E2EE"/>
                </a:solidFill>
                <a:latin typeface="Segoe UI Semibold" pitchFamily="34" charset="0"/>
                <a:ea typeface="Segoe UI Semibold" pitchFamily="34" charset="-122"/>
                <a:cs typeface="Segoe UI Semibold" pitchFamily="34" charset="-120"/>
              </a:rPr>
              <a:t> العربيـة المتحدة</a:t>
            </a:r>
            <a:endParaRPr lang="en-US" sz="3200" dirty="0"/>
          </a:p>
        </p:txBody>
      </p:sp>
      <p:sp>
        <p:nvSpPr>
          <p:cNvPr id="9" name="a3float_uae"/>
          <p:cNvSpPr txBox="1"/>
          <p:nvPr/>
        </p:nvSpPr>
        <p:spPr>
          <a:xfrm>
            <a:off x="731520" y="2880360"/>
            <a:ext cx="10698480" cy="1051560"/>
          </a:xfrm>
          <a:prstGeom prst="rect">
            <a:avLst/>
          </a:prstGeom>
          <a:noFill/>
          <a:ln/>
        </p:spPr>
        <p:txBody>
          <a:bodyPr wrap="square" lIns="0" tIns="0" rIns="0" bIns="0" rtlCol="0" anchor="t"/>
          <a:lstStyle/>
          <a:p>
            <a:pPr marL="0" indent="0" algn="l">
              <a:lnSpc>
                <a:spcPct val="105000"/>
              </a:lnSpc>
              <a:buNone/>
            </a:pPr>
            <a:r>
              <a:rPr lang="en-US" sz="2400" dirty="0">
                <a:solidFill>
                  <a:srgbClr val="FFFFFF"/>
                </a:solidFill>
                <a:latin typeface="Segoe UI Light" pitchFamily="34" charset="0"/>
                <a:ea typeface="Segoe UI Light" pitchFamily="34" charset="-122"/>
                <a:cs typeface="Segoe UI Light" pitchFamily="34" charset="-120"/>
              </a:rPr>
              <a:t>To the </a:t>
            </a:r>
            <a:r>
              <a:rPr lang="en-US" sz="2400" b="1" dirty="0">
                <a:solidFill>
                  <a:srgbClr val="F1D9A0"/>
                </a:solidFill>
                <a:latin typeface="Segoe UI Light" pitchFamily="34" charset="0"/>
                <a:ea typeface="Segoe UI Light" pitchFamily="34" charset="-122"/>
                <a:cs typeface="Segoe UI Light" pitchFamily="34" charset="-120"/>
              </a:rPr>
              <a:t>United </a:t>
            </a:r>
            <a:r>
              <a:rPr lang="en-US" sz="2400" b="1">
                <a:solidFill>
                  <a:srgbClr val="F1D9A0"/>
                </a:solidFill>
                <a:latin typeface="Segoe UI Light" pitchFamily="34" charset="0"/>
                <a:ea typeface="Segoe UI Light" pitchFamily="34" charset="-122"/>
                <a:cs typeface="Segoe UI Light" pitchFamily="34" charset="-120"/>
              </a:rPr>
              <a:t>Arab Emirates</a:t>
            </a:r>
            <a:r>
              <a:rPr lang="en-US" sz="2400">
                <a:solidFill>
                  <a:srgbClr val="FFFFFF"/>
                </a:solidFill>
                <a:latin typeface="Segoe UI Light" pitchFamily="34" charset="0"/>
                <a:ea typeface="Segoe UI Light" pitchFamily="34" charset="-122"/>
                <a:cs typeface="Segoe UI Light" pitchFamily="34" charset="-120"/>
              </a:rPr>
              <a:t> </a:t>
            </a:r>
            <a:r>
              <a:rPr lang="en-US" sz="2400" dirty="0">
                <a:solidFill>
                  <a:srgbClr val="FFFFFF"/>
                </a:solidFill>
                <a:latin typeface="Segoe UI Light" pitchFamily="34" charset="0"/>
                <a:ea typeface="Segoe UI Light" pitchFamily="34" charset="-122"/>
                <a:cs typeface="Segoe UI Light" pitchFamily="34" charset="-120"/>
              </a:rPr>
              <a:t>for leading the region in protecting its mangroves, and for opening space to Arab youth.</a:t>
            </a:r>
            <a:endParaRPr lang="en-US" sz="2400" dirty="0"/>
          </a:p>
        </p:txBody>
      </p:sp>
      <p:sp>
        <p:nvSpPr>
          <p:cNvPr id="10" name="a4float_org"/>
          <p:cNvSpPr/>
          <p:nvPr/>
        </p:nvSpPr>
        <p:spPr>
          <a:xfrm>
            <a:off x="731520" y="4160520"/>
            <a:ext cx="10716768" cy="868680"/>
          </a:xfrm>
          <a:prstGeom prst="roundRect">
            <a:avLst>
              <a:gd name="adj" fmla="val 14737"/>
            </a:avLst>
          </a:prstGeom>
          <a:solidFill>
            <a:srgbClr val="BCD3EC">
              <a:alpha val="16000"/>
            </a:srgbClr>
          </a:solidFill>
          <a:ln w="9525">
            <a:solidFill>
              <a:srgbClr val="BCD3EC"/>
            </a:solidFill>
            <a:prstDash val="solid"/>
          </a:ln>
          <a:effectLst>
            <a:outerShdw blurRad="152400" dist="38100" dir="5400000" algn="bl" rotWithShape="0">
              <a:srgbClr val="1B2B40">
                <a:alpha val="25000"/>
              </a:srgbClr>
            </a:outerShdw>
          </a:effectLst>
        </p:spPr>
        <p:txBody>
          <a:bodyPr/>
          <a:lstStyle/>
          <a:p>
            <a:endParaRPr lang="en-GB"/>
          </a:p>
        </p:txBody>
      </p:sp>
      <p:sp>
        <p:nvSpPr>
          <p:cNvPr id="11" name="a4float_orgt"/>
          <p:cNvSpPr txBox="1"/>
          <p:nvPr/>
        </p:nvSpPr>
        <p:spPr>
          <a:xfrm>
            <a:off x="960120" y="4160520"/>
            <a:ext cx="10332720" cy="868680"/>
          </a:xfrm>
          <a:prstGeom prst="rect">
            <a:avLst/>
          </a:prstGeom>
          <a:noFill/>
          <a:ln/>
        </p:spPr>
        <p:txBody>
          <a:bodyPr wrap="square" lIns="0" tIns="0" rIns="0" bIns="0" rtlCol="0" anchor="ctr"/>
          <a:lstStyle/>
          <a:p>
            <a:pPr marL="0" indent="0" algn="l">
              <a:lnSpc>
                <a:spcPct val="105000"/>
              </a:lnSpc>
              <a:buNone/>
            </a:pPr>
            <a:r>
              <a:rPr lang="en-US" sz="1700" b="1" dirty="0">
                <a:solidFill>
                  <a:srgbClr val="E3EDF8"/>
                </a:solidFill>
                <a:latin typeface="Segoe UI" pitchFamily="34" charset="0"/>
                <a:ea typeface="Segoe UI" pitchFamily="34" charset="-122"/>
                <a:cs typeface="Segoe UI" pitchFamily="34" charset="-120"/>
              </a:rPr>
              <a:t>With thanks to:  </a:t>
            </a:r>
            <a:r>
              <a:rPr lang="en-US" sz="1700" dirty="0">
                <a:solidFill>
                  <a:srgbClr val="FFFFFF"/>
                </a:solidFill>
                <a:latin typeface="Segoe UI" pitchFamily="34" charset="0"/>
                <a:ea typeface="Segoe UI" pitchFamily="34" charset="-122"/>
                <a:cs typeface="Segoe UI" pitchFamily="34" charset="-120"/>
              </a:rPr>
              <a:t>UAE Space Agency  ·  National Space Academy  ·  Space42  ·  the mentors and the judges</a:t>
            </a:r>
            <a:endParaRPr lang="en-US" sz="1700" dirty="0"/>
          </a:p>
        </p:txBody>
      </p:sp>
      <p:pic>
        <p:nvPicPr>
          <p:cNvPr id="12" name="a5fade_fbh" descr="C:\Users\nahla\Desktop\UAE-Space-Hackatoon\deck_pptx\flag_bh.png"/>
          <p:cNvPicPr>
            <a:picLocks noChangeAspect="1"/>
          </p:cNvPicPr>
          <p:nvPr/>
        </p:nvPicPr>
        <p:blipFill>
          <a:blip r:embed="rId6"/>
          <a:stretch>
            <a:fillRect/>
          </a:stretch>
        </p:blipFill>
        <p:spPr>
          <a:xfrm>
            <a:off x="731520" y="5559552"/>
            <a:ext cx="384048" cy="228600"/>
          </a:xfrm>
          <a:prstGeom prst="rect">
            <a:avLst/>
          </a:prstGeom>
        </p:spPr>
      </p:pic>
      <p:sp>
        <p:nvSpPr>
          <p:cNvPr id="13" name="a5fade_from"/>
          <p:cNvSpPr txBox="1"/>
          <p:nvPr/>
        </p:nvSpPr>
        <p:spPr>
          <a:xfrm>
            <a:off x="1207008" y="5468112"/>
            <a:ext cx="8229600" cy="411480"/>
          </a:xfrm>
          <a:prstGeom prst="rect">
            <a:avLst/>
          </a:prstGeom>
          <a:noFill/>
          <a:ln/>
        </p:spPr>
        <p:txBody>
          <a:bodyPr wrap="square" lIns="0" tIns="0" rIns="0" bIns="0" rtlCol="0" anchor="ctr"/>
          <a:lstStyle/>
          <a:p>
            <a:pPr marL="0" indent="0" algn="l">
              <a:lnSpc>
                <a:spcPct val="105000"/>
              </a:lnSpc>
              <a:buNone/>
            </a:pPr>
            <a:r>
              <a:rPr lang="en-US" sz="1400" dirty="0">
                <a:solidFill>
                  <a:srgbClr val="D4E2EE"/>
                </a:solidFill>
                <a:latin typeface="Segoe UI" pitchFamily="34" charset="0"/>
                <a:ea typeface="Segoe UI" pitchFamily="34" charset="-122"/>
                <a:cs typeface="Segoe UI" pitchFamily="34" charset="-120"/>
              </a:rPr>
              <a:t>From Bahrain, with </a:t>
            </a:r>
            <a:r>
              <a:rPr lang="en-US" sz="1400">
                <a:solidFill>
                  <a:srgbClr val="D4E2EE"/>
                </a:solidFill>
                <a:latin typeface="Segoe UI" pitchFamily="34" charset="0"/>
                <a:ea typeface="Segoe UI" pitchFamily="34" charset="-122"/>
                <a:cs typeface="Segoe UI" pitchFamily="34" charset="-120"/>
              </a:rPr>
              <a:t>gratitude  </a:t>
            </a:r>
            <a:r>
              <a:rPr lang="ar-BH" sz="1400">
                <a:solidFill>
                  <a:srgbClr val="D4E2EE"/>
                </a:solidFill>
                <a:latin typeface="Segoe UI" pitchFamily="34" charset="0"/>
                <a:ea typeface="Segoe UI" pitchFamily="34" charset="-122"/>
                <a:cs typeface="Segoe UI" pitchFamily="34" charset="-120"/>
              </a:rPr>
              <a:t>|</a:t>
            </a:r>
            <a:r>
              <a:rPr lang="en-US" sz="1400">
                <a:solidFill>
                  <a:srgbClr val="D4E2EE"/>
                </a:solidFill>
                <a:latin typeface="Segoe UI" pitchFamily="34" charset="0"/>
                <a:ea typeface="Segoe UI" pitchFamily="34" charset="-122"/>
                <a:cs typeface="Segoe UI" pitchFamily="34" charset="-120"/>
              </a:rPr>
              <a:t>  </a:t>
            </a:r>
            <a:r>
              <a:rPr lang="en-US" sz="1400" dirty="0">
                <a:solidFill>
                  <a:srgbClr val="D4E2EE"/>
                </a:solidFill>
                <a:latin typeface="Segoe UI" pitchFamily="34" charset="0"/>
                <a:ea typeface="Segoe UI" pitchFamily="34" charset="-122"/>
                <a:cs typeface="Segoe UI" pitchFamily="34" charset="-120"/>
              </a:rPr>
              <a:t>Nahla Nabil  ·  Team Blue Athar</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decel="100000" fill="hold" grpId="0" nodeType="withEffect">
                                  <p:stCondLst>
                                    <p:cond delay="47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anim calcmode="lin" valueType="num">
                                      <p:cBhvr additive="base">
                                        <p:cTn id="8" dur="800" fill="hold"/>
                                        <p:tgtEl>
                                          <p:spTgt spid="5"/>
                                        </p:tgtEl>
                                        <p:attrNameLst>
                                          <p:attrName>ppt_w</p:attrName>
                                        </p:attrNameLst>
                                      </p:cBhvr>
                                      <p:tavLst>
                                        <p:tav tm="0">
                                          <p:val>
                                            <p:strVal val="#ppt_w*0.85"/>
                                          </p:val>
                                        </p:tav>
                                        <p:tav tm="100000">
                                          <p:val>
                                            <p:strVal val="#ppt_w"/>
                                          </p:val>
                                        </p:tav>
                                      </p:tavLst>
                                    </p:anim>
                                    <p:anim calcmode="lin" valueType="num">
                                      <p:cBhvr additive="base">
                                        <p:cTn id="9" dur="800" fill="hold"/>
                                        <p:tgtEl>
                                          <p:spTgt spid="5"/>
                                        </p:tgtEl>
                                        <p:attrNameLst>
                                          <p:attrName>ppt_h</p:attrName>
                                        </p:attrNameLst>
                                      </p:cBhvr>
                                      <p:tavLst>
                                        <p:tav tm="0">
                                          <p:val>
                                            <p:strVal val="#ppt_h*0.85"/>
                                          </p:val>
                                        </p:tav>
                                        <p:tav tm="100000">
                                          <p:val>
                                            <p:strVal val="#ppt_h"/>
                                          </p:val>
                                        </p:tav>
                                      </p:tavLst>
                                    </p:anim>
                                  </p:childTnLst>
                                </p:cTn>
                              </p:par>
                              <p:par>
                                <p:cTn id="10" presetID="53" presetClass="entr" presetSubtype="16" decel="100000" fill="hold" grpId="0" nodeType="withEffect">
                                  <p:stCondLst>
                                    <p:cond delay="47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700"/>
                                        <p:tgtEl>
                                          <p:spTgt spid="6"/>
                                        </p:tgtEl>
                                      </p:cBhvr>
                                    </p:animEffect>
                                    <p:anim calcmode="lin" valueType="num">
                                      <p:cBhvr additive="base">
                                        <p:cTn id="13" dur="800" fill="hold"/>
                                        <p:tgtEl>
                                          <p:spTgt spid="6"/>
                                        </p:tgtEl>
                                        <p:attrNameLst>
                                          <p:attrName>ppt_w</p:attrName>
                                        </p:attrNameLst>
                                      </p:cBhvr>
                                      <p:tavLst>
                                        <p:tav tm="0">
                                          <p:val>
                                            <p:strVal val="#ppt_w*0.85"/>
                                          </p:val>
                                        </p:tav>
                                        <p:tav tm="100000">
                                          <p:val>
                                            <p:strVal val="#ppt_w"/>
                                          </p:val>
                                        </p:tav>
                                      </p:tavLst>
                                    </p:anim>
                                    <p:anim calcmode="lin" valueType="num">
                                      <p:cBhvr additive="base">
                                        <p:cTn id="14" dur="800" fill="hold"/>
                                        <p:tgtEl>
                                          <p:spTgt spid="6"/>
                                        </p:tgtEl>
                                        <p:attrNameLst>
                                          <p:attrName>ppt_h</p:attrName>
                                        </p:attrNameLst>
                                      </p:cBhvr>
                                      <p:tavLst>
                                        <p:tav tm="0">
                                          <p:val>
                                            <p:strVal val="#ppt_h*0.85"/>
                                          </p:val>
                                        </p:tav>
                                        <p:tav tm="100000">
                                          <p:val>
                                            <p:strVal val="#ppt_h"/>
                                          </p:val>
                                        </p:tav>
                                      </p:tavLst>
                                    </p:anim>
                                  </p:childTnLst>
                                </p:cTn>
                              </p:par>
                              <p:par>
                                <p:cTn id="15" presetID="42" presetClass="entr" presetSubtype="0" decel="100000" fill="hold" grpId="0" nodeType="withEffect">
                                  <p:stCondLst>
                                    <p:cond delay="69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00"/>
                                        <p:tgtEl>
                                          <p:spTgt spid="7"/>
                                        </p:tgtEl>
                                      </p:cBhvr>
                                    </p:animEffect>
                                    <p:anim calcmode="lin" valueType="num">
                                      <p:cBhvr additive="base">
                                        <p:cTn id="18" dur="700" fill="hold"/>
                                        <p:tgtEl>
                                          <p:spTgt spid="7"/>
                                        </p:tgtEl>
                                        <p:attrNameLst>
                                          <p:attrName>ppt_y</p:attrName>
                                        </p:attrNameLst>
                                      </p:cBhvr>
                                      <p:tavLst>
                                        <p:tav tm="0">
                                          <p:val>
                                            <p:strVal val="#ppt_y+0.03"/>
                                          </p:val>
                                        </p:tav>
                                        <p:tav tm="100000">
                                          <p:val>
                                            <p:strVal val="#ppt_y"/>
                                          </p:val>
                                        </p:tav>
                                      </p:tavLst>
                                    </p:anim>
                                  </p:childTnLst>
                                </p:cTn>
                              </p:par>
                              <p:par>
                                <p:cTn id="19" presetID="42" presetClass="entr" presetSubtype="0" decel="100000" fill="hold" grpId="0" nodeType="withEffect">
                                  <p:stCondLst>
                                    <p:cond delay="69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00"/>
                                        <p:tgtEl>
                                          <p:spTgt spid="8"/>
                                        </p:tgtEl>
                                      </p:cBhvr>
                                    </p:animEffect>
                                    <p:anim calcmode="lin" valueType="num">
                                      <p:cBhvr additive="base">
                                        <p:cTn id="22" dur="700" fill="hold"/>
                                        <p:tgtEl>
                                          <p:spTgt spid="8"/>
                                        </p:tgtEl>
                                        <p:attrNameLst>
                                          <p:attrName>ppt_y</p:attrName>
                                        </p:attrNameLst>
                                      </p:cBhvr>
                                      <p:tavLst>
                                        <p:tav tm="0">
                                          <p:val>
                                            <p:strVal val="#ppt_y+0.03"/>
                                          </p:val>
                                        </p:tav>
                                        <p:tav tm="100000">
                                          <p:val>
                                            <p:strVal val="#ppt_y"/>
                                          </p:val>
                                        </p:tav>
                                      </p:tavLst>
                                    </p:anim>
                                  </p:childTnLst>
                                </p:cTn>
                              </p:par>
                              <p:par>
                                <p:cTn id="23" presetID="42" presetClass="entr" presetSubtype="0" decel="100000" fill="hold" grpId="0" nodeType="withEffect">
                                  <p:stCondLst>
                                    <p:cond delay="91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700"/>
                                        <p:tgtEl>
                                          <p:spTgt spid="9"/>
                                        </p:tgtEl>
                                      </p:cBhvr>
                                    </p:animEffect>
                                    <p:anim calcmode="lin" valueType="num">
                                      <p:cBhvr additive="base">
                                        <p:cTn id="26" dur="700" fill="hold"/>
                                        <p:tgtEl>
                                          <p:spTgt spid="9"/>
                                        </p:tgtEl>
                                        <p:attrNameLst>
                                          <p:attrName>ppt_y</p:attrName>
                                        </p:attrNameLst>
                                      </p:cBhvr>
                                      <p:tavLst>
                                        <p:tav tm="0">
                                          <p:val>
                                            <p:strVal val="#ppt_y+0.03"/>
                                          </p:val>
                                        </p:tav>
                                        <p:tav tm="100000">
                                          <p:val>
                                            <p:strVal val="#ppt_y"/>
                                          </p:val>
                                        </p:tav>
                                      </p:tavLst>
                                    </p:anim>
                                  </p:childTnLst>
                                </p:cTn>
                              </p:par>
                              <p:par>
                                <p:cTn id="27" presetID="42" presetClass="entr" presetSubtype="0" decel="100000" fill="hold" grpId="0" nodeType="withEffect">
                                  <p:stCondLst>
                                    <p:cond delay="113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700"/>
                                        <p:tgtEl>
                                          <p:spTgt spid="10"/>
                                        </p:tgtEl>
                                      </p:cBhvr>
                                    </p:animEffect>
                                    <p:anim calcmode="lin" valueType="num">
                                      <p:cBhvr additive="base">
                                        <p:cTn id="30" dur="700" fill="hold"/>
                                        <p:tgtEl>
                                          <p:spTgt spid="10"/>
                                        </p:tgtEl>
                                        <p:attrNameLst>
                                          <p:attrName>ppt_y</p:attrName>
                                        </p:attrNameLst>
                                      </p:cBhvr>
                                      <p:tavLst>
                                        <p:tav tm="0">
                                          <p:val>
                                            <p:strVal val="#ppt_y+0.03"/>
                                          </p:val>
                                        </p:tav>
                                        <p:tav tm="100000">
                                          <p:val>
                                            <p:strVal val="#ppt_y"/>
                                          </p:val>
                                        </p:tav>
                                      </p:tavLst>
                                    </p:anim>
                                  </p:childTnLst>
                                </p:cTn>
                              </p:par>
                              <p:par>
                                <p:cTn id="31" presetID="42" presetClass="entr" presetSubtype="0" decel="100000" fill="hold" grpId="0" nodeType="withEffect">
                                  <p:stCondLst>
                                    <p:cond delay="113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anim calcmode="lin" valueType="num">
                                      <p:cBhvr additive="base">
                                        <p:cTn id="34" dur="700" fill="hold"/>
                                        <p:tgtEl>
                                          <p:spTgt spid="11"/>
                                        </p:tgtEl>
                                        <p:attrNameLst>
                                          <p:attrName>ppt_y</p:attrName>
                                        </p:attrNameLst>
                                      </p:cBhvr>
                                      <p:tavLst>
                                        <p:tav tm="0">
                                          <p:val>
                                            <p:strVal val="#ppt_y+0.03"/>
                                          </p:val>
                                        </p:tav>
                                        <p:tav tm="100000">
                                          <p:val>
                                            <p:strVal val="#ppt_y"/>
                                          </p:val>
                                        </p:tav>
                                      </p:tavLst>
                                    </p:anim>
                                  </p:childTnLst>
                                </p:cTn>
                              </p:par>
                              <p:par>
                                <p:cTn id="35" presetID="10" presetClass="entr" presetSubtype="0" decel="100000" fill="hold" grpId="0" nodeType="withEffect">
                                  <p:stCondLst>
                                    <p:cond delay="13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childTnLst>
                                </p:cTn>
                              </p:par>
                              <p:par>
                                <p:cTn id="38" presetID="10" presetClass="entr" presetSubtype="0" decel="10000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animBg="1"/>
      <p:bldP spid="10" grpId="0" animBg="1"/>
      <p:bldP spid="11" grpId="0" animBg="1"/>
      <p:bldP spid="12" grpId="0"/>
      <p:bldP spid="1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low1" descr="image.png"/>
          <p:cNvPicPr>
            <a:picLocks noChangeAspect="1"/>
          </p:cNvPicPr>
          <p:nvPr/>
        </p:nvPicPr>
        <p:blipFill>
          <a:blip r:embed="rId2"/>
          <a:stretch>
            <a:fillRect/>
          </a:stretch>
        </p:blipFill>
        <p:spPr>
          <a:xfrm>
            <a:off x="3657600" y="-3108960"/>
            <a:ext cx="5486400" cy="5486400"/>
          </a:xfrm>
          <a:prstGeom prst="rect">
            <a:avLst/>
          </a:prstGeom>
        </p:spPr>
      </p:pic>
      <p:pic>
        <p:nvPicPr>
          <p:cNvPr id="3" name="!!glow2" descr="image.png"/>
          <p:cNvPicPr>
            <a:picLocks noChangeAspect="1"/>
          </p:cNvPicPr>
          <p:nvPr/>
        </p:nvPicPr>
        <p:blipFill>
          <a:blip r:embed="rId3"/>
          <a:stretch>
            <a:fillRect/>
          </a:stretch>
        </p:blipFill>
        <p:spPr>
          <a:xfrm>
            <a:off x="-2194560" y="3474720"/>
            <a:ext cx="5486400" cy="5486400"/>
          </a:xfrm>
          <a:prstGeom prst="rect">
            <a:avLst/>
          </a:prstGeom>
        </p:spPr>
      </p:pic>
      <p:sp>
        <p:nvSpPr>
          <p:cNvPr id="4" name="TextBox 3"/>
          <p:cNvSpPr txBox="1"/>
          <p:nvPr/>
        </p:nvSpPr>
        <p:spPr>
          <a:xfrm>
            <a:off x="548640" y="384048"/>
            <a:ext cx="11000000" cy="330000"/>
          </a:xfrm>
          <a:prstGeom prst="rect">
            <a:avLst/>
          </a:prstGeom>
          <a:noFill/>
        </p:spPr>
        <p:txBody>
          <a:bodyPr wrap="square">
            <a:spAutoFit/>
          </a:bodyPr>
          <a:lstStyle/>
          <a:p>
            <a:pPr algn="l">
              <a:spcAft>
                <a:spcPts val="300"/>
              </a:spcAft>
            </a:pPr>
            <a:r>
              <a:rPr sz="1300" b="1">
                <a:solidFill>
                  <a:srgbClr val="3F6E9E"/>
                </a:solidFill>
                <a:latin typeface="Segoe UI"/>
              </a:rPr>
              <a:t>R E F E R E N C E S</a:t>
            </a:r>
          </a:p>
        </p:txBody>
      </p:sp>
      <p:sp>
        <p:nvSpPr>
          <p:cNvPr id="5" name="TextBox 4"/>
          <p:cNvSpPr txBox="1"/>
          <p:nvPr/>
        </p:nvSpPr>
        <p:spPr>
          <a:xfrm>
            <a:off x="548640" y="713232"/>
            <a:ext cx="11000000" cy="700000"/>
          </a:xfrm>
          <a:prstGeom prst="rect">
            <a:avLst/>
          </a:prstGeom>
          <a:noFill/>
        </p:spPr>
        <p:txBody>
          <a:bodyPr wrap="square">
            <a:spAutoFit/>
          </a:bodyPr>
          <a:lstStyle/>
          <a:p>
            <a:pPr algn="l">
              <a:spcAft>
                <a:spcPts val="300"/>
              </a:spcAft>
            </a:pPr>
            <a:r>
              <a:rPr sz="3200" b="0">
                <a:solidFill>
                  <a:srgbClr val="1B2B40"/>
                </a:solidFill>
                <a:latin typeface="Segoe UI"/>
              </a:rPr>
              <a:t>Where every number comes from</a:t>
            </a:r>
          </a:p>
        </p:txBody>
      </p:sp>
      <p:sp>
        <p:nvSpPr>
          <p:cNvPr id="6" name="Rounded Rectangle 5"/>
          <p:cNvSpPr/>
          <p:nvPr/>
        </p:nvSpPr>
        <p:spPr>
          <a:xfrm>
            <a:off x="548640" y="1480000"/>
            <a:ext cx="6000000" cy="4850000"/>
          </a:xfrm>
          <a:prstGeom prst="roundRect">
            <a:avLst>
              <a:gd name="adj" fmla="val 3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pPr>
          </a:p>
        </p:txBody>
      </p:sp>
      <p:sp>
        <p:nvSpPr>
          <p:cNvPr id="7" name="TextBox 6"/>
          <p:cNvSpPr txBox="1"/>
          <p:nvPr/>
        </p:nvSpPr>
        <p:spPr>
          <a:xfrm>
            <a:off x="718640" y="1560000"/>
            <a:ext cx="5700000" cy="4700000"/>
          </a:xfrm>
          <a:prstGeom prst="rect">
            <a:avLst/>
          </a:prstGeom>
          <a:noFill/>
        </p:spPr>
        <p:txBody>
          <a:bodyPr wrap="square">
            <a:spAutoFit/>
          </a:bodyPr>
          <a:lstStyle/>
          <a:p>
            <a:pPr algn="l">
              <a:spcAft>
                <a:spcPts val="700"/>
              </a:spcAft>
            </a:pPr>
            <a:r>
              <a:rPr sz="1160" b="1">
                <a:solidFill>
                  <a:srgbClr val="3F6E9E"/>
                </a:solidFill>
                <a:latin typeface="Segoe UI"/>
              </a:rPr>
              <a:t>EXTERNAL SOURCES</a:t>
            </a:r>
          </a:p>
          <a:p>
            <a:pPr algn="l">
              <a:spcAft>
                <a:spcPts val="700"/>
              </a:spcAft>
            </a:pPr>
            <a:r>
              <a:rPr sz="1160" b="1">
                <a:solidFill>
                  <a:srgbClr val="1B2B40"/>
                </a:solidFill>
                <a:latin typeface="Segoe UI"/>
              </a:rPr>
              <a:t>UAE: 100 M mangroves by 2030  </a:t>
            </a:r>
            <a:r>
              <a:rPr sz="1100" b="0">
                <a:solidFill>
                  <a:srgbClr val="5A6B80"/>
                </a:solidFill>
                <a:latin typeface="Segoe UI"/>
              </a:rPr>
              <a:t>Ministry of Climate Change and Environment, COP26 (2021); Abu Dhabi Mangrove Initiative, EAD (2022)</a:t>
            </a:r>
          </a:p>
          <a:p>
            <a:pPr algn="l">
              <a:spcAft>
                <a:spcPts val="700"/>
              </a:spcAft>
            </a:pPr>
            <a:r>
              <a:rPr sz="1160" b="1">
                <a:solidFill>
                  <a:srgbClr val="1B2B40"/>
                </a:solidFill>
                <a:latin typeface="Segoe UI"/>
              </a:rPr>
              <a:t>Saudi Arabia: 100 M+ by 2030  </a:t>
            </a:r>
            <a:r>
              <a:rPr sz="1100" b="0">
                <a:solidFill>
                  <a:srgbClr val="5A6B80"/>
                </a:solidFill>
                <a:latin typeface="Segoe UI"/>
              </a:rPr>
              <a:t>Saudi Green Initiative (sgi.gov.sa); Red Sea Global, 50 M by 2030 (2023)</a:t>
            </a:r>
          </a:p>
          <a:p>
            <a:pPr algn="l">
              <a:spcAft>
                <a:spcPts val="700"/>
              </a:spcAft>
            </a:pPr>
            <a:r>
              <a:rPr sz="1160" b="1">
                <a:solidFill>
                  <a:srgbClr val="1B2B40"/>
                </a:solidFill>
                <a:latin typeface="Segoe UI"/>
              </a:rPr>
              <a:t>Bahrain: ×4 mangroves by 2035  </a:t>
            </a:r>
            <a:r>
              <a:rPr sz="1100" b="0">
                <a:solidFill>
                  <a:srgbClr val="5A6B80"/>
                </a:solidFill>
                <a:latin typeface="Segoe UI"/>
              </a:rPr>
              <a:t>COP26 pledge (2021), GDN Online</a:t>
            </a:r>
          </a:p>
          <a:p>
            <a:pPr algn="l">
              <a:spcAft>
                <a:spcPts val="700"/>
              </a:spcAft>
            </a:pPr>
            <a:r>
              <a:rPr sz="1160" b="1">
                <a:solidFill>
                  <a:srgbClr val="1B2B40"/>
                </a:solidFill>
                <a:latin typeface="Segoe UI"/>
              </a:rPr>
              <a:t>GCC mangrove monitoring guide  </a:t>
            </a:r>
            <a:r>
              <a:rPr sz="1100" b="0">
                <a:solidFill>
                  <a:srgbClr val="5A6B80"/>
                </a:solidFill>
                <a:latin typeface="Segoe UI"/>
              </a:rPr>
              <a:t>EAD with IUCN Mangrove Specialist Group (Gulf News, 24 Feb 2026); Guidelines for Mangrove Restoration in the UAE (EAD, MOCCAE, Emirates Nature–WWF)</a:t>
            </a:r>
          </a:p>
          <a:p>
            <a:pPr algn="l">
              <a:spcAft>
                <a:spcPts val="700"/>
              </a:spcAft>
            </a:pPr>
            <a:r>
              <a:rPr sz="1160" b="1">
                <a:solidFill>
                  <a:srgbClr val="1B2B40"/>
                </a:solidFill>
                <a:latin typeface="Segoe UI"/>
              </a:rPr>
              <a:t>Mangrove areas, “uneven” monitoring  </a:t>
            </a:r>
            <a:r>
              <a:rPr sz="1100" b="0">
                <a:solidFill>
                  <a:srgbClr val="5A6B80"/>
                </a:solidFill>
                <a:latin typeface="Segoe UI"/>
              </a:rPr>
              <a:t>Frontiers in Marine Science (2025), doi 10.3389/fmars.2025.1695426</a:t>
            </a:r>
          </a:p>
          <a:p>
            <a:pPr algn="l">
              <a:spcAft>
                <a:spcPts val="700"/>
              </a:spcAft>
            </a:pPr>
            <a:r>
              <a:rPr sz="1160" b="1">
                <a:solidFill>
                  <a:srgbClr val="1B2B40"/>
                </a:solidFill>
                <a:latin typeface="Segoe UI"/>
              </a:rPr>
              <a:t>108 t C/ha (90 % CI 79–138)  </a:t>
            </a:r>
            <a:r>
              <a:rPr sz="1100" b="0">
                <a:solidFill>
                  <a:srgbClr val="5A6B80"/>
                </a:solidFill>
                <a:latin typeface="Segoe UI"/>
              </a:rPr>
              <a:t>Schile et al. 2017, Ecological Applications 27:859–874, doi 10.1002/eap.1489; field data Dryad doi 10.15146/R3K59Z (CC0)</a:t>
            </a:r>
          </a:p>
          <a:p>
            <a:pPr algn="l">
              <a:spcAft>
                <a:spcPts val="700"/>
              </a:spcAft>
            </a:pPr>
            <a:r>
              <a:rPr sz="1160" b="1">
                <a:solidFill>
                  <a:srgbClr val="1B2B40"/>
                </a:solidFill>
                <a:latin typeface="Segoe UI"/>
              </a:rPr>
              <a:t>$25–29 per t CO₂e  </a:t>
            </a:r>
            <a:r>
              <a:rPr sz="1100" b="0">
                <a:solidFill>
                  <a:srgbClr val="5A6B80"/>
                </a:solidFill>
                <a:latin typeface="Segoe UI"/>
              </a:rPr>
              <a:t>S&amp;P Global Platts blue-carbon assessments, 2024–25</a:t>
            </a:r>
          </a:p>
          <a:p>
            <a:pPr algn="l">
              <a:spcAft>
                <a:spcPts val="700"/>
              </a:spcAft>
            </a:pPr>
            <a:r>
              <a:rPr sz="1160" b="1">
                <a:solidFill>
                  <a:srgbClr val="1B2B40"/>
                </a:solidFill>
                <a:latin typeface="Segoe UI"/>
              </a:rPr>
              <a:t>Cost to serve  </a:t>
            </a:r>
            <a:r>
              <a:rPr sz="1100" b="0">
                <a:solidFill>
                  <a:srgbClr val="5A6B80"/>
                </a:solidFill>
                <a:latin typeface="Segoe UI"/>
              </a:rPr>
              <a:t>SkyWatch imagery pricing $19–29/km²; Azure D8s v5 $0.384/h; analyst time = assumption</a:t>
            </a:r>
          </a:p>
          <a:p>
            <a:pPr algn="l">
              <a:spcAft>
                <a:spcPts val="700"/>
              </a:spcAft>
            </a:pPr>
            <a:r>
              <a:rPr sz="1160" b="1">
                <a:solidFill>
                  <a:srgbClr val="1B2B40"/>
                </a:solidFill>
                <a:latin typeface="Segoe UI"/>
              </a:rPr>
              <a:t>Global Mangrove Watch alerts  </a:t>
            </a:r>
            <a:r>
              <a:rPr sz="1100" b="0">
                <a:solidFill>
                  <a:srgbClr val="5A6B80"/>
                </a:solidFill>
                <a:latin typeface="Segoe UI"/>
              </a:rPr>
              <a:t>Bunting et al. 2023, Remote Sensing 15:2050</a:t>
            </a:r>
          </a:p>
          <a:p>
            <a:pPr algn="l">
              <a:spcAft>
                <a:spcPts val="700"/>
              </a:spcAft>
            </a:pPr>
            <a:r>
              <a:rPr sz="1160" b="1">
                <a:solidFill>
                  <a:srgbClr val="1B2B40"/>
                </a:solidFill>
                <a:latin typeface="Segoe UI"/>
              </a:rPr>
              <a:t>Data  </a:t>
            </a:r>
            <a:r>
              <a:rPr sz="1100" b="0">
                <a:solidFill>
                  <a:srgbClr val="5A6B80"/>
                </a:solidFill>
                <a:latin typeface="Segoe UI"/>
              </a:rPr>
              <a:t>Sentinel-2 L2A (ESA Copernicus, via Microsoft Planetary Computer) · EnMAP L2A © DLR 2022, 2025 · ESA WorldCover 2021 (CC BY 4.0) · Esri World Imagery Wayback (Maxar)</a:t>
            </a:r>
          </a:p>
        </p:txBody>
      </p:sp>
      <p:sp>
        <p:nvSpPr>
          <p:cNvPr id="8" name="Rounded Rectangle 7"/>
          <p:cNvSpPr/>
          <p:nvPr/>
        </p:nvSpPr>
        <p:spPr>
          <a:xfrm>
            <a:off x="6688640" y="1480000"/>
            <a:ext cx="4950000" cy="4850000"/>
          </a:xfrm>
          <a:prstGeom prst="roundRect">
            <a:avLst>
              <a:gd name="adj" fmla="val 3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700"/>
              </a:spcAft>
            </a:pPr>
          </a:p>
        </p:txBody>
      </p:sp>
      <p:sp>
        <p:nvSpPr>
          <p:cNvPr id="9" name="TextBox 8"/>
          <p:cNvSpPr txBox="1"/>
          <p:nvPr/>
        </p:nvSpPr>
        <p:spPr>
          <a:xfrm>
            <a:off x="6858640" y="1560000"/>
            <a:ext cx="4650000" cy="4700000"/>
          </a:xfrm>
          <a:prstGeom prst="rect">
            <a:avLst/>
          </a:prstGeom>
          <a:noFill/>
        </p:spPr>
        <p:txBody>
          <a:bodyPr wrap="square">
            <a:spAutoFit/>
          </a:bodyPr>
          <a:lstStyle/>
          <a:p>
            <a:pPr algn="l">
              <a:spcAft>
                <a:spcPts val="700"/>
              </a:spcAft>
            </a:pPr>
            <a:r>
              <a:rPr sz="1160" b="1">
                <a:solidFill>
                  <a:srgbClr val="3F6E9E"/>
                </a:solidFill>
                <a:latin typeface="Segoe UI"/>
              </a:rPr>
              <a:t>OUR OWN RESULTS · FILE IN THE PUBLIC REPOSITORY</a:t>
            </a:r>
          </a:p>
          <a:p>
            <a:pPr algn="l">
              <a:spcAft>
                <a:spcPts val="700"/>
              </a:spcAft>
            </a:pPr>
            <a:r>
              <a:rPr sz="1160" b="1">
                <a:solidFill>
                  <a:srgbClr val="1B2B40"/>
                </a:solidFill>
                <a:latin typeface="Segoe UI"/>
              </a:rPr>
              <a:t>Tide model: −29 to −35 % noise  </a:t>
            </a:r>
            <a:r>
              <a:rPr sz="1100" b="0">
                <a:solidFill>
                  <a:srgbClr val="5A6B80"/>
                </a:solidFill>
                <a:latin typeface="Segoe UI"/>
              </a:rPr>
              <a:t>analysis/07_summary.md</a:t>
            </a:r>
          </a:p>
          <a:p>
            <a:pPr algn="l">
              <a:spcAft>
                <a:spcPts val="700"/>
              </a:spcAft>
            </a:pPr>
            <a:r>
              <a:rPr sz="1160" b="1">
                <a:solidFill>
                  <a:srgbClr val="1B2B40"/>
                </a:solidFill>
                <a:latin typeface="Segoe UI"/>
              </a:rPr>
              <a:t>40 % fewer false alarms (1.61 → 0.96)  </a:t>
            </a:r>
            <a:r>
              <a:rPr sz="1100" b="0">
                <a:solidFill>
                  <a:srgbClr val="5A6B80"/>
                </a:solidFill>
                <a:latin typeface="Segoe UI"/>
              </a:rPr>
              <a:t>analysis/35_textbook_baseline.md</a:t>
            </a:r>
          </a:p>
          <a:p>
            <a:pPr algn="l">
              <a:spcAft>
                <a:spcPts val="700"/>
              </a:spcAft>
            </a:pPr>
            <a:r>
              <a:rPr sz="1160" b="1">
                <a:solidFill>
                  <a:srgbClr val="1B2B40"/>
                </a:solidFill>
                <a:latin typeface="Segoe UI"/>
              </a:rPr>
              <a:t>73 % vs 13 % by chance  </a:t>
            </a:r>
            <a:r>
              <a:rPr sz="1100" b="0">
                <a:solidFill>
                  <a:srgbClr val="5A6B80"/>
                </a:solidFill>
                <a:latin typeface="Segoe UI"/>
              </a:rPr>
              <a:t>analysis/29_cell_trigger.md, 30_backtest_null.md</a:t>
            </a:r>
          </a:p>
          <a:p>
            <a:pPr algn="l">
              <a:spcAft>
                <a:spcPts val="700"/>
              </a:spcAft>
            </a:pPr>
            <a:r>
              <a:rPr sz="1160" b="1">
                <a:solidFill>
                  <a:srgbClr val="1B2B40"/>
                </a:solidFill>
                <a:latin typeface="Segoe UI"/>
              </a:rPr>
              <a:t>0.96 calibrated · 0.79 on 65 unseen stands  </a:t>
            </a:r>
            <a:r>
              <a:rPr sz="1100" b="0">
                <a:solidFill>
                  <a:srgbClr val="5A6B80"/>
                </a:solidFill>
                <a:latin typeface="Segoe UI"/>
              </a:rPr>
              <a:t>analysis/31_union_alerts.py, 33_scaleout_union_summary.md</a:t>
            </a:r>
          </a:p>
          <a:p>
            <a:pPr algn="l">
              <a:spcAft>
                <a:spcPts val="700"/>
              </a:spcAft>
            </a:pPr>
            <a:r>
              <a:rPr sz="1160" b="1">
                <a:solidFill>
                  <a:srgbClr val="1B2B40"/>
                </a:solidFill>
                <a:latin typeface="Segoe UI"/>
              </a:rPr>
              <a:t>Five real events, alert inside image windows  </a:t>
            </a:r>
            <a:r>
              <a:rPr sz="1100" b="0">
                <a:solidFill>
                  <a:srgbClr val="5A6B80"/>
                </a:solidFill>
                <a:latin typeface="Segoe UI"/>
              </a:rPr>
              <a:t>analysis/34_vhr_summary.md, 26_substand_summary.md</a:t>
            </a:r>
          </a:p>
          <a:p>
            <a:pPr algn="l">
              <a:spcAft>
                <a:spcPts val="700"/>
              </a:spcAft>
            </a:pPr>
            <a:r>
              <a:rPr sz="1160" b="1">
                <a:solidFill>
                  <a:srgbClr val="1B2B40"/>
                </a:solidFill>
                <a:latin typeface="Segoe UI"/>
              </a:rPr>
              <a:t>EnMAP r 0.84–0.99 · 26–62 ha lost  </a:t>
            </a:r>
            <a:r>
              <a:rPr sz="1100" b="0">
                <a:solidFill>
                  <a:srgbClr val="5A6B80"/>
                </a:solidFill>
                <a:latin typeface="Segoe UI"/>
              </a:rPr>
              <a:t>analysis/18_enmap_summary.md</a:t>
            </a:r>
          </a:p>
          <a:p>
            <a:pPr algn="l">
              <a:spcAft>
                <a:spcPts val="700"/>
              </a:spcAft>
            </a:pPr>
            <a:r>
              <a:rPr sz="1160" b="1">
                <a:solidFill>
                  <a:srgbClr val="1B2B40"/>
                </a:solidFill>
                <a:latin typeface="Segoe UI"/>
              </a:rPr>
              <a:t>Satellite 813 simulation (97 % / 0.4 %)  </a:t>
            </a:r>
            <a:r>
              <a:rPr sz="1100" b="0">
                <a:solidFill>
                  <a:srgbClr val="5A6B80"/>
                </a:solidFill>
                <a:latin typeface="Segoe UI"/>
              </a:rPr>
              <a:t>analysis/36_sat813_summary.md</a:t>
            </a:r>
          </a:p>
          <a:p>
            <a:pPr algn="l">
              <a:spcAft>
                <a:spcPts val="700"/>
              </a:spcAft>
            </a:pPr>
            <a:r>
              <a:rPr sz="1160" b="1">
                <a:solidFill>
                  <a:srgbClr val="1B2B40"/>
                </a:solidFill>
                <a:latin typeface="Segoe UI"/>
              </a:rPr>
              <a:t>247 kt C · 2.8–6.7 kt C at stake  </a:t>
            </a:r>
            <a:r>
              <a:rPr sz="1100" b="0">
                <a:solidFill>
                  <a:srgbClr val="5A6B80"/>
                </a:solidFill>
                <a:latin typeface="Segoe UI"/>
              </a:rPr>
              <a:t>analysis/13_carbon_summary.md (area × field density)</a:t>
            </a:r>
          </a:p>
          <a:p>
            <a:pPr algn="l">
              <a:spcAft>
                <a:spcPts val="700"/>
              </a:spcAft>
            </a:pPr>
            <a:r>
              <a:rPr sz="1160" b="1">
                <a:solidFill>
                  <a:srgbClr val="1B2B40"/>
                </a:solidFill>
                <a:latin typeface="Segoe UI"/>
              </a:rPr>
              <a:t>Prices and unit economics  </a:t>
            </a:r>
            <a:r>
              <a:rPr sz="1100" b="0">
                <a:solidFill>
                  <a:srgbClr val="5A6B80"/>
                </a:solidFill>
                <a:latin typeface="Segoe UI"/>
              </a:rPr>
              <a:t>docs/business_plan_draft.md (13 numbered sources)</a:t>
            </a:r>
          </a:p>
          <a:p>
            <a:pPr algn="l">
              <a:spcAft>
                <a:spcPts val="700"/>
              </a:spcAft>
            </a:pPr>
            <a:r>
              <a:rPr sz="1160" b="1">
                <a:solidFill>
                  <a:srgbClr val="1B2B40"/>
                </a:solidFill>
                <a:latin typeface="Segoe UI"/>
              </a:rPr>
              <a:t>Everything re-runs  </a:t>
            </a:r>
            <a:r>
              <a:rPr sz="1100" b="0">
                <a:solidFill>
                  <a:srgbClr val="5A6B80"/>
                </a:solidFill>
                <a:latin typeface="Segoe UI"/>
              </a:rPr>
              <a:t>notebooks/01_blue_carbon_guardian.ipynb · github.com/Nahla-Nabil/blue-carbon-guardian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low1" descr="image.png"/>
          <p:cNvPicPr>
            <a:picLocks noChangeAspect="1"/>
          </p:cNvPicPr>
          <p:nvPr/>
        </p:nvPicPr>
        <p:blipFill>
          <a:blip r:embed="rId2"/>
          <a:stretch>
            <a:fillRect/>
          </a:stretch>
        </p:blipFill>
        <p:spPr>
          <a:xfrm>
            <a:off x="3657600" y="-3108960"/>
            <a:ext cx="5486400" cy="5486400"/>
          </a:xfrm>
          <a:prstGeom prst="rect">
            <a:avLst/>
          </a:prstGeom>
        </p:spPr>
      </p:pic>
      <p:pic>
        <p:nvPicPr>
          <p:cNvPr id="3" name="!!glow2" descr="image.png"/>
          <p:cNvPicPr>
            <a:picLocks noChangeAspect="1"/>
          </p:cNvPicPr>
          <p:nvPr/>
        </p:nvPicPr>
        <p:blipFill>
          <a:blip r:embed="rId3"/>
          <a:stretch>
            <a:fillRect/>
          </a:stretch>
        </p:blipFill>
        <p:spPr>
          <a:xfrm>
            <a:off x="-2194560" y="3474720"/>
            <a:ext cx="5486400" cy="5486400"/>
          </a:xfrm>
          <a:prstGeom prst="rect">
            <a:avLst/>
          </a:prstGeom>
        </p:spPr>
      </p:pic>
      <p:sp>
        <p:nvSpPr>
          <p:cNvPr id="4" name="TextBox 3"/>
          <p:cNvSpPr txBox="1"/>
          <p:nvPr/>
        </p:nvSpPr>
        <p:spPr>
          <a:xfrm>
            <a:off x="548640" y="384048"/>
            <a:ext cx="11000000" cy="330000"/>
          </a:xfrm>
          <a:prstGeom prst="rect">
            <a:avLst/>
          </a:prstGeom>
          <a:noFill/>
        </p:spPr>
        <p:txBody>
          <a:bodyPr wrap="square">
            <a:spAutoFit/>
          </a:bodyPr>
          <a:lstStyle/>
          <a:p>
            <a:pPr>
              <a:spcAft>
                <a:spcPts val="200"/>
              </a:spcAft>
            </a:pPr>
            <a:r>
              <a:rPr sz="1300" b="1">
                <a:solidFill>
                  <a:srgbClr val="3F6E9E"/>
                </a:solidFill>
                <a:latin typeface="Segoe UI"/>
              </a:rPr>
              <a:t>B A C K U P   ·   M E T H O D</a:t>
            </a:r>
          </a:p>
        </p:txBody>
      </p:sp>
      <p:sp>
        <p:nvSpPr>
          <p:cNvPr id="5" name="TextBox 4"/>
          <p:cNvSpPr txBox="1"/>
          <p:nvPr/>
        </p:nvSpPr>
        <p:spPr>
          <a:xfrm>
            <a:off x="548640" y="713232"/>
            <a:ext cx="11000000" cy="700000"/>
          </a:xfrm>
          <a:prstGeom prst="rect">
            <a:avLst/>
          </a:prstGeom>
          <a:noFill/>
        </p:spPr>
        <p:txBody>
          <a:bodyPr wrap="square">
            <a:spAutoFit/>
          </a:bodyPr>
          <a:lstStyle/>
          <a:p>
            <a:pPr>
              <a:spcAft>
                <a:spcPts val="200"/>
              </a:spcAft>
            </a:pPr>
            <a:r>
              <a:rPr sz="3200" b="0">
                <a:solidFill>
                  <a:srgbClr val="1B2B40"/>
                </a:solidFill>
                <a:latin typeface="Segoe UI"/>
              </a:rPr>
              <a:t>All the equations behind the numbers</a:t>
            </a:r>
          </a:p>
        </p:txBody>
      </p:sp>
      <p:sp>
        <p:nvSpPr>
          <p:cNvPr id="6" name="Rounded Rectangle 5"/>
          <p:cNvSpPr/>
          <p:nvPr/>
        </p:nvSpPr>
        <p:spPr>
          <a:xfrm>
            <a:off x="548640" y="145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8640" y="1520000"/>
            <a:ext cx="5190000" cy="1040000"/>
          </a:xfrm>
          <a:prstGeom prst="rect">
            <a:avLst/>
          </a:prstGeom>
          <a:noFill/>
        </p:spPr>
        <p:txBody>
          <a:bodyPr wrap="square">
            <a:spAutoFit/>
          </a:bodyPr>
          <a:lstStyle/>
          <a:p>
            <a:pPr>
              <a:spcAft>
                <a:spcPts val="200"/>
              </a:spcAft>
            </a:pPr>
            <a:r>
              <a:rPr sz="1100" b="1">
                <a:solidFill>
                  <a:srgbClr val="3F6E9E"/>
                </a:solidFill>
                <a:latin typeface="Segoe UI"/>
              </a:rPr>
              <a:t>1 · Indices (Sentinel-2 bands)</a:t>
            </a:r>
          </a:p>
          <a:p>
            <a:pPr>
              <a:spcAft>
                <a:spcPts val="200"/>
              </a:spcAft>
            </a:pPr>
            <a:r>
              <a:rPr sz="1150" b="0">
                <a:solidFill>
                  <a:srgbClr val="1B2B40"/>
                </a:solidFill>
                <a:latin typeface="Cambria Math"/>
              </a:rPr>
              <a:t>NDVI = (B8 − B4) / (B8 + B4)</a:t>
            </a:r>
          </a:p>
          <a:p>
            <a:pPr>
              <a:spcAft>
                <a:spcPts val="200"/>
              </a:spcAft>
            </a:pPr>
            <a:r>
              <a:rPr sz="1150" b="0">
                <a:solidFill>
                  <a:srgbClr val="1B2B40"/>
                </a:solidFill>
                <a:latin typeface="Cambria Math"/>
              </a:rPr>
              <a:t>NDRE = (B8A − B5) / (B8A + B5)</a:t>
            </a:r>
          </a:p>
          <a:p>
            <a:pPr>
              <a:spcAft>
                <a:spcPts val="200"/>
              </a:spcAft>
            </a:pPr>
            <a:r>
              <a:rPr sz="1150" b="0">
                <a:solidFill>
                  <a:srgbClr val="1B2B40"/>
                </a:solidFill>
                <a:latin typeface="Cambria Math"/>
              </a:rPr>
              <a:t>NDMI = (B8A − B11) / (B8A + B11)</a:t>
            </a:r>
          </a:p>
          <a:p>
            <a:pPr>
              <a:spcAft>
                <a:spcPts val="200"/>
              </a:spcAft>
            </a:pPr>
            <a:r>
              <a:rPr sz="950" b="0">
                <a:solidFill>
                  <a:srgbClr val="5A6B80"/>
                </a:solidFill>
                <a:latin typeface="Segoe UI"/>
              </a:rPr>
              <a:t>greenness · chlorophyll (red edge) · canopy moisture</a:t>
            </a:r>
          </a:p>
        </p:txBody>
      </p:sp>
      <p:sp>
        <p:nvSpPr>
          <p:cNvPr id="8" name="Rounded Rectangle 7"/>
          <p:cNvSpPr/>
          <p:nvPr/>
        </p:nvSpPr>
        <p:spPr>
          <a:xfrm>
            <a:off x="6168640" y="145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8640" y="1520000"/>
            <a:ext cx="5190000" cy="1040000"/>
          </a:xfrm>
          <a:prstGeom prst="rect">
            <a:avLst/>
          </a:prstGeom>
          <a:noFill/>
        </p:spPr>
        <p:txBody>
          <a:bodyPr wrap="square">
            <a:spAutoFit/>
          </a:bodyPr>
          <a:lstStyle/>
          <a:p>
            <a:pPr>
              <a:spcAft>
                <a:spcPts val="200"/>
              </a:spcAft>
            </a:pPr>
            <a:r>
              <a:rPr sz="1100" b="1">
                <a:solidFill>
                  <a:srgbClr val="3F6E9E"/>
                </a:solidFill>
                <a:latin typeface="Segoe UI"/>
              </a:rPr>
              <a:t>2 · Tide, from the image</a:t>
            </a:r>
          </a:p>
          <a:p>
            <a:pPr>
              <a:spcAft>
                <a:spcPts val="200"/>
              </a:spcAft>
            </a:pPr>
            <a:r>
              <a:rPr sz="1150" b="0">
                <a:solidFill>
                  <a:srgbClr val="1B2B40"/>
                </a:solidFill>
                <a:latin typeface="Cambria Math"/>
              </a:rPr>
              <a:t>MNDWI = (B3 − B11) / (B3 + B11)</a:t>
            </a:r>
          </a:p>
          <a:p>
            <a:pPr>
              <a:spcAft>
                <a:spcPts val="200"/>
              </a:spcAft>
            </a:pPr>
            <a:r>
              <a:rPr sz="1150" b="0">
                <a:solidFill>
                  <a:srgbClr val="1B2B40"/>
                </a:solidFill>
                <a:latin typeface="Cambria Math"/>
              </a:rPr>
              <a:t>flooded share f = % of pixels with MNDWI &gt; 0</a:t>
            </a:r>
          </a:p>
          <a:p>
            <a:pPr>
              <a:spcAft>
                <a:spcPts val="200"/>
              </a:spcAft>
            </a:pPr>
            <a:r>
              <a:rPr sz="950" b="0">
                <a:solidFill>
                  <a:srgbClr val="5A6B80"/>
                </a:solidFill>
                <a:latin typeface="Segoe UI"/>
              </a:rPr>
              <a:t>median over interior pixels of each stand / cell, every image</a:t>
            </a:r>
          </a:p>
        </p:txBody>
      </p:sp>
      <p:sp>
        <p:nvSpPr>
          <p:cNvPr id="10" name="Rounded Rectangle 9"/>
          <p:cNvSpPr/>
          <p:nvPr/>
        </p:nvSpPr>
        <p:spPr>
          <a:xfrm>
            <a:off x="548640" y="266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40" y="2730000"/>
            <a:ext cx="5190000" cy="1040000"/>
          </a:xfrm>
          <a:prstGeom prst="rect">
            <a:avLst/>
          </a:prstGeom>
          <a:noFill/>
        </p:spPr>
        <p:txBody>
          <a:bodyPr wrap="square">
            <a:spAutoFit/>
          </a:bodyPr>
          <a:lstStyle/>
          <a:p>
            <a:pPr>
              <a:spcAft>
                <a:spcPts val="200"/>
              </a:spcAft>
            </a:pPr>
            <a:r>
              <a:rPr sz="1100" b="1">
                <a:solidFill>
                  <a:srgbClr val="3F6E9E"/>
                </a:solidFill>
                <a:latin typeface="Segoe UI"/>
              </a:rPr>
              <a:t>3 · Expected value (per stand, cell, index)</a:t>
            </a:r>
          </a:p>
          <a:p>
            <a:pPr>
              <a:spcAft>
                <a:spcPts val="200"/>
              </a:spcAft>
            </a:pPr>
            <a:r>
              <a:rPr sz="1150" b="0">
                <a:solidFill>
                  <a:srgbClr val="1B2B40"/>
                </a:solidFill>
                <a:latin typeface="Cambria Math"/>
              </a:rPr>
              <a:t>index(t) = a + b·t + seasonal (1 and 2 cycles a year)</a:t>
            </a:r>
          </a:p>
          <a:p>
            <a:pPr>
              <a:spcAft>
                <a:spcPts val="200"/>
              </a:spcAft>
            </a:pPr>
            <a:r>
              <a:rPr sz="1150" b="0">
                <a:solidFill>
                  <a:srgbClr val="1B2B40"/>
                </a:solidFill>
                <a:latin typeface="Cambria Math"/>
              </a:rPr>
              <a:t>        + e₁·MNDWI + e₂·MNDWI² + e₃·f + noise</a:t>
            </a:r>
          </a:p>
          <a:p>
            <a:pPr>
              <a:spcAft>
                <a:spcPts val="200"/>
              </a:spcAft>
            </a:pPr>
            <a:r>
              <a:rPr sz="950" b="0">
                <a:solidFill>
                  <a:srgbClr val="5A6B80"/>
                </a:solidFill>
                <a:latin typeface="Segoe UI"/>
              </a:rPr>
              <a:t>Huber robust regression, refitted monthly on [t − 36 m, t − 3 m]</a:t>
            </a:r>
          </a:p>
        </p:txBody>
      </p:sp>
      <p:sp>
        <p:nvSpPr>
          <p:cNvPr id="12" name="Rounded Rectangle 11"/>
          <p:cNvSpPr/>
          <p:nvPr/>
        </p:nvSpPr>
        <p:spPr>
          <a:xfrm>
            <a:off x="6168640" y="266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8640" y="2730000"/>
            <a:ext cx="5190000" cy="1040000"/>
          </a:xfrm>
          <a:prstGeom prst="rect">
            <a:avLst/>
          </a:prstGeom>
          <a:noFill/>
        </p:spPr>
        <p:txBody>
          <a:bodyPr wrap="square">
            <a:spAutoFit/>
          </a:bodyPr>
          <a:lstStyle/>
          <a:p>
            <a:pPr>
              <a:spcAft>
                <a:spcPts val="200"/>
              </a:spcAft>
            </a:pPr>
            <a:r>
              <a:rPr sz="1100" b="1">
                <a:solidFill>
                  <a:srgbClr val="3F6E9E"/>
                </a:solidFill>
                <a:latin typeface="Segoe UI"/>
              </a:rPr>
              <a:t>4 · How unusual is today?</a:t>
            </a:r>
          </a:p>
          <a:p>
            <a:pPr>
              <a:spcAft>
                <a:spcPts val="200"/>
              </a:spcAft>
            </a:pPr>
            <a:r>
              <a:rPr sz="1150" b="0">
                <a:solidFill>
                  <a:srgbClr val="1B2B40"/>
                </a:solidFill>
                <a:latin typeface="Cambria Math"/>
              </a:rPr>
              <a:t>σ = 1.4826 × median | r − median(r) |</a:t>
            </a:r>
          </a:p>
          <a:p>
            <a:pPr>
              <a:spcAft>
                <a:spcPts val="200"/>
              </a:spcAft>
            </a:pPr>
            <a:r>
              <a:rPr sz="1150" b="0">
                <a:solidFill>
                  <a:srgbClr val="1B2B40"/>
                </a:solidFill>
                <a:latin typeface="Cambria Math"/>
              </a:rPr>
              <a:t>z = (observed − expected) / σ</a:t>
            </a:r>
          </a:p>
          <a:p>
            <a:pPr>
              <a:spcAft>
                <a:spcPts val="200"/>
              </a:spcAft>
            </a:pPr>
            <a:r>
              <a:rPr sz="1150" b="0">
                <a:solidFill>
                  <a:srgbClr val="1B2B40"/>
                </a:solidFill>
                <a:latin typeface="Cambria Math"/>
              </a:rPr>
              <a:t>state = median of last 5 of mean(z_NDVI, z_NDRE, z_NDMI)</a:t>
            </a:r>
          </a:p>
          <a:p>
            <a:pPr>
              <a:spcAft>
                <a:spcPts val="200"/>
              </a:spcAft>
            </a:pPr>
            <a:r>
              <a:rPr sz="950" b="0">
                <a:solidFill>
                  <a:srgbClr val="5A6B80"/>
                </a:solidFill>
                <a:latin typeface="Segoe UI"/>
              </a:rPr>
              <a:t>r = residuals of the fit; one bad image cannot fire an alert</a:t>
            </a:r>
          </a:p>
        </p:txBody>
      </p:sp>
      <p:sp>
        <p:nvSpPr>
          <p:cNvPr id="14" name="Rounded Rectangle 13"/>
          <p:cNvSpPr/>
          <p:nvPr/>
        </p:nvSpPr>
        <p:spPr>
          <a:xfrm>
            <a:off x="548640" y="387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40" y="3940000"/>
            <a:ext cx="5190000" cy="1040000"/>
          </a:xfrm>
          <a:prstGeom prst="rect">
            <a:avLst/>
          </a:prstGeom>
          <a:noFill/>
        </p:spPr>
        <p:txBody>
          <a:bodyPr wrap="square">
            <a:spAutoFit/>
          </a:bodyPr>
          <a:lstStyle/>
          <a:p>
            <a:pPr>
              <a:spcAft>
                <a:spcPts val="200"/>
              </a:spcAft>
            </a:pPr>
            <a:r>
              <a:rPr sz="1100" b="1">
                <a:solidFill>
                  <a:srgbClr val="3F6E9E"/>
                </a:solidFill>
                <a:latin typeface="Segoe UI"/>
              </a:rPr>
              <a:t>5 · Alert</a:t>
            </a:r>
          </a:p>
          <a:p>
            <a:pPr>
              <a:spcAft>
                <a:spcPts val="200"/>
              </a:spcAft>
            </a:pPr>
            <a:r>
              <a:rPr sz="1150" b="0">
                <a:solidFill>
                  <a:srgbClr val="1B2B40"/>
                </a:solidFill>
                <a:latin typeface="Cambria Math"/>
              </a:rPr>
              <a:t>ALERT  if  stand state ≤ −1.5   OR   any cell state ≤ −3.5</a:t>
            </a:r>
          </a:p>
          <a:p>
            <a:pPr>
              <a:spcAft>
                <a:spcPts val="200"/>
              </a:spcAft>
            </a:pPr>
            <a:r>
              <a:rPr sz="950" b="0">
                <a:solidFill>
                  <a:srgbClr val="5A6B80"/>
                </a:solidFill>
                <a:latin typeface="Segoe UI"/>
              </a:rPr>
              <a:t>thresholds set on stands with no change → 0.96 false-alarm episodes / stand-year</a:t>
            </a:r>
          </a:p>
        </p:txBody>
      </p:sp>
      <p:sp>
        <p:nvSpPr>
          <p:cNvPr id="16" name="Rounded Rectangle 15"/>
          <p:cNvSpPr/>
          <p:nvPr/>
        </p:nvSpPr>
        <p:spPr>
          <a:xfrm>
            <a:off x="6168640" y="387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8640" y="3940000"/>
            <a:ext cx="5190000" cy="1040000"/>
          </a:xfrm>
          <a:prstGeom prst="rect">
            <a:avLst/>
          </a:prstGeom>
          <a:noFill/>
        </p:spPr>
        <p:txBody>
          <a:bodyPr wrap="square">
            <a:spAutoFit/>
          </a:bodyPr>
          <a:lstStyle/>
          <a:p>
            <a:pPr>
              <a:spcAft>
                <a:spcPts val="200"/>
              </a:spcAft>
            </a:pPr>
            <a:r>
              <a:rPr sz="1100" b="1">
                <a:solidFill>
                  <a:srgbClr val="3F6E9E"/>
                </a:solidFill>
                <a:latin typeface="Segoe UI"/>
              </a:rPr>
              <a:t>6 · Condition (last 12 months vs 2020–21)</a:t>
            </a:r>
          </a:p>
          <a:p>
            <a:pPr>
              <a:spcAft>
                <a:spcPts val="200"/>
              </a:spcAft>
            </a:pPr>
            <a:r>
              <a:rPr sz="1150" b="0">
                <a:solidFill>
                  <a:srgbClr val="1B2B40"/>
                </a:solidFill>
                <a:latin typeface="Cambria Math"/>
              </a:rPr>
              <a:t>change % = (now − base) / |base| × 100</a:t>
            </a:r>
          </a:p>
          <a:p>
            <a:pPr>
              <a:spcAft>
                <a:spcPts val="200"/>
              </a:spcAft>
            </a:pPr>
            <a:r>
              <a:rPr sz="1150" b="0">
                <a:solidFill>
                  <a:srgbClr val="1B2B40"/>
                </a:solidFill>
                <a:latin typeface="Cambria Math"/>
              </a:rPr>
              <a:t>severe: NDVI and NDMI ≤ −50 %   ·   decline: ≤ −15 % and ≤ −3σ</a:t>
            </a:r>
          </a:p>
          <a:p>
            <a:pPr>
              <a:spcAft>
                <a:spcPts val="200"/>
              </a:spcAft>
            </a:pPr>
            <a:r>
              <a:rPr sz="950" b="0">
                <a:solidFill>
                  <a:srgbClr val="5A6B80"/>
                </a:solidFill>
                <a:latin typeface="Segoe UI"/>
              </a:rPr>
              <a:t>on the tide-corrected series; now = median of the last 12 months, base = median of 2020–21</a:t>
            </a:r>
          </a:p>
        </p:txBody>
      </p:sp>
      <p:sp>
        <p:nvSpPr>
          <p:cNvPr id="18" name="Rounded Rectangle 17"/>
          <p:cNvSpPr/>
          <p:nvPr/>
        </p:nvSpPr>
        <p:spPr>
          <a:xfrm>
            <a:off x="548640" y="508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40" y="5150000"/>
            <a:ext cx="5190000" cy="1040000"/>
          </a:xfrm>
          <a:prstGeom prst="rect">
            <a:avLst/>
          </a:prstGeom>
          <a:noFill/>
        </p:spPr>
        <p:txBody>
          <a:bodyPr wrap="square">
            <a:spAutoFit/>
          </a:bodyPr>
          <a:lstStyle/>
          <a:p>
            <a:pPr>
              <a:spcAft>
                <a:spcPts val="200"/>
              </a:spcAft>
            </a:pPr>
            <a:r>
              <a:rPr sz="1100" b="1">
                <a:solidFill>
                  <a:srgbClr val="3F6E9E"/>
                </a:solidFill>
                <a:latin typeface="Segoe UI"/>
              </a:rPr>
              <a:t>7 · Carbon</a:t>
            </a:r>
          </a:p>
          <a:p>
            <a:pPr>
              <a:spcAft>
                <a:spcPts val="200"/>
              </a:spcAft>
            </a:pPr>
            <a:r>
              <a:rPr sz="1150" b="0">
                <a:solidFill>
                  <a:srgbClr val="1B2B40"/>
                </a:solidFill>
                <a:latin typeface="Cambria Math"/>
              </a:rPr>
              <a:t>stock = area × 108 t C/ha  (90 % CI 79–138)</a:t>
            </a:r>
          </a:p>
          <a:p>
            <a:pPr>
              <a:spcAft>
                <a:spcPts val="200"/>
              </a:spcAft>
            </a:pPr>
            <a:r>
              <a:rPr sz="1150" b="0">
                <a:solidFill>
                  <a:srgbClr val="1B2B40"/>
                </a:solidFill>
                <a:latin typeface="Cambria Math"/>
              </a:rPr>
              <a:t>CO₂e = C × 44 / 12  (= 3.67)</a:t>
            </a:r>
          </a:p>
          <a:p>
            <a:pPr>
              <a:spcAft>
                <a:spcPts val="200"/>
              </a:spcAft>
            </a:pPr>
            <a:r>
              <a:rPr sz="1150" b="0">
                <a:solidFill>
                  <a:srgbClr val="1B2B40"/>
                </a:solidFill>
                <a:latin typeface="Cambria Math"/>
              </a:rPr>
              <a:t>stand 5: 26–62 ha × 108 = 2.8–6.7 kt C</a:t>
            </a:r>
          </a:p>
          <a:p>
            <a:pPr>
              <a:spcAft>
                <a:spcPts val="200"/>
              </a:spcAft>
            </a:pPr>
            <a:r>
              <a:rPr sz="950" b="0">
                <a:solidFill>
                  <a:srgbClr val="5A6B80"/>
                </a:solidFill>
                <a:latin typeface="Segoe UI"/>
              </a:rPr>
              <a:t>density from 24 field plots near the stands (Schile et al. 2017)</a:t>
            </a:r>
          </a:p>
        </p:txBody>
      </p:sp>
      <p:sp>
        <p:nvSpPr>
          <p:cNvPr id="20" name="Rounded Rectangle 19"/>
          <p:cNvSpPr/>
          <p:nvPr/>
        </p:nvSpPr>
        <p:spPr>
          <a:xfrm>
            <a:off x="6168640" y="5080000"/>
            <a:ext cx="5470000" cy="1140000"/>
          </a:xfrm>
          <a:prstGeom prst="roundRect">
            <a:avLst>
              <a:gd name="adj" fmla="val 8000"/>
            </a:avLst>
          </a:prstGeom>
          <a:solidFill>
            <a:srgbClr val="FFFFFF"/>
          </a:solidFill>
          <a:ln>
            <a:solidFill>
              <a:srgbClr val="D6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8640" y="5150000"/>
            <a:ext cx="5190000" cy="1040000"/>
          </a:xfrm>
          <a:prstGeom prst="rect">
            <a:avLst/>
          </a:prstGeom>
          <a:noFill/>
        </p:spPr>
        <p:txBody>
          <a:bodyPr wrap="square">
            <a:spAutoFit/>
          </a:bodyPr>
          <a:lstStyle/>
          <a:p>
            <a:pPr>
              <a:spcAft>
                <a:spcPts val="200"/>
              </a:spcAft>
            </a:pPr>
            <a:r>
              <a:rPr sz="1100" b="1">
                <a:solidFill>
                  <a:srgbClr val="3F6E9E"/>
                </a:solidFill>
                <a:latin typeface="Segoe UI"/>
              </a:rPr>
              <a:t>8 · Validation</a:t>
            </a:r>
          </a:p>
          <a:p>
            <a:pPr>
              <a:spcAft>
                <a:spcPts val="200"/>
              </a:spcAft>
            </a:pPr>
            <a:r>
              <a:rPr sz="1150" b="0">
                <a:solidFill>
                  <a:srgbClr val="1B2B40"/>
                </a:solidFill>
                <a:latin typeface="Cambria Math"/>
              </a:rPr>
              <a:t>false-alarm rate = alert episodes ÷ stand-years (no change)</a:t>
            </a:r>
          </a:p>
          <a:p>
            <a:pPr>
              <a:spcAft>
                <a:spcPts val="200"/>
              </a:spcAft>
            </a:pPr>
            <a:r>
              <a:rPr sz="1150" b="0">
                <a:solidFill>
                  <a:srgbClr val="1B2B40"/>
                </a:solidFill>
                <a:latin typeface="Cambria Math"/>
              </a:rPr>
              <a:t>detection = % of simulated losses with a NEW alert ≤ 60 days</a:t>
            </a:r>
          </a:p>
          <a:p>
            <a:pPr>
              <a:spcAft>
                <a:spcPts val="200"/>
              </a:spcAft>
            </a:pPr>
            <a:r>
              <a:rPr sz="1150" b="0">
                <a:solidFill>
                  <a:srgbClr val="1B2B40"/>
                </a:solidFill>
                <a:latin typeface="Cambria Math"/>
              </a:rPr>
              <a:t>chance = the same test with no loss  →  73 % vs 13 %</a:t>
            </a:r>
          </a:p>
          <a:p>
            <a:pPr>
              <a:spcAft>
                <a:spcPts val="200"/>
              </a:spcAft>
            </a:pPr>
            <a:r>
              <a:rPr sz="950" b="0">
                <a:solidFill>
                  <a:srgbClr val="5A6B80"/>
                </a:solidFill>
                <a:latin typeface="Segoe UI"/>
              </a:rPr>
              <a:t>simulated loss = a tenth of a stand loses half its canopy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8046720" y="-274320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2377440" y="310896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BACKUP · FOR QUESTIONS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NDVI alone against our monitor, same alert rule</a:t>
            </a:r>
            <a:endParaRPr lang="en-US" sz="3400" dirty="0"/>
          </a:p>
        </p:txBody>
      </p:sp>
      <p:graphicFrame>
        <p:nvGraphicFramePr>
          <p:cNvPr id="21" name="a1float_tbl"/>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514600"/>
        </p:xfrm>
        <a:graphic>
          <a:graphicData uri="http://schemas.openxmlformats.org/drawingml/2006/table">
            <a:tbl>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02920">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Configuration</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200" b="1" dirty="0">
                          <a:solidFill>
                            <a:srgbClr val="2F5D8F"/>
                          </a:solidFill>
                          <a:latin typeface="Segoe UI Semibold" pitchFamily="34" charset="0"/>
                          <a:ea typeface="Segoe UI Semibold" pitchFamily="34" charset="-122"/>
                          <a:cs typeface="Segoe UI Semibold" pitchFamily="34" charset="-120"/>
                        </a:rPr>
                        <a:t>Indices</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Tide model</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False alarms per stand-year</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200" b="1" dirty="0">
                          <a:solidFill>
                            <a:srgbClr val="2F5D8F"/>
                          </a:solidFill>
                          <a:latin typeface="Segoe UI Semibold" pitchFamily="34" charset="0"/>
                          <a:ea typeface="Segoe UI Semibold" pitchFamily="34" charset="-122"/>
                          <a:cs typeface="Segoe UI Semibold" pitchFamily="34" charset="-120"/>
                        </a:rPr>
                        <a:t>Real conversions caught</a:t>
                      </a:r>
                      <a:endParaRPr lang="en-US" sz="12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0"/>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A · NDVI only</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E5F6D"/>
                          </a:solidFill>
                          <a:latin typeface="Segoe UI Semibold" pitchFamily="34" charset="0"/>
                          <a:ea typeface="Segoe UI Semibold" pitchFamily="34" charset="-122"/>
                          <a:cs typeface="Segoe UI Semibold" pitchFamily="34" charset="-120"/>
                        </a:rPr>
                        <a:t>1.61</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B</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yes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600" b="1" dirty="0">
                          <a:solidFill>
                            <a:srgbClr val="1B2B40"/>
                          </a:solidFill>
                          <a:latin typeface="Segoe UI Semibold" pitchFamily="34" charset="0"/>
                          <a:ea typeface="Segoe UI Semibold" pitchFamily="34" charset="-122"/>
                          <a:cs typeface="Segoe UI Semibold" pitchFamily="34" charset="-120"/>
                        </a:rPr>
                        <a:t>1.04</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502920">
                <a:tc>
                  <a:txBody>
                    <a:bodyPr/>
                    <a:lstStyle/>
                    <a:p>
                      <a:pPr marL="0" indent="0" algn="l">
                        <a:buNone/>
                      </a:pPr>
                      <a:r>
                        <a:rPr lang="en-US" sz="1300" b="1" dirty="0">
                          <a:solidFill>
                            <a:srgbClr val="3A4D63"/>
                          </a:solidFill>
                          <a:latin typeface="Segoe UI Semibold" pitchFamily="34" charset="0"/>
                          <a:ea typeface="Segoe UI Semibold" pitchFamily="34" charset="-122"/>
                          <a:cs typeface="Segoe UI Semibold" pitchFamily="34" charset="-120"/>
                        </a:rPr>
                        <a:t>C</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4D63"/>
                          </a:solidFill>
                          <a:latin typeface="Segoe UI" pitchFamily="34" charset="0"/>
                          <a:ea typeface="Segoe UI" pitchFamily="34" charset="-122"/>
                          <a:cs typeface="Segoe UI" pitchFamily="34" charset="-120"/>
                        </a:rPr>
                        <a:t>NDVI + red edge + SWIR moisture</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B2B40"/>
                          </a:solidFill>
                          <a:latin typeface="Segoe UI Semibold" pitchFamily="34" charset="0"/>
                          <a:ea typeface="Segoe UI Semibold" pitchFamily="34" charset="-122"/>
                          <a:cs typeface="Segoe UI Semibold" pitchFamily="34" charset="-120"/>
                        </a:rPr>
                        <a:t>1.36</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3A4D63"/>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b="1" dirty="0">
                          <a:solidFill>
                            <a:srgbClr val="1B2B40"/>
                          </a:solidFill>
                          <a:latin typeface="Segoe UI Semibold" pitchFamily="34" charset="0"/>
                          <a:ea typeface="Segoe UI Semibold" pitchFamily="34" charset="-122"/>
                          <a:cs typeface="Segoe UI Semibold" pitchFamily="34" charset="-120"/>
                        </a:rPr>
                        <a:t>D · ours</a:t>
                      </a:r>
                      <a:endParaRPr lang="en-US" sz="13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l">
                        <a:buNone/>
                      </a:pPr>
                      <a:r>
                        <a:rPr lang="en-US" sz="1300" dirty="0">
                          <a:solidFill>
                            <a:srgbClr val="1B2B40"/>
                          </a:solidFill>
                          <a:latin typeface="Segoe UI" pitchFamily="34" charset="0"/>
                          <a:ea typeface="Segoe UI" pitchFamily="34" charset="-122"/>
                          <a:cs typeface="Segoe UI" pitchFamily="34" charset="-120"/>
                        </a:rPr>
                        <a:t>NDVI + red edge + SWIR moisture</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300" dirty="0">
                          <a:solidFill>
                            <a:srgbClr val="1B2B40"/>
                          </a:solidFill>
                          <a:latin typeface="Segoe UI" pitchFamily="34" charset="0"/>
                          <a:ea typeface="Segoe UI" pitchFamily="34" charset="-122"/>
                          <a:cs typeface="Segoe UI" pitchFamily="34" charset="-120"/>
                        </a:rPr>
                        <a:t>yes</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600" b="1" dirty="0">
                          <a:solidFill>
                            <a:srgbClr val="2F5D8F"/>
                          </a:solidFill>
                          <a:latin typeface="Segoe UI Semibold" pitchFamily="34" charset="0"/>
                          <a:ea typeface="Segoe UI Semibold" pitchFamily="34" charset="-122"/>
                          <a:cs typeface="Segoe UI Semibold" pitchFamily="34" charset="-120"/>
                        </a:rPr>
                        <a:t>0.96</a:t>
                      </a:r>
                      <a:endParaRPr lang="en-US" sz="1600" dirty="0">
                        <a:latin typeface="Segoe UI Semibold" charset="0"/>
                        <a:ea typeface="Segoe UI Semibold" charset="0"/>
                        <a:cs typeface="Segoe UI Semibold"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tc>
                  <a:txBody>
                    <a:bodyPr/>
                    <a:lstStyle/>
                    <a:p>
                      <a:pPr marL="0" indent="0" algn="ctr">
                        <a:buNone/>
                      </a:pPr>
                      <a:r>
                        <a:rPr lang="en-US" sz="1300" dirty="0">
                          <a:solidFill>
                            <a:srgbClr val="1B2B40"/>
                          </a:solidFill>
                          <a:latin typeface="Segoe UI" pitchFamily="34" charset="0"/>
                          <a:ea typeface="Segoe UI" pitchFamily="34" charset="-122"/>
                          <a:cs typeface="Segoe UI" pitchFamily="34" charset="-120"/>
                        </a:rPr>
                        <a:t>5 of 5</a:t>
                      </a:r>
                      <a:endParaRPr lang="en-US" sz="1300" dirty="0">
                        <a:latin typeface="Segoe UI" charset="0"/>
                        <a:ea typeface="Segoe UI" charset="0"/>
                        <a:cs typeface="Segoe UI" charset="0"/>
                      </a:endParaRPr>
                    </a:p>
                  </a:txBody>
                  <a:tcPr marL="73152" marR="73152" marT="73152" marB="73152" anchor="ctr">
                    <a:lnL w="9525" cap="flat" cmpd="sng" algn="ctr">
                      <a:solidFill>
                        <a:srgbClr val="D3E0EE"/>
                      </a:solidFill>
                      <a:prstDash val="solid"/>
                      <a:round/>
                      <a:headEnd type="none" w="med" len="med"/>
                      <a:tailEnd type="none" w="med" len="med"/>
                    </a:lnL>
                    <a:lnR w="9525" cap="flat" cmpd="sng" algn="ctr">
                      <a:solidFill>
                        <a:srgbClr val="D3E0EE"/>
                      </a:solidFill>
                      <a:prstDash val="solid"/>
                      <a:round/>
                      <a:headEnd type="none" w="med" len="med"/>
                      <a:tailEnd type="none" w="med" len="med"/>
                    </a:lnR>
                    <a:lnT w="9525" cap="flat" cmpd="sng" algn="ctr">
                      <a:solidFill>
                        <a:srgbClr val="D3E0EE"/>
                      </a:solidFill>
                      <a:prstDash val="solid"/>
                      <a:round/>
                      <a:headEnd type="none" w="med" len="med"/>
                      <a:tailEnd type="none" w="med" len="med"/>
                    </a:lnT>
                    <a:lnB w="9525" cap="flat" cmpd="sng" algn="ctr">
                      <a:solidFill>
                        <a:srgbClr val="D3E0EE"/>
                      </a:solidFill>
                      <a:prstDash val="solid"/>
                      <a:round/>
                      <a:headEnd type="none" w="med" len="med"/>
                      <a:tailEnd type="none" w="med" len="med"/>
                    </a:lnB>
                    <a:solidFill>
                      <a:srgbClr val="E3EDF8"/>
                    </a:solidFill>
                  </a:tcPr>
                </a:tc>
                <a:extLst>
                  <a:ext uri="{0D108BD9-81ED-4DB2-BD59-A6C34878D82A}">
                    <a16:rowId xmlns:a16="http://schemas.microsoft.com/office/drawing/2014/main" val="10004"/>
                  </a:ext>
                </a:extLst>
              </a:tr>
            </a:tbl>
          </a:graphicData>
        </a:graphic>
      </p:graphicFrame>
      <p:sp>
        <p:nvSpPr>
          <p:cNvPr id="8" name="a2float_c0"/>
          <p:cNvSpPr/>
          <p:nvPr/>
        </p:nvSpPr>
        <p:spPr>
          <a:xfrm>
            <a:off x="548640" y="4572000"/>
            <a:ext cx="3593592" cy="1600200"/>
          </a:xfrm>
          <a:prstGeom prst="roundRect">
            <a:avLst>
              <a:gd name="adj" fmla="val 8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9" name="a2float_c0t"/>
          <p:cNvSpPr txBox="1"/>
          <p:nvPr/>
        </p:nvSpPr>
        <p:spPr>
          <a:xfrm>
            <a:off x="74980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40 % fewer false alarms</a:t>
            </a:r>
            <a:endParaRPr lang="en-US" sz="1500" dirty="0"/>
          </a:p>
        </p:txBody>
      </p:sp>
      <p:sp>
        <p:nvSpPr>
          <p:cNvPr id="10" name="a2float_c0d"/>
          <p:cNvSpPr txBox="1"/>
          <p:nvPr/>
        </p:nvSpPr>
        <p:spPr>
          <a:xfrm>
            <a:off x="74980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20 stands with no known change, 93.9 stand-years: about 16 fewer unnecessary inspections a year for 25 stands.</a:t>
            </a:r>
            <a:endParaRPr lang="en-US" sz="1200" dirty="0"/>
          </a:p>
        </p:txBody>
      </p:sp>
      <p:sp>
        <p:nvSpPr>
          <p:cNvPr id="11" name="a3float_c1"/>
          <p:cNvSpPr/>
          <p:nvPr/>
        </p:nvSpPr>
        <p:spPr>
          <a:xfrm>
            <a:off x="4297680" y="4572000"/>
            <a:ext cx="3593592" cy="1600200"/>
          </a:xfrm>
          <a:prstGeom prst="roundRect">
            <a:avLst>
              <a:gd name="adj" fmla="val 8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2" name="a3float_c1t"/>
          <p:cNvSpPr txBox="1"/>
          <p:nvPr/>
        </p:nvSpPr>
        <p:spPr>
          <a:xfrm>
            <a:off x="449884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The tide model is most of the gain</a:t>
            </a:r>
            <a:endParaRPr lang="en-US" sz="1500" dirty="0"/>
          </a:p>
        </p:txBody>
      </p:sp>
      <p:sp>
        <p:nvSpPr>
          <p:cNvPr id="13" name="a3float_c1d"/>
          <p:cNvSpPr txBox="1"/>
          <p:nvPr/>
        </p:nvSpPr>
        <p:spPr>
          <a:xfrm>
            <a:off x="449884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NDVI alone 1.61 → with tide terms 1.04; the extra indices bring it to 0.96.</a:t>
            </a:r>
            <a:endParaRPr lang="en-US" sz="1200" dirty="0"/>
          </a:p>
        </p:txBody>
      </p:sp>
      <p:sp>
        <p:nvSpPr>
          <p:cNvPr id="14" name="a4float_c2"/>
          <p:cNvSpPr/>
          <p:nvPr/>
        </p:nvSpPr>
        <p:spPr>
          <a:xfrm>
            <a:off x="8046720" y="4572000"/>
            <a:ext cx="3593592" cy="1600200"/>
          </a:xfrm>
          <a:prstGeom prst="roundRect">
            <a:avLst>
              <a:gd name="adj" fmla="val 8000"/>
            </a:avLst>
          </a:prstGeom>
          <a:solidFill>
            <a:srgbClr val="FBF5EA">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5" name="a4float_c2t"/>
          <p:cNvSpPr txBox="1"/>
          <p:nvPr/>
        </p:nvSpPr>
        <p:spPr>
          <a:xfrm>
            <a:off x="8247888" y="4681728"/>
            <a:ext cx="3246120" cy="365760"/>
          </a:xfrm>
          <a:prstGeom prst="rect">
            <a:avLst/>
          </a:prstGeom>
          <a:noFill/>
          <a:ln/>
        </p:spPr>
        <p:txBody>
          <a:bodyPr wrap="square" lIns="0" tIns="0" rIns="0" bIns="0" rtlCol="0" anchor="t"/>
          <a:lstStyle/>
          <a:p>
            <a:pPr marL="0" indent="0" algn="l">
              <a:lnSpc>
                <a:spcPct val="105000"/>
              </a:lnSpc>
              <a:buNone/>
            </a:pPr>
            <a:r>
              <a:rPr lang="en-US" sz="1500" dirty="0">
                <a:solidFill>
                  <a:srgbClr val="A9813A"/>
                </a:solidFill>
                <a:latin typeface="Segoe UI Semibold" pitchFamily="34" charset="0"/>
                <a:ea typeface="Segoe UI Semibold" pitchFamily="34" charset="-122"/>
                <a:cs typeface="Segoe UI Semibold" pitchFamily="34" charset="-120"/>
              </a:rPr>
              <a:t>Honest limit</a:t>
            </a:r>
            <a:endParaRPr lang="en-US" sz="1500" dirty="0"/>
          </a:p>
        </p:txBody>
      </p:sp>
      <p:sp>
        <p:nvSpPr>
          <p:cNvPr id="16" name="a4float_c2d"/>
          <p:cNvSpPr txBox="1"/>
          <p:nvPr/>
        </p:nvSpPr>
        <p:spPr>
          <a:xfrm>
            <a:off x="8247888" y="5047488"/>
            <a:ext cx="3246120" cy="105156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Thresholds calibrated for our monitor; all four catch the five conversions. The difference is the false-alarm cost, not detection.</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700"/>
                                        <p:tgtEl>
                                          <p:spTgt spid="21"/>
                                        </p:tgtEl>
                                      </p:cBhvr>
                                    </p:animEffect>
                                    <p:anim calcmode="lin" valueType="num">
                                      <p:cBhvr additive="base">
                                        <p:cTn id="15" dur="700" fill="hold"/>
                                        <p:tgtEl>
                                          <p:spTgt spid="21"/>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69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6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69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91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91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113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113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113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21" grpId="0">
        <p:bldAsOne/>
      </p:bldGraphic>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glow1" descr="C:\Users\nahla\Desktop\UAE-Space-Hackatoon\deck_pptx\build\assets\glow_cyan.png"/>
          <p:cNvPicPr>
            <a:picLocks noChangeAspect="1"/>
          </p:cNvPicPr>
          <p:nvPr/>
        </p:nvPicPr>
        <p:blipFill>
          <a:blip r:embed="rId3">
            <a:alphaModFix amt="38000"/>
          </a:blip>
          <a:stretch>
            <a:fillRect/>
          </a:stretch>
        </p:blipFill>
        <p:spPr>
          <a:xfrm>
            <a:off x="-2194560" y="-2377440"/>
            <a:ext cx="5486400" cy="5486400"/>
          </a:xfrm>
          <a:prstGeom prst="rect">
            <a:avLst/>
          </a:prstGeom>
        </p:spPr>
      </p:pic>
      <p:pic>
        <p:nvPicPr>
          <p:cNvPr id="3" name="!!glow2" descr="C:\Users\nahla\Desktop\UAE-Space-Hackatoon\deck_pptx\build\assets\glow_blue.png"/>
          <p:cNvPicPr>
            <a:picLocks noChangeAspect="1"/>
          </p:cNvPicPr>
          <p:nvPr/>
        </p:nvPicPr>
        <p:blipFill>
          <a:blip r:embed="rId4">
            <a:alphaModFix amt="35000"/>
          </a:blip>
          <a:stretch>
            <a:fillRect/>
          </a:stretch>
        </p:blipFill>
        <p:spPr>
          <a:xfrm>
            <a:off x="8229600" y="3291840"/>
            <a:ext cx="5486400" cy="5486400"/>
          </a:xfrm>
          <a:prstGeom prst="rect">
            <a:avLst/>
          </a:prstGeom>
        </p:spPr>
      </p:pic>
      <p:sp>
        <p:nvSpPr>
          <p:cNvPr id="4" name="Text 0"/>
          <p:cNvSpPr>
            <a:spLocks noGrp="1"/>
          </p:cNvSpPr>
          <p:nvPr>
            <p:ph type="body" idx="100" hasCustomPrompt="1"/>
          </p:nvPr>
        </p:nvSpPr>
        <p:spPr>
          <a:xfrm>
            <a:off x="548640" y="384048"/>
            <a:ext cx="11064240" cy="329184"/>
          </a:xfrm>
          <a:prstGeom prst="rect">
            <a:avLst/>
          </a:prstGeom>
          <a:noFill/>
          <a:ln/>
        </p:spPr>
        <p:txBody>
          <a:bodyPr wrap="square" lIns="0" tIns="0" rIns="0" bIns="0" rtlCol="0"/>
          <a:lstStyle/>
          <a:p>
            <a:pPr marL="0" indent="0" algn="l">
              <a:buNone/>
            </a:pPr>
            <a:r>
              <a:rPr lang="en-US" sz="1200" kern="0" spc="300" dirty="0">
                <a:solidFill>
                  <a:srgbClr val="3F6E9E"/>
                </a:solidFill>
                <a:latin typeface="Segoe UI Semibold" pitchFamily="34" charset="0"/>
                <a:ea typeface="Segoe UI Semibold" pitchFamily="34" charset="-122"/>
                <a:cs typeface="Segoe UI Semibold" pitchFamily="34" charset="-120"/>
              </a:rPr>
              <a:t>BACKUP · FOR QUESTIONS</a:t>
            </a:r>
            <a:endParaRPr lang="en-US" sz="1200" dirty="0"/>
          </a:p>
        </p:txBody>
      </p:sp>
      <p:sp>
        <p:nvSpPr>
          <p:cNvPr id="5" name="Text 0"/>
          <p:cNvSpPr>
            <a:spLocks noGrp="1"/>
          </p:cNvSpPr>
          <p:nvPr>
            <p:ph type="title" idx="101" hasCustomPrompt="1"/>
          </p:nvPr>
        </p:nvSpPr>
        <p:spPr>
          <a:xfrm>
            <a:off x="548640" y="713232"/>
            <a:ext cx="11064240" cy="777240"/>
          </a:xfrm>
          <a:prstGeom prst="rect">
            <a:avLst/>
          </a:prstGeom>
          <a:noFill/>
          <a:ln/>
        </p:spPr>
        <p:txBody>
          <a:bodyPr wrap="square" lIns="0" tIns="0" rIns="0" bIns="0" rtlCol="0" anchor="t"/>
          <a:lstStyle/>
          <a:p>
            <a:pPr marL="0" indent="0" algn="l">
              <a:buNone/>
            </a:pPr>
            <a:r>
              <a:rPr lang="en-US" sz="3400" dirty="0">
                <a:solidFill>
                  <a:srgbClr val="1B2B40"/>
                </a:solidFill>
                <a:latin typeface="Segoe UI Semibold" pitchFamily="34" charset="0"/>
                <a:ea typeface="Segoe UI Semibold" pitchFamily="34" charset="-122"/>
                <a:cs typeface="Segoe UI Semibold" pitchFamily="34" charset="-120"/>
              </a:rPr>
              <a:t>Where it breaks — and what we do not claim</a:t>
            </a:r>
            <a:endParaRPr lang="en-US" sz="3400" dirty="0"/>
          </a:p>
        </p:txBody>
      </p:sp>
      <p:sp>
        <p:nvSpPr>
          <p:cNvPr id="7" name="a1float_l0"/>
          <p:cNvSpPr/>
          <p:nvPr/>
        </p:nvSpPr>
        <p:spPr>
          <a:xfrm>
            <a:off x="54864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8" name="a1float_l0ic_c"/>
          <p:cNvSpPr/>
          <p:nvPr/>
        </p:nvSpPr>
        <p:spPr>
          <a:xfrm>
            <a:off x="749808" y="189280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9" name="a1float_l0ic_i" descr="preencoded.png"/>
          <p:cNvPicPr>
            <a:picLocks noChangeAspect="1"/>
          </p:cNvPicPr>
          <p:nvPr/>
        </p:nvPicPr>
        <p:blipFill>
          <a:blip r:embed="rId5"/>
          <a:stretch>
            <a:fillRect/>
          </a:stretch>
        </p:blipFill>
        <p:spPr>
          <a:xfrm>
            <a:off x="872703" y="2015703"/>
            <a:ext cx="266273" cy="266273"/>
          </a:xfrm>
          <a:prstGeom prst="rect">
            <a:avLst/>
          </a:prstGeom>
        </p:spPr>
      </p:pic>
      <p:sp>
        <p:nvSpPr>
          <p:cNvPr id="10" name="a1float_l0t"/>
          <p:cNvSpPr txBox="1"/>
          <p:nvPr/>
        </p:nvSpPr>
        <p:spPr>
          <a:xfrm>
            <a:off x="141732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Detection, not early warning</a:t>
            </a:r>
            <a:endParaRPr lang="en-US" sz="1500" dirty="0"/>
          </a:p>
        </p:txBody>
      </p:sp>
      <p:sp>
        <p:nvSpPr>
          <p:cNvPr id="11" name="a1float_l0d"/>
          <p:cNvSpPr txBox="1"/>
          <p:nvPr/>
        </p:nvSpPr>
        <p:spPr>
          <a:xfrm>
            <a:off x="74980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Alerts fire as works happen. We never claim to see stress before it is visible.</a:t>
            </a:r>
            <a:endParaRPr lang="en-US" sz="1200" dirty="0"/>
          </a:p>
        </p:txBody>
      </p:sp>
      <p:sp>
        <p:nvSpPr>
          <p:cNvPr id="12" name="a1float_l1"/>
          <p:cNvSpPr/>
          <p:nvPr/>
        </p:nvSpPr>
        <p:spPr>
          <a:xfrm>
            <a:off x="429768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3" name="a1float_l1ic_c"/>
          <p:cNvSpPr/>
          <p:nvPr/>
        </p:nvSpPr>
        <p:spPr>
          <a:xfrm>
            <a:off x="4498848" y="189280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4" name="a1float_l1ic_i" descr="preencoded.png"/>
          <p:cNvPicPr>
            <a:picLocks noChangeAspect="1"/>
          </p:cNvPicPr>
          <p:nvPr/>
        </p:nvPicPr>
        <p:blipFill>
          <a:blip r:embed="rId6"/>
          <a:stretch>
            <a:fillRect/>
          </a:stretch>
        </p:blipFill>
        <p:spPr>
          <a:xfrm>
            <a:off x="4621743" y="2015703"/>
            <a:ext cx="266273" cy="266273"/>
          </a:xfrm>
          <a:prstGeom prst="rect">
            <a:avLst/>
          </a:prstGeom>
        </p:spPr>
      </p:pic>
      <p:sp>
        <p:nvSpPr>
          <p:cNvPr id="15" name="a1float_l1t"/>
          <p:cNvSpPr txBox="1"/>
          <p:nvPr/>
        </p:nvSpPr>
        <p:spPr>
          <a:xfrm>
            <a:off x="516636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10 m pixels</a:t>
            </a:r>
            <a:endParaRPr lang="en-US" sz="1500" dirty="0"/>
          </a:p>
        </p:txBody>
      </p:sp>
      <p:sp>
        <p:nvSpPr>
          <p:cNvPr id="16" name="a1float_l1d"/>
          <p:cNvSpPr txBox="1"/>
          <p:nvPr/>
        </p:nvSpPr>
        <p:spPr>
          <a:xfrm>
            <a:off x="449884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Patches under ~0.6 ha and young plantings are missed, Bahrain's small stands included.</a:t>
            </a:r>
            <a:endParaRPr lang="en-US" sz="1200" dirty="0"/>
          </a:p>
        </p:txBody>
      </p:sp>
      <p:sp>
        <p:nvSpPr>
          <p:cNvPr id="17" name="a1float_l2"/>
          <p:cNvSpPr/>
          <p:nvPr/>
        </p:nvSpPr>
        <p:spPr>
          <a:xfrm>
            <a:off x="8046720" y="169164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18" name="a1float_l2ic_c"/>
          <p:cNvSpPr/>
          <p:nvPr/>
        </p:nvSpPr>
        <p:spPr>
          <a:xfrm>
            <a:off x="8247888" y="189280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19" name="a1float_l2ic_i" descr="preencoded.png"/>
          <p:cNvPicPr>
            <a:picLocks noChangeAspect="1"/>
          </p:cNvPicPr>
          <p:nvPr/>
        </p:nvPicPr>
        <p:blipFill>
          <a:blip r:embed="rId7"/>
          <a:stretch>
            <a:fillRect/>
          </a:stretch>
        </p:blipFill>
        <p:spPr>
          <a:xfrm>
            <a:off x="8370783" y="2015703"/>
            <a:ext cx="266273" cy="266273"/>
          </a:xfrm>
          <a:prstGeom prst="rect">
            <a:avLst/>
          </a:prstGeom>
        </p:spPr>
      </p:pic>
      <p:sp>
        <p:nvSpPr>
          <p:cNvPr id="20" name="a1float_l2t"/>
          <p:cNvSpPr txBox="1"/>
          <p:nvPr/>
        </p:nvSpPr>
        <p:spPr>
          <a:xfrm>
            <a:off x="8915400" y="189280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Imagery, not site visits</a:t>
            </a:r>
            <a:endParaRPr lang="en-US" sz="1500" dirty="0"/>
          </a:p>
        </p:txBody>
      </p:sp>
      <p:sp>
        <p:nvSpPr>
          <p:cNvPr id="21" name="a1float_l2d"/>
          <p:cNvSpPr txBox="1"/>
          <p:nvPr/>
        </p:nvSpPr>
        <p:spPr>
          <a:xfrm>
            <a:off x="8247888" y="253288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Conversions confirmed on dated sub-metre captures, not yet on permits or field records.</a:t>
            </a:r>
            <a:endParaRPr lang="en-US" sz="1200" dirty="0"/>
          </a:p>
        </p:txBody>
      </p:sp>
      <p:sp>
        <p:nvSpPr>
          <p:cNvPr id="22" name="a2float_l3"/>
          <p:cNvSpPr/>
          <p:nvPr/>
        </p:nvSpPr>
        <p:spPr>
          <a:xfrm>
            <a:off x="54864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3" name="a2float_l3ic_c"/>
          <p:cNvSpPr/>
          <p:nvPr/>
        </p:nvSpPr>
        <p:spPr>
          <a:xfrm>
            <a:off x="749808" y="390448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4" name="a2float_l3ic_i" descr="preencoded.png"/>
          <p:cNvPicPr>
            <a:picLocks noChangeAspect="1"/>
          </p:cNvPicPr>
          <p:nvPr/>
        </p:nvPicPr>
        <p:blipFill>
          <a:blip r:embed="rId8"/>
          <a:stretch>
            <a:fillRect/>
          </a:stretch>
        </p:blipFill>
        <p:spPr>
          <a:xfrm>
            <a:off x="872703" y="4027383"/>
            <a:ext cx="266273" cy="266273"/>
          </a:xfrm>
          <a:prstGeom prst="rect">
            <a:avLst/>
          </a:prstGeom>
        </p:spPr>
      </p:pic>
      <p:sp>
        <p:nvSpPr>
          <p:cNvPr id="25" name="a2float_l3t"/>
          <p:cNvSpPr txBox="1"/>
          <p:nvPr/>
        </p:nvSpPr>
        <p:spPr>
          <a:xfrm>
            <a:off x="141732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Simulated losses</a:t>
            </a:r>
            <a:endParaRPr lang="en-US" sz="1500" dirty="0"/>
          </a:p>
        </p:txBody>
      </p:sp>
      <p:sp>
        <p:nvSpPr>
          <p:cNvPr id="26" name="a2float_l3d"/>
          <p:cNvSpPr txBox="1"/>
          <p:nvPr/>
        </p:nvSpPr>
        <p:spPr>
          <a:xfrm>
            <a:off x="74980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Canopy-cover loss, not leaf stress; every rate shown next to its chance rate.</a:t>
            </a:r>
            <a:endParaRPr lang="en-US" sz="1200" dirty="0"/>
          </a:p>
        </p:txBody>
      </p:sp>
      <p:sp>
        <p:nvSpPr>
          <p:cNvPr id="27" name="a2float_l4"/>
          <p:cNvSpPr/>
          <p:nvPr/>
        </p:nvSpPr>
        <p:spPr>
          <a:xfrm>
            <a:off x="429768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28" name="a2float_l4ic_c"/>
          <p:cNvSpPr/>
          <p:nvPr/>
        </p:nvSpPr>
        <p:spPr>
          <a:xfrm>
            <a:off x="4498848" y="390448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29" name="a2float_l4ic_i" descr="preencoded.png"/>
          <p:cNvPicPr>
            <a:picLocks noChangeAspect="1"/>
          </p:cNvPicPr>
          <p:nvPr/>
        </p:nvPicPr>
        <p:blipFill>
          <a:blip r:embed="rId9"/>
          <a:stretch>
            <a:fillRect/>
          </a:stretch>
        </p:blipFill>
        <p:spPr>
          <a:xfrm>
            <a:off x="4621743" y="4027383"/>
            <a:ext cx="266273" cy="266273"/>
          </a:xfrm>
          <a:prstGeom prst="rect">
            <a:avLst/>
          </a:prstGeom>
        </p:spPr>
      </p:pic>
      <p:sp>
        <p:nvSpPr>
          <p:cNvPr id="30" name="a2float_l4t"/>
          <p:cNvSpPr txBox="1"/>
          <p:nvPr/>
        </p:nvSpPr>
        <p:spPr>
          <a:xfrm>
            <a:off x="516636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Hyperspectral</a:t>
            </a:r>
            <a:endParaRPr lang="en-US" sz="1500" dirty="0"/>
          </a:p>
        </p:txBody>
      </p:sp>
      <p:sp>
        <p:nvSpPr>
          <p:cNvPr id="31" name="a2float_l4d"/>
          <p:cNvSpPr txBox="1"/>
          <p:nvPr/>
        </p:nvSpPr>
        <p:spPr>
          <a:xfrm>
            <a:off x="449884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EnMAP confirms our indices but was not a better classifier (F1 0.74 vs 0.72).</a:t>
            </a:r>
            <a:endParaRPr lang="en-US" sz="1200" dirty="0"/>
          </a:p>
        </p:txBody>
      </p:sp>
      <p:sp>
        <p:nvSpPr>
          <p:cNvPr id="32" name="a2float_l5"/>
          <p:cNvSpPr/>
          <p:nvPr/>
        </p:nvSpPr>
        <p:spPr>
          <a:xfrm>
            <a:off x="8046720" y="3703320"/>
            <a:ext cx="3593592" cy="1828800"/>
          </a:xfrm>
          <a:prstGeom prst="roundRect">
            <a:avLst>
              <a:gd name="adj" fmla="val 7000"/>
            </a:avLst>
          </a:prstGeom>
          <a:solidFill>
            <a:srgbClr val="FFFFFF">
              <a:alpha val="82000"/>
            </a:srgbClr>
          </a:solidFill>
          <a:ln w="9525">
            <a:solidFill>
              <a:srgbClr val="D3E0EE"/>
            </a:solidFill>
            <a:prstDash val="solid"/>
          </a:ln>
          <a:effectLst>
            <a:outerShdw blurRad="152400" dist="38100" dir="5400000" algn="bl" rotWithShape="0">
              <a:srgbClr val="1B2B40">
                <a:alpha val="12000"/>
              </a:srgbClr>
            </a:outerShdw>
          </a:effectLst>
        </p:spPr>
        <p:txBody>
          <a:bodyPr/>
          <a:lstStyle/>
          <a:p>
            <a:endParaRPr lang="en-GB"/>
          </a:p>
        </p:txBody>
      </p:sp>
      <p:sp>
        <p:nvSpPr>
          <p:cNvPr id="33" name="a2float_l5ic_c"/>
          <p:cNvSpPr/>
          <p:nvPr/>
        </p:nvSpPr>
        <p:spPr>
          <a:xfrm>
            <a:off x="8247888" y="3904488"/>
            <a:ext cx="512064" cy="512064"/>
          </a:xfrm>
          <a:prstGeom prst="ellipse">
            <a:avLst/>
          </a:prstGeom>
          <a:solidFill>
            <a:srgbClr val="3F6E9E">
              <a:alpha val="18000"/>
            </a:srgbClr>
          </a:solidFill>
          <a:ln w="12700">
            <a:solidFill>
              <a:srgbClr val="3F6E9E"/>
            </a:solidFill>
            <a:prstDash val="solid"/>
          </a:ln>
        </p:spPr>
        <p:txBody>
          <a:bodyPr/>
          <a:lstStyle/>
          <a:p>
            <a:endParaRPr lang="en-GB"/>
          </a:p>
        </p:txBody>
      </p:sp>
      <p:pic>
        <p:nvPicPr>
          <p:cNvPr id="34" name="a2float_l5ic_i" descr="preencoded.png"/>
          <p:cNvPicPr>
            <a:picLocks noChangeAspect="1"/>
          </p:cNvPicPr>
          <p:nvPr/>
        </p:nvPicPr>
        <p:blipFill>
          <a:blip r:embed="rId10"/>
          <a:stretch>
            <a:fillRect/>
          </a:stretch>
        </p:blipFill>
        <p:spPr>
          <a:xfrm>
            <a:off x="8370783" y="4027383"/>
            <a:ext cx="266273" cy="266273"/>
          </a:xfrm>
          <a:prstGeom prst="rect">
            <a:avLst/>
          </a:prstGeom>
        </p:spPr>
      </p:pic>
      <p:sp>
        <p:nvSpPr>
          <p:cNvPr id="35" name="a2float_l5t"/>
          <p:cNvSpPr txBox="1"/>
          <p:nvPr/>
        </p:nvSpPr>
        <p:spPr>
          <a:xfrm>
            <a:off x="8915400" y="3904488"/>
            <a:ext cx="2606040" cy="512064"/>
          </a:xfrm>
          <a:prstGeom prst="rect">
            <a:avLst/>
          </a:prstGeom>
          <a:noFill/>
          <a:ln/>
        </p:spPr>
        <p:txBody>
          <a:bodyPr wrap="square" lIns="0" tIns="0" rIns="0" bIns="0" rtlCol="0" anchor="ctr"/>
          <a:lstStyle/>
          <a:p>
            <a:pPr marL="0" indent="0" algn="l">
              <a:lnSpc>
                <a:spcPct val="105000"/>
              </a:lnSpc>
              <a:buNone/>
            </a:pPr>
            <a:r>
              <a:rPr lang="en-US" sz="1500" dirty="0">
                <a:solidFill>
                  <a:srgbClr val="1B2B40"/>
                </a:solidFill>
                <a:latin typeface="Segoe UI Semibold" pitchFamily="34" charset="0"/>
                <a:ea typeface="Segoe UI Semibold" pitchFamily="34" charset="-122"/>
                <a:cs typeface="Segoe UI Semibold" pitchFamily="34" charset="-120"/>
              </a:rPr>
              <a:t>Carbon</a:t>
            </a:r>
            <a:endParaRPr lang="en-US" sz="1500" dirty="0"/>
          </a:p>
        </p:txBody>
      </p:sp>
      <p:sp>
        <p:nvSpPr>
          <p:cNvPr id="36" name="a2float_l5d"/>
          <p:cNvSpPr txBox="1"/>
          <p:nvPr/>
        </p:nvSpPr>
        <p:spPr>
          <a:xfrm>
            <a:off x="8247888" y="4544568"/>
            <a:ext cx="3246120" cy="914400"/>
          </a:xfrm>
          <a:prstGeom prst="rect">
            <a:avLst/>
          </a:prstGeom>
          <a:noFill/>
          <a:ln/>
        </p:spPr>
        <p:txBody>
          <a:bodyPr wrap="square" lIns="0" tIns="0" rIns="0" bIns="0" rtlCol="0" anchor="t"/>
          <a:lstStyle/>
          <a:p>
            <a:pPr marL="0" indent="0" algn="l">
              <a:lnSpc>
                <a:spcPct val="105000"/>
              </a:lnSpc>
              <a:buNone/>
            </a:pPr>
            <a:r>
              <a:rPr lang="en-US" sz="1200" dirty="0">
                <a:solidFill>
                  <a:srgbClr val="5F738A"/>
                </a:solidFill>
                <a:latin typeface="Segoe UI" pitchFamily="34" charset="0"/>
                <a:ea typeface="Segoe UI" pitchFamily="34" charset="-122"/>
                <a:cs typeface="Segoe UI" pitchFamily="34" charset="-120"/>
              </a:rPr>
              <a:t>Area × field density from four sites (2013–14): a stock with a range, never a sequestration rate.</a:t>
            </a:r>
            <a:endParaRPr lang="en-US" sz="1200" dirty="0"/>
          </a:p>
        </p:txBody>
      </p:sp>
      <p:sp>
        <p:nvSpPr>
          <p:cNvPr id="37" name="a3fade_rule"/>
          <p:cNvSpPr txBox="1"/>
          <p:nvPr/>
        </p:nvSpPr>
        <p:spPr>
          <a:xfrm>
            <a:off x="548640" y="5870448"/>
            <a:ext cx="11064240" cy="320040"/>
          </a:xfrm>
          <a:prstGeom prst="rect">
            <a:avLst/>
          </a:prstGeom>
          <a:noFill/>
          <a:ln/>
        </p:spPr>
        <p:txBody>
          <a:bodyPr wrap="square" lIns="0" tIns="0" rIns="0" bIns="0" rtlCol="0" anchor="t"/>
          <a:lstStyle/>
          <a:p>
            <a:pPr marL="0" indent="0" algn="l">
              <a:lnSpc>
                <a:spcPct val="105000"/>
              </a:lnSpc>
              <a:buNone/>
            </a:pPr>
            <a:r>
              <a:rPr lang="en-US" sz="1200" dirty="0">
                <a:solidFill>
                  <a:srgbClr val="2F5D8F"/>
                </a:solidFill>
                <a:latin typeface="Segoe UI" pitchFamily="34" charset="0"/>
                <a:ea typeface="Segoe UI" pitchFamily="34" charset="-122"/>
                <a:cs typeface="Segoe UI" pitchFamily="34" charset="-120"/>
              </a:rPr>
              <a:t>Rule we kept: no detection rate without its chance rate; no claim of advance warning, field verification or species discrimination.</a:t>
            </a:r>
            <a:endParaRPr lang="en-US" sz="12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3F6E9E"/>
                </a:solidFill>
                <a:latin typeface="Segoe UI Semibold"/>
                <a:ea typeface="Segoe UI Semibold"/>
                <a:cs typeface="Segoe UI Semibold"/>
              </a:defRPr>
            </a:lvl1pPr>
          </a:lstStyle>
          <a:p>
            <a:pPr algn="r"/>
            <a:fld id="{F7021451-1387-4CA6-816F-3879F97B5CBC}" type="slidenum">
              <a:rPr lang="en-US" b="0"/>
              <a:t>26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42" presetClass="entr" presetSubtype="0" decel="10000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anim calcmode="lin" valueType="num">
                                      <p:cBhvr additive="base">
                                        <p:cTn id="11" dur="700" fill="hold"/>
                                        <p:tgtEl>
                                          <p:spTgt spid="5"/>
                                        </p:tgtEl>
                                        <p:attrNameLst>
                                          <p:attrName>ppt_y</p:attrName>
                                        </p:attrNameLst>
                                      </p:cBhvr>
                                      <p:tavLst>
                                        <p:tav tm="0">
                                          <p:val>
                                            <p:strVal val="#ppt_y+0.03"/>
                                          </p:val>
                                        </p:tav>
                                        <p:tav tm="100000">
                                          <p:val>
                                            <p:strVal val="#ppt_y"/>
                                          </p:val>
                                        </p:tav>
                                      </p:tavLst>
                                    </p:anim>
                                  </p:childTnLst>
                                </p:cTn>
                              </p:par>
                              <p:par>
                                <p:cTn id="12" presetID="42" presetClass="entr" presetSubtype="0" decel="100000" fill="hold" grpId="0" nodeType="withEffect">
                                  <p:stCondLst>
                                    <p:cond delay="47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00"/>
                                        <p:tgtEl>
                                          <p:spTgt spid="7"/>
                                        </p:tgtEl>
                                      </p:cBhvr>
                                    </p:animEffect>
                                    <p:anim calcmode="lin" valueType="num">
                                      <p:cBhvr additive="base">
                                        <p:cTn id="15" dur="700" fill="hold"/>
                                        <p:tgtEl>
                                          <p:spTgt spid="7"/>
                                        </p:tgtEl>
                                        <p:attrNameLst>
                                          <p:attrName>ppt_y</p:attrName>
                                        </p:attrNameLst>
                                      </p:cBhvr>
                                      <p:tavLst>
                                        <p:tav tm="0">
                                          <p:val>
                                            <p:strVal val="#ppt_y+0.03"/>
                                          </p:val>
                                        </p:tav>
                                        <p:tav tm="100000">
                                          <p:val>
                                            <p:strVal val="#ppt_y"/>
                                          </p:val>
                                        </p:tav>
                                      </p:tavLst>
                                    </p:anim>
                                  </p:childTnLst>
                                </p:cTn>
                              </p:par>
                              <p:par>
                                <p:cTn id="16" presetID="42" presetClass="entr" presetSubtype="0" decel="100000" fill="hold" grpId="0" nodeType="withEffect">
                                  <p:stCondLst>
                                    <p:cond delay="47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700"/>
                                        <p:tgtEl>
                                          <p:spTgt spid="8"/>
                                        </p:tgtEl>
                                      </p:cBhvr>
                                    </p:animEffect>
                                    <p:anim calcmode="lin" valueType="num">
                                      <p:cBhvr additive="base">
                                        <p:cTn id="19" dur="700" fill="hold"/>
                                        <p:tgtEl>
                                          <p:spTgt spid="8"/>
                                        </p:tgtEl>
                                        <p:attrNameLst>
                                          <p:attrName>ppt_y</p:attrName>
                                        </p:attrNameLst>
                                      </p:cBhvr>
                                      <p:tavLst>
                                        <p:tav tm="0">
                                          <p:val>
                                            <p:strVal val="#ppt_y+0.03"/>
                                          </p:val>
                                        </p:tav>
                                        <p:tav tm="100000">
                                          <p:val>
                                            <p:strVal val="#ppt_y"/>
                                          </p:val>
                                        </p:tav>
                                      </p:tavLst>
                                    </p:anim>
                                  </p:childTnLst>
                                </p:cTn>
                              </p:par>
                              <p:par>
                                <p:cTn id="20" presetID="42" presetClass="entr" presetSubtype="0" decel="100000" fill="hold" grpId="0" nodeType="withEffect">
                                  <p:stCondLst>
                                    <p:cond delay="47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700"/>
                                        <p:tgtEl>
                                          <p:spTgt spid="9"/>
                                        </p:tgtEl>
                                      </p:cBhvr>
                                    </p:animEffect>
                                    <p:anim calcmode="lin" valueType="num">
                                      <p:cBhvr additive="base">
                                        <p:cTn id="23" dur="700" fill="hold"/>
                                        <p:tgtEl>
                                          <p:spTgt spid="9"/>
                                        </p:tgtEl>
                                        <p:attrNameLst>
                                          <p:attrName>ppt_y</p:attrName>
                                        </p:attrNameLst>
                                      </p:cBhvr>
                                      <p:tavLst>
                                        <p:tav tm="0">
                                          <p:val>
                                            <p:strVal val="#ppt_y+0.03"/>
                                          </p:val>
                                        </p:tav>
                                        <p:tav tm="100000">
                                          <p:val>
                                            <p:strVal val="#ppt_y"/>
                                          </p:val>
                                        </p:tav>
                                      </p:tavLst>
                                    </p:anim>
                                  </p:childTnLst>
                                </p:cTn>
                              </p:par>
                              <p:par>
                                <p:cTn id="24" presetID="42" presetClass="entr" presetSubtype="0" decel="100000" fill="hold" grpId="0" nodeType="withEffect">
                                  <p:stCondLst>
                                    <p:cond delay="47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anim calcmode="lin" valueType="num">
                                      <p:cBhvr additive="base">
                                        <p:cTn id="27" dur="700" fill="hold"/>
                                        <p:tgtEl>
                                          <p:spTgt spid="10"/>
                                        </p:tgtEl>
                                        <p:attrNameLst>
                                          <p:attrName>ppt_y</p:attrName>
                                        </p:attrNameLst>
                                      </p:cBhvr>
                                      <p:tavLst>
                                        <p:tav tm="0">
                                          <p:val>
                                            <p:strVal val="#ppt_y+0.03"/>
                                          </p:val>
                                        </p:tav>
                                        <p:tav tm="100000">
                                          <p:val>
                                            <p:strVal val="#ppt_y"/>
                                          </p:val>
                                        </p:tav>
                                      </p:tavLst>
                                    </p:anim>
                                  </p:childTnLst>
                                </p:cTn>
                              </p:par>
                              <p:par>
                                <p:cTn id="28" presetID="42" presetClass="entr" presetSubtype="0" decel="100000" fill="hold" grpId="0" nodeType="withEffect">
                                  <p:stCondLst>
                                    <p:cond delay="47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anim calcmode="lin" valueType="num">
                                      <p:cBhvr additive="base">
                                        <p:cTn id="31" dur="700" fill="hold"/>
                                        <p:tgtEl>
                                          <p:spTgt spid="11"/>
                                        </p:tgtEl>
                                        <p:attrNameLst>
                                          <p:attrName>ppt_y</p:attrName>
                                        </p:attrNameLst>
                                      </p:cBhvr>
                                      <p:tavLst>
                                        <p:tav tm="0">
                                          <p:val>
                                            <p:strVal val="#ppt_y+0.03"/>
                                          </p:val>
                                        </p:tav>
                                        <p:tav tm="100000">
                                          <p:val>
                                            <p:strVal val="#ppt_y"/>
                                          </p:val>
                                        </p:tav>
                                      </p:tavLst>
                                    </p:anim>
                                  </p:childTnLst>
                                </p:cTn>
                              </p:par>
                              <p:par>
                                <p:cTn id="32" presetID="42" presetClass="entr" presetSubtype="0" decel="100000" fill="hold" grpId="0" nodeType="withEffect">
                                  <p:stCondLst>
                                    <p:cond delay="47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00"/>
                                        <p:tgtEl>
                                          <p:spTgt spid="12"/>
                                        </p:tgtEl>
                                      </p:cBhvr>
                                    </p:animEffect>
                                    <p:anim calcmode="lin" valueType="num">
                                      <p:cBhvr additive="base">
                                        <p:cTn id="35" dur="700" fill="hold"/>
                                        <p:tgtEl>
                                          <p:spTgt spid="12"/>
                                        </p:tgtEl>
                                        <p:attrNameLst>
                                          <p:attrName>ppt_y</p:attrName>
                                        </p:attrNameLst>
                                      </p:cBhvr>
                                      <p:tavLst>
                                        <p:tav tm="0">
                                          <p:val>
                                            <p:strVal val="#ppt_y+0.03"/>
                                          </p:val>
                                        </p:tav>
                                        <p:tav tm="100000">
                                          <p:val>
                                            <p:strVal val="#ppt_y"/>
                                          </p:val>
                                        </p:tav>
                                      </p:tavLst>
                                    </p:anim>
                                  </p:childTnLst>
                                </p:cTn>
                              </p:par>
                              <p:par>
                                <p:cTn id="36" presetID="42" presetClass="entr" presetSubtype="0" decel="100000" fill="hold" grpId="0" nodeType="withEffect">
                                  <p:stCondLst>
                                    <p:cond delay="47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00"/>
                                        <p:tgtEl>
                                          <p:spTgt spid="13"/>
                                        </p:tgtEl>
                                      </p:cBhvr>
                                    </p:animEffect>
                                    <p:anim calcmode="lin" valueType="num">
                                      <p:cBhvr additive="base">
                                        <p:cTn id="39" dur="700" fill="hold"/>
                                        <p:tgtEl>
                                          <p:spTgt spid="13"/>
                                        </p:tgtEl>
                                        <p:attrNameLst>
                                          <p:attrName>ppt_y</p:attrName>
                                        </p:attrNameLst>
                                      </p:cBhvr>
                                      <p:tavLst>
                                        <p:tav tm="0">
                                          <p:val>
                                            <p:strVal val="#ppt_y+0.03"/>
                                          </p:val>
                                        </p:tav>
                                        <p:tav tm="100000">
                                          <p:val>
                                            <p:strVal val="#ppt_y"/>
                                          </p:val>
                                        </p:tav>
                                      </p:tavLst>
                                    </p:anim>
                                  </p:childTnLst>
                                </p:cTn>
                              </p:par>
                              <p:par>
                                <p:cTn id="40" presetID="42" presetClass="entr" presetSubtype="0" decel="100000" fill="hold" grpId="0" nodeType="withEffect">
                                  <p:stCondLst>
                                    <p:cond delay="47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anim calcmode="lin" valueType="num">
                                      <p:cBhvr additive="base">
                                        <p:cTn id="43" dur="700" fill="hold"/>
                                        <p:tgtEl>
                                          <p:spTgt spid="14"/>
                                        </p:tgtEl>
                                        <p:attrNameLst>
                                          <p:attrName>ppt_y</p:attrName>
                                        </p:attrNameLst>
                                      </p:cBhvr>
                                      <p:tavLst>
                                        <p:tav tm="0">
                                          <p:val>
                                            <p:strVal val="#ppt_y+0.03"/>
                                          </p:val>
                                        </p:tav>
                                        <p:tav tm="100000">
                                          <p:val>
                                            <p:strVal val="#ppt_y"/>
                                          </p:val>
                                        </p:tav>
                                      </p:tavLst>
                                    </p:anim>
                                  </p:childTnLst>
                                </p:cTn>
                              </p:par>
                              <p:par>
                                <p:cTn id="44" presetID="42" presetClass="entr" presetSubtype="0" decel="100000" fill="hold" grpId="0" nodeType="withEffect">
                                  <p:stCondLst>
                                    <p:cond delay="47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00"/>
                                        <p:tgtEl>
                                          <p:spTgt spid="15"/>
                                        </p:tgtEl>
                                      </p:cBhvr>
                                    </p:animEffect>
                                    <p:anim calcmode="lin" valueType="num">
                                      <p:cBhvr additive="base">
                                        <p:cTn id="47" dur="700" fill="hold"/>
                                        <p:tgtEl>
                                          <p:spTgt spid="15"/>
                                        </p:tgtEl>
                                        <p:attrNameLst>
                                          <p:attrName>ppt_y</p:attrName>
                                        </p:attrNameLst>
                                      </p:cBhvr>
                                      <p:tavLst>
                                        <p:tav tm="0">
                                          <p:val>
                                            <p:strVal val="#ppt_y+0.03"/>
                                          </p:val>
                                        </p:tav>
                                        <p:tav tm="100000">
                                          <p:val>
                                            <p:strVal val="#ppt_y"/>
                                          </p:val>
                                        </p:tav>
                                      </p:tavLst>
                                    </p:anim>
                                  </p:childTnLst>
                                </p:cTn>
                              </p:par>
                              <p:par>
                                <p:cTn id="48" presetID="42" presetClass="entr" presetSubtype="0" decel="100000" fill="hold" grpId="0" nodeType="withEffect">
                                  <p:stCondLst>
                                    <p:cond delay="47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additive="base">
                                        <p:cTn id="51" dur="700" fill="hold"/>
                                        <p:tgtEl>
                                          <p:spTgt spid="16"/>
                                        </p:tgtEl>
                                        <p:attrNameLst>
                                          <p:attrName>ppt_y</p:attrName>
                                        </p:attrNameLst>
                                      </p:cBhvr>
                                      <p:tavLst>
                                        <p:tav tm="0">
                                          <p:val>
                                            <p:strVal val="#ppt_y+0.03"/>
                                          </p:val>
                                        </p:tav>
                                        <p:tav tm="100000">
                                          <p:val>
                                            <p:strVal val="#ppt_y"/>
                                          </p:val>
                                        </p:tav>
                                      </p:tavLst>
                                    </p:anim>
                                  </p:childTnLst>
                                </p:cTn>
                              </p:par>
                              <p:par>
                                <p:cTn id="52" presetID="42" presetClass="entr" presetSubtype="0" decel="10000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700"/>
                                        <p:tgtEl>
                                          <p:spTgt spid="17"/>
                                        </p:tgtEl>
                                      </p:cBhvr>
                                    </p:animEffect>
                                    <p:anim calcmode="lin" valueType="num">
                                      <p:cBhvr additive="base">
                                        <p:cTn id="55" dur="700" fill="hold"/>
                                        <p:tgtEl>
                                          <p:spTgt spid="17"/>
                                        </p:tgtEl>
                                        <p:attrNameLst>
                                          <p:attrName>ppt_y</p:attrName>
                                        </p:attrNameLst>
                                      </p:cBhvr>
                                      <p:tavLst>
                                        <p:tav tm="0">
                                          <p:val>
                                            <p:strVal val="#ppt_y+0.03"/>
                                          </p:val>
                                        </p:tav>
                                        <p:tav tm="100000">
                                          <p:val>
                                            <p:strVal val="#ppt_y"/>
                                          </p:val>
                                        </p:tav>
                                      </p:tavLst>
                                    </p:anim>
                                  </p:childTnLst>
                                </p:cTn>
                              </p:par>
                              <p:par>
                                <p:cTn id="56" presetID="42" presetClass="entr" presetSubtype="0" decel="100000" fill="hold" grpId="0" nodeType="withEffect">
                                  <p:stCondLst>
                                    <p:cond delay="47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additive="base">
                                        <p:cTn id="59" dur="700" fill="hold"/>
                                        <p:tgtEl>
                                          <p:spTgt spid="18"/>
                                        </p:tgtEl>
                                        <p:attrNameLst>
                                          <p:attrName>ppt_y</p:attrName>
                                        </p:attrNameLst>
                                      </p:cBhvr>
                                      <p:tavLst>
                                        <p:tav tm="0">
                                          <p:val>
                                            <p:strVal val="#ppt_y+0.03"/>
                                          </p:val>
                                        </p:tav>
                                        <p:tav tm="100000">
                                          <p:val>
                                            <p:strVal val="#ppt_y"/>
                                          </p:val>
                                        </p:tav>
                                      </p:tavLst>
                                    </p:anim>
                                  </p:childTnLst>
                                </p:cTn>
                              </p:par>
                              <p:par>
                                <p:cTn id="60" presetID="42" presetClass="entr" presetSubtype="0" decel="100000" fill="hold" grpId="0" nodeType="withEffect">
                                  <p:stCondLst>
                                    <p:cond delay="47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anim calcmode="lin" valueType="num">
                                      <p:cBhvr additive="base">
                                        <p:cTn id="63" dur="700" fill="hold"/>
                                        <p:tgtEl>
                                          <p:spTgt spid="19"/>
                                        </p:tgtEl>
                                        <p:attrNameLst>
                                          <p:attrName>ppt_y</p:attrName>
                                        </p:attrNameLst>
                                      </p:cBhvr>
                                      <p:tavLst>
                                        <p:tav tm="0">
                                          <p:val>
                                            <p:strVal val="#ppt_y+0.03"/>
                                          </p:val>
                                        </p:tav>
                                        <p:tav tm="100000">
                                          <p:val>
                                            <p:strVal val="#ppt_y"/>
                                          </p:val>
                                        </p:tav>
                                      </p:tavLst>
                                    </p:anim>
                                  </p:childTnLst>
                                </p:cTn>
                              </p:par>
                              <p:par>
                                <p:cTn id="64" presetID="42" presetClass="entr" presetSubtype="0" decel="100000" fill="hold" grpId="0" nodeType="withEffect">
                                  <p:stCondLst>
                                    <p:cond delay="47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additive="base">
                                        <p:cTn id="67" dur="700" fill="hold"/>
                                        <p:tgtEl>
                                          <p:spTgt spid="20"/>
                                        </p:tgtEl>
                                        <p:attrNameLst>
                                          <p:attrName>ppt_y</p:attrName>
                                        </p:attrNameLst>
                                      </p:cBhvr>
                                      <p:tavLst>
                                        <p:tav tm="0">
                                          <p:val>
                                            <p:strVal val="#ppt_y+0.03"/>
                                          </p:val>
                                        </p:tav>
                                        <p:tav tm="100000">
                                          <p:val>
                                            <p:strVal val="#ppt_y"/>
                                          </p:val>
                                        </p:tav>
                                      </p:tavLst>
                                    </p:anim>
                                  </p:childTnLst>
                                </p:cTn>
                              </p:par>
                              <p:par>
                                <p:cTn id="68" presetID="42" presetClass="entr" presetSubtype="0" decel="100000" fill="hold" grpId="0" nodeType="withEffect">
                                  <p:stCondLst>
                                    <p:cond delay="4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700"/>
                                        <p:tgtEl>
                                          <p:spTgt spid="21"/>
                                        </p:tgtEl>
                                      </p:cBhvr>
                                    </p:animEffect>
                                    <p:anim calcmode="lin" valueType="num">
                                      <p:cBhvr additive="base">
                                        <p:cTn id="71" dur="700" fill="hold"/>
                                        <p:tgtEl>
                                          <p:spTgt spid="21"/>
                                        </p:tgtEl>
                                        <p:attrNameLst>
                                          <p:attrName>ppt_y</p:attrName>
                                        </p:attrNameLst>
                                      </p:cBhvr>
                                      <p:tavLst>
                                        <p:tav tm="0">
                                          <p:val>
                                            <p:strVal val="#ppt_y+0.03"/>
                                          </p:val>
                                        </p:tav>
                                        <p:tav tm="100000">
                                          <p:val>
                                            <p:strVal val="#ppt_y"/>
                                          </p:val>
                                        </p:tav>
                                      </p:tavLst>
                                    </p:anim>
                                  </p:childTnLst>
                                </p:cTn>
                              </p:par>
                              <p:par>
                                <p:cTn id="72" presetID="42" presetClass="entr" presetSubtype="0" decel="100000" fill="hold" grpId="0" nodeType="withEffect">
                                  <p:stCondLst>
                                    <p:cond delay="69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700"/>
                                        <p:tgtEl>
                                          <p:spTgt spid="22"/>
                                        </p:tgtEl>
                                      </p:cBhvr>
                                    </p:animEffect>
                                    <p:anim calcmode="lin" valueType="num">
                                      <p:cBhvr additive="base">
                                        <p:cTn id="75" dur="700" fill="hold"/>
                                        <p:tgtEl>
                                          <p:spTgt spid="22"/>
                                        </p:tgtEl>
                                        <p:attrNameLst>
                                          <p:attrName>ppt_y</p:attrName>
                                        </p:attrNameLst>
                                      </p:cBhvr>
                                      <p:tavLst>
                                        <p:tav tm="0">
                                          <p:val>
                                            <p:strVal val="#ppt_y+0.03"/>
                                          </p:val>
                                        </p:tav>
                                        <p:tav tm="100000">
                                          <p:val>
                                            <p:strVal val="#ppt_y"/>
                                          </p:val>
                                        </p:tav>
                                      </p:tavLst>
                                    </p:anim>
                                  </p:childTnLst>
                                </p:cTn>
                              </p:par>
                              <p:par>
                                <p:cTn id="76" presetID="42" presetClass="entr" presetSubtype="0" decel="100000" fill="hold" grpId="0" nodeType="withEffect">
                                  <p:stCondLst>
                                    <p:cond delay="69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700"/>
                                        <p:tgtEl>
                                          <p:spTgt spid="23"/>
                                        </p:tgtEl>
                                      </p:cBhvr>
                                    </p:animEffect>
                                    <p:anim calcmode="lin" valueType="num">
                                      <p:cBhvr additive="base">
                                        <p:cTn id="79" dur="700" fill="hold"/>
                                        <p:tgtEl>
                                          <p:spTgt spid="23"/>
                                        </p:tgtEl>
                                        <p:attrNameLst>
                                          <p:attrName>ppt_y</p:attrName>
                                        </p:attrNameLst>
                                      </p:cBhvr>
                                      <p:tavLst>
                                        <p:tav tm="0">
                                          <p:val>
                                            <p:strVal val="#ppt_y+0.03"/>
                                          </p:val>
                                        </p:tav>
                                        <p:tav tm="100000">
                                          <p:val>
                                            <p:strVal val="#ppt_y"/>
                                          </p:val>
                                        </p:tav>
                                      </p:tavLst>
                                    </p:anim>
                                  </p:childTnLst>
                                </p:cTn>
                              </p:par>
                              <p:par>
                                <p:cTn id="80" presetID="42" presetClass="entr" presetSubtype="0" decel="100000" fill="hold" grpId="0" nodeType="withEffect">
                                  <p:stCondLst>
                                    <p:cond delay="69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700"/>
                                        <p:tgtEl>
                                          <p:spTgt spid="24"/>
                                        </p:tgtEl>
                                      </p:cBhvr>
                                    </p:animEffect>
                                    <p:anim calcmode="lin" valueType="num">
                                      <p:cBhvr additive="base">
                                        <p:cTn id="83" dur="700" fill="hold"/>
                                        <p:tgtEl>
                                          <p:spTgt spid="24"/>
                                        </p:tgtEl>
                                        <p:attrNameLst>
                                          <p:attrName>ppt_y</p:attrName>
                                        </p:attrNameLst>
                                      </p:cBhvr>
                                      <p:tavLst>
                                        <p:tav tm="0">
                                          <p:val>
                                            <p:strVal val="#ppt_y+0.03"/>
                                          </p:val>
                                        </p:tav>
                                        <p:tav tm="100000">
                                          <p:val>
                                            <p:strVal val="#ppt_y"/>
                                          </p:val>
                                        </p:tav>
                                      </p:tavLst>
                                    </p:anim>
                                  </p:childTnLst>
                                </p:cTn>
                              </p:par>
                              <p:par>
                                <p:cTn id="84" presetID="42" presetClass="entr" presetSubtype="0" decel="100000" fill="hold" grpId="0" nodeType="withEffect">
                                  <p:stCondLst>
                                    <p:cond delay="69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700"/>
                                        <p:tgtEl>
                                          <p:spTgt spid="25"/>
                                        </p:tgtEl>
                                      </p:cBhvr>
                                    </p:animEffect>
                                    <p:anim calcmode="lin" valueType="num">
                                      <p:cBhvr additive="base">
                                        <p:cTn id="87" dur="700" fill="hold"/>
                                        <p:tgtEl>
                                          <p:spTgt spid="25"/>
                                        </p:tgtEl>
                                        <p:attrNameLst>
                                          <p:attrName>ppt_y</p:attrName>
                                        </p:attrNameLst>
                                      </p:cBhvr>
                                      <p:tavLst>
                                        <p:tav tm="0">
                                          <p:val>
                                            <p:strVal val="#ppt_y+0.03"/>
                                          </p:val>
                                        </p:tav>
                                        <p:tav tm="100000">
                                          <p:val>
                                            <p:strVal val="#ppt_y"/>
                                          </p:val>
                                        </p:tav>
                                      </p:tavLst>
                                    </p:anim>
                                  </p:childTnLst>
                                </p:cTn>
                              </p:par>
                              <p:par>
                                <p:cTn id="88" presetID="42" presetClass="entr" presetSubtype="0" decel="100000" fill="hold" grpId="0" nodeType="withEffect">
                                  <p:stCondLst>
                                    <p:cond delay="6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700"/>
                                        <p:tgtEl>
                                          <p:spTgt spid="26"/>
                                        </p:tgtEl>
                                      </p:cBhvr>
                                    </p:animEffect>
                                    <p:anim calcmode="lin" valueType="num">
                                      <p:cBhvr additive="base">
                                        <p:cTn id="91" dur="700" fill="hold"/>
                                        <p:tgtEl>
                                          <p:spTgt spid="26"/>
                                        </p:tgtEl>
                                        <p:attrNameLst>
                                          <p:attrName>ppt_y</p:attrName>
                                        </p:attrNameLst>
                                      </p:cBhvr>
                                      <p:tavLst>
                                        <p:tav tm="0">
                                          <p:val>
                                            <p:strVal val="#ppt_y+0.03"/>
                                          </p:val>
                                        </p:tav>
                                        <p:tav tm="100000">
                                          <p:val>
                                            <p:strVal val="#ppt_y"/>
                                          </p:val>
                                        </p:tav>
                                      </p:tavLst>
                                    </p:anim>
                                  </p:childTnLst>
                                </p:cTn>
                              </p:par>
                              <p:par>
                                <p:cTn id="92" presetID="42" presetClass="entr" presetSubtype="0" decel="100000" fill="hold" grpId="0" nodeType="withEffect">
                                  <p:stCondLst>
                                    <p:cond delay="69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700"/>
                                        <p:tgtEl>
                                          <p:spTgt spid="27"/>
                                        </p:tgtEl>
                                      </p:cBhvr>
                                    </p:animEffect>
                                    <p:anim calcmode="lin" valueType="num">
                                      <p:cBhvr additive="base">
                                        <p:cTn id="95" dur="700" fill="hold"/>
                                        <p:tgtEl>
                                          <p:spTgt spid="27"/>
                                        </p:tgtEl>
                                        <p:attrNameLst>
                                          <p:attrName>ppt_y</p:attrName>
                                        </p:attrNameLst>
                                      </p:cBhvr>
                                      <p:tavLst>
                                        <p:tav tm="0">
                                          <p:val>
                                            <p:strVal val="#ppt_y+0.03"/>
                                          </p:val>
                                        </p:tav>
                                        <p:tav tm="100000">
                                          <p:val>
                                            <p:strVal val="#ppt_y"/>
                                          </p:val>
                                        </p:tav>
                                      </p:tavLst>
                                    </p:anim>
                                  </p:childTnLst>
                                </p:cTn>
                              </p:par>
                              <p:par>
                                <p:cTn id="96" presetID="42" presetClass="entr" presetSubtype="0" decel="100000" fill="hold" grpId="0" nodeType="withEffect">
                                  <p:stCondLst>
                                    <p:cond delay="69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700"/>
                                        <p:tgtEl>
                                          <p:spTgt spid="28"/>
                                        </p:tgtEl>
                                      </p:cBhvr>
                                    </p:animEffect>
                                    <p:anim calcmode="lin" valueType="num">
                                      <p:cBhvr additive="base">
                                        <p:cTn id="99" dur="700" fill="hold"/>
                                        <p:tgtEl>
                                          <p:spTgt spid="28"/>
                                        </p:tgtEl>
                                        <p:attrNameLst>
                                          <p:attrName>ppt_y</p:attrName>
                                        </p:attrNameLst>
                                      </p:cBhvr>
                                      <p:tavLst>
                                        <p:tav tm="0">
                                          <p:val>
                                            <p:strVal val="#ppt_y+0.03"/>
                                          </p:val>
                                        </p:tav>
                                        <p:tav tm="100000">
                                          <p:val>
                                            <p:strVal val="#ppt_y"/>
                                          </p:val>
                                        </p:tav>
                                      </p:tavLst>
                                    </p:anim>
                                  </p:childTnLst>
                                </p:cTn>
                              </p:par>
                              <p:par>
                                <p:cTn id="100" presetID="42" presetClass="entr" presetSubtype="0" decel="100000" fill="hold" grpId="0" nodeType="withEffect">
                                  <p:stCondLst>
                                    <p:cond delay="69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700"/>
                                        <p:tgtEl>
                                          <p:spTgt spid="29"/>
                                        </p:tgtEl>
                                      </p:cBhvr>
                                    </p:animEffect>
                                    <p:anim calcmode="lin" valueType="num">
                                      <p:cBhvr additive="base">
                                        <p:cTn id="103" dur="700" fill="hold"/>
                                        <p:tgtEl>
                                          <p:spTgt spid="29"/>
                                        </p:tgtEl>
                                        <p:attrNameLst>
                                          <p:attrName>ppt_y</p:attrName>
                                        </p:attrNameLst>
                                      </p:cBhvr>
                                      <p:tavLst>
                                        <p:tav tm="0">
                                          <p:val>
                                            <p:strVal val="#ppt_y+0.03"/>
                                          </p:val>
                                        </p:tav>
                                        <p:tav tm="100000">
                                          <p:val>
                                            <p:strVal val="#ppt_y"/>
                                          </p:val>
                                        </p:tav>
                                      </p:tavLst>
                                    </p:anim>
                                  </p:childTnLst>
                                </p:cTn>
                              </p:par>
                              <p:par>
                                <p:cTn id="104" presetID="42" presetClass="entr" presetSubtype="0" decel="100000" fill="hold" grpId="0" nodeType="withEffect">
                                  <p:stCondLst>
                                    <p:cond delay="69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00"/>
                                        <p:tgtEl>
                                          <p:spTgt spid="30"/>
                                        </p:tgtEl>
                                      </p:cBhvr>
                                    </p:animEffect>
                                    <p:anim calcmode="lin" valueType="num">
                                      <p:cBhvr additive="base">
                                        <p:cTn id="107" dur="700" fill="hold"/>
                                        <p:tgtEl>
                                          <p:spTgt spid="30"/>
                                        </p:tgtEl>
                                        <p:attrNameLst>
                                          <p:attrName>ppt_y</p:attrName>
                                        </p:attrNameLst>
                                      </p:cBhvr>
                                      <p:tavLst>
                                        <p:tav tm="0">
                                          <p:val>
                                            <p:strVal val="#ppt_y+0.03"/>
                                          </p:val>
                                        </p:tav>
                                        <p:tav tm="100000">
                                          <p:val>
                                            <p:strVal val="#ppt_y"/>
                                          </p:val>
                                        </p:tav>
                                      </p:tavLst>
                                    </p:anim>
                                  </p:childTnLst>
                                </p:cTn>
                              </p:par>
                              <p:par>
                                <p:cTn id="108" presetID="42" presetClass="entr" presetSubtype="0" decel="100000" fill="hold" grpId="0" nodeType="withEffect">
                                  <p:stCondLst>
                                    <p:cond delay="69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700"/>
                                        <p:tgtEl>
                                          <p:spTgt spid="31"/>
                                        </p:tgtEl>
                                      </p:cBhvr>
                                    </p:animEffect>
                                    <p:anim calcmode="lin" valueType="num">
                                      <p:cBhvr additive="base">
                                        <p:cTn id="111" dur="700" fill="hold"/>
                                        <p:tgtEl>
                                          <p:spTgt spid="31"/>
                                        </p:tgtEl>
                                        <p:attrNameLst>
                                          <p:attrName>ppt_y</p:attrName>
                                        </p:attrNameLst>
                                      </p:cBhvr>
                                      <p:tavLst>
                                        <p:tav tm="0">
                                          <p:val>
                                            <p:strVal val="#ppt_y+0.03"/>
                                          </p:val>
                                        </p:tav>
                                        <p:tav tm="100000">
                                          <p:val>
                                            <p:strVal val="#ppt_y"/>
                                          </p:val>
                                        </p:tav>
                                      </p:tavLst>
                                    </p:anim>
                                  </p:childTnLst>
                                </p:cTn>
                              </p:par>
                              <p:par>
                                <p:cTn id="112" presetID="42" presetClass="entr" presetSubtype="0" decel="100000" fill="hold" grpId="0" nodeType="withEffect">
                                  <p:stCondLst>
                                    <p:cond delay="690"/>
                                  </p:stCondLst>
                                  <p:childTnLst>
                                    <p:set>
                                      <p:cBhvr>
                                        <p:cTn id="113" dur="1" fill="hold">
                                          <p:stCondLst>
                                            <p:cond delay="0"/>
                                          </p:stCondLst>
                                        </p:cTn>
                                        <p:tgtEl>
                                          <p:spTgt spid="32"/>
                                        </p:tgtEl>
                                        <p:attrNameLst>
                                          <p:attrName>style.visibility</p:attrName>
                                        </p:attrNameLst>
                                      </p:cBhvr>
                                      <p:to>
                                        <p:strVal val="visible"/>
                                      </p:to>
                                    </p:set>
                                    <p:animEffect transition="in" filter="fade">
                                      <p:cBhvr>
                                        <p:cTn id="114" dur="700"/>
                                        <p:tgtEl>
                                          <p:spTgt spid="32"/>
                                        </p:tgtEl>
                                      </p:cBhvr>
                                    </p:animEffect>
                                    <p:anim calcmode="lin" valueType="num">
                                      <p:cBhvr additive="base">
                                        <p:cTn id="115" dur="700" fill="hold"/>
                                        <p:tgtEl>
                                          <p:spTgt spid="32"/>
                                        </p:tgtEl>
                                        <p:attrNameLst>
                                          <p:attrName>ppt_y</p:attrName>
                                        </p:attrNameLst>
                                      </p:cBhvr>
                                      <p:tavLst>
                                        <p:tav tm="0">
                                          <p:val>
                                            <p:strVal val="#ppt_y+0.03"/>
                                          </p:val>
                                        </p:tav>
                                        <p:tav tm="100000">
                                          <p:val>
                                            <p:strVal val="#ppt_y"/>
                                          </p:val>
                                        </p:tav>
                                      </p:tavLst>
                                    </p:anim>
                                  </p:childTnLst>
                                </p:cTn>
                              </p:par>
                              <p:par>
                                <p:cTn id="116" presetID="42" presetClass="entr" presetSubtype="0" decel="100000" fill="hold" grpId="0" nodeType="withEffect">
                                  <p:stCondLst>
                                    <p:cond delay="690"/>
                                  </p:stCondLst>
                                  <p:childTnLst>
                                    <p:set>
                                      <p:cBhvr>
                                        <p:cTn id="117" dur="1" fill="hold">
                                          <p:stCondLst>
                                            <p:cond delay="0"/>
                                          </p:stCondLst>
                                        </p:cTn>
                                        <p:tgtEl>
                                          <p:spTgt spid="33"/>
                                        </p:tgtEl>
                                        <p:attrNameLst>
                                          <p:attrName>style.visibility</p:attrName>
                                        </p:attrNameLst>
                                      </p:cBhvr>
                                      <p:to>
                                        <p:strVal val="visible"/>
                                      </p:to>
                                    </p:set>
                                    <p:animEffect transition="in" filter="fade">
                                      <p:cBhvr>
                                        <p:cTn id="118" dur="700"/>
                                        <p:tgtEl>
                                          <p:spTgt spid="33"/>
                                        </p:tgtEl>
                                      </p:cBhvr>
                                    </p:animEffect>
                                    <p:anim calcmode="lin" valueType="num">
                                      <p:cBhvr additive="base">
                                        <p:cTn id="119" dur="700" fill="hold"/>
                                        <p:tgtEl>
                                          <p:spTgt spid="33"/>
                                        </p:tgtEl>
                                        <p:attrNameLst>
                                          <p:attrName>ppt_y</p:attrName>
                                        </p:attrNameLst>
                                      </p:cBhvr>
                                      <p:tavLst>
                                        <p:tav tm="0">
                                          <p:val>
                                            <p:strVal val="#ppt_y+0.03"/>
                                          </p:val>
                                        </p:tav>
                                        <p:tav tm="100000">
                                          <p:val>
                                            <p:strVal val="#ppt_y"/>
                                          </p:val>
                                        </p:tav>
                                      </p:tavLst>
                                    </p:anim>
                                  </p:childTnLst>
                                </p:cTn>
                              </p:par>
                              <p:par>
                                <p:cTn id="120" presetID="42" presetClass="entr" presetSubtype="0" decel="100000" fill="hold" grpId="0" nodeType="withEffect">
                                  <p:stCondLst>
                                    <p:cond delay="690"/>
                                  </p:stCondLst>
                                  <p:childTnLst>
                                    <p:set>
                                      <p:cBhvr>
                                        <p:cTn id="121" dur="1" fill="hold">
                                          <p:stCondLst>
                                            <p:cond delay="0"/>
                                          </p:stCondLst>
                                        </p:cTn>
                                        <p:tgtEl>
                                          <p:spTgt spid="34"/>
                                        </p:tgtEl>
                                        <p:attrNameLst>
                                          <p:attrName>style.visibility</p:attrName>
                                        </p:attrNameLst>
                                      </p:cBhvr>
                                      <p:to>
                                        <p:strVal val="visible"/>
                                      </p:to>
                                    </p:set>
                                    <p:animEffect transition="in" filter="fade">
                                      <p:cBhvr>
                                        <p:cTn id="122" dur="700"/>
                                        <p:tgtEl>
                                          <p:spTgt spid="34"/>
                                        </p:tgtEl>
                                      </p:cBhvr>
                                    </p:animEffect>
                                    <p:anim calcmode="lin" valueType="num">
                                      <p:cBhvr additive="base">
                                        <p:cTn id="123" dur="700" fill="hold"/>
                                        <p:tgtEl>
                                          <p:spTgt spid="34"/>
                                        </p:tgtEl>
                                        <p:attrNameLst>
                                          <p:attrName>ppt_y</p:attrName>
                                        </p:attrNameLst>
                                      </p:cBhvr>
                                      <p:tavLst>
                                        <p:tav tm="0">
                                          <p:val>
                                            <p:strVal val="#ppt_y+0.03"/>
                                          </p:val>
                                        </p:tav>
                                        <p:tav tm="100000">
                                          <p:val>
                                            <p:strVal val="#ppt_y"/>
                                          </p:val>
                                        </p:tav>
                                      </p:tavLst>
                                    </p:anim>
                                  </p:childTnLst>
                                </p:cTn>
                              </p:par>
                              <p:par>
                                <p:cTn id="124" presetID="42" presetClass="entr" presetSubtype="0" decel="100000" fill="hold" grpId="0" nodeType="withEffect">
                                  <p:stCondLst>
                                    <p:cond delay="690"/>
                                  </p:stCondLst>
                                  <p:childTnLst>
                                    <p:set>
                                      <p:cBhvr>
                                        <p:cTn id="125" dur="1" fill="hold">
                                          <p:stCondLst>
                                            <p:cond delay="0"/>
                                          </p:stCondLst>
                                        </p:cTn>
                                        <p:tgtEl>
                                          <p:spTgt spid="35"/>
                                        </p:tgtEl>
                                        <p:attrNameLst>
                                          <p:attrName>style.visibility</p:attrName>
                                        </p:attrNameLst>
                                      </p:cBhvr>
                                      <p:to>
                                        <p:strVal val="visible"/>
                                      </p:to>
                                    </p:set>
                                    <p:animEffect transition="in" filter="fade">
                                      <p:cBhvr>
                                        <p:cTn id="126" dur="700"/>
                                        <p:tgtEl>
                                          <p:spTgt spid="35"/>
                                        </p:tgtEl>
                                      </p:cBhvr>
                                    </p:animEffect>
                                    <p:anim calcmode="lin" valueType="num">
                                      <p:cBhvr additive="base">
                                        <p:cTn id="127" dur="700" fill="hold"/>
                                        <p:tgtEl>
                                          <p:spTgt spid="35"/>
                                        </p:tgtEl>
                                        <p:attrNameLst>
                                          <p:attrName>ppt_y</p:attrName>
                                        </p:attrNameLst>
                                      </p:cBhvr>
                                      <p:tavLst>
                                        <p:tav tm="0">
                                          <p:val>
                                            <p:strVal val="#ppt_y+0.03"/>
                                          </p:val>
                                        </p:tav>
                                        <p:tav tm="100000">
                                          <p:val>
                                            <p:strVal val="#ppt_y"/>
                                          </p:val>
                                        </p:tav>
                                      </p:tavLst>
                                    </p:anim>
                                  </p:childTnLst>
                                </p:cTn>
                              </p:par>
                              <p:par>
                                <p:cTn id="128" presetID="42" presetClass="entr" presetSubtype="0" decel="100000" fill="hold" grpId="0" nodeType="withEffect">
                                  <p:stCondLst>
                                    <p:cond delay="69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700"/>
                                        <p:tgtEl>
                                          <p:spTgt spid="36"/>
                                        </p:tgtEl>
                                      </p:cBhvr>
                                    </p:animEffect>
                                    <p:anim calcmode="lin" valueType="num">
                                      <p:cBhvr additive="base">
                                        <p:cTn id="131" dur="700" fill="hold"/>
                                        <p:tgtEl>
                                          <p:spTgt spid="36"/>
                                        </p:tgtEl>
                                        <p:attrNameLst>
                                          <p:attrName>ppt_y</p:attrName>
                                        </p:attrNameLst>
                                      </p:cBhvr>
                                      <p:tavLst>
                                        <p:tav tm="0">
                                          <p:val>
                                            <p:strVal val="#ppt_y+0.03"/>
                                          </p:val>
                                        </p:tav>
                                        <p:tav tm="100000">
                                          <p:val>
                                            <p:strVal val="#ppt_y"/>
                                          </p:val>
                                        </p:tav>
                                      </p:tavLst>
                                    </p:anim>
                                  </p:childTnLst>
                                </p:cTn>
                              </p:par>
                              <p:par>
                                <p:cTn id="132" presetID="10" presetClass="entr" presetSubtype="0" decel="100000" fill="hold" grpId="0" nodeType="withEffect">
                                  <p:stCondLst>
                                    <p:cond delay="910"/>
                                  </p:stCondLst>
                                  <p:childTnLst>
                                    <p:set>
                                      <p:cBhvr>
                                        <p:cTn id="133" dur="1" fill="hold">
                                          <p:stCondLst>
                                            <p:cond delay="0"/>
                                          </p:stCondLst>
                                        </p:cTn>
                                        <p:tgtEl>
                                          <p:spTgt spid="37"/>
                                        </p:tgtEl>
                                        <p:attrNameLst>
                                          <p:attrName>style.visibility</p:attrName>
                                        </p:attrNameLst>
                                      </p:cBhvr>
                                      <p:to>
                                        <p:strVal val="visible"/>
                                      </p:to>
                                    </p:set>
                                    <p:animEffect transition="in" filter="fade">
                                      <p:cBhvr>
                                        <p:cTn id="134"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p:bldP spid="10" grpId="0" animBg="1"/>
      <p:bldP spid="11" grpId="0" animBg="1"/>
      <p:bldP spid="12" grpId="0" animBg="1"/>
      <p:bldP spid="13" grpId="0" animBg="1"/>
      <p:bldP spid="14" grpId="0"/>
      <p:bldP spid="15" grpId="0" animBg="1"/>
      <p:bldP spid="16" grpId="0" animBg="1"/>
      <p:bldP spid="17" grpId="0" animBg="1"/>
      <p:bldP spid="18" grpId="0" animBg="1"/>
      <p:bldP spid="19" grpId="0"/>
      <p:bldP spid="20" grpId="0" animBg="1"/>
      <p:bldP spid="21" grpId="0" animBg="1"/>
      <p:bldP spid="22" grpId="0" animBg="1"/>
      <p:bldP spid="23" grpId="0" animBg="1"/>
      <p:bldP spid="24" grpId="0"/>
      <p:bldP spid="25" grpId="0" animBg="1"/>
      <p:bldP spid="26" grpId="0" animBg="1"/>
      <p:bldP spid="27" grpId="0" animBg="1"/>
      <p:bldP spid="28" grpId="0" animBg="1"/>
      <p:bldP spid="29" grpId="0"/>
      <p:bldP spid="30" grpId="0" animBg="1"/>
      <p:bldP spid="31" grpId="0" animBg="1"/>
      <p:bldP spid="32" grpId="0" animBg="1"/>
      <p:bldP spid="33" grpId="0" animBg="1"/>
      <p:bldP spid="34" grpId="0"/>
      <p:bldP spid="35" grpId="0" animBg="1"/>
      <p:bldP spid="36" grpId="0" animBg="1"/>
      <p:bldP spid="3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8706</Words>
  <Application>Microsoft Office PowerPoint</Application>
  <PresentationFormat>Widescreen</PresentationFormat>
  <Paragraphs>854</Paragraphs>
  <Slides>27</Slides>
  <Notes>27</Notes>
  <HiddenSlides>0</HiddenSlides>
  <MMClips>5</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Georgia</vt:lpstr>
      <vt:lpstr>Segoe UI</vt:lpstr>
      <vt:lpstr>Segoe UI Emoji</vt:lpstr>
      <vt:lpstr>Segoe UI Light</vt:lpstr>
      <vt:lpstr>Segoe UI Semibold</vt:lpstr>
      <vt:lpstr>Office Theme</vt:lpstr>
      <vt:lpstr>PowerPoint Presentation</vt:lpstr>
      <vt:lpstr>A solo project: one engineer, every role</vt:lpstr>
      <vt:lpstr>Restoration is scaling faster than monitoring</vt:lpstr>
      <vt:lpstr>From signal to decision, in one screen</vt:lpstr>
      <vt:lpstr>Who uses it, and for which decision</vt:lpstr>
      <vt:lpstr>Five independent data sources, six years, 91 stands</vt:lpstr>
      <vt:lpstr>A second sensor shows what the mangrove became</vt:lpstr>
      <vt:lpstr>Sentinel-2 says when. Satellite 813 says what.</vt:lpstr>
      <vt:lpstr>From satellite pixels to a decision</vt:lpstr>
      <vt:lpstr>One alert, one message, one targeted visit</vt:lpstr>
      <vt:lpstr>PowerPoint Presentation</vt:lpstr>
      <vt:lpstr>The tide looks like tree loss — until you correct for it</vt:lpstr>
      <vt:lpstr>A stand average hides partial loss. 200 m cells do not.</vt:lpstr>
      <vt:lpstr>PowerPoint Presentation</vt:lpstr>
      <vt:lpstr>How we differ from what exists today</vt:lpstr>
      <vt:lpstr>Five real conversions, confirmed on sub-metre imagery</vt:lpstr>
      <vt:lpstr>Every rate next to its chance rate</vt:lpstr>
      <vt:lpstr>Carbon at stake, and who pays to protect it</vt:lpstr>
      <vt:lpstr>Reproducible today, built to scale tomorrow</vt:lpstr>
      <vt:lpstr>PowerPoint Presentation</vt:lpstr>
      <vt:lpstr>PowerPoint Presentation</vt:lpstr>
      <vt:lpstr>PowerPoint Presentation</vt:lpstr>
      <vt:lpstr>PowerPoint Presentation</vt:lpstr>
      <vt:lpstr>PowerPoint Presentation</vt:lpstr>
      <vt:lpstr>NDVI alone against our monitor, same alert rule</vt:lpstr>
      <vt:lpstr>Where it breaks — and what we do not claim</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Carbon Guardian - final judging</dc:title>
  <dc:subject>PptxGenJS Presentation</dc:subject>
  <dc:creator>Nahla Nabil</dc:creator>
  <cp:lastModifiedBy>Nahla Nabil</cp:lastModifiedBy>
  <cp:revision>13</cp:revision>
  <dcterms:created xsi:type="dcterms:W3CDTF">2026-10-19T17:43:28Z</dcterms:created>
  <dcterms:modified xsi:type="dcterms:W3CDTF">2026-10-26T13:12:46Z</dcterms:modified>
</cp:coreProperties>
</file>