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40"/>
                </a:solidFill>
                <a:latin typeface="Segoe UI"/>
              </a:defRPr>
            </a:pPr>
            <a:r>
              <a:rPr sz="1300" b="0" i="0" u="none" strike="noStrike">
                <a:solidFill>
                  <a:srgbClr val="1B2B40"/>
                </a:solidFill>
                <a:latin typeface="Segoe UI"/>
              </a:rPr>
              <a:t>Date-to-date noise, 25 stands, 2020–2026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tide model</c:v>
                </c:pt>
              </c:strCache>
            </c:strRef>
          </c:tx>
          <c:spPr>
            <a:solidFill>
              <a:srgbClr val="B9C6D4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40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NDVI</c:v>
                </c:pt>
                <c:pt idx="1">
                  <c:v>NDRE (red edge)</c:v>
                </c:pt>
                <c:pt idx="2">
                  <c:v>NDMI (moisture)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4.36E-2</c:v>
                </c:pt>
                <c:pt idx="1">
                  <c:v>2.8299999999999999E-2</c:v>
                </c:pt>
                <c:pt idx="2">
                  <c:v>4.3299999999999998E-2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84-44E6-A5FA-9D02050FD8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tide model</c:v>
                </c:pt>
              </c:strCache>
            </c:strRef>
          </c:tx>
          <c:spPr>
            <a:solidFill>
              <a:srgbClr val="3F6E9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40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NDVI</c:v>
                </c:pt>
                <c:pt idx="1">
                  <c:v>NDRE (red edge)</c:v>
                </c:pt>
                <c:pt idx="2">
                  <c:v>NDMI (moisture)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2.98E-2</c:v>
                </c:pt>
                <c:pt idx="1">
                  <c:v>1.83E-2</c:v>
                </c:pt>
                <c:pt idx="2">
                  <c:v>3.0599999999999999E-2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84-44E6-A5FA-9D02050FD8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E0E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738A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F738A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40"/>
                </a:solidFill>
                <a:latin typeface="Segoe UI"/>
              </a:defRPr>
            </a:pPr>
            <a:r>
              <a:rPr sz="1300" b="0" i="0" u="none" strike="noStrike">
                <a:solidFill>
                  <a:srgbClr val="1B2B40"/>
                </a:solidFill>
                <a:latin typeface="Segoe UI"/>
              </a:rPr>
              <a:t>Artificial loss injected into stands with no known change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detected</c:v>
                </c:pt>
              </c:strCache>
            </c:strRef>
          </c:tx>
          <c:spPr>
            <a:solidFill>
              <a:srgbClr val="3F6E9E"/>
            </a:solidFill>
            <a:effectLst/>
          </c:spPr>
          <c:invertIfNegative val="0"/>
          <c:dLbls>
            <c:numFmt formatCode="0&quot; 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40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Whole stand loses 20 % · 6 months</c:v>
                </c:pt>
                <c:pt idx="1">
                  <c:v>Whole stand loses 10 % · 6 months</c:v>
                </c:pt>
                <c:pt idx="2">
                  <c:v>A tenth of a stand loses half · 60 days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</c:v>
                </c:pt>
                <c:pt idx="1">
                  <c:v>63</c:v>
                </c:pt>
                <c:pt idx="2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F6-4F95-8609-3DEF01F8E7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by chance (same test, no loss)</c:v>
                </c:pt>
              </c:strCache>
            </c:strRef>
          </c:tx>
          <c:spPr>
            <a:solidFill>
              <a:srgbClr val="B9C6D4"/>
            </a:solidFill>
            <a:effectLst/>
          </c:spPr>
          <c:invertIfNegative val="0"/>
          <c:dLbls>
            <c:numFmt formatCode="0&quot; 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40"/>
                    </a:solidFill>
                    <a:latin typeface="Segoe U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Whole stand loses 20 % · 6 months</c:v>
                </c:pt>
                <c:pt idx="1">
                  <c:v>Whole stand loses 10 % · 6 months</c:v>
                </c:pt>
                <c:pt idx="2">
                  <c:v>A tenth of a stand loses half · 60 days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</c:v>
                </c:pt>
                <c:pt idx="1">
                  <c:v>36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F6-4F95-8609-3DEF01F8E7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3E0EE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4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F738A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736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s
كيف تقرئي: السطر الإنجليزي = اللي بتقوليه. السطر تحته = نفس الكلام بحروف عربية.
/  = وقفة صغيرة (خذي نفَس)     ‖  = وقفة كاملة     ▶ = شي بتعمليه (لا تقوليه)     ڤ = v     پ = p     غ = g
قبل ما تبلشي: العرض بوضع Presenter View · المتصفح مفتوح على الموقع (قسم Monitor) · الإشعارات مطفية · شاركي نافذة الشرائح بس، مش الشاشة كلها.
Good morning. / I'm Nahla Nabil, / team Blue Athar. ‖
غود مورنينغ. / آيم نهلة نبيل، / تيم بلو أثر. ‖
What you are watching / is a satellite pass / over twenty-five mangrove stands in Abu Dhabi. ‖
وَت يو آر وَتشينغ / إز أ ساتلايت پاس / أوڤر توينتي فايف مانغروڤ ستاندز إن أبوظبي. ‖
The five in red / were lost to construction / between 2022 and 2025 — / and our system raised an alert on every one of them / while the works were happening. ‖
ذا فايف إن رِد / وِر لوست تو كونستراكشن / بيتوين توينتي توينتي تو آند توينتي توينتي فايف — / آند آور سيستم ريزد آن أليرت أون إيڤري وَن أوف ذِم / وايل ذا وركس وِر هاپنينغ. ‖
This is Blue Carbon Guardian. ‖
ذيس إز بلو كاربون غارديان. ‖
▶ خلّي الماسح يكمّل لفّة وحدة، بعدين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30 s
Before the problem — / who is behind this. ‖ A team of one. ‖
بيفور ذا پروبلم — / هو إز بيهايند ذيس. ‖ أ تيم أوف وَن. ‖
I held every role on this slide — / satellite pipeline, statistics, / product and business case. ‖
آي هِلد إيڤري رول أون ذيس سلايد — / ساتلايت پايپلاين، ستاتيستيكس، / پرودَكت آند بيزنس كيس. ‖
I'm finishing a BSc in Artificial Intelligence / at the Arab Open University in Bahrain, / with First-Class Honours standing. ‖
آيم فينيشينغ أ بي إس سي إن آرتيفيشال إنتليجنس / آت ذي أراب أوپن يونيڤرستي إن البحرين، / وِذ فيرست كلاس أونرز ستاندينغ. ‖
I have two IEEE papers in machine learning, / and I lead NASA Space Apps locally. ‖
آي هاڤ تو آي تريپل إي پيپرز إن ماشين ليرنينغ، / آند آي ليد ناسا سپيس آپس لوكالي. ‖
I worked with an AI-assisted engineering workflow / that I direct and review — / and every number is public and checkable. ‖
آي وركت وِذ آن إي آي أسيستِد إنجينيرينغ وركفلو / ذات آي دايركت آند ريڤيو — / آند إيڤري نامبر إز پابليك آند تشيكابل. ‖
In incubation / I will add what I don't have: / a mangrove ecologist / and a field partner. ‖
إن إنكيوبيشن / آي ويل آد وَت آي دونت هاڤ: / أ مانغروڤ إيكولوجيست / آند أ فيلد پارتنر. ‖
▶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35 s
The Gulf is planting mangroves at record scale: / 100 million pledged by the UAE, / more than 100 million by Saudi Arabia. ‖
ذا غَلف إز پلانتينغ مانغروڤز آت ريكورد سكيل: / وَن هاندرد مِليون پليدجد باي ذا يو إي إي، / مور ذان وَن هاندرد مِليون باي ساودي أريبيا. ‖
But planting is scaling faster than watching. ‖ Look at stand 5. ‖
بَت پلانتينغ إز سكيلينغ فاستر ذان وَتشينغ. ‖ لوك آت ستاند فايف. ‖
▶ أشّري على الصور، من اليسار لليمين
November 2021: intact. ‖ October 2022: works start — / and that is when our alert fired. ‖
نوڤمبر توينتي توينتي وَن: إنتاكت. ‖ أوكتوبر توينتي توينتي تو: وركس ستارت — / آند ذات إز وِن آور أليرت فايرد. ‖
2023: canals. ‖ Today: a canal development. ‖
توينتي توينتي ثري: كانالز. ‖ توداي: أ كانال ديڤيلوپمنت. ‖
Today, a loss like this is found at the next field survey — / after the fact. ‖
توداي، أ لوس لايك ذيس إز فاوند آت ذا نِكست فيلد سيرڤي — / آفتر ذا فاكت. ‖
What we solve: / a calibrated alert every five days / that says where to inspect, / and what carbon is at stake. ‖
وَت وي سولڤ: / أ كاليبريتِد أليرت إيڤري فايف دايز / ذات سيز وير تو إنسپكت، / آند وَت كاربون إز آت ستيك. ‖
▶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75 s
So here is what we built. ‖ Let me show you — live. ‖
سو هير إز وَت وي بيلت. ‖ لِت مي شو يو — لايڤ. ‖
▶ Alt+Tab ← روحي للمتصفح (قسم Monitor)
Every stand is coloured by its condition. ‖ Stand 5, in red: / severe decline. ‖
إيڤري ستاند إز كالرد باي إتس كونديشن. ‖ ستاند فايف، إن رِد: / سيڤير ديكلاين. ‖
▶ اضغطي "200 m cells" فوق الخريطة
Now the key idea: / we split every stand into 200-metre cells. ‖
ناو ذا كي آيديا: / وي سپليت إيڤري ستاند إنتو تو هاندرد ميتر سِلز. ‖
▶ انزلي للجدول ← اضغطي على صف رقم 9 ← اطلعي للخريطة
Stand 9. ‖ On average it reads 'stable'. ‖ But 8 of its 28 cells / are in severe decline. ‖ That is exactly where you send the inspector. ‖
ستاند ناين. ‖ أون آڤريج إت ريدز "ستيبل". ‖ بَت إيت أوف إتس توينتي إيت سِلز / آر إن سيڤير ديكلاين. ‖ ذات إز إغزاكتلي وير يو سِند ذي إنسپكتر. ‖
▶ حرّكي الماوس فوق رسم الإنذار (Alert score)
Blue is the stand average, / red is the worst single cell. ‖ The red line plunges far below its threshold — / the cells see the damage much more sharply / than the average does. ‖
بلو إز ذا ستاند آڤريج، / رِد إز ذا ورست سينغل سِل. ‖ ذا رِد لاين پلانجِز فار بيلو إتس ثريشولد — / ذا سِلز سي ذا دامِج ماتش مور شارپلي / ذان ذي آڤريج داز. ‖
▶ (بس إذا عندك وقت) اضغطي "Open the site report" ← 3 ثواني ← Ctrl+W
And every stand gets a one-page report / with the carbon at stake. ‖
آند إيڤري ستاند غِتس أ وَن پيج ريپورت / وِذ ذا كاربون آت ستيك. ‖
▶ Alt+Tab ← ارجعي للباوربوينت ← اضغطي السهم →
إذا الموقع ما اشتغل: ضلّي على هالشريحة، الفيديو بيعرض نفس الخطوات، وقولي نفس الكلام.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s
Three users, three decisions. ‖
ثري يوزرز، ثري ديسيجنز. ‖
Agencies: / which stands do we inspect this month. ‖
إيجنسيز: / ويتش ستاندز دو وي إنسپكت ذيس مَنث. ‖
Planting and carbon developers: / is the carbon we report still there. ‖
پلانتينغ آند كاربون ديڤيلوپرز: / إز ذا كاربون وي ريپورت ستيل ذير. ‖
Developers and regulators: / did the works stay outside the mangrove line. ‖
ديڤيلوپرز آند ريغيوليتورز: / ديد ذا وركس ستاي آوتسايد ذا مانغروڤ لاين. ‖
▶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s
The analysis rests on five independent data sources: / 778 Sentinel-2 dates over six years, / EnMAP hyperspectral, / ESA WorldCover, / field carbon plots, / and dated sub-metre imagery. ‖
ذي أناليسيس رِستس أون فايف إنديپندنت داتا سورسِز: / سِڤن هاندرد سِڤنتي إيت سِنتينِل تو دايتس أوڤر سِكس ييرز، / إن ماب هايپرسپكترال، / إي إس إيه وورلد كاڤر، / فيلد كاربون پلوتس، / آند دايتِد ساب ميتر إميجري. ‖
Every image is cloud-masked, / only interior pixels are used, / and every finding is cross-checked by a second source. ‖
إيڤري إميج إز كلاود ماسكت، / أونلي إنتيرير پيكسلز آر يوزد، / آند إيڤري فايندينغ إز كروس تشيكت باي أ سِكند سورس. ‖
▶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20 s
Here is the second source at work: / EnMAP hyperspectral, 224 bands. ‖
هير إز ذا سِكند سورس آت وورك: / إن ماب هايپرسپكترال، تو هاندرد توينتي فور باندز. ‖
On stand 5, / the green curves are the vegetation in 2022; / the red dashed curves are the same pixels in 2025 — / the spectrum of sand and fill. ‖
أون ستاند فايف، / ذا غرين كيرڤز آر ذا ڤيجيتيشن إن توينتي توينتي تو؛ / ذا رِد داشت كيرڤز آر ذا سيم پيكسلز إن توينتي توينتي فايف — / ذا سپكترَم أوف ساند آند فِل. ‖
That is reclamation, / not dieback. ‖
ذات إز ريكلاميشن، / نوت داي باك. ‖
On the same dates, / EnMAP agrees with our Sentinel-2 indices / with r up to 0.99. ‖
أون ذا سيم دايتس، / إن ماب أغريز وِذ آور سِنتينِل تو إنديسيز / وِذ آر أپ تو زيرو پوينت ناين ناين. ‖
▶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20 s
And this is where Satellite 813 comes in. ‖
آند ذيس إز وير ساتلايت إيت وَن ثري كامز إن. ‖
Sentinel-2 tells us when something changed, / every five days. ‖
سِنتينِل تو تِلز أس وِن سامثينغ تشينجد، / إيڤري فايف دايز. ‖
Satellite 813 tells us what: / once a cell is flagged, / we task 813 over just that cell. ‖
ساتلايت إيت وَن ثري تِلز أس وَت: / وَنس أ سِل إز فلاغد، / وي تاسك إيت وَن ثري أوڤر جاست ذات سِل. ‖
Every index we use sits inside 813's range, / at 20 metres. ‖
إيڤري إندكس وي يوز سِتس إنسايد إيت وَن ثريز رينج، / آت توينتي ميترز. ‖
It is planned — / 813 scenes were not available in this proof of concept. ‖
إت إز پلاند — / إيت وَن ثري سينز وِر نوت أڤيلابل إن ذيس پروف أوف كونسپت. ‖
▶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20 s
Here is the whole method, / left to right. ‖
هير إز ذا هول ميثود، / لِفت تو رايت. ‖
We cut every stand into 200-metre cells / and read every Sentinel-2 date. ‖
وي كات إيڤري ستاند إنتو تو هاندرد ميتر سِلز / آند ريد إيڤري سِنتينِل تو دايت. ‖
The tide-aware model — in blue — / predicts what each stand and each cell should look like. ‖
ذا تايد أوير مودل — إن بلو — / پريدِكتس وَت إيتش ستاند آند إيتش سِل شود لوك لايك. ‖
If reality falls too far below, / the alert rule — in rose — fires. ‖
إف رياليتي فولز تو فار بيلو، / ذي أليرت رول — إن روز — فايرز. ‖
The decision layer — in sand — / adds the cell map and the carbon at stake, / with EnMAP and sub-metre imagery as independent checks. ‖
ذا ديسيجن لاير — إن ساند — / آدز ذا سِل ماب آند ذا كاربون آت ستيك، / وِذ إن ماب آند ساب ميتر إميجري آز إنديپندنت تشيكس. ‖
▶ أشّري على المربعات وإنتِ بتحكي، بعدين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s
For the user: / an alert with the cell map and the carbon at stake — / the inspector visits only those cells. ‖ If nothing changes, / a monthly report. ‖
فور ذا يوزر: / آن أليرت وِذ ذا سِل ماب آند ذا كاربون آت ستيك — / ذي إنسپكتر ڤيزِتس أونلي ذوز سِلز. ‖ إف ناثينغ تشينجز، / أ مَنثلي ريپورت. ‖
▶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45 s
Now the hard part — / the one that breaks most monitors in the Gulf: / the tide. ‖
ناو ذا هارد پارت — / ذا وَن ذات بريكس موست مونيتورز إن ذا غَلف: / ذا تايد. ‖
When the tide comes in, / flooded mangroves look, from space, / like dying mangroves. ‖
وِن ذا تايد كامز إن، / فلادِد مانغروڤز لوك، فروم سپيس، / لايك دايينغ مانغروڤز. ‖
In this illustration / the same trees drop from 0.30 to 0.18. ‖
إن ذيس إلاستريشن / ذا سيم تريز دروپ فروم زيرو پوينت ثري / تو زيرو پوينت وَن إيت. ‖
On our stands, / index noise follows wetness / with a correlation of minus 0.9. ‖
أون آور ستاندز، / إندكس نويز فولوز وِتنِس / وِذ أ كوريليشن أوف ماينس زيرو پوينت ناين. ‖
So for every stand and every date / we model trend, season — and the tide. ‖
سو فور إيڤري ستاند آند إيڤري دايت / وي مودل ترِند، سيزن — آند ذا تايد. ‖
Noise falls by 29 to 35 percent on every index. ‖
نويز فولز باي توينتي ناين تو ثيرتي فايف پيرسنت أون إيڤري إندكس. ‖
▶ أشّري على البطاقة اليمين تحت (1.61 → 0.96)
And we tested the textbook recipe — / NDVI alone, no tide model — / on the same stands with the same alert rule: / 1.61 false alarms per stand per year. ‖
آند وي تِستِد ذا تِكستبوك ريسيپي — / إن دي ڤي آي ألون، نو تايد مودل — / أون ذا سيم ستاندز وِذ ذا سيم أليرت رول: / وَن پوينت سِكس وَن فولس ألارمز پير ستاند پير يير. ‖
Ours: 0.96. ‖ Forty percent fewer wasted site visits, / and the tide model is most of that gain. ‖
آورز: زيرو پوينت ناين سِكس. ‖ فورتي پيرسنت فيوَر وايستِد سايت ڤيزِتس، / آند ذا تايد مودل إز موست أوف ذات غين. ‖
That is what makes a reliable alert possible. ‖
ذات إز وَت مايكس أ ريلايابل أليرت پوسيبل. ‖
▶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25 s
Our second innovation: / averages hide damage. ‖
آور سِكند إنوڤيشن: / آڤريجِز هايد دامِج. ‖
Real data from stand 5: / watch the cells turn red / while the stand average barely moves. ‖
ريال داتا فروم ستاند فايف: / وَتش ذا سِلز تيرن رِد / وايل ذا ستاند آڤريج بيرلي موڤز. ‖
Three of our five real conversions / were found only by the cells. ‖
ثري أوف آور فايف ريال كونڤيرجنز / وِر فاوند أونلي باي ذا سِلز. ‖
In simulation, / a partial loss is caught within 60 days / 73 percent of the time — / against 13 percent by chance. ‖
إن سيميوليشن، / أ پارشال لوس إز كوت وِذِن سِكستي دايز / سِڤنتي ثري پيرسنت أوف ذا تايم — / أغينست ثيرتين پيرسنت باي تشانس. ‖
▶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20 s
How is this different? ‖ Surveys are periodic, / maps are one-off, / and Global Mangrove Watch's free monthly alerts are complementary. ‖
هاو إز ذيس ديفرنت؟ ‖ سيرڤيز آر پيريوديك، / مابس آر وَن أوف، / آند غلوبال مانغروڤ وَتشِز فري مَنثلي أليرتس آر كومپليمنتري. ‖
▶ أشّري على العمود الأزرق من فوق لتحت
What we add: / every five days, / the tide removed, / where inside the stand, / a measured false-alarm rate, / and the carbon at stake — / built and tested for the Gulf. ‖
وَت وي آد: / إيڤري فايف دايز، / ذا تايد ريموڤد، / وير إنسايد ذا ستاند، / أ ميجَرد فولس ألارم رايت، / آند ذا كاربون آت ستيك — / بيلت آند تِستِد فور ذا غَلف. ‖
▶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35 s
Does it work on real events? ‖ Five real conversions, / all confirmed on 30-to-50-centimetre imagery. ‖
داز إت وورك أون ريال إيڤنتس؟ ‖ فايف ريال كونڤيرجنز، / أول كونفيرمد أون ثيرتي تو فيفتي سنتيميتر إميجري. ‖
The blue bar is the window / between the last intact image / and the first image showing works; / the diamond is when our alert started. ‖
ذا بلو بار إز ذا ويندو / بيتوين ذا لاست إنتاكت إميج / آند ذا فيرست إميج شوينغ وركس؛ / ذا دايموند إز وِن آور أليرت ستارتِد. ‖
Every alert falls inside that window. ‖
إيڤري أليرت فولز إنسايد ذات ويندو. ‖
▶ أشّري على المعيّن (الألماسة) تبع Stand 5
This is detection while the works happen — / not a prediction. ‖ We never claim advance warning. ‖
ذيس إز ديتِكشن وايل ذا وركس هاپن — / نوت أ پريدِكشن. ‖ وي نِڤر كليم أدڤانس وورنينغ. ‖
▶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35 s
We also tested ourselves against pure chance — / every rate has its chance rate next to it. ‖
وي أولسو تِستِد آورسِلڤز أغينست پيور تشانس — / إيڤري رايت هاز إتس تشانس رايت نِكست تو إت. ‖
Partial loss: / 73 percent caught, / 13 by chance; / a uniform loss, / 63 versus 36. ‖
پارشال لوس: / سِڤنتي ثري پيرسنت كوت، / ثيرتين باي تشانس؛ / أ يونيفورم لوس، / سِكستي ثري ڤيرسِس ثيرتي سِكس. ‖
On 65 stands the model never saw, / thresholds frozen, / false alarms stayed at 0.79 per stand-year. ‖
أون سِكستي فايف ستاندز ذا مودل نِڤر سو، / ثريشولدز فروزن، / فولس ألارمز ستايد آت زيرو پوينت سِڤن ناين پير ستاند يير. ‖
And when we found a flaw in our own first test, / we withdrew it. ‖
آند وِن وي فاوند أ فلو إن آور أون فيرست تِست، / وي وِذدرو إت. ‖
These are the numbers that survived — / and our limits are on the record; / I am happy to go through them. ‖
ذيز آر ذا نامبرز ذات سيرڤايڤد — / آند آور ليمِتس آر أون ذا ريكورد؛ / آي آم هاپي تو غو ثرو ذِم. ‖
▶ اضغطي السهم →   (بالأسئلة: عن الحدود اكتبي 21 + Enter · عن NDVI اكتبي 20 + Enter)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30 s
Why it matters. ‖ 108 tonnes of carbon per hectare in these stands — / 82 percent in the soil, / released when the stand is cleared. ‖
واي إت ماترز. ‖ وَن هاندرد آند إيت تَنز أوف كاربون پير هِكتار إن ذيز ستاندز — / إيتي تو پيرسنت إن ذا سويل، / ريليسد وِن ذا ستاند إز كليرد. ‖
The pilot holds about 247 thousand tonnes; / in stand 5 alone, / the converted area held 3 to 7 thousand. ‖
ذا پايلوت هولدز أباوت تو هاندرد فورتي سِڤن ثاوزند تَنز؛ / إن ستاند فايف ألون، / ذا كونڤيرتِد إيريا هِلد ثري تو سِڤن ثاوزند. ‖
As a service: / about 12 thousand dollars per site per year, / against a cost to serve of about 3 thousand. ‖
آز أ سيرڤِس: / أباوت تويلڤ ثاوزند دولارز پير سايت پير يير، / أغينست أ كوست تو سيرڤ أوف أباوت ثري ثاوزند. ‖
The real prize is a national MRV contract, / or a monitoring layer on gIQ. ‖
ذا ريال پرايز إز أ ناشونال إم آر ڤي كونتراكت، / أور أ مونيتورينغ لاير أون جي آي كيو. ‖
▶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s
Beyond the proof of concept: / everything is public and reproducible — / the notebook re-runs in 24 seconds, / and a clean-machine test gives the same numbers. ‖
بيوند ذا پروف أوف كونسپت: / إيڤري ثينغ إز پابليك آند ريپروديوسيبل — / ذا نوتبوك ري رانز إن توينتي فور سِكندز، / آند أ كلين ماشين تِست غِڤز ذا سيم نامبرز. ‖
It already transferred to unseen stands and a second country, / at under five dollars of compute per site per year. ‖
إت أولريدي ترانسفيرد تو أنسين ستاندز آند أ سِكند كانتري، / آت أندر فايف دولارز أوف كومپيوت پير سايت پير يير. ‖
▶ اضغطي السهم 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s
▶ ببطء، وطّلعي بالكاميرا
A working product, / five real events confirmed, / every number reproducible. ‖
أ وركينغ پرودَكت، / فايف ريال إيڤنتس كونفيرمد، / إيڤري نامبر ريپروديوسيبل. ‖
Every lost mangrove leaves a trace — / and we find it from space. ‖
إيڤري لوست مانغروڤ ليڤز أ ترايس — / آند وي فايند إت فروم سپيس. ‖
Our ask: / incubation, / to run a pilot with a Gulf agency or planting programme. ‖
آور آسك: / إنكيوبيشن، / تو ران أ پايلوت وِذ أ غَلف إيجنسي أور پلانتينغ پروغرام. ‖
▶ اضغطي السهم → (شريحة الشكر)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s
▶ بدفء وبهدوء
Thank you — / to the United Arab Emirates, / for leading our region in protecting its mangroves, / and to the UAE Space Agency, / the National Space Academy and Space42 / for this programme. ‖
ثانك يو — / تو ذا يونايتِد أراب إميريتس، / فور ليدينغ آور ريجِن إن پروتِكتينغ إتس مانغروڤز، / آند تو ذا يو إي إي سپيس إيجنسي، / ذا ناشونال سپيس أكاديمي آند سپيس فورتي تو / فور ذيس پروغرام. ‖
I'm happy to take your questions. ‖
آيم هاپي تو تايك يور كويسشنز. ‖
▶ اسكتي، وضلّي على هالشريحة وقت الأسئلة. الأجوبة تحت ↓
==================== أسئلة الحكام وأجوبتها (بس إنتِ بتشوفيها) ====================
قاعدة: جملة بتجاوب + رقم + وقفي. إذا ما بتعرفي: قولي جملة رقم 0.
للانتقال: اكتبي رقم الشريحة + Enter (8 = القمر 813 · 20 = مقارنة NDVI · 21 = الحدود · 22 = الفيديو). للرجوع: 19 + Enter.
0) إذا ما بتعرفي الجواب
Good question — / we haven't tested that yet; / it's the first thing we'd test in incubation. ‖
غود كويسشن — / وي هاڤنت تِستِد ذات يِت؛ / إتس ذا فيرست ثينغ ويد تِست إن إنكيوبيشن. ‖
1) ما زرتي المواقع؟ كيف متأكدة إنها خسائر حقيقية؟
All five are confirmed on dated sub-metre satellite images, / 30 to 50 centimetres. ‖ At every site / the alert began between the last intact image / and the first one showing works. ‖ Matching permits and site records / is our first pilot task. ‖
أول فايف آر كونفيرمد أون دايتِد ساب ميتر ساتلايت إميجِز، / ثيرتي تو فيفتي سنتيميترز. ‖ آت إيڤري سايت / ذي أليرت بيغان بيتوين ذا لاست إنتاكت إميج / آند ذا فيرست وَن شوينغ وركس. ‖ ماتشينغ پيرمِتس آند سايت ريكوردز / إز آور فيرست پايلوت تاسك. ‖
2) هل هو إنذار مبكر؟  (شريحة 21)
No, / and we say so. ‖ It detects works while they happen. ‖ We never claim to see stress before it is visible. ‖
نو، / آند وي ساي سو. ‖ إت ديتِكتس وركس وايل ذاي هاپن. ‖ وي نِڤر كليم تو سي سترِس بيفور إت إز ڤيزيبل. ‖
3) الحدود −1.5 و −3.5، مش overfitting؟
They were calibrated only on stands with no change, / then frozen / and applied to 65 stands the model never saw, / including Saudi Arabia: / 0.79 false alarms per stand-year, / against 0.96. ‖
ذاي وِر كاليبريتِد أونلي أون ستاندز وِذ نو تشينج، / ذِن فروزن / آند أپلايد تو سِكستي فايف ستاندز ذا مودل نِڤر سو، / إنكلودينغ ساودي أريبيا: / زيرو پوينت سِڤن ناين فولس ألارمز پير ستاند يير، / أغينست زيرو پوينت ناين سِكس. ‖
4) الـ 73% مش صدفة؟
Every rate is shown next to its chance rate: / 73 percent within 60 days, / against 13 percent by chance. ‖ And we withdrew our own first figure / when a test showed it was inflated. ‖
إيڤري رايت إز شون نِكست تو إتس تشانس رايت: / سِڤنتي ثري پيرسنت وِذِن سِكستي دايز، / أغينست ثيرتين پيرسنت باي تشانس. ‖ آند وي وِذدرو آور أون فيرست فيغر / وِن أ تِست شود إت واز إنفلايتِد. ‖
5) ليش مش NDVI لحاله؟  (شريحة 20)
We tested exactly that. ‖ Same rule, same 25 stands: / NDVI alone gives 1.61 false alarms per stand-year, / ours 0.96 — / forty percent fewer. ‖
وي تِستِد إغزاكتلي ذات. ‖ سيم رول، سيم توينتي فايف ستاندز: / إن دي ڤي آي ألون غِڤز وَن پوينت سِكس وَن فولس ألارمز پير ستاند يير، / آورز زيرو پوينت ناين سِكس — / فورتي پيرسنت فيوَر. ‖
6) ليش المد والجزر مهم؟
At high tide, / flooded mangroves look like dying mangroves from space. ‖ Modelling the tide cuts the noise by 29 to 35 percent. ‖
آت هاي تايد، / فلادِد مانغروڤز لوك لايك دايينغ مانغروڤز فروم سپيس. ‖ مودلينغ ذا تايد كاتس ذا نويز باي توينتي ناين تو ثيرتي فايف پيرسنت. ‖
7) قديش دقة خريطة القرم؟
Mapping is not our contribution: / about 0.6 F1, / and we say so. ‖ We focus on change and condition over time. ‖
مابينغ إز نوت آور كونتريبيوشن: / أباوت زيرو پوينت سِكس إف وَن، / آند وي ساي سو. ‖ وي فوكَس أون تشينج آند كونديشن أوڤر تايم. ‖
8) اخترتي الحالات اللي بتناسبك؟
They came from the monitor's own alerts. ‖ We checked the flagged stands on dated images, / including the false alarms, / which we report. ‖
ذاي كيم فروم ذا مونيتورز أون أليرتس. ‖ وي تشيكت ذا فلاغد ستاندز أون دايتِد إميجِز، / إنكلودينغ ذا فولس ألارمز، / ويتش وي ريپورت. ‖
9) شو أضافت البيانات فائقة الطيف؟
An independent check: / r up to 0.99 with Sentinel-2. ‖ And a fingerprint: / stand 5 changed from vegetation to sand. ‖ As a classifier / it was not better, / and we say so. ‖
آن إنديپندنت تشيك: / آر أپ تو زيرو پوينت ناين ناين وِذ سِنتينِل تو. ‖ آند أ فينغرپرينت: / ستاند فايف تشينجد فروم ڤيجيتيشن تو ساند. ‖ آز أ كلاسيفاير / إت واز نوت بِتر، / آند وي ساي سو. ‖
10) ليش ما استعملتي القمر 813؟  (شريحة 8)
It was not available in the proof of concept. ‖ Every index we use fits inside its range, / so 813 slots into the same step: / Sentinel-2 says when, / 813 says what. ‖
إت واز نوت أڤيلابل إن ذا پروف أوف كونسپت. ‖ إيڤري إندكس وي يوز فِتس إنسايد إتس رينج، / سو إيت وَن ثري سلوتس إنتو ذا سيم ستِپ: / سِنتينِل تو سيز وِن، / إيت وَن ثري سيز وَت. ‖
11) شو بتعملي مع الغيوم؟
We use the cloud mask / and keep only clear dates: / still 778 dates in six years. ‖
وي يوز ذا كلاود ماسك / آند كيپ أونلي كلير دايتس: / ستيل سِڤن هاندرد سِڤنتي إيت دايتس إن سِكس ييرز. ‖
12) طيب البحرين؟
Bahrain's mangrove patches are under 4 hectares — / too small for 10-metre pixels. ‖ That is a case for very-high-resolution data in incubation. ‖
البحرينز مانغروڤ پاتشِز آر أندر فور هِكتارز — / تو سمول فور تِن ميتر پيكسلز. ‖ ذات إز أ كيس فور ڤيري هاي ريزوليوشن داتا إن إنكيوبيشن. ‖
13) مين رح يدفع؟
Agencies, / planting and carbon developers, / and coastal developers. ‖ Our pilot offer is about 12 thousand dollars per site per year; / the cost to serve is about 3 thousand. ‖
إيجنسيز، / پلانتينغ آند كاربون ديڤيلوپرز، / آند كوستال ديڤيلوپرز. ‖ آور پايلوت أوفر إز أباوت تويلڤ ثاوزند دولارز پير سايت پير يير؛ / ذا كوست تو سيرڤ إز أباوت ثري ثاوزند. ‖
14) شو الفرق عن Global Mangrove Watch؟
We are complementary. ‖ They give free monthly loss alerts; / we add the tide model, / the 200-metre cells, / a measured false-alarm rate / and the carbon at stake. ‖
وي آر كومپليمنتري. ‖ ذاي غِڤ فري مَنثلي لوس أليرتس؛ / وي آد ذا تايد مودل، / ذا تو هاندرد ميتر سِلز، / أ ميجَرد فولس ألارم رايت / آند ذا كاربون آت ستيك. ‖
15) الأسعار مجربة؟
No — / they are hypotheses for a pilot. ‖ What we measured is the cost: / compute is under five dollars per site per year. ‖
نو — / ذاي آر هايپوثيسيز فور أ پايلوت. ‖ وَت وي ميجَرد إز ذا كوست: / كومپيوت إز أندر فايف دولارز پير سايت پير يير. ‖
16) رقم الكربون معدل امتصاص؟ أرصدة كربون؟
It is a stock, / not a sequestration rate: / area times 108 tonnes per hectare, / with a range. ‖ It supports verification, / not credits on its own. ‖
إت إز أ ستوك، / نوت أ سيكويستريشن رايت: / إيريا تايمز وَن هاندرد آند إيت تَنز پير هِكتار، / وِذ أ رينج. ‖ إت سَپورتس ڤيريفيكيشن، / نوت كريدِتس أون إتس أون. ‖
17) كيف بيتوسع للخليج كله؟
The data is free and read from the cloud. ‖ Six years for a whole block run in under 75 minutes. ‖ Compute is not the limit; / partners are. ‖
ذا داتا إز فري آند ريد فروم ذا كلاود. ‖ سِكس ييرز فور أ هول بلوك ران إن أندر سِڤنتي فايف مِنِتس. ‖ كومپيوت إز نوت ذا ليمِت؛ / پارتنرز آر. ‖
18) إنتِ شخص واحد، بتقدري؟
I delivered the full proof of concept, / and everything is public. ‖ For incubation / I will add a mangrove ecologist, / an agency partner / and a GIS analyst. ‖
آي ديليڤرد ذا فول پروف أوف كونسپت، / آند إيڤري ثينغ إز پابليك. ‖ فور إنكيوبيشن / آي ويل آد أ مانغروڤ إيكولوجيست، / آن إيجنسي پارتنر / آند أ جي آي إس أناليست. ‖
19) وين الذكاء الاصطناعي؟
A statistical learning model per stand and per cell, / and an anomaly detector calibrated against chance. ‖ We chose an explainable model on purpose: / an inspector must understand why an alert fired. ‖
أ ستاتيستيكال ليرنينغ مودل پير ستاند آند پير سِل، / آند آن أنومالي ديتِكتور كاليبريتِد أغينست تشانس. ‖ وي تشوز آن إكسپلينابل مودل أون پيرپَس: / آن إنسپكتر مَست أندرستاند واي آن أليرت فايرد. ‖
20) أول شي بالاحتضان؟
One pilot with a partner: / match our alerts to permits, / add Satellite 813, / and deploy on gIQ. ‖
وَن پايلوت وِذ أ پارتنر: / ماتش آور أليرتس تو پيرمِتس، / آد ساتلايت إيت وَن ثري، / آند ديپلوي أون جي آي كيو. ‖
الأرقام الخمسة: 29–35% أقل تشويش · 1.61 → 0.96 إنذار كاذب (NDVI مقابلنا) · 73% مقابل 13% · 0.79 على 65 منطقة جديدة · 5 من 5 تحويلات مؤكدة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0 s
شريحة احتياط — لا تعرضيها إلا إذا سألوا عن NDVI أو الإنذارات الكاذبة.
Same alert rule, same 25 stands: / NDVI alone gives 1.61 false alarms per stand-year, / ours 0.96 — / forty percent fewer, / mostly thanks to the tide model. ‖
سيم أليرت رول، سيم توينتي فايف ستاندز: / إن دي ڤي آي ألون غِڤز وَن پوينت سِكس وَن فولس ألارمز پير ستاند يير، / آورز زيرو پوينت ناين سِكس — / فورتي پيرسنت فيوَر، / موستلي ثانكس تو ذا تايد مودل. ‖
All four catch the five conversions; / the difference is the false-alarm cost. ‖
أول فور كاتش ذا فايف كونڤيرجنز؛ / ذا ديفرنس إز ذا فولس ألارم كوست. ‖
▶ ارجعي: 19 + Enter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0 s
شريحة احتياط — لا تعرضيها إلا إذا سألوا عن الحدود أو نقاط الضعف.
Detection while works happen, / not early warning. ‖ Ten-metre pixels miss very small stands. ‖ Confirmation on dated images, / not site visits — / matching permits with a partner is our first pilot task. ‖
ديتِكشن وايل وركس هاپن، / نوت إيرلي وورنينغ. ‖ تِن ميتر پيكسلز مِس ڤيري سمول ستاندز. ‖ كونفيرميشن أون دايتِد إميجِز، / نوت سايت ڤيزِتس — / ماتشينغ پيرمِتس وِذ أ پارتنر إز آور فيرست پايلوت تاسك. ‖
▶ ارجعي: 19 + Enter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- only if a judge asks to see the product again, or the live demo failed.
DO: click the video to play it (sound on, 2 min). Press Esc to leave the slideshow afterwards.
SAY: "Here is the two-minute walkthrough of the product."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EAN_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Carbon Guardian   ·   Team Blue Athar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EAN_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Carbon Guardian   ·   Team Blue Athar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EAN_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 Carbon Guardian   ·   Team Blue Athar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6.png"/><Relationship Id="rId11" Type="http://schemas.openxmlformats.org/officeDocument/2006/relationships/image" Target="../media/image26.png"/><Relationship Id="rId5" Type="http://schemas.openxmlformats.org/officeDocument/2006/relationships/image" Target="../media/image5.png"/><Relationship Id="rId10" Type="http://schemas.openxmlformats.org/officeDocument/2006/relationships/image" Target="../media/image25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11" Type="http://schemas.openxmlformats.org/officeDocument/2006/relationships/image" Target="../media/image30.png"/><Relationship Id="rId5" Type="http://schemas.openxmlformats.org/officeDocument/2006/relationships/image" Target="../media/image15.png"/><Relationship Id="rId10" Type="http://schemas.openxmlformats.org/officeDocument/2006/relationships/image" Target="../media/image24.png"/><Relationship Id="rId4" Type="http://schemas.openxmlformats.org/officeDocument/2006/relationships/image" Target="../media/image6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31.png"/><Relationship Id="rId10" Type="http://schemas.openxmlformats.org/officeDocument/2006/relationships/image" Target="../media/image30.png"/><Relationship Id="rId4" Type="http://schemas.openxmlformats.org/officeDocument/2006/relationships/image" Target="../media/image6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3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hart" Target="../charts/char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1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11" Type="http://schemas.openxmlformats.org/officeDocument/2006/relationships/image" Target="../media/image50.png"/><Relationship Id="rId5" Type="http://schemas.openxmlformats.org/officeDocument/2006/relationships/image" Target="../media/image46.png"/><Relationship Id="rId10" Type="http://schemas.openxmlformats.org/officeDocument/2006/relationships/image" Target="../media/image49.png"/><Relationship Id="rId4" Type="http://schemas.openxmlformats.org/officeDocument/2006/relationships/image" Target="../media/image6.png"/><Relationship Id="rId9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52.png"/><Relationship Id="rId10" Type="http://schemas.openxmlformats.org/officeDocument/2006/relationships/image" Target="../media/image26.png"/><Relationship Id="rId4" Type="http://schemas.openxmlformats.org/officeDocument/2006/relationships/image" Target="../media/image6.png"/><Relationship Id="rId9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53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5">
            <a:alphaModFix amt="38000"/>
          </a:blip>
          <a:stretch>
            <a:fillRect/>
          </a:stretch>
        </p:blipFill>
        <p:spPr>
          <a:xfrm>
            <a:off x="6766560" y="-2377440"/>
            <a:ext cx="6858000" cy="68580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-2926080" y="3291840"/>
            <a:ext cx="6400800" cy="6400800"/>
          </a:xfrm>
          <a:prstGeom prst="rect">
            <a:avLst/>
          </a:prstGeom>
        </p:spPr>
      </p:pic>
      <p:sp>
        <p:nvSpPr>
          <p:cNvPr id="5" name="a3zoom_vframe"/>
          <p:cNvSpPr/>
          <p:nvPr/>
        </p:nvSpPr>
        <p:spPr>
          <a:xfrm>
            <a:off x="6940296" y="1088136"/>
            <a:ext cx="4818888" cy="4230243"/>
          </a:xfrm>
          <a:prstGeom prst="roundRect">
            <a:avLst>
              <a:gd name="adj" fmla="val 2162"/>
            </a:avLst>
          </a:prstGeom>
          <a:solidFill>
            <a:srgbClr val="0A1E3C"/>
          </a:solidFill>
          <a:ln w="15875">
            <a:solidFill>
              <a:srgbClr val="8FB4DE"/>
            </a:solidFill>
            <a:prstDash val="solid"/>
          </a:ln>
          <a:effectLst>
            <a:outerShdw blurRad="152400" dist="38100" dir="5400000" algn="bl" rotWithShape="0">
              <a:srgbClr val="1B2B40">
                <a:alpha val="25000"/>
              </a:srgbClr>
            </a:outerShdw>
          </a:effectLst>
        </p:spPr>
      </p:sp>
      <p:pic>
        <p:nvPicPr>
          <p:cNvPr id="4" name="video_cover">
            <a:hlinkClick r:id="" action="ppaction://media"/>
            <a:extLst>
              <a:ext uri="{FF2B5EF4-FFF2-40B4-BE49-F238E27FC236}">
                <a16:creationId xmlns:a16="http://schemas.microsoft.com/office/drawing/2014/main" id="{B44C27CD-7DDF-DC50-170F-2A2E4B63F9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995160" y="1143001"/>
            <a:ext cx="4709024" cy="4120515"/>
          </a:xfrm>
          <a:prstGeom prst="rect">
            <a:avLst/>
          </a:prstGeom>
        </p:spPr>
      </p:pic>
      <p:pic>
        <p:nvPicPr>
          <p:cNvPr id="7" name="z0drift_sat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40080" y="292608"/>
            <a:ext cx="384048" cy="384048"/>
          </a:xfrm>
          <a:prstGeom prst="rect">
            <a:avLst/>
          </a:prstGeom>
        </p:spPr>
      </p:pic>
      <p:sp>
        <p:nvSpPr>
          <p:cNvPr id="8" name="a0fade_kick"/>
          <p:cNvSpPr txBox="1"/>
          <p:nvPr/>
        </p:nvSpPr>
        <p:spPr>
          <a:xfrm>
            <a:off x="640080" y="11887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200" dirty="0">
                <a:solidFill>
                  <a:srgbClr val="BCD3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ARAB YOUTH SPACE HACKATHON 2026  ·  CHALLENGE 813  ·  FINAL</a:t>
            </a:r>
            <a:endParaRPr lang="en-US" sz="1100" dirty="0"/>
          </a:p>
        </p:txBody>
      </p:sp>
      <p:sp>
        <p:nvSpPr>
          <p:cNvPr id="9" name="a1float_title"/>
          <p:cNvSpPr txBox="1"/>
          <p:nvPr/>
        </p:nvSpPr>
        <p:spPr>
          <a:xfrm>
            <a:off x="603504" y="157276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Blue Carbon Guardian</a:t>
            </a:r>
            <a:endParaRPr lang="en-US" sz="4600" dirty="0"/>
          </a:p>
        </p:txBody>
      </p:sp>
      <p:sp>
        <p:nvSpPr>
          <p:cNvPr id="10" name="a1float_sub"/>
          <p:cNvSpPr txBox="1"/>
          <p:nvPr/>
        </p:nvSpPr>
        <p:spPr>
          <a:xfrm>
            <a:off x="640080" y="26060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D4E2E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Tide-aware satellite monitoring for Gulf mangroves —</a:t>
            </a:r>
            <a:endParaRPr lang="en-US" sz="2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D4E2E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from alert to evidence.</a:t>
            </a:r>
            <a:endParaRPr lang="en-US" sz="2100" dirty="0"/>
          </a:p>
        </p:txBody>
      </p:sp>
      <p:sp>
        <p:nvSpPr>
          <p:cNvPr id="11" name="a2fade_team_bg"/>
          <p:cNvSpPr/>
          <p:nvPr/>
        </p:nvSpPr>
        <p:spPr>
          <a:xfrm>
            <a:off x="640080" y="3611880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BCD3EC">
              <a:alpha val="15000"/>
            </a:srgbClr>
          </a:solidFill>
          <a:ln w="9525">
            <a:solidFill>
              <a:srgbClr val="BCD3EC"/>
            </a:solidFill>
            <a:prstDash val="solid"/>
          </a:ln>
        </p:spPr>
      </p:sp>
      <p:sp>
        <p:nvSpPr>
          <p:cNvPr id="12" name="a2fade_team"/>
          <p:cNvSpPr txBox="1"/>
          <p:nvPr/>
        </p:nvSpPr>
        <p:spPr>
          <a:xfrm>
            <a:off x="640080" y="36118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E3E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 Blue Athar  ·  الأثر الأزرق</a:t>
            </a:r>
            <a:endParaRPr lang="en-US" sz="1200" dirty="0"/>
          </a:p>
        </p:txBody>
      </p:sp>
      <p:sp>
        <p:nvSpPr>
          <p:cNvPr id="13" name="a2fade_theme_bg"/>
          <p:cNvSpPr/>
          <p:nvPr/>
        </p:nvSpPr>
        <p:spPr>
          <a:xfrm>
            <a:off x="640080" y="4087368"/>
            <a:ext cx="3886200" cy="365760"/>
          </a:xfrm>
          <a:prstGeom prst="roundRect">
            <a:avLst>
              <a:gd name="adj" fmla="val 50000"/>
            </a:avLst>
          </a:prstGeom>
          <a:solidFill>
            <a:srgbClr val="C7DCF0">
              <a:alpha val="15000"/>
            </a:srgbClr>
          </a:solidFill>
          <a:ln w="9525">
            <a:solidFill>
              <a:srgbClr val="C7DCF0"/>
            </a:solidFill>
            <a:prstDash val="solid"/>
          </a:ln>
        </p:spPr>
      </p:sp>
      <p:sp>
        <p:nvSpPr>
          <p:cNvPr id="14" name="a2fade_theme"/>
          <p:cNvSpPr txBox="1"/>
          <p:nvPr/>
        </p:nvSpPr>
        <p:spPr>
          <a:xfrm>
            <a:off x="640080" y="40873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4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Theme: Ecosystem Health, Biodiversity &amp; Blue Carbon</a:t>
            </a:r>
            <a:endParaRPr lang="en-US" sz="1200" dirty="0"/>
          </a:p>
        </p:txBody>
      </p:sp>
      <p:sp>
        <p:nvSpPr>
          <p:cNvPr id="15" name="a4float_k0"/>
          <p:cNvSpPr/>
          <p:nvPr/>
        </p:nvSpPr>
        <p:spPr>
          <a:xfrm>
            <a:off x="640080" y="4681728"/>
            <a:ext cx="1417320" cy="1188720"/>
          </a:xfrm>
          <a:prstGeom prst="roundRect">
            <a:avLst>
              <a:gd name="adj" fmla="val 10769"/>
            </a:avLst>
          </a:prstGeom>
          <a:solidFill>
            <a:srgbClr val="1E3D63">
              <a:alpha val="70000"/>
            </a:srgbClr>
          </a:solidFill>
          <a:ln w="9525">
            <a:solidFill>
              <a:srgbClr val="7FA2CA"/>
            </a:solidFill>
            <a:prstDash val="solid"/>
          </a:ln>
          <a:effectLst>
            <a:outerShdw blurRad="152400" dist="38100" dir="5400000" algn="bl" rotWithShape="0">
              <a:srgbClr val="1B2B40">
                <a:alpha val="25000"/>
              </a:srgbClr>
            </a:outerShdw>
          </a:effectLst>
        </p:spPr>
      </p:sp>
      <p:sp>
        <p:nvSpPr>
          <p:cNvPr id="16" name="a4float_k0n"/>
          <p:cNvSpPr txBox="1"/>
          <p:nvPr/>
        </p:nvSpPr>
        <p:spPr>
          <a:xfrm>
            <a:off x="786384" y="47731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F1D9A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91</a:t>
            </a:r>
            <a:endParaRPr lang="en-US" sz="3200" dirty="0"/>
          </a:p>
        </p:txBody>
      </p:sp>
      <p:sp>
        <p:nvSpPr>
          <p:cNvPr id="17" name="a4float_k0t"/>
          <p:cNvSpPr txBox="1"/>
          <p:nvPr/>
        </p:nvSpPr>
        <p:spPr>
          <a:xfrm>
            <a:off x="786384" y="5303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5E2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stands monitored</a:t>
            </a:r>
            <a:endParaRPr lang="en-US" sz="1100" dirty="0"/>
          </a:p>
        </p:txBody>
      </p:sp>
      <p:sp>
        <p:nvSpPr>
          <p:cNvPr id="18" name="a4float_k1"/>
          <p:cNvSpPr/>
          <p:nvPr/>
        </p:nvSpPr>
        <p:spPr>
          <a:xfrm>
            <a:off x="2157984" y="4681728"/>
            <a:ext cx="1417320" cy="1188720"/>
          </a:xfrm>
          <a:prstGeom prst="roundRect">
            <a:avLst>
              <a:gd name="adj" fmla="val 10769"/>
            </a:avLst>
          </a:prstGeom>
          <a:solidFill>
            <a:srgbClr val="1E3D63">
              <a:alpha val="70000"/>
            </a:srgbClr>
          </a:solidFill>
          <a:ln w="9525">
            <a:solidFill>
              <a:srgbClr val="7FA2CA"/>
            </a:solidFill>
            <a:prstDash val="solid"/>
          </a:ln>
          <a:effectLst>
            <a:outerShdw blurRad="152400" dist="38100" dir="5400000" algn="bl" rotWithShape="0">
              <a:srgbClr val="1B2B40">
                <a:alpha val="25000"/>
              </a:srgbClr>
            </a:outerShdw>
          </a:effectLst>
        </p:spPr>
      </p:sp>
      <p:sp>
        <p:nvSpPr>
          <p:cNvPr id="19" name="a4float_k1n"/>
          <p:cNvSpPr txBox="1"/>
          <p:nvPr/>
        </p:nvSpPr>
        <p:spPr>
          <a:xfrm>
            <a:off x="2304288" y="47731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F4BCC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5</a:t>
            </a:r>
            <a:endParaRPr lang="en-US" sz="3200" dirty="0"/>
          </a:p>
        </p:txBody>
      </p:sp>
      <p:sp>
        <p:nvSpPr>
          <p:cNvPr id="20" name="a4float_k1t"/>
          <p:cNvSpPr txBox="1"/>
          <p:nvPr/>
        </p:nvSpPr>
        <p:spPr>
          <a:xfrm>
            <a:off x="2304288" y="5303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5E2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conversions confirmed</a:t>
            </a:r>
            <a:endParaRPr lang="en-US" sz="1100" dirty="0"/>
          </a:p>
        </p:txBody>
      </p:sp>
      <p:sp>
        <p:nvSpPr>
          <p:cNvPr id="21" name="a4float_k2"/>
          <p:cNvSpPr/>
          <p:nvPr/>
        </p:nvSpPr>
        <p:spPr>
          <a:xfrm>
            <a:off x="3675888" y="4681728"/>
            <a:ext cx="1417320" cy="1188720"/>
          </a:xfrm>
          <a:prstGeom prst="roundRect">
            <a:avLst>
              <a:gd name="adj" fmla="val 10769"/>
            </a:avLst>
          </a:prstGeom>
          <a:solidFill>
            <a:srgbClr val="1E3D63">
              <a:alpha val="70000"/>
            </a:srgbClr>
          </a:solidFill>
          <a:ln w="9525">
            <a:solidFill>
              <a:srgbClr val="7FA2CA"/>
            </a:solidFill>
            <a:prstDash val="solid"/>
          </a:ln>
          <a:effectLst>
            <a:outerShdw blurRad="152400" dist="38100" dir="5400000" algn="bl" rotWithShape="0">
              <a:srgbClr val="1B2B40">
                <a:alpha val="25000"/>
              </a:srgbClr>
            </a:outerShdw>
          </a:effectLst>
        </p:spPr>
      </p:sp>
      <p:sp>
        <p:nvSpPr>
          <p:cNvPr id="22" name="a4float_k2n"/>
          <p:cNvSpPr txBox="1"/>
          <p:nvPr/>
        </p:nvSpPr>
        <p:spPr>
          <a:xfrm>
            <a:off x="3822192" y="47731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F1D9A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73 %</a:t>
            </a:r>
            <a:endParaRPr lang="en-US" sz="3200" dirty="0"/>
          </a:p>
        </p:txBody>
      </p:sp>
      <p:sp>
        <p:nvSpPr>
          <p:cNvPr id="23" name="a4float_k2t"/>
          <p:cNvSpPr txBox="1"/>
          <p:nvPr/>
        </p:nvSpPr>
        <p:spPr>
          <a:xfrm>
            <a:off x="3822192" y="5303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5E2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loss caught (chance 13 %)</a:t>
            </a:r>
            <a:endParaRPr lang="en-US" sz="1100" dirty="0"/>
          </a:p>
        </p:txBody>
      </p:sp>
      <p:sp>
        <p:nvSpPr>
          <p:cNvPr id="24" name="a4float_k3"/>
          <p:cNvSpPr/>
          <p:nvPr/>
        </p:nvSpPr>
        <p:spPr>
          <a:xfrm>
            <a:off x="5193792" y="4681728"/>
            <a:ext cx="1417320" cy="1188720"/>
          </a:xfrm>
          <a:prstGeom prst="roundRect">
            <a:avLst>
              <a:gd name="adj" fmla="val 10769"/>
            </a:avLst>
          </a:prstGeom>
          <a:solidFill>
            <a:srgbClr val="1E3D63">
              <a:alpha val="70000"/>
            </a:srgbClr>
          </a:solidFill>
          <a:ln w="9525">
            <a:solidFill>
              <a:srgbClr val="7FA2CA"/>
            </a:solidFill>
            <a:prstDash val="solid"/>
          </a:ln>
          <a:effectLst>
            <a:outerShdw blurRad="152400" dist="38100" dir="5400000" algn="bl" rotWithShape="0">
              <a:srgbClr val="1B2B40">
                <a:alpha val="25000"/>
              </a:srgbClr>
            </a:outerShdw>
          </a:effectLst>
        </p:spPr>
      </p:sp>
      <p:sp>
        <p:nvSpPr>
          <p:cNvPr id="25" name="a4float_k3n"/>
          <p:cNvSpPr txBox="1"/>
          <p:nvPr/>
        </p:nvSpPr>
        <p:spPr>
          <a:xfrm>
            <a:off x="5340096" y="47731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F1D9A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≈ 1</a:t>
            </a:r>
            <a:endParaRPr lang="en-US" sz="3200" dirty="0"/>
          </a:p>
        </p:txBody>
      </p:sp>
      <p:sp>
        <p:nvSpPr>
          <p:cNvPr id="26" name="a4float_k3t"/>
          <p:cNvSpPr txBox="1"/>
          <p:nvPr/>
        </p:nvSpPr>
        <p:spPr>
          <a:xfrm>
            <a:off x="5340096" y="5303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D5E2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alarm per stand-year</a:t>
            </a:r>
            <a:endParaRPr lang="en-US" sz="1100" dirty="0"/>
          </a:p>
        </p:txBody>
      </p:sp>
      <p:sp>
        <p:nvSpPr>
          <p:cNvPr id="27" name="a5fade_name"/>
          <p:cNvSpPr txBox="1"/>
          <p:nvPr/>
        </p:nvSpPr>
        <p:spPr>
          <a:xfrm>
            <a:off x="640080" y="6126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D4E2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Nahla Nabil  ·  Bahrain</a:t>
            </a:r>
            <a:endParaRPr lang="en-US" sz="1600" dirty="0"/>
          </a:p>
        </p:txBody>
      </p:sp>
      <p:pic>
        <p:nvPicPr>
          <p:cNvPr id="28" name="a5fade_fae" descr="C:\Users\nahla\Desktop\UAE-Space-Hackatoon\deck_pptx\flag_a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5160" y="5577840"/>
            <a:ext cx="438912" cy="219456"/>
          </a:xfrm>
          <a:prstGeom prst="rect">
            <a:avLst/>
          </a:prstGeom>
        </p:spPr>
      </p:pic>
      <p:sp>
        <p:nvSpPr>
          <p:cNvPr id="29" name="a5fade_fael"/>
          <p:cNvSpPr txBox="1"/>
          <p:nvPr/>
        </p:nvSpPr>
        <p:spPr>
          <a:xfrm>
            <a:off x="7498080" y="5504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D4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area: Abu Dhabi, UAE</a:t>
            </a:r>
            <a:endParaRPr lang="en-US" sz="1200" dirty="0"/>
          </a:p>
        </p:txBody>
      </p:sp>
      <p:pic>
        <p:nvPicPr>
          <p:cNvPr id="30" name="a5fade_fbh" descr="C:\Users\nahla\Desktop\UAE-Space-Hackatoon\deck_pptx\flag_b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6920" y="5577840"/>
            <a:ext cx="365760" cy="219456"/>
          </a:xfrm>
          <a:prstGeom prst="rect">
            <a:avLst/>
          </a:prstGeom>
        </p:spPr>
      </p:pic>
      <p:sp>
        <p:nvSpPr>
          <p:cNvPr id="31" name="a5fade_fbhl"/>
          <p:cNvSpPr txBox="1"/>
          <p:nvPr/>
        </p:nvSpPr>
        <p:spPr>
          <a:xfrm>
            <a:off x="10076688" y="55046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D4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in Bahrain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1.12 -0.03 E" pathEditMode="relative" ptsTypes="">
                                      <p:cBhvr>
                                        <p:cTn id="8" dur="18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04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105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5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 animBg="1"/>
      <p:bldP spid="30" grpId="0"/>
      <p:bldP spid="3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2194560" y="2194560"/>
            <a:ext cx="5943600" cy="59436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8595360" y="-274320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TEAM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engineer, every role — delivered in the open</a:t>
            </a:r>
            <a:endParaRPr lang="en-US" sz="3400" dirty="0"/>
          </a:p>
        </p:txBody>
      </p:sp>
      <p:sp>
        <p:nvSpPr>
          <p:cNvPr id="7" name="a1float_panel"/>
          <p:cNvSpPr/>
          <p:nvPr/>
        </p:nvSpPr>
        <p:spPr>
          <a:xfrm>
            <a:off x="548640" y="1691640"/>
            <a:ext cx="4160520" cy="4480560"/>
          </a:xfrm>
          <a:prstGeom prst="roundRect">
            <a:avLst>
              <a:gd name="adj" fmla="val 3077"/>
            </a:avLst>
          </a:prstGeom>
          <a:solidFill>
            <a:srgbClr val="E8F0F9">
              <a:alpha val="9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8" name="a1float_avring"/>
          <p:cNvSpPr/>
          <p:nvPr/>
        </p:nvSpPr>
        <p:spPr>
          <a:xfrm>
            <a:off x="731520" y="1847088"/>
            <a:ext cx="1207008" cy="12070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F6E9E"/>
            </a:solidFill>
            <a:prstDash val="solid"/>
          </a:ln>
        </p:spPr>
      </p:sp>
      <p:pic>
        <p:nvPicPr>
          <p:cNvPr id="9" name="a1float_av" descr="C:\Users\nahla\Desktop\UAE-Space-Hackatoon\deck_pptx\nah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892808"/>
            <a:ext cx="1115568" cy="1115568"/>
          </a:xfrm>
          <a:prstGeom prst="rect">
            <a:avLst/>
          </a:prstGeom>
        </p:spPr>
      </p:pic>
      <p:sp>
        <p:nvSpPr>
          <p:cNvPr id="10" name="a1float_name"/>
          <p:cNvSpPr txBox="1"/>
          <p:nvPr/>
        </p:nvSpPr>
        <p:spPr>
          <a:xfrm>
            <a:off x="2084832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Nahla Nabil</a:t>
            </a:r>
            <a:endParaRPr lang="en-US" sz="2200" dirty="0"/>
          </a:p>
        </p:txBody>
      </p:sp>
      <p:sp>
        <p:nvSpPr>
          <p:cNvPr id="11" name="a1float_role"/>
          <p:cNvSpPr txBox="1"/>
          <p:nvPr/>
        </p:nvSpPr>
        <p:spPr>
          <a:xfrm>
            <a:off x="2084832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lead · AI engineer · IEEE researcher</a:t>
            </a:r>
            <a:endParaRPr lang="en-US" sz="1100" dirty="0"/>
          </a:p>
        </p:txBody>
      </p:sp>
      <p:sp>
        <p:nvSpPr>
          <p:cNvPr id="12" name="a1float_ctry"/>
          <p:cNvSpPr txBox="1"/>
          <p:nvPr/>
        </p:nvSpPr>
        <p:spPr>
          <a:xfrm>
            <a:off x="2084832" y="2596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Bahrain</a:t>
            </a:r>
            <a:endParaRPr lang="en-US" sz="1100" dirty="0"/>
          </a:p>
        </p:txBody>
      </p:sp>
      <p:sp>
        <p:nvSpPr>
          <p:cNvPr id="13" name="a2fade_l0"/>
          <p:cNvSpPr txBox="1"/>
          <p:nvPr/>
        </p:nvSpPr>
        <p:spPr>
          <a:xfrm>
            <a:off x="804672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4" name="a2fade_edu"/>
          <p:cNvSpPr txBox="1"/>
          <p:nvPr/>
        </p:nvSpPr>
        <p:spPr>
          <a:xfrm>
            <a:off x="804672" y="33467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BSc Artificial Intelligence</a:t>
            </a:r>
            <a:r>
              <a:rPr lang="en-US" sz="115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Arab Open University, Bahrain · final semester · First-Class Honours standing</a:t>
            </a:r>
            <a:endParaRPr lang="en-US" sz="1150" dirty="0"/>
          </a:p>
        </p:txBody>
      </p:sp>
      <p:sp>
        <p:nvSpPr>
          <p:cNvPr id="15" name="a2fade_l1"/>
          <p:cNvSpPr txBox="1"/>
          <p:nvPr/>
        </p:nvSpPr>
        <p:spPr>
          <a:xfrm>
            <a:off x="804672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RELEVANT EXPERTISE</a:t>
            </a:r>
            <a:endParaRPr lang="en-US" sz="1100" dirty="0"/>
          </a:p>
        </p:txBody>
      </p:sp>
      <p:sp>
        <p:nvSpPr>
          <p:cNvPr id="16" name="a2fade_skills"/>
          <p:cNvSpPr txBox="1"/>
          <p:nvPr/>
        </p:nvSpPr>
        <p:spPr>
          <a:xfrm>
            <a:off x="804672" y="411480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IEEE papers (ICCA 2025, ICAISET 2026): federated learning for industrial IoT; random-forest audit of GCC sustainability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LLM product engineering (Doo Bahrain; FlyRank backend AI)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learning, computer vision (deepfake detection), Python geospatial stack</a:t>
            </a:r>
            <a:endParaRPr lang="en-US" sz="1050" dirty="0"/>
          </a:p>
        </p:txBody>
      </p:sp>
      <p:sp>
        <p:nvSpPr>
          <p:cNvPr id="17" name="a3fade_l2"/>
          <p:cNvSpPr txBox="1"/>
          <p:nvPr/>
        </p:nvSpPr>
        <p:spPr>
          <a:xfrm>
            <a:off x="804672" y="5486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18" name="a3fade_comm"/>
          <p:cNvSpPr txBox="1"/>
          <p:nvPr/>
        </p:nvSpPr>
        <p:spPr>
          <a:xfrm>
            <a:off x="804672" y="56875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NASA Space Apps Challenge local lead (Manama): organising and mentoring space-data teams</a:t>
            </a:r>
            <a:endParaRPr lang="en-US" sz="1000" dirty="0"/>
          </a:p>
        </p:txBody>
      </p:sp>
      <p:sp>
        <p:nvSpPr>
          <p:cNvPr id="19" name="a1fade_l4"/>
          <p:cNvSpPr txBox="1"/>
          <p:nvPr/>
        </p:nvSpPr>
        <p:spPr>
          <a:xfrm>
            <a:off x="4983480" y="1691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ROLES &amp; RESPONSIBILITIES IN THIS PROJECT</a:t>
            </a:r>
            <a:endParaRPr lang="en-US" sz="1100" dirty="0"/>
          </a:p>
        </p:txBody>
      </p:sp>
      <p:sp>
        <p:nvSpPr>
          <p:cNvPr id="20" name="a2float_r0"/>
          <p:cNvSpPr/>
          <p:nvPr/>
        </p:nvSpPr>
        <p:spPr>
          <a:xfrm>
            <a:off x="4983480" y="2029968"/>
            <a:ext cx="3255264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1" name="a2float_r0ic_c"/>
          <p:cNvSpPr/>
          <p:nvPr/>
        </p:nvSpPr>
        <p:spPr>
          <a:xfrm>
            <a:off x="5166360" y="2295144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22" name="a2float_r0ic_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9255" y="2418039"/>
            <a:ext cx="266273" cy="266273"/>
          </a:xfrm>
          <a:prstGeom prst="rect">
            <a:avLst/>
          </a:prstGeom>
        </p:spPr>
      </p:pic>
      <p:sp>
        <p:nvSpPr>
          <p:cNvPr id="23" name="a2float_r0t"/>
          <p:cNvSpPr txBox="1"/>
          <p:nvPr/>
        </p:nvSpPr>
        <p:spPr>
          <a:xfrm>
            <a:off x="5824728" y="21945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lead &amp; owner</a:t>
            </a:r>
            <a:endParaRPr lang="en-US" sz="1400" dirty="0"/>
          </a:p>
        </p:txBody>
      </p:sp>
      <p:sp>
        <p:nvSpPr>
          <p:cNvPr id="24" name="a2float_r0d"/>
          <p:cNvSpPr txBox="1"/>
          <p:nvPr/>
        </p:nvSpPr>
        <p:spPr>
          <a:xfrm>
            <a:off x="5824728" y="2532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framing, user needs, scope, every claim</a:t>
            </a:r>
            <a:endParaRPr lang="en-US" sz="1200" dirty="0"/>
          </a:p>
        </p:txBody>
      </p:sp>
      <p:sp>
        <p:nvSpPr>
          <p:cNvPr id="25" name="a2float_r1"/>
          <p:cNvSpPr/>
          <p:nvPr/>
        </p:nvSpPr>
        <p:spPr>
          <a:xfrm>
            <a:off x="8366760" y="2029968"/>
            <a:ext cx="3255264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6" name="a2float_r1ic_c"/>
          <p:cNvSpPr/>
          <p:nvPr/>
        </p:nvSpPr>
        <p:spPr>
          <a:xfrm>
            <a:off x="8549640" y="2295144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27" name="a2float_r1ic_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2535" y="2418039"/>
            <a:ext cx="266273" cy="266273"/>
          </a:xfrm>
          <a:prstGeom prst="rect">
            <a:avLst/>
          </a:prstGeom>
        </p:spPr>
      </p:pic>
      <p:sp>
        <p:nvSpPr>
          <p:cNvPr id="28" name="a2float_r1t"/>
          <p:cNvSpPr txBox="1"/>
          <p:nvPr/>
        </p:nvSpPr>
        <p:spPr>
          <a:xfrm>
            <a:off x="9208008" y="21945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EO data engineer</a:t>
            </a:r>
            <a:endParaRPr lang="en-US" sz="1400" dirty="0"/>
          </a:p>
        </p:txBody>
      </p:sp>
      <p:sp>
        <p:nvSpPr>
          <p:cNvPr id="29" name="a2float_r1d"/>
          <p:cNvSpPr txBox="1"/>
          <p:nvPr/>
        </p:nvSpPr>
        <p:spPr>
          <a:xfrm>
            <a:off x="9208008" y="25328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778 Sentinel-2 dates, EnMAP reader, sub-metre checks</a:t>
            </a:r>
            <a:endParaRPr lang="en-US" sz="1200" dirty="0"/>
          </a:p>
        </p:txBody>
      </p:sp>
      <p:sp>
        <p:nvSpPr>
          <p:cNvPr id="30" name="a3float_r2"/>
          <p:cNvSpPr/>
          <p:nvPr/>
        </p:nvSpPr>
        <p:spPr>
          <a:xfrm>
            <a:off x="4983480" y="3218688"/>
            <a:ext cx="3255264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31" name="a3float_r2ic_c"/>
          <p:cNvSpPr/>
          <p:nvPr/>
        </p:nvSpPr>
        <p:spPr>
          <a:xfrm>
            <a:off x="5166360" y="3483864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32" name="a3float_r2ic_i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9255" y="3606759"/>
            <a:ext cx="266273" cy="266273"/>
          </a:xfrm>
          <a:prstGeom prst="rect">
            <a:avLst/>
          </a:prstGeom>
        </p:spPr>
      </p:pic>
      <p:sp>
        <p:nvSpPr>
          <p:cNvPr id="33" name="a3float_r2t"/>
          <p:cNvSpPr txBox="1"/>
          <p:nvPr/>
        </p:nvSpPr>
        <p:spPr>
          <a:xfrm>
            <a:off x="5824728" y="33832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Modelling &amp; statistics</a:t>
            </a:r>
            <a:endParaRPr lang="en-US" sz="1400" dirty="0"/>
          </a:p>
        </p:txBody>
      </p:sp>
      <p:sp>
        <p:nvSpPr>
          <p:cNvPr id="34" name="a3float_r2d"/>
          <p:cNvSpPr txBox="1"/>
          <p:nvPr/>
        </p:nvSpPr>
        <p:spPr>
          <a:xfrm>
            <a:off x="5824728" y="3721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tide-aware model, stand + cell alert, calibration</a:t>
            </a:r>
            <a:endParaRPr lang="en-US" sz="1200" dirty="0"/>
          </a:p>
        </p:txBody>
      </p:sp>
      <p:sp>
        <p:nvSpPr>
          <p:cNvPr id="35" name="a3float_r3"/>
          <p:cNvSpPr/>
          <p:nvPr/>
        </p:nvSpPr>
        <p:spPr>
          <a:xfrm>
            <a:off x="8366760" y="3218688"/>
            <a:ext cx="3255264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36" name="a3float_r3ic_c"/>
          <p:cNvSpPr/>
          <p:nvPr/>
        </p:nvSpPr>
        <p:spPr>
          <a:xfrm>
            <a:off x="8549640" y="3483864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37" name="a3float_r3ic_i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2535" y="3606759"/>
            <a:ext cx="266273" cy="266273"/>
          </a:xfrm>
          <a:prstGeom prst="rect">
            <a:avLst/>
          </a:prstGeom>
        </p:spPr>
      </p:pic>
      <p:sp>
        <p:nvSpPr>
          <p:cNvPr id="38" name="a3float_r3t"/>
          <p:cNvSpPr txBox="1"/>
          <p:nvPr/>
        </p:nvSpPr>
        <p:spPr>
          <a:xfrm>
            <a:off x="9208008" y="33832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Validation &amp; integrity</a:t>
            </a:r>
            <a:endParaRPr lang="en-US" sz="1400" dirty="0"/>
          </a:p>
        </p:txBody>
      </p:sp>
      <p:sp>
        <p:nvSpPr>
          <p:cNvPr id="39" name="a3float_r3d"/>
          <p:cNvSpPr txBox="1"/>
          <p:nvPr/>
        </p:nvSpPr>
        <p:spPr>
          <a:xfrm>
            <a:off x="9208008" y="3721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events, simulations, unseen stands</a:t>
            </a:r>
            <a:endParaRPr lang="en-US" sz="1200" dirty="0"/>
          </a:p>
        </p:txBody>
      </p:sp>
      <p:sp>
        <p:nvSpPr>
          <p:cNvPr id="40" name="a4float_r4"/>
          <p:cNvSpPr/>
          <p:nvPr/>
        </p:nvSpPr>
        <p:spPr>
          <a:xfrm>
            <a:off x="4983480" y="4407408"/>
            <a:ext cx="3255264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41" name="a4float_r4ic_c"/>
          <p:cNvSpPr/>
          <p:nvPr/>
        </p:nvSpPr>
        <p:spPr>
          <a:xfrm>
            <a:off x="5166360" y="4672584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42" name="a4float_r4ic_i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9255" y="4795479"/>
            <a:ext cx="266273" cy="266273"/>
          </a:xfrm>
          <a:prstGeom prst="rect">
            <a:avLst/>
          </a:prstGeom>
        </p:spPr>
      </p:pic>
      <p:sp>
        <p:nvSpPr>
          <p:cNvPr id="43" name="a4float_r4t"/>
          <p:cNvSpPr txBox="1"/>
          <p:nvPr/>
        </p:nvSpPr>
        <p:spPr>
          <a:xfrm>
            <a:off x="5824728" y="45720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 &amp; delivery</a:t>
            </a:r>
            <a:endParaRPr lang="en-US" sz="1400" dirty="0"/>
          </a:p>
        </p:txBody>
      </p:sp>
      <p:sp>
        <p:nvSpPr>
          <p:cNvPr id="44" name="a4float_r4d"/>
          <p:cNvSpPr txBox="1"/>
          <p:nvPr/>
        </p:nvSpPr>
        <p:spPr>
          <a:xfrm>
            <a:off x="5824728" y="4910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dashboard, website, site reports, notebook</a:t>
            </a:r>
            <a:endParaRPr lang="en-US" sz="1200" dirty="0"/>
          </a:p>
        </p:txBody>
      </p:sp>
      <p:sp>
        <p:nvSpPr>
          <p:cNvPr id="45" name="a4float_r5"/>
          <p:cNvSpPr/>
          <p:nvPr/>
        </p:nvSpPr>
        <p:spPr>
          <a:xfrm>
            <a:off x="8366760" y="4407408"/>
            <a:ext cx="3255264" cy="1051560"/>
          </a:xfrm>
          <a:prstGeom prst="roundRect">
            <a:avLst>
              <a:gd name="adj" fmla="val 12174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46" name="a4float_r5ic_c"/>
          <p:cNvSpPr/>
          <p:nvPr/>
        </p:nvSpPr>
        <p:spPr>
          <a:xfrm>
            <a:off x="8549640" y="4672584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47" name="a4float_r5ic_i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72535" y="4795479"/>
            <a:ext cx="266273" cy="266273"/>
          </a:xfrm>
          <a:prstGeom prst="rect">
            <a:avLst/>
          </a:prstGeom>
        </p:spPr>
      </p:pic>
      <p:sp>
        <p:nvSpPr>
          <p:cNvPr id="48" name="a4float_r5t"/>
          <p:cNvSpPr txBox="1"/>
          <p:nvPr/>
        </p:nvSpPr>
        <p:spPr>
          <a:xfrm>
            <a:off x="9208008" y="45720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&amp; impact</a:t>
            </a:r>
            <a:endParaRPr lang="en-US" sz="1400" dirty="0"/>
          </a:p>
        </p:txBody>
      </p:sp>
      <p:sp>
        <p:nvSpPr>
          <p:cNvPr id="49" name="a4float_r5d"/>
          <p:cNvSpPr txBox="1"/>
          <p:nvPr/>
        </p:nvSpPr>
        <p:spPr>
          <a:xfrm>
            <a:off x="9208008" y="4910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customers, pricing hypotheses, carbon ranges</a:t>
            </a:r>
            <a:endParaRPr lang="en-US" sz="1200" dirty="0"/>
          </a:p>
        </p:txBody>
      </p:sp>
      <p:sp>
        <p:nvSpPr>
          <p:cNvPr id="50" name="a5float_gap"/>
          <p:cNvSpPr/>
          <p:nvPr/>
        </p:nvSpPr>
        <p:spPr>
          <a:xfrm>
            <a:off x="4983480" y="5596128"/>
            <a:ext cx="6638544" cy="576072"/>
          </a:xfrm>
          <a:prstGeom prst="roundRect">
            <a:avLst>
              <a:gd name="adj" fmla="val 22222"/>
            </a:avLst>
          </a:prstGeom>
          <a:solidFill>
            <a:srgbClr val="3F6E9E">
              <a:alpha val="14000"/>
            </a:srgbClr>
          </a:solidFill>
          <a:ln w="9525">
            <a:solidFill>
              <a:srgbClr val="3F6E9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51" name="a5float_gapt"/>
          <p:cNvSpPr txBox="1"/>
          <p:nvPr/>
        </p:nvSpPr>
        <p:spPr>
          <a:xfrm>
            <a:off x="5212080" y="5596128"/>
            <a:ext cx="6309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5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Incubation gap we will close:  </a:t>
            </a:r>
            <a:r>
              <a:rPr lang="en-US" sz="13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mangrove ecologist mentor · a restoration or agency partner · a GIS analyst</a:t>
            </a:r>
            <a:endParaRPr lang="en-US" sz="13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7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7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7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7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 animBg="1"/>
      <p:bldP spid="24" grpId="0" animBg="1"/>
      <p:bldP spid="25" grpId="0" animBg="1"/>
      <p:bldP spid="26" grpId="0" animBg="1"/>
      <p:bldP spid="27" grpId="0"/>
      <p:bldP spid="28" grpId="0" animBg="1"/>
      <p:bldP spid="29" grpId="0" animBg="1"/>
      <p:bldP spid="30" grpId="0" animBg="1"/>
      <p:bldP spid="31" grpId="0" animBg="1"/>
      <p:bldP spid="32" grpId="0"/>
      <p:bldP spid="33" grpId="0" animBg="1"/>
      <p:bldP spid="34" grpId="0" animBg="1"/>
      <p:bldP spid="35" grpId="0" animBg="1"/>
      <p:bldP spid="36" grpId="0" animBg="1"/>
      <p:bldP spid="37" grpId="0"/>
      <p:bldP spid="38" grpId="0" animBg="1"/>
      <p:bldP spid="39" grpId="0" animBg="1"/>
      <p:bldP spid="40" grpId="0" animBg="1"/>
      <p:bldP spid="41" grpId="0" animBg="1"/>
      <p:bldP spid="42" grpId="0"/>
      <p:bldP spid="43" grpId="0" animBg="1"/>
      <p:bldP spid="44" grpId="0" animBg="1"/>
      <p:bldP spid="45" grpId="0" animBg="1"/>
      <p:bldP spid="46" grpId="0" animBg="1"/>
      <p:bldP spid="47" grpId="0"/>
      <p:bldP spid="48" grpId="0" animBg="1"/>
      <p:bldP spid="49" grpId="0" animBg="1"/>
      <p:bldP spid="50" grpId="0" animBg="1"/>
      <p:bldP spid="5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8046720" y="-2011680"/>
            <a:ext cx="5486400" cy="54864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-2286000" y="384048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Restoration is scaling faster than monitoring</a:t>
            </a:r>
            <a:endParaRPr lang="en-US" sz="3400" dirty="0"/>
          </a:p>
        </p:txBody>
      </p:sp>
      <p:sp>
        <p:nvSpPr>
          <p:cNvPr id="7" name="a1float_s0"/>
          <p:cNvSpPr/>
          <p:nvPr/>
        </p:nvSpPr>
        <p:spPr>
          <a:xfrm>
            <a:off x="548640" y="1691640"/>
            <a:ext cx="5394960" cy="987552"/>
          </a:xfrm>
          <a:prstGeom prst="roundRect">
            <a:avLst>
              <a:gd name="adj" fmla="val 12963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8" name="a1float_s0n"/>
          <p:cNvSpPr txBox="1"/>
          <p:nvPr/>
        </p:nvSpPr>
        <p:spPr>
          <a:xfrm>
            <a:off x="777240" y="18745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A9813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100 M</a:t>
            </a:r>
            <a:endParaRPr lang="en-US" sz="3200" dirty="0"/>
          </a:p>
        </p:txBody>
      </p:sp>
      <p:sp>
        <p:nvSpPr>
          <p:cNvPr id="9" name="a1float_s0t"/>
          <p:cNvSpPr txBox="1"/>
          <p:nvPr/>
        </p:nvSpPr>
        <p:spPr>
          <a:xfrm>
            <a:off x="2743200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UAE mangrove pledge by 2030</a:t>
            </a:r>
            <a:endParaRPr lang="en-US" sz="1400" dirty="0"/>
          </a:p>
        </p:txBody>
      </p:sp>
      <p:sp>
        <p:nvSpPr>
          <p:cNvPr id="10" name="a1float_s0c"/>
          <p:cNvSpPr txBox="1"/>
          <p:nvPr/>
        </p:nvSpPr>
        <p:spPr>
          <a:xfrm>
            <a:off x="2743200" y="2258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COP26, 2021 · Abu Dhabi Mangrove Initiative</a:t>
            </a:r>
            <a:endParaRPr lang="en-US" sz="1100" dirty="0"/>
          </a:p>
        </p:txBody>
      </p:sp>
      <p:sp>
        <p:nvSpPr>
          <p:cNvPr id="11" name="a2float_s1"/>
          <p:cNvSpPr/>
          <p:nvPr/>
        </p:nvSpPr>
        <p:spPr>
          <a:xfrm>
            <a:off x="548640" y="2807208"/>
            <a:ext cx="5394960" cy="987552"/>
          </a:xfrm>
          <a:prstGeom prst="roundRect">
            <a:avLst>
              <a:gd name="adj" fmla="val 12963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2" name="a2float_s1n"/>
          <p:cNvSpPr txBox="1"/>
          <p:nvPr/>
        </p:nvSpPr>
        <p:spPr>
          <a:xfrm>
            <a:off x="777240" y="299008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A9813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100 M+</a:t>
            </a:r>
            <a:endParaRPr lang="en-US" sz="3200" dirty="0"/>
          </a:p>
        </p:txBody>
      </p:sp>
      <p:sp>
        <p:nvSpPr>
          <p:cNvPr id="13" name="a2float_s1t"/>
          <p:cNvSpPr txBox="1"/>
          <p:nvPr/>
        </p:nvSpPr>
        <p:spPr>
          <a:xfrm>
            <a:off x="2743200" y="29900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Saudi mangrove pledge by 2030</a:t>
            </a:r>
            <a:endParaRPr lang="en-US" sz="1400" dirty="0"/>
          </a:p>
        </p:txBody>
      </p:sp>
      <p:sp>
        <p:nvSpPr>
          <p:cNvPr id="14" name="a2float_s1c"/>
          <p:cNvSpPr txBox="1"/>
          <p:nvPr/>
        </p:nvSpPr>
        <p:spPr>
          <a:xfrm>
            <a:off x="2743200" y="33741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Saudi Green Initiative</a:t>
            </a:r>
            <a:endParaRPr lang="en-US" sz="1100" dirty="0"/>
          </a:p>
        </p:txBody>
      </p:sp>
      <p:sp>
        <p:nvSpPr>
          <p:cNvPr id="15" name="a3float_s2"/>
          <p:cNvSpPr/>
          <p:nvPr/>
        </p:nvSpPr>
        <p:spPr>
          <a:xfrm>
            <a:off x="548640" y="3922776"/>
            <a:ext cx="5394960" cy="987552"/>
          </a:xfrm>
          <a:prstGeom prst="roundRect">
            <a:avLst>
              <a:gd name="adj" fmla="val 12963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6" name="a3float_s2n"/>
          <p:cNvSpPr txBox="1"/>
          <p:nvPr/>
        </p:nvSpPr>
        <p:spPr>
          <a:xfrm>
            <a:off x="777240" y="41056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A9813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Feb 2026</a:t>
            </a:r>
            <a:endParaRPr lang="en-US" sz="3200" dirty="0"/>
          </a:p>
        </p:txBody>
      </p:sp>
      <p:sp>
        <p:nvSpPr>
          <p:cNvPr id="17" name="a3float_s2t"/>
          <p:cNvSpPr txBox="1"/>
          <p:nvPr/>
        </p:nvSpPr>
        <p:spPr>
          <a:xfrm>
            <a:off x="2743200" y="41056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 GCC mangrove monitoring guide</a:t>
            </a:r>
            <a:endParaRPr lang="en-US" sz="1400" dirty="0"/>
          </a:p>
        </p:txBody>
      </p:sp>
      <p:sp>
        <p:nvSpPr>
          <p:cNvPr id="18" name="a3float_s2c"/>
          <p:cNvSpPr txBox="1"/>
          <p:nvPr/>
        </p:nvSpPr>
        <p:spPr>
          <a:xfrm>
            <a:off x="2743200" y="44897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EAD + IUCN Mangrove Specialist Group</a:t>
            </a:r>
            <a:endParaRPr lang="en-US" sz="1100" dirty="0"/>
          </a:p>
        </p:txBody>
      </p:sp>
      <p:sp>
        <p:nvSpPr>
          <p:cNvPr id="19" name="a4float_today"/>
          <p:cNvSpPr/>
          <p:nvPr/>
        </p:nvSpPr>
        <p:spPr>
          <a:xfrm>
            <a:off x="548640" y="5074920"/>
            <a:ext cx="5394960" cy="1097280"/>
          </a:xfrm>
          <a:prstGeom prst="roundRect">
            <a:avLst>
              <a:gd name="adj" fmla="val 11667"/>
            </a:avLst>
          </a:prstGeom>
          <a:solidFill>
            <a:srgbClr val="E8F0F9">
              <a:alpha val="95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0" name="a4float_todayt"/>
          <p:cNvSpPr txBox="1"/>
          <p:nvPr/>
        </p:nvSpPr>
        <p:spPr>
          <a:xfrm>
            <a:off x="777240" y="512064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BE5F6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TODAY  </a:t>
            </a:r>
            <a:r>
              <a:rPr lang="en-US" sz="13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surveys and one-off studies, no standing alert.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5D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SOLVE  </a:t>
            </a:r>
            <a:r>
              <a:rPr lang="en-US" sz="13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calibrated alert every ~5 days that says where to inspect and what carbon is at stake.</a:t>
            </a:r>
            <a:endParaRPr lang="en-US" sz="1300" dirty="0"/>
          </a:p>
        </p:txBody>
      </p:sp>
      <p:sp>
        <p:nvSpPr>
          <p:cNvPr id="21" name="a1fade_l"/>
          <p:cNvSpPr txBox="1"/>
          <p:nvPr/>
        </p:nvSpPr>
        <p:spPr>
          <a:xfrm>
            <a:off x="6355080" y="16916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BE5F6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IS HAPPENING NOW  ·  STAND 5, ABU DHABI</a:t>
            </a:r>
            <a:endParaRPr lang="en-US" sz="1100" dirty="0"/>
          </a:p>
        </p:txBody>
      </p:sp>
      <p:pic>
        <p:nvPicPr>
          <p:cNvPr id="22" name="a2zoom_c0" descr="C:\Users\nahla\Desktop\UAE-Space-Hackatoon\deck_source\images\s2_stand5_2021-1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55080" y="2029968"/>
            <a:ext cx="2560320" cy="1874520"/>
          </a:xfrm>
          <a:prstGeom prst="rect">
            <a:avLst/>
          </a:prstGeom>
        </p:spPr>
      </p:pic>
      <p:sp>
        <p:nvSpPr>
          <p:cNvPr id="23" name="a2zoom_c0lb"/>
          <p:cNvSpPr/>
          <p:nvPr/>
        </p:nvSpPr>
        <p:spPr>
          <a:xfrm>
            <a:off x="6446520" y="2121408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3F6E9E">
              <a:alpha val="95000"/>
            </a:srgbClr>
          </a:solidFill>
          <a:ln/>
        </p:spPr>
      </p:sp>
      <p:sp>
        <p:nvSpPr>
          <p:cNvPr id="24" name="a2zoom_c0lt"/>
          <p:cNvSpPr txBox="1"/>
          <p:nvPr/>
        </p:nvSpPr>
        <p:spPr>
          <a:xfrm>
            <a:off x="6519672" y="21214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Nov 2021 · intact</a:t>
            </a:r>
            <a:endParaRPr lang="en-US" sz="1100" dirty="0"/>
          </a:p>
        </p:txBody>
      </p:sp>
      <p:pic>
        <p:nvPicPr>
          <p:cNvPr id="25" name="a3zoom_c1" descr="C:\Users\nahla\Desktop\UAE-Space-Hackatoon\deck_source\images\s2_stand5_2022-1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34272" y="2029968"/>
            <a:ext cx="2560320" cy="1874520"/>
          </a:xfrm>
          <a:prstGeom prst="rect">
            <a:avLst/>
          </a:prstGeom>
        </p:spPr>
      </p:pic>
      <p:sp>
        <p:nvSpPr>
          <p:cNvPr id="26" name="a3zoom_c1lb"/>
          <p:cNvSpPr/>
          <p:nvPr/>
        </p:nvSpPr>
        <p:spPr>
          <a:xfrm>
            <a:off x="9125712" y="2121408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B5535F">
              <a:alpha val="95000"/>
            </a:srgbClr>
          </a:solidFill>
          <a:ln/>
        </p:spPr>
      </p:sp>
      <p:sp>
        <p:nvSpPr>
          <p:cNvPr id="27" name="a3zoom_c1lt"/>
          <p:cNvSpPr txBox="1"/>
          <p:nvPr/>
        </p:nvSpPr>
        <p:spPr>
          <a:xfrm>
            <a:off x="9198864" y="2121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Oct 2022 · works start, alert fires</a:t>
            </a:r>
            <a:endParaRPr lang="en-US" sz="1100" dirty="0"/>
          </a:p>
        </p:txBody>
      </p:sp>
      <p:pic>
        <p:nvPicPr>
          <p:cNvPr id="28" name="a4zoom_c2" descr="C:\Users\nahla\Desktop\UAE-Space-Hackatoon\deck_source\images\s2_stand5_2023-06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5080" y="4041648"/>
            <a:ext cx="2560320" cy="1874520"/>
          </a:xfrm>
          <a:prstGeom prst="rect">
            <a:avLst/>
          </a:prstGeom>
        </p:spPr>
      </p:pic>
      <p:sp>
        <p:nvSpPr>
          <p:cNvPr id="29" name="a4zoom_c2lb"/>
          <p:cNvSpPr/>
          <p:nvPr/>
        </p:nvSpPr>
        <p:spPr>
          <a:xfrm>
            <a:off x="6446520" y="4133088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3F6E9E">
              <a:alpha val="95000"/>
            </a:srgbClr>
          </a:solidFill>
          <a:ln/>
        </p:spPr>
      </p:sp>
      <p:sp>
        <p:nvSpPr>
          <p:cNvPr id="30" name="a4zoom_c2lt"/>
          <p:cNvSpPr txBox="1"/>
          <p:nvPr/>
        </p:nvSpPr>
        <p:spPr>
          <a:xfrm>
            <a:off x="6519672" y="41330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Jun 2023 · canals cut</a:t>
            </a:r>
            <a:endParaRPr lang="en-US" sz="1100" dirty="0"/>
          </a:p>
        </p:txBody>
      </p:sp>
      <p:pic>
        <p:nvPicPr>
          <p:cNvPr id="31" name="a5zoom_c3" descr="C:\Users\nahla\Desktop\UAE-Space-Hackatoon\deck_source\images\s2_stand5_2026-05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034272" y="4041648"/>
            <a:ext cx="2560320" cy="1874520"/>
          </a:xfrm>
          <a:prstGeom prst="rect">
            <a:avLst/>
          </a:prstGeom>
        </p:spPr>
      </p:pic>
      <p:sp>
        <p:nvSpPr>
          <p:cNvPr id="32" name="a5zoom_c3lb"/>
          <p:cNvSpPr/>
          <p:nvPr/>
        </p:nvSpPr>
        <p:spPr>
          <a:xfrm>
            <a:off x="9125712" y="4133088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3F6E9E">
              <a:alpha val="95000"/>
            </a:srgbClr>
          </a:solidFill>
          <a:ln/>
        </p:spPr>
      </p:sp>
      <p:sp>
        <p:nvSpPr>
          <p:cNvPr id="33" name="a5zoom_c3lt"/>
          <p:cNvSpPr txBox="1"/>
          <p:nvPr/>
        </p:nvSpPr>
        <p:spPr>
          <a:xfrm>
            <a:off x="9198864" y="41330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 2026 · development</a:t>
            </a:r>
            <a:endParaRPr lang="en-US" sz="1100" dirty="0"/>
          </a:p>
        </p:txBody>
      </p:sp>
      <p:sp>
        <p:nvSpPr>
          <p:cNvPr id="34" name="a7ping_alert"/>
          <p:cNvSpPr/>
          <p:nvPr/>
        </p:nvSpPr>
        <p:spPr>
          <a:xfrm>
            <a:off x="9125712" y="2121408"/>
            <a:ext cx="2377440" cy="292608"/>
          </a:xfrm>
          <a:prstGeom prst="roundRect">
            <a:avLst>
              <a:gd name="adj" fmla="val 25000"/>
            </a:avLst>
          </a:prstGeom>
          <a:ln w="25400">
            <a:solidFill>
              <a:srgbClr val="BE5F6D"/>
            </a:solidFill>
            <a:prstDash val="solid"/>
          </a:ln>
        </p:spPr>
      </p:sp>
      <p:sp>
        <p:nvSpPr>
          <p:cNvPr id="35" name="a6fade_cap"/>
          <p:cNvSpPr txBox="1"/>
          <p:nvPr/>
        </p:nvSpPr>
        <p:spPr>
          <a:xfrm>
            <a:off x="6355080" y="59161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Sentinel-2 true colour (contains modified Copernicus Sentinel data). Our alert began on 25 Oct 2022, during the works.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16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8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8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53" presetClass="entr" presetSubtype="16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53" presetClass="entr" presetSubtype="16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53" presetClass="entr" presetSubtype="16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16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8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53" presetClass="entr" presetSubtype="16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8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53" presetClass="entr" presetSubtype="16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8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8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8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8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6" presetClass="emph" presetSubtype="0" repeatCount="indefinite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animScale>
                                      <p:cBhvr>
                                        <p:cTn id="135" dur="1600" fill="hold"/>
                                        <p:tgtEl>
                                          <p:spTgt spid="34"/>
                                        </p:tgtEl>
                                      </p:cBhvr>
                                      <p:by x="160000" y="160000"/>
                                    </p:animScale>
                                    <p:anim calcmode="lin" valueType="num">
                                      <p:cBhvr>
                                        <p:cTn id="136" dur="1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 animBg="1"/>
      <p:bldP spid="24" grpId="0" animBg="1"/>
      <p:bldP spid="25" grpId="0"/>
      <p:bldP spid="26" grpId="0" animBg="1"/>
      <p:bldP spid="27" grpId="0" animBg="1"/>
      <p:bldP spid="28" grpId="0"/>
      <p:bldP spid="29" grpId="0" animBg="1"/>
      <p:bldP spid="30" grpId="0" animBg="1"/>
      <p:bldP spid="31" grpId="0"/>
      <p:bldP spid="32" grpId="0" animBg="1"/>
      <p:bldP spid="33" grpId="0" animBg="1"/>
      <p:bldP spid="34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5">
            <a:alphaModFix amt="38000"/>
          </a:blip>
          <a:stretch>
            <a:fillRect/>
          </a:stretch>
        </p:blipFill>
        <p:spPr>
          <a:xfrm>
            <a:off x="7863840" y="-2743200"/>
            <a:ext cx="5943600" cy="59436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-2560320" y="292608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EXAMPLE OUTPUT · THE PRODUCT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signal to decision, in one screen</a:t>
            </a:r>
            <a:endParaRPr lang="en-US" sz="3400" dirty="0"/>
          </a:p>
        </p:txBody>
      </p:sp>
      <p:sp>
        <p:nvSpPr>
          <p:cNvPr id="7" name="a1zoom_bf"/>
          <p:cNvSpPr/>
          <p:nvPr/>
        </p:nvSpPr>
        <p:spPr>
          <a:xfrm>
            <a:off x="548640" y="1691640"/>
            <a:ext cx="6903720" cy="4625721"/>
          </a:xfrm>
          <a:prstGeom prst="roundRect">
            <a:avLst>
              <a:gd name="adj" fmla="val 1977"/>
            </a:avLst>
          </a:prstGeom>
          <a:solidFill>
            <a:srgbClr val="E9EFF6"/>
          </a:solidFill>
          <a:ln w="12700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8" name="a1zoom_dot0"/>
          <p:cNvSpPr/>
          <p:nvPr/>
        </p:nvSpPr>
        <p:spPr>
          <a:xfrm>
            <a:off x="694944" y="17922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a1zoom_dot1"/>
          <p:cNvSpPr/>
          <p:nvPr/>
        </p:nvSpPr>
        <p:spPr>
          <a:xfrm>
            <a:off x="877824" y="17922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a1zoom_dot2"/>
          <p:cNvSpPr/>
          <p:nvPr/>
        </p:nvSpPr>
        <p:spPr>
          <a:xfrm>
            <a:off x="1060704" y="17922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a1zoom_url"/>
          <p:cNvSpPr txBox="1"/>
          <p:nvPr/>
        </p:nvSpPr>
        <p:spPr>
          <a:xfrm>
            <a:off x="1371600" y="17282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nahla-nabil.github.io/blue-carbon-guardian</a:t>
            </a:r>
            <a:endParaRPr lang="en-US" sz="1000" dirty="0"/>
          </a:p>
        </p:txBody>
      </p:sp>
      <p:pic>
        <p:nvPicPr>
          <p:cNvPr id="6" name="video_product">
            <a:hlinkClick r:id="" action="ppaction://media"/>
            <a:extLst>
              <a:ext uri="{FF2B5EF4-FFF2-40B4-BE49-F238E27FC236}">
                <a16:creationId xmlns:a16="http://schemas.microsoft.com/office/drawing/2014/main" id="{B6245078-A30E-4FC1-06B0-E67D597384D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5216" y="2002537"/>
            <a:ext cx="6830568" cy="4269105"/>
          </a:xfrm>
          <a:prstGeom prst="rect">
            <a:avLst/>
          </a:prstGeom>
        </p:spPr>
      </p:pic>
      <p:sp>
        <p:nvSpPr>
          <p:cNvPr id="13" name="a2float_f0_c"/>
          <p:cNvSpPr/>
          <p:nvPr/>
        </p:nvSpPr>
        <p:spPr>
          <a:xfrm>
            <a:off x="7772400" y="1737360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14" name="a2float_f0_i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5295" y="1860255"/>
            <a:ext cx="266273" cy="266273"/>
          </a:xfrm>
          <a:prstGeom prst="rect">
            <a:avLst/>
          </a:prstGeom>
        </p:spPr>
      </p:pic>
      <p:sp>
        <p:nvSpPr>
          <p:cNvPr id="15" name="a2float_f0t"/>
          <p:cNvSpPr txBox="1"/>
          <p:nvPr/>
        </p:nvSpPr>
        <p:spPr>
          <a:xfrm>
            <a:off x="8458200" y="17190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alert</a:t>
            </a:r>
            <a:endParaRPr lang="en-US" sz="1500" dirty="0"/>
          </a:p>
        </p:txBody>
      </p:sp>
      <p:sp>
        <p:nvSpPr>
          <p:cNvPr id="16" name="a2float_f0d"/>
          <p:cNvSpPr txBox="1"/>
          <p:nvPr/>
        </p:nvSpPr>
        <p:spPr>
          <a:xfrm>
            <a:off x="84582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 OR any 200 m cell, calibrated</a:t>
            </a:r>
            <a:endParaRPr lang="en-US" sz="1200" dirty="0"/>
          </a:p>
        </p:txBody>
      </p:sp>
      <p:sp>
        <p:nvSpPr>
          <p:cNvPr id="17" name="a3float_f1_c"/>
          <p:cNvSpPr/>
          <p:nvPr/>
        </p:nvSpPr>
        <p:spPr>
          <a:xfrm>
            <a:off x="7772400" y="2505456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18" name="a3float_f1_i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5295" y="2628351"/>
            <a:ext cx="266273" cy="266273"/>
          </a:xfrm>
          <a:prstGeom prst="rect">
            <a:avLst/>
          </a:prstGeom>
        </p:spPr>
      </p:pic>
      <p:sp>
        <p:nvSpPr>
          <p:cNvPr id="19" name="a3float_f1t"/>
          <p:cNvSpPr txBox="1"/>
          <p:nvPr/>
        </p:nvSpPr>
        <p:spPr>
          <a:xfrm>
            <a:off x="8458200" y="2487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to look</a:t>
            </a:r>
            <a:endParaRPr lang="en-US" sz="1500" dirty="0"/>
          </a:p>
        </p:txBody>
      </p:sp>
      <p:sp>
        <p:nvSpPr>
          <p:cNvPr id="20" name="a3float_f1d"/>
          <p:cNvSpPr txBox="1"/>
          <p:nvPr/>
        </p:nvSpPr>
        <p:spPr>
          <a:xfrm>
            <a:off x="8458200" y="277977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200 m cell map for the inspector</a:t>
            </a:r>
            <a:endParaRPr lang="en-US" sz="1200" dirty="0"/>
          </a:p>
        </p:txBody>
      </p:sp>
      <p:sp>
        <p:nvSpPr>
          <p:cNvPr id="21" name="a4float_f2_c"/>
          <p:cNvSpPr/>
          <p:nvPr/>
        </p:nvSpPr>
        <p:spPr>
          <a:xfrm>
            <a:off x="7772400" y="3273552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22" name="a4float_f2_i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5295" y="3396447"/>
            <a:ext cx="266273" cy="266273"/>
          </a:xfrm>
          <a:prstGeom prst="rect">
            <a:avLst/>
          </a:prstGeom>
        </p:spPr>
      </p:pic>
      <p:sp>
        <p:nvSpPr>
          <p:cNvPr id="23" name="a4float_f2t"/>
          <p:cNvSpPr txBox="1"/>
          <p:nvPr/>
        </p:nvSpPr>
        <p:spPr>
          <a:xfrm>
            <a:off x="8458200" y="32552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Condition</a:t>
            </a:r>
            <a:endParaRPr lang="en-US" sz="1500" dirty="0"/>
          </a:p>
        </p:txBody>
      </p:sp>
      <p:sp>
        <p:nvSpPr>
          <p:cNvPr id="24" name="a4float_f2d"/>
          <p:cNvSpPr txBox="1"/>
          <p:nvPr/>
        </p:nvSpPr>
        <p:spPr>
          <a:xfrm>
            <a:off x="8458200" y="35478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12 months vs own 2020–21 baseline</a:t>
            </a:r>
            <a:endParaRPr lang="en-US" sz="1200" dirty="0"/>
          </a:p>
        </p:txBody>
      </p:sp>
      <p:sp>
        <p:nvSpPr>
          <p:cNvPr id="25" name="a5float_f3_c"/>
          <p:cNvSpPr/>
          <p:nvPr/>
        </p:nvSpPr>
        <p:spPr>
          <a:xfrm>
            <a:off x="7772400" y="4041648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26" name="a5float_f3_i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5295" y="4164543"/>
            <a:ext cx="266273" cy="266273"/>
          </a:xfrm>
          <a:prstGeom prst="rect">
            <a:avLst/>
          </a:prstGeom>
        </p:spPr>
      </p:pic>
      <p:sp>
        <p:nvSpPr>
          <p:cNvPr id="27" name="a5float_f3t"/>
          <p:cNvSpPr txBox="1"/>
          <p:nvPr/>
        </p:nvSpPr>
        <p:spPr>
          <a:xfrm>
            <a:off x="8458200" y="4023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Carbon at stake</a:t>
            </a:r>
            <a:endParaRPr lang="en-US" sz="1500" dirty="0"/>
          </a:p>
        </p:txBody>
      </p:sp>
      <p:sp>
        <p:nvSpPr>
          <p:cNvPr id="28" name="a5float_f3d"/>
          <p:cNvSpPr txBox="1"/>
          <p:nvPr/>
        </p:nvSpPr>
        <p:spPr>
          <a:xfrm>
            <a:off x="8458200" y="43159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with a range, from field data</a:t>
            </a:r>
            <a:endParaRPr lang="en-US" sz="1200" dirty="0"/>
          </a:p>
        </p:txBody>
      </p:sp>
      <p:sp>
        <p:nvSpPr>
          <p:cNvPr id="29" name="a6float_f4_c"/>
          <p:cNvSpPr/>
          <p:nvPr/>
        </p:nvSpPr>
        <p:spPr>
          <a:xfrm>
            <a:off x="7772400" y="4809744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30" name="a6float_f4_i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95295" y="4932639"/>
            <a:ext cx="266273" cy="266273"/>
          </a:xfrm>
          <a:prstGeom prst="rect">
            <a:avLst/>
          </a:prstGeom>
        </p:spPr>
      </p:pic>
      <p:sp>
        <p:nvSpPr>
          <p:cNvPr id="31" name="a6float_f4t"/>
          <p:cNvSpPr txBox="1"/>
          <p:nvPr/>
        </p:nvSpPr>
        <p:spPr>
          <a:xfrm>
            <a:off x="8458200" y="47914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Site report</a:t>
            </a:r>
            <a:endParaRPr lang="en-US" sz="1500" dirty="0"/>
          </a:p>
        </p:txBody>
      </p:sp>
      <p:sp>
        <p:nvSpPr>
          <p:cNvPr id="32" name="a6float_f4d"/>
          <p:cNvSpPr txBox="1"/>
          <p:nvPr/>
        </p:nvSpPr>
        <p:spPr>
          <a:xfrm>
            <a:off x="8458200" y="508406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page per stand, every number traced</a:t>
            </a:r>
            <a:endParaRPr lang="en-US" sz="1200" dirty="0"/>
          </a:p>
        </p:txBody>
      </p:sp>
      <p:sp>
        <p:nvSpPr>
          <p:cNvPr id="33" name="a8ping_liver"/>
          <p:cNvSpPr/>
          <p:nvPr/>
        </p:nvSpPr>
        <p:spPr>
          <a:xfrm>
            <a:off x="7772400" y="5715000"/>
            <a:ext cx="3840480" cy="438912"/>
          </a:xfrm>
          <a:prstGeom prst="roundRect">
            <a:avLst>
              <a:gd name="adj" fmla="val 50000"/>
            </a:avLst>
          </a:prstGeom>
          <a:ln w="25400">
            <a:solidFill>
              <a:srgbClr val="BE5F6D"/>
            </a:solidFill>
            <a:prstDash val="solid"/>
          </a:ln>
        </p:spPr>
      </p:sp>
      <p:sp>
        <p:nvSpPr>
          <p:cNvPr id="34" name="a7pop_live_bg"/>
          <p:cNvSpPr/>
          <p:nvPr/>
        </p:nvSpPr>
        <p:spPr>
          <a:xfrm>
            <a:off x="7772400" y="5715000"/>
            <a:ext cx="3840480" cy="438912"/>
          </a:xfrm>
          <a:prstGeom prst="roundRect">
            <a:avLst>
              <a:gd name="adj" fmla="val 41667"/>
            </a:avLst>
          </a:prstGeom>
          <a:solidFill>
            <a:srgbClr val="BE5F6D">
              <a:alpha val="20000"/>
            </a:srgbClr>
          </a:solidFill>
          <a:ln w="9525">
            <a:solidFill>
              <a:srgbClr val="BE5F6D"/>
            </a:solidFill>
            <a:prstDash val="solid"/>
          </a:ln>
        </p:spPr>
      </p:sp>
      <p:sp>
        <p:nvSpPr>
          <p:cNvPr id="35" name="a7pop_live"/>
          <p:cNvSpPr txBox="1"/>
          <p:nvPr/>
        </p:nvSpPr>
        <p:spPr>
          <a:xfrm>
            <a:off x="7772400" y="57150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A04B5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●  LIVE DEMO  ·  open stand 9 on the website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0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53" presetClass="entr" presetSubtype="16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16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6" presetClass="emph" presetSubtype="0" repeatCount="indefinite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animScale>
                                      <p:cBhvr>
                                        <p:cTn id="130" dur="1600" fill="hold"/>
                                        <p:tgtEl>
                                          <p:spTgt spid="33"/>
                                        </p:tgtEl>
                                      </p:cBhvr>
                                      <p:by x="160000" y="160000"/>
                                    </p:animScale>
                                    <p:anim calcmode="lin" valueType="num">
                                      <p:cBhvr>
                                        <p:cTn id="131" dur="1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 mute="1">
                <p:cTn id="13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/>
      <p:bldP spid="15" grpId="0" animBg="1"/>
      <p:bldP spid="16" grpId="0" animBg="1"/>
      <p:bldP spid="17" grpId="0" animBg="1"/>
      <p:bldP spid="18" grpId="0"/>
      <p:bldP spid="19" grpId="0" animBg="1"/>
      <p:bldP spid="20" grpId="0" animBg="1"/>
      <p:bldP spid="21" grpId="0" animBg="1"/>
      <p:bldP spid="22" grpId="0"/>
      <p:bldP spid="23" grpId="0" animBg="1"/>
      <p:bldP spid="24" grpId="0" animBg="1"/>
      <p:bldP spid="25" grpId="0" animBg="1"/>
      <p:bldP spid="26" grpId="0"/>
      <p:bldP spid="27" grpId="0" animBg="1"/>
      <p:bldP spid="28" grpId="0" animBg="1"/>
      <p:bldP spid="29" grpId="0" animBg="1"/>
      <p:bldP spid="30" grpId="0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3200400" y="-2926080"/>
            <a:ext cx="5486400" cy="54864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7772400" y="3291840"/>
            <a:ext cx="5943600" cy="59436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USE CASE &amp; END USERS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uses it, and for which decision</a:t>
            </a:r>
            <a:endParaRPr lang="en-US" sz="3400" dirty="0"/>
          </a:p>
        </p:txBody>
      </p:sp>
      <p:sp>
        <p:nvSpPr>
          <p:cNvPr id="7" name="a1float_p0"/>
          <p:cNvSpPr/>
          <p:nvPr/>
        </p:nvSpPr>
        <p:spPr>
          <a:xfrm>
            <a:off x="548640" y="1691640"/>
            <a:ext cx="3593592" cy="3246120"/>
          </a:xfrm>
          <a:prstGeom prst="roundRect">
            <a:avLst>
              <a:gd name="adj" fmla="val 3944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8" name="a1float_p0ic_c"/>
          <p:cNvSpPr/>
          <p:nvPr/>
        </p:nvSpPr>
        <p:spPr>
          <a:xfrm>
            <a:off x="777240" y="1892808"/>
            <a:ext cx="566928" cy="566928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9" name="a1float_p0ic_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03" y="2028871"/>
            <a:ext cx="294803" cy="294803"/>
          </a:xfrm>
          <a:prstGeom prst="rect">
            <a:avLst/>
          </a:prstGeom>
        </p:spPr>
      </p:pic>
      <p:sp>
        <p:nvSpPr>
          <p:cNvPr id="10" name="a1float_p0n"/>
          <p:cNvSpPr txBox="1"/>
          <p:nvPr/>
        </p:nvSpPr>
        <p:spPr>
          <a:xfrm>
            <a:off x="1481328" y="18928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Environment agencies</a:t>
            </a:r>
            <a:endParaRPr lang="en-US" sz="1500" dirty="0"/>
          </a:p>
        </p:txBody>
      </p:sp>
      <p:sp>
        <p:nvSpPr>
          <p:cNvPr id="11" name="a1float_p0w"/>
          <p:cNvSpPr txBox="1"/>
          <p:nvPr/>
        </p:nvSpPr>
        <p:spPr>
          <a:xfrm>
            <a:off x="1481328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EAD, MOCCAE, Saudi NCVC</a:t>
            </a:r>
            <a:endParaRPr lang="en-US" sz="1100" dirty="0"/>
          </a:p>
        </p:txBody>
      </p:sp>
      <p:sp>
        <p:nvSpPr>
          <p:cNvPr id="12" name="a1float_p0l1"/>
          <p:cNvSpPr txBox="1"/>
          <p:nvPr/>
        </p:nvSpPr>
        <p:spPr>
          <a:xfrm>
            <a:off x="777240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THEIR DECISION</a:t>
            </a:r>
            <a:endParaRPr lang="en-US" sz="1100" dirty="0"/>
          </a:p>
        </p:txBody>
      </p:sp>
      <p:sp>
        <p:nvSpPr>
          <p:cNvPr id="13" name="a1float_p0d"/>
          <p:cNvSpPr txBox="1"/>
          <p:nvPr/>
        </p:nvSpPr>
        <p:spPr>
          <a:xfrm>
            <a:off x="777240" y="295351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stands do we inspect this month?</a:t>
            </a:r>
            <a:endParaRPr lang="en-US" sz="1500" dirty="0"/>
          </a:p>
        </p:txBody>
      </p:sp>
      <p:sp>
        <p:nvSpPr>
          <p:cNvPr id="14" name="a1float_p0t"/>
          <p:cNvSpPr txBox="1"/>
          <p:nvPr/>
        </p:nvSpPr>
        <p:spPr>
          <a:xfrm>
            <a:off x="777240" y="3584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Today: </a:t>
            </a: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periodic field surveys</a:t>
            </a:r>
            <a:endParaRPr lang="en-US" sz="1200" dirty="0"/>
          </a:p>
        </p:txBody>
      </p:sp>
      <p:sp>
        <p:nvSpPr>
          <p:cNvPr id="15" name="a1float_p0gb"/>
          <p:cNvSpPr/>
          <p:nvPr/>
        </p:nvSpPr>
        <p:spPr>
          <a:xfrm>
            <a:off x="713232" y="3977640"/>
            <a:ext cx="3264408" cy="804672"/>
          </a:xfrm>
          <a:prstGeom prst="roundRect">
            <a:avLst>
              <a:gd name="adj" fmla="val 11364"/>
            </a:avLst>
          </a:prstGeom>
          <a:solidFill>
            <a:srgbClr val="3F6E9E">
              <a:alpha val="14000"/>
            </a:srgbClr>
          </a:solidFill>
          <a:ln/>
        </p:spPr>
      </p:sp>
      <p:sp>
        <p:nvSpPr>
          <p:cNvPr id="16" name="a1float_p0g"/>
          <p:cNvSpPr txBox="1"/>
          <p:nvPr/>
        </p:nvSpPr>
        <p:spPr>
          <a:xfrm>
            <a:off x="850392" y="397764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F5D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monthly alert + 200 m cell map: inspect only flagged cells</a:t>
            </a:r>
            <a:endParaRPr lang="en-US" sz="1300" dirty="0"/>
          </a:p>
        </p:txBody>
      </p:sp>
      <p:sp>
        <p:nvSpPr>
          <p:cNvPr id="17" name="a2float_p1"/>
          <p:cNvSpPr/>
          <p:nvPr/>
        </p:nvSpPr>
        <p:spPr>
          <a:xfrm>
            <a:off x="4297680" y="1691640"/>
            <a:ext cx="3593592" cy="3246120"/>
          </a:xfrm>
          <a:prstGeom prst="roundRect">
            <a:avLst>
              <a:gd name="adj" fmla="val 3944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8" name="a2float_p1ic_c"/>
          <p:cNvSpPr/>
          <p:nvPr/>
        </p:nvSpPr>
        <p:spPr>
          <a:xfrm>
            <a:off x="4526280" y="1892808"/>
            <a:ext cx="566928" cy="566928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19" name="a2float_p1ic_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2343" y="2028871"/>
            <a:ext cx="294803" cy="294803"/>
          </a:xfrm>
          <a:prstGeom prst="rect">
            <a:avLst/>
          </a:prstGeom>
        </p:spPr>
      </p:pic>
      <p:sp>
        <p:nvSpPr>
          <p:cNvPr id="20" name="a2float_p1n"/>
          <p:cNvSpPr txBox="1"/>
          <p:nvPr/>
        </p:nvSpPr>
        <p:spPr>
          <a:xfrm>
            <a:off x="5230368" y="18928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Planting &amp; carbon developers</a:t>
            </a:r>
            <a:endParaRPr lang="en-US" sz="1500" dirty="0"/>
          </a:p>
        </p:txBody>
      </p:sp>
      <p:sp>
        <p:nvSpPr>
          <p:cNvPr id="21" name="a2float_p1w"/>
          <p:cNvSpPr txBox="1"/>
          <p:nvPr/>
        </p:nvSpPr>
        <p:spPr>
          <a:xfrm>
            <a:off x="5230368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ADNOC, Red Sea Global, carbon projects</a:t>
            </a:r>
            <a:endParaRPr lang="en-US" sz="1100" dirty="0"/>
          </a:p>
        </p:txBody>
      </p:sp>
      <p:sp>
        <p:nvSpPr>
          <p:cNvPr id="22" name="a2float_p1l1"/>
          <p:cNvSpPr txBox="1"/>
          <p:nvPr/>
        </p:nvSpPr>
        <p:spPr>
          <a:xfrm>
            <a:off x="4526280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THEIR DECISION</a:t>
            </a:r>
            <a:endParaRPr lang="en-US" sz="1100" dirty="0"/>
          </a:p>
        </p:txBody>
      </p:sp>
      <p:sp>
        <p:nvSpPr>
          <p:cNvPr id="23" name="a2float_p1d"/>
          <p:cNvSpPr txBox="1"/>
          <p:nvPr/>
        </p:nvSpPr>
        <p:spPr>
          <a:xfrm>
            <a:off x="4526280" y="295351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the carbon we report still there?</a:t>
            </a:r>
            <a:endParaRPr lang="en-US" sz="1500" dirty="0"/>
          </a:p>
        </p:txBody>
      </p:sp>
      <p:sp>
        <p:nvSpPr>
          <p:cNvPr id="24" name="a2float_p1t"/>
          <p:cNvSpPr txBox="1"/>
          <p:nvPr/>
        </p:nvSpPr>
        <p:spPr>
          <a:xfrm>
            <a:off x="4526280" y="3584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Today: </a:t>
            </a: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plots and drone campaigns</a:t>
            </a:r>
            <a:endParaRPr lang="en-US" sz="1200" dirty="0"/>
          </a:p>
        </p:txBody>
      </p:sp>
      <p:sp>
        <p:nvSpPr>
          <p:cNvPr id="25" name="a2float_p1gb"/>
          <p:cNvSpPr/>
          <p:nvPr/>
        </p:nvSpPr>
        <p:spPr>
          <a:xfrm>
            <a:off x="4462272" y="3977640"/>
            <a:ext cx="3264408" cy="804672"/>
          </a:xfrm>
          <a:prstGeom prst="roundRect">
            <a:avLst>
              <a:gd name="adj" fmla="val 11364"/>
            </a:avLst>
          </a:prstGeom>
          <a:solidFill>
            <a:srgbClr val="3F6E9E">
              <a:alpha val="14000"/>
            </a:srgbClr>
          </a:solidFill>
          <a:ln/>
        </p:spPr>
      </p:sp>
      <p:sp>
        <p:nvSpPr>
          <p:cNvPr id="26" name="a2float_p1g"/>
          <p:cNvSpPr txBox="1"/>
          <p:nvPr/>
        </p:nvSpPr>
        <p:spPr>
          <a:xfrm>
            <a:off x="4599432" y="397764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F5D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condition + carbon stock with a range, a site report</a:t>
            </a:r>
            <a:endParaRPr lang="en-US" sz="1300" dirty="0"/>
          </a:p>
        </p:txBody>
      </p:sp>
      <p:sp>
        <p:nvSpPr>
          <p:cNvPr id="27" name="a3float_p2"/>
          <p:cNvSpPr/>
          <p:nvPr/>
        </p:nvSpPr>
        <p:spPr>
          <a:xfrm>
            <a:off x="8046720" y="1691640"/>
            <a:ext cx="3593592" cy="3246120"/>
          </a:xfrm>
          <a:prstGeom prst="roundRect">
            <a:avLst>
              <a:gd name="adj" fmla="val 3944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8" name="a3float_p2ic_c"/>
          <p:cNvSpPr/>
          <p:nvPr/>
        </p:nvSpPr>
        <p:spPr>
          <a:xfrm>
            <a:off x="8275320" y="1892808"/>
            <a:ext cx="566928" cy="566928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29" name="a3float_p2ic_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1383" y="2028871"/>
            <a:ext cx="294803" cy="294803"/>
          </a:xfrm>
          <a:prstGeom prst="rect">
            <a:avLst/>
          </a:prstGeom>
        </p:spPr>
      </p:pic>
      <p:sp>
        <p:nvSpPr>
          <p:cNvPr id="30" name="a3float_p2n"/>
          <p:cNvSpPr txBox="1"/>
          <p:nvPr/>
        </p:nvSpPr>
        <p:spPr>
          <a:xfrm>
            <a:off x="8979408" y="18928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Developers &amp; regulators</a:t>
            </a:r>
            <a:endParaRPr lang="en-US" sz="1500" dirty="0"/>
          </a:p>
        </p:txBody>
      </p:sp>
      <p:sp>
        <p:nvSpPr>
          <p:cNvPr id="31" name="a3float_p2w"/>
          <p:cNvSpPr txBox="1"/>
          <p:nvPr/>
        </p:nvSpPr>
        <p:spPr>
          <a:xfrm>
            <a:off x="8979408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EIA consultants, permit offices</a:t>
            </a:r>
            <a:endParaRPr lang="en-US" sz="1100" dirty="0"/>
          </a:p>
        </p:txBody>
      </p:sp>
      <p:sp>
        <p:nvSpPr>
          <p:cNvPr id="32" name="a3float_p2l1"/>
          <p:cNvSpPr txBox="1"/>
          <p:nvPr/>
        </p:nvSpPr>
        <p:spPr>
          <a:xfrm>
            <a:off x="8275320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THEIR DECISION</a:t>
            </a:r>
            <a:endParaRPr lang="en-US" sz="1100" dirty="0"/>
          </a:p>
        </p:txBody>
      </p:sp>
      <p:sp>
        <p:nvSpPr>
          <p:cNvPr id="33" name="a3float_p2d"/>
          <p:cNvSpPr txBox="1"/>
          <p:nvPr/>
        </p:nvSpPr>
        <p:spPr>
          <a:xfrm>
            <a:off x="8275320" y="295351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Did works stay outside the mangrove line?</a:t>
            </a:r>
            <a:endParaRPr lang="en-US" sz="1500" dirty="0"/>
          </a:p>
        </p:txBody>
      </p:sp>
      <p:sp>
        <p:nvSpPr>
          <p:cNvPr id="34" name="a3float_p2t"/>
          <p:cNvSpPr txBox="1"/>
          <p:nvPr/>
        </p:nvSpPr>
        <p:spPr>
          <a:xfrm>
            <a:off x="8275320" y="358444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Today: </a:t>
            </a: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two images by eye</a:t>
            </a:r>
            <a:endParaRPr lang="en-US" sz="1200" dirty="0"/>
          </a:p>
        </p:txBody>
      </p:sp>
      <p:sp>
        <p:nvSpPr>
          <p:cNvPr id="35" name="a3float_p2gb"/>
          <p:cNvSpPr/>
          <p:nvPr/>
        </p:nvSpPr>
        <p:spPr>
          <a:xfrm>
            <a:off x="8211312" y="3977640"/>
            <a:ext cx="3264408" cy="804672"/>
          </a:xfrm>
          <a:prstGeom prst="roundRect">
            <a:avLst>
              <a:gd name="adj" fmla="val 11364"/>
            </a:avLst>
          </a:prstGeom>
          <a:solidFill>
            <a:srgbClr val="3F6E9E">
              <a:alpha val="14000"/>
            </a:srgbClr>
          </a:solidFill>
          <a:ln/>
        </p:spPr>
      </p:sp>
      <p:sp>
        <p:nvSpPr>
          <p:cNvPr id="36" name="a3float_p2g"/>
          <p:cNvSpPr txBox="1"/>
          <p:nvPr/>
        </p:nvSpPr>
        <p:spPr>
          <a:xfrm>
            <a:off x="8348472" y="397764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F5D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alert when works enter mangrove cells, dated evidence</a:t>
            </a:r>
            <a:endParaRPr lang="en-US" sz="1300" dirty="0"/>
          </a:p>
        </p:txBody>
      </p:sp>
      <p:sp>
        <p:nvSpPr>
          <p:cNvPr id="37" name="a4fade_flow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12174"/>
            </a:avLst>
          </a:prstGeom>
          <a:solidFill>
            <a:srgbClr val="E8F0F9">
              <a:alpha val="90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38" name="a5pop_f0_c"/>
          <p:cNvSpPr/>
          <p:nvPr/>
        </p:nvSpPr>
        <p:spPr>
          <a:xfrm>
            <a:off x="868680" y="5349240"/>
            <a:ext cx="566928" cy="566928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39" name="a5pop_f0_i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743" y="5485303"/>
            <a:ext cx="294803" cy="294803"/>
          </a:xfrm>
          <a:prstGeom prst="rect">
            <a:avLst/>
          </a:prstGeom>
        </p:spPr>
      </p:pic>
      <p:sp>
        <p:nvSpPr>
          <p:cNvPr id="40" name="a5pop_f0t"/>
          <p:cNvSpPr txBox="1"/>
          <p:nvPr/>
        </p:nvSpPr>
        <p:spPr>
          <a:xfrm>
            <a:off x="1554480" y="5349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New scene</a:t>
            </a:r>
            <a:endParaRPr lang="en-US" sz="1400" dirty="0"/>
          </a:p>
        </p:txBody>
      </p:sp>
      <p:sp>
        <p:nvSpPr>
          <p:cNvPr id="41" name="a5pop_f0d"/>
          <p:cNvSpPr txBox="1"/>
          <p:nvPr/>
        </p:nvSpPr>
        <p:spPr>
          <a:xfrm>
            <a:off x="1554480" y="5641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~5 days</a:t>
            </a:r>
            <a:endParaRPr lang="en-US" sz="1100" dirty="0"/>
          </a:p>
        </p:txBody>
      </p:sp>
      <p:sp>
        <p:nvSpPr>
          <p:cNvPr id="42" name="a5fade_ar0"/>
          <p:cNvSpPr/>
          <p:nvPr/>
        </p:nvSpPr>
        <p:spPr>
          <a:xfrm>
            <a:off x="2807208" y="5632704"/>
            <a:ext cx="182880" cy="0"/>
          </a:xfrm>
          <a:prstGeom prst="line">
            <a:avLst/>
          </a:prstGeom>
          <a:noFill/>
          <a:ln w="19050">
            <a:solidFill>
              <a:srgbClr val="3F6E9E"/>
            </a:solidFill>
            <a:prstDash val="solid"/>
            <a:tailEnd type="triangle"/>
          </a:ln>
        </p:spPr>
      </p:sp>
      <p:sp>
        <p:nvSpPr>
          <p:cNvPr id="43" name="a6pop_f1_c"/>
          <p:cNvSpPr/>
          <p:nvPr/>
        </p:nvSpPr>
        <p:spPr>
          <a:xfrm>
            <a:off x="3081528" y="5349240"/>
            <a:ext cx="566928" cy="566928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44" name="a6pop_f1_i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7591" y="5485303"/>
            <a:ext cx="294803" cy="294803"/>
          </a:xfrm>
          <a:prstGeom prst="rect">
            <a:avLst/>
          </a:prstGeom>
        </p:spPr>
      </p:pic>
      <p:sp>
        <p:nvSpPr>
          <p:cNvPr id="45" name="a6pop_f1t"/>
          <p:cNvSpPr txBox="1"/>
          <p:nvPr/>
        </p:nvSpPr>
        <p:spPr>
          <a:xfrm>
            <a:off x="3767328" y="5349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Alert</a:t>
            </a:r>
            <a:endParaRPr lang="en-US" sz="1400" dirty="0"/>
          </a:p>
        </p:txBody>
      </p:sp>
      <p:sp>
        <p:nvSpPr>
          <p:cNvPr id="46" name="a6pop_f1d"/>
          <p:cNvSpPr txBox="1"/>
          <p:nvPr/>
        </p:nvSpPr>
        <p:spPr>
          <a:xfrm>
            <a:off x="3767328" y="5641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 false alarm / stand-yr</a:t>
            </a:r>
            <a:endParaRPr lang="en-US" sz="1100" dirty="0"/>
          </a:p>
        </p:txBody>
      </p:sp>
      <p:sp>
        <p:nvSpPr>
          <p:cNvPr id="47" name="a6fade_ar1"/>
          <p:cNvSpPr/>
          <p:nvPr/>
        </p:nvSpPr>
        <p:spPr>
          <a:xfrm>
            <a:off x="5020056" y="5632704"/>
            <a:ext cx="182880" cy="0"/>
          </a:xfrm>
          <a:prstGeom prst="line">
            <a:avLst/>
          </a:prstGeom>
          <a:noFill/>
          <a:ln w="19050">
            <a:solidFill>
              <a:srgbClr val="3F6E9E"/>
            </a:solidFill>
            <a:prstDash val="solid"/>
            <a:tailEnd type="triangle"/>
          </a:ln>
        </p:spPr>
      </p:sp>
      <p:sp>
        <p:nvSpPr>
          <p:cNvPr id="48" name="a7pop_f2_c"/>
          <p:cNvSpPr/>
          <p:nvPr/>
        </p:nvSpPr>
        <p:spPr>
          <a:xfrm>
            <a:off x="5294376" y="5349240"/>
            <a:ext cx="566928" cy="566928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49" name="a7pop_f2_i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0439" y="5485303"/>
            <a:ext cx="294803" cy="294803"/>
          </a:xfrm>
          <a:prstGeom prst="rect">
            <a:avLst/>
          </a:prstGeom>
        </p:spPr>
      </p:pic>
      <p:sp>
        <p:nvSpPr>
          <p:cNvPr id="50" name="a7pop_f2t"/>
          <p:cNvSpPr txBox="1"/>
          <p:nvPr/>
        </p:nvSpPr>
        <p:spPr>
          <a:xfrm>
            <a:off x="5980176" y="5349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Cell map</a:t>
            </a:r>
            <a:endParaRPr lang="en-US" sz="1400" dirty="0"/>
          </a:p>
        </p:txBody>
      </p:sp>
      <p:sp>
        <p:nvSpPr>
          <p:cNvPr id="51" name="a7pop_f2d"/>
          <p:cNvSpPr txBox="1"/>
          <p:nvPr/>
        </p:nvSpPr>
        <p:spPr>
          <a:xfrm>
            <a:off x="5980176" y="5641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look</a:t>
            </a:r>
            <a:endParaRPr lang="en-US" sz="1100" dirty="0"/>
          </a:p>
        </p:txBody>
      </p:sp>
      <p:sp>
        <p:nvSpPr>
          <p:cNvPr id="52" name="a7fade_ar2"/>
          <p:cNvSpPr/>
          <p:nvPr/>
        </p:nvSpPr>
        <p:spPr>
          <a:xfrm>
            <a:off x="7232904" y="5632704"/>
            <a:ext cx="182880" cy="0"/>
          </a:xfrm>
          <a:prstGeom prst="line">
            <a:avLst/>
          </a:prstGeom>
          <a:noFill/>
          <a:ln w="19050">
            <a:solidFill>
              <a:srgbClr val="3F6E9E"/>
            </a:solidFill>
            <a:prstDash val="solid"/>
            <a:tailEnd type="triangle"/>
          </a:ln>
        </p:spPr>
      </p:sp>
      <p:sp>
        <p:nvSpPr>
          <p:cNvPr id="53" name="a8pop_f3_c"/>
          <p:cNvSpPr/>
          <p:nvPr/>
        </p:nvSpPr>
        <p:spPr>
          <a:xfrm>
            <a:off x="7507224" y="5349240"/>
            <a:ext cx="566928" cy="566928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54" name="a8pop_f3_i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3287" y="5485303"/>
            <a:ext cx="294803" cy="294803"/>
          </a:xfrm>
          <a:prstGeom prst="rect">
            <a:avLst/>
          </a:prstGeom>
        </p:spPr>
      </p:pic>
      <p:sp>
        <p:nvSpPr>
          <p:cNvPr id="55" name="a8pop_f3t"/>
          <p:cNvSpPr txBox="1"/>
          <p:nvPr/>
        </p:nvSpPr>
        <p:spPr>
          <a:xfrm>
            <a:off x="8193024" y="5349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Inspection</a:t>
            </a:r>
            <a:endParaRPr lang="en-US" sz="1400" dirty="0"/>
          </a:p>
        </p:txBody>
      </p:sp>
      <p:sp>
        <p:nvSpPr>
          <p:cNvPr id="56" name="a8pop_f3d"/>
          <p:cNvSpPr txBox="1"/>
          <p:nvPr/>
        </p:nvSpPr>
        <p:spPr>
          <a:xfrm>
            <a:off x="8193024" y="5641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flagged cells</a:t>
            </a:r>
            <a:endParaRPr lang="en-US" sz="1100" dirty="0"/>
          </a:p>
        </p:txBody>
      </p:sp>
      <p:sp>
        <p:nvSpPr>
          <p:cNvPr id="57" name="a8fade_ar3"/>
          <p:cNvSpPr/>
          <p:nvPr/>
        </p:nvSpPr>
        <p:spPr>
          <a:xfrm>
            <a:off x="9445752" y="5632704"/>
            <a:ext cx="182880" cy="0"/>
          </a:xfrm>
          <a:prstGeom prst="line">
            <a:avLst/>
          </a:prstGeom>
          <a:noFill/>
          <a:ln w="19050">
            <a:solidFill>
              <a:srgbClr val="3F6E9E"/>
            </a:solidFill>
            <a:prstDash val="solid"/>
            <a:tailEnd type="triangle"/>
          </a:ln>
        </p:spPr>
      </p:sp>
      <p:sp>
        <p:nvSpPr>
          <p:cNvPr id="58" name="a9pop_f4_c"/>
          <p:cNvSpPr/>
          <p:nvPr/>
        </p:nvSpPr>
        <p:spPr>
          <a:xfrm>
            <a:off x="9720072" y="5349240"/>
            <a:ext cx="566928" cy="566928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59" name="a9pop_f4_i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56135" y="5485303"/>
            <a:ext cx="294803" cy="294803"/>
          </a:xfrm>
          <a:prstGeom prst="rect">
            <a:avLst/>
          </a:prstGeom>
        </p:spPr>
      </p:pic>
      <p:sp>
        <p:nvSpPr>
          <p:cNvPr id="60" name="a9pop_f4t"/>
          <p:cNvSpPr txBox="1"/>
          <p:nvPr/>
        </p:nvSpPr>
        <p:spPr>
          <a:xfrm>
            <a:off x="10405872" y="5349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Site report</a:t>
            </a:r>
            <a:endParaRPr lang="en-US" sz="1400" dirty="0"/>
          </a:p>
        </p:txBody>
      </p:sp>
      <p:sp>
        <p:nvSpPr>
          <p:cNvPr id="61" name="a9pop_f4d"/>
          <p:cNvSpPr txBox="1"/>
          <p:nvPr/>
        </p:nvSpPr>
        <p:spPr>
          <a:xfrm>
            <a:off x="10405872" y="5641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carbon at stake</a:t>
            </a:r>
            <a:endParaRPr lang="en-US" sz="110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16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53" presetClass="entr" presetSubtype="16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53" presetClass="entr" presetSubtype="16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16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10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3" presetClass="entr" presetSubtype="16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53" presetClass="entr" presetSubtype="16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9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4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53" presetClass="entr" presetSubtype="16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53" presetClass="entr" presetSubtype="16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9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4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10" presetClass="entr" presetSubtype="0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53" presetClass="entr" presetSubtype="16" decel="10000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7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4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53" presetClass="entr" presetSubtype="16" decel="10000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2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53" presetClass="entr" presetSubtype="16" decel="10000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7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53" presetClass="entr" presetSubtype="16" decel="10000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2" dur="4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4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10" presetClass="entr" presetSubtype="0" decel="10000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53" presetClass="entr" presetSubtype="16" decel="10000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0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53" presetClass="entr" presetSubtype="16" decel="10000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5" dur="4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4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53" presetClass="entr" presetSubtype="16" decel="10000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0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53" presetClass="entr" presetSubtype="16" decel="10000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5" dur="4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6" dur="4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/>
      <p:bldP spid="40" grpId="0" animBg="1"/>
      <p:bldP spid="41" grpId="0" animBg="1"/>
      <p:bldP spid="42" grpId="0" animBg="1"/>
      <p:bldP spid="43" grpId="0" animBg="1"/>
      <p:bldP spid="44" grpId="0"/>
      <p:bldP spid="45" grpId="0" animBg="1"/>
      <p:bldP spid="46" grpId="0" animBg="1"/>
      <p:bldP spid="47" grpId="0" animBg="1"/>
      <p:bldP spid="48" grpId="0" animBg="1"/>
      <p:bldP spid="49" grpId="0"/>
      <p:bldP spid="50" grpId="0" animBg="1"/>
      <p:bldP spid="51" grpId="0" animBg="1"/>
      <p:bldP spid="52" grpId="0" animBg="1"/>
      <p:bldP spid="53" grpId="0" animBg="1"/>
      <p:bldP spid="54" grpId="0"/>
      <p:bldP spid="55" grpId="0" animBg="1"/>
      <p:bldP spid="56" grpId="0" animBg="1"/>
      <p:bldP spid="57" grpId="0" animBg="1"/>
      <p:bldP spid="58" grpId="0" animBg="1"/>
      <p:bldP spid="59" grpId="0"/>
      <p:bldP spid="60" grpId="0" animBg="1"/>
      <p:bldP spid="6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2377440" y="-1280160"/>
            <a:ext cx="5943600" cy="59436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8046720" y="347472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&amp; STUDY AREA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independent data sources, six years, 91 stands</a:t>
            </a:r>
            <a:endParaRPr lang="en-US" sz="3400" dirty="0"/>
          </a:p>
        </p:txBody>
      </p:sp>
      <p:sp>
        <p:nvSpPr>
          <p:cNvPr id="7" name="a1zoom_mapcard"/>
          <p:cNvSpPr/>
          <p:nvPr/>
        </p:nvSpPr>
        <p:spPr>
          <a:xfrm>
            <a:off x="548640" y="1691640"/>
            <a:ext cx="4343400" cy="4480560"/>
          </a:xfrm>
          <a:prstGeom prst="roundRect">
            <a:avLst>
              <a:gd name="adj" fmla="val 2947"/>
            </a:avLst>
          </a:prstGeom>
          <a:solidFill>
            <a:srgbClr val="F3F7FB">
              <a:alpha val="90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pic>
        <p:nvPicPr>
          <p:cNvPr id="8" name="a1zoom_map" descr="C:\Users\nahla\Desktop\UAE-Space-Hackatoon\deck_pptx\build\assets\stand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783080"/>
            <a:ext cx="4069080" cy="3386056"/>
          </a:xfrm>
          <a:prstGeom prst="rect">
            <a:avLst/>
          </a:prstGeom>
        </p:spPr>
      </p:pic>
      <p:sp>
        <p:nvSpPr>
          <p:cNvPr id="9" name="a2fade_mapcap"/>
          <p:cNvSpPr txBox="1"/>
          <p:nvPr/>
        </p:nvSpPr>
        <p:spPr>
          <a:xfrm>
            <a:off x="777240" y="53035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Pilot: 25 stands · 2,281 ha (WorldCover 2021 patches ≥ 3 ha). +66 unseen stands in Abu Dhabi N/W and Saudi Tarut Bay test transfer.</a:t>
            </a:r>
            <a:endParaRPr lang="en-US" sz="1200" dirty="0"/>
          </a:p>
        </p:txBody>
      </p:sp>
      <p:sp>
        <p:nvSpPr>
          <p:cNvPr id="10" name="a2float_d0"/>
          <p:cNvSpPr/>
          <p:nvPr/>
        </p:nvSpPr>
        <p:spPr>
          <a:xfrm>
            <a:off x="5120640" y="1691640"/>
            <a:ext cx="6519672" cy="786384"/>
          </a:xfrm>
          <a:prstGeom prst="roundRect">
            <a:avLst>
              <a:gd name="adj" fmla="val 16279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1" name="a2float_d0ic_c"/>
          <p:cNvSpPr/>
          <p:nvPr/>
        </p:nvSpPr>
        <p:spPr>
          <a:xfrm>
            <a:off x="5303520" y="1847088"/>
            <a:ext cx="475488" cy="475488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12" name="a2float_d0ic_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7637" y="1961205"/>
            <a:ext cx="247254" cy="247254"/>
          </a:xfrm>
          <a:prstGeom prst="rect">
            <a:avLst/>
          </a:prstGeom>
        </p:spPr>
      </p:pic>
      <p:sp>
        <p:nvSpPr>
          <p:cNvPr id="13" name="a2float_d0t"/>
          <p:cNvSpPr txBox="1"/>
          <p:nvPr/>
        </p:nvSpPr>
        <p:spPr>
          <a:xfrm>
            <a:off x="5943600" y="18013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Sentinel-2 L2A</a:t>
            </a:r>
            <a:endParaRPr lang="en-US" sz="1500" dirty="0"/>
          </a:p>
        </p:txBody>
      </p:sp>
      <p:sp>
        <p:nvSpPr>
          <p:cNvPr id="14" name="a2float_d0d"/>
          <p:cNvSpPr txBox="1"/>
          <p:nvPr/>
        </p:nvSpPr>
        <p:spPr>
          <a:xfrm>
            <a:off x="5943600" y="2112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ESA / Copernicus · 10–20 m time series</a:t>
            </a:r>
            <a:endParaRPr lang="en-US" sz="1200" dirty="0"/>
          </a:p>
        </p:txBody>
      </p:sp>
      <p:sp>
        <p:nvSpPr>
          <p:cNvPr id="15" name="a2float_d0p_bg"/>
          <p:cNvSpPr/>
          <p:nvPr/>
        </p:nvSpPr>
        <p:spPr>
          <a:xfrm>
            <a:off x="10222992" y="1901952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A9813A">
              <a:alpha val="15000"/>
            </a:srgbClr>
          </a:solidFill>
          <a:ln w="9525">
            <a:solidFill>
              <a:srgbClr val="A9813A"/>
            </a:solidFill>
            <a:prstDash val="solid"/>
          </a:ln>
        </p:spPr>
      </p:sp>
      <p:sp>
        <p:nvSpPr>
          <p:cNvPr id="16" name="a2float_d0p"/>
          <p:cNvSpPr txBox="1"/>
          <p:nvPr/>
        </p:nvSpPr>
        <p:spPr>
          <a:xfrm>
            <a:off x="10222992" y="19019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8A6A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778 dates</a:t>
            </a:r>
            <a:endParaRPr lang="en-US" sz="1300" dirty="0"/>
          </a:p>
        </p:txBody>
      </p:sp>
      <p:sp>
        <p:nvSpPr>
          <p:cNvPr id="17" name="a3float_d1"/>
          <p:cNvSpPr/>
          <p:nvPr/>
        </p:nvSpPr>
        <p:spPr>
          <a:xfrm>
            <a:off x="5120640" y="2596896"/>
            <a:ext cx="6519672" cy="786384"/>
          </a:xfrm>
          <a:prstGeom prst="roundRect">
            <a:avLst>
              <a:gd name="adj" fmla="val 16279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8" name="a3float_d1ic_c"/>
          <p:cNvSpPr/>
          <p:nvPr/>
        </p:nvSpPr>
        <p:spPr>
          <a:xfrm>
            <a:off x="5303520" y="2752344"/>
            <a:ext cx="475488" cy="475488"/>
          </a:xfrm>
          <a:prstGeom prst="ellipse">
            <a:avLst/>
          </a:prstGeom>
          <a:solidFill>
            <a:srgbClr val="7D6FB0">
              <a:alpha val="18000"/>
            </a:srgbClr>
          </a:solidFill>
          <a:ln w="12700">
            <a:solidFill>
              <a:srgbClr val="7D6FB0"/>
            </a:solidFill>
            <a:prstDash val="solid"/>
          </a:ln>
        </p:spPr>
      </p:sp>
      <p:pic>
        <p:nvPicPr>
          <p:cNvPr id="19" name="a3float_d1ic_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7637" y="2866461"/>
            <a:ext cx="247254" cy="247254"/>
          </a:xfrm>
          <a:prstGeom prst="rect">
            <a:avLst/>
          </a:prstGeom>
        </p:spPr>
      </p:pic>
      <p:sp>
        <p:nvSpPr>
          <p:cNvPr id="20" name="a3float_d1t"/>
          <p:cNvSpPr txBox="1"/>
          <p:nvPr/>
        </p:nvSpPr>
        <p:spPr>
          <a:xfrm>
            <a:off x="5943600" y="2706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EnMAP hyperspectral</a:t>
            </a:r>
            <a:endParaRPr lang="en-US" sz="1500" dirty="0"/>
          </a:p>
        </p:txBody>
      </p:sp>
      <p:sp>
        <p:nvSpPr>
          <p:cNvPr id="21" name="a3float_d1d"/>
          <p:cNvSpPr txBox="1"/>
          <p:nvPr/>
        </p:nvSpPr>
        <p:spPr>
          <a:xfrm>
            <a:off x="594360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DLR · 224 bands · independent check</a:t>
            </a:r>
            <a:endParaRPr lang="en-US" sz="1200" dirty="0"/>
          </a:p>
        </p:txBody>
      </p:sp>
      <p:sp>
        <p:nvSpPr>
          <p:cNvPr id="22" name="a3float_d1p_bg"/>
          <p:cNvSpPr/>
          <p:nvPr/>
        </p:nvSpPr>
        <p:spPr>
          <a:xfrm>
            <a:off x="10222992" y="280720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D6FB0">
              <a:alpha val="15000"/>
            </a:srgbClr>
          </a:solidFill>
          <a:ln w="9525">
            <a:solidFill>
              <a:srgbClr val="7D6FB0"/>
            </a:solidFill>
            <a:prstDash val="solid"/>
          </a:ln>
        </p:spPr>
      </p:sp>
      <p:sp>
        <p:nvSpPr>
          <p:cNvPr id="23" name="a3float_d1p"/>
          <p:cNvSpPr txBox="1"/>
          <p:nvPr/>
        </p:nvSpPr>
        <p:spPr>
          <a:xfrm>
            <a:off x="10222992" y="28072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5E529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scenes</a:t>
            </a:r>
            <a:endParaRPr lang="en-US" sz="1300" dirty="0"/>
          </a:p>
        </p:txBody>
      </p:sp>
      <p:sp>
        <p:nvSpPr>
          <p:cNvPr id="24" name="a4float_d2"/>
          <p:cNvSpPr/>
          <p:nvPr/>
        </p:nvSpPr>
        <p:spPr>
          <a:xfrm>
            <a:off x="5120640" y="3502152"/>
            <a:ext cx="6519672" cy="786384"/>
          </a:xfrm>
          <a:prstGeom prst="roundRect">
            <a:avLst>
              <a:gd name="adj" fmla="val 16279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5" name="a4float_d2ic_c"/>
          <p:cNvSpPr/>
          <p:nvPr/>
        </p:nvSpPr>
        <p:spPr>
          <a:xfrm>
            <a:off x="5303520" y="3657600"/>
            <a:ext cx="475488" cy="475488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26" name="a4float_d2ic_i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7637" y="3771717"/>
            <a:ext cx="247254" cy="247254"/>
          </a:xfrm>
          <a:prstGeom prst="rect">
            <a:avLst/>
          </a:prstGeom>
        </p:spPr>
      </p:pic>
      <p:sp>
        <p:nvSpPr>
          <p:cNvPr id="27" name="a4float_d2t"/>
          <p:cNvSpPr txBox="1"/>
          <p:nvPr/>
        </p:nvSpPr>
        <p:spPr>
          <a:xfrm>
            <a:off x="5943600" y="3611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ESA WorldCover 2021</a:t>
            </a:r>
            <a:endParaRPr lang="en-US" sz="1500" dirty="0"/>
          </a:p>
        </p:txBody>
      </p:sp>
      <p:sp>
        <p:nvSpPr>
          <p:cNvPr id="28" name="a4float_d2d"/>
          <p:cNvSpPr txBox="1"/>
          <p:nvPr/>
        </p:nvSpPr>
        <p:spPr>
          <a:xfrm>
            <a:off x="5943600" y="3922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 land cover · stand outlines</a:t>
            </a:r>
            <a:endParaRPr lang="en-US" sz="1200" dirty="0"/>
          </a:p>
        </p:txBody>
      </p:sp>
      <p:sp>
        <p:nvSpPr>
          <p:cNvPr id="29" name="a4float_d2p_bg"/>
          <p:cNvSpPr/>
          <p:nvPr/>
        </p:nvSpPr>
        <p:spPr>
          <a:xfrm>
            <a:off x="10222992" y="3712464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A9813A">
              <a:alpha val="15000"/>
            </a:srgbClr>
          </a:solidFill>
          <a:ln w="9525">
            <a:solidFill>
              <a:srgbClr val="A9813A"/>
            </a:solidFill>
            <a:prstDash val="solid"/>
          </a:ln>
        </p:spPr>
      </p:sp>
      <p:sp>
        <p:nvSpPr>
          <p:cNvPr id="30" name="a4float_d2p"/>
          <p:cNvSpPr txBox="1"/>
          <p:nvPr/>
        </p:nvSpPr>
        <p:spPr>
          <a:xfrm>
            <a:off x="10222992" y="371246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8A6A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CC BY 4.0</a:t>
            </a:r>
            <a:endParaRPr lang="en-US" sz="1300" dirty="0"/>
          </a:p>
        </p:txBody>
      </p:sp>
      <p:sp>
        <p:nvSpPr>
          <p:cNvPr id="31" name="a5float_d3"/>
          <p:cNvSpPr/>
          <p:nvPr/>
        </p:nvSpPr>
        <p:spPr>
          <a:xfrm>
            <a:off x="5120640" y="4407408"/>
            <a:ext cx="6519672" cy="786384"/>
          </a:xfrm>
          <a:prstGeom prst="roundRect">
            <a:avLst>
              <a:gd name="adj" fmla="val 16279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32" name="a5float_d3ic_c"/>
          <p:cNvSpPr/>
          <p:nvPr/>
        </p:nvSpPr>
        <p:spPr>
          <a:xfrm>
            <a:off x="5303520" y="4562856"/>
            <a:ext cx="475488" cy="475488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33" name="a5float_d3ic_i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7637" y="4676973"/>
            <a:ext cx="247254" cy="247254"/>
          </a:xfrm>
          <a:prstGeom prst="rect">
            <a:avLst/>
          </a:prstGeom>
        </p:spPr>
      </p:pic>
      <p:sp>
        <p:nvSpPr>
          <p:cNvPr id="34" name="a5float_d3t"/>
          <p:cNvSpPr txBox="1"/>
          <p:nvPr/>
        </p:nvSpPr>
        <p:spPr>
          <a:xfrm>
            <a:off x="5943600" y="45171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Field carbon plots</a:t>
            </a:r>
            <a:endParaRPr lang="en-US" sz="1500" dirty="0"/>
          </a:p>
        </p:txBody>
      </p:sp>
      <p:sp>
        <p:nvSpPr>
          <p:cNvPr id="35" name="a5float_d3d"/>
          <p:cNvSpPr txBox="1"/>
          <p:nvPr/>
        </p:nvSpPr>
        <p:spPr>
          <a:xfrm>
            <a:off x="5943600" y="4828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Schile et al. 2016 · carbon density</a:t>
            </a:r>
            <a:endParaRPr lang="en-US" sz="1200" dirty="0"/>
          </a:p>
        </p:txBody>
      </p:sp>
      <p:sp>
        <p:nvSpPr>
          <p:cNvPr id="36" name="a5float_d3p_bg"/>
          <p:cNvSpPr/>
          <p:nvPr/>
        </p:nvSpPr>
        <p:spPr>
          <a:xfrm>
            <a:off x="10222992" y="461772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A9813A">
              <a:alpha val="15000"/>
            </a:srgbClr>
          </a:solidFill>
          <a:ln w="9525">
            <a:solidFill>
              <a:srgbClr val="A9813A"/>
            </a:solidFill>
            <a:prstDash val="solid"/>
          </a:ln>
        </p:spPr>
      </p:sp>
      <p:sp>
        <p:nvSpPr>
          <p:cNvPr id="37" name="a5float_d3p"/>
          <p:cNvSpPr txBox="1"/>
          <p:nvPr/>
        </p:nvSpPr>
        <p:spPr>
          <a:xfrm>
            <a:off x="10222992" y="4617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8A6A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24 plots</a:t>
            </a:r>
            <a:endParaRPr lang="en-US" sz="1300" dirty="0"/>
          </a:p>
        </p:txBody>
      </p:sp>
      <p:sp>
        <p:nvSpPr>
          <p:cNvPr id="38" name="a6float_d4"/>
          <p:cNvSpPr/>
          <p:nvPr/>
        </p:nvSpPr>
        <p:spPr>
          <a:xfrm>
            <a:off x="5120640" y="5312664"/>
            <a:ext cx="6519672" cy="786384"/>
          </a:xfrm>
          <a:prstGeom prst="roundRect">
            <a:avLst>
              <a:gd name="adj" fmla="val 16279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39" name="a6float_d4ic_c"/>
          <p:cNvSpPr/>
          <p:nvPr/>
        </p:nvSpPr>
        <p:spPr>
          <a:xfrm>
            <a:off x="5303520" y="5468112"/>
            <a:ext cx="475488" cy="475488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40" name="a6float_d4ic_i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7637" y="5582229"/>
            <a:ext cx="247254" cy="247254"/>
          </a:xfrm>
          <a:prstGeom prst="rect">
            <a:avLst/>
          </a:prstGeom>
        </p:spPr>
      </p:pic>
      <p:sp>
        <p:nvSpPr>
          <p:cNvPr id="41" name="a6float_d4t"/>
          <p:cNvSpPr txBox="1"/>
          <p:nvPr/>
        </p:nvSpPr>
        <p:spPr>
          <a:xfrm>
            <a:off x="5943600" y="54223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Sub-metre captures</a:t>
            </a:r>
            <a:endParaRPr lang="en-US" sz="1500" dirty="0"/>
          </a:p>
        </p:txBody>
      </p:sp>
      <p:sp>
        <p:nvSpPr>
          <p:cNvPr id="42" name="a6float_d4d"/>
          <p:cNvSpPr txBox="1"/>
          <p:nvPr/>
        </p:nvSpPr>
        <p:spPr>
          <a:xfrm>
            <a:off x="5943600" y="5733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WorldView-2/3, Legion-1 · confirm events</a:t>
            </a:r>
            <a:endParaRPr lang="en-US" sz="1200" dirty="0"/>
          </a:p>
        </p:txBody>
      </p:sp>
      <p:sp>
        <p:nvSpPr>
          <p:cNvPr id="43" name="a6float_d4p_bg"/>
          <p:cNvSpPr/>
          <p:nvPr/>
        </p:nvSpPr>
        <p:spPr>
          <a:xfrm>
            <a:off x="10222992" y="5522976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A9813A">
              <a:alpha val="15000"/>
            </a:srgbClr>
          </a:solidFill>
          <a:ln w="9525">
            <a:solidFill>
              <a:srgbClr val="A9813A"/>
            </a:solidFill>
            <a:prstDash val="solid"/>
          </a:ln>
        </p:spPr>
      </p:sp>
      <p:sp>
        <p:nvSpPr>
          <p:cNvPr id="44" name="a6float_d4p"/>
          <p:cNvSpPr txBox="1"/>
          <p:nvPr/>
        </p:nvSpPr>
        <p:spPr>
          <a:xfrm>
            <a:off x="10222992" y="552297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8A6A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0.3–0.5 m</a:t>
            </a:r>
            <a:endParaRPr lang="en-US" sz="1300" dirty="0"/>
          </a:p>
        </p:txBody>
      </p:sp>
      <p:sp>
        <p:nvSpPr>
          <p:cNvPr id="45" name="a7fade_cap"/>
          <p:cNvSpPr txBox="1"/>
          <p:nvPr/>
        </p:nvSpPr>
        <p:spPr>
          <a:xfrm>
            <a:off x="5120640" y="6245352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control: cloud masks · interior pixels only · tide model · second-source checks</a:t>
            </a:r>
            <a:endParaRPr lang="en-US" sz="11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0" presetClass="entr" presetSubtype="0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8229600" y="-2377440"/>
            <a:ext cx="5486400" cy="54864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-2194560" y="329184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SPACE DATA · HYPERSPECTRAL (ENMAP, 224 BANDS)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second sensor shows what the mangrove became</a:t>
            </a:r>
            <a:endParaRPr lang="en-US" sz="3400" dirty="0"/>
          </a:p>
        </p:txBody>
      </p:sp>
      <p:sp>
        <p:nvSpPr>
          <p:cNvPr id="7" name="a1zoom_ef"/>
          <p:cNvSpPr/>
          <p:nvPr/>
        </p:nvSpPr>
        <p:spPr>
          <a:xfrm>
            <a:off x="548640" y="1691640"/>
            <a:ext cx="11091672" cy="3315507"/>
          </a:xfrm>
          <a:prstGeom prst="roundRect">
            <a:avLst>
              <a:gd name="adj" fmla="val 2758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pic>
        <p:nvPicPr>
          <p:cNvPr id="8" name="a1zoom_ei" descr="C:\Users\nahla\Desktop\UAE-Space-Hackatoon\deck_source\images\enmap_stand5_two_epoch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1819656"/>
            <a:ext cx="10835640" cy="3059475"/>
          </a:xfrm>
          <a:prstGeom prst="rect">
            <a:avLst/>
          </a:prstGeom>
        </p:spPr>
      </p:pic>
      <p:sp>
        <p:nvSpPr>
          <p:cNvPr id="9" name="a2float_h0"/>
          <p:cNvSpPr/>
          <p:nvPr/>
        </p:nvSpPr>
        <p:spPr>
          <a:xfrm>
            <a:off x="548640" y="5135163"/>
            <a:ext cx="3593592" cy="932688"/>
          </a:xfrm>
          <a:prstGeom prst="roundRect">
            <a:avLst>
              <a:gd name="adj" fmla="val 13725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0" name="a2float_h0n"/>
          <p:cNvSpPr txBox="1"/>
          <p:nvPr/>
        </p:nvSpPr>
        <p:spPr>
          <a:xfrm>
            <a:off x="749808" y="5190027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dirty="0">
                <a:solidFill>
                  <a:srgbClr val="6E60A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 = 0.84–0.99</a:t>
            </a:r>
            <a:endParaRPr lang="en-US" sz="2200" dirty="0"/>
          </a:p>
        </p:txBody>
      </p:sp>
      <p:sp>
        <p:nvSpPr>
          <p:cNvPr id="11" name="a2float_h0t"/>
          <p:cNvSpPr txBox="1"/>
          <p:nvPr/>
        </p:nvSpPr>
        <p:spPr>
          <a:xfrm>
            <a:off x="749808" y="5610651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agreement with our Sentinel-2 indices on the same dates (25 and 14 stands)</a:t>
            </a:r>
            <a:endParaRPr lang="en-US" sz="1100" dirty="0"/>
          </a:p>
        </p:txBody>
      </p:sp>
      <p:sp>
        <p:nvSpPr>
          <p:cNvPr id="12" name="a3float_h1"/>
          <p:cNvSpPr/>
          <p:nvPr/>
        </p:nvSpPr>
        <p:spPr>
          <a:xfrm>
            <a:off x="4297680" y="5135163"/>
            <a:ext cx="3593592" cy="932688"/>
          </a:xfrm>
          <a:prstGeom prst="roundRect">
            <a:avLst>
              <a:gd name="adj" fmla="val 13725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3" name="a3float_h1n"/>
          <p:cNvSpPr txBox="1"/>
          <p:nvPr/>
        </p:nvSpPr>
        <p:spPr>
          <a:xfrm>
            <a:off x="4498848" y="5190027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dirty="0">
                <a:solidFill>
                  <a:srgbClr val="A9813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62 vs 26 ha</a:t>
            </a:r>
            <a:endParaRPr lang="en-US" sz="2200" dirty="0"/>
          </a:p>
        </p:txBody>
      </p:sp>
      <p:sp>
        <p:nvSpPr>
          <p:cNvPr id="14" name="a3float_h1t"/>
          <p:cNvSpPr txBox="1"/>
          <p:nvPr/>
        </p:nvSpPr>
        <p:spPr>
          <a:xfrm>
            <a:off x="4498848" y="5610651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stand-5 loss: EnMAP pixel count vs our conservative Sentinel-2 flag</a:t>
            </a:r>
            <a:endParaRPr lang="en-US" sz="1100" dirty="0"/>
          </a:p>
        </p:txBody>
      </p:sp>
      <p:sp>
        <p:nvSpPr>
          <p:cNvPr id="15" name="a4float_h2"/>
          <p:cNvSpPr/>
          <p:nvPr/>
        </p:nvSpPr>
        <p:spPr>
          <a:xfrm>
            <a:off x="8046720" y="5135163"/>
            <a:ext cx="3593592" cy="932688"/>
          </a:xfrm>
          <a:prstGeom prst="roundRect">
            <a:avLst>
              <a:gd name="adj" fmla="val 13725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6" name="a4float_h2n"/>
          <p:cNvSpPr txBox="1"/>
          <p:nvPr/>
        </p:nvSpPr>
        <p:spPr>
          <a:xfrm>
            <a:off x="8247888" y="5190027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dirty="0">
                <a:solidFill>
                  <a:srgbClr val="BE5F6D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Vegetation → mineral</a:t>
            </a:r>
            <a:endParaRPr lang="en-US" sz="2200" dirty="0"/>
          </a:p>
        </p:txBody>
      </p:sp>
      <p:sp>
        <p:nvSpPr>
          <p:cNvPr id="17" name="a4float_h2t"/>
          <p:cNvSpPr txBox="1"/>
          <p:nvPr/>
        </p:nvSpPr>
        <p:spPr>
          <a:xfrm>
            <a:off x="8247888" y="5610651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converted pixels take the spectrum of sand and fill: reclamation, not dieback</a:t>
            </a:r>
            <a:endParaRPr lang="en-US" sz="1100" dirty="0"/>
          </a:p>
        </p:txBody>
      </p:sp>
      <p:sp>
        <p:nvSpPr>
          <p:cNvPr id="18" name="a5fade_hc"/>
          <p:cNvSpPr txBox="1"/>
          <p:nvPr/>
        </p:nvSpPr>
        <p:spPr>
          <a:xfrm>
            <a:off x="548640" y="617220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7A8C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limit: as a classifier, the full spectrum is no better than Sentinel-2-like bands (F1 0.74 vs 0.72). Contains modified EnMAP data © DLR 2022,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8046720" y="-2560320"/>
            <a:ext cx="5486400" cy="54864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-2194560" y="329184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SPACE DATA · READY FOR SATELLITE 813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Sentinel-2 says when. Satellite 813 says what.</a:t>
            </a:r>
            <a:endParaRPr lang="en-US" sz="3400" dirty="0"/>
          </a:p>
        </p:txBody>
      </p:sp>
      <p:graphicFrame>
        <p:nvGraphicFramePr>
          <p:cNvPr id="9" name="a1float_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Sensor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Bands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Range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Pixel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Revisit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Role in the product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4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Sentinel-2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443–2190 nm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10–20 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~5 days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WHEN: the alert, every pass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4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EnMAP (used)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224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420–2450 nm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~27 days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WHAT: tested on stand 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Satellite 813 (next)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~205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~400–1700 nm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~20 m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on demand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WHAT, sharper: tasked on flagged cells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a2float_f0"/>
          <p:cNvSpPr/>
          <p:nvPr/>
        </p:nvSpPr>
        <p:spPr>
          <a:xfrm>
            <a:off x="548640" y="3794760"/>
            <a:ext cx="342900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7" name="a2float_f0ic_c"/>
          <p:cNvSpPr/>
          <p:nvPr/>
        </p:nvSpPr>
        <p:spPr>
          <a:xfrm>
            <a:off x="731520" y="4087368"/>
            <a:ext cx="548640" cy="548640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10" name="a2float_f0ic_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4" y="4219042"/>
            <a:ext cx="285293" cy="285293"/>
          </a:xfrm>
          <a:prstGeom prst="rect">
            <a:avLst/>
          </a:prstGeom>
        </p:spPr>
      </p:pic>
      <p:sp>
        <p:nvSpPr>
          <p:cNvPr id="11" name="a2float_f0t"/>
          <p:cNvSpPr txBox="1"/>
          <p:nvPr/>
        </p:nvSpPr>
        <p:spPr>
          <a:xfrm>
            <a:off x="1417320" y="3931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· Sentinel-2 alert</a:t>
            </a:r>
            <a:endParaRPr lang="en-US" sz="1500" dirty="0"/>
          </a:p>
        </p:txBody>
      </p:sp>
      <p:sp>
        <p:nvSpPr>
          <p:cNvPr id="12" name="a2float_f0d"/>
          <p:cNvSpPr txBox="1"/>
          <p:nvPr/>
        </p:nvSpPr>
        <p:spPr>
          <a:xfrm>
            <a:off x="1417320" y="42793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 or 200 m cell below its threshold</a:t>
            </a:r>
            <a:endParaRPr lang="en-US" sz="1200" dirty="0"/>
          </a:p>
        </p:txBody>
      </p:sp>
      <p:sp>
        <p:nvSpPr>
          <p:cNvPr id="13" name="a2fade_ar0"/>
          <p:cNvSpPr txBox="1"/>
          <p:nvPr/>
        </p:nvSpPr>
        <p:spPr>
          <a:xfrm>
            <a:off x="3977640" y="411480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200" dirty="0">
                <a:solidFill>
                  <a:srgbClr val="3F6E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a3float_f1"/>
          <p:cNvSpPr/>
          <p:nvPr/>
        </p:nvSpPr>
        <p:spPr>
          <a:xfrm>
            <a:off x="4315968" y="3794760"/>
            <a:ext cx="342900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5" name="a3float_f1ic_c"/>
          <p:cNvSpPr/>
          <p:nvPr/>
        </p:nvSpPr>
        <p:spPr>
          <a:xfrm>
            <a:off x="4498848" y="4087368"/>
            <a:ext cx="548640" cy="548640"/>
          </a:xfrm>
          <a:prstGeom prst="ellipse">
            <a:avLst/>
          </a:prstGeom>
          <a:solidFill>
            <a:srgbClr val="A9813A">
              <a:alpha val="18000"/>
            </a:srgbClr>
          </a:solidFill>
          <a:ln w="12700">
            <a:solidFill>
              <a:srgbClr val="A9813A"/>
            </a:solidFill>
            <a:prstDash val="solid"/>
          </a:ln>
        </p:spPr>
      </p:sp>
      <p:pic>
        <p:nvPicPr>
          <p:cNvPr id="16" name="a3float_f1ic_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0522" y="4219042"/>
            <a:ext cx="285293" cy="285293"/>
          </a:xfrm>
          <a:prstGeom prst="rect">
            <a:avLst/>
          </a:prstGeom>
        </p:spPr>
      </p:pic>
      <p:sp>
        <p:nvSpPr>
          <p:cNvPr id="17" name="a3float_f1t"/>
          <p:cNvSpPr txBox="1"/>
          <p:nvPr/>
        </p:nvSpPr>
        <p:spPr>
          <a:xfrm>
            <a:off x="5184648" y="3931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· Task Satellite 813</a:t>
            </a:r>
            <a:endParaRPr lang="en-US" sz="1500" dirty="0"/>
          </a:p>
        </p:txBody>
      </p:sp>
      <p:sp>
        <p:nvSpPr>
          <p:cNvPr id="18" name="a3float_f1d"/>
          <p:cNvSpPr txBox="1"/>
          <p:nvPr/>
        </p:nvSpPr>
        <p:spPr>
          <a:xfrm>
            <a:off x="5184648" y="42793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over the flagged cells, on demand</a:t>
            </a:r>
            <a:endParaRPr lang="en-US" sz="1200" dirty="0"/>
          </a:p>
        </p:txBody>
      </p:sp>
      <p:sp>
        <p:nvSpPr>
          <p:cNvPr id="19" name="a3fade_ar1"/>
          <p:cNvSpPr txBox="1"/>
          <p:nvPr/>
        </p:nvSpPr>
        <p:spPr>
          <a:xfrm>
            <a:off x="7744968" y="411480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200" dirty="0">
                <a:solidFill>
                  <a:srgbClr val="3F6E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a4float_f2"/>
          <p:cNvSpPr/>
          <p:nvPr/>
        </p:nvSpPr>
        <p:spPr>
          <a:xfrm>
            <a:off x="8083296" y="3794760"/>
            <a:ext cx="342900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1" name="a4float_f2ic_c"/>
          <p:cNvSpPr/>
          <p:nvPr/>
        </p:nvSpPr>
        <p:spPr>
          <a:xfrm>
            <a:off x="8266176" y="4087368"/>
            <a:ext cx="548640" cy="548640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22" name="a4float_f2ic_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7850" y="4219042"/>
            <a:ext cx="285293" cy="285293"/>
          </a:xfrm>
          <a:prstGeom prst="rect">
            <a:avLst/>
          </a:prstGeom>
        </p:spPr>
      </p:pic>
      <p:sp>
        <p:nvSpPr>
          <p:cNvPr id="23" name="a4float_f2t"/>
          <p:cNvSpPr txBox="1"/>
          <p:nvPr/>
        </p:nvSpPr>
        <p:spPr>
          <a:xfrm>
            <a:off x="8951976" y="3931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· Spectral diagnosis</a:t>
            </a:r>
            <a:endParaRPr lang="en-US" sz="1500" dirty="0"/>
          </a:p>
        </p:txBody>
      </p:sp>
      <p:sp>
        <p:nvSpPr>
          <p:cNvPr id="24" name="a4float_f2d"/>
          <p:cNvSpPr txBox="1"/>
          <p:nvPr/>
        </p:nvSpPr>
        <p:spPr>
          <a:xfrm>
            <a:off x="8951976" y="42793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vegetation, or sand and fill: an evidence pack</a:t>
            </a:r>
            <a:endParaRPr lang="en-US" sz="1200" dirty="0"/>
          </a:p>
        </p:txBody>
      </p:sp>
      <p:sp>
        <p:nvSpPr>
          <p:cNvPr id="25" name="a5float_note"/>
          <p:cNvSpPr/>
          <p:nvPr/>
        </p:nvSpPr>
        <p:spPr>
          <a:xfrm>
            <a:off x="548640" y="5166360"/>
            <a:ext cx="11091672" cy="1005840"/>
          </a:xfrm>
          <a:prstGeom prst="roundRect">
            <a:avLst>
              <a:gd name="adj" fmla="val 12727"/>
            </a:avLst>
          </a:prstGeom>
          <a:solidFill>
            <a:srgbClr val="E8F0F9">
              <a:alpha val="95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6" name="a5float_notet"/>
          <p:cNvSpPr txBox="1"/>
          <p:nvPr/>
        </p:nvSpPr>
        <p:spPr>
          <a:xfrm>
            <a:off x="777240" y="51663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F5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index the monitor uses </a:t>
            </a:r>
            <a:r>
              <a:rPr lang="en-US" sz="14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(NDVI, red edge, SWIR moisture at 1610 nm, wetness) sits inside 813's ~400–1700 nm range, at 20 m instead of EnMAP's 30 m.  </a:t>
            </a:r>
            <a:r>
              <a:rPr lang="en-US" sz="1400" b="1" dirty="0">
                <a:solidFill>
                  <a:srgbClr val="A98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Planned, not yet tested: </a:t>
            </a:r>
            <a:r>
              <a:rPr lang="en-US" sz="14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813 scenes were not available in the proof of concept.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Graphic spid="9" grpId="0">
        <p:bldAsOne/>
      </p:bldGraphic>
      <p:bldP spid="8" grpId="0" animBg="1"/>
      <p:bldP spid="27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3291840" y="-3108960"/>
            <a:ext cx="5486400" cy="54864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-2377440" y="347472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APPROACH · HOW IT WORKS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satellite pixels to a decision</a:t>
            </a:r>
            <a:endParaRPr lang="en-US" sz="3400" dirty="0"/>
          </a:p>
        </p:txBody>
      </p:sp>
      <p:sp>
        <p:nvSpPr>
          <p:cNvPr id="7" name="a1zoom_wfc"/>
          <p:cNvSpPr/>
          <p:nvPr/>
        </p:nvSpPr>
        <p:spPr>
          <a:xfrm>
            <a:off x="548640" y="1691640"/>
            <a:ext cx="11091672" cy="4315968"/>
          </a:xfrm>
          <a:prstGeom prst="roundRect">
            <a:avLst>
              <a:gd name="adj" fmla="val 2966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pic>
        <p:nvPicPr>
          <p:cNvPr id="8" name="a1zoom_wf" descr="C:\Users\nahla\Desktop\UAE-Space-Hackatoon\deck_pptx\build\assets\diagram_work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1804779"/>
            <a:ext cx="10698480" cy="4089690"/>
          </a:xfrm>
          <a:prstGeom prst="rect">
            <a:avLst/>
          </a:prstGeom>
        </p:spPr>
      </p:pic>
      <p:sp>
        <p:nvSpPr>
          <p:cNvPr id="9" name="a2fade_wl"/>
          <p:cNvSpPr txBox="1"/>
          <p:nvPr/>
        </p:nvSpPr>
        <p:spPr>
          <a:xfrm>
            <a:off x="548640" y="6108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left to right:</a:t>
            </a:r>
            <a:endParaRPr lang="en-US" sz="1200" dirty="0"/>
          </a:p>
        </p:txBody>
      </p:sp>
      <p:sp>
        <p:nvSpPr>
          <p:cNvPr id="10" name="a2fade_wk0"/>
          <p:cNvSpPr/>
          <p:nvPr/>
        </p:nvSpPr>
        <p:spPr>
          <a:xfrm>
            <a:off x="2240280" y="6172200"/>
            <a:ext cx="237744" cy="146304"/>
          </a:xfrm>
          <a:prstGeom prst="roundRect">
            <a:avLst>
              <a:gd name="adj" fmla="val 25000"/>
            </a:avLst>
          </a:prstGeom>
          <a:solidFill>
            <a:srgbClr val="6E95C2">
              <a:alpha val="70000"/>
            </a:srgbClr>
          </a:solidFill>
          <a:ln w="9525">
            <a:solidFill>
              <a:srgbClr val="6E95C2"/>
            </a:solidFill>
            <a:prstDash val="solid"/>
          </a:ln>
        </p:spPr>
      </p:sp>
      <p:sp>
        <p:nvSpPr>
          <p:cNvPr id="11" name="a2fade_wkt0"/>
          <p:cNvSpPr txBox="1"/>
          <p:nvPr/>
        </p:nvSpPr>
        <p:spPr>
          <a:xfrm>
            <a:off x="2560320" y="6108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D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model</a:t>
            </a:r>
            <a:endParaRPr lang="en-US" sz="1200" dirty="0"/>
          </a:p>
        </p:txBody>
      </p:sp>
      <p:sp>
        <p:nvSpPr>
          <p:cNvPr id="12" name="a2fade_wk1"/>
          <p:cNvSpPr/>
          <p:nvPr/>
        </p:nvSpPr>
        <p:spPr>
          <a:xfrm>
            <a:off x="4389120" y="6172200"/>
            <a:ext cx="237744" cy="146304"/>
          </a:xfrm>
          <a:prstGeom prst="roundRect">
            <a:avLst>
              <a:gd name="adj" fmla="val 25000"/>
            </a:avLst>
          </a:prstGeom>
          <a:solidFill>
            <a:srgbClr val="C0606E">
              <a:alpha val="70000"/>
            </a:srgbClr>
          </a:solidFill>
          <a:ln w="9525">
            <a:solidFill>
              <a:srgbClr val="C0606E"/>
            </a:solidFill>
            <a:prstDash val="solid"/>
          </a:ln>
        </p:spPr>
      </p:sp>
      <p:sp>
        <p:nvSpPr>
          <p:cNvPr id="13" name="a2fade_wkt1"/>
          <p:cNvSpPr txBox="1"/>
          <p:nvPr/>
        </p:nvSpPr>
        <p:spPr>
          <a:xfrm>
            <a:off x="4709160" y="6108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D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 rule</a:t>
            </a:r>
            <a:endParaRPr lang="en-US" sz="1200" dirty="0"/>
          </a:p>
        </p:txBody>
      </p:sp>
      <p:sp>
        <p:nvSpPr>
          <p:cNvPr id="14" name="a2fade_wk2"/>
          <p:cNvSpPr/>
          <p:nvPr/>
        </p:nvSpPr>
        <p:spPr>
          <a:xfrm>
            <a:off x="6537960" y="6172200"/>
            <a:ext cx="237744" cy="146304"/>
          </a:xfrm>
          <a:prstGeom prst="roundRect">
            <a:avLst>
              <a:gd name="adj" fmla="val 25000"/>
            </a:avLst>
          </a:prstGeom>
          <a:solidFill>
            <a:srgbClr val="B08A3E">
              <a:alpha val="70000"/>
            </a:srgbClr>
          </a:solidFill>
          <a:ln w="9525">
            <a:solidFill>
              <a:srgbClr val="B08A3E"/>
            </a:solidFill>
            <a:prstDash val="solid"/>
          </a:ln>
        </p:spPr>
      </p:sp>
      <p:sp>
        <p:nvSpPr>
          <p:cNvPr id="15" name="a2fade_wkt2"/>
          <p:cNvSpPr txBox="1"/>
          <p:nvPr/>
        </p:nvSpPr>
        <p:spPr>
          <a:xfrm>
            <a:off x="6858000" y="6108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D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to the user</a:t>
            </a:r>
            <a:endParaRPr lang="en-US" sz="1200" dirty="0"/>
          </a:p>
        </p:txBody>
      </p:sp>
      <p:sp>
        <p:nvSpPr>
          <p:cNvPr id="16" name="a2fade_wk3"/>
          <p:cNvSpPr/>
          <p:nvPr/>
        </p:nvSpPr>
        <p:spPr>
          <a:xfrm>
            <a:off x="8686800" y="6172200"/>
            <a:ext cx="237744" cy="146304"/>
          </a:xfrm>
          <a:prstGeom prst="roundRect">
            <a:avLst>
              <a:gd name="adj" fmla="val 25000"/>
            </a:avLst>
          </a:prstGeom>
          <a:solidFill>
            <a:srgbClr val="9AAFC6">
              <a:alpha val="70000"/>
            </a:srgbClr>
          </a:solidFill>
          <a:ln w="9525">
            <a:solidFill>
              <a:srgbClr val="9AAFC6"/>
            </a:solidFill>
            <a:prstDash val="solid"/>
          </a:ln>
        </p:spPr>
      </p:sp>
      <p:sp>
        <p:nvSpPr>
          <p:cNvPr id="17" name="a2fade_wkt3"/>
          <p:cNvSpPr txBox="1"/>
          <p:nvPr/>
        </p:nvSpPr>
        <p:spPr>
          <a:xfrm>
            <a:off x="9006840" y="6108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D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 and checks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2194560" y="-2377440"/>
            <a:ext cx="5486400" cy="54864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8229600" y="329184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DELIVERY · HOW A USER RECEIVES IT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alert, one message, one targeted visit</a:t>
            </a:r>
            <a:endParaRPr lang="en-US" sz="3400" dirty="0"/>
          </a:p>
        </p:txBody>
      </p:sp>
      <p:sp>
        <p:nvSpPr>
          <p:cNvPr id="7" name="a1zoom_sqc"/>
          <p:cNvSpPr/>
          <p:nvPr/>
        </p:nvSpPr>
        <p:spPr>
          <a:xfrm>
            <a:off x="548640" y="1691640"/>
            <a:ext cx="7543800" cy="4480560"/>
          </a:xfrm>
          <a:prstGeom prst="roundRect">
            <a:avLst>
              <a:gd name="adj" fmla="val 2857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pic>
        <p:nvPicPr>
          <p:cNvPr id="8" name="a1zoom_sq" descr="C:\Users\nahla\Desktop\UAE-Space-Hackatoon\deck_pptx\build\assets\diagram_sequ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083513"/>
            <a:ext cx="7269480" cy="3696813"/>
          </a:xfrm>
          <a:prstGeom prst="rect">
            <a:avLst/>
          </a:prstGeom>
        </p:spPr>
      </p:pic>
      <p:sp>
        <p:nvSpPr>
          <p:cNvPr id="9" name="a2float_e0"/>
          <p:cNvSpPr/>
          <p:nvPr/>
        </p:nvSpPr>
        <p:spPr>
          <a:xfrm>
            <a:off x="8321040" y="1691640"/>
            <a:ext cx="3319272" cy="1389888"/>
          </a:xfrm>
          <a:prstGeom prst="roundRect">
            <a:avLst>
              <a:gd name="adj" fmla="val 9211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0" name="a2float_e0ic_c"/>
          <p:cNvSpPr/>
          <p:nvPr/>
        </p:nvSpPr>
        <p:spPr>
          <a:xfrm>
            <a:off x="8485632" y="1837944"/>
            <a:ext cx="438912" cy="438912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11" name="a2float_e0ic_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0971" y="1943283"/>
            <a:ext cx="228234" cy="228234"/>
          </a:xfrm>
          <a:prstGeom prst="rect">
            <a:avLst/>
          </a:prstGeom>
        </p:spPr>
      </p:pic>
      <p:sp>
        <p:nvSpPr>
          <p:cNvPr id="12" name="a2float_e0t"/>
          <p:cNvSpPr txBox="1"/>
          <p:nvPr/>
        </p:nvSpPr>
        <p:spPr>
          <a:xfrm>
            <a:off x="9034272" y="18745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~5 days</a:t>
            </a:r>
            <a:endParaRPr lang="en-US" sz="1400" dirty="0"/>
          </a:p>
        </p:txBody>
      </p:sp>
      <p:sp>
        <p:nvSpPr>
          <p:cNvPr id="13" name="a2float_e0d"/>
          <p:cNvSpPr txBox="1"/>
          <p:nvPr/>
        </p:nvSpPr>
        <p:spPr>
          <a:xfrm>
            <a:off x="8485632" y="235000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3A4D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Sentinel-2 scene is read in place and run through the tide-aware model, per stand and per 200 m cell</a:t>
            </a:r>
            <a:endParaRPr lang="en-US" sz="1100" dirty="0"/>
          </a:p>
        </p:txBody>
      </p:sp>
      <p:sp>
        <p:nvSpPr>
          <p:cNvPr id="14" name="a3float_e1"/>
          <p:cNvSpPr/>
          <p:nvPr/>
        </p:nvSpPr>
        <p:spPr>
          <a:xfrm>
            <a:off x="8321040" y="3209544"/>
            <a:ext cx="3319272" cy="1389888"/>
          </a:xfrm>
          <a:prstGeom prst="roundRect">
            <a:avLst>
              <a:gd name="adj" fmla="val 9211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5" name="a3float_e1ic_c"/>
          <p:cNvSpPr/>
          <p:nvPr/>
        </p:nvSpPr>
        <p:spPr>
          <a:xfrm>
            <a:off x="8485632" y="3355848"/>
            <a:ext cx="438912" cy="438912"/>
          </a:xfrm>
          <a:prstGeom prst="ellipse">
            <a:avLst/>
          </a:prstGeom>
          <a:solidFill>
            <a:srgbClr val="BE5F6D">
              <a:alpha val="18000"/>
            </a:srgbClr>
          </a:solidFill>
          <a:ln w="12700">
            <a:solidFill>
              <a:srgbClr val="BE5F6D"/>
            </a:solidFill>
            <a:prstDash val="solid"/>
          </a:ln>
        </p:spPr>
      </p:sp>
      <p:pic>
        <p:nvPicPr>
          <p:cNvPr id="16" name="a3float_e1ic_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0971" y="3461187"/>
            <a:ext cx="228234" cy="228234"/>
          </a:xfrm>
          <a:prstGeom prst="rect">
            <a:avLst/>
          </a:prstGeom>
        </p:spPr>
      </p:pic>
      <p:sp>
        <p:nvSpPr>
          <p:cNvPr id="17" name="a3float_e1t"/>
          <p:cNvSpPr txBox="1"/>
          <p:nvPr/>
        </p:nvSpPr>
        <p:spPr>
          <a:xfrm>
            <a:off x="9034272" y="339242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E5F6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an alert fires</a:t>
            </a:r>
            <a:endParaRPr lang="en-US" sz="1400" dirty="0"/>
          </a:p>
        </p:txBody>
      </p:sp>
      <p:sp>
        <p:nvSpPr>
          <p:cNvPr id="18" name="a3float_e1d"/>
          <p:cNvSpPr txBox="1"/>
          <p:nvPr/>
        </p:nvSpPr>
        <p:spPr>
          <a:xfrm>
            <a:off x="8485632" y="386791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3A4D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check the flagged cells on sub-metre imagery, then send the alert by email or JSON API with the cell map and the carbon at stake</a:t>
            </a:r>
            <a:endParaRPr lang="en-US" sz="1100" dirty="0"/>
          </a:p>
        </p:txBody>
      </p:sp>
      <p:sp>
        <p:nvSpPr>
          <p:cNvPr id="19" name="a4float_e2"/>
          <p:cNvSpPr/>
          <p:nvPr/>
        </p:nvSpPr>
        <p:spPr>
          <a:xfrm>
            <a:off x="8321040" y="4727448"/>
            <a:ext cx="3319272" cy="1389888"/>
          </a:xfrm>
          <a:prstGeom prst="roundRect">
            <a:avLst>
              <a:gd name="adj" fmla="val 9211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0" name="a4float_e2ic_c"/>
          <p:cNvSpPr/>
          <p:nvPr/>
        </p:nvSpPr>
        <p:spPr>
          <a:xfrm>
            <a:off x="8485632" y="4873752"/>
            <a:ext cx="438912" cy="438912"/>
          </a:xfrm>
          <a:prstGeom prst="ellipse">
            <a:avLst/>
          </a:prstGeom>
          <a:solidFill>
            <a:srgbClr val="A9813A">
              <a:alpha val="18000"/>
            </a:srgbClr>
          </a:solidFill>
          <a:ln w="12700">
            <a:solidFill>
              <a:srgbClr val="A9813A"/>
            </a:solidFill>
            <a:prstDash val="solid"/>
          </a:ln>
        </p:spPr>
      </p:sp>
      <p:pic>
        <p:nvPicPr>
          <p:cNvPr id="21" name="a4float_e2ic_i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0971" y="4979091"/>
            <a:ext cx="228234" cy="228234"/>
          </a:xfrm>
          <a:prstGeom prst="rect">
            <a:avLst/>
          </a:prstGeom>
        </p:spPr>
      </p:pic>
      <p:sp>
        <p:nvSpPr>
          <p:cNvPr id="22" name="a4float_e2t"/>
          <p:cNvSpPr txBox="1"/>
          <p:nvPr/>
        </p:nvSpPr>
        <p:spPr>
          <a:xfrm>
            <a:off x="9034272" y="491032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A98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nothing changes</a:t>
            </a:r>
            <a:endParaRPr lang="en-US" sz="1400" dirty="0"/>
          </a:p>
        </p:txBody>
      </p:sp>
      <p:sp>
        <p:nvSpPr>
          <p:cNvPr id="23" name="a4float_e2d"/>
          <p:cNvSpPr txBox="1"/>
          <p:nvPr/>
        </p:nvSpPr>
        <p:spPr>
          <a:xfrm>
            <a:off x="8485632" y="538581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3A4D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user still gets a monthly site report: condition, trend and carbon stock for every stand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8412480" y="-2286000"/>
            <a:ext cx="5486400" cy="54864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-1371600" y="3474720"/>
            <a:ext cx="5029200" cy="50292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TECHNICAL INNOVATION 1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tide looks like tree loss — until you correct for it</a:t>
            </a:r>
            <a:endParaRPr lang="en-US" sz="3400" dirty="0"/>
          </a:p>
        </p:txBody>
      </p:sp>
      <p:sp>
        <p:nvSpPr>
          <p:cNvPr id="7" name="a1float_ill"/>
          <p:cNvSpPr/>
          <p:nvPr/>
        </p:nvSpPr>
        <p:spPr>
          <a:xfrm>
            <a:off x="548640" y="1691640"/>
            <a:ext cx="5486400" cy="3246120"/>
          </a:xfrm>
          <a:prstGeom prst="roundRect">
            <a:avLst>
              <a:gd name="adj" fmla="val 3944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8" name="a1float_illl"/>
          <p:cNvSpPr txBox="1"/>
          <p:nvPr/>
        </p:nvSpPr>
        <p:spPr>
          <a:xfrm>
            <a:off x="777240" y="18470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NAIVE MONITORS FAIL ON TIDAL FLATS</a:t>
            </a:r>
            <a:endParaRPr lang="en-US" sz="1100" dirty="0"/>
          </a:p>
        </p:txBody>
      </p:sp>
      <p:sp>
        <p:nvSpPr>
          <p:cNvPr id="9" name="a2fade_pn0"/>
          <p:cNvSpPr/>
          <p:nvPr/>
        </p:nvSpPr>
        <p:spPr>
          <a:xfrm>
            <a:off x="777240" y="2194560"/>
            <a:ext cx="2423160" cy="2148840"/>
          </a:xfrm>
          <a:prstGeom prst="roundRect">
            <a:avLst>
              <a:gd name="adj" fmla="val 4255"/>
            </a:avLst>
          </a:prstGeom>
          <a:solidFill>
            <a:srgbClr val="F3F7FB"/>
          </a:solidFill>
          <a:ln w="9525">
            <a:solidFill>
              <a:srgbClr val="D3E0EE"/>
            </a:solidFill>
            <a:prstDash val="solid"/>
          </a:ln>
        </p:spPr>
      </p:sp>
      <p:sp>
        <p:nvSpPr>
          <p:cNvPr id="10" name="a2fade_pt0"/>
          <p:cNvSpPr txBox="1"/>
          <p:nvPr/>
        </p:nvSpPr>
        <p:spPr>
          <a:xfrm>
            <a:off x="914400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Low tide</a:t>
            </a:r>
            <a:endParaRPr lang="en-US" sz="1400" dirty="0"/>
          </a:p>
        </p:txBody>
      </p:sp>
      <p:sp>
        <p:nvSpPr>
          <p:cNvPr id="11" name="a2fade_tr0_0"/>
          <p:cNvSpPr/>
          <p:nvPr/>
        </p:nvSpPr>
        <p:spPr>
          <a:xfrm>
            <a:off x="1051560" y="3246120"/>
            <a:ext cx="36576" cy="1005840"/>
          </a:xfrm>
          <a:prstGeom prst="rect">
            <a:avLst/>
          </a:prstGeom>
          <a:solidFill>
            <a:srgbClr val="6B5B4B"/>
          </a:solidFill>
          <a:ln/>
        </p:spPr>
      </p:sp>
      <p:sp>
        <p:nvSpPr>
          <p:cNvPr id="12" name="a2fade_tc0_0"/>
          <p:cNvSpPr/>
          <p:nvPr/>
        </p:nvSpPr>
        <p:spPr>
          <a:xfrm>
            <a:off x="896112" y="2926080"/>
            <a:ext cx="347472" cy="347472"/>
          </a:xfrm>
          <a:prstGeom prst="ellipse">
            <a:avLst/>
          </a:prstGeom>
          <a:solidFill>
            <a:srgbClr val="5E977A"/>
          </a:solidFill>
          <a:ln/>
        </p:spPr>
      </p:sp>
      <p:sp>
        <p:nvSpPr>
          <p:cNvPr id="13" name="a2fade_tr0_1"/>
          <p:cNvSpPr/>
          <p:nvPr/>
        </p:nvSpPr>
        <p:spPr>
          <a:xfrm>
            <a:off x="1481328" y="3246120"/>
            <a:ext cx="36576" cy="1005840"/>
          </a:xfrm>
          <a:prstGeom prst="rect">
            <a:avLst/>
          </a:prstGeom>
          <a:solidFill>
            <a:srgbClr val="6B5B4B"/>
          </a:solidFill>
          <a:ln/>
        </p:spPr>
      </p:sp>
      <p:sp>
        <p:nvSpPr>
          <p:cNvPr id="14" name="a2fade_tc0_1"/>
          <p:cNvSpPr/>
          <p:nvPr/>
        </p:nvSpPr>
        <p:spPr>
          <a:xfrm>
            <a:off x="1325880" y="2926080"/>
            <a:ext cx="347472" cy="347472"/>
          </a:xfrm>
          <a:prstGeom prst="ellipse">
            <a:avLst/>
          </a:prstGeom>
          <a:solidFill>
            <a:srgbClr val="5E977A"/>
          </a:solidFill>
          <a:ln/>
        </p:spPr>
      </p:sp>
      <p:sp>
        <p:nvSpPr>
          <p:cNvPr id="15" name="a2fade_tr0_2"/>
          <p:cNvSpPr/>
          <p:nvPr/>
        </p:nvSpPr>
        <p:spPr>
          <a:xfrm>
            <a:off x="1911096" y="3246120"/>
            <a:ext cx="36576" cy="1005840"/>
          </a:xfrm>
          <a:prstGeom prst="rect">
            <a:avLst/>
          </a:prstGeom>
          <a:solidFill>
            <a:srgbClr val="6B5B4B"/>
          </a:solidFill>
          <a:ln/>
        </p:spPr>
      </p:sp>
      <p:sp>
        <p:nvSpPr>
          <p:cNvPr id="16" name="a2fade_tc0_2"/>
          <p:cNvSpPr/>
          <p:nvPr/>
        </p:nvSpPr>
        <p:spPr>
          <a:xfrm>
            <a:off x="1755648" y="2926080"/>
            <a:ext cx="347472" cy="347472"/>
          </a:xfrm>
          <a:prstGeom prst="ellipse">
            <a:avLst/>
          </a:prstGeom>
          <a:solidFill>
            <a:srgbClr val="5E977A"/>
          </a:solidFill>
          <a:ln/>
        </p:spPr>
      </p:sp>
      <p:sp>
        <p:nvSpPr>
          <p:cNvPr id="17" name="a2fade_tr0_3"/>
          <p:cNvSpPr/>
          <p:nvPr/>
        </p:nvSpPr>
        <p:spPr>
          <a:xfrm>
            <a:off x="2340864" y="3246120"/>
            <a:ext cx="36576" cy="1005840"/>
          </a:xfrm>
          <a:prstGeom prst="rect">
            <a:avLst/>
          </a:prstGeom>
          <a:solidFill>
            <a:srgbClr val="6B5B4B"/>
          </a:solidFill>
          <a:ln/>
        </p:spPr>
      </p:sp>
      <p:sp>
        <p:nvSpPr>
          <p:cNvPr id="18" name="a2fade_tc0_3"/>
          <p:cNvSpPr/>
          <p:nvPr/>
        </p:nvSpPr>
        <p:spPr>
          <a:xfrm>
            <a:off x="2185416" y="2926080"/>
            <a:ext cx="347472" cy="347472"/>
          </a:xfrm>
          <a:prstGeom prst="ellipse">
            <a:avLst/>
          </a:prstGeom>
          <a:solidFill>
            <a:srgbClr val="5E977A"/>
          </a:solidFill>
          <a:ln/>
        </p:spPr>
      </p:sp>
      <p:sp>
        <p:nvSpPr>
          <p:cNvPr id="19" name="a2fade_tr0_4"/>
          <p:cNvSpPr/>
          <p:nvPr/>
        </p:nvSpPr>
        <p:spPr>
          <a:xfrm>
            <a:off x="2770632" y="3246120"/>
            <a:ext cx="36576" cy="1005840"/>
          </a:xfrm>
          <a:prstGeom prst="rect">
            <a:avLst/>
          </a:prstGeom>
          <a:solidFill>
            <a:srgbClr val="6B5B4B"/>
          </a:solidFill>
          <a:ln/>
        </p:spPr>
      </p:sp>
      <p:sp>
        <p:nvSpPr>
          <p:cNvPr id="20" name="a2fade_tc0_4"/>
          <p:cNvSpPr/>
          <p:nvPr/>
        </p:nvSpPr>
        <p:spPr>
          <a:xfrm>
            <a:off x="2615184" y="2926080"/>
            <a:ext cx="347472" cy="347472"/>
          </a:xfrm>
          <a:prstGeom prst="ellipse">
            <a:avLst/>
          </a:prstGeom>
          <a:solidFill>
            <a:srgbClr val="5E977A"/>
          </a:solidFill>
          <a:ln/>
        </p:spPr>
      </p:sp>
      <p:sp>
        <p:nvSpPr>
          <p:cNvPr id="21" name="a3rise_w0"/>
          <p:cNvSpPr/>
          <p:nvPr/>
        </p:nvSpPr>
        <p:spPr>
          <a:xfrm>
            <a:off x="795528" y="4069080"/>
            <a:ext cx="2386584" cy="256032"/>
          </a:xfrm>
          <a:prstGeom prst="rect">
            <a:avLst/>
          </a:prstGeom>
          <a:solidFill>
            <a:srgbClr val="5C8DB8">
              <a:alpha val="55000"/>
            </a:srgbClr>
          </a:solidFill>
          <a:ln/>
        </p:spPr>
      </p:sp>
      <p:sp>
        <p:nvSpPr>
          <p:cNvPr id="22" name="a4fade_nv0"/>
          <p:cNvSpPr txBox="1"/>
          <p:nvPr/>
        </p:nvSpPr>
        <p:spPr>
          <a:xfrm>
            <a:off x="777240" y="44074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NDVI </a:t>
            </a:r>
            <a:r>
              <a:rPr lang="en-US" sz="1500" b="1" dirty="0">
                <a:solidFill>
                  <a:srgbClr val="2F5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0.30</a:t>
            </a:r>
            <a:endParaRPr lang="en-US" sz="1500" dirty="0"/>
          </a:p>
        </p:txBody>
      </p:sp>
      <p:sp>
        <p:nvSpPr>
          <p:cNvPr id="23" name="a2fade_pn1"/>
          <p:cNvSpPr/>
          <p:nvPr/>
        </p:nvSpPr>
        <p:spPr>
          <a:xfrm>
            <a:off x="3383280" y="2194560"/>
            <a:ext cx="2423160" cy="2148840"/>
          </a:xfrm>
          <a:prstGeom prst="roundRect">
            <a:avLst>
              <a:gd name="adj" fmla="val 4255"/>
            </a:avLst>
          </a:prstGeom>
          <a:solidFill>
            <a:srgbClr val="F3F7FB"/>
          </a:solidFill>
          <a:ln w="9525">
            <a:solidFill>
              <a:srgbClr val="D3E0EE"/>
            </a:solidFill>
            <a:prstDash val="solid"/>
          </a:ln>
        </p:spPr>
      </p:sp>
      <p:sp>
        <p:nvSpPr>
          <p:cNvPr id="24" name="a2fade_pt1"/>
          <p:cNvSpPr txBox="1"/>
          <p:nvPr/>
        </p:nvSpPr>
        <p:spPr>
          <a:xfrm>
            <a:off x="3520440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 tide</a:t>
            </a:r>
            <a:endParaRPr lang="en-US" sz="1400" dirty="0"/>
          </a:p>
        </p:txBody>
      </p:sp>
      <p:sp>
        <p:nvSpPr>
          <p:cNvPr id="25" name="a2fade_tr1_0"/>
          <p:cNvSpPr/>
          <p:nvPr/>
        </p:nvSpPr>
        <p:spPr>
          <a:xfrm>
            <a:off x="3657600" y="3246120"/>
            <a:ext cx="36576" cy="1005840"/>
          </a:xfrm>
          <a:prstGeom prst="rect">
            <a:avLst/>
          </a:prstGeom>
          <a:solidFill>
            <a:srgbClr val="6B5B4B"/>
          </a:solidFill>
          <a:ln/>
        </p:spPr>
      </p:sp>
      <p:sp>
        <p:nvSpPr>
          <p:cNvPr id="26" name="a2fade_tc1_0"/>
          <p:cNvSpPr/>
          <p:nvPr/>
        </p:nvSpPr>
        <p:spPr>
          <a:xfrm>
            <a:off x="3502152" y="2926080"/>
            <a:ext cx="347472" cy="347472"/>
          </a:xfrm>
          <a:prstGeom prst="ellipse">
            <a:avLst/>
          </a:prstGeom>
          <a:solidFill>
            <a:srgbClr val="5E977A"/>
          </a:solidFill>
          <a:ln/>
        </p:spPr>
      </p:sp>
      <p:sp>
        <p:nvSpPr>
          <p:cNvPr id="27" name="a2fade_tr1_1"/>
          <p:cNvSpPr/>
          <p:nvPr/>
        </p:nvSpPr>
        <p:spPr>
          <a:xfrm>
            <a:off x="4087368" y="3246120"/>
            <a:ext cx="36576" cy="1005840"/>
          </a:xfrm>
          <a:prstGeom prst="rect">
            <a:avLst/>
          </a:prstGeom>
          <a:solidFill>
            <a:srgbClr val="6B5B4B"/>
          </a:solidFill>
          <a:ln/>
        </p:spPr>
      </p:sp>
      <p:sp>
        <p:nvSpPr>
          <p:cNvPr id="28" name="a2fade_tc1_1"/>
          <p:cNvSpPr/>
          <p:nvPr/>
        </p:nvSpPr>
        <p:spPr>
          <a:xfrm>
            <a:off x="3931920" y="2926080"/>
            <a:ext cx="347472" cy="347472"/>
          </a:xfrm>
          <a:prstGeom prst="ellipse">
            <a:avLst/>
          </a:prstGeom>
          <a:solidFill>
            <a:srgbClr val="5E977A"/>
          </a:solidFill>
          <a:ln/>
        </p:spPr>
      </p:sp>
      <p:sp>
        <p:nvSpPr>
          <p:cNvPr id="29" name="a2fade_tr1_2"/>
          <p:cNvSpPr/>
          <p:nvPr/>
        </p:nvSpPr>
        <p:spPr>
          <a:xfrm>
            <a:off x="4517136" y="3246120"/>
            <a:ext cx="36576" cy="1005840"/>
          </a:xfrm>
          <a:prstGeom prst="rect">
            <a:avLst/>
          </a:prstGeom>
          <a:solidFill>
            <a:srgbClr val="6B5B4B"/>
          </a:solidFill>
          <a:ln/>
        </p:spPr>
      </p:sp>
      <p:sp>
        <p:nvSpPr>
          <p:cNvPr id="30" name="a2fade_tc1_2"/>
          <p:cNvSpPr/>
          <p:nvPr/>
        </p:nvSpPr>
        <p:spPr>
          <a:xfrm>
            <a:off x="4361688" y="2926080"/>
            <a:ext cx="347472" cy="347472"/>
          </a:xfrm>
          <a:prstGeom prst="ellipse">
            <a:avLst/>
          </a:prstGeom>
          <a:solidFill>
            <a:srgbClr val="5E977A"/>
          </a:solidFill>
          <a:ln/>
        </p:spPr>
      </p:sp>
      <p:sp>
        <p:nvSpPr>
          <p:cNvPr id="31" name="a2fade_tr1_3"/>
          <p:cNvSpPr/>
          <p:nvPr/>
        </p:nvSpPr>
        <p:spPr>
          <a:xfrm>
            <a:off x="4946904" y="3246120"/>
            <a:ext cx="36576" cy="1005840"/>
          </a:xfrm>
          <a:prstGeom prst="rect">
            <a:avLst/>
          </a:prstGeom>
          <a:solidFill>
            <a:srgbClr val="6B5B4B"/>
          </a:solidFill>
          <a:ln/>
        </p:spPr>
      </p:sp>
      <p:sp>
        <p:nvSpPr>
          <p:cNvPr id="32" name="a2fade_tc1_3"/>
          <p:cNvSpPr/>
          <p:nvPr/>
        </p:nvSpPr>
        <p:spPr>
          <a:xfrm>
            <a:off x="4791456" y="2926080"/>
            <a:ext cx="347472" cy="347472"/>
          </a:xfrm>
          <a:prstGeom prst="ellipse">
            <a:avLst/>
          </a:prstGeom>
          <a:solidFill>
            <a:srgbClr val="5E977A"/>
          </a:solidFill>
          <a:ln/>
        </p:spPr>
      </p:sp>
      <p:sp>
        <p:nvSpPr>
          <p:cNvPr id="33" name="a2fade_tr1_4"/>
          <p:cNvSpPr/>
          <p:nvPr/>
        </p:nvSpPr>
        <p:spPr>
          <a:xfrm>
            <a:off x="5376672" y="3246120"/>
            <a:ext cx="36576" cy="1005840"/>
          </a:xfrm>
          <a:prstGeom prst="rect">
            <a:avLst/>
          </a:prstGeom>
          <a:solidFill>
            <a:srgbClr val="6B5B4B"/>
          </a:solidFill>
          <a:ln/>
        </p:spPr>
      </p:sp>
      <p:sp>
        <p:nvSpPr>
          <p:cNvPr id="34" name="a2fade_tc1_4"/>
          <p:cNvSpPr/>
          <p:nvPr/>
        </p:nvSpPr>
        <p:spPr>
          <a:xfrm>
            <a:off x="5221224" y="2926080"/>
            <a:ext cx="347472" cy="347472"/>
          </a:xfrm>
          <a:prstGeom prst="ellipse">
            <a:avLst/>
          </a:prstGeom>
          <a:solidFill>
            <a:srgbClr val="5E977A"/>
          </a:solidFill>
          <a:ln/>
        </p:spPr>
      </p:sp>
      <p:sp>
        <p:nvSpPr>
          <p:cNvPr id="35" name="a3rise_w1"/>
          <p:cNvSpPr/>
          <p:nvPr/>
        </p:nvSpPr>
        <p:spPr>
          <a:xfrm>
            <a:off x="3401568" y="3337560"/>
            <a:ext cx="2386584" cy="987552"/>
          </a:xfrm>
          <a:prstGeom prst="rect">
            <a:avLst/>
          </a:prstGeom>
          <a:solidFill>
            <a:srgbClr val="5C8DB8">
              <a:alpha val="55000"/>
            </a:srgbClr>
          </a:solidFill>
          <a:ln/>
        </p:spPr>
      </p:sp>
      <p:sp>
        <p:nvSpPr>
          <p:cNvPr id="36" name="a4fade_nv1"/>
          <p:cNvSpPr txBox="1"/>
          <p:nvPr/>
        </p:nvSpPr>
        <p:spPr>
          <a:xfrm>
            <a:off x="3383280" y="44074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NDVI </a:t>
            </a:r>
            <a:r>
              <a:rPr lang="en-US" sz="1500" b="1" dirty="0">
                <a:solidFill>
                  <a:srgbClr val="BE5F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0.18</a:t>
            </a:r>
            <a:endParaRPr lang="en-US" sz="1500" dirty="0"/>
          </a:p>
        </p:txBody>
      </p:sp>
      <p:sp>
        <p:nvSpPr>
          <p:cNvPr id="37" name="a4fade_illc"/>
          <p:cNvSpPr txBox="1"/>
          <p:nvPr/>
        </p:nvSpPr>
        <p:spPr>
          <a:xfrm>
            <a:off x="777240" y="46451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trees, same season. Measured on our stands: noise vs wetness r ≈ −0.9.</a:t>
            </a:r>
            <a:endParaRPr lang="en-US" sz="1100" dirty="0"/>
          </a:p>
        </p:txBody>
      </p:sp>
      <p:sp>
        <p:nvSpPr>
          <p:cNvPr id="38" name="a1float_chc"/>
          <p:cNvSpPr/>
          <p:nvPr/>
        </p:nvSpPr>
        <p:spPr>
          <a:xfrm>
            <a:off x="6263640" y="1691640"/>
            <a:ext cx="5376672" cy="3246120"/>
          </a:xfrm>
          <a:prstGeom prst="roundRect">
            <a:avLst>
              <a:gd name="adj" fmla="val 3944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graphicFrame>
        <p:nvGraphicFramePr>
          <p:cNvPr id="39" name="a3wipe_chart"/>
          <p:cNvGraphicFramePr/>
          <p:nvPr/>
        </p:nvGraphicFramePr>
        <p:xfrm>
          <a:off x="6400800" y="182880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0" name="a5float_st"/>
          <p:cNvSpPr/>
          <p:nvPr/>
        </p:nvSpPr>
        <p:spPr>
          <a:xfrm>
            <a:off x="548640" y="5120640"/>
            <a:ext cx="5486400" cy="1051560"/>
          </a:xfrm>
          <a:prstGeom prst="roundRect">
            <a:avLst>
              <a:gd name="adj" fmla="val 12174"/>
            </a:avLst>
          </a:prstGeom>
          <a:solidFill>
            <a:srgbClr val="E8F0F9">
              <a:alpha val="95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41" name="a5float_stic_c"/>
          <p:cNvSpPr/>
          <p:nvPr/>
        </p:nvSpPr>
        <p:spPr>
          <a:xfrm>
            <a:off x="777240" y="5376672"/>
            <a:ext cx="548640" cy="548640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42" name="a5float_stic_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4" y="5508346"/>
            <a:ext cx="285293" cy="285293"/>
          </a:xfrm>
          <a:prstGeom prst="rect">
            <a:avLst/>
          </a:prstGeom>
        </p:spPr>
      </p:pic>
      <p:sp>
        <p:nvSpPr>
          <p:cNvPr id="43" name="a5float_stn"/>
          <p:cNvSpPr txBox="1"/>
          <p:nvPr/>
        </p:nvSpPr>
        <p:spPr>
          <a:xfrm>
            <a:off x="1463040" y="51206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A9813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−29 to −35 %</a:t>
            </a:r>
            <a:endParaRPr lang="en-US" sz="2800" dirty="0"/>
          </a:p>
        </p:txBody>
      </p:sp>
      <p:sp>
        <p:nvSpPr>
          <p:cNvPr id="44" name="a5float_stt"/>
          <p:cNvSpPr txBox="1"/>
          <p:nvPr/>
        </p:nvSpPr>
        <p:spPr>
          <a:xfrm>
            <a:off x="3749040" y="51206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noise on every index: we model trend, season and the tide before flagging anything</a:t>
            </a:r>
            <a:endParaRPr lang="en-US" sz="1200" dirty="0"/>
          </a:p>
        </p:txBody>
      </p:sp>
      <p:sp>
        <p:nvSpPr>
          <p:cNvPr id="45" name="a6float_tb"/>
          <p:cNvSpPr/>
          <p:nvPr/>
        </p:nvSpPr>
        <p:spPr>
          <a:xfrm>
            <a:off x="6263640" y="5120640"/>
            <a:ext cx="5376672" cy="1051560"/>
          </a:xfrm>
          <a:prstGeom prst="roundRect">
            <a:avLst>
              <a:gd name="adj" fmla="val 12174"/>
            </a:avLst>
          </a:prstGeom>
          <a:solidFill>
            <a:srgbClr val="E8F0F9">
              <a:alpha val="95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46" name="a6float_tbn"/>
          <p:cNvSpPr txBox="1"/>
          <p:nvPr/>
        </p:nvSpPr>
        <p:spPr>
          <a:xfrm>
            <a:off x="6446520" y="51206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A9813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1.61 → 0.96</a:t>
            </a:r>
            <a:endParaRPr lang="en-US" sz="2800" dirty="0"/>
          </a:p>
        </p:txBody>
      </p:sp>
      <p:sp>
        <p:nvSpPr>
          <p:cNvPr id="47" name="a6float_tbt"/>
          <p:cNvSpPr txBox="1"/>
          <p:nvPr/>
        </p:nvSpPr>
        <p:spPr>
          <a:xfrm>
            <a:off x="8778240" y="51206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alarms per stand-year: textbook NDVI-only vs our tide-aware monitor, same alert rule, same 25 stands (40 % fewer)</a:t>
            </a:r>
            <a:endParaRPr lang="en-US" sz="12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1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1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9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7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7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/>
      <p:bldP spid="40" grpId="0" animBg="1"/>
      <p:bldP spid="41" grpId="0" animBg="1"/>
      <p:bldP spid="42" grpId="0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5">
            <a:alphaModFix amt="38000"/>
          </a:blip>
          <a:stretch>
            <a:fillRect/>
          </a:stretch>
        </p:blipFill>
        <p:spPr>
          <a:xfrm>
            <a:off x="-1828800" y="-2560320"/>
            <a:ext cx="5486400" cy="54864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8229600" y="3108960"/>
            <a:ext cx="5943600" cy="59436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TECHNICAL INNOVATION 2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stand average hides partial loss. 200 m cells do not.</a:t>
            </a:r>
            <a:endParaRPr lang="en-US" sz="3400" dirty="0"/>
          </a:p>
        </p:txBody>
      </p:sp>
      <p:pic>
        <p:nvPicPr>
          <p:cNvPr id="6" name="video_cells">
            <a:hlinkClick r:id="" action="ppaction://media"/>
            <a:extLst>
              <a:ext uri="{FF2B5EF4-FFF2-40B4-BE49-F238E27FC236}">
                <a16:creationId xmlns:a16="http://schemas.microsoft.com/office/drawing/2014/main" id="{EBDCAF1E-8284-4E89-7FF8-C67581FFE7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48640" y="1691640"/>
            <a:ext cx="7038706" cy="3328416"/>
          </a:xfrm>
          <a:prstGeom prst="rect">
            <a:avLst/>
          </a:prstGeom>
        </p:spPr>
      </p:pic>
      <p:sp>
        <p:nvSpPr>
          <p:cNvPr id="8" name="a2fade_storyc"/>
          <p:cNvSpPr txBox="1"/>
          <p:nvPr/>
        </p:nvSpPr>
        <p:spPr>
          <a:xfrm>
            <a:off x="548640" y="50749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stand-5 data, 2022 → 2026: cells turn red while the stand average barely moves.</a:t>
            </a:r>
            <a:endParaRPr lang="en-US" sz="1100" dirty="0"/>
          </a:p>
        </p:txBody>
      </p:sp>
      <p:sp>
        <p:nvSpPr>
          <p:cNvPr id="9" name="a5fade_bl"/>
          <p:cNvSpPr txBox="1"/>
          <p:nvPr/>
        </p:nvSpPr>
        <p:spPr>
          <a:xfrm>
            <a:off x="548640" y="54681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Partial loss caught within 60 days (simulated)</a:t>
            </a:r>
            <a:endParaRPr lang="en-US" sz="1300" dirty="0"/>
          </a:p>
        </p:txBody>
      </p:sp>
      <p:sp>
        <p:nvSpPr>
          <p:cNvPr id="10" name="a6wipe_b0"/>
          <p:cNvSpPr/>
          <p:nvPr/>
        </p:nvSpPr>
        <p:spPr>
          <a:xfrm>
            <a:off x="3566160" y="5486400"/>
            <a:ext cx="1234440" cy="182880"/>
          </a:xfrm>
          <a:prstGeom prst="roundRect">
            <a:avLst>
              <a:gd name="adj" fmla="val 50000"/>
            </a:avLst>
          </a:prstGeom>
          <a:solidFill>
            <a:srgbClr val="3F6E9E"/>
          </a:solidFill>
          <a:ln/>
        </p:spPr>
      </p:sp>
      <p:sp>
        <p:nvSpPr>
          <p:cNvPr id="11" name="a6fade_bt0"/>
          <p:cNvSpPr txBox="1"/>
          <p:nvPr/>
        </p:nvSpPr>
        <p:spPr>
          <a:xfrm>
            <a:off x="3566160" y="57424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F5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73 %  </a:t>
            </a: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 + cells</a:t>
            </a:r>
            <a:endParaRPr lang="en-US" sz="1100" dirty="0"/>
          </a:p>
        </p:txBody>
      </p:sp>
      <p:sp>
        <p:nvSpPr>
          <p:cNvPr id="12" name="a7wipe_b1"/>
          <p:cNvSpPr/>
          <p:nvPr/>
        </p:nvSpPr>
        <p:spPr>
          <a:xfrm>
            <a:off x="4937760" y="5486400"/>
            <a:ext cx="422753" cy="182880"/>
          </a:xfrm>
          <a:prstGeom prst="roundRect">
            <a:avLst>
              <a:gd name="adj" fmla="val 50000"/>
            </a:avLst>
          </a:prstGeom>
          <a:solidFill>
            <a:srgbClr val="5C8DB8"/>
          </a:solidFill>
          <a:ln/>
        </p:spPr>
      </p:sp>
      <p:sp>
        <p:nvSpPr>
          <p:cNvPr id="13" name="a7fade_bt1"/>
          <p:cNvSpPr txBox="1"/>
          <p:nvPr/>
        </p:nvSpPr>
        <p:spPr>
          <a:xfrm>
            <a:off x="4937760" y="57424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25 %  </a:t>
            </a: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 alone</a:t>
            </a:r>
            <a:endParaRPr lang="en-US" sz="1100" dirty="0"/>
          </a:p>
        </p:txBody>
      </p:sp>
      <p:sp>
        <p:nvSpPr>
          <p:cNvPr id="14" name="a8wipe_b2"/>
          <p:cNvSpPr/>
          <p:nvPr/>
        </p:nvSpPr>
        <p:spPr>
          <a:xfrm>
            <a:off x="6309360" y="5486400"/>
            <a:ext cx="219832" cy="182880"/>
          </a:xfrm>
          <a:prstGeom prst="roundRect">
            <a:avLst>
              <a:gd name="adj" fmla="val 50000"/>
            </a:avLst>
          </a:prstGeom>
          <a:solidFill>
            <a:srgbClr val="B9C6D4"/>
          </a:solidFill>
          <a:ln/>
        </p:spPr>
      </p:sp>
      <p:sp>
        <p:nvSpPr>
          <p:cNvPr id="15" name="a8fade_bt2"/>
          <p:cNvSpPr txBox="1"/>
          <p:nvPr/>
        </p:nvSpPr>
        <p:spPr>
          <a:xfrm>
            <a:off x="6309360" y="57424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13 %  </a:t>
            </a: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chance</a:t>
            </a:r>
            <a:endParaRPr lang="en-US" sz="1100" dirty="0"/>
          </a:p>
        </p:txBody>
      </p:sp>
      <p:sp>
        <p:nvSpPr>
          <p:cNvPr id="16" name="a2float_c0"/>
          <p:cNvSpPr/>
          <p:nvPr/>
        </p:nvSpPr>
        <p:spPr>
          <a:xfrm>
            <a:off x="7818120" y="1691640"/>
            <a:ext cx="3822192" cy="1353312"/>
          </a:xfrm>
          <a:prstGeom prst="roundRect">
            <a:avLst>
              <a:gd name="adj" fmla="val 9459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7" name="a2float_c0n"/>
          <p:cNvSpPr txBox="1"/>
          <p:nvPr/>
        </p:nvSpPr>
        <p:spPr>
          <a:xfrm>
            <a:off x="8046720" y="1828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00" dirty="0">
                <a:solidFill>
                  <a:srgbClr val="BE5F6D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8 of 28</a:t>
            </a:r>
            <a:endParaRPr lang="en-US" sz="3400" dirty="0"/>
          </a:p>
        </p:txBody>
      </p:sp>
      <p:sp>
        <p:nvSpPr>
          <p:cNvPr id="18" name="a2float_c0t"/>
          <p:cNvSpPr txBox="1"/>
          <p:nvPr/>
        </p:nvSpPr>
        <p:spPr>
          <a:xfrm>
            <a:off x="8046720" y="24414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cells of stand 9 in severe decline while its average reads “stable”</a:t>
            </a:r>
            <a:endParaRPr lang="en-US" sz="1300" dirty="0"/>
          </a:p>
        </p:txBody>
      </p:sp>
      <p:sp>
        <p:nvSpPr>
          <p:cNvPr id="19" name="a3float_c1"/>
          <p:cNvSpPr/>
          <p:nvPr/>
        </p:nvSpPr>
        <p:spPr>
          <a:xfrm>
            <a:off x="7818120" y="3172968"/>
            <a:ext cx="3822192" cy="1353312"/>
          </a:xfrm>
          <a:prstGeom prst="roundRect">
            <a:avLst>
              <a:gd name="adj" fmla="val 9459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0" name="a3float_c1n"/>
          <p:cNvSpPr txBox="1"/>
          <p:nvPr/>
        </p:nvSpPr>
        <p:spPr>
          <a:xfrm>
            <a:off x="8046720" y="33101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00" dirty="0">
                <a:solidFill>
                  <a:srgbClr val="A9813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 of 5</a:t>
            </a:r>
            <a:endParaRPr lang="en-US" sz="3400" dirty="0"/>
          </a:p>
        </p:txBody>
      </p:sp>
      <p:sp>
        <p:nvSpPr>
          <p:cNvPr id="21" name="a3float_c1t"/>
          <p:cNvSpPr txBox="1"/>
          <p:nvPr/>
        </p:nvSpPr>
        <p:spPr>
          <a:xfrm>
            <a:off x="8046720" y="392277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conversions found only by the cells (stands 12, 18, 6)</a:t>
            </a:r>
            <a:endParaRPr lang="en-US" sz="1300" dirty="0"/>
          </a:p>
        </p:txBody>
      </p:sp>
      <p:sp>
        <p:nvSpPr>
          <p:cNvPr id="22" name="a4float_rule"/>
          <p:cNvSpPr/>
          <p:nvPr/>
        </p:nvSpPr>
        <p:spPr>
          <a:xfrm>
            <a:off x="7818120" y="4654296"/>
            <a:ext cx="3822192" cy="1517904"/>
          </a:xfrm>
          <a:prstGeom prst="roundRect">
            <a:avLst>
              <a:gd name="adj" fmla="val 8434"/>
            </a:avLst>
          </a:prstGeom>
          <a:solidFill>
            <a:srgbClr val="E8F0F9">
              <a:alpha val="95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3" name="a4float_rulel"/>
          <p:cNvSpPr txBox="1"/>
          <p:nvPr/>
        </p:nvSpPr>
        <p:spPr>
          <a:xfrm>
            <a:off x="8046720" y="47914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ALERT RULE</a:t>
            </a:r>
            <a:endParaRPr lang="en-US" sz="1100" dirty="0"/>
          </a:p>
        </p:txBody>
      </p:sp>
      <p:sp>
        <p:nvSpPr>
          <p:cNvPr id="24" name="a4float_r1_bg"/>
          <p:cNvSpPr/>
          <p:nvPr/>
        </p:nvSpPr>
        <p:spPr>
          <a:xfrm>
            <a:off x="8046720" y="51206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3F6E9E">
              <a:alpha val="15000"/>
            </a:srgbClr>
          </a:solidFill>
          <a:ln w="9525">
            <a:solidFill>
              <a:srgbClr val="3F6E9E"/>
            </a:solidFill>
            <a:prstDash val="solid"/>
          </a:ln>
        </p:spPr>
      </p:sp>
      <p:sp>
        <p:nvSpPr>
          <p:cNvPr id="25" name="a4float_r1"/>
          <p:cNvSpPr txBox="1"/>
          <p:nvPr/>
        </p:nvSpPr>
        <p:spPr>
          <a:xfrm>
            <a:off x="8046720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2F5D8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 ≤ −1.5σ</a:t>
            </a:r>
            <a:endParaRPr lang="en-US" sz="1300" dirty="0"/>
          </a:p>
        </p:txBody>
      </p:sp>
      <p:sp>
        <p:nvSpPr>
          <p:cNvPr id="26" name="a4float_or"/>
          <p:cNvSpPr txBox="1"/>
          <p:nvPr/>
        </p:nvSpPr>
        <p:spPr>
          <a:xfrm>
            <a:off x="9555480" y="51206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A98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</a:t>
            </a:r>
            <a:endParaRPr lang="en-US" sz="1300" dirty="0"/>
          </a:p>
        </p:txBody>
      </p:sp>
      <p:sp>
        <p:nvSpPr>
          <p:cNvPr id="27" name="a4float_r2_bg"/>
          <p:cNvSpPr/>
          <p:nvPr/>
        </p:nvSpPr>
        <p:spPr>
          <a:xfrm>
            <a:off x="10012680" y="512064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BE5F6D">
              <a:alpha val="15000"/>
            </a:srgbClr>
          </a:solidFill>
          <a:ln w="9525">
            <a:solidFill>
              <a:srgbClr val="BE5F6D"/>
            </a:solidFill>
            <a:prstDash val="solid"/>
          </a:ln>
        </p:spPr>
      </p:sp>
      <p:sp>
        <p:nvSpPr>
          <p:cNvPr id="28" name="a4float_r2"/>
          <p:cNvSpPr txBox="1"/>
          <p:nvPr/>
        </p:nvSpPr>
        <p:spPr>
          <a:xfrm>
            <a:off x="10012680" y="51206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A04B5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any cell ≤ −3.5σ</a:t>
            </a:r>
            <a:endParaRPr lang="en-US" sz="1300" dirty="0"/>
          </a:p>
        </p:txBody>
      </p:sp>
      <p:sp>
        <p:nvSpPr>
          <p:cNvPr id="29" name="a4float_rulet"/>
          <p:cNvSpPr txBox="1"/>
          <p:nvPr/>
        </p:nvSpPr>
        <p:spPr>
          <a:xfrm>
            <a:off x="8046720" y="5596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calibrated together: 0.96 false-alarm episodes per stand-year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decel="10000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98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 mute="1">
                <p:cTn id="99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2194560" y="-2194560"/>
            <a:ext cx="5943600" cy="59436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8046720" y="3291840"/>
            <a:ext cx="5943600" cy="59436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INNOVATION &amp; DIFFERENTIATION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we differ from what exists today</a:t>
            </a:r>
            <a:endParaRPr lang="en-US" sz="3400" dirty="0"/>
          </a:p>
        </p:txBody>
      </p:sp>
      <p:graphicFrame>
        <p:nvGraphicFramePr>
          <p:cNvPr id="14" name="a1float_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Field surveys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One-off satellite maps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Free loss alerts (Global Mangrove Watch)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Blue Carbon Guardian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4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How often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campaigns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yearly or less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every ~5 days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4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Corrects for the tide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9BB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usually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documented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✓  tide model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4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Says where inside a stand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9BB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9BB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✓  200 m cells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4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Published false-alarm rate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9BB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9BB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accuracy only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✓  ≈ 1 per stand-year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4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Carbon at stake per alert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9BB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9BB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9BB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✓  field-based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4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Gulf coverage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confirmed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✓  Abu Dhabi + Tarut Bay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a3float_dm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E8F0F9">
              <a:alpha val="95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9" name="a3float_dmt"/>
          <p:cNvSpPr txBox="1"/>
          <p:nvPr/>
        </p:nvSpPr>
        <p:spPr>
          <a:xfrm>
            <a:off x="777240" y="5257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F5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Complementary, not competing: </a:t>
            </a:r>
            <a:r>
              <a:rPr lang="en-US" sz="14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Mangrove Watch flags loss worldwide; we add the tide model, the 200 m cells, a measured false-alarm rate and the carbon at stake — built and tested for the Gulf.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Graphic spid="14" grpId="0">
        <p:bldAsOne/>
      </p:bldGraphic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2011680" y="-2377440"/>
            <a:ext cx="5486400" cy="54864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8412480" y="329184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VALIDATION 1 · REAL EVENTS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real conversions, confirmed on sub-metre imagery</a:t>
            </a:r>
            <a:endParaRPr lang="en-US" sz="3400" dirty="0"/>
          </a:p>
        </p:txBody>
      </p:sp>
      <p:sp>
        <p:nvSpPr>
          <p:cNvPr id="7" name="a1zoom_t0"/>
          <p:cNvSpPr/>
          <p:nvPr/>
        </p:nvSpPr>
        <p:spPr>
          <a:xfrm>
            <a:off x="548640" y="1691640"/>
            <a:ext cx="3291840" cy="2670048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pic>
        <p:nvPicPr>
          <p:cNvPr id="8" name="a1zoom_t0i" descr="C:\Users\nahla\Desktop\UAE-Space-Hackatoon\deck_source\images\stand5_before_after_2021_20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144334"/>
            <a:ext cx="3108960" cy="1380612"/>
          </a:xfrm>
          <a:prstGeom prst="rect">
            <a:avLst/>
          </a:prstGeom>
        </p:spPr>
      </p:pic>
      <p:sp>
        <p:nvSpPr>
          <p:cNvPr id="9" name="a1zoom_t0l"/>
          <p:cNvSpPr txBox="1"/>
          <p:nvPr/>
        </p:nvSpPr>
        <p:spPr>
          <a:xfrm>
            <a:off x="685800" y="3950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2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 5  </a:t>
            </a:r>
            <a:r>
              <a:rPr lang="en-US" sz="1200" dirty="0">
                <a:solidFill>
                  <a:srgbClr val="4A5F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reclamation with finger canals</a:t>
            </a:r>
            <a:endParaRPr lang="en-US" sz="1200" dirty="0"/>
          </a:p>
        </p:txBody>
      </p:sp>
      <p:sp>
        <p:nvSpPr>
          <p:cNvPr id="10" name="a2zoom_t1"/>
          <p:cNvSpPr/>
          <p:nvPr/>
        </p:nvSpPr>
        <p:spPr>
          <a:xfrm>
            <a:off x="3977640" y="1691640"/>
            <a:ext cx="3291840" cy="2670048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pic>
        <p:nvPicPr>
          <p:cNvPr id="11" name="a2zoom_t1i" descr="C:\Users\nahla\Desktop\UAE-Space-Hackatoon\deck_source\images\stand9_before_after_2020_20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1800199"/>
            <a:ext cx="3108960" cy="2068882"/>
          </a:xfrm>
          <a:prstGeom prst="rect">
            <a:avLst/>
          </a:prstGeom>
        </p:spPr>
      </p:pic>
      <p:sp>
        <p:nvSpPr>
          <p:cNvPr id="12" name="a2zoom_t1l"/>
          <p:cNvSpPr txBox="1"/>
          <p:nvPr/>
        </p:nvSpPr>
        <p:spPr>
          <a:xfrm>
            <a:off x="4114800" y="3950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2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 9  </a:t>
            </a:r>
            <a:r>
              <a:rPr lang="en-US" sz="1200" dirty="0">
                <a:solidFill>
                  <a:srgbClr val="4A5F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canal development, south-east</a:t>
            </a:r>
            <a:endParaRPr lang="en-US" sz="1200" dirty="0"/>
          </a:p>
        </p:txBody>
      </p:sp>
      <p:sp>
        <p:nvSpPr>
          <p:cNvPr id="13" name="a3zoom_t2"/>
          <p:cNvSpPr/>
          <p:nvPr/>
        </p:nvSpPr>
        <p:spPr>
          <a:xfrm>
            <a:off x="548640" y="4498848"/>
            <a:ext cx="3291840" cy="167335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pic>
        <p:nvPicPr>
          <p:cNvPr id="14" name="a3zoom_t2i" descr="C:\Users\nahla\Desktop\UAE-Space-Hackatoon\deck_source\images\stand12_key_yea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686235"/>
            <a:ext cx="3108960" cy="914530"/>
          </a:xfrm>
          <a:prstGeom prst="rect">
            <a:avLst/>
          </a:prstGeom>
        </p:spPr>
      </p:pic>
      <p:sp>
        <p:nvSpPr>
          <p:cNvPr id="15" name="a3zoom_t2l"/>
          <p:cNvSpPr txBox="1"/>
          <p:nvPr/>
        </p:nvSpPr>
        <p:spPr>
          <a:xfrm>
            <a:off x="685800" y="5760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2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 12  </a:t>
            </a:r>
            <a:r>
              <a:rPr lang="en-US" sz="1200" dirty="0">
                <a:solidFill>
                  <a:srgbClr val="4A5F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 only by the cells</a:t>
            </a:r>
            <a:endParaRPr lang="en-US" sz="1200" dirty="0"/>
          </a:p>
        </p:txBody>
      </p:sp>
      <p:sp>
        <p:nvSpPr>
          <p:cNvPr id="16" name="a4zoom_t3"/>
          <p:cNvSpPr/>
          <p:nvPr/>
        </p:nvSpPr>
        <p:spPr>
          <a:xfrm>
            <a:off x="3977640" y="4498848"/>
            <a:ext cx="3291840" cy="167335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pic>
        <p:nvPicPr>
          <p:cNvPr id="17" name="a4zoom_t3i" descr="C:\Users\nahla\Desktop\UAE-Space-Hackatoon\deck_source\images\stand18_key_yea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9080" y="4686235"/>
            <a:ext cx="3108960" cy="914530"/>
          </a:xfrm>
          <a:prstGeom prst="rect">
            <a:avLst/>
          </a:prstGeom>
        </p:spPr>
      </p:pic>
      <p:sp>
        <p:nvSpPr>
          <p:cNvPr id="18" name="a4zoom_t3l"/>
          <p:cNvSpPr txBox="1"/>
          <p:nvPr/>
        </p:nvSpPr>
        <p:spPr>
          <a:xfrm>
            <a:off x="4114800" y="5760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2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 18  </a:t>
            </a:r>
            <a:r>
              <a:rPr lang="en-US" sz="1200" dirty="0">
                <a:solidFill>
                  <a:srgbClr val="4A5F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 only by the cells, 2025</a:t>
            </a:r>
            <a:endParaRPr lang="en-US" sz="1200" dirty="0"/>
          </a:p>
        </p:txBody>
      </p:sp>
      <p:sp>
        <p:nvSpPr>
          <p:cNvPr id="19" name="a1float_gc"/>
          <p:cNvSpPr/>
          <p:nvPr/>
        </p:nvSpPr>
        <p:spPr>
          <a:xfrm>
            <a:off x="7543800" y="1691640"/>
            <a:ext cx="4096512" cy="3429000"/>
          </a:xfrm>
          <a:prstGeom prst="roundRect">
            <a:avLst>
              <a:gd name="adj" fmla="val 3733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0" name="a1float_gl"/>
          <p:cNvSpPr txBox="1"/>
          <p:nvPr/>
        </p:nvSpPr>
        <p:spPr>
          <a:xfrm>
            <a:off x="7726680" y="1810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DID THE ALERT START?</a:t>
            </a:r>
            <a:endParaRPr lang="en-US" sz="1100" dirty="0"/>
          </a:p>
        </p:txBody>
      </p:sp>
      <p:sp>
        <p:nvSpPr>
          <p:cNvPr id="21" name="a1float_gy2022"/>
          <p:cNvSpPr/>
          <p:nvPr/>
        </p:nvSpPr>
        <p:spPr>
          <a:xfrm>
            <a:off x="8503920" y="2148840"/>
            <a:ext cx="0" cy="2423160"/>
          </a:xfrm>
          <a:prstGeom prst="line">
            <a:avLst/>
          </a:prstGeom>
          <a:noFill/>
          <a:ln w="9525">
            <a:solidFill>
              <a:srgbClr val="D3E0EE"/>
            </a:solidFill>
            <a:prstDash val="dash"/>
          </a:ln>
        </p:spPr>
      </p:sp>
      <p:sp>
        <p:nvSpPr>
          <p:cNvPr id="22" name="a1float_gyt2022"/>
          <p:cNvSpPr txBox="1"/>
          <p:nvPr/>
        </p:nvSpPr>
        <p:spPr>
          <a:xfrm>
            <a:off x="8229600" y="45994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</a:t>
            </a:r>
            <a:endParaRPr lang="en-US" sz="1000" dirty="0"/>
          </a:p>
        </p:txBody>
      </p:sp>
      <p:sp>
        <p:nvSpPr>
          <p:cNvPr id="23" name="a1float_gy2023"/>
          <p:cNvSpPr/>
          <p:nvPr/>
        </p:nvSpPr>
        <p:spPr>
          <a:xfrm>
            <a:off x="9418513" y="2148840"/>
            <a:ext cx="0" cy="2423160"/>
          </a:xfrm>
          <a:prstGeom prst="line">
            <a:avLst/>
          </a:prstGeom>
          <a:noFill/>
          <a:ln w="9525">
            <a:solidFill>
              <a:srgbClr val="D3E0EE"/>
            </a:solidFill>
            <a:prstDash val="dash"/>
          </a:ln>
        </p:spPr>
      </p:sp>
      <p:sp>
        <p:nvSpPr>
          <p:cNvPr id="24" name="a1float_gyt2023"/>
          <p:cNvSpPr txBox="1"/>
          <p:nvPr/>
        </p:nvSpPr>
        <p:spPr>
          <a:xfrm>
            <a:off x="9144193" y="45994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</a:t>
            </a:r>
            <a:endParaRPr lang="en-US" sz="1000" dirty="0"/>
          </a:p>
        </p:txBody>
      </p:sp>
      <p:sp>
        <p:nvSpPr>
          <p:cNvPr id="25" name="a1float_gy2024"/>
          <p:cNvSpPr/>
          <p:nvPr/>
        </p:nvSpPr>
        <p:spPr>
          <a:xfrm>
            <a:off x="10333105" y="2148840"/>
            <a:ext cx="0" cy="2423160"/>
          </a:xfrm>
          <a:prstGeom prst="line">
            <a:avLst/>
          </a:prstGeom>
          <a:noFill/>
          <a:ln w="9525">
            <a:solidFill>
              <a:srgbClr val="D3E0EE"/>
            </a:solidFill>
            <a:prstDash val="dash"/>
          </a:ln>
        </p:spPr>
      </p:sp>
      <p:sp>
        <p:nvSpPr>
          <p:cNvPr id="26" name="a1float_gyt2024"/>
          <p:cNvSpPr txBox="1"/>
          <p:nvPr/>
        </p:nvSpPr>
        <p:spPr>
          <a:xfrm>
            <a:off x="10058785" y="45994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</a:t>
            </a:r>
            <a:endParaRPr lang="en-US" sz="1000" dirty="0"/>
          </a:p>
        </p:txBody>
      </p:sp>
      <p:sp>
        <p:nvSpPr>
          <p:cNvPr id="27" name="a1float_gy2025"/>
          <p:cNvSpPr/>
          <p:nvPr/>
        </p:nvSpPr>
        <p:spPr>
          <a:xfrm>
            <a:off x="11250204" y="2148840"/>
            <a:ext cx="0" cy="2423160"/>
          </a:xfrm>
          <a:prstGeom prst="line">
            <a:avLst/>
          </a:prstGeom>
          <a:noFill/>
          <a:ln w="9525">
            <a:solidFill>
              <a:srgbClr val="D3E0EE"/>
            </a:solidFill>
            <a:prstDash val="dash"/>
          </a:ln>
        </p:spPr>
      </p:sp>
      <p:sp>
        <p:nvSpPr>
          <p:cNvPr id="28" name="a1float_gyt2025"/>
          <p:cNvSpPr txBox="1"/>
          <p:nvPr/>
        </p:nvSpPr>
        <p:spPr>
          <a:xfrm>
            <a:off x="10975884" y="45994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1000" dirty="0"/>
          </a:p>
        </p:txBody>
      </p:sp>
      <p:sp>
        <p:nvSpPr>
          <p:cNvPr id="29" name="a2fade_gn0"/>
          <p:cNvSpPr txBox="1"/>
          <p:nvPr/>
        </p:nvSpPr>
        <p:spPr>
          <a:xfrm>
            <a:off x="7726680" y="2240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 5</a:t>
            </a:r>
            <a:endParaRPr lang="en-US" sz="1100" dirty="0"/>
          </a:p>
        </p:txBody>
      </p:sp>
      <p:sp>
        <p:nvSpPr>
          <p:cNvPr id="30" name="a2fade_gw0"/>
          <p:cNvSpPr/>
          <p:nvPr/>
        </p:nvSpPr>
        <p:spPr>
          <a:xfrm>
            <a:off x="8719413" y="2286000"/>
            <a:ext cx="829398" cy="182880"/>
          </a:xfrm>
          <a:prstGeom prst="roundRect">
            <a:avLst>
              <a:gd name="adj" fmla="val 30000"/>
            </a:avLst>
          </a:prstGeom>
          <a:solidFill>
            <a:srgbClr val="5C8DB8">
              <a:alpha val="45000"/>
            </a:srgbClr>
          </a:solidFill>
          <a:ln w="9525">
            <a:solidFill>
              <a:srgbClr val="5C8DB8"/>
            </a:solidFill>
            <a:prstDash val="solid"/>
          </a:ln>
        </p:spPr>
      </p:sp>
      <p:sp>
        <p:nvSpPr>
          <p:cNvPr id="31" name="a3pop_gd0"/>
          <p:cNvSpPr/>
          <p:nvPr/>
        </p:nvSpPr>
        <p:spPr>
          <a:xfrm>
            <a:off x="9129251" y="2258568"/>
            <a:ext cx="237744" cy="237744"/>
          </a:xfrm>
          <a:prstGeom prst="diamond">
            <a:avLst/>
          </a:prstGeom>
          <a:solidFill>
            <a:srgbClr val="BE5F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a2fade_gn1"/>
          <p:cNvSpPr txBox="1"/>
          <p:nvPr/>
        </p:nvSpPr>
        <p:spPr>
          <a:xfrm>
            <a:off x="7726680" y="2697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 9</a:t>
            </a:r>
            <a:endParaRPr lang="en-US" sz="1100" dirty="0"/>
          </a:p>
        </p:txBody>
      </p:sp>
      <p:sp>
        <p:nvSpPr>
          <p:cNvPr id="33" name="a2fade_gw1"/>
          <p:cNvSpPr/>
          <p:nvPr/>
        </p:nvSpPr>
        <p:spPr>
          <a:xfrm>
            <a:off x="8719413" y="2743200"/>
            <a:ext cx="829398" cy="182880"/>
          </a:xfrm>
          <a:prstGeom prst="roundRect">
            <a:avLst>
              <a:gd name="adj" fmla="val 30000"/>
            </a:avLst>
          </a:prstGeom>
          <a:solidFill>
            <a:srgbClr val="5C8DB8">
              <a:alpha val="45000"/>
            </a:srgbClr>
          </a:solidFill>
          <a:ln w="9525">
            <a:solidFill>
              <a:srgbClr val="5C8DB8"/>
            </a:solidFill>
            <a:prstDash val="solid"/>
          </a:ln>
        </p:spPr>
      </p:sp>
      <p:sp>
        <p:nvSpPr>
          <p:cNvPr id="34" name="a4pop_gd1"/>
          <p:cNvSpPr/>
          <p:nvPr/>
        </p:nvSpPr>
        <p:spPr>
          <a:xfrm>
            <a:off x="9236997" y="2715768"/>
            <a:ext cx="237744" cy="237744"/>
          </a:xfrm>
          <a:prstGeom prst="diamond">
            <a:avLst/>
          </a:prstGeom>
          <a:solidFill>
            <a:srgbClr val="BE5F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a2fade_gn2"/>
          <p:cNvSpPr txBox="1"/>
          <p:nvPr/>
        </p:nvSpPr>
        <p:spPr>
          <a:xfrm>
            <a:off x="7726680" y="3154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 12</a:t>
            </a:r>
            <a:endParaRPr lang="en-US" sz="1100" dirty="0"/>
          </a:p>
        </p:txBody>
      </p:sp>
      <p:sp>
        <p:nvSpPr>
          <p:cNvPr id="36" name="a2fade_gw2"/>
          <p:cNvSpPr/>
          <p:nvPr/>
        </p:nvSpPr>
        <p:spPr>
          <a:xfrm>
            <a:off x="8719413" y="3200400"/>
            <a:ext cx="829398" cy="182880"/>
          </a:xfrm>
          <a:prstGeom prst="roundRect">
            <a:avLst>
              <a:gd name="adj" fmla="val 30000"/>
            </a:avLst>
          </a:prstGeom>
          <a:solidFill>
            <a:srgbClr val="5C8DB8">
              <a:alpha val="45000"/>
            </a:srgbClr>
          </a:solidFill>
          <a:ln w="9525">
            <a:solidFill>
              <a:srgbClr val="5C8DB8"/>
            </a:solidFill>
            <a:prstDash val="solid"/>
          </a:ln>
        </p:spPr>
      </p:sp>
      <p:sp>
        <p:nvSpPr>
          <p:cNvPr id="37" name="a5pop_gd2"/>
          <p:cNvSpPr/>
          <p:nvPr/>
        </p:nvSpPr>
        <p:spPr>
          <a:xfrm>
            <a:off x="9262055" y="3172968"/>
            <a:ext cx="237744" cy="237744"/>
          </a:xfrm>
          <a:prstGeom prst="diamond">
            <a:avLst/>
          </a:prstGeom>
          <a:solidFill>
            <a:srgbClr val="BE5F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a2fade_gn3"/>
          <p:cNvSpPr txBox="1"/>
          <p:nvPr/>
        </p:nvSpPr>
        <p:spPr>
          <a:xfrm>
            <a:off x="7726680" y="3611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 6</a:t>
            </a:r>
            <a:endParaRPr lang="en-US" sz="1100" dirty="0"/>
          </a:p>
        </p:txBody>
      </p:sp>
      <p:sp>
        <p:nvSpPr>
          <p:cNvPr id="39" name="a2fade_gw3"/>
          <p:cNvSpPr/>
          <p:nvPr/>
        </p:nvSpPr>
        <p:spPr>
          <a:xfrm>
            <a:off x="8719413" y="3657600"/>
            <a:ext cx="829398" cy="182880"/>
          </a:xfrm>
          <a:prstGeom prst="roundRect">
            <a:avLst>
              <a:gd name="adj" fmla="val 30000"/>
            </a:avLst>
          </a:prstGeom>
          <a:solidFill>
            <a:srgbClr val="5C8DB8">
              <a:alpha val="45000"/>
            </a:srgbClr>
          </a:solidFill>
          <a:ln w="9525">
            <a:solidFill>
              <a:srgbClr val="5C8DB8"/>
            </a:solidFill>
            <a:prstDash val="solid"/>
          </a:ln>
        </p:spPr>
      </p:sp>
      <p:sp>
        <p:nvSpPr>
          <p:cNvPr id="40" name="a6pop_gd3"/>
          <p:cNvSpPr/>
          <p:nvPr/>
        </p:nvSpPr>
        <p:spPr>
          <a:xfrm>
            <a:off x="9417410" y="3630168"/>
            <a:ext cx="237744" cy="237744"/>
          </a:xfrm>
          <a:prstGeom prst="diamond">
            <a:avLst/>
          </a:prstGeom>
          <a:solidFill>
            <a:srgbClr val="BE5F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a2fade_gn4"/>
          <p:cNvSpPr txBox="1"/>
          <p:nvPr/>
        </p:nvSpPr>
        <p:spPr>
          <a:xfrm>
            <a:off x="7726680" y="4069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Stand 18</a:t>
            </a:r>
            <a:endParaRPr lang="en-US" sz="1100" dirty="0"/>
          </a:p>
        </p:txBody>
      </p:sp>
      <p:sp>
        <p:nvSpPr>
          <p:cNvPr id="42" name="a2fade_gw4"/>
          <p:cNvSpPr/>
          <p:nvPr/>
        </p:nvSpPr>
        <p:spPr>
          <a:xfrm>
            <a:off x="10212830" y="4114800"/>
            <a:ext cx="1049902" cy="182880"/>
          </a:xfrm>
          <a:prstGeom prst="roundRect">
            <a:avLst>
              <a:gd name="adj" fmla="val 30000"/>
            </a:avLst>
          </a:prstGeom>
          <a:solidFill>
            <a:srgbClr val="5C8DB8">
              <a:alpha val="45000"/>
            </a:srgbClr>
          </a:solidFill>
          <a:ln w="9525">
            <a:solidFill>
              <a:srgbClr val="5C8DB8"/>
            </a:solidFill>
            <a:prstDash val="solid"/>
          </a:ln>
        </p:spPr>
      </p:sp>
      <p:sp>
        <p:nvSpPr>
          <p:cNvPr id="43" name="a7pop_gd4"/>
          <p:cNvSpPr/>
          <p:nvPr/>
        </p:nvSpPr>
        <p:spPr>
          <a:xfrm>
            <a:off x="10970965" y="4087368"/>
            <a:ext cx="237744" cy="237744"/>
          </a:xfrm>
          <a:prstGeom prst="diamond">
            <a:avLst/>
          </a:prstGeom>
          <a:solidFill>
            <a:srgbClr val="BE5F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a8ping_d0"/>
          <p:cNvSpPr/>
          <p:nvPr/>
        </p:nvSpPr>
        <p:spPr>
          <a:xfrm>
            <a:off x="9101819" y="2231136"/>
            <a:ext cx="292608" cy="292608"/>
          </a:xfrm>
          <a:prstGeom prst="ellipse">
            <a:avLst/>
          </a:prstGeom>
          <a:ln w="25400">
            <a:solidFill>
              <a:srgbClr val="BE5F6D"/>
            </a:solidFill>
            <a:prstDash val="solid"/>
          </a:ln>
        </p:spPr>
      </p:sp>
      <p:sp>
        <p:nvSpPr>
          <p:cNvPr id="45" name="a8fade_lg1"/>
          <p:cNvSpPr/>
          <p:nvPr/>
        </p:nvSpPr>
        <p:spPr>
          <a:xfrm>
            <a:off x="7726680" y="4873752"/>
            <a:ext cx="274320" cy="128016"/>
          </a:xfrm>
          <a:prstGeom prst="roundRect">
            <a:avLst>
              <a:gd name="adj" fmla="val 35714"/>
            </a:avLst>
          </a:prstGeom>
          <a:solidFill>
            <a:srgbClr val="5C8DB8">
              <a:alpha val="45000"/>
            </a:srgbClr>
          </a:solidFill>
          <a:ln w="9525">
            <a:solidFill>
              <a:srgbClr val="5C8DB8"/>
            </a:solidFill>
            <a:prstDash val="solid"/>
          </a:ln>
        </p:spPr>
      </p:sp>
      <p:sp>
        <p:nvSpPr>
          <p:cNvPr id="46" name="a8fade_lg1t"/>
          <p:cNvSpPr txBox="1"/>
          <p:nvPr/>
        </p:nvSpPr>
        <p:spPr>
          <a:xfrm>
            <a:off x="8065008" y="48188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intact → first capture with works</a:t>
            </a:r>
            <a:endParaRPr lang="en-US" sz="1000" dirty="0"/>
          </a:p>
        </p:txBody>
      </p:sp>
      <p:sp>
        <p:nvSpPr>
          <p:cNvPr id="47" name="a8fade_lg2"/>
          <p:cNvSpPr/>
          <p:nvPr/>
        </p:nvSpPr>
        <p:spPr>
          <a:xfrm>
            <a:off x="10332720" y="4846320"/>
            <a:ext cx="164592" cy="164592"/>
          </a:xfrm>
          <a:prstGeom prst="diamond">
            <a:avLst/>
          </a:prstGeom>
          <a:solidFill>
            <a:srgbClr val="BE5F6D"/>
          </a:solidFill>
          <a:ln/>
        </p:spPr>
      </p:sp>
      <p:sp>
        <p:nvSpPr>
          <p:cNvPr id="48" name="a8fade_lg2t"/>
          <p:cNvSpPr txBox="1"/>
          <p:nvPr/>
        </p:nvSpPr>
        <p:spPr>
          <a:xfrm>
            <a:off x="10543032" y="48188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alert starts</a:t>
            </a:r>
            <a:endParaRPr lang="en-US" sz="1000" dirty="0"/>
          </a:p>
        </p:txBody>
      </p:sp>
      <p:sp>
        <p:nvSpPr>
          <p:cNvPr id="49" name="a9float_msg"/>
          <p:cNvSpPr/>
          <p:nvPr/>
        </p:nvSpPr>
        <p:spPr>
          <a:xfrm>
            <a:off x="7543800" y="5257800"/>
            <a:ext cx="4096512" cy="914400"/>
          </a:xfrm>
          <a:prstGeom prst="roundRect">
            <a:avLst>
              <a:gd name="adj" fmla="val 14000"/>
            </a:avLst>
          </a:prstGeom>
          <a:solidFill>
            <a:srgbClr val="E8F0F9">
              <a:alpha val="95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50" name="a9float_msgt"/>
          <p:cNvSpPr txBox="1"/>
          <p:nvPr/>
        </p:nvSpPr>
        <p:spPr>
          <a:xfrm>
            <a:off x="7726680" y="52578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F5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alert began inside the window. </a:t>
            </a:r>
            <a:r>
              <a:rPr lang="en-US" sz="13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as works happen, not advance warning.</a:t>
            </a:r>
            <a:endParaRPr lang="en-US" sz="130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53" presetClass="entr" presetSubtype="16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53" presetClass="entr" presetSubtype="16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16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53" presetClass="entr" presetSubtype="16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53" presetClass="entr" presetSubtype="16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53" presetClass="entr" presetSubtype="16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53" presetClass="entr" presetSubtype="16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53" presetClass="entr" presetSubtype="16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8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53" presetClass="entr" presetSubtype="16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53" presetClass="entr" presetSubtype="16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53" presetClass="entr" presetSubtype="16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6" presetClass="emph" presetSubtype="0" repeatCount="indefinite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animScale>
                                      <p:cBhvr>
                                        <p:cTn id="168" dur="1600" fill="hold"/>
                                        <p:tgtEl>
                                          <p:spTgt spid="44"/>
                                        </p:tgtEl>
                                      </p:cBhvr>
                                      <p:by x="160000" y="160000"/>
                                    </p:animScale>
                                    <p:anim calcmode="lin" valueType="num">
                                      <p:cBhvr>
                                        <p:cTn id="169" dur="1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10" presetClass="entr" presetSubtype="0" decel="10000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decel="10000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decel="10000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decel="10000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42" presetClass="entr" presetSubtype="0" decel="10000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5" dur="7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decel="100000" fill="hold" grpId="0" nodeType="withEffect">
                                  <p:stCondLst>
                                    <p:cond delay="223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9" dur="7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3657600" y="-3108960"/>
            <a:ext cx="5486400" cy="54864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-2194560" y="347472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VALIDATION 2 · CHANCE, UNSEEN STANDS, SECOND SENSOR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rate next to its chance rate</a:t>
            </a:r>
            <a:endParaRPr lang="en-US" sz="3400" dirty="0"/>
          </a:p>
        </p:txBody>
      </p:sp>
      <p:sp>
        <p:nvSpPr>
          <p:cNvPr id="7" name="a1float_cc"/>
          <p:cNvSpPr/>
          <p:nvPr/>
        </p:nvSpPr>
        <p:spPr>
          <a:xfrm>
            <a:off x="548640" y="1691640"/>
            <a:ext cx="6812280" cy="3611880"/>
          </a:xfrm>
          <a:prstGeom prst="roundRect">
            <a:avLst>
              <a:gd name="adj" fmla="val 3544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graphicFrame>
        <p:nvGraphicFramePr>
          <p:cNvPr id="8" name="a2wipe_sim"/>
          <p:cNvGraphicFramePr/>
          <p:nvPr/>
        </p:nvGraphicFramePr>
        <p:xfrm>
          <a:off x="685800" y="1783080"/>
          <a:ext cx="653796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a3fade_simc"/>
          <p:cNvSpPr txBox="1"/>
          <p:nvPr/>
        </p:nvSpPr>
        <p:spPr>
          <a:xfrm>
            <a:off x="548640" y="537667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detection counts only if a new alert starts after the loss begins. ~160–240 trials per row.</a:t>
            </a:r>
            <a:endParaRPr lang="en-US" sz="1100" dirty="0"/>
          </a:p>
        </p:txBody>
      </p:sp>
      <p:sp>
        <p:nvSpPr>
          <p:cNvPr id="10" name="a3float_k0"/>
          <p:cNvSpPr/>
          <p:nvPr/>
        </p:nvSpPr>
        <p:spPr>
          <a:xfrm>
            <a:off x="7589520" y="1691640"/>
            <a:ext cx="4050792" cy="1133856"/>
          </a:xfrm>
          <a:prstGeom prst="roundRect">
            <a:avLst>
              <a:gd name="adj" fmla="val 1129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1" name="a3float_k0l"/>
          <p:cNvSpPr txBox="1"/>
          <p:nvPr/>
        </p:nvSpPr>
        <p:spPr>
          <a:xfrm>
            <a:off x="7790688" y="1801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CALIBRATED · 25 STANDS</a:t>
            </a:r>
            <a:endParaRPr lang="en-US" sz="1100" dirty="0"/>
          </a:p>
        </p:txBody>
      </p:sp>
      <p:sp>
        <p:nvSpPr>
          <p:cNvPr id="12" name="a3float_k0n"/>
          <p:cNvSpPr txBox="1"/>
          <p:nvPr/>
        </p:nvSpPr>
        <p:spPr>
          <a:xfrm>
            <a:off x="7790688" y="20391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dirty="0">
                <a:solidFill>
                  <a:srgbClr val="A9813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0.96</a:t>
            </a:r>
            <a:endParaRPr lang="en-US" sz="2600" dirty="0"/>
          </a:p>
        </p:txBody>
      </p:sp>
      <p:sp>
        <p:nvSpPr>
          <p:cNvPr id="13" name="a3float_k0t"/>
          <p:cNvSpPr txBox="1"/>
          <p:nvPr/>
        </p:nvSpPr>
        <p:spPr>
          <a:xfrm>
            <a:off x="7790688" y="24780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false-alarm episodes per stand-year</a:t>
            </a:r>
            <a:endParaRPr lang="en-US" sz="1100" dirty="0"/>
          </a:p>
        </p:txBody>
      </p:sp>
      <p:sp>
        <p:nvSpPr>
          <p:cNvPr id="14" name="a4float_k1"/>
          <p:cNvSpPr/>
          <p:nvPr/>
        </p:nvSpPr>
        <p:spPr>
          <a:xfrm>
            <a:off x="7589520" y="2935224"/>
            <a:ext cx="4050792" cy="1133856"/>
          </a:xfrm>
          <a:prstGeom prst="roundRect">
            <a:avLst>
              <a:gd name="adj" fmla="val 11290"/>
            </a:avLst>
          </a:prstGeom>
          <a:solidFill>
            <a:srgbClr val="E8F0F9">
              <a:alpha val="95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5" name="a4float_k1l"/>
          <p:cNvSpPr txBox="1"/>
          <p:nvPr/>
        </p:nvSpPr>
        <p:spPr>
          <a:xfrm>
            <a:off x="7790688" y="3044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UNSEEN · 65 STANDS</a:t>
            </a:r>
            <a:endParaRPr lang="en-US" sz="1100" dirty="0"/>
          </a:p>
        </p:txBody>
      </p:sp>
      <p:sp>
        <p:nvSpPr>
          <p:cNvPr id="16" name="a4float_k1n"/>
          <p:cNvSpPr txBox="1"/>
          <p:nvPr/>
        </p:nvSpPr>
        <p:spPr>
          <a:xfrm>
            <a:off x="7790688" y="32826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dirty="0">
                <a:solidFill>
                  <a:srgbClr val="2F5D8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0.79</a:t>
            </a:r>
            <a:endParaRPr lang="en-US" sz="2600" dirty="0"/>
          </a:p>
        </p:txBody>
      </p:sp>
      <p:sp>
        <p:nvSpPr>
          <p:cNvPr id="17" name="a4float_k1t"/>
          <p:cNvSpPr txBox="1"/>
          <p:nvPr/>
        </p:nvSpPr>
        <p:spPr>
          <a:xfrm>
            <a:off x="7790688" y="37216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stand-year, 305 stand-years, incl. Saudi Tarut Bay</a:t>
            </a:r>
            <a:endParaRPr lang="en-US" sz="1100" dirty="0"/>
          </a:p>
        </p:txBody>
      </p:sp>
      <p:sp>
        <p:nvSpPr>
          <p:cNvPr id="18" name="a5float_k2"/>
          <p:cNvSpPr/>
          <p:nvPr/>
        </p:nvSpPr>
        <p:spPr>
          <a:xfrm>
            <a:off x="7589520" y="4178808"/>
            <a:ext cx="4050792" cy="1133856"/>
          </a:xfrm>
          <a:prstGeom prst="roundRect">
            <a:avLst>
              <a:gd name="adj" fmla="val 1129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9" name="a5float_k2l"/>
          <p:cNvSpPr txBox="1"/>
          <p:nvPr/>
        </p:nvSpPr>
        <p:spPr>
          <a:xfrm>
            <a:off x="7790688" y="42885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6E60A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ENMAP · SAME DATES</a:t>
            </a:r>
            <a:endParaRPr lang="en-US" sz="1100" dirty="0"/>
          </a:p>
        </p:txBody>
      </p:sp>
      <p:sp>
        <p:nvSpPr>
          <p:cNvPr id="20" name="a5float_k2n"/>
          <p:cNvSpPr txBox="1"/>
          <p:nvPr/>
        </p:nvSpPr>
        <p:spPr>
          <a:xfrm>
            <a:off x="7790688" y="4526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dirty="0">
                <a:solidFill>
                  <a:srgbClr val="6E60A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 = 0.84–0.99</a:t>
            </a:r>
            <a:endParaRPr lang="en-US" sz="2600" dirty="0"/>
          </a:p>
        </p:txBody>
      </p:sp>
      <p:sp>
        <p:nvSpPr>
          <p:cNvPr id="21" name="a5float_k2t"/>
          <p:cNvSpPr txBox="1"/>
          <p:nvPr/>
        </p:nvSpPr>
        <p:spPr>
          <a:xfrm>
            <a:off x="7790688" y="49651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our Sentinel-2 indices; stand-5 loss 62 ha vs our 26 ha</a:t>
            </a:r>
            <a:endParaRPr lang="en-US" sz="1100" dirty="0"/>
          </a:p>
        </p:txBody>
      </p:sp>
      <p:sp>
        <p:nvSpPr>
          <p:cNvPr id="22" name="a6float_claim"/>
          <p:cNvSpPr/>
          <p:nvPr/>
        </p:nvSpPr>
        <p:spPr>
          <a:xfrm>
            <a:off x="548640" y="5687568"/>
            <a:ext cx="11091672" cy="548640"/>
          </a:xfrm>
          <a:prstGeom prst="roundRect">
            <a:avLst>
              <a:gd name="adj" fmla="val 23333"/>
            </a:avLst>
          </a:prstGeom>
          <a:solidFill>
            <a:srgbClr val="A9813A">
              <a:alpha val="12000"/>
            </a:srgbClr>
          </a:solidFill>
          <a:ln w="9525">
            <a:solidFill>
              <a:srgbClr val="A9813A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3" name="a6float_claimt"/>
          <p:cNvSpPr txBox="1"/>
          <p:nvPr/>
        </p:nvSpPr>
        <p:spPr>
          <a:xfrm>
            <a:off x="777240" y="56875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A98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do not claim: </a:t>
            </a:r>
            <a:r>
              <a:rPr lang="en-US" sz="12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 warning, field verification, species discrimination, or that hyperspectral classifies better (F1 0.74 vs 0.72). We withdrew our own first test (58 % / 90 %): it had no chance baseline.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7680960" y="-2743200"/>
            <a:ext cx="5943600" cy="59436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-2377440" y="310896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IMPACT &amp; BUSINESS VIABILITY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Carbon at stake, and who pays to protect it</a:t>
            </a:r>
            <a:endParaRPr lang="en-US" sz="3400" dirty="0"/>
          </a:p>
        </p:txBody>
      </p:sp>
      <p:sp>
        <p:nvSpPr>
          <p:cNvPr id="7" name="a1float_kp0"/>
          <p:cNvSpPr/>
          <p:nvPr/>
        </p:nvSpPr>
        <p:spPr>
          <a:xfrm>
            <a:off x="548640" y="1691640"/>
            <a:ext cx="3593592" cy="1280160"/>
          </a:xfrm>
          <a:prstGeom prst="roundRect">
            <a:avLst>
              <a:gd name="adj" fmla="val 10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8" name="a1float_kp0n"/>
          <p:cNvSpPr txBox="1"/>
          <p:nvPr/>
        </p:nvSpPr>
        <p:spPr>
          <a:xfrm>
            <a:off x="777240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A9813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108 t C/ha</a:t>
            </a:r>
            <a:endParaRPr lang="en-US" sz="3200" dirty="0"/>
          </a:p>
        </p:txBody>
      </p:sp>
      <p:sp>
        <p:nvSpPr>
          <p:cNvPr id="9" name="a1float_kp0t"/>
          <p:cNvSpPr txBox="1"/>
          <p:nvPr/>
        </p:nvSpPr>
        <p:spPr>
          <a:xfrm>
            <a:off x="77724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density near the stands (90 % CI 79–138); 82 % of it is in the soil</a:t>
            </a:r>
            <a:endParaRPr lang="en-US" sz="1200" dirty="0"/>
          </a:p>
        </p:txBody>
      </p:sp>
      <p:sp>
        <p:nvSpPr>
          <p:cNvPr id="10" name="a2float_kp1"/>
          <p:cNvSpPr/>
          <p:nvPr/>
        </p:nvSpPr>
        <p:spPr>
          <a:xfrm>
            <a:off x="4297680" y="1691640"/>
            <a:ext cx="3593592" cy="1280160"/>
          </a:xfrm>
          <a:prstGeom prst="roundRect">
            <a:avLst>
              <a:gd name="adj" fmla="val 10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1" name="a2float_kp1n"/>
          <p:cNvSpPr txBox="1"/>
          <p:nvPr/>
        </p:nvSpPr>
        <p:spPr>
          <a:xfrm>
            <a:off x="4526280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A9813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247 kt C</a:t>
            </a:r>
            <a:endParaRPr lang="en-US" sz="3200" dirty="0"/>
          </a:p>
        </p:txBody>
      </p:sp>
      <p:sp>
        <p:nvSpPr>
          <p:cNvPr id="12" name="a2float_kp1t"/>
          <p:cNvSpPr txBox="1"/>
          <p:nvPr/>
        </p:nvSpPr>
        <p:spPr>
          <a:xfrm>
            <a:off x="452628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stock, 2,281 ha (range 180–316) ≈ 907 kt CO₂e</a:t>
            </a:r>
            <a:endParaRPr lang="en-US" sz="1200" dirty="0"/>
          </a:p>
        </p:txBody>
      </p:sp>
      <p:sp>
        <p:nvSpPr>
          <p:cNvPr id="13" name="a3float_kp2"/>
          <p:cNvSpPr/>
          <p:nvPr/>
        </p:nvSpPr>
        <p:spPr>
          <a:xfrm>
            <a:off x="8046720" y="1691640"/>
            <a:ext cx="3593592" cy="1280160"/>
          </a:xfrm>
          <a:prstGeom prst="roundRect">
            <a:avLst>
              <a:gd name="adj" fmla="val 10000"/>
            </a:avLst>
          </a:prstGeom>
          <a:solidFill>
            <a:srgbClr val="FBEDEF">
              <a:alpha val="80000"/>
            </a:srgbClr>
          </a:solidFill>
          <a:ln w="9525">
            <a:solidFill>
              <a:srgbClr val="E8C4CA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4" name="a3float_kp2n"/>
          <p:cNvSpPr txBox="1"/>
          <p:nvPr/>
        </p:nvSpPr>
        <p:spPr>
          <a:xfrm>
            <a:off x="8275320" y="1783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BE5F6D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2.8–6.7 kt C</a:t>
            </a:r>
            <a:endParaRPr lang="en-US" sz="3200" dirty="0"/>
          </a:p>
        </p:txBody>
      </p:sp>
      <p:sp>
        <p:nvSpPr>
          <p:cNvPr id="15" name="a3float_kp2t"/>
          <p:cNvSpPr txBox="1"/>
          <p:nvPr/>
        </p:nvSpPr>
        <p:spPr>
          <a:xfrm>
            <a:off x="827532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on the 26–62 ha lost at stand 5: what one alert puts on the table</a:t>
            </a:r>
            <a:endParaRPr lang="en-US" sz="1200" dirty="0"/>
          </a:p>
        </p:txBody>
      </p:sp>
      <p:sp>
        <p:nvSpPr>
          <p:cNvPr id="16" name="a4float_tc"/>
          <p:cNvSpPr/>
          <p:nvPr/>
        </p:nvSpPr>
        <p:spPr>
          <a:xfrm>
            <a:off x="548640" y="3154680"/>
            <a:ext cx="6629400" cy="3017520"/>
          </a:xfrm>
          <a:prstGeom prst="roundRect">
            <a:avLst>
              <a:gd name="adj" fmla="val 4242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7" name="a4float_tl"/>
          <p:cNvSpPr txBox="1"/>
          <p:nvPr/>
        </p:nvSpPr>
        <p:spPr>
          <a:xfrm>
            <a:off x="777240" y="32918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 TIERS (PRICES ARE PILOT HYPOTHESES)</a:t>
            </a:r>
            <a:endParaRPr lang="en-US" sz="1100" dirty="0"/>
          </a:p>
        </p:txBody>
      </p:sp>
      <p:sp>
        <p:nvSpPr>
          <p:cNvPr id="18" name="a5pop_t0"/>
          <p:cNvSpPr/>
          <p:nvPr/>
        </p:nvSpPr>
        <p:spPr>
          <a:xfrm>
            <a:off x="777240" y="3639312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3F6E9E">
              <a:alpha val="22000"/>
            </a:srgbClr>
          </a:solidFill>
          <a:ln w="9525">
            <a:solidFill>
              <a:srgbClr val="3F6E9E">
                <a:alpha val="60000"/>
              </a:srgbClr>
            </a:solidFill>
            <a:prstDash val="solid"/>
          </a:ln>
        </p:spPr>
      </p:sp>
      <p:sp>
        <p:nvSpPr>
          <p:cNvPr id="19" name="a5pop_t0n"/>
          <p:cNvSpPr txBox="1"/>
          <p:nvPr/>
        </p:nvSpPr>
        <p:spPr>
          <a:xfrm>
            <a:off x="914400" y="3712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Monitor</a:t>
            </a:r>
            <a:endParaRPr lang="en-US" sz="1300" dirty="0"/>
          </a:p>
        </p:txBody>
      </p:sp>
      <p:sp>
        <p:nvSpPr>
          <p:cNvPr id="20" name="a5pop_t0p"/>
          <p:cNvSpPr txBox="1"/>
          <p:nvPr/>
        </p:nvSpPr>
        <p:spPr>
          <a:xfrm>
            <a:off x="914400" y="39867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2F5D8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$12k</a:t>
            </a:r>
            <a:endParaRPr lang="en-US" sz="2800" dirty="0"/>
          </a:p>
        </p:txBody>
      </p:sp>
      <p:sp>
        <p:nvSpPr>
          <p:cNvPr id="21" name="a5pop_t0u"/>
          <p:cNvSpPr txBox="1"/>
          <p:nvPr/>
        </p:nvSpPr>
        <p:spPr>
          <a:xfrm>
            <a:off x="914400" y="4480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site / yr</a:t>
            </a:r>
            <a:endParaRPr lang="en-US" sz="1100" dirty="0"/>
          </a:p>
        </p:txBody>
      </p:sp>
      <p:sp>
        <p:nvSpPr>
          <p:cNvPr id="22" name="a5pop_t0d"/>
          <p:cNvSpPr txBox="1"/>
          <p:nvPr/>
        </p:nvSpPr>
        <p:spPr>
          <a:xfrm>
            <a:off x="914400" y="47365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alert, cell map, condition, carbon, monthly reports</a:t>
            </a:r>
            <a:endParaRPr lang="en-US" sz="1100" dirty="0"/>
          </a:p>
        </p:txBody>
      </p:sp>
      <p:sp>
        <p:nvSpPr>
          <p:cNvPr id="23" name="a6pop_t1"/>
          <p:cNvSpPr/>
          <p:nvPr/>
        </p:nvSpPr>
        <p:spPr>
          <a:xfrm>
            <a:off x="2862072" y="3639312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3F6E9E">
              <a:alpha val="10000"/>
            </a:srgbClr>
          </a:solidFill>
          <a:ln w="9525">
            <a:solidFill>
              <a:srgbClr val="3F6E9E">
                <a:alpha val="60000"/>
              </a:srgbClr>
            </a:solidFill>
            <a:prstDash val="solid"/>
          </a:ln>
        </p:spPr>
      </p:sp>
      <p:sp>
        <p:nvSpPr>
          <p:cNvPr id="24" name="a6pop_t1n"/>
          <p:cNvSpPr txBox="1"/>
          <p:nvPr/>
        </p:nvSpPr>
        <p:spPr>
          <a:xfrm>
            <a:off x="2999232" y="3712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Evidence</a:t>
            </a:r>
            <a:endParaRPr lang="en-US" sz="1300" dirty="0"/>
          </a:p>
        </p:txBody>
      </p:sp>
      <p:sp>
        <p:nvSpPr>
          <p:cNvPr id="25" name="a6pop_t1p"/>
          <p:cNvSpPr txBox="1"/>
          <p:nvPr/>
        </p:nvSpPr>
        <p:spPr>
          <a:xfrm>
            <a:off x="2999232" y="39867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2F5D8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$25k</a:t>
            </a:r>
            <a:endParaRPr lang="en-US" sz="2800" dirty="0"/>
          </a:p>
        </p:txBody>
      </p:sp>
      <p:sp>
        <p:nvSpPr>
          <p:cNvPr id="26" name="a6pop_t1u"/>
          <p:cNvSpPr txBox="1"/>
          <p:nvPr/>
        </p:nvSpPr>
        <p:spPr>
          <a:xfrm>
            <a:off x="2999232" y="4480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site / yr</a:t>
            </a:r>
            <a:endParaRPr lang="en-US" sz="1100" dirty="0"/>
          </a:p>
        </p:txBody>
      </p:sp>
      <p:sp>
        <p:nvSpPr>
          <p:cNvPr id="27" name="a6pop_t1d"/>
          <p:cNvSpPr txBox="1"/>
          <p:nvPr/>
        </p:nvSpPr>
        <p:spPr>
          <a:xfrm>
            <a:off x="2999232" y="47365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sub-metre check of every alert, audit pack</a:t>
            </a:r>
            <a:endParaRPr lang="en-US" sz="1100" dirty="0"/>
          </a:p>
        </p:txBody>
      </p:sp>
      <p:sp>
        <p:nvSpPr>
          <p:cNvPr id="28" name="a7pop_t2"/>
          <p:cNvSpPr/>
          <p:nvPr/>
        </p:nvSpPr>
        <p:spPr>
          <a:xfrm>
            <a:off x="4946904" y="3639312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3F6E9E">
              <a:alpha val="10000"/>
            </a:srgbClr>
          </a:solidFill>
          <a:ln w="9525">
            <a:solidFill>
              <a:srgbClr val="3F6E9E">
                <a:alpha val="60000"/>
              </a:srgbClr>
            </a:solidFill>
            <a:prstDash val="solid"/>
          </a:ln>
        </p:spPr>
      </p:sp>
      <p:sp>
        <p:nvSpPr>
          <p:cNvPr id="29" name="a7pop_t2n"/>
          <p:cNvSpPr txBox="1"/>
          <p:nvPr/>
        </p:nvSpPr>
        <p:spPr>
          <a:xfrm>
            <a:off x="5084064" y="37124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Development watch</a:t>
            </a:r>
            <a:endParaRPr lang="en-US" sz="1300" dirty="0"/>
          </a:p>
        </p:txBody>
      </p:sp>
      <p:sp>
        <p:nvSpPr>
          <p:cNvPr id="30" name="a7pop_t2p"/>
          <p:cNvSpPr txBox="1"/>
          <p:nvPr/>
        </p:nvSpPr>
        <p:spPr>
          <a:xfrm>
            <a:off x="5084064" y="39867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2F5D8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$8k</a:t>
            </a:r>
            <a:endParaRPr lang="en-US" sz="2800" dirty="0"/>
          </a:p>
        </p:txBody>
      </p:sp>
      <p:sp>
        <p:nvSpPr>
          <p:cNvPr id="31" name="a7pop_t2u"/>
          <p:cNvSpPr txBox="1"/>
          <p:nvPr/>
        </p:nvSpPr>
        <p:spPr>
          <a:xfrm>
            <a:off x="5084064" y="44805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project / yr</a:t>
            </a:r>
            <a:endParaRPr lang="en-US" sz="1100" dirty="0"/>
          </a:p>
        </p:txBody>
      </p:sp>
      <p:sp>
        <p:nvSpPr>
          <p:cNvPr id="32" name="a7pop_t2d"/>
          <p:cNvSpPr txBox="1"/>
          <p:nvPr/>
        </p:nvSpPr>
        <p:spPr>
          <a:xfrm>
            <a:off x="5084064" y="473659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coastal developers and EIA consultants</a:t>
            </a:r>
            <a:endParaRPr lang="en-US" sz="1100" dirty="0"/>
          </a:p>
        </p:txBody>
      </p:sp>
      <p:sp>
        <p:nvSpPr>
          <p:cNvPr id="33" name="a8fade_cost"/>
          <p:cNvSpPr txBox="1"/>
          <p:nvPr/>
        </p:nvSpPr>
        <p:spPr>
          <a:xfrm>
            <a:off x="777240" y="550468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4D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to serve ≈ $3.3k / site / yr: </a:t>
            </a:r>
            <a:r>
              <a:rPr lang="en-US" sz="1200" dirty="0">
                <a:solidFill>
                  <a:srgbClr val="3A4D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&lt; $5 (measured), sub-metre checks $500–750, analyst $2k (assumption).</a:t>
            </a:r>
            <a:endParaRPr lang="en-US" sz="1200" dirty="0"/>
          </a:p>
        </p:txBody>
      </p:sp>
      <p:sp>
        <p:nvSpPr>
          <p:cNvPr id="34" name="a6float_comp"/>
          <p:cNvSpPr/>
          <p:nvPr/>
        </p:nvSpPr>
        <p:spPr>
          <a:xfrm>
            <a:off x="7360920" y="3154680"/>
            <a:ext cx="4279392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35" name="a6float_compl"/>
          <p:cNvSpPr txBox="1"/>
          <p:nvPr/>
        </p:nvSpPr>
        <p:spPr>
          <a:xfrm>
            <a:off x="7589520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6" name="a6float_compt"/>
          <p:cNvSpPr txBox="1"/>
          <p:nvPr/>
        </p:nvSpPr>
        <p:spPr>
          <a:xfrm>
            <a:off x="7589520" y="35661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Mangrove Watch sends free monthly loss alerts (Gulf coverage not confirmed). We are complementary: tide-aware, calibrated, stand + cell, carbon and reports.</a:t>
            </a:r>
            <a:endParaRPr lang="en-US" sz="1200" dirty="0"/>
          </a:p>
        </p:txBody>
      </p:sp>
      <p:sp>
        <p:nvSpPr>
          <p:cNvPr id="37" name="a7float_mk"/>
          <p:cNvSpPr/>
          <p:nvPr/>
        </p:nvSpPr>
        <p:spPr>
          <a:xfrm>
            <a:off x="7360920" y="4709160"/>
            <a:ext cx="4279392" cy="1463040"/>
          </a:xfrm>
          <a:prstGeom prst="roundRect">
            <a:avLst>
              <a:gd name="adj" fmla="val 8750"/>
            </a:avLst>
          </a:prstGeom>
          <a:solidFill>
            <a:srgbClr val="E8F0F9">
              <a:alpha val="95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38" name="a7float_mkl"/>
          <p:cNvSpPr txBox="1"/>
          <p:nvPr/>
        </p:nvSpPr>
        <p:spPr>
          <a:xfrm>
            <a:off x="7589520" y="4828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HONEST MARKET</a:t>
            </a:r>
            <a:endParaRPr lang="en-US" sz="1100" dirty="0"/>
          </a:p>
        </p:txBody>
      </p:sp>
      <p:sp>
        <p:nvSpPr>
          <p:cNvPr id="39" name="a7float_mkt"/>
          <p:cNvSpPr txBox="1"/>
          <p:nvPr/>
        </p:nvSpPr>
        <p:spPr>
          <a:xfrm>
            <a:off x="7589520" y="5102352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Gulf + Red Sea subscriptions ≈ $0.2–0.4 M / yr. The real prize: a </a:t>
            </a:r>
            <a:r>
              <a:rPr lang="en-US" sz="1300" b="1" dirty="0">
                <a:solidFill>
                  <a:srgbClr val="A98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MRV contract</a:t>
            </a:r>
            <a:r>
              <a:rPr lang="en-US" sz="13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 a monitoring layer on </a:t>
            </a:r>
            <a:r>
              <a:rPr lang="en-US" sz="1300" b="1" dirty="0">
                <a:solidFill>
                  <a:srgbClr val="A981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gIQ</a:t>
            </a:r>
            <a:r>
              <a:rPr lang="en-US" sz="1300" dirty="0">
                <a:solidFill>
                  <a:srgbClr val="1B2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SDG 13 · 14 · 15.</a:t>
            </a:r>
            <a:endParaRPr lang="en-US" sz="13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16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16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16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16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53" presetClass="entr" presetSubtype="16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53" presetClass="entr" presetSubtype="16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53" presetClass="entr" presetSubtype="16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53" presetClass="entr" presetSubtype="16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16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7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7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decel="10000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2377440" y="-2011680"/>
            <a:ext cx="5943600" cy="59436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8138160" y="3108960"/>
            <a:ext cx="5943600" cy="59436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DOCUMENTATION &amp; EVIDENCE · DEVELOPMENT POTENTIAL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Reproducible today, built to scale tomorrow</a:t>
            </a:r>
            <a:endParaRPr lang="en-US" sz="3400" dirty="0"/>
          </a:p>
        </p:txBody>
      </p:sp>
      <p:sp>
        <p:nvSpPr>
          <p:cNvPr id="7" name="a1float_rc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2857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8" name="a1float_rl"/>
          <p:cNvSpPr txBox="1"/>
          <p:nvPr/>
        </p:nvSpPr>
        <p:spPr>
          <a:xfrm>
            <a:off x="777240" y="1828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DOCUMENTATION &amp; EVIDENCE</a:t>
            </a:r>
            <a:endParaRPr lang="en-US" sz="1100" dirty="0"/>
          </a:p>
        </p:txBody>
      </p:sp>
      <p:sp>
        <p:nvSpPr>
          <p:cNvPr id="9" name="a2float_r0_c"/>
          <p:cNvSpPr/>
          <p:nvPr/>
        </p:nvSpPr>
        <p:spPr>
          <a:xfrm>
            <a:off x="777240" y="2212848"/>
            <a:ext cx="493776" cy="493776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10" name="a2float_r0_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746" y="2331354"/>
            <a:ext cx="256764" cy="256764"/>
          </a:xfrm>
          <a:prstGeom prst="rect">
            <a:avLst/>
          </a:prstGeom>
        </p:spPr>
      </p:pic>
      <p:sp>
        <p:nvSpPr>
          <p:cNvPr id="11" name="a2float_r0t"/>
          <p:cNvSpPr txBox="1"/>
          <p:nvPr/>
        </p:nvSpPr>
        <p:spPr>
          <a:xfrm>
            <a:off x="1417320" y="21945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Public repository, MIT licence</a:t>
            </a:r>
            <a:endParaRPr lang="en-US" sz="1500" dirty="0"/>
          </a:p>
        </p:txBody>
      </p:sp>
      <p:sp>
        <p:nvSpPr>
          <p:cNvPr id="12" name="a2float_r0d"/>
          <p:cNvSpPr txBox="1"/>
          <p:nvPr/>
        </p:nvSpPr>
        <p:spPr>
          <a:xfrm>
            <a:off x="1417320" y="24871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code, notebook, figures, provenance and licences</a:t>
            </a:r>
            <a:endParaRPr lang="en-US" sz="1200" dirty="0"/>
          </a:p>
        </p:txBody>
      </p:sp>
      <p:sp>
        <p:nvSpPr>
          <p:cNvPr id="13" name="a3float_r1_c"/>
          <p:cNvSpPr/>
          <p:nvPr/>
        </p:nvSpPr>
        <p:spPr>
          <a:xfrm>
            <a:off x="777240" y="2980944"/>
            <a:ext cx="493776" cy="493776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14" name="a3float_r1_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746" y="3099450"/>
            <a:ext cx="256764" cy="256764"/>
          </a:xfrm>
          <a:prstGeom prst="rect">
            <a:avLst/>
          </a:prstGeom>
        </p:spPr>
      </p:pic>
      <p:sp>
        <p:nvSpPr>
          <p:cNvPr id="15" name="a3float_r1t"/>
          <p:cNvSpPr txBox="1"/>
          <p:nvPr/>
        </p:nvSpPr>
        <p:spPr>
          <a:xfrm>
            <a:off x="1417320" y="29626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Re-runs end to end in ~24 s</a:t>
            </a:r>
            <a:endParaRPr lang="en-US" sz="1500" dirty="0"/>
          </a:p>
        </p:txBody>
      </p:sp>
      <p:sp>
        <p:nvSpPr>
          <p:cNvPr id="16" name="a3float_r1d"/>
          <p:cNvSpPr txBox="1"/>
          <p:nvPr/>
        </p:nvSpPr>
        <p:spPr>
          <a:xfrm>
            <a:off x="1417320" y="325526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outputs committed · pinned requirements · example in/out</a:t>
            </a:r>
            <a:endParaRPr lang="en-US" sz="1200" dirty="0"/>
          </a:p>
        </p:txBody>
      </p:sp>
      <p:sp>
        <p:nvSpPr>
          <p:cNvPr id="17" name="a4float_r2_c"/>
          <p:cNvSpPr/>
          <p:nvPr/>
        </p:nvSpPr>
        <p:spPr>
          <a:xfrm>
            <a:off x="777240" y="3749040"/>
            <a:ext cx="493776" cy="493776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18" name="a4float_r2_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746" y="3867546"/>
            <a:ext cx="256764" cy="256764"/>
          </a:xfrm>
          <a:prstGeom prst="rect">
            <a:avLst/>
          </a:prstGeom>
        </p:spPr>
      </p:pic>
      <p:sp>
        <p:nvSpPr>
          <p:cNvPr id="19" name="a4float_r2t"/>
          <p:cNvSpPr txBox="1"/>
          <p:nvPr/>
        </p:nvSpPr>
        <p:spPr>
          <a:xfrm>
            <a:off x="1417320" y="37307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Clean-machine test passed</a:t>
            </a:r>
            <a:endParaRPr lang="en-US" sz="1500" dirty="0"/>
          </a:p>
        </p:txBody>
      </p:sp>
      <p:sp>
        <p:nvSpPr>
          <p:cNvPr id="20" name="a4float_r2d"/>
          <p:cNvSpPr txBox="1"/>
          <p:nvPr/>
        </p:nvSpPr>
        <p:spPr>
          <a:xfrm>
            <a:off x="1417320" y="40233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 environment, same numbers, 0 errors</a:t>
            </a:r>
            <a:endParaRPr lang="en-US" sz="1200" dirty="0"/>
          </a:p>
        </p:txBody>
      </p:sp>
      <p:sp>
        <p:nvSpPr>
          <p:cNvPr id="21" name="a5float_r3_c"/>
          <p:cNvSpPr/>
          <p:nvPr/>
        </p:nvSpPr>
        <p:spPr>
          <a:xfrm>
            <a:off x="777240" y="4517136"/>
            <a:ext cx="493776" cy="493776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22" name="a5float_r3_i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746" y="4635642"/>
            <a:ext cx="256764" cy="256764"/>
          </a:xfrm>
          <a:prstGeom prst="rect">
            <a:avLst/>
          </a:prstGeom>
        </p:spPr>
      </p:pic>
      <p:sp>
        <p:nvSpPr>
          <p:cNvPr id="23" name="a5float_r3t"/>
          <p:cNvSpPr txBox="1"/>
          <p:nvPr/>
        </p:nvSpPr>
        <p:spPr>
          <a:xfrm>
            <a:off x="1417320" y="44988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number traceable</a:t>
            </a:r>
            <a:endParaRPr lang="en-US" sz="1500" dirty="0"/>
          </a:p>
        </p:txBody>
      </p:sp>
      <p:sp>
        <p:nvSpPr>
          <p:cNvPr id="24" name="a5float_r3d"/>
          <p:cNvSpPr txBox="1"/>
          <p:nvPr/>
        </p:nvSpPr>
        <p:spPr>
          <a:xfrm>
            <a:off x="1417320" y="47914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figure comes from a script and a written summary</a:t>
            </a:r>
            <a:endParaRPr lang="en-US" sz="1200" dirty="0"/>
          </a:p>
        </p:txBody>
      </p:sp>
      <p:sp>
        <p:nvSpPr>
          <p:cNvPr id="25" name="a6float_r4_c"/>
          <p:cNvSpPr/>
          <p:nvPr/>
        </p:nvSpPr>
        <p:spPr>
          <a:xfrm>
            <a:off x="777240" y="5285232"/>
            <a:ext cx="493776" cy="493776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26" name="a6float_r4_i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746" y="5403738"/>
            <a:ext cx="256764" cy="256764"/>
          </a:xfrm>
          <a:prstGeom prst="rect">
            <a:avLst/>
          </a:prstGeom>
        </p:spPr>
      </p:pic>
      <p:sp>
        <p:nvSpPr>
          <p:cNvPr id="27" name="a6float_r4t"/>
          <p:cNvSpPr txBox="1"/>
          <p:nvPr/>
        </p:nvSpPr>
        <p:spPr>
          <a:xfrm>
            <a:off x="1417320" y="52669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website + site reports</a:t>
            </a:r>
            <a:endParaRPr lang="en-US" sz="1500" dirty="0"/>
          </a:p>
        </p:txBody>
      </p:sp>
      <p:sp>
        <p:nvSpPr>
          <p:cNvPr id="28" name="a6float_r4d"/>
          <p:cNvSpPr txBox="1"/>
          <p:nvPr/>
        </p:nvSpPr>
        <p:spPr>
          <a:xfrm>
            <a:off x="1417320" y="55595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anyone can open the monitor and check a stand</a:t>
            </a:r>
            <a:endParaRPr lang="en-US" sz="1200" dirty="0"/>
          </a:p>
        </p:txBody>
      </p:sp>
      <p:sp>
        <p:nvSpPr>
          <p:cNvPr id="29" name="a1fade_sl"/>
          <p:cNvSpPr txBox="1"/>
          <p:nvPr/>
        </p:nvSpPr>
        <p:spPr>
          <a:xfrm>
            <a:off x="6263640" y="16916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DEVELOPMENT POTENTIAL</a:t>
            </a:r>
            <a:endParaRPr lang="en-US" sz="1100" dirty="0"/>
          </a:p>
        </p:txBody>
      </p:sp>
      <p:sp>
        <p:nvSpPr>
          <p:cNvPr id="30" name="a2fade_spine"/>
          <p:cNvSpPr/>
          <p:nvPr/>
        </p:nvSpPr>
        <p:spPr>
          <a:xfrm>
            <a:off x="6583680" y="2377440"/>
            <a:ext cx="0" cy="2926080"/>
          </a:xfrm>
          <a:prstGeom prst="line">
            <a:avLst/>
          </a:prstGeom>
          <a:noFill/>
          <a:ln w="19050">
            <a:solidFill>
              <a:srgbClr val="3F6E9E"/>
            </a:solidFill>
            <a:prstDash val="dash"/>
          </a:ln>
        </p:spPr>
      </p:sp>
      <p:sp>
        <p:nvSpPr>
          <p:cNvPr id="31" name="a3float_p0"/>
          <p:cNvSpPr/>
          <p:nvPr/>
        </p:nvSpPr>
        <p:spPr>
          <a:xfrm>
            <a:off x="6903720" y="2029968"/>
            <a:ext cx="4736592" cy="1261872"/>
          </a:xfrm>
          <a:prstGeom prst="roundRect">
            <a:avLst>
              <a:gd name="adj" fmla="val 10145"/>
            </a:avLst>
          </a:prstGeom>
          <a:solidFill>
            <a:srgbClr val="E8F0F9">
              <a:alpha val="95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32" name="a3pop_p0ic_c"/>
          <p:cNvSpPr/>
          <p:nvPr/>
        </p:nvSpPr>
        <p:spPr>
          <a:xfrm>
            <a:off x="6327648" y="2404872"/>
            <a:ext cx="512064" cy="512064"/>
          </a:xfrm>
          <a:prstGeom prst="ellipse">
            <a:avLst/>
          </a:prstGeom>
          <a:solidFill>
            <a:srgbClr val="A9813A">
              <a:alpha val="18000"/>
            </a:srgbClr>
          </a:solidFill>
          <a:ln w="12700">
            <a:solidFill>
              <a:srgbClr val="A9813A"/>
            </a:solidFill>
            <a:prstDash val="solid"/>
          </a:ln>
        </p:spPr>
      </p:sp>
      <p:pic>
        <p:nvPicPr>
          <p:cNvPr id="33" name="a3pop_p0ic_i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0543" y="2527767"/>
            <a:ext cx="266273" cy="266273"/>
          </a:xfrm>
          <a:prstGeom prst="rect">
            <a:avLst/>
          </a:prstGeom>
        </p:spPr>
      </p:pic>
      <p:sp>
        <p:nvSpPr>
          <p:cNvPr id="34" name="a3float_p0t"/>
          <p:cNvSpPr txBox="1"/>
          <p:nvPr/>
        </p:nvSpPr>
        <p:spPr>
          <a:xfrm>
            <a:off x="7132320" y="21396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A98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Proven now</a:t>
            </a:r>
            <a:endParaRPr lang="en-US" sz="1500" dirty="0"/>
          </a:p>
        </p:txBody>
      </p:sp>
      <p:sp>
        <p:nvSpPr>
          <p:cNvPr id="35" name="a3float_p0d"/>
          <p:cNvSpPr txBox="1"/>
          <p:nvPr/>
        </p:nvSpPr>
        <p:spPr>
          <a:xfrm>
            <a:off x="7132320" y="24688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D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 stands · 2 countries · 2 Sentinel-2 tiles · 65 unseen stands at 0.79 false alarms / stand-yr · compute &lt; $5 per site per year</a:t>
            </a:r>
            <a:endParaRPr lang="en-US" sz="1200" dirty="0"/>
          </a:p>
        </p:txBody>
      </p:sp>
      <p:sp>
        <p:nvSpPr>
          <p:cNvPr id="36" name="a5float_p1"/>
          <p:cNvSpPr/>
          <p:nvPr/>
        </p:nvSpPr>
        <p:spPr>
          <a:xfrm>
            <a:off x="6903720" y="3429000"/>
            <a:ext cx="4736592" cy="1261872"/>
          </a:xfrm>
          <a:prstGeom prst="roundRect">
            <a:avLst>
              <a:gd name="adj" fmla="val 10145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37" name="a5pop_p1ic_c"/>
          <p:cNvSpPr/>
          <p:nvPr/>
        </p:nvSpPr>
        <p:spPr>
          <a:xfrm>
            <a:off x="6327648" y="3803904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38" name="a5pop_p1ic_i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0543" y="3926799"/>
            <a:ext cx="266273" cy="266273"/>
          </a:xfrm>
          <a:prstGeom prst="rect">
            <a:avLst/>
          </a:prstGeom>
        </p:spPr>
      </p:pic>
      <p:sp>
        <p:nvSpPr>
          <p:cNvPr id="39" name="a5float_p1t"/>
          <p:cNvSpPr txBox="1"/>
          <p:nvPr/>
        </p:nvSpPr>
        <p:spPr>
          <a:xfrm>
            <a:off x="7132320" y="35387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Incubation</a:t>
            </a:r>
            <a:endParaRPr lang="en-US" sz="1500" dirty="0"/>
          </a:p>
        </p:txBody>
      </p:sp>
      <p:sp>
        <p:nvSpPr>
          <p:cNvPr id="40" name="a5float_p1d"/>
          <p:cNvSpPr txBox="1"/>
          <p:nvPr/>
        </p:nvSpPr>
        <p:spPr>
          <a:xfrm>
            <a:off x="7132320" y="386791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D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Satellite 813 in the spectral step · deployment on gIQ · a pilot customer + site records · more EnMAP dates</a:t>
            </a:r>
            <a:endParaRPr lang="en-US" sz="1200" dirty="0"/>
          </a:p>
        </p:txBody>
      </p:sp>
      <p:sp>
        <p:nvSpPr>
          <p:cNvPr id="41" name="a7float_p2"/>
          <p:cNvSpPr/>
          <p:nvPr/>
        </p:nvSpPr>
        <p:spPr>
          <a:xfrm>
            <a:off x="6903720" y="4828032"/>
            <a:ext cx="4736592" cy="1261872"/>
          </a:xfrm>
          <a:prstGeom prst="roundRect">
            <a:avLst>
              <a:gd name="adj" fmla="val 10145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42" name="a7pop_p2ic_c"/>
          <p:cNvSpPr/>
          <p:nvPr/>
        </p:nvSpPr>
        <p:spPr>
          <a:xfrm>
            <a:off x="6327648" y="5202936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43" name="a7pop_p2ic_i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0543" y="5325831"/>
            <a:ext cx="266273" cy="266273"/>
          </a:xfrm>
          <a:prstGeom prst="rect">
            <a:avLst/>
          </a:prstGeom>
        </p:spPr>
      </p:pic>
      <p:sp>
        <p:nvSpPr>
          <p:cNvPr id="44" name="a7float_p2t"/>
          <p:cNvSpPr txBox="1"/>
          <p:nvPr/>
        </p:nvSpPr>
        <p:spPr>
          <a:xfrm>
            <a:off x="7132320" y="49377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Scale</a:t>
            </a:r>
            <a:endParaRPr lang="en-US" sz="1500" dirty="0"/>
          </a:p>
        </p:txBody>
      </p:sp>
      <p:sp>
        <p:nvSpPr>
          <p:cNvPr id="45" name="a7float_p2d"/>
          <p:cNvSpPr txBox="1"/>
          <p:nvPr/>
        </p:nvSpPr>
        <p:spPr>
          <a:xfrm>
            <a:off x="7132320" y="526694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D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Gulf ≈ 165 km² + Red Sea ≈ 200 km² of mangrove · sub-metre data for small stands (Bahrain) · national MRV, licensing</a:t>
            </a:r>
            <a:endParaRPr lang="en-US" sz="1200" dirty="0"/>
          </a:p>
        </p:txBody>
      </p:sp>
      <p:sp>
        <p:nvSpPr>
          <p:cNvPr id="46" name="a8fade_src"/>
          <p:cNvSpPr txBox="1"/>
          <p:nvPr/>
        </p:nvSpPr>
        <p:spPr>
          <a:xfrm>
            <a:off x="6263640" y="61722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Areas: Frontiers in Marine Science 2025. Compute measured; prices assumed.</a:t>
            </a:r>
            <a:endParaRPr lang="en-US" sz="9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16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53" presetClass="entr" presetSubtype="16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7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53" presetClass="entr" presetSubtype="16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16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4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7" dur="7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1" dur="7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10" presetClass="entr" presetSubtype="0" decel="10000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 animBg="1"/>
      <p:bldP spid="16" grpId="0" animBg="1"/>
      <p:bldP spid="17" grpId="0" animBg="1"/>
      <p:bldP spid="18" grpId="0"/>
      <p:bldP spid="19" grpId="0" animBg="1"/>
      <p:bldP spid="20" grpId="0" animBg="1"/>
      <p:bldP spid="21" grpId="0" animBg="1"/>
      <p:bldP spid="22" grpId="0"/>
      <p:bldP spid="23" grpId="0" animBg="1"/>
      <p:bldP spid="24" grpId="0" animBg="1"/>
      <p:bldP spid="25" grpId="0" animBg="1"/>
      <p:bldP spid="26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 animBg="1"/>
      <p:bldP spid="35" grpId="0" animBg="1"/>
      <p:bldP spid="36" grpId="0" animBg="1"/>
      <p:bldP spid="37" grpId="0" animBg="1"/>
      <p:bldP spid="38" grpId="0"/>
      <p:bldP spid="39" grpId="0" animBg="1"/>
      <p:bldP spid="40" grpId="0" animBg="1"/>
      <p:bldP spid="41" grpId="0" animBg="1"/>
      <p:bldP spid="42" grpId="0" animBg="1"/>
      <p:bldP spid="43" grpId="0"/>
      <p:bldP spid="44" grpId="0" animBg="1"/>
      <p:bldP spid="45" grpId="0" animBg="1"/>
      <p:bldP spid="4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2194560" y="-2743200"/>
            <a:ext cx="6858000" cy="68580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7132320" y="2377440"/>
            <a:ext cx="6858000" cy="6858000"/>
          </a:xfrm>
          <a:prstGeom prst="rect">
            <a:avLst/>
          </a:prstGeom>
        </p:spPr>
      </p:pic>
      <p:sp>
        <p:nvSpPr>
          <p:cNvPr id="5" name="a0fade_k"/>
          <p:cNvSpPr txBox="1"/>
          <p:nvPr/>
        </p:nvSpPr>
        <p:spPr>
          <a:xfrm>
            <a:off x="731520" y="9601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kern="0" spc="400" dirty="0">
                <a:solidFill>
                  <a:srgbClr val="BCD3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 BLUE ATHAR  ·  </a:t>
            </a:r>
            <a:r>
              <a:rPr lang="en-US" sz="1300" dirty="0">
                <a:solidFill>
                  <a:srgbClr val="BCD3E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الأثر الأزرق</a:t>
            </a:r>
            <a:endParaRPr lang="en-US" sz="1300" dirty="0"/>
          </a:p>
        </p:txBody>
      </p:sp>
      <p:sp>
        <p:nvSpPr>
          <p:cNvPr id="6" name="a1float_tag"/>
          <p:cNvSpPr txBox="1"/>
          <p:nvPr/>
        </p:nvSpPr>
        <p:spPr>
          <a:xfrm>
            <a:off x="694944" y="137160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lost mangrove leaves a trace.</a:t>
            </a:r>
            <a:endParaRPr lang="en-US" sz="4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find it from space.</a:t>
            </a:r>
            <a:endParaRPr lang="en-US" sz="4600" dirty="0"/>
          </a:p>
        </p:txBody>
      </p:sp>
      <p:sp>
        <p:nvSpPr>
          <p:cNvPr id="7" name="a1float_merit"/>
          <p:cNvSpPr txBox="1"/>
          <p:nvPr/>
        </p:nvSpPr>
        <p:spPr>
          <a:xfrm>
            <a:off x="731520" y="28529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1D9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Overall value:  a working product  ·  five real events confirmed  ·  every number reproducible</a:t>
            </a:r>
            <a:endParaRPr lang="en-US" sz="1600" dirty="0"/>
          </a:p>
        </p:txBody>
      </p:sp>
      <p:sp>
        <p:nvSpPr>
          <p:cNvPr id="8" name="a2float_c0"/>
          <p:cNvSpPr/>
          <p:nvPr/>
        </p:nvSpPr>
        <p:spPr>
          <a:xfrm>
            <a:off x="731520" y="3429000"/>
            <a:ext cx="2560320" cy="1188720"/>
          </a:xfrm>
          <a:prstGeom prst="roundRect">
            <a:avLst>
              <a:gd name="adj" fmla="val 10769"/>
            </a:avLst>
          </a:prstGeom>
          <a:solidFill>
            <a:srgbClr val="1E3D63">
              <a:alpha val="70000"/>
            </a:srgbClr>
          </a:solidFill>
          <a:ln w="9525">
            <a:solidFill>
              <a:srgbClr val="7FA2CA"/>
            </a:solidFill>
            <a:prstDash val="solid"/>
          </a:ln>
          <a:effectLst>
            <a:outerShdw blurRad="152400" dist="38100" dir="5400000" algn="bl" rotWithShape="0">
              <a:srgbClr val="1B2B40">
                <a:alpha val="25000"/>
              </a:srgbClr>
            </a:outerShdw>
          </a:effectLst>
        </p:spPr>
      </p:sp>
      <p:sp>
        <p:nvSpPr>
          <p:cNvPr id="9" name="a2float_c0n"/>
          <p:cNvSpPr txBox="1"/>
          <p:nvPr/>
        </p:nvSpPr>
        <p:spPr>
          <a:xfrm>
            <a:off x="932688" y="35021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F1D9A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Tide-aware</a:t>
            </a:r>
            <a:endParaRPr lang="en-US" sz="2800" dirty="0"/>
          </a:p>
        </p:txBody>
      </p:sp>
      <p:sp>
        <p:nvSpPr>
          <p:cNvPr id="10" name="a2float_c0t"/>
          <p:cNvSpPr txBox="1"/>
          <p:nvPr/>
        </p:nvSpPr>
        <p:spPr>
          <a:xfrm>
            <a:off x="932688" y="4023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CFDC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29–35 % less noise</a:t>
            </a:r>
            <a:endParaRPr lang="en-US" sz="1200" dirty="0"/>
          </a:p>
        </p:txBody>
      </p:sp>
      <p:sp>
        <p:nvSpPr>
          <p:cNvPr id="11" name="a3float_c1"/>
          <p:cNvSpPr/>
          <p:nvPr/>
        </p:nvSpPr>
        <p:spPr>
          <a:xfrm>
            <a:off x="3447288" y="3429000"/>
            <a:ext cx="2560320" cy="1188720"/>
          </a:xfrm>
          <a:prstGeom prst="roundRect">
            <a:avLst>
              <a:gd name="adj" fmla="val 10769"/>
            </a:avLst>
          </a:prstGeom>
          <a:solidFill>
            <a:srgbClr val="1E3D63">
              <a:alpha val="70000"/>
            </a:srgbClr>
          </a:solidFill>
          <a:ln w="9525">
            <a:solidFill>
              <a:srgbClr val="7FA2CA"/>
            </a:solidFill>
            <a:prstDash val="solid"/>
          </a:ln>
          <a:effectLst>
            <a:outerShdw blurRad="152400" dist="38100" dir="5400000" algn="bl" rotWithShape="0">
              <a:srgbClr val="1B2B40">
                <a:alpha val="25000"/>
              </a:srgbClr>
            </a:outerShdw>
          </a:effectLst>
        </p:spPr>
      </p:sp>
      <p:sp>
        <p:nvSpPr>
          <p:cNvPr id="12" name="a3float_c1n"/>
          <p:cNvSpPr txBox="1"/>
          <p:nvPr/>
        </p:nvSpPr>
        <p:spPr>
          <a:xfrm>
            <a:off x="3648456" y="35021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F4BCC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5 of 5</a:t>
            </a:r>
            <a:endParaRPr lang="en-US" sz="2800" dirty="0"/>
          </a:p>
        </p:txBody>
      </p:sp>
      <p:sp>
        <p:nvSpPr>
          <p:cNvPr id="13" name="a3float_c1t"/>
          <p:cNvSpPr txBox="1"/>
          <p:nvPr/>
        </p:nvSpPr>
        <p:spPr>
          <a:xfrm>
            <a:off x="3648456" y="4023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CFDC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conversions alerted during the works, 3 only by cells</a:t>
            </a:r>
            <a:endParaRPr lang="en-US" sz="1200" dirty="0"/>
          </a:p>
        </p:txBody>
      </p:sp>
      <p:sp>
        <p:nvSpPr>
          <p:cNvPr id="14" name="a4float_c2"/>
          <p:cNvSpPr/>
          <p:nvPr/>
        </p:nvSpPr>
        <p:spPr>
          <a:xfrm>
            <a:off x="6163056" y="3429000"/>
            <a:ext cx="2560320" cy="1188720"/>
          </a:xfrm>
          <a:prstGeom prst="roundRect">
            <a:avLst>
              <a:gd name="adj" fmla="val 10769"/>
            </a:avLst>
          </a:prstGeom>
          <a:solidFill>
            <a:srgbClr val="1E3D63">
              <a:alpha val="70000"/>
            </a:srgbClr>
          </a:solidFill>
          <a:ln w="9525">
            <a:solidFill>
              <a:srgbClr val="7FA2CA"/>
            </a:solidFill>
            <a:prstDash val="solid"/>
          </a:ln>
          <a:effectLst>
            <a:outerShdw blurRad="152400" dist="38100" dir="5400000" algn="bl" rotWithShape="0">
              <a:srgbClr val="1B2B40">
                <a:alpha val="25000"/>
              </a:srgbClr>
            </a:outerShdw>
          </a:effectLst>
        </p:spPr>
      </p:sp>
      <p:sp>
        <p:nvSpPr>
          <p:cNvPr id="15" name="a4float_c2n"/>
          <p:cNvSpPr txBox="1"/>
          <p:nvPr/>
        </p:nvSpPr>
        <p:spPr>
          <a:xfrm>
            <a:off x="6364224" y="35021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F1D9A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0.79</a:t>
            </a:r>
            <a:endParaRPr lang="en-US" sz="2800" dirty="0"/>
          </a:p>
        </p:txBody>
      </p:sp>
      <p:sp>
        <p:nvSpPr>
          <p:cNvPr id="16" name="a4float_c2t"/>
          <p:cNvSpPr txBox="1"/>
          <p:nvPr/>
        </p:nvSpPr>
        <p:spPr>
          <a:xfrm>
            <a:off x="6364224" y="4023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CFDC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alarms / stand-yr on unseen stands</a:t>
            </a:r>
            <a:endParaRPr lang="en-US" sz="1200" dirty="0"/>
          </a:p>
        </p:txBody>
      </p:sp>
      <p:sp>
        <p:nvSpPr>
          <p:cNvPr id="17" name="a5float_c3"/>
          <p:cNvSpPr/>
          <p:nvPr/>
        </p:nvSpPr>
        <p:spPr>
          <a:xfrm>
            <a:off x="8878824" y="3429000"/>
            <a:ext cx="2560320" cy="1188720"/>
          </a:xfrm>
          <a:prstGeom prst="roundRect">
            <a:avLst>
              <a:gd name="adj" fmla="val 10769"/>
            </a:avLst>
          </a:prstGeom>
          <a:solidFill>
            <a:srgbClr val="1E3D63">
              <a:alpha val="70000"/>
            </a:srgbClr>
          </a:solidFill>
          <a:ln w="9525">
            <a:solidFill>
              <a:srgbClr val="7FA2CA"/>
            </a:solidFill>
            <a:prstDash val="solid"/>
          </a:ln>
          <a:effectLst>
            <a:outerShdw blurRad="152400" dist="38100" dir="5400000" algn="bl" rotWithShape="0">
              <a:srgbClr val="1B2B40">
                <a:alpha val="25000"/>
              </a:srgbClr>
            </a:outerShdw>
          </a:effectLst>
        </p:spPr>
      </p:sp>
      <p:sp>
        <p:nvSpPr>
          <p:cNvPr id="18" name="a5float_c3n"/>
          <p:cNvSpPr txBox="1"/>
          <p:nvPr/>
        </p:nvSpPr>
        <p:spPr>
          <a:xfrm>
            <a:off x="9079992" y="35021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F1D9A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Open</a:t>
            </a:r>
            <a:endParaRPr lang="en-US" sz="2800" dirty="0"/>
          </a:p>
        </p:txBody>
      </p:sp>
      <p:sp>
        <p:nvSpPr>
          <p:cNvPr id="19" name="a5float_c3t"/>
          <p:cNvSpPr txBox="1"/>
          <p:nvPr/>
        </p:nvSpPr>
        <p:spPr>
          <a:xfrm>
            <a:off x="9079992" y="4023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CFDC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code, re-runs in ~24 s</a:t>
            </a:r>
            <a:endParaRPr lang="en-US" sz="1200" dirty="0"/>
          </a:p>
        </p:txBody>
      </p:sp>
      <p:sp>
        <p:nvSpPr>
          <p:cNvPr id="20" name="a6float_ask"/>
          <p:cNvSpPr/>
          <p:nvPr/>
        </p:nvSpPr>
        <p:spPr>
          <a:xfrm>
            <a:off x="731520" y="4800600"/>
            <a:ext cx="10716768" cy="868680"/>
          </a:xfrm>
          <a:prstGeom prst="roundRect">
            <a:avLst>
              <a:gd name="adj" fmla="val 14737"/>
            </a:avLst>
          </a:prstGeom>
          <a:solidFill>
            <a:srgbClr val="BCD3EC">
              <a:alpha val="16000"/>
            </a:srgbClr>
          </a:solidFill>
          <a:ln w="9525">
            <a:solidFill>
              <a:srgbClr val="BCD3EC"/>
            </a:solidFill>
            <a:prstDash val="solid"/>
          </a:ln>
          <a:effectLst>
            <a:outerShdw blurRad="152400" dist="38100" dir="5400000" algn="bl" rotWithShape="0">
              <a:srgbClr val="1B2B40">
                <a:alpha val="25000"/>
              </a:srgbClr>
            </a:outerShdw>
          </a:effectLst>
        </p:spPr>
      </p:sp>
      <p:sp>
        <p:nvSpPr>
          <p:cNvPr id="21" name="a6float_askt"/>
          <p:cNvSpPr txBox="1"/>
          <p:nvPr/>
        </p:nvSpPr>
        <p:spPr>
          <a:xfrm>
            <a:off x="960120" y="48006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3E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ask:  </a:t>
            </a: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incubation to run a pilot with a Gulf agency or planting programme, mentor access on hyperspectral reading of mangroves, and Satellite 813 scenes when available.</a:t>
            </a:r>
            <a:endParaRPr lang="en-US" sz="1500" dirty="0"/>
          </a:p>
        </p:txBody>
      </p:sp>
      <p:sp>
        <p:nvSpPr>
          <p:cNvPr id="22" name="a7fade_links"/>
          <p:cNvSpPr txBox="1"/>
          <p:nvPr/>
        </p:nvSpPr>
        <p:spPr>
          <a:xfrm>
            <a:off x="731520" y="5897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D5E2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nahla-nabil.github.io/blue-carbon-guardian   ·   github.com/Nahla-Nabil/blue-carbon-guardian</a:t>
            </a:r>
            <a:endParaRPr lang="en-US" sz="1300" dirty="0"/>
          </a:p>
        </p:txBody>
      </p:sp>
      <p:sp>
        <p:nvSpPr>
          <p:cNvPr id="23" name="a7fade_ty"/>
          <p:cNvSpPr txBox="1"/>
          <p:nvPr/>
        </p:nvSpPr>
        <p:spPr>
          <a:xfrm>
            <a:off x="9052560" y="5833872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2000" dirty="0">
                <a:solidFill>
                  <a:srgbClr val="F1D9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you</a:t>
            </a:r>
            <a:endParaRPr lang="en-US" sz="2000" dirty="0"/>
          </a:p>
        </p:txBody>
      </p:sp>
      <p:pic>
        <p:nvPicPr>
          <p:cNvPr id="24" name="a7fade_fae" descr="C:\Users\nahla\Desktop\UAE-Space-Hackatoon\deck_pptx\flag_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5934456"/>
            <a:ext cx="402336" cy="201168"/>
          </a:xfrm>
          <a:prstGeom prst="rect">
            <a:avLst/>
          </a:prstGeom>
        </p:spPr>
      </p:pic>
      <p:pic>
        <p:nvPicPr>
          <p:cNvPr id="25" name="a7fade_fbh" descr="C:\Users\nahla\Desktop\UAE-Space-Hackatoon\deck_pptx\flag_b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368" y="5934456"/>
            <a:ext cx="338328" cy="201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decel="10000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decel="10000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6949440" y="-2560320"/>
            <a:ext cx="6858000" cy="68580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-2560320" y="2926080"/>
            <a:ext cx="6858000" cy="6858000"/>
          </a:xfrm>
          <a:prstGeom prst="rect">
            <a:avLst/>
          </a:prstGeom>
        </p:spPr>
      </p:pic>
      <p:sp>
        <p:nvSpPr>
          <p:cNvPr id="5" name="a1zoom_flagbg"/>
          <p:cNvSpPr/>
          <p:nvPr/>
        </p:nvSpPr>
        <p:spPr>
          <a:xfrm>
            <a:off x="676656" y="1024128"/>
            <a:ext cx="2670048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1B2B40">
                <a:alpha val="25000"/>
              </a:srgbClr>
            </a:outerShdw>
          </a:effectLst>
        </p:spPr>
      </p:sp>
      <p:pic>
        <p:nvPicPr>
          <p:cNvPr id="6" name="a1zoom_flag" descr="C:\Users\nahla\Desktop\UAE-Space-Hackatoon\deck_pptx\flag_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078992"/>
            <a:ext cx="2560320" cy="1243584"/>
          </a:xfrm>
          <a:prstGeom prst="rect">
            <a:avLst/>
          </a:prstGeom>
        </p:spPr>
      </p:pic>
      <p:sp>
        <p:nvSpPr>
          <p:cNvPr id="7" name="a2float_ty"/>
          <p:cNvSpPr txBox="1"/>
          <p:nvPr/>
        </p:nvSpPr>
        <p:spPr>
          <a:xfrm>
            <a:off x="3611880" y="896112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a2float_tyar"/>
          <p:cNvSpPr txBox="1"/>
          <p:nvPr/>
        </p:nvSpPr>
        <p:spPr>
          <a:xfrm>
            <a:off x="3639312" y="1810512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D4E2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شكراً للإمارات</a:t>
            </a:r>
            <a:endParaRPr lang="en-US" sz="3200" dirty="0"/>
          </a:p>
        </p:txBody>
      </p:sp>
      <p:sp>
        <p:nvSpPr>
          <p:cNvPr id="9" name="a3float_uae"/>
          <p:cNvSpPr txBox="1"/>
          <p:nvPr/>
        </p:nvSpPr>
        <p:spPr>
          <a:xfrm>
            <a:off x="731520" y="288036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To the </a:t>
            </a:r>
            <a:r>
              <a:rPr lang="en-US" sz="2400" b="1" dirty="0">
                <a:solidFill>
                  <a:srgbClr val="F1D9A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United Arab Emirates</a:t>
            </a:r>
            <a:r>
              <a:rPr lang="en-US" sz="2400" dirty="0">
                <a:solidFill>
                  <a:srgbClr val="FFFF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— for leading the region in protecting its mangroves, and for opening space to Arab youth.</a:t>
            </a:r>
            <a:endParaRPr lang="en-US" sz="2400" dirty="0"/>
          </a:p>
        </p:txBody>
      </p:sp>
      <p:sp>
        <p:nvSpPr>
          <p:cNvPr id="10" name="a4float_org"/>
          <p:cNvSpPr/>
          <p:nvPr/>
        </p:nvSpPr>
        <p:spPr>
          <a:xfrm>
            <a:off x="731520" y="4160520"/>
            <a:ext cx="10716768" cy="868680"/>
          </a:xfrm>
          <a:prstGeom prst="roundRect">
            <a:avLst>
              <a:gd name="adj" fmla="val 14737"/>
            </a:avLst>
          </a:prstGeom>
          <a:solidFill>
            <a:srgbClr val="BCD3EC">
              <a:alpha val="16000"/>
            </a:srgbClr>
          </a:solidFill>
          <a:ln w="9525">
            <a:solidFill>
              <a:srgbClr val="BCD3EC"/>
            </a:solidFill>
            <a:prstDash val="solid"/>
          </a:ln>
          <a:effectLst>
            <a:outerShdw blurRad="152400" dist="38100" dir="5400000" algn="bl" rotWithShape="0">
              <a:srgbClr val="1B2B40">
                <a:alpha val="25000"/>
              </a:srgbClr>
            </a:outerShdw>
          </a:effectLst>
        </p:spPr>
      </p:sp>
      <p:sp>
        <p:nvSpPr>
          <p:cNvPr id="11" name="a4float_orgt"/>
          <p:cNvSpPr txBox="1"/>
          <p:nvPr/>
        </p:nvSpPr>
        <p:spPr>
          <a:xfrm>
            <a:off x="960120" y="4160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3E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thanks to:  </a:t>
            </a: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UAE Space Agency  ·  National Space Academy  ·  Space42  ·  the mentors and the judges</a:t>
            </a:r>
            <a:endParaRPr lang="en-US" sz="1700" dirty="0"/>
          </a:p>
        </p:txBody>
      </p:sp>
      <p:pic>
        <p:nvPicPr>
          <p:cNvPr id="12" name="a5fade_fbh" descr="C:\Users\nahla\Desktop\UAE-Space-Hackatoon\deck_pptx\flag_b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559552"/>
            <a:ext cx="384048" cy="228600"/>
          </a:xfrm>
          <a:prstGeom prst="rect">
            <a:avLst/>
          </a:prstGeom>
        </p:spPr>
      </p:pic>
      <p:sp>
        <p:nvSpPr>
          <p:cNvPr id="13" name="a5fade_from"/>
          <p:cNvSpPr txBox="1"/>
          <p:nvPr/>
        </p:nvSpPr>
        <p:spPr>
          <a:xfrm>
            <a:off x="1207008" y="5468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D4E2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Bahrain, with gratitude  —  Nahla Nabil  ·  Team Blue Athar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decel="10000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8046720" y="-2743200"/>
            <a:ext cx="5486400" cy="54864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-2377440" y="310896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BACKUP · FOR QUESTIONS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textbook approach against ours, same alert rule</a:t>
            </a:r>
            <a:endParaRPr lang="en-US" sz="3400" dirty="0"/>
          </a:p>
        </p:txBody>
      </p:sp>
      <p:graphicFrame>
        <p:nvGraphicFramePr>
          <p:cNvPr id="21" name="a1float_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Configuration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Indices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Tide model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False alarms per stand-year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Real conversions caught</a:t>
                      </a:r>
                      <a:endParaRPr lang="en-US" sz="12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A4D6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 · textbook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NDVI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E5F6D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1.61</a:t>
                      </a:r>
                      <a:endParaRPr lang="en-US" sz="16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of 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A4D6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B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NDVI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B4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1.04</a:t>
                      </a:r>
                      <a:endParaRPr lang="en-US" sz="16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of 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A4D63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NDVI + red edge + SWIR moisture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B4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1.36</a:t>
                      </a:r>
                      <a:endParaRPr lang="en-US" sz="16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4D6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of 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40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 · ours</a:t>
                      </a:r>
                      <a:endParaRPr lang="en-US" sz="13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NDVI + red edge + SWIR moisture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5D8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0.96</a:t>
                      </a:r>
                      <a:endParaRPr lang="en-US" sz="16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of 5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a2float_c0"/>
          <p:cNvSpPr/>
          <p:nvPr/>
        </p:nvSpPr>
        <p:spPr>
          <a:xfrm>
            <a:off x="548640" y="4572000"/>
            <a:ext cx="3593592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9" name="a2float_c0t"/>
          <p:cNvSpPr txBox="1"/>
          <p:nvPr/>
        </p:nvSpPr>
        <p:spPr>
          <a:xfrm>
            <a:off x="749808" y="46817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40 % fewer false alarms</a:t>
            </a:r>
            <a:endParaRPr lang="en-US" sz="1500" dirty="0"/>
          </a:p>
        </p:txBody>
      </p:sp>
      <p:sp>
        <p:nvSpPr>
          <p:cNvPr id="10" name="a2float_c0d"/>
          <p:cNvSpPr txBox="1"/>
          <p:nvPr/>
        </p:nvSpPr>
        <p:spPr>
          <a:xfrm>
            <a:off x="749808" y="504748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stands with no known change, 93.9 stand-years: about 16 fewer unnecessary inspections a year for 25 stands.</a:t>
            </a:r>
            <a:endParaRPr lang="en-US" sz="1200" dirty="0"/>
          </a:p>
        </p:txBody>
      </p:sp>
      <p:sp>
        <p:nvSpPr>
          <p:cNvPr id="11" name="a3float_c1"/>
          <p:cNvSpPr/>
          <p:nvPr/>
        </p:nvSpPr>
        <p:spPr>
          <a:xfrm>
            <a:off x="4297680" y="4572000"/>
            <a:ext cx="3593592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2" name="a3float_c1t"/>
          <p:cNvSpPr txBox="1"/>
          <p:nvPr/>
        </p:nvSpPr>
        <p:spPr>
          <a:xfrm>
            <a:off x="4498848" y="46817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tide model is most of the gain</a:t>
            </a:r>
            <a:endParaRPr lang="en-US" sz="1500" dirty="0"/>
          </a:p>
        </p:txBody>
      </p:sp>
      <p:sp>
        <p:nvSpPr>
          <p:cNvPr id="13" name="a3float_c1d"/>
          <p:cNvSpPr txBox="1"/>
          <p:nvPr/>
        </p:nvSpPr>
        <p:spPr>
          <a:xfrm>
            <a:off x="4498848" y="504748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NDVI alone 1.61 → with tide terms 1.04; the extra indices bring it to 0.96.</a:t>
            </a:r>
            <a:endParaRPr lang="en-US" sz="1200" dirty="0"/>
          </a:p>
        </p:txBody>
      </p:sp>
      <p:sp>
        <p:nvSpPr>
          <p:cNvPr id="14" name="a4float_c2"/>
          <p:cNvSpPr/>
          <p:nvPr/>
        </p:nvSpPr>
        <p:spPr>
          <a:xfrm>
            <a:off x="8046720" y="4572000"/>
            <a:ext cx="3593592" cy="1600200"/>
          </a:xfrm>
          <a:prstGeom prst="roundRect">
            <a:avLst>
              <a:gd name="adj" fmla="val 8000"/>
            </a:avLst>
          </a:prstGeom>
          <a:solidFill>
            <a:srgbClr val="FBF5EA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5" name="a4float_c2t"/>
          <p:cNvSpPr txBox="1"/>
          <p:nvPr/>
        </p:nvSpPr>
        <p:spPr>
          <a:xfrm>
            <a:off x="8247888" y="46817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A981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Honest limit</a:t>
            </a:r>
            <a:endParaRPr lang="en-US" sz="1500" dirty="0"/>
          </a:p>
        </p:txBody>
      </p:sp>
      <p:sp>
        <p:nvSpPr>
          <p:cNvPr id="16" name="a4float_c2d"/>
          <p:cNvSpPr txBox="1"/>
          <p:nvPr/>
        </p:nvSpPr>
        <p:spPr>
          <a:xfrm>
            <a:off x="8247888" y="504748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Thresholds calibrated for our monitor; all four catch the five conversions. The difference is the false-alarm cost, not detection.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decel="10000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Graphic spid="21" grpId="0">
        <p:bldAsOne/>
      </p:bldGraphic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-2194560" y="-2377440"/>
            <a:ext cx="5486400" cy="54864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8229600" y="329184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BACKUP · FOR QUESTIONS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it breaks — and what we do not claim</a:t>
            </a:r>
            <a:endParaRPr lang="en-US" sz="3400" dirty="0"/>
          </a:p>
        </p:txBody>
      </p:sp>
      <p:sp>
        <p:nvSpPr>
          <p:cNvPr id="7" name="a1float_l0"/>
          <p:cNvSpPr/>
          <p:nvPr/>
        </p:nvSpPr>
        <p:spPr>
          <a:xfrm>
            <a:off x="548640" y="1691640"/>
            <a:ext cx="3593592" cy="1828800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8" name="a1float_l0ic_c"/>
          <p:cNvSpPr/>
          <p:nvPr/>
        </p:nvSpPr>
        <p:spPr>
          <a:xfrm>
            <a:off x="749808" y="1892808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9" name="a1float_l0ic_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703" y="2015703"/>
            <a:ext cx="266273" cy="266273"/>
          </a:xfrm>
          <a:prstGeom prst="rect">
            <a:avLst/>
          </a:prstGeom>
        </p:spPr>
      </p:pic>
      <p:sp>
        <p:nvSpPr>
          <p:cNvPr id="10" name="a1float_l0t"/>
          <p:cNvSpPr txBox="1"/>
          <p:nvPr/>
        </p:nvSpPr>
        <p:spPr>
          <a:xfrm>
            <a:off x="1417320" y="189280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Detection, not early warning</a:t>
            </a:r>
            <a:endParaRPr lang="en-US" sz="1500" dirty="0"/>
          </a:p>
        </p:txBody>
      </p:sp>
      <p:sp>
        <p:nvSpPr>
          <p:cNvPr id="11" name="a1float_l0d"/>
          <p:cNvSpPr txBox="1"/>
          <p:nvPr/>
        </p:nvSpPr>
        <p:spPr>
          <a:xfrm>
            <a:off x="749808" y="253288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fire as works happen. We never claim to see stress before it is visible.</a:t>
            </a:r>
            <a:endParaRPr lang="en-US" sz="1200" dirty="0"/>
          </a:p>
        </p:txBody>
      </p:sp>
      <p:sp>
        <p:nvSpPr>
          <p:cNvPr id="12" name="a1float_l1"/>
          <p:cNvSpPr/>
          <p:nvPr/>
        </p:nvSpPr>
        <p:spPr>
          <a:xfrm>
            <a:off x="4297680" y="1691640"/>
            <a:ext cx="3593592" cy="1828800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3" name="a1float_l1ic_c"/>
          <p:cNvSpPr/>
          <p:nvPr/>
        </p:nvSpPr>
        <p:spPr>
          <a:xfrm>
            <a:off x="4498848" y="1892808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14" name="a1float_l1ic_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1743" y="2015703"/>
            <a:ext cx="266273" cy="266273"/>
          </a:xfrm>
          <a:prstGeom prst="rect">
            <a:avLst/>
          </a:prstGeom>
        </p:spPr>
      </p:pic>
      <p:sp>
        <p:nvSpPr>
          <p:cNvPr id="15" name="a1float_l1t"/>
          <p:cNvSpPr txBox="1"/>
          <p:nvPr/>
        </p:nvSpPr>
        <p:spPr>
          <a:xfrm>
            <a:off x="5166360" y="189280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m pixels</a:t>
            </a:r>
            <a:endParaRPr lang="en-US" sz="1500" dirty="0"/>
          </a:p>
        </p:txBody>
      </p:sp>
      <p:sp>
        <p:nvSpPr>
          <p:cNvPr id="16" name="a1float_l1d"/>
          <p:cNvSpPr txBox="1"/>
          <p:nvPr/>
        </p:nvSpPr>
        <p:spPr>
          <a:xfrm>
            <a:off x="4498848" y="253288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Patches under ~0.6 ha and young plantings are missed, Bahrain's small stands included.</a:t>
            </a:r>
            <a:endParaRPr lang="en-US" sz="1200" dirty="0"/>
          </a:p>
        </p:txBody>
      </p:sp>
      <p:sp>
        <p:nvSpPr>
          <p:cNvPr id="17" name="a1float_l2"/>
          <p:cNvSpPr/>
          <p:nvPr/>
        </p:nvSpPr>
        <p:spPr>
          <a:xfrm>
            <a:off x="8046720" y="1691640"/>
            <a:ext cx="3593592" cy="1828800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18" name="a1float_l2ic_c"/>
          <p:cNvSpPr/>
          <p:nvPr/>
        </p:nvSpPr>
        <p:spPr>
          <a:xfrm>
            <a:off x="8247888" y="1892808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19" name="a1float_l2ic_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0783" y="2015703"/>
            <a:ext cx="266273" cy="266273"/>
          </a:xfrm>
          <a:prstGeom prst="rect">
            <a:avLst/>
          </a:prstGeom>
        </p:spPr>
      </p:pic>
      <p:sp>
        <p:nvSpPr>
          <p:cNvPr id="20" name="a1float_l2t"/>
          <p:cNvSpPr txBox="1"/>
          <p:nvPr/>
        </p:nvSpPr>
        <p:spPr>
          <a:xfrm>
            <a:off x="8915400" y="189280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Imagery, not site visits</a:t>
            </a:r>
            <a:endParaRPr lang="en-US" sz="1500" dirty="0"/>
          </a:p>
        </p:txBody>
      </p:sp>
      <p:sp>
        <p:nvSpPr>
          <p:cNvPr id="21" name="a1float_l2d"/>
          <p:cNvSpPr txBox="1"/>
          <p:nvPr/>
        </p:nvSpPr>
        <p:spPr>
          <a:xfrm>
            <a:off x="8247888" y="253288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Conversions confirmed on dated sub-metre captures, not yet on permits or field records.</a:t>
            </a:r>
            <a:endParaRPr lang="en-US" sz="1200" dirty="0"/>
          </a:p>
        </p:txBody>
      </p:sp>
      <p:sp>
        <p:nvSpPr>
          <p:cNvPr id="22" name="a2float_l3"/>
          <p:cNvSpPr/>
          <p:nvPr/>
        </p:nvSpPr>
        <p:spPr>
          <a:xfrm>
            <a:off x="548640" y="3703320"/>
            <a:ext cx="3593592" cy="1828800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3" name="a2float_l3ic_c"/>
          <p:cNvSpPr/>
          <p:nvPr/>
        </p:nvSpPr>
        <p:spPr>
          <a:xfrm>
            <a:off x="749808" y="3904488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24" name="a2float_l3ic_i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703" y="4027383"/>
            <a:ext cx="266273" cy="266273"/>
          </a:xfrm>
          <a:prstGeom prst="rect">
            <a:avLst/>
          </a:prstGeom>
        </p:spPr>
      </p:pic>
      <p:sp>
        <p:nvSpPr>
          <p:cNvPr id="25" name="a2float_l3t"/>
          <p:cNvSpPr txBox="1"/>
          <p:nvPr/>
        </p:nvSpPr>
        <p:spPr>
          <a:xfrm>
            <a:off x="1417320" y="390448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Simulated losses</a:t>
            </a:r>
            <a:endParaRPr lang="en-US" sz="1500" dirty="0"/>
          </a:p>
        </p:txBody>
      </p:sp>
      <p:sp>
        <p:nvSpPr>
          <p:cNvPr id="26" name="a2float_l3d"/>
          <p:cNvSpPr txBox="1"/>
          <p:nvPr/>
        </p:nvSpPr>
        <p:spPr>
          <a:xfrm>
            <a:off x="749808" y="454456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Canopy-cover loss, not leaf stress; every rate shown next to its chance rate.</a:t>
            </a:r>
            <a:endParaRPr lang="en-US" sz="1200" dirty="0"/>
          </a:p>
        </p:txBody>
      </p:sp>
      <p:sp>
        <p:nvSpPr>
          <p:cNvPr id="27" name="a2float_l4"/>
          <p:cNvSpPr/>
          <p:nvPr/>
        </p:nvSpPr>
        <p:spPr>
          <a:xfrm>
            <a:off x="4297680" y="3703320"/>
            <a:ext cx="3593592" cy="1828800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28" name="a2float_l4ic_c"/>
          <p:cNvSpPr/>
          <p:nvPr/>
        </p:nvSpPr>
        <p:spPr>
          <a:xfrm>
            <a:off x="4498848" y="3904488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29" name="a2float_l4ic_i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1743" y="4027383"/>
            <a:ext cx="266273" cy="266273"/>
          </a:xfrm>
          <a:prstGeom prst="rect">
            <a:avLst/>
          </a:prstGeom>
        </p:spPr>
      </p:pic>
      <p:sp>
        <p:nvSpPr>
          <p:cNvPr id="30" name="a2float_l4t"/>
          <p:cNvSpPr txBox="1"/>
          <p:nvPr/>
        </p:nvSpPr>
        <p:spPr>
          <a:xfrm>
            <a:off x="5166360" y="390448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Hyperspectral</a:t>
            </a:r>
            <a:endParaRPr lang="en-US" sz="1500" dirty="0"/>
          </a:p>
        </p:txBody>
      </p:sp>
      <p:sp>
        <p:nvSpPr>
          <p:cNvPr id="31" name="a2float_l4d"/>
          <p:cNvSpPr txBox="1"/>
          <p:nvPr/>
        </p:nvSpPr>
        <p:spPr>
          <a:xfrm>
            <a:off x="4498848" y="454456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EnMAP confirms our indices but was not a better classifier (F1 0.74 vs 0.72).</a:t>
            </a:r>
            <a:endParaRPr lang="en-US" sz="1200" dirty="0"/>
          </a:p>
        </p:txBody>
      </p:sp>
      <p:sp>
        <p:nvSpPr>
          <p:cNvPr id="32" name="a2float_l5"/>
          <p:cNvSpPr/>
          <p:nvPr/>
        </p:nvSpPr>
        <p:spPr>
          <a:xfrm>
            <a:off x="8046720" y="3703320"/>
            <a:ext cx="3593592" cy="1828800"/>
          </a:xfrm>
          <a:prstGeom prst="roundRect">
            <a:avLst>
              <a:gd name="adj" fmla="val 7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D3E0E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sp>
        <p:nvSpPr>
          <p:cNvPr id="33" name="a2float_l5ic_c"/>
          <p:cNvSpPr/>
          <p:nvPr/>
        </p:nvSpPr>
        <p:spPr>
          <a:xfrm>
            <a:off x="8247888" y="3904488"/>
            <a:ext cx="512064" cy="512064"/>
          </a:xfrm>
          <a:prstGeom prst="ellipse">
            <a:avLst/>
          </a:prstGeom>
          <a:solidFill>
            <a:srgbClr val="3F6E9E">
              <a:alpha val="18000"/>
            </a:srgbClr>
          </a:solidFill>
          <a:ln w="12700">
            <a:solidFill>
              <a:srgbClr val="3F6E9E"/>
            </a:solidFill>
            <a:prstDash val="solid"/>
          </a:ln>
        </p:spPr>
      </p:sp>
      <p:pic>
        <p:nvPicPr>
          <p:cNvPr id="34" name="a2float_l5ic_i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0783" y="4027383"/>
            <a:ext cx="266273" cy="266273"/>
          </a:xfrm>
          <a:prstGeom prst="rect">
            <a:avLst/>
          </a:prstGeom>
        </p:spPr>
      </p:pic>
      <p:sp>
        <p:nvSpPr>
          <p:cNvPr id="35" name="a2float_l5t"/>
          <p:cNvSpPr txBox="1"/>
          <p:nvPr/>
        </p:nvSpPr>
        <p:spPr>
          <a:xfrm>
            <a:off x="8915400" y="390448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Carbon</a:t>
            </a:r>
            <a:endParaRPr lang="en-US" sz="1500" dirty="0"/>
          </a:p>
        </p:txBody>
      </p:sp>
      <p:sp>
        <p:nvSpPr>
          <p:cNvPr id="36" name="a2float_l5d"/>
          <p:cNvSpPr txBox="1"/>
          <p:nvPr/>
        </p:nvSpPr>
        <p:spPr>
          <a:xfrm>
            <a:off x="8247888" y="454456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5F73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Area × field density from four sites (2013–14): a stock with a range, never a sequestration rate.</a:t>
            </a:r>
            <a:endParaRPr lang="en-US" sz="1200" dirty="0"/>
          </a:p>
        </p:txBody>
      </p:sp>
      <p:sp>
        <p:nvSpPr>
          <p:cNvPr id="37" name="a3fade_rule"/>
          <p:cNvSpPr txBox="1"/>
          <p:nvPr/>
        </p:nvSpPr>
        <p:spPr>
          <a:xfrm>
            <a:off x="548640" y="5870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2F5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we kept: no detection rate without its chance rate; no claim of advance warning, field verification or species discrimination.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7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7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7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7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decel="10000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decel="100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/>
      <p:bldP spid="15" grpId="0" animBg="1"/>
      <p:bldP spid="16" grpId="0" animBg="1"/>
      <p:bldP spid="17" grpId="0" animBg="1"/>
      <p:bldP spid="18" grpId="0" animBg="1"/>
      <p:bldP spid="19" grpId="0"/>
      <p:bldP spid="20" grpId="0" animBg="1"/>
      <p:bldP spid="21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 animBg="1"/>
      <p:bldP spid="28" grpId="0" animBg="1"/>
      <p:bldP spid="29" grpId="0"/>
      <p:bldP spid="30" grpId="0" animBg="1"/>
      <p:bldP spid="31" grpId="0" animBg="1"/>
      <p:bldP spid="32" grpId="0" animBg="1"/>
      <p:bldP spid="33" grpId="0" animBg="1"/>
      <p:bldP spid="34" grpId="0"/>
      <p:bldP spid="35" grpId="0" animBg="1"/>
      <p:bldP spid="36" grpId="0" animBg="1"/>
      <p:bldP spid="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1" descr="C:\Users\nahla\Desktop\UAE-Space-Hackatoon\deck_pptx\build\assets\glow_cyan.png"/>
          <p:cNvPicPr>
            <a:picLocks noChangeAspect="1"/>
          </p:cNvPicPr>
          <p:nvPr/>
        </p:nvPicPr>
        <p:blipFill>
          <a:blip r:embed="rId5">
            <a:alphaModFix amt="38000"/>
          </a:blip>
          <a:stretch>
            <a:fillRect/>
          </a:stretch>
        </p:blipFill>
        <p:spPr>
          <a:xfrm>
            <a:off x="8046720" y="-2743200"/>
            <a:ext cx="5486400" cy="5486400"/>
          </a:xfrm>
          <a:prstGeom prst="rect">
            <a:avLst/>
          </a:prstGeom>
        </p:spPr>
      </p:pic>
      <p:pic>
        <p:nvPicPr>
          <p:cNvPr id="3" name="!!glow2" descr="C:\Users\nahla\Desktop\UAE-Space-Hackatoon\deck_pptx\build\assets\glow_blue.png"/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-2377440" y="3108960"/>
            <a:ext cx="5486400" cy="54864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840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3F6E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BACKUP · FOR QUESTIONS</a:t>
            </a:r>
            <a:endParaRPr lang="en-US" sz="1200" dirty="0"/>
          </a:p>
        </p:txBody>
      </p:sp>
      <p:sp>
        <p:nvSpPr>
          <p:cNvPr id="5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1B2B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2-minute product demo</a:t>
            </a:r>
            <a:endParaRPr lang="en-US" sz="3400" dirty="0"/>
          </a:p>
        </p:txBody>
      </p:sp>
      <p:sp>
        <p:nvSpPr>
          <p:cNvPr id="7" name="a1zoom_dframe"/>
          <p:cNvSpPr/>
          <p:nvPr/>
        </p:nvSpPr>
        <p:spPr>
          <a:xfrm>
            <a:off x="2154784" y="1636776"/>
            <a:ext cx="7882128" cy="4481703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15875">
            <a:solidFill>
              <a:srgbClr val="3F6E9E"/>
            </a:solidFill>
            <a:prstDash val="solid"/>
          </a:ln>
          <a:effectLst>
            <a:outerShdw blurRad="152400" dist="38100" dir="5400000" algn="bl" rotWithShape="0">
              <a:srgbClr val="1B2B40">
                <a:alpha val="12000"/>
              </a:srgbClr>
            </a:outerShdw>
          </a:effectLst>
        </p:spPr>
      </p:sp>
      <p:pic>
        <p:nvPicPr>
          <p:cNvPr id="6" name="video_demo">
            <a:hlinkClick r:id="" action="ppaction://media"/>
            <a:extLst>
              <a:ext uri="{FF2B5EF4-FFF2-40B4-BE49-F238E27FC236}">
                <a16:creationId xmlns:a16="http://schemas.microsoft.com/office/drawing/2014/main" id="{5C3A6DDD-C55A-EF0B-47BB-3BF92B3A8A6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09648" y="1691641"/>
            <a:ext cx="7772400" cy="4371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3F6E9E"/>
                </a:solidFill>
                <a:latin typeface="Segoe UI Semibold"/>
                <a:ea typeface="Segoe UI Semibold"/>
                <a:cs typeface="Segoe UI Semibold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decel="10000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8935</Words>
  <Application>Microsoft Office PowerPoint</Application>
  <PresentationFormat>Widescreen</PresentationFormat>
  <Paragraphs>464</Paragraphs>
  <Slides>22</Slides>
  <Notes>22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Segoe UI</vt:lpstr>
      <vt:lpstr>Segoe UI Light</vt:lpstr>
      <vt:lpstr>Segoe UI Semibold</vt:lpstr>
      <vt:lpstr>Office Theme</vt:lpstr>
      <vt:lpstr>PowerPoint Presentation</vt:lpstr>
      <vt:lpstr>One engineer, every role — delivered in the open</vt:lpstr>
      <vt:lpstr>Restoration is scaling faster than monitoring</vt:lpstr>
      <vt:lpstr>From signal to decision, in one screen</vt:lpstr>
      <vt:lpstr>Who uses it, and for which decision</vt:lpstr>
      <vt:lpstr>Five independent data sources, six years, 91 stands</vt:lpstr>
      <vt:lpstr>A second sensor shows what the mangrove became</vt:lpstr>
      <vt:lpstr>Sentinel-2 says when. Satellite 813 says what.</vt:lpstr>
      <vt:lpstr>From satellite pixels to a decision</vt:lpstr>
      <vt:lpstr>One alert, one message, one targeted visit</vt:lpstr>
      <vt:lpstr>The tide looks like tree loss — until you correct for it</vt:lpstr>
      <vt:lpstr>A stand average hides partial loss. 200 m cells do not.</vt:lpstr>
      <vt:lpstr>How we differ from what exists today</vt:lpstr>
      <vt:lpstr>Five real conversions, confirmed on sub-metre imagery</vt:lpstr>
      <vt:lpstr>Every rate next to its chance rate</vt:lpstr>
      <vt:lpstr>Carbon at stake, and who pays to protect it</vt:lpstr>
      <vt:lpstr>Reproducible today, built to scale tomorrow</vt:lpstr>
      <vt:lpstr>PowerPoint Presentation</vt:lpstr>
      <vt:lpstr>PowerPoint Presentation</vt:lpstr>
      <vt:lpstr>The textbook approach against ours, same alert rule</vt:lpstr>
      <vt:lpstr>Where it breaks — and what we do not claim</vt:lpstr>
      <vt:lpstr>The 2-minute product demo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Carbon Guardian - final judging</dc:title>
  <dc:subject>PptxGenJS Presentation</dc:subject>
  <dc:creator>Nahla Nabil</dc:creator>
  <cp:lastModifiedBy>Nahla Nabil</cp:lastModifiedBy>
  <cp:revision>2</cp:revision>
  <dcterms:created xsi:type="dcterms:W3CDTF">2026-10-19T17:43:28Z</dcterms:created>
  <dcterms:modified xsi:type="dcterms:W3CDTF">2026-10-19T17:43:37Z</dcterms:modified>
</cp:coreProperties>
</file>